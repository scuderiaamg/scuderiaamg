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27"/>
  </p:notesMasterIdLst>
  <p:sldIdLst>
    <p:sldId id="283" r:id="rId2"/>
    <p:sldId id="284" r:id="rId3"/>
    <p:sldId id="285" r:id="rId4"/>
    <p:sldId id="286" r:id="rId5"/>
    <p:sldId id="287" r:id="rId6"/>
    <p:sldId id="288" r:id="rId7"/>
    <p:sldId id="289" r:id="rId8"/>
    <p:sldId id="290" r:id="rId9"/>
    <p:sldId id="291" r:id="rId10"/>
    <p:sldId id="298" r:id="rId11"/>
    <p:sldId id="299" r:id="rId12"/>
    <p:sldId id="300" r:id="rId13"/>
    <p:sldId id="301" r:id="rId14"/>
    <p:sldId id="302" r:id="rId15"/>
    <p:sldId id="303" r:id="rId16"/>
    <p:sldId id="304" r:id="rId17"/>
    <p:sldId id="305" r:id="rId18"/>
    <p:sldId id="306" r:id="rId19"/>
    <p:sldId id="307" r:id="rId20"/>
    <p:sldId id="308" r:id="rId21"/>
    <p:sldId id="292" r:id="rId22"/>
    <p:sldId id="293" r:id="rId23"/>
    <p:sldId id="294" r:id="rId24"/>
    <p:sldId id="295" r:id="rId25"/>
    <p:sldId id="296" r:id="rId26"/>
    <p:sldId id="297" r:id="rId27"/>
    <p:sldId id="312" r:id="rId28"/>
    <p:sldId id="313" r:id="rId29"/>
    <p:sldId id="314" r:id="rId30"/>
    <p:sldId id="315" r:id="rId31"/>
    <p:sldId id="316" r:id="rId32"/>
    <p:sldId id="317" r:id="rId33"/>
    <p:sldId id="318" r:id="rId34"/>
    <p:sldId id="319" r:id="rId35"/>
    <p:sldId id="320" r:id="rId36"/>
    <p:sldId id="321" r:id="rId37"/>
    <p:sldId id="401" r:id="rId38"/>
    <p:sldId id="402" r:id="rId39"/>
    <p:sldId id="403" r:id="rId40"/>
    <p:sldId id="440" r:id="rId41"/>
    <p:sldId id="404" r:id="rId42"/>
    <p:sldId id="441" r:id="rId43"/>
    <p:sldId id="405" r:id="rId44"/>
    <p:sldId id="406" r:id="rId45"/>
    <p:sldId id="442" r:id="rId46"/>
    <p:sldId id="347" r:id="rId47"/>
    <p:sldId id="348" r:id="rId48"/>
    <p:sldId id="350" r:id="rId49"/>
    <p:sldId id="351" r:id="rId50"/>
    <p:sldId id="355" r:id="rId51"/>
    <p:sldId id="356" r:id="rId52"/>
    <p:sldId id="357" r:id="rId53"/>
    <p:sldId id="358" r:id="rId54"/>
    <p:sldId id="359" r:id="rId55"/>
    <p:sldId id="360" r:id="rId56"/>
    <p:sldId id="361" r:id="rId57"/>
    <p:sldId id="363" r:id="rId58"/>
    <p:sldId id="364" r:id="rId59"/>
    <p:sldId id="365" r:id="rId60"/>
    <p:sldId id="366" r:id="rId61"/>
    <p:sldId id="367" r:id="rId62"/>
    <p:sldId id="368" r:id="rId63"/>
    <p:sldId id="369" r:id="rId64"/>
    <p:sldId id="370" r:id="rId65"/>
    <p:sldId id="371" r:id="rId66"/>
    <p:sldId id="372" r:id="rId67"/>
    <p:sldId id="373" r:id="rId68"/>
    <p:sldId id="374" r:id="rId69"/>
    <p:sldId id="375" r:id="rId70"/>
    <p:sldId id="376" r:id="rId71"/>
    <p:sldId id="377" r:id="rId72"/>
    <p:sldId id="378" r:id="rId73"/>
    <p:sldId id="379" r:id="rId74"/>
    <p:sldId id="380" r:id="rId75"/>
    <p:sldId id="381" r:id="rId76"/>
    <p:sldId id="382" r:id="rId77"/>
    <p:sldId id="407" r:id="rId78"/>
    <p:sldId id="408" r:id="rId79"/>
    <p:sldId id="409" r:id="rId80"/>
    <p:sldId id="410" r:id="rId81"/>
    <p:sldId id="411" r:id="rId82"/>
    <p:sldId id="332" r:id="rId83"/>
    <p:sldId id="333" r:id="rId84"/>
    <p:sldId id="334" r:id="rId85"/>
    <p:sldId id="335" r:id="rId86"/>
    <p:sldId id="336" r:id="rId87"/>
    <p:sldId id="337" r:id="rId88"/>
    <p:sldId id="443" r:id="rId89"/>
    <p:sldId id="444" r:id="rId90"/>
    <p:sldId id="472" r:id="rId91"/>
    <p:sldId id="473" r:id="rId92"/>
    <p:sldId id="445" r:id="rId93"/>
    <p:sldId id="446" r:id="rId94"/>
    <p:sldId id="447" r:id="rId95"/>
    <p:sldId id="448" r:id="rId96"/>
    <p:sldId id="449" r:id="rId97"/>
    <p:sldId id="450" r:id="rId98"/>
    <p:sldId id="451" r:id="rId99"/>
    <p:sldId id="452" r:id="rId100"/>
    <p:sldId id="453" r:id="rId101"/>
    <p:sldId id="454" r:id="rId102"/>
    <p:sldId id="455" r:id="rId103"/>
    <p:sldId id="456" r:id="rId104"/>
    <p:sldId id="457" r:id="rId105"/>
    <p:sldId id="458" r:id="rId106"/>
    <p:sldId id="459" r:id="rId107"/>
    <p:sldId id="460" r:id="rId108"/>
    <p:sldId id="461" r:id="rId109"/>
    <p:sldId id="462" r:id="rId110"/>
    <p:sldId id="463" r:id="rId111"/>
    <p:sldId id="464" r:id="rId112"/>
    <p:sldId id="465" r:id="rId113"/>
    <p:sldId id="466" r:id="rId114"/>
    <p:sldId id="467" r:id="rId115"/>
    <p:sldId id="468" r:id="rId116"/>
    <p:sldId id="469" r:id="rId117"/>
    <p:sldId id="470" r:id="rId118"/>
    <p:sldId id="471" r:id="rId119"/>
    <p:sldId id="412" r:id="rId120"/>
    <p:sldId id="413" r:id="rId121"/>
    <p:sldId id="414" r:id="rId122"/>
    <p:sldId id="415" r:id="rId123"/>
    <p:sldId id="416" r:id="rId124"/>
    <p:sldId id="437" r:id="rId125"/>
    <p:sldId id="438" r:id="rId12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Tahoma" pitchFamily="34" charset="0"/>
        <a:ea typeface="宋体" charset="-122"/>
        <a:cs typeface="+mn-cs"/>
      </a:defRPr>
    </a:lvl1pPr>
    <a:lvl2pPr marL="457200" algn="l" rtl="0" fontAlgn="base">
      <a:spcBef>
        <a:spcPct val="0"/>
      </a:spcBef>
      <a:spcAft>
        <a:spcPct val="0"/>
      </a:spcAft>
      <a:defRPr kern="1200">
        <a:solidFill>
          <a:schemeClr val="tx1"/>
        </a:solidFill>
        <a:latin typeface="Tahoma" pitchFamily="34" charset="0"/>
        <a:ea typeface="宋体" charset="-122"/>
        <a:cs typeface="+mn-cs"/>
      </a:defRPr>
    </a:lvl2pPr>
    <a:lvl3pPr marL="914400" algn="l" rtl="0" fontAlgn="base">
      <a:spcBef>
        <a:spcPct val="0"/>
      </a:spcBef>
      <a:spcAft>
        <a:spcPct val="0"/>
      </a:spcAft>
      <a:defRPr kern="1200">
        <a:solidFill>
          <a:schemeClr val="tx1"/>
        </a:solidFill>
        <a:latin typeface="Tahoma" pitchFamily="34" charset="0"/>
        <a:ea typeface="宋体" charset="-122"/>
        <a:cs typeface="+mn-cs"/>
      </a:defRPr>
    </a:lvl3pPr>
    <a:lvl4pPr marL="1371600" algn="l" rtl="0" fontAlgn="base">
      <a:spcBef>
        <a:spcPct val="0"/>
      </a:spcBef>
      <a:spcAft>
        <a:spcPct val="0"/>
      </a:spcAft>
      <a:defRPr kern="1200">
        <a:solidFill>
          <a:schemeClr val="tx1"/>
        </a:solidFill>
        <a:latin typeface="Tahoma" pitchFamily="34" charset="0"/>
        <a:ea typeface="宋体" charset="-122"/>
        <a:cs typeface="+mn-cs"/>
      </a:defRPr>
    </a:lvl4pPr>
    <a:lvl5pPr marL="1828800" algn="l" rtl="0" fontAlgn="base">
      <a:spcBef>
        <a:spcPct val="0"/>
      </a:spcBef>
      <a:spcAft>
        <a:spcPct val="0"/>
      </a:spcAft>
      <a:defRPr kern="1200">
        <a:solidFill>
          <a:schemeClr val="tx1"/>
        </a:solidFill>
        <a:latin typeface="Tahoma" pitchFamily="34" charset="0"/>
        <a:ea typeface="宋体" charset="-122"/>
        <a:cs typeface="+mn-cs"/>
      </a:defRPr>
    </a:lvl5pPr>
    <a:lvl6pPr marL="2286000" algn="l" defTabSz="914400" rtl="0" eaLnBrk="1" latinLnBrk="0" hangingPunct="1">
      <a:defRPr kern="1200">
        <a:solidFill>
          <a:schemeClr val="tx1"/>
        </a:solidFill>
        <a:latin typeface="Tahoma" pitchFamily="34" charset="0"/>
        <a:ea typeface="宋体" charset="-122"/>
        <a:cs typeface="+mn-cs"/>
      </a:defRPr>
    </a:lvl6pPr>
    <a:lvl7pPr marL="2743200" algn="l" defTabSz="914400" rtl="0" eaLnBrk="1" latinLnBrk="0" hangingPunct="1">
      <a:defRPr kern="1200">
        <a:solidFill>
          <a:schemeClr val="tx1"/>
        </a:solidFill>
        <a:latin typeface="Tahoma" pitchFamily="34" charset="0"/>
        <a:ea typeface="宋体" charset="-122"/>
        <a:cs typeface="+mn-cs"/>
      </a:defRPr>
    </a:lvl7pPr>
    <a:lvl8pPr marL="3200400" algn="l" defTabSz="914400" rtl="0" eaLnBrk="1" latinLnBrk="0" hangingPunct="1">
      <a:defRPr kern="1200">
        <a:solidFill>
          <a:schemeClr val="tx1"/>
        </a:solidFill>
        <a:latin typeface="Tahoma" pitchFamily="34" charset="0"/>
        <a:ea typeface="宋体" charset="-122"/>
        <a:cs typeface="+mn-cs"/>
      </a:defRPr>
    </a:lvl8pPr>
    <a:lvl9pPr marL="3657600" algn="l" defTabSz="914400" rtl="0" eaLnBrk="1" latinLnBrk="0" hangingPunct="1">
      <a:defRPr kern="1200">
        <a:solidFill>
          <a:schemeClr val="tx1"/>
        </a:solidFill>
        <a:latin typeface="Tahoma" pitchFamily="34"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17D7"/>
    <a:srgbClr val="C81C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85842" autoAdjust="0"/>
  </p:normalViewPr>
  <p:slideViewPr>
    <p:cSldViewPr>
      <p:cViewPr varScale="1">
        <p:scale>
          <a:sx n="93" d="100"/>
          <a:sy n="93" d="100"/>
        </p:scale>
        <p:origin x="2016"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5" Type="http://schemas.openxmlformats.org/officeDocument/2006/relationships/image" Target="../media/image21.wmf"/><Relationship Id="rId4"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1.wmf"/><Relationship Id="rId1" Type="http://schemas.openxmlformats.org/officeDocument/2006/relationships/image" Target="../media/image22.wmf"/><Relationship Id="rId4"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26.wmf"/><Relationship Id="rId7" Type="http://schemas.openxmlformats.org/officeDocument/2006/relationships/image" Target="../media/image33.w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25.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image" Target="../media/image42.wmf"/><Relationship Id="rId7" Type="http://schemas.openxmlformats.org/officeDocument/2006/relationships/image" Target="../media/image49.wmf"/><Relationship Id="rId2" Type="http://schemas.openxmlformats.org/officeDocument/2006/relationships/image" Target="../media/image44.wmf"/><Relationship Id="rId1" Type="http://schemas.openxmlformats.org/officeDocument/2006/relationships/image" Target="../media/image46.wmf"/><Relationship Id="rId6" Type="http://schemas.openxmlformats.org/officeDocument/2006/relationships/image" Target="../media/image48.wmf"/><Relationship Id="rId5" Type="http://schemas.openxmlformats.org/officeDocument/2006/relationships/image" Target="../media/image47.wmf"/><Relationship Id="rId10" Type="http://schemas.openxmlformats.org/officeDocument/2006/relationships/image" Target="../media/image52.wmf"/><Relationship Id="rId4" Type="http://schemas.openxmlformats.org/officeDocument/2006/relationships/image" Target="../media/image43.wmf"/><Relationship Id="rId9"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4" Type="http://schemas.openxmlformats.org/officeDocument/2006/relationships/image" Target="../media/image5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4" Type="http://schemas.openxmlformats.org/officeDocument/2006/relationships/image" Target="../media/image82.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 Id="rId6" Type="http://schemas.openxmlformats.org/officeDocument/2006/relationships/image" Target="../media/image91.wmf"/><Relationship Id="rId5" Type="http://schemas.openxmlformats.org/officeDocument/2006/relationships/image" Target="../media/image90.wmf"/><Relationship Id="rId4" Type="http://schemas.openxmlformats.org/officeDocument/2006/relationships/image" Target="../media/image89.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 Id="rId4" Type="http://schemas.openxmlformats.org/officeDocument/2006/relationships/image" Target="../media/image10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 Id="rId6" Type="http://schemas.openxmlformats.org/officeDocument/2006/relationships/image" Target="../media/image108.wmf"/><Relationship Id="rId5" Type="http://schemas.openxmlformats.org/officeDocument/2006/relationships/image" Target="../media/image107.wmf"/><Relationship Id="rId4" Type="http://schemas.openxmlformats.org/officeDocument/2006/relationships/image" Target="../media/image10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 Id="rId6" Type="http://schemas.openxmlformats.org/officeDocument/2006/relationships/image" Target="../media/image114.wmf"/><Relationship Id="rId5" Type="http://schemas.openxmlformats.org/officeDocument/2006/relationships/image" Target="../media/image113.wmf"/><Relationship Id="rId4" Type="http://schemas.openxmlformats.org/officeDocument/2006/relationships/image" Target="../media/image11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22.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24.wmf"/><Relationship Id="rId1" Type="http://schemas.openxmlformats.org/officeDocument/2006/relationships/image" Target="../media/image123.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28.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40.wmf"/><Relationship Id="rId1" Type="http://schemas.openxmlformats.org/officeDocument/2006/relationships/image" Target="../media/image139.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 Id="rId6" Type="http://schemas.openxmlformats.org/officeDocument/2006/relationships/image" Target="../media/image148.wmf"/><Relationship Id="rId5" Type="http://schemas.openxmlformats.org/officeDocument/2006/relationships/image" Target="../media/image147.wmf"/><Relationship Id="rId4" Type="http://schemas.openxmlformats.org/officeDocument/2006/relationships/image" Target="../media/image146.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52.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56.wmf"/><Relationship Id="rId1" Type="http://schemas.openxmlformats.org/officeDocument/2006/relationships/image" Target="../media/image155.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image" Target="../media/image158.wmf"/><Relationship Id="rId1" Type="http://schemas.openxmlformats.org/officeDocument/2006/relationships/image" Target="../media/image157.wmf"/><Relationship Id="rId4" Type="http://schemas.openxmlformats.org/officeDocument/2006/relationships/image" Target="../media/image160.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62.wmf"/><Relationship Id="rId1" Type="http://schemas.openxmlformats.org/officeDocument/2006/relationships/image" Target="../media/image161.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63.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65.wmf"/><Relationship Id="rId1" Type="http://schemas.openxmlformats.org/officeDocument/2006/relationships/image" Target="../media/image164.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67.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69.wmf"/><Relationship Id="rId1" Type="http://schemas.openxmlformats.org/officeDocument/2006/relationships/image" Target="../media/image16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ea typeface="宋体" pitchFamily="2" charset="-122"/>
              </a:defRPr>
            </a:lvl1pPr>
          </a:lstStyle>
          <a:p>
            <a:pPr>
              <a:defRPr/>
            </a:pPr>
            <a:endParaRPr lang="en-US" altLang="zh-CN"/>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ea typeface="宋体" pitchFamily="2" charset="-122"/>
              </a:defRPr>
            </a:lvl1pPr>
          </a:lstStyle>
          <a:p>
            <a:pPr>
              <a:defRPr/>
            </a:pPr>
            <a:endParaRPr lang="en-US" altLang="zh-CN"/>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charset="0"/>
                <a:ea typeface="宋体" pitchFamily="2" charset="-122"/>
              </a:defRPr>
            </a:lvl1pPr>
          </a:lstStyle>
          <a:p>
            <a:pPr>
              <a:defRPr/>
            </a:pPr>
            <a:fld id="{17DD1F56-5DC7-4D77-AC01-5B4343087863}" type="slidenum">
              <a:rPr lang="en-US" altLang="zh-CN"/>
              <a:pPr>
                <a:defRPr/>
              </a:pPr>
              <a:t>‹#›</a:t>
            </a:fld>
            <a:endParaRPr lang="en-US" altLang="zh-CN"/>
          </a:p>
        </p:txBody>
      </p:sp>
    </p:spTree>
    <p:extLst>
      <p:ext uri="{BB962C8B-B14F-4D97-AF65-F5344CB8AC3E}">
        <p14:creationId xmlns:p14="http://schemas.microsoft.com/office/powerpoint/2010/main" val="30999727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DD1F56-5DC7-4D77-AC01-5B4343087863}" type="slidenum">
              <a:rPr lang="en-US" altLang="zh-CN" smtClean="0"/>
              <a:pPr>
                <a:defRPr/>
              </a:pPr>
              <a:t>5</a:t>
            </a:fld>
            <a:endParaRPr lang="en-US" altLang="zh-CN"/>
          </a:p>
        </p:txBody>
      </p:sp>
    </p:spTree>
    <p:extLst>
      <p:ext uri="{BB962C8B-B14F-4D97-AF65-F5344CB8AC3E}">
        <p14:creationId xmlns:p14="http://schemas.microsoft.com/office/powerpoint/2010/main" val="1223876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DD1F56-5DC7-4D77-AC01-5B4343087863}" type="slidenum">
              <a:rPr lang="en-US" altLang="zh-CN" smtClean="0"/>
              <a:pPr>
                <a:defRPr/>
              </a:pPr>
              <a:t>13</a:t>
            </a:fld>
            <a:endParaRPr lang="en-US" altLang="zh-CN"/>
          </a:p>
        </p:txBody>
      </p:sp>
    </p:spTree>
    <p:extLst>
      <p:ext uri="{BB962C8B-B14F-4D97-AF65-F5344CB8AC3E}">
        <p14:creationId xmlns:p14="http://schemas.microsoft.com/office/powerpoint/2010/main" val="4274265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类似于传染病的模型三。</a:t>
            </a:r>
            <a:r>
              <a:rPr lang="en-US" altLang="zh-CN" dirty="0"/>
              <a:t>SIS</a:t>
            </a:r>
            <a:r>
              <a:rPr lang="zh-CN" altLang="en-US" dirty="0"/>
              <a:t>模型。</a:t>
            </a:r>
          </a:p>
        </p:txBody>
      </p:sp>
      <p:sp>
        <p:nvSpPr>
          <p:cNvPr id="4" name="灯片编号占位符 3"/>
          <p:cNvSpPr>
            <a:spLocks noGrp="1"/>
          </p:cNvSpPr>
          <p:nvPr>
            <p:ph type="sldNum" sz="quarter" idx="10"/>
          </p:nvPr>
        </p:nvSpPr>
        <p:spPr/>
        <p:txBody>
          <a:bodyPr/>
          <a:lstStyle/>
          <a:p>
            <a:pPr>
              <a:defRPr/>
            </a:pPr>
            <a:fld id="{17DD1F56-5DC7-4D77-AC01-5B4343087863}" type="slidenum">
              <a:rPr lang="en-US" altLang="zh-CN" smtClean="0"/>
              <a:pPr>
                <a:defRPr/>
              </a:pPr>
              <a:t>26</a:t>
            </a:fld>
            <a:endParaRPr lang="en-US" altLang="zh-CN"/>
          </a:p>
        </p:txBody>
      </p:sp>
    </p:spTree>
    <p:extLst>
      <p:ext uri="{BB962C8B-B14F-4D97-AF65-F5344CB8AC3E}">
        <p14:creationId xmlns:p14="http://schemas.microsoft.com/office/powerpoint/2010/main" val="861646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DD1F56-5DC7-4D77-AC01-5B4343087863}" type="slidenum">
              <a:rPr lang="en-US" altLang="zh-CN" smtClean="0"/>
              <a:pPr>
                <a:defRPr/>
              </a:pPr>
              <a:t>37</a:t>
            </a:fld>
            <a:endParaRPr lang="en-US" altLang="zh-CN"/>
          </a:p>
        </p:txBody>
      </p:sp>
    </p:spTree>
    <p:extLst>
      <p:ext uri="{BB962C8B-B14F-4D97-AF65-F5344CB8AC3E}">
        <p14:creationId xmlns:p14="http://schemas.microsoft.com/office/powerpoint/2010/main" val="3810000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DD1F56-5DC7-4D77-AC01-5B4343087863}" type="slidenum">
              <a:rPr lang="en-US" altLang="zh-CN" smtClean="0"/>
              <a:pPr>
                <a:defRPr/>
              </a:pPr>
              <a:t>51</a:t>
            </a:fld>
            <a:endParaRPr lang="en-US" altLang="zh-CN"/>
          </a:p>
        </p:txBody>
      </p:sp>
    </p:spTree>
    <p:extLst>
      <p:ext uri="{BB962C8B-B14F-4D97-AF65-F5344CB8AC3E}">
        <p14:creationId xmlns:p14="http://schemas.microsoft.com/office/powerpoint/2010/main" val="25998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DD1F56-5DC7-4D77-AC01-5B4343087863}" type="slidenum">
              <a:rPr lang="en-US" altLang="zh-CN" smtClean="0"/>
              <a:pPr>
                <a:defRPr/>
              </a:pPr>
              <a:t>89</a:t>
            </a:fld>
            <a:endParaRPr lang="en-US" altLang="zh-CN"/>
          </a:p>
        </p:txBody>
      </p:sp>
    </p:spTree>
    <p:extLst>
      <p:ext uri="{BB962C8B-B14F-4D97-AF65-F5344CB8AC3E}">
        <p14:creationId xmlns:p14="http://schemas.microsoft.com/office/powerpoint/2010/main" val="3440307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DD1F56-5DC7-4D77-AC01-5B4343087863}" type="slidenum">
              <a:rPr lang="en-US" altLang="zh-CN" smtClean="0"/>
              <a:pPr>
                <a:defRPr/>
              </a:pPr>
              <a:t>90</a:t>
            </a:fld>
            <a:endParaRPr lang="en-US" altLang="zh-CN"/>
          </a:p>
        </p:txBody>
      </p:sp>
    </p:spTree>
    <p:extLst>
      <p:ext uri="{BB962C8B-B14F-4D97-AF65-F5344CB8AC3E}">
        <p14:creationId xmlns:p14="http://schemas.microsoft.com/office/powerpoint/2010/main" val="2899149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DD1F56-5DC7-4D77-AC01-5B4343087863}" type="slidenum">
              <a:rPr lang="en-US" altLang="zh-CN" smtClean="0"/>
              <a:pPr>
                <a:defRPr/>
              </a:pPr>
              <a:t>91</a:t>
            </a:fld>
            <a:endParaRPr lang="en-US" altLang="zh-CN"/>
          </a:p>
        </p:txBody>
      </p:sp>
    </p:spTree>
    <p:extLst>
      <p:ext uri="{BB962C8B-B14F-4D97-AF65-F5344CB8AC3E}">
        <p14:creationId xmlns:p14="http://schemas.microsoft.com/office/powerpoint/2010/main" val="3348683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defRPr/>
              </a:pPr>
              <a:endParaRPr lang="zh-CN" altLang="en-US"/>
            </a:p>
          </p:txBody>
        </p:sp>
      </p:grpSp>
      <p:sp>
        <p:nvSpPr>
          <p:cNvPr id="8204"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p>
        </p:txBody>
      </p:sp>
      <p:sp>
        <p:nvSpPr>
          <p:cNvPr id="82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473ADA60-4D2D-450D-8178-6A87DBF54365}" type="slidenum">
              <a:rPr lang="en-US" altLang="zh-CN"/>
              <a:pPr>
                <a:defRPr/>
              </a:pPr>
              <a:t>‹#›</a:t>
            </a:fld>
            <a:endParaRPr lang="en-US" altLang="zh-CN"/>
          </a:p>
        </p:txBody>
      </p:sp>
    </p:spTree>
    <p:extLst>
      <p:ext uri="{BB962C8B-B14F-4D97-AF65-F5344CB8AC3E}">
        <p14:creationId xmlns:p14="http://schemas.microsoft.com/office/powerpoint/2010/main" val="1242933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B5E95236-D0C1-4D31-8D61-5EF5DA33B082}" type="slidenum">
              <a:rPr lang="en-US" altLang="zh-CN"/>
              <a:pPr>
                <a:defRPr/>
              </a:pPr>
              <a:t>‹#›</a:t>
            </a:fld>
            <a:endParaRPr lang="en-US" altLang="zh-CN"/>
          </a:p>
        </p:txBody>
      </p:sp>
    </p:spTree>
    <p:extLst>
      <p:ext uri="{BB962C8B-B14F-4D97-AF65-F5344CB8AC3E}">
        <p14:creationId xmlns:p14="http://schemas.microsoft.com/office/powerpoint/2010/main" val="2992571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B1C11541-3E29-4523-A965-B2A02D387D40}" type="slidenum">
              <a:rPr lang="en-US" altLang="zh-CN"/>
              <a:pPr>
                <a:defRPr/>
              </a:pPr>
              <a:t>‹#›</a:t>
            </a:fld>
            <a:endParaRPr lang="en-US" altLang="zh-CN"/>
          </a:p>
        </p:txBody>
      </p:sp>
    </p:spTree>
    <p:extLst>
      <p:ext uri="{BB962C8B-B14F-4D97-AF65-F5344CB8AC3E}">
        <p14:creationId xmlns:p14="http://schemas.microsoft.com/office/powerpoint/2010/main" val="2819691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B6DA396E-18E0-4BBA-98E2-E48FBA7AEB3B}" type="slidenum">
              <a:rPr lang="en-US" altLang="zh-CN"/>
              <a:pPr>
                <a:defRPr/>
              </a:pPr>
              <a:t>‹#›</a:t>
            </a:fld>
            <a:endParaRPr lang="en-US" altLang="zh-CN"/>
          </a:p>
        </p:txBody>
      </p:sp>
    </p:spTree>
    <p:extLst>
      <p:ext uri="{BB962C8B-B14F-4D97-AF65-F5344CB8AC3E}">
        <p14:creationId xmlns:p14="http://schemas.microsoft.com/office/powerpoint/2010/main" val="4233124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a:ln/>
        </p:spPr>
        <p:txBody>
          <a:bodyPr/>
          <a:lstStyle>
            <a:lvl1pPr>
              <a:defRPr/>
            </a:lvl1pPr>
          </a:lstStyle>
          <a:p>
            <a:pPr>
              <a:defRPr/>
            </a:pPr>
            <a:fld id="{C35574ED-84E8-4CE4-9112-BBBDCAB4BF8F}" type="slidenum">
              <a:rPr lang="en-US" altLang="zh-CN"/>
              <a:pPr>
                <a:defRPr/>
              </a:pPr>
              <a:t>‹#›</a:t>
            </a:fld>
            <a:endParaRPr lang="en-US" altLang="zh-CN"/>
          </a:p>
        </p:txBody>
      </p:sp>
    </p:spTree>
    <p:extLst>
      <p:ext uri="{BB962C8B-B14F-4D97-AF65-F5344CB8AC3E}">
        <p14:creationId xmlns:p14="http://schemas.microsoft.com/office/powerpoint/2010/main" val="2582709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a:ln/>
        </p:spPr>
        <p:txBody>
          <a:bodyPr/>
          <a:lstStyle>
            <a:lvl1pPr>
              <a:defRPr/>
            </a:lvl1pPr>
          </a:lstStyle>
          <a:p>
            <a:pPr>
              <a:defRPr/>
            </a:pPr>
            <a:fld id="{FC6F7CD8-9430-45E1-8849-2798C24FEBEE}" type="slidenum">
              <a:rPr lang="en-US" altLang="zh-CN"/>
              <a:pPr>
                <a:defRPr/>
              </a:pPr>
              <a:t>‹#›</a:t>
            </a:fld>
            <a:endParaRPr lang="en-US" altLang="zh-CN"/>
          </a:p>
        </p:txBody>
      </p:sp>
    </p:spTree>
    <p:extLst>
      <p:ext uri="{BB962C8B-B14F-4D97-AF65-F5344CB8AC3E}">
        <p14:creationId xmlns:p14="http://schemas.microsoft.com/office/powerpoint/2010/main" val="2143529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pPr>
              <a:defRPr/>
            </a:pPr>
            <a:fld id="{F7AF8744-B749-4E3D-8D0A-DDDD22EBBCBE}" type="slidenum">
              <a:rPr lang="en-US" altLang="zh-CN"/>
              <a:pPr>
                <a:defRPr/>
              </a:pPr>
              <a:t>‹#›</a:t>
            </a:fld>
            <a:endParaRPr lang="en-US" altLang="zh-CN"/>
          </a:p>
        </p:txBody>
      </p:sp>
    </p:spTree>
    <p:extLst>
      <p:ext uri="{BB962C8B-B14F-4D97-AF65-F5344CB8AC3E}">
        <p14:creationId xmlns:p14="http://schemas.microsoft.com/office/powerpoint/2010/main" val="98668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293643C5-297B-4508-A147-F2089B723892}" type="slidenum">
              <a:rPr lang="en-US" altLang="zh-CN"/>
              <a:pPr>
                <a:defRPr/>
              </a:pPr>
              <a:t>‹#›</a:t>
            </a:fld>
            <a:endParaRPr lang="en-US" altLang="zh-CN"/>
          </a:p>
        </p:txBody>
      </p:sp>
    </p:spTree>
    <p:extLst>
      <p:ext uri="{BB962C8B-B14F-4D97-AF65-F5344CB8AC3E}">
        <p14:creationId xmlns:p14="http://schemas.microsoft.com/office/powerpoint/2010/main" val="9911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pPr>
              <a:defRPr/>
            </a:pPr>
            <a:fld id="{CFC70C47-11EB-495D-BC37-B11E3F8A4471}" type="slidenum">
              <a:rPr lang="en-US" altLang="zh-CN"/>
              <a:pPr>
                <a:defRPr/>
              </a:pPr>
              <a:t>‹#›</a:t>
            </a:fld>
            <a:endParaRPr lang="en-US" altLang="zh-CN"/>
          </a:p>
        </p:txBody>
      </p:sp>
    </p:spTree>
    <p:extLst>
      <p:ext uri="{BB962C8B-B14F-4D97-AF65-F5344CB8AC3E}">
        <p14:creationId xmlns:p14="http://schemas.microsoft.com/office/powerpoint/2010/main" val="2649316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E6B9975D-5AF3-47BE-9E70-B77542353037}" type="slidenum">
              <a:rPr lang="en-US" altLang="zh-CN"/>
              <a:pPr>
                <a:defRPr/>
              </a:pPr>
              <a:t>‹#›</a:t>
            </a:fld>
            <a:endParaRPr lang="en-US" altLang="zh-CN"/>
          </a:p>
        </p:txBody>
      </p:sp>
    </p:spTree>
    <p:extLst>
      <p:ext uri="{BB962C8B-B14F-4D97-AF65-F5344CB8AC3E}">
        <p14:creationId xmlns:p14="http://schemas.microsoft.com/office/powerpoint/2010/main" val="2075336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pPr>
              <a:defRPr/>
            </a:pPr>
            <a:fld id="{70F06B05-41B4-40BB-861E-70C249C40CF3}" type="slidenum">
              <a:rPr lang="en-US" altLang="zh-CN"/>
              <a:pPr>
                <a:defRPr/>
              </a:pPr>
              <a:t>‹#›</a:t>
            </a:fld>
            <a:endParaRPr lang="en-US" altLang="zh-CN"/>
          </a:p>
        </p:txBody>
      </p:sp>
    </p:spTree>
    <p:extLst>
      <p:ext uri="{BB962C8B-B14F-4D97-AF65-F5344CB8AC3E}">
        <p14:creationId xmlns:p14="http://schemas.microsoft.com/office/powerpoint/2010/main" val="3644970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fld id="{6FD6CB4B-8B9A-48A7-A026-159B13D6348B}" type="slidenum">
              <a:rPr lang="en-US" altLang="zh-CN"/>
              <a:pPr/>
              <a:t>‹#›</a:t>
            </a:fld>
            <a:endParaRPr lang="en-US" altLang="zh-CN"/>
          </a:p>
        </p:txBody>
      </p:sp>
    </p:spTree>
    <p:extLst>
      <p:ext uri="{BB962C8B-B14F-4D97-AF65-F5344CB8AC3E}">
        <p14:creationId xmlns:p14="http://schemas.microsoft.com/office/powerpoint/2010/main" val="214543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fld id="{5847340D-DC6C-49EC-BBDE-B2653B0B7DFD}" type="slidenum">
              <a:rPr lang="en-US" altLang="zh-CN"/>
              <a:pPr/>
              <a:t>‹#›</a:t>
            </a:fld>
            <a:endParaRPr lang="en-US" altLang="zh-CN"/>
          </a:p>
        </p:txBody>
      </p:sp>
    </p:spTree>
    <p:extLst>
      <p:ext uri="{BB962C8B-B14F-4D97-AF65-F5344CB8AC3E}">
        <p14:creationId xmlns:p14="http://schemas.microsoft.com/office/powerpoint/2010/main" val="2987585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algn="ctr" eaLnBrk="1" hangingPunct="1">
              <a:defRPr/>
            </a:pPr>
            <a:endParaRPr kumimoji="1" lang="zh-CN" altLang="zh-CN"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9" name="Rectangle 11"/>
          <p:cNvSpPr>
            <a:spLocks noGrp="1" noChangeArrowheads="1"/>
          </p:cNvSpPr>
          <p:nvPr>
            <p:ph type="dt" sz="half" idx="2"/>
          </p:nvPr>
        </p:nvSpPr>
        <p:spPr bwMode="auto">
          <a:xfrm>
            <a:off x="11620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ea typeface="宋体" pitchFamily="2" charset="-122"/>
              </a:defRPr>
            </a:lvl1pPr>
          </a:lstStyle>
          <a:p>
            <a:pPr>
              <a:defRPr/>
            </a:pPr>
            <a:endParaRPr lang="en-US" altLang="zh-CN"/>
          </a:p>
        </p:txBody>
      </p:sp>
      <p:sp>
        <p:nvSpPr>
          <p:cNvPr id="7180"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ea typeface="宋体" pitchFamily="2" charset="-122"/>
              </a:defRPr>
            </a:lvl1pPr>
          </a:lstStyle>
          <a:p>
            <a:pPr>
              <a:defRPr/>
            </a:pPr>
            <a:endParaRPr lang="en-US" altLang="zh-CN"/>
          </a:p>
        </p:txBody>
      </p:sp>
      <p:sp>
        <p:nvSpPr>
          <p:cNvPr id="7181"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ea typeface="宋体" pitchFamily="2" charset="-122"/>
              </a:defRPr>
            </a:lvl1pPr>
          </a:lstStyle>
          <a:p>
            <a:pPr>
              <a:defRPr/>
            </a:pPr>
            <a:fld id="{B2C52BC9-999B-4221-9EC9-07F6FF9410B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8" r:id="rId12"/>
    <p:sldLayoutId id="2147483699" r:id="rId13"/>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ea typeface="宋体" pitchFamily="2" charset="-122"/>
        </a:defRPr>
      </a:lvl2pPr>
      <a:lvl3pPr algn="l" rtl="0" eaLnBrk="0" fontAlgn="base" hangingPunct="0">
        <a:spcBef>
          <a:spcPct val="0"/>
        </a:spcBef>
        <a:spcAft>
          <a:spcPct val="0"/>
        </a:spcAft>
        <a:defRPr sz="4400">
          <a:solidFill>
            <a:schemeClr val="tx2"/>
          </a:solidFill>
          <a:latin typeface="Tahoma" pitchFamily="34" charset="0"/>
          <a:ea typeface="宋体" pitchFamily="2" charset="-122"/>
        </a:defRPr>
      </a:lvl3pPr>
      <a:lvl4pPr algn="l" rtl="0" eaLnBrk="0" fontAlgn="base" hangingPunct="0">
        <a:spcBef>
          <a:spcPct val="0"/>
        </a:spcBef>
        <a:spcAft>
          <a:spcPct val="0"/>
        </a:spcAft>
        <a:defRPr sz="4400">
          <a:solidFill>
            <a:schemeClr val="tx2"/>
          </a:solidFill>
          <a:latin typeface="Tahoma" pitchFamily="34" charset="0"/>
          <a:ea typeface="宋体" pitchFamily="2" charset="-122"/>
        </a:defRPr>
      </a:lvl4pPr>
      <a:lvl5pPr algn="l" rtl="0" eaLnBrk="0" fontAlgn="base" hangingPunct="0">
        <a:spcBef>
          <a:spcPct val="0"/>
        </a:spcBef>
        <a:spcAft>
          <a:spcPct val="0"/>
        </a:spcAft>
        <a:defRPr sz="4400">
          <a:solidFill>
            <a:schemeClr val="tx2"/>
          </a:solidFill>
          <a:latin typeface="Tahoma" pitchFamily="34" charset="0"/>
          <a:ea typeface="宋体" pitchFamily="2" charset="-122"/>
        </a:defRPr>
      </a:lvl5pPr>
      <a:lvl6pPr marL="457200" algn="l" rtl="0" fontAlgn="base">
        <a:spcBef>
          <a:spcPct val="0"/>
        </a:spcBef>
        <a:spcAft>
          <a:spcPct val="0"/>
        </a:spcAft>
        <a:defRPr sz="4400">
          <a:solidFill>
            <a:schemeClr val="tx2"/>
          </a:solidFill>
          <a:latin typeface="Tahoma" pitchFamily="34" charset="0"/>
          <a:ea typeface="宋体" pitchFamily="2" charset="-122"/>
        </a:defRPr>
      </a:lvl6pPr>
      <a:lvl7pPr marL="914400" algn="l" rtl="0" fontAlgn="base">
        <a:spcBef>
          <a:spcPct val="0"/>
        </a:spcBef>
        <a:spcAft>
          <a:spcPct val="0"/>
        </a:spcAft>
        <a:defRPr sz="4400">
          <a:solidFill>
            <a:schemeClr val="tx2"/>
          </a:solidFill>
          <a:latin typeface="Tahoma" pitchFamily="34" charset="0"/>
          <a:ea typeface="宋体" pitchFamily="2" charset="-122"/>
        </a:defRPr>
      </a:lvl7pPr>
      <a:lvl8pPr marL="1371600" algn="l" rtl="0" fontAlgn="base">
        <a:spcBef>
          <a:spcPct val="0"/>
        </a:spcBef>
        <a:spcAft>
          <a:spcPct val="0"/>
        </a:spcAft>
        <a:defRPr sz="4400">
          <a:solidFill>
            <a:schemeClr val="tx2"/>
          </a:solidFill>
          <a:latin typeface="Tahoma" pitchFamily="34" charset="0"/>
          <a:ea typeface="宋体" pitchFamily="2" charset="-122"/>
        </a:defRPr>
      </a:lvl8pPr>
      <a:lvl9pPr marL="1828800" algn="l" rtl="0" fontAlgn="base">
        <a:spcBef>
          <a:spcPct val="0"/>
        </a:spcBef>
        <a:spcAft>
          <a:spcPct val="0"/>
        </a:spcAft>
        <a:defRPr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4.wmf"/><Relationship Id="rId11" Type="http://schemas.openxmlformats.org/officeDocument/2006/relationships/image" Target="../media/image12.wmf"/><Relationship Id="rId5" Type="http://schemas.openxmlformats.org/officeDocument/2006/relationships/oleObject" Target="../embeddings/oleObject2.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21.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8.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notesSlide" Target="../notesSlides/notesSlide2.xml"/><Relationship Id="rId7" Type="http://schemas.openxmlformats.org/officeDocument/2006/relationships/image" Target="../media/image21.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11.bin"/><Relationship Id="rId11" Type="http://schemas.openxmlformats.org/officeDocument/2006/relationships/image" Target="../media/image24.wmf"/><Relationship Id="rId5" Type="http://schemas.openxmlformats.org/officeDocument/2006/relationships/image" Target="../media/image22.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23.wmf"/></Relationships>
</file>

<file path=ppt/slides/_rels/slide14.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6.wmf"/><Relationship Id="rId5" Type="http://schemas.openxmlformats.org/officeDocument/2006/relationships/oleObject" Target="../embeddings/oleObject15.bin"/><Relationship Id="rId4" Type="http://schemas.openxmlformats.org/officeDocument/2006/relationships/image" Target="../media/image25.wmf"/></Relationships>
</file>

<file path=ppt/slides/_rels/slide15.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22.bin"/><Relationship Id="rId18" Type="http://schemas.openxmlformats.org/officeDocument/2006/relationships/image" Target="../media/image34.wmf"/><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31.wmf"/><Relationship Id="rId17" Type="http://schemas.openxmlformats.org/officeDocument/2006/relationships/oleObject" Target="../embeddings/oleObject24.bin"/><Relationship Id="rId2" Type="http://schemas.openxmlformats.org/officeDocument/2006/relationships/slideLayout" Target="../slideLayouts/slideLayout7.xml"/><Relationship Id="rId16" Type="http://schemas.openxmlformats.org/officeDocument/2006/relationships/image" Target="../media/image33.wmf"/><Relationship Id="rId1" Type="http://schemas.openxmlformats.org/officeDocument/2006/relationships/vmlDrawing" Target="../drawings/vmlDrawing5.vml"/><Relationship Id="rId6" Type="http://schemas.openxmlformats.org/officeDocument/2006/relationships/image" Target="../media/image29.w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oleObject" Target="../embeddings/oleObject23.bin"/><Relationship Id="rId10" Type="http://schemas.openxmlformats.org/officeDocument/2006/relationships/image" Target="../media/image30.wmf"/><Relationship Id="rId4" Type="http://schemas.openxmlformats.org/officeDocument/2006/relationships/image" Target="../media/image28.wmf"/><Relationship Id="rId9" Type="http://schemas.openxmlformats.org/officeDocument/2006/relationships/oleObject" Target="../embeddings/oleObject20.bin"/><Relationship Id="rId14" Type="http://schemas.openxmlformats.org/officeDocument/2006/relationships/image" Target="../media/image3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6.wmf"/><Relationship Id="rId5" Type="http://schemas.openxmlformats.org/officeDocument/2006/relationships/oleObject" Target="../embeddings/oleObject26.bin"/><Relationship Id="rId4" Type="http://schemas.openxmlformats.org/officeDocument/2006/relationships/image" Target="../media/image35.wmf"/></Relationships>
</file>

<file path=ppt/slides/_rels/slide17.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3.bin"/><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40.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7.wmf"/><Relationship Id="rId11" Type="http://schemas.openxmlformats.org/officeDocument/2006/relationships/oleObject" Target="../embeddings/oleObject32.bin"/><Relationship Id="rId5" Type="http://schemas.openxmlformats.org/officeDocument/2006/relationships/oleObject" Target="../embeddings/oleObject29.bin"/><Relationship Id="rId10" Type="http://schemas.openxmlformats.org/officeDocument/2006/relationships/image" Target="../media/image39.wmf"/><Relationship Id="rId4" Type="http://schemas.openxmlformats.org/officeDocument/2006/relationships/image" Target="../media/image25.wmf"/><Relationship Id="rId9" Type="http://schemas.openxmlformats.org/officeDocument/2006/relationships/oleObject" Target="../embeddings/oleObject31.bin"/><Relationship Id="rId14" Type="http://schemas.openxmlformats.org/officeDocument/2006/relationships/image" Target="../media/image41.wmf"/></Relationships>
</file>

<file path=ppt/slides/_rels/slide18.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oleObject" Target="../embeddings/oleObject39.bin"/><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45.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43.wmf"/><Relationship Id="rId11" Type="http://schemas.openxmlformats.org/officeDocument/2006/relationships/oleObject" Target="../embeddings/oleObject38.bin"/><Relationship Id="rId5" Type="http://schemas.openxmlformats.org/officeDocument/2006/relationships/oleObject" Target="../embeddings/oleObject35.bin"/><Relationship Id="rId15" Type="http://schemas.openxmlformats.org/officeDocument/2006/relationships/oleObject" Target="../embeddings/oleObject40.bin"/><Relationship Id="rId10" Type="http://schemas.openxmlformats.org/officeDocument/2006/relationships/image" Target="../media/image26.wmf"/><Relationship Id="rId4" Type="http://schemas.openxmlformats.org/officeDocument/2006/relationships/image" Target="../media/image42.wmf"/><Relationship Id="rId9" Type="http://schemas.openxmlformats.org/officeDocument/2006/relationships/oleObject" Target="../embeddings/oleObject37.bin"/><Relationship Id="rId14" Type="http://schemas.openxmlformats.org/officeDocument/2006/relationships/image" Target="../media/image46.wmf"/></Relationships>
</file>

<file path=ppt/slides/_rels/slide19.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46.bin"/><Relationship Id="rId18" Type="http://schemas.openxmlformats.org/officeDocument/2006/relationships/image" Target="../media/image50.wmf"/><Relationship Id="rId3" Type="http://schemas.openxmlformats.org/officeDocument/2006/relationships/oleObject" Target="../embeddings/oleObject41.bin"/><Relationship Id="rId21" Type="http://schemas.openxmlformats.org/officeDocument/2006/relationships/oleObject" Target="../embeddings/oleObject50.bin"/><Relationship Id="rId7" Type="http://schemas.openxmlformats.org/officeDocument/2006/relationships/oleObject" Target="../embeddings/oleObject43.bin"/><Relationship Id="rId12" Type="http://schemas.openxmlformats.org/officeDocument/2006/relationships/image" Target="../media/image47.wmf"/><Relationship Id="rId17" Type="http://schemas.openxmlformats.org/officeDocument/2006/relationships/oleObject" Target="../embeddings/oleObject48.bin"/><Relationship Id="rId2" Type="http://schemas.openxmlformats.org/officeDocument/2006/relationships/slideLayout" Target="../slideLayouts/slideLayout7.xml"/><Relationship Id="rId16" Type="http://schemas.openxmlformats.org/officeDocument/2006/relationships/image" Target="../media/image49.wmf"/><Relationship Id="rId20" Type="http://schemas.openxmlformats.org/officeDocument/2006/relationships/image" Target="../media/image51.wmf"/><Relationship Id="rId1" Type="http://schemas.openxmlformats.org/officeDocument/2006/relationships/vmlDrawing" Target="../drawings/vmlDrawing9.vml"/><Relationship Id="rId6" Type="http://schemas.openxmlformats.org/officeDocument/2006/relationships/image" Target="../media/image44.wmf"/><Relationship Id="rId11" Type="http://schemas.openxmlformats.org/officeDocument/2006/relationships/oleObject" Target="../embeddings/oleObject45.bin"/><Relationship Id="rId5" Type="http://schemas.openxmlformats.org/officeDocument/2006/relationships/oleObject" Target="../embeddings/oleObject42.bin"/><Relationship Id="rId15" Type="http://schemas.openxmlformats.org/officeDocument/2006/relationships/oleObject" Target="../embeddings/oleObject47.bin"/><Relationship Id="rId10" Type="http://schemas.openxmlformats.org/officeDocument/2006/relationships/image" Target="../media/image43.wmf"/><Relationship Id="rId19" Type="http://schemas.openxmlformats.org/officeDocument/2006/relationships/oleObject" Target="../embeddings/oleObject49.bin"/><Relationship Id="rId4" Type="http://schemas.openxmlformats.org/officeDocument/2006/relationships/image" Target="../media/image46.wmf"/><Relationship Id="rId9" Type="http://schemas.openxmlformats.org/officeDocument/2006/relationships/oleObject" Target="../embeddings/oleObject44.bin"/><Relationship Id="rId14" Type="http://schemas.openxmlformats.org/officeDocument/2006/relationships/image" Target="../media/image48.wmf"/><Relationship Id="rId22" Type="http://schemas.openxmlformats.org/officeDocument/2006/relationships/image" Target="../media/image52.wmf"/></Relationships>
</file>

<file path=ppt/slides/_rels/slide20.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4.wmf"/><Relationship Id="rId11" Type="http://schemas.openxmlformats.org/officeDocument/2006/relationships/image" Target="../media/image57.wmf"/><Relationship Id="rId5" Type="http://schemas.openxmlformats.org/officeDocument/2006/relationships/oleObject" Target="../embeddings/oleObject52.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54.bin"/></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40.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notesSlide" Target="../notesSlides/notesSlide5.xml"/><Relationship Id="rId7" Type="http://schemas.openxmlformats.org/officeDocument/2006/relationships/image" Target="../media/image80.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56.bin"/><Relationship Id="rId11" Type="http://schemas.openxmlformats.org/officeDocument/2006/relationships/image" Target="../media/image82.wmf"/><Relationship Id="rId5" Type="http://schemas.openxmlformats.org/officeDocument/2006/relationships/image" Target="../media/image79.wmf"/><Relationship Id="rId10" Type="http://schemas.openxmlformats.org/officeDocument/2006/relationships/oleObject" Target="../embeddings/oleObject58.bin"/><Relationship Id="rId4" Type="http://schemas.openxmlformats.org/officeDocument/2006/relationships/oleObject" Target="../embeddings/oleObject55.bin"/><Relationship Id="rId9" Type="http://schemas.openxmlformats.org/officeDocument/2006/relationships/image" Target="../media/image81.wmf"/></Relationships>
</file>

<file path=ppt/slides/_rels/slide52.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84.wmf"/><Relationship Id="rId5" Type="http://schemas.openxmlformats.org/officeDocument/2006/relationships/oleObject" Target="../embeddings/oleObject60.bin"/><Relationship Id="rId4" Type="http://schemas.openxmlformats.org/officeDocument/2006/relationships/image" Target="../media/image83.wmf"/></Relationships>
</file>

<file path=ppt/slides/_rels/slide53.xml.rels><?xml version="1.0" encoding="UTF-8" standalone="yes"?>
<Relationships xmlns="http://schemas.openxmlformats.org/package/2006/relationships"><Relationship Id="rId8" Type="http://schemas.openxmlformats.org/officeDocument/2006/relationships/image" Target="../media/image88.wmf"/><Relationship Id="rId13" Type="http://schemas.openxmlformats.org/officeDocument/2006/relationships/oleObject" Target="../embeddings/oleObject67.bin"/><Relationship Id="rId3" Type="http://schemas.openxmlformats.org/officeDocument/2006/relationships/oleObject" Target="../embeddings/oleObject62.bin"/><Relationship Id="rId7" Type="http://schemas.openxmlformats.org/officeDocument/2006/relationships/oleObject" Target="../embeddings/oleObject64.bin"/><Relationship Id="rId12" Type="http://schemas.openxmlformats.org/officeDocument/2006/relationships/image" Target="../media/image90.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87.wmf"/><Relationship Id="rId11" Type="http://schemas.openxmlformats.org/officeDocument/2006/relationships/oleObject" Target="../embeddings/oleObject66.bin"/><Relationship Id="rId5" Type="http://schemas.openxmlformats.org/officeDocument/2006/relationships/oleObject" Target="../embeddings/oleObject63.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65.bin"/><Relationship Id="rId14" Type="http://schemas.openxmlformats.org/officeDocument/2006/relationships/image" Target="../media/image91.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93.wmf"/><Relationship Id="rId5" Type="http://schemas.openxmlformats.org/officeDocument/2006/relationships/oleObject" Target="../embeddings/oleObject69.bin"/><Relationship Id="rId4" Type="http://schemas.openxmlformats.org/officeDocument/2006/relationships/image" Target="../media/image92.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96.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slideLayout" Target="../slideLayouts/slideLayout12.xml"/><Relationship Id="rId1" Type="http://schemas.openxmlformats.org/officeDocument/2006/relationships/vmlDrawing" Target="../drawings/vmlDrawing15.vml"/><Relationship Id="rId6" Type="http://schemas.openxmlformats.org/officeDocument/2006/relationships/image" Target="../media/image95.wmf"/><Relationship Id="rId5" Type="http://schemas.openxmlformats.org/officeDocument/2006/relationships/oleObject" Target="../embeddings/oleObject71.bin"/><Relationship Id="rId4" Type="http://schemas.openxmlformats.org/officeDocument/2006/relationships/image" Target="../media/image94.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13.xml"/><Relationship Id="rId1" Type="http://schemas.openxmlformats.org/officeDocument/2006/relationships/vmlDrawing" Target="../drawings/vmlDrawing16.vml"/><Relationship Id="rId6" Type="http://schemas.openxmlformats.org/officeDocument/2006/relationships/image" Target="../media/image98.wmf"/><Relationship Id="rId5" Type="http://schemas.openxmlformats.org/officeDocument/2006/relationships/oleObject" Target="../embeddings/oleObject74.bin"/><Relationship Id="rId4" Type="http://schemas.openxmlformats.org/officeDocument/2006/relationships/image" Target="../media/image97.wmf"/></Relationships>
</file>

<file path=ppt/slides/_rels/slide69.x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oleObject" Target="../embeddings/oleObject75.bin"/><Relationship Id="rId7" Type="http://schemas.openxmlformats.org/officeDocument/2006/relationships/oleObject" Target="../embeddings/oleObject77.bin"/><Relationship Id="rId2" Type="http://schemas.openxmlformats.org/officeDocument/2006/relationships/slideLayout" Target="../slideLayouts/slideLayout13.xml"/><Relationship Id="rId1" Type="http://schemas.openxmlformats.org/officeDocument/2006/relationships/vmlDrawing" Target="../drawings/vmlDrawing17.vml"/><Relationship Id="rId6" Type="http://schemas.openxmlformats.org/officeDocument/2006/relationships/image" Target="../media/image100.wmf"/><Relationship Id="rId5" Type="http://schemas.openxmlformats.org/officeDocument/2006/relationships/oleObject" Target="../embeddings/oleObject76.bin"/><Relationship Id="rId10" Type="http://schemas.openxmlformats.org/officeDocument/2006/relationships/image" Target="../media/image102.wmf"/><Relationship Id="rId4" Type="http://schemas.openxmlformats.org/officeDocument/2006/relationships/image" Target="../media/image99.wmf"/><Relationship Id="rId9" Type="http://schemas.openxmlformats.org/officeDocument/2006/relationships/oleObject" Target="../embeddings/oleObject78.bin"/></Relationships>
</file>

<file path=ppt/slides/_rels/slide70.xml.rels><?xml version="1.0" encoding="UTF-8" standalone="yes"?>
<Relationships xmlns="http://schemas.openxmlformats.org/package/2006/relationships"><Relationship Id="rId8" Type="http://schemas.openxmlformats.org/officeDocument/2006/relationships/image" Target="../media/image105.wmf"/><Relationship Id="rId13" Type="http://schemas.openxmlformats.org/officeDocument/2006/relationships/oleObject" Target="../embeddings/oleObject84.bin"/><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107.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104.wmf"/><Relationship Id="rId11" Type="http://schemas.openxmlformats.org/officeDocument/2006/relationships/oleObject" Target="../embeddings/oleObject83.bin"/><Relationship Id="rId5" Type="http://schemas.openxmlformats.org/officeDocument/2006/relationships/oleObject" Target="../embeddings/oleObject80.bin"/><Relationship Id="rId10" Type="http://schemas.openxmlformats.org/officeDocument/2006/relationships/image" Target="../media/image106.wmf"/><Relationship Id="rId4" Type="http://schemas.openxmlformats.org/officeDocument/2006/relationships/image" Target="../media/image103.wmf"/><Relationship Id="rId9" Type="http://schemas.openxmlformats.org/officeDocument/2006/relationships/oleObject" Target="../embeddings/oleObject82.bin"/><Relationship Id="rId14" Type="http://schemas.openxmlformats.org/officeDocument/2006/relationships/image" Target="../media/image108.wmf"/></Relationships>
</file>

<file path=ppt/slides/_rels/slide71.xml.rels><?xml version="1.0" encoding="UTF-8" standalone="yes"?>
<Relationships xmlns="http://schemas.openxmlformats.org/package/2006/relationships"><Relationship Id="rId8" Type="http://schemas.openxmlformats.org/officeDocument/2006/relationships/image" Target="../media/image111.wmf"/><Relationship Id="rId13" Type="http://schemas.openxmlformats.org/officeDocument/2006/relationships/oleObject" Target="../embeddings/oleObject90.bin"/><Relationship Id="rId3" Type="http://schemas.openxmlformats.org/officeDocument/2006/relationships/oleObject" Target="../embeddings/oleObject85.bin"/><Relationship Id="rId7" Type="http://schemas.openxmlformats.org/officeDocument/2006/relationships/oleObject" Target="../embeddings/oleObject87.bin"/><Relationship Id="rId12" Type="http://schemas.openxmlformats.org/officeDocument/2006/relationships/image" Target="../media/image113.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110.wmf"/><Relationship Id="rId11" Type="http://schemas.openxmlformats.org/officeDocument/2006/relationships/oleObject" Target="../embeddings/oleObject89.bin"/><Relationship Id="rId5" Type="http://schemas.openxmlformats.org/officeDocument/2006/relationships/oleObject" Target="../embeddings/oleObject86.bin"/><Relationship Id="rId10" Type="http://schemas.openxmlformats.org/officeDocument/2006/relationships/image" Target="../media/image112.wmf"/><Relationship Id="rId4" Type="http://schemas.openxmlformats.org/officeDocument/2006/relationships/image" Target="../media/image109.wmf"/><Relationship Id="rId9" Type="http://schemas.openxmlformats.org/officeDocument/2006/relationships/oleObject" Target="../embeddings/oleObject88.bin"/><Relationship Id="rId14" Type="http://schemas.openxmlformats.org/officeDocument/2006/relationships/image" Target="../media/image114.wmf"/></Relationships>
</file>

<file path=ppt/slides/_rels/slide72.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116.wmf"/><Relationship Id="rId5" Type="http://schemas.openxmlformats.org/officeDocument/2006/relationships/oleObject" Target="../embeddings/oleObject92.bin"/><Relationship Id="rId4" Type="http://schemas.openxmlformats.org/officeDocument/2006/relationships/image" Target="../media/image115.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119.wmf"/><Relationship Id="rId5" Type="http://schemas.openxmlformats.org/officeDocument/2006/relationships/oleObject" Target="../embeddings/oleObject95.bin"/><Relationship Id="rId4" Type="http://schemas.openxmlformats.org/officeDocument/2006/relationships/image" Target="../media/image118.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21.wmf"/><Relationship Id="rId5" Type="http://schemas.openxmlformats.org/officeDocument/2006/relationships/oleObject" Target="../embeddings/oleObject97.bin"/><Relationship Id="rId4" Type="http://schemas.openxmlformats.org/officeDocument/2006/relationships/image" Target="../media/image120.w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122.wmf"/><Relationship Id="rId4" Type="http://schemas.openxmlformats.org/officeDocument/2006/relationships/oleObject" Target="../embeddings/oleObject98.bin"/></Relationships>
</file>

<file path=ppt/slides/_rels/slide83.xml.rels><?xml version="1.0" encoding="UTF-8" standalone="yes"?>
<Relationships xmlns="http://schemas.openxmlformats.org/package/2006/relationships"><Relationship Id="rId3" Type="http://schemas.openxmlformats.org/officeDocument/2006/relationships/image" Target="../media/image144.png"/><Relationship Id="rId7" Type="http://schemas.openxmlformats.org/officeDocument/2006/relationships/image" Target="../media/image124.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100.bin"/><Relationship Id="rId5" Type="http://schemas.openxmlformats.org/officeDocument/2006/relationships/image" Target="../media/image123.wmf"/><Relationship Id="rId4" Type="http://schemas.openxmlformats.org/officeDocument/2006/relationships/oleObject" Target="../embeddings/oleObject99.bin"/></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125.wmf"/></Relationships>
</file>

<file path=ppt/slides/_rels/slide85.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126.wmf"/><Relationship Id="rId4" Type="http://schemas.openxmlformats.org/officeDocument/2006/relationships/oleObject" Target="../embeddings/oleObject102.bin"/></Relationships>
</file>

<file path=ppt/slides/_rels/slide8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127.wmf"/><Relationship Id="rId4" Type="http://schemas.openxmlformats.org/officeDocument/2006/relationships/oleObject" Target="../embeddings/oleObject103.bin"/></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128.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91.xml.rels><?xml version="1.0" encoding="UTF-8" standalone="yes"?>
<Relationships xmlns="http://schemas.openxmlformats.org/package/2006/relationships"><Relationship Id="rId3" Type="http://schemas.openxmlformats.org/officeDocument/2006/relationships/image" Target="../media/image13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30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31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32.pn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97.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 Id="rId6" Type="http://schemas.openxmlformats.org/officeDocument/2006/relationships/image" Target="../media/image1371.png"/><Relationship Id="rId5" Type="http://schemas.openxmlformats.org/officeDocument/2006/relationships/image" Target="../media/image136.png"/><Relationship Id="rId4" Type="http://schemas.openxmlformats.org/officeDocument/2006/relationships/image" Target="../media/image135.png"/></Relationships>
</file>

<file path=ppt/slides/_rels/slide100.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37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140.wmf"/><Relationship Id="rId5" Type="http://schemas.openxmlformats.org/officeDocument/2006/relationships/oleObject" Target="../embeddings/oleObject106.bin"/><Relationship Id="rId4" Type="http://schemas.openxmlformats.org/officeDocument/2006/relationships/image" Target="../media/image139.wmf"/></Relationships>
</file>

<file path=ppt/slides/_rels/slide108.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8" Type="http://schemas.openxmlformats.org/officeDocument/2006/relationships/image" Target="../media/image145.wmf"/><Relationship Id="rId13" Type="http://schemas.openxmlformats.org/officeDocument/2006/relationships/oleObject" Target="../embeddings/oleObject112.bin"/><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image" Target="../media/image147.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144.wmf"/><Relationship Id="rId11" Type="http://schemas.openxmlformats.org/officeDocument/2006/relationships/oleObject" Target="../embeddings/oleObject111.bin"/><Relationship Id="rId5" Type="http://schemas.openxmlformats.org/officeDocument/2006/relationships/oleObject" Target="../embeddings/oleObject108.bin"/><Relationship Id="rId10" Type="http://schemas.openxmlformats.org/officeDocument/2006/relationships/image" Target="../media/image146.wmf"/><Relationship Id="rId4" Type="http://schemas.openxmlformats.org/officeDocument/2006/relationships/image" Target="../media/image143.wmf"/><Relationship Id="rId9" Type="http://schemas.openxmlformats.org/officeDocument/2006/relationships/oleObject" Target="../embeddings/oleObject110.bin"/><Relationship Id="rId14" Type="http://schemas.openxmlformats.org/officeDocument/2006/relationships/image" Target="../media/image148.wmf"/></Relationships>
</file>

<file path=ppt/slides/_rels/slide113.xml.rels><?xml version="1.0" encoding="UTF-8" standalone="yes"?>
<Relationships xmlns="http://schemas.openxmlformats.org/package/2006/relationships"><Relationship Id="rId8" Type="http://schemas.openxmlformats.org/officeDocument/2006/relationships/image" Target="../media/image151.wmf"/><Relationship Id="rId13" Type="http://schemas.openxmlformats.org/officeDocument/2006/relationships/oleObject" Target="../embeddings/oleObject118.bin"/><Relationship Id="rId3" Type="http://schemas.openxmlformats.org/officeDocument/2006/relationships/oleObject" Target="../embeddings/oleObject113.bin"/><Relationship Id="rId7" Type="http://schemas.openxmlformats.org/officeDocument/2006/relationships/oleObject" Target="../embeddings/oleObject115.bin"/><Relationship Id="rId12" Type="http://schemas.openxmlformats.org/officeDocument/2006/relationships/image" Target="../media/image153.w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150.wmf"/><Relationship Id="rId11" Type="http://schemas.openxmlformats.org/officeDocument/2006/relationships/oleObject" Target="../embeddings/oleObject117.bin"/><Relationship Id="rId5" Type="http://schemas.openxmlformats.org/officeDocument/2006/relationships/oleObject" Target="../embeddings/oleObject114.bin"/><Relationship Id="rId10" Type="http://schemas.openxmlformats.org/officeDocument/2006/relationships/image" Target="../media/image152.wmf"/><Relationship Id="rId4" Type="http://schemas.openxmlformats.org/officeDocument/2006/relationships/image" Target="../media/image149.wmf"/><Relationship Id="rId9" Type="http://schemas.openxmlformats.org/officeDocument/2006/relationships/oleObject" Target="../embeddings/oleObject116.bin"/><Relationship Id="rId14" Type="http://schemas.openxmlformats.org/officeDocument/2006/relationships/image" Target="../media/image154.wmf"/></Relationships>
</file>

<file path=ppt/slides/_rels/slide114.xml.rels><?xml version="1.0" encoding="UTF-8" standalone="yes"?>
<Relationships xmlns="http://schemas.openxmlformats.org/package/2006/relationships"><Relationship Id="rId3" Type="http://schemas.openxmlformats.org/officeDocument/2006/relationships/image" Target="../media/image188.png"/><Relationship Id="rId7" Type="http://schemas.openxmlformats.org/officeDocument/2006/relationships/image" Target="../media/image156.wmf"/><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oleObject" Target="../embeddings/oleObject120.bin"/><Relationship Id="rId5" Type="http://schemas.openxmlformats.org/officeDocument/2006/relationships/image" Target="../media/image155.wmf"/><Relationship Id="rId4" Type="http://schemas.openxmlformats.org/officeDocument/2006/relationships/oleObject" Target="../embeddings/oleObject119.bin"/></Relationships>
</file>

<file path=ppt/slides/_rels/slide115.xml.rels><?xml version="1.0" encoding="UTF-8" standalone="yes"?>
<Relationships xmlns="http://schemas.openxmlformats.org/package/2006/relationships"><Relationship Id="rId8" Type="http://schemas.openxmlformats.org/officeDocument/2006/relationships/image" Target="../media/image159.wmf"/><Relationship Id="rId3" Type="http://schemas.openxmlformats.org/officeDocument/2006/relationships/oleObject" Target="../embeddings/oleObject121.bin"/><Relationship Id="rId7" Type="http://schemas.openxmlformats.org/officeDocument/2006/relationships/oleObject" Target="../embeddings/oleObject123.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158.wmf"/><Relationship Id="rId5" Type="http://schemas.openxmlformats.org/officeDocument/2006/relationships/oleObject" Target="../embeddings/oleObject122.bin"/><Relationship Id="rId10" Type="http://schemas.openxmlformats.org/officeDocument/2006/relationships/image" Target="../media/image160.wmf"/><Relationship Id="rId4" Type="http://schemas.openxmlformats.org/officeDocument/2006/relationships/image" Target="../media/image157.wmf"/><Relationship Id="rId9" Type="http://schemas.openxmlformats.org/officeDocument/2006/relationships/oleObject" Target="../embeddings/oleObject124.bin"/></Relationships>
</file>

<file path=ppt/slides/_rels/slide116.xml.rels><?xml version="1.0" encoding="UTF-8" standalone="yes"?>
<Relationships xmlns="http://schemas.openxmlformats.org/package/2006/relationships"><Relationship Id="rId3" Type="http://schemas.openxmlformats.org/officeDocument/2006/relationships/image" Target="../media/image1590.png"/><Relationship Id="rId7" Type="http://schemas.openxmlformats.org/officeDocument/2006/relationships/image" Target="../media/image162.wmf"/><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oleObject" Target="../embeddings/oleObject126.bin"/><Relationship Id="rId5" Type="http://schemas.openxmlformats.org/officeDocument/2006/relationships/image" Target="../media/image161.wmf"/><Relationship Id="rId4" Type="http://schemas.openxmlformats.org/officeDocument/2006/relationships/oleObject" Target="../embeddings/oleObject125.bin"/></Relationships>
</file>

<file path=ppt/slides/_rels/slide117.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slideLayout" Target="../slideLayouts/slideLayout2.xml"/><Relationship Id="rId1" Type="http://schemas.openxmlformats.org/officeDocument/2006/relationships/vmlDrawing" Target="../drawings/vmlDrawing35.vml"/><Relationship Id="rId5" Type="http://schemas.openxmlformats.org/officeDocument/2006/relationships/image" Target="../media/image163.wmf"/><Relationship Id="rId4" Type="http://schemas.openxmlformats.org/officeDocument/2006/relationships/oleObject" Target="../embeddings/oleObject127.bin"/></Relationships>
</file>

<file path=ppt/slides/_rels/slide118.xml.rels><?xml version="1.0" encoding="UTF-8" standalone="yes"?>
<Relationships xmlns="http://schemas.openxmlformats.org/package/2006/relationships"><Relationship Id="rId3" Type="http://schemas.openxmlformats.org/officeDocument/2006/relationships/image" Target="../media/image1640.png"/><Relationship Id="rId7" Type="http://schemas.openxmlformats.org/officeDocument/2006/relationships/image" Target="../media/image165.wmf"/><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oleObject" Target="../embeddings/oleObject129.bin"/><Relationship Id="rId5" Type="http://schemas.openxmlformats.org/officeDocument/2006/relationships/image" Target="../media/image164.wmf"/><Relationship Id="rId4" Type="http://schemas.openxmlformats.org/officeDocument/2006/relationships/oleObject" Target="../embeddings/oleObject128.bin"/></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130.bin"/><Relationship Id="rId2" Type="http://schemas.openxmlformats.org/officeDocument/2006/relationships/slideLayout" Target="../slideLayouts/slideLayout2.xml"/><Relationship Id="rId1" Type="http://schemas.openxmlformats.org/officeDocument/2006/relationships/vmlDrawing" Target="../drawings/vmlDrawing37.vml"/><Relationship Id="rId4" Type="http://schemas.openxmlformats.org/officeDocument/2006/relationships/image" Target="../media/image167.wmf"/></Relationships>
</file>

<file path=ppt/slides/_rels/slide125.xml.rels><?xml version="1.0" encoding="UTF-8" standalone="yes"?>
<Relationships xmlns="http://schemas.openxmlformats.org/package/2006/relationships"><Relationship Id="rId3" Type="http://schemas.openxmlformats.org/officeDocument/2006/relationships/oleObject" Target="../embeddings/oleObject131.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69.wmf"/><Relationship Id="rId5" Type="http://schemas.openxmlformats.org/officeDocument/2006/relationships/oleObject" Target="../embeddings/oleObject132.bin"/><Relationship Id="rId4" Type="http://schemas.openxmlformats.org/officeDocument/2006/relationships/image" Target="../media/image16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t>第</a:t>
            </a:r>
            <a:r>
              <a:rPr lang="en-US" altLang="zh-CN" sz="4000" dirty="0"/>
              <a:t>3</a:t>
            </a:r>
            <a:r>
              <a:rPr lang="zh-CN" altLang="en-US" sz="4000" dirty="0"/>
              <a:t>章 连续系统建模与仿真方法</a:t>
            </a:r>
          </a:p>
        </p:txBody>
      </p:sp>
      <p:sp>
        <p:nvSpPr>
          <p:cNvPr id="3" name="内容占位符 2"/>
          <p:cNvSpPr>
            <a:spLocks noGrp="1"/>
          </p:cNvSpPr>
          <p:nvPr>
            <p:ph idx="1"/>
          </p:nvPr>
        </p:nvSpPr>
        <p:spPr/>
        <p:txBody>
          <a:bodyPr/>
          <a:lstStyle/>
          <a:p>
            <a:pPr marL="0" indent="0">
              <a:lnSpc>
                <a:spcPct val="150000"/>
              </a:lnSpc>
              <a:buNone/>
            </a:pPr>
            <a:r>
              <a:rPr lang="en-US" altLang="zh-CN" dirty="0"/>
              <a:t>3.1 </a:t>
            </a:r>
            <a:r>
              <a:rPr lang="zh-CN" altLang="en-US" dirty="0"/>
              <a:t>连续系统模型的概述</a:t>
            </a:r>
            <a:endParaRPr lang="en-US" altLang="zh-CN" dirty="0"/>
          </a:p>
          <a:p>
            <a:pPr marL="0" indent="0">
              <a:lnSpc>
                <a:spcPct val="150000"/>
              </a:lnSpc>
              <a:buNone/>
            </a:pPr>
            <a:r>
              <a:rPr lang="en-US" altLang="zh-CN" dirty="0"/>
              <a:t>3.2 </a:t>
            </a:r>
            <a:r>
              <a:rPr lang="zh-CN" altLang="en-US" dirty="0"/>
              <a:t>微分方程建模方法</a:t>
            </a:r>
            <a:endParaRPr lang="en-US" altLang="zh-CN" dirty="0"/>
          </a:p>
          <a:p>
            <a:pPr marL="0" indent="0">
              <a:lnSpc>
                <a:spcPct val="150000"/>
              </a:lnSpc>
              <a:buNone/>
            </a:pPr>
            <a:r>
              <a:rPr lang="en-US" altLang="zh-CN" dirty="0"/>
              <a:t>3.4 </a:t>
            </a:r>
            <a:r>
              <a:rPr lang="zh-CN" altLang="en-US" dirty="0"/>
              <a:t>频域建模方法</a:t>
            </a:r>
            <a:endParaRPr lang="en-US" altLang="zh-CN" dirty="0"/>
          </a:p>
          <a:p>
            <a:pPr marL="0" indent="0">
              <a:lnSpc>
                <a:spcPct val="150000"/>
              </a:lnSpc>
              <a:buNone/>
            </a:pPr>
            <a:r>
              <a:rPr lang="en-US" altLang="zh-CN" dirty="0"/>
              <a:t>3.5 </a:t>
            </a:r>
            <a:r>
              <a:rPr lang="zh-CN" altLang="en-US" dirty="0"/>
              <a:t>连续系统数值仿真方法</a:t>
            </a:r>
            <a:endParaRPr lang="en-US" altLang="zh-CN"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a:t>
            </a:fld>
            <a:endParaRPr lang="en-US" altLang="zh-CN"/>
          </a:p>
        </p:txBody>
      </p:sp>
    </p:spTree>
    <p:extLst>
      <p:ext uri="{BB962C8B-B14F-4D97-AF65-F5344CB8AC3E}">
        <p14:creationId xmlns:p14="http://schemas.microsoft.com/office/powerpoint/2010/main" val="1590916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 </a:t>
            </a:r>
            <a:r>
              <a:rPr lang="zh-CN" altLang="en-US" dirty="0"/>
              <a:t>连续系统模型的概述</a:t>
            </a:r>
          </a:p>
        </p:txBody>
      </p:sp>
      <p:sp>
        <p:nvSpPr>
          <p:cNvPr id="3" name="内容占位符 2"/>
          <p:cNvSpPr>
            <a:spLocks noGrp="1"/>
          </p:cNvSpPr>
          <p:nvPr>
            <p:ph idx="1"/>
          </p:nvPr>
        </p:nvSpPr>
        <p:spPr>
          <a:xfrm>
            <a:off x="827584" y="1916832"/>
            <a:ext cx="8127504" cy="4215681"/>
          </a:xfrm>
        </p:spPr>
        <p:txBody>
          <a:bodyPr/>
          <a:lstStyle/>
          <a:p>
            <a:r>
              <a:rPr lang="zh-CN" altLang="zh-CN" sz="2400" b="1" dirty="0">
                <a:solidFill>
                  <a:srgbClr val="FF0000"/>
                </a:solidFill>
              </a:rPr>
              <a:t>连续系统</a:t>
            </a:r>
            <a:r>
              <a:rPr lang="zh-CN" altLang="zh-CN" sz="2400" dirty="0"/>
              <a:t>指的是系统的</a:t>
            </a:r>
            <a:r>
              <a:rPr lang="zh-CN" altLang="zh-CN" sz="2400" b="1" dirty="0">
                <a:solidFill>
                  <a:srgbClr val="FF0000"/>
                </a:solidFill>
              </a:rPr>
              <a:t>状态变量随时间连续变化</a:t>
            </a:r>
            <a:r>
              <a:rPr lang="zh-CN" altLang="zh-CN" sz="2400" dirty="0"/>
              <a:t>的系统，它的主要特征可以通过</a:t>
            </a:r>
            <a:r>
              <a:rPr lang="zh-CN" altLang="zh-CN" sz="2400" b="1" dirty="0">
                <a:solidFill>
                  <a:srgbClr val="FF0000"/>
                </a:solidFill>
              </a:rPr>
              <a:t>常微分方程或者偏微分方程</a:t>
            </a:r>
            <a:r>
              <a:rPr lang="zh-CN" altLang="zh-CN" sz="2400" dirty="0"/>
              <a:t>等来描述。</a:t>
            </a:r>
            <a:endParaRPr lang="en-US" altLang="zh-CN" sz="2400" dirty="0"/>
          </a:p>
          <a:p>
            <a:r>
              <a:rPr lang="zh-CN" altLang="zh-CN" sz="2400" dirty="0"/>
              <a:t>常微分方程描述的系统通常称为集中参数系统，它的数学模型常常是一组常微分方程，这类系统一般包括各种电路、动力学以及种群生态系统</a:t>
            </a:r>
            <a:r>
              <a:rPr lang="zh-CN" altLang="en-US" sz="2400" dirty="0"/>
              <a:t>。</a:t>
            </a:r>
            <a:endParaRPr lang="en-US" altLang="zh-CN" sz="2400" dirty="0"/>
          </a:p>
          <a:p>
            <a:r>
              <a:rPr lang="zh-CN" altLang="zh-CN" sz="2400" dirty="0"/>
              <a:t>偏微分方程描述的系统通常称为分布参数系统，它的数学模型常常是一组偏微分方程，这类系统包括工程领域内的对流扩散系统、物理领域内的流体系统等。</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a:t>
            </a:fld>
            <a:endParaRPr lang="en-US" altLang="zh-CN"/>
          </a:p>
        </p:txBody>
      </p:sp>
      <p:pic>
        <p:nvPicPr>
          <p:cNvPr id="5" name="Picture 3" descr="C:\Users\DELL\AppData\Roaming\Tencent\Users\124558160\QQ\WinTemp\RichOle\RF)JJOP%%3IZSR}(XHR7K$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950" y="0"/>
            <a:ext cx="63627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412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600" y="2017713"/>
                <a:ext cx="7772400" cy="4114800"/>
              </a:xfrm>
            </p:spPr>
            <p:txBody>
              <a:bodyPr/>
              <a:lstStyle/>
              <a:p>
                <a:r>
                  <a:rPr lang="zh-CN" altLang="zh-CN" sz="2400" dirty="0"/>
                  <a:t>常用的连续系统数学模型有：微分方程模型、传递函数模型、状态空间模型</a:t>
                </a:r>
                <a:r>
                  <a:rPr lang="zh-CN" altLang="en-US" sz="2400" dirty="0"/>
                  <a:t>。</a:t>
                </a:r>
                <a:endParaRPr lang="en-US" altLang="zh-CN" sz="2400" dirty="0"/>
              </a:p>
              <a:p>
                <a:pPr marL="0" indent="0">
                  <a:buNone/>
                </a:pPr>
                <a:r>
                  <a:rPr lang="en-US" altLang="zh-CN" sz="2400" b="1" dirty="0">
                    <a:solidFill>
                      <a:srgbClr val="FF0000"/>
                    </a:solidFill>
                  </a:rPr>
                  <a:t>1</a:t>
                </a:r>
                <a:r>
                  <a:rPr lang="zh-CN" altLang="en-US" sz="2400" b="1" dirty="0">
                    <a:solidFill>
                      <a:srgbClr val="FF0000"/>
                    </a:solidFill>
                  </a:rPr>
                  <a:t>）微分方程模型</a:t>
                </a:r>
                <a:endParaRPr lang="en-US" altLang="zh-CN" sz="2400" b="1" dirty="0">
                  <a:solidFill>
                    <a:srgbClr val="FF0000"/>
                  </a:solidFill>
                </a:endParaRPr>
              </a:p>
              <a:p>
                <a:pPr marL="0" indent="0">
                  <a:buNone/>
                </a:pPr>
                <a:r>
                  <a:rPr lang="zh-CN" altLang="zh-CN" sz="2400" dirty="0"/>
                  <a:t>设系统时间为</a:t>
                </a:r>
                <a14:m>
                  <m:oMath xmlns:m="http://schemas.openxmlformats.org/officeDocument/2006/math">
                    <m:r>
                      <a:rPr lang="en-US" altLang="zh-CN" sz="2400" b="0" i="1" smtClean="0">
                        <a:latin typeface="Cambria Math"/>
                      </a:rPr>
                      <m:t>𝑡</m:t>
                    </m:r>
                  </m:oMath>
                </a14:m>
                <a:r>
                  <a:rPr lang="zh-CN" altLang="zh-CN" sz="2400" dirty="0"/>
                  <a:t>，系统输入为</a:t>
                </a:r>
                <a14:m>
                  <m:oMath xmlns:m="http://schemas.openxmlformats.org/officeDocument/2006/math">
                    <m:r>
                      <a:rPr lang="en-US" altLang="zh-CN" sz="2400" b="0" i="1" smtClean="0">
                        <a:latin typeface="Cambria Math"/>
                      </a:rPr>
                      <m:t>𝑢</m:t>
                    </m:r>
                    <m:r>
                      <a:rPr lang="en-US" altLang="zh-CN" sz="2400" b="0" i="1" smtClean="0">
                        <a:latin typeface="Cambria Math"/>
                      </a:rPr>
                      <m:t>(</m:t>
                    </m:r>
                    <m:r>
                      <a:rPr lang="en-US" altLang="zh-CN" sz="2400" b="0" i="1" smtClean="0">
                        <a:latin typeface="Cambria Math"/>
                      </a:rPr>
                      <m:t>𝑡</m:t>
                    </m:r>
                    <m:r>
                      <a:rPr lang="en-US" altLang="zh-CN" sz="2400" b="0" i="1" smtClean="0">
                        <a:latin typeface="Cambria Math"/>
                      </a:rPr>
                      <m:t>)</m:t>
                    </m:r>
                  </m:oMath>
                </a14:m>
                <a:r>
                  <a:rPr lang="zh-CN" altLang="zh-CN" sz="2400" dirty="0"/>
                  <a:t>，系统输出为</a:t>
                </a:r>
                <a14:m>
                  <m:oMath xmlns:m="http://schemas.openxmlformats.org/officeDocument/2006/math">
                    <m:r>
                      <a:rPr lang="en-US" altLang="zh-CN" sz="2400" b="0" i="1" smtClean="0">
                        <a:latin typeface="Cambria Math"/>
                      </a:rPr>
                      <m:t>𝑦</m:t>
                    </m:r>
                    <m:r>
                      <a:rPr lang="en-US" altLang="zh-CN" sz="2400" i="1">
                        <a:latin typeface="Cambria Math"/>
                      </a:rPr>
                      <m:t>(</m:t>
                    </m:r>
                    <m:r>
                      <a:rPr lang="en-US" altLang="zh-CN" sz="2400" i="1">
                        <a:latin typeface="Cambria Math"/>
                      </a:rPr>
                      <m:t>𝑡</m:t>
                    </m:r>
                    <m:r>
                      <a:rPr lang="en-US" altLang="zh-CN" sz="2400" i="1">
                        <a:latin typeface="Cambria Math"/>
                      </a:rPr>
                      <m:t>) </m:t>
                    </m:r>
                  </m:oMath>
                </a14:m>
                <a:r>
                  <a:rPr lang="zh-CN" altLang="zh-CN" sz="2400" dirty="0"/>
                  <a:t>，系统输入与输出之间满足系统的微分方程：</a:t>
                </a:r>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600" y="2017713"/>
                <a:ext cx="7772400" cy="4114800"/>
              </a:xfrm>
              <a:blipFill>
                <a:blip r:embed="rId2"/>
                <a:stretch>
                  <a:fillRect l="-1176" t="-118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a:t>
            </a:fld>
            <a:endParaRPr lang="en-US" altLang="zh-CN"/>
          </a:p>
        </p:txBody>
      </p:sp>
      <p:pic>
        <p:nvPicPr>
          <p:cNvPr id="5" name="Picture 1" descr="C:\Users\DELL\AppData\Roaming\Tencent\Users\124558160\QQ\WinTemp\RichOle\I3P0E`_~VWW_KZEGX7%RZE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4077072"/>
            <a:ext cx="7359898" cy="14287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DELL\AppData\Roaming\Tencent\Users\124558160\QQ\WinTemp\RichOle\ID0U9$L1D9KQL7Z6A}5VRMQ.png">
            <a:extLst>
              <a:ext uri="{FF2B5EF4-FFF2-40B4-BE49-F238E27FC236}">
                <a16:creationId xmlns:a16="http://schemas.microsoft.com/office/drawing/2014/main" id="{45D6D09C-4FD5-4E02-B26E-D6B8B3F02F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5643077"/>
            <a:ext cx="7704856" cy="52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8024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043608" y="1916832"/>
            <a:ext cx="7772400" cy="4435623"/>
          </a:xfrm>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zh-CN" sz="2400" dirty="0"/>
              <a:t>当系统</a:t>
            </a:r>
            <a:r>
              <a:rPr lang="zh-CN" altLang="zh-CN" sz="2400" b="1" dirty="0">
                <a:solidFill>
                  <a:srgbClr val="FF0000"/>
                </a:solidFill>
              </a:rPr>
              <a:t>输入为多变量</a:t>
            </a:r>
            <a:r>
              <a:rPr lang="zh-CN" altLang="zh-CN" sz="2400" dirty="0"/>
              <a:t>且满足多个微分方程，则所构成的</a:t>
            </a:r>
            <a:r>
              <a:rPr lang="zh-CN" altLang="zh-CN" sz="2400" b="1" dirty="0">
                <a:solidFill>
                  <a:srgbClr val="FF0000"/>
                </a:solidFill>
              </a:rPr>
              <a:t>微分方程组</a:t>
            </a:r>
            <a:r>
              <a:rPr lang="zh-CN" altLang="zh-CN" sz="2400" dirty="0"/>
              <a:t>为描述系统模型的数学表达式。</a:t>
            </a:r>
          </a:p>
          <a:p>
            <a:endParaRPr lang="zh-CN" altLang="en-US"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a:t>
            </a:fld>
            <a:endParaRPr lang="en-US" altLang="zh-CN"/>
          </a:p>
        </p:txBody>
      </p:sp>
      <p:pic>
        <p:nvPicPr>
          <p:cNvPr id="76801" name="Picture 1" descr="C:\Users\DELL\AppData\Roaming\Tencent\Users\124558160\QQ\WinTemp\RichOle\CJE7W~JL%`Q}ZNGHRI{5_P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741" y="1911128"/>
            <a:ext cx="8250755" cy="3534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1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en-US" altLang="zh-CN" dirty="0"/>
              <a:t>(2) </a:t>
            </a:r>
            <a:r>
              <a:rPr lang="zh-CN" altLang="zh-CN" dirty="0"/>
              <a:t>传递函数模型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7584" y="1916832"/>
                <a:ext cx="7772400" cy="4215681"/>
              </a:xfrm>
            </p:spPr>
            <p:txBody>
              <a:bodyPr/>
              <a:lstStyle/>
              <a:p>
                <a:r>
                  <a:rPr lang="zh-CN" altLang="zh-CN" sz="2400" dirty="0"/>
                  <a:t>对（</a:t>
                </a:r>
                <a:r>
                  <a:rPr lang="en-US" altLang="zh-CN" sz="2400" dirty="0"/>
                  <a:t>3.1.1</a:t>
                </a:r>
                <a:r>
                  <a:rPr lang="zh-CN" altLang="zh-CN" sz="2400" dirty="0"/>
                  <a:t>）式两边取拉普拉斯变换，并且假设系统输入</a:t>
                </a:r>
                <a14:m>
                  <m:oMath xmlns:m="http://schemas.openxmlformats.org/officeDocument/2006/math">
                    <m:r>
                      <a:rPr lang="en-US" altLang="zh-CN" sz="2400" i="1">
                        <a:latin typeface="Cambria Math"/>
                      </a:rPr>
                      <m:t>𝑢</m:t>
                    </m:r>
                    <m:r>
                      <a:rPr lang="en-US" altLang="zh-CN" sz="2400" i="1">
                        <a:latin typeface="Cambria Math"/>
                      </a:rPr>
                      <m:t>(</m:t>
                    </m:r>
                    <m:r>
                      <a:rPr lang="en-US" altLang="zh-CN" sz="2400" i="1">
                        <a:latin typeface="Cambria Math"/>
                      </a:rPr>
                      <m:t>𝑡</m:t>
                    </m:r>
                    <m:r>
                      <a:rPr lang="en-US" altLang="zh-CN" sz="2400" i="1">
                        <a:latin typeface="Cambria Math"/>
                      </a:rPr>
                      <m:t>)</m:t>
                    </m:r>
                  </m:oMath>
                </a14:m>
                <a:r>
                  <a:rPr lang="zh-CN" altLang="zh-CN" sz="2400" dirty="0"/>
                  <a:t>与系统输出</a:t>
                </a:r>
                <a14:m>
                  <m:oMath xmlns:m="http://schemas.openxmlformats.org/officeDocument/2006/math">
                    <m:r>
                      <a:rPr lang="en-US" altLang="zh-CN" sz="2400" b="0" i="1" smtClean="0">
                        <a:latin typeface="Cambria Math"/>
                      </a:rPr>
                      <m:t>𝑦</m:t>
                    </m:r>
                    <m:r>
                      <a:rPr lang="en-US" altLang="zh-CN" sz="2400" i="1">
                        <a:latin typeface="Cambria Math"/>
                      </a:rPr>
                      <m:t>(</m:t>
                    </m:r>
                    <m:r>
                      <a:rPr lang="en-US" altLang="zh-CN" sz="2400" i="1">
                        <a:latin typeface="Cambria Math"/>
                      </a:rPr>
                      <m:t>𝑡</m:t>
                    </m:r>
                    <m:r>
                      <a:rPr lang="en-US" altLang="zh-CN" sz="2400" i="1">
                        <a:latin typeface="Cambria Math"/>
                      </a:rPr>
                      <m:t>)</m:t>
                    </m:r>
                  </m:oMath>
                </a14:m>
                <a:r>
                  <a:rPr lang="zh-CN" altLang="zh-CN" sz="2400" dirty="0"/>
                  <a:t>及其各阶导数的初值均为零，则可以得到：</a:t>
                </a:r>
                <a:endParaRPr lang="en-US" altLang="zh-CN" sz="2400" dirty="0"/>
              </a:p>
              <a:p>
                <a:endParaRPr lang="en-US" altLang="zh-CN" sz="2400" dirty="0"/>
              </a:p>
              <a:p>
                <a:endParaRPr lang="en-US" altLang="zh-CN" sz="2400" dirty="0"/>
              </a:p>
              <a:p>
                <a:endParaRPr lang="en-US" altLang="zh-CN" sz="2400" dirty="0"/>
              </a:p>
              <a:p>
                <a:endParaRPr lang="zh-CN" altLang="zh-CN" sz="2400" dirty="0"/>
              </a:p>
              <a:p>
                <a:pPr marL="0" indent="0">
                  <a:buNone/>
                </a:pPr>
                <a:r>
                  <a:rPr lang="zh-CN" altLang="zh-CN" sz="2400" dirty="0"/>
                  <a:t>为系统的传递函数，则有</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7584" y="1916832"/>
                <a:ext cx="7772400" cy="4215681"/>
              </a:xfrm>
              <a:blipFill rotWithShape="1">
                <a:blip r:embed="rId3"/>
                <a:stretch>
                  <a:fillRect l="-1255" t="-1445" r="-78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5</a:t>
            </a:fld>
            <a:endParaRPr lang="en-US" altLang="zh-CN"/>
          </a:p>
        </p:txBody>
      </p:sp>
      <p:pic>
        <p:nvPicPr>
          <p:cNvPr id="77825" name="Picture 1" descr="C:\Users\DELL\AppData\Roaming\Tencent\Users\124558160\QQ\WinTemp\RichOle\VD9CLBC4]1GADC2Q6E2VB_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508" y="3068960"/>
            <a:ext cx="7285900" cy="1728192"/>
          </a:xfrm>
          <a:prstGeom prst="rect">
            <a:avLst/>
          </a:prstGeom>
          <a:noFill/>
          <a:extLst>
            <a:ext uri="{909E8E84-426E-40DD-AFC4-6F175D3DCCD1}">
              <a14:hiddenFill xmlns:a14="http://schemas.microsoft.com/office/drawing/2010/main">
                <a:solidFill>
                  <a:srgbClr val="FFFFFF"/>
                </a:solidFill>
              </a14:hiddenFill>
            </a:ext>
          </a:extLst>
        </p:spPr>
      </p:pic>
      <p:pic>
        <p:nvPicPr>
          <p:cNvPr id="77826" name="Picture 2" descr="C:\Users\DELL\AppData\Roaming\Tencent\Users\124558160\QQ\WinTemp\RichOle\)(RL)_{%IZ(KL@BJO3ISJ5W.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608" y="5301208"/>
            <a:ext cx="7056784" cy="736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96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en-US" altLang="zh-CN" dirty="0"/>
              <a:t>(3)</a:t>
            </a:r>
            <a:r>
              <a:rPr lang="zh-CN" altLang="zh-CN" dirty="0"/>
              <a:t>状态空间模型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95536" y="2017713"/>
                <a:ext cx="8559552" cy="4114800"/>
              </a:xfrm>
            </p:spPr>
            <p:txBody>
              <a:bodyPr/>
              <a:lstStyle/>
              <a:p>
                <a:r>
                  <a:rPr lang="zh-CN" altLang="zh-CN" sz="2800" dirty="0"/>
                  <a:t>对于一个连续系统，（</a:t>
                </a:r>
                <a:r>
                  <a:rPr lang="en-US" altLang="zh-CN" sz="2800" dirty="0"/>
                  <a:t>3.1.1</a:t>
                </a:r>
                <a:r>
                  <a:rPr lang="zh-CN" altLang="zh-CN" sz="2800" dirty="0"/>
                  <a:t>）式与（</a:t>
                </a:r>
                <a:r>
                  <a:rPr lang="en-US" altLang="zh-CN" sz="2800" dirty="0"/>
                  <a:t>3.1.5</a:t>
                </a:r>
                <a:r>
                  <a:rPr lang="zh-CN" altLang="zh-CN" sz="2800" dirty="0"/>
                  <a:t>）式仅仅描述了它们的外部特性，只是确定了系统输入</a:t>
                </a:r>
                <a14:m>
                  <m:oMath xmlns:m="http://schemas.openxmlformats.org/officeDocument/2006/math">
                    <m:r>
                      <a:rPr lang="en-US" altLang="zh-CN" sz="2800" i="1">
                        <a:latin typeface="Cambria Math"/>
                      </a:rPr>
                      <m:t>𝑢</m:t>
                    </m:r>
                    <m:r>
                      <a:rPr lang="en-US" altLang="zh-CN" sz="2800" i="1">
                        <a:latin typeface="Cambria Math"/>
                      </a:rPr>
                      <m:t>(</m:t>
                    </m:r>
                    <m:r>
                      <a:rPr lang="en-US" altLang="zh-CN" sz="2800" i="1">
                        <a:latin typeface="Cambria Math"/>
                      </a:rPr>
                      <m:t>𝑡</m:t>
                    </m:r>
                    <m:r>
                      <a:rPr lang="en-US" altLang="zh-CN" sz="2800" i="1">
                        <a:latin typeface="Cambria Math"/>
                      </a:rPr>
                      <m:t>)</m:t>
                    </m:r>
                  </m:oMath>
                </a14:m>
                <a:r>
                  <a:rPr lang="zh-CN" altLang="zh-CN" sz="2800" dirty="0"/>
                  <a:t>与系统输出</a:t>
                </a:r>
                <a14:m>
                  <m:oMath xmlns:m="http://schemas.openxmlformats.org/officeDocument/2006/math">
                    <m:r>
                      <a:rPr lang="en-US" altLang="zh-CN" sz="2800" b="0" i="1" smtClean="0">
                        <a:latin typeface="Cambria Math"/>
                      </a:rPr>
                      <m:t>𝑦</m:t>
                    </m:r>
                    <m:r>
                      <a:rPr lang="en-US" altLang="zh-CN" sz="2800" i="1">
                        <a:latin typeface="Cambria Math"/>
                      </a:rPr>
                      <m:t>(</m:t>
                    </m:r>
                    <m:r>
                      <a:rPr lang="en-US" altLang="zh-CN" sz="2800" i="1">
                        <a:latin typeface="Cambria Math"/>
                      </a:rPr>
                      <m:t>𝑡</m:t>
                    </m:r>
                    <m:r>
                      <a:rPr lang="en-US" altLang="zh-CN" sz="2800" i="1">
                        <a:latin typeface="Cambria Math"/>
                      </a:rPr>
                      <m:t>)</m:t>
                    </m:r>
                  </m:oMath>
                </a14:m>
                <a:r>
                  <a:rPr lang="zh-CN" altLang="zh-CN" sz="2800" dirty="0"/>
                  <a:t>变量之间的关系，故称为</a:t>
                </a:r>
                <a:r>
                  <a:rPr lang="zh-CN" altLang="zh-CN" sz="2800" b="1" dirty="0">
                    <a:solidFill>
                      <a:srgbClr val="FF0000"/>
                    </a:solidFill>
                  </a:rPr>
                  <a:t>系统外部模型。</a:t>
                </a:r>
                <a:endParaRPr lang="en-US" altLang="zh-CN" sz="2800" b="1" dirty="0">
                  <a:solidFill>
                    <a:srgbClr val="FF0000"/>
                  </a:solidFill>
                </a:endParaRPr>
              </a:p>
              <a:p>
                <a:r>
                  <a:rPr lang="zh-CN" altLang="zh-CN" sz="2800" dirty="0"/>
                  <a:t>为了描述系统的内部特性，下面引入系统的</a:t>
                </a:r>
                <a:r>
                  <a:rPr lang="zh-CN" altLang="zh-CN" sz="2800" b="1" dirty="0">
                    <a:solidFill>
                      <a:srgbClr val="FF0000"/>
                    </a:solidFill>
                  </a:rPr>
                  <a:t>内部变量—状态变量</a:t>
                </a:r>
                <a:r>
                  <a:rPr lang="zh-CN" altLang="zh-CN" sz="2800" dirty="0"/>
                  <a:t>。一个</a:t>
                </a:r>
                <a:r>
                  <a:rPr lang="zh-CN" altLang="zh-CN" sz="2800" b="1" dirty="0">
                    <a:solidFill>
                      <a:srgbClr val="FF0000"/>
                    </a:solidFill>
                  </a:rPr>
                  <a:t>系统的状态是指能够完全描述系统行为的最小的一组变量</a:t>
                </a:r>
                <a:r>
                  <a:rPr lang="zh-CN" altLang="zh-CN" sz="2800" dirty="0"/>
                  <a:t>，这里用向量</a:t>
                </a:r>
                <a14:m>
                  <m:oMath xmlns:m="http://schemas.openxmlformats.org/officeDocument/2006/math">
                    <m:r>
                      <a:rPr lang="en-US" altLang="zh-CN" sz="2800" b="0" i="1" smtClean="0">
                        <a:latin typeface="Cambria Math"/>
                      </a:rPr>
                      <m:t>𝑋</m:t>
                    </m:r>
                  </m:oMath>
                </a14:m>
                <a:r>
                  <a:rPr lang="zh-CN" altLang="zh-CN" sz="2800" dirty="0"/>
                  <a:t>表示。</a:t>
                </a:r>
                <a:endParaRPr lang="en-US" altLang="zh-CN" sz="2800" dirty="0"/>
              </a:p>
              <a:p>
                <a:r>
                  <a:rPr lang="zh-CN" altLang="zh-CN" sz="2800" dirty="0"/>
                  <a:t>状态空间表达式可以用状态方程与输出方程</a:t>
                </a:r>
                <a:r>
                  <a:rPr lang="zh-CN" altLang="en-US" sz="2800" dirty="0"/>
                  <a:t>表述</a:t>
                </a:r>
                <a:r>
                  <a:rPr lang="zh-CN" altLang="zh-CN" sz="2800" dirty="0"/>
                  <a:t>：</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95536" y="2017713"/>
                <a:ext cx="8559552" cy="4114800"/>
              </a:xfrm>
              <a:blipFill>
                <a:blip r:embed="rId2"/>
                <a:stretch>
                  <a:fillRect l="-356" t="-1926" r="-71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6</a:t>
            </a:fld>
            <a:endParaRPr lang="en-US" altLang="zh-CN"/>
          </a:p>
        </p:txBody>
      </p:sp>
    </p:spTree>
    <p:extLst>
      <p:ext uri="{BB962C8B-B14F-4D97-AF65-F5344CB8AC3E}">
        <p14:creationId xmlns:p14="http://schemas.microsoft.com/office/powerpoint/2010/main" val="4068079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99592" y="1700808"/>
                <a:ext cx="7772400" cy="4114800"/>
              </a:xfrm>
            </p:spPr>
            <p:txBody>
              <a:bodyPr/>
              <a:lstStyle/>
              <a:p>
                <a:endParaRPr lang="zh-CN" altLang="en-US" dirty="0"/>
              </a:p>
              <a:p>
                <a:endParaRPr lang="en-US" altLang="zh-CN" sz="2800" dirty="0"/>
              </a:p>
              <a:p>
                <a:r>
                  <a:rPr lang="zh-CN" altLang="zh-CN" sz="2800" dirty="0"/>
                  <a:t>（</a:t>
                </a:r>
                <a:r>
                  <a:rPr lang="en-US" altLang="zh-CN" sz="2800" dirty="0"/>
                  <a:t>3.1.7</a:t>
                </a:r>
                <a:r>
                  <a:rPr lang="zh-CN" altLang="zh-CN" sz="2800" dirty="0"/>
                  <a:t>）式称为状态空间方程，其中，</a:t>
                </a:r>
                <a14:m>
                  <m:oMath xmlns:m="http://schemas.openxmlformats.org/officeDocument/2006/math">
                    <m:r>
                      <a:rPr lang="en-US" altLang="zh-CN" sz="2800" b="0" i="1" smtClean="0">
                        <a:latin typeface="Cambria Math"/>
                      </a:rPr>
                      <m:t>𝑋</m:t>
                    </m:r>
                    <m:r>
                      <a:rPr lang="en-US" altLang="zh-CN" sz="2800" b="0" i="1" smtClean="0">
                        <a:latin typeface="Cambria Math"/>
                      </a:rPr>
                      <m:t>=</m:t>
                    </m:r>
                    <m:sSup>
                      <m:sSupPr>
                        <m:ctrlPr>
                          <a:rPr lang="en-US" altLang="zh-CN" sz="2800" b="0" i="1" smtClean="0">
                            <a:latin typeface="Cambria Math" panose="02040503050406030204" pitchFamily="18" charset="0"/>
                          </a:rPr>
                        </m:ctrlPr>
                      </m:sSupPr>
                      <m:e>
                        <m:r>
                          <a:rPr lang="en-US" altLang="zh-CN" sz="2800" b="0" i="1" smtClean="0">
                            <a:latin typeface="Cambria Math"/>
                          </a:rPr>
                          <m:t>[</m:t>
                        </m:r>
                        <m:sSubSup>
                          <m:sSubSupPr>
                            <m:ctrlPr>
                              <a:rPr lang="en-US" altLang="zh-CN" sz="2800" b="0" i="1" smtClean="0">
                                <a:latin typeface="Cambria Math" panose="02040503050406030204" pitchFamily="18" charset="0"/>
                              </a:rPr>
                            </m:ctrlPr>
                          </m:sSubSupPr>
                          <m:e>
                            <m:r>
                              <a:rPr lang="en-US" altLang="zh-CN" sz="2800" b="0" i="1" smtClean="0">
                                <a:latin typeface="Cambria Math"/>
                              </a:rPr>
                              <m:t>𝑥</m:t>
                            </m:r>
                          </m:e>
                          <m:sub>
                            <m:r>
                              <a:rPr lang="en-US" altLang="zh-CN" sz="2800" b="0" i="1" smtClean="0">
                                <a:latin typeface="Cambria Math"/>
                              </a:rPr>
                              <m:t>1</m:t>
                            </m:r>
                          </m:sub>
                          <m:sup/>
                        </m:sSubSup>
                        <m:sSubSup>
                          <m:sSubSupPr>
                            <m:ctrlPr>
                              <a:rPr lang="en-US" altLang="zh-CN" sz="2800" i="1">
                                <a:latin typeface="Cambria Math" panose="02040503050406030204" pitchFamily="18" charset="0"/>
                              </a:rPr>
                            </m:ctrlPr>
                          </m:sSubSupPr>
                          <m:e>
                            <m:r>
                              <a:rPr lang="en-US" altLang="zh-CN" sz="2800" i="1">
                                <a:latin typeface="Cambria Math"/>
                              </a:rPr>
                              <m:t>𝑥</m:t>
                            </m:r>
                          </m:e>
                          <m:sub>
                            <m:r>
                              <a:rPr lang="en-US" altLang="zh-CN" sz="2800" b="0" i="1" smtClean="0">
                                <a:latin typeface="Cambria Math"/>
                              </a:rPr>
                              <m:t>2</m:t>
                            </m:r>
                          </m:sub>
                          <m:sup/>
                        </m:sSubSup>
                        <m:sSubSup>
                          <m:sSubSupPr>
                            <m:ctrlPr>
                              <a:rPr lang="en-US" altLang="zh-CN" sz="2800" i="1">
                                <a:latin typeface="Cambria Math" panose="02040503050406030204" pitchFamily="18" charset="0"/>
                              </a:rPr>
                            </m:ctrlPr>
                          </m:sSubSupPr>
                          <m:e>
                            <m:r>
                              <a:rPr lang="en-US" altLang="zh-CN" sz="2800" i="1" smtClean="0">
                                <a:latin typeface="Cambria Math"/>
                                <a:ea typeface="Cambria Math"/>
                              </a:rPr>
                              <m:t>⋯</m:t>
                            </m:r>
                            <m:r>
                              <a:rPr lang="en-US" altLang="zh-CN" sz="2800" i="1">
                                <a:latin typeface="Cambria Math"/>
                              </a:rPr>
                              <m:t>𝑥</m:t>
                            </m:r>
                          </m:e>
                          <m:sub>
                            <m:r>
                              <a:rPr lang="en-US" altLang="zh-CN" sz="2800" b="0" i="1" smtClean="0">
                                <a:latin typeface="Cambria Math"/>
                              </a:rPr>
                              <m:t>𝑛</m:t>
                            </m:r>
                          </m:sub>
                          <m:sup/>
                        </m:sSubSup>
                        <m:r>
                          <a:rPr lang="en-US" altLang="zh-CN" sz="2800" b="0" i="1" smtClean="0">
                            <a:latin typeface="Cambria Math"/>
                          </a:rPr>
                          <m:t>]</m:t>
                        </m:r>
                      </m:e>
                      <m:sup>
                        <m:r>
                          <a:rPr lang="en-US" altLang="zh-CN" sz="2800" b="0" i="1" smtClean="0">
                            <a:latin typeface="Cambria Math"/>
                          </a:rPr>
                          <m:t>𝑇</m:t>
                        </m:r>
                      </m:sup>
                    </m:sSup>
                  </m:oMath>
                </a14:m>
                <a:r>
                  <a:rPr lang="en-US" altLang="zh-CN" sz="2800" dirty="0"/>
                  <a:t> </a:t>
                </a:r>
                <a:r>
                  <a:rPr lang="zh-CN" altLang="zh-CN" sz="2800" dirty="0"/>
                  <a:t>为</a:t>
                </a:r>
                <a14:m>
                  <m:oMath xmlns:m="http://schemas.openxmlformats.org/officeDocument/2006/math">
                    <m:r>
                      <a:rPr lang="en-US" altLang="zh-CN" sz="2800" b="0" i="1" smtClean="0">
                        <a:latin typeface="Cambria Math"/>
                      </a:rPr>
                      <m:t>𝑛</m:t>
                    </m:r>
                  </m:oMath>
                </a14:m>
                <a:r>
                  <a:rPr lang="zh-CN" altLang="zh-CN" sz="2800" dirty="0"/>
                  <a:t>维状态</a:t>
                </a:r>
                <a:r>
                  <a:rPr lang="zh-CN" altLang="en-US" sz="2800" dirty="0"/>
                  <a:t>向</a:t>
                </a:r>
                <a:r>
                  <a:rPr lang="zh-CN" altLang="zh-CN" sz="2800" dirty="0"/>
                  <a:t>量，</a:t>
                </a:r>
                <a14:m>
                  <m:oMath xmlns:m="http://schemas.openxmlformats.org/officeDocument/2006/math">
                    <m:r>
                      <a:rPr lang="en-US" altLang="zh-CN" sz="2800" i="1">
                        <a:latin typeface="Cambria Math"/>
                      </a:rPr>
                      <m:t>𝑢</m:t>
                    </m:r>
                  </m:oMath>
                </a14:m>
                <a:r>
                  <a:rPr lang="zh-CN" altLang="zh-CN" sz="2800" dirty="0"/>
                  <a:t>是输入向量，</a:t>
                </a:r>
                <a14:m>
                  <m:oMath xmlns:m="http://schemas.openxmlformats.org/officeDocument/2006/math">
                    <m:r>
                      <a:rPr lang="en-US" altLang="zh-CN" sz="2800" b="0" i="1" smtClean="0">
                        <a:latin typeface="Cambria Math"/>
                      </a:rPr>
                      <m:t>𝑦</m:t>
                    </m:r>
                  </m:oMath>
                </a14:m>
                <a:r>
                  <a:rPr lang="zh-CN" altLang="zh-CN" sz="2800" dirty="0"/>
                  <a:t>为输出向量，</a:t>
                </a:r>
                <a14:m>
                  <m:oMath xmlns:m="http://schemas.openxmlformats.org/officeDocument/2006/math">
                    <m:r>
                      <a:rPr lang="en-US" altLang="zh-CN" sz="2800" b="0" i="1" smtClean="0">
                        <a:latin typeface="Cambria Math"/>
                      </a:rPr>
                      <m:t>𝐴</m:t>
                    </m:r>
                  </m:oMath>
                </a14:m>
                <a:r>
                  <a:rPr lang="zh-CN" altLang="zh-CN" sz="2800" dirty="0"/>
                  <a:t>为系统矩阵，</a:t>
                </a:r>
                <a:r>
                  <a:rPr lang="en-US" altLang="zh-CN" sz="2800" dirty="0"/>
                  <a:t> </a:t>
                </a:r>
                <a14:m>
                  <m:oMath xmlns:m="http://schemas.openxmlformats.org/officeDocument/2006/math">
                    <m:r>
                      <a:rPr lang="en-US" altLang="zh-CN" sz="2800" b="0" i="1" smtClean="0">
                        <a:latin typeface="Cambria Math"/>
                      </a:rPr>
                      <m:t>𝐵</m:t>
                    </m:r>
                  </m:oMath>
                </a14:m>
                <a:r>
                  <a:rPr lang="zh-CN" altLang="zh-CN" sz="2800" dirty="0"/>
                  <a:t>为输入矩阵，</a:t>
                </a:r>
                <a:r>
                  <a:rPr lang="en-US" altLang="zh-CN" sz="2800" dirty="0"/>
                  <a:t> </a:t>
                </a:r>
                <a14:m>
                  <m:oMath xmlns:m="http://schemas.openxmlformats.org/officeDocument/2006/math">
                    <m:r>
                      <a:rPr lang="en-US" altLang="zh-CN" sz="2800" b="0" i="1" smtClean="0">
                        <a:latin typeface="Cambria Math"/>
                      </a:rPr>
                      <m:t>𝐶</m:t>
                    </m:r>
                  </m:oMath>
                </a14:m>
                <a:r>
                  <a:rPr lang="zh-CN" altLang="zh-CN" sz="2800" dirty="0"/>
                  <a:t>为输出矩阵，</a:t>
                </a:r>
                <a:r>
                  <a:rPr lang="en-US" altLang="zh-CN" sz="2800" dirty="0"/>
                  <a:t> </a:t>
                </a:r>
                <a14:m>
                  <m:oMath xmlns:m="http://schemas.openxmlformats.org/officeDocument/2006/math">
                    <m:r>
                      <a:rPr lang="en-US" altLang="zh-CN" sz="2800" b="0" i="1" smtClean="0">
                        <a:latin typeface="Cambria Math"/>
                      </a:rPr>
                      <m:t>𝐷</m:t>
                    </m:r>
                  </m:oMath>
                </a14:m>
                <a:r>
                  <a:rPr lang="zh-CN" altLang="zh-CN" sz="2800" dirty="0"/>
                  <a:t>为直传矩阵。</a:t>
                </a:r>
              </a:p>
              <a:p>
                <a:r>
                  <a:rPr lang="zh-CN" altLang="zh-CN" sz="2800" dirty="0"/>
                  <a:t>（</a:t>
                </a:r>
                <a:r>
                  <a:rPr lang="en-US" altLang="zh-CN" sz="2800" dirty="0"/>
                  <a:t>3.1.7</a:t>
                </a:r>
                <a:r>
                  <a:rPr lang="zh-CN" altLang="zh-CN" sz="2800" dirty="0"/>
                  <a:t>）式所对应的外部模型为：</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99592" y="1700808"/>
                <a:ext cx="7772400" cy="4114800"/>
              </a:xfrm>
              <a:blipFill>
                <a:blip r:embed="rId2"/>
                <a:stretch>
                  <a:fillRect l="-392" r="-78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7</a:t>
            </a:fld>
            <a:endParaRPr lang="en-US" altLang="zh-CN"/>
          </a:p>
        </p:txBody>
      </p:sp>
      <p:pic>
        <p:nvPicPr>
          <p:cNvPr id="78849" name="Picture 1" descr="C:\Users\DELL\AppData\Roaming\Tencent\Users\124558160\QQ\WinTemp\RichOle\AJE$W5$H@AP9NLR%UD[H~1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844824"/>
            <a:ext cx="8352928" cy="950218"/>
          </a:xfrm>
          <a:prstGeom prst="rect">
            <a:avLst/>
          </a:prstGeom>
          <a:noFill/>
          <a:extLst>
            <a:ext uri="{909E8E84-426E-40DD-AFC4-6F175D3DCCD1}">
              <a14:hiddenFill xmlns:a14="http://schemas.microsoft.com/office/drawing/2010/main">
                <a:solidFill>
                  <a:srgbClr val="FFFFFF"/>
                </a:solidFill>
              </a14:hiddenFill>
            </a:ext>
          </a:extLst>
        </p:spPr>
      </p:pic>
      <p:pic>
        <p:nvPicPr>
          <p:cNvPr id="78850" name="Picture 2" descr="C:\Users\DELL\AppData\Roaming\Tencent\Users\124558160\QQ\WinTemp\RichOle\6X~MNFE833(SL)D4}_3`NBK.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5229200"/>
            <a:ext cx="7560840" cy="479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459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微分方程建模</a:t>
            </a:r>
            <a:r>
              <a:rPr lang="zh-CN" altLang="en-US" dirty="0"/>
              <a:t>步骤</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67544" y="1916832"/>
                <a:ext cx="8487544" cy="4215681"/>
              </a:xfrm>
            </p:spPr>
            <p:txBody>
              <a:bodyPr/>
              <a:lstStyle/>
              <a:p>
                <a:pPr marL="0" indent="0">
                  <a:buNone/>
                </a:pPr>
                <a:r>
                  <a:rPr lang="en-US" altLang="zh-CN" sz="2400" dirty="0"/>
                  <a:t>1.  </a:t>
                </a:r>
                <a:r>
                  <a:rPr lang="zh-CN" altLang="zh-CN" sz="2400" b="1" dirty="0">
                    <a:solidFill>
                      <a:srgbClr val="FF0000"/>
                    </a:solidFill>
                  </a:rPr>
                  <a:t>翻译或转化。</a:t>
                </a:r>
                <a:endParaRPr lang="en-US" altLang="zh-CN" sz="2400" b="1" dirty="0">
                  <a:solidFill>
                    <a:srgbClr val="FF0000"/>
                  </a:solidFill>
                </a:endParaRPr>
              </a:p>
              <a:p>
                <a:pPr marL="0" indent="0">
                  <a:buNone/>
                </a:pPr>
                <a:r>
                  <a:rPr lang="en-US" altLang="zh-CN" sz="2400" dirty="0"/>
                  <a:t>2.  </a:t>
                </a:r>
                <a:r>
                  <a:rPr lang="zh-CN" altLang="zh-CN" sz="2400" b="1" dirty="0">
                    <a:solidFill>
                      <a:srgbClr val="FF0000"/>
                    </a:solidFill>
                  </a:rPr>
                  <a:t>建立瞬时表达式</a:t>
                </a:r>
                <a:r>
                  <a:rPr lang="zh-CN" altLang="zh-CN" sz="2400" dirty="0"/>
                  <a:t>。根据自变量有微小改变</a:t>
                </a:r>
                <a14:m>
                  <m:oMath xmlns:m="http://schemas.openxmlformats.org/officeDocument/2006/math">
                    <m:r>
                      <a:rPr lang="zh-CN" altLang="en-US" sz="2400" i="1" smtClean="0">
                        <a:latin typeface="Cambria Math"/>
                      </a:rPr>
                      <m:t>∆</m:t>
                    </m:r>
                    <m:r>
                      <a:rPr lang="en-US" altLang="zh-CN" sz="2400" b="0" i="1" smtClean="0">
                        <a:latin typeface="Cambria Math"/>
                      </a:rPr>
                      <m:t>𝑡</m:t>
                    </m:r>
                  </m:oMath>
                </a14:m>
                <a:r>
                  <a:rPr lang="zh-CN" altLang="zh-CN" sz="2400" dirty="0"/>
                  <a:t>时，因变量的增量</a:t>
                </a:r>
                <a14:m>
                  <m:oMath xmlns:m="http://schemas.openxmlformats.org/officeDocument/2006/math">
                    <m:r>
                      <a:rPr lang="zh-CN" altLang="en-US" sz="2400" i="1">
                        <a:latin typeface="Cambria Math"/>
                      </a:rPr>
                      <m:t>∆</m:t>
                    </m:r>
                    <m:r>
                      <a:rPr lang="en-US" altLang="zh-CN" sz="2400" b="0" i="1" smtClean="0">
                        <a:latin typeface="Cambria Math"/>
                      </a:rPr>
                      <m:t>𝑊</m:t>
                    </m:r>
                    <m:r>
                      <a:rPr lang="en-US" altLang="zh-CN" sz="2400" i="1">
                        <a:latin typeface="Cambria Math"/>
                      </a:rPr>
                      <m:t> </m:t>
                    </m:r>
                  </m:oMath>
                </a14:m>
                <a:r>
                  <a:rPr lang="zh-CN" altLang="zh-CN" sz="2400" dirty="0"/>
                  <a:t>，建立起在</a:t>
                </a:r>
                <a14:m>
                  <m:oMath xmlns:m="http://schemas.openxmlformats.org/officeDocument/2006/math">
                    <m:r>
                      <a:rPr lang="zh-CN" altLang="en-US" sz="2400" i="1">
                        <a:latin typeface="Cambria Math"/>
                      </a:rPr>
                      <m:t>∆</m:t>
                    </m:r>
                    <m:r>
                      <a:rPr lang="en-US" altLang="zh-CN" sz="2400" i="1">
                        <a:latin typeface="Cambria Math"/>
                      </a:rPr>
                      <m:t>𝑡</m:t>
                    </m:r>
                  </m:oMath>
                </a14:m>
                <a:r>
                  <a:rPr lang="zh-CN" altLang="zh-CN" sz="2400" dirty="0"/>
                  <a:t>时段上的增量表达式，令</a:t>
                </a:r>
                <a14:m>
                  <m:oMath xmlns:m="http://schemas.openxmlformats.org/officeDocument/2006/math">
                    <m:r>
                      <a:rPr lang="zh-CN" altLang="en-US" sz="2400" i="1">
                        <a:latin typeface="Cambria Math"/>
                      </a:rPr>
                      <m:t>∆</m:t>
                    </m:r>
                    <m:r>
                      <a:rPr lang="en-US" altLang="zh-CN" sz="2400" i="1">
                        <a:latin typeface="Cambria Math"/>
                      </a:rPr>
                      <m:t>𝑡</m:t>
                    </m:r>
                    <m:r>
                      <a:rPr lang="en-US" altLang="zh-CN" sz="2400" i="1" smtClean="0">
                        <a:latin typeface="Cambria Math"/>
                        <a:ea typeface="Cambria Math"/>
                      </a:rPr>
                      <m:t>→</m:t>
                    </m:r>
                    <m:r>
                      <a:rPr lang="en-US" altLang="zh-CN" sz="2400" b="0" i="1" smtClean="0">
                        <a:latin typeface="Cambria Math"/>
                        <a:ea typeface="Cambria Math"/>
                      </a:rPr>
                      <m:t>0</m:t>
                    </m:r>
                    <m:r>
                      <a:rPr lang="en-US" altLang="zh-CN" sz="2400" i="1">
                        <a:latin typeface="Cambria Math"/>
                      </a:rPr>
                      <m:t> </m:t>
                    </m:r>
                  </m:oMath>
                </a14:m>
                <a:r>
                  <a:rPr lang="zh-CN" altLang="zh-CN" sz="2400" dirty="0"/>
                  <a:t>，即得到</a:t>
                </a:r>
                <a14:m>
                  <m:oMath xmlns:m="http://schemas.openxmlformats.org/officeDocument/2006/math">
                    <m:f>
                      <m:fPr>
                        <m:ctrlPr>
                          <a:rPr lang="en-US" altLang="zh-CN" sz="2400" i="1" smtClean="0">
                            <a:latin typeface="Cambria Math" panose="02040503050406030204" pitchFamily="18" charset="0"/>
                          </a:rPr>
                        </m:ctrlPr>
                      </m:fPr>
                      <m:num>
                        <m:r>
                          <a:rPr lang="en-US" altLang="zh-CN" sz="2400" i="1" smtClean="0">
                            <a:latin typeface="Cambria Math"/>
                          </a:rPr>
                          <m:t>𝑑</m:t>
                        </m:r>
                        <m:r>
                          <a:rPr lang="en-US" altLang="zh-CN" sz="2400" b="0" i="1" smtClean="0">
                            <a:latin typeface="Cambria Math"/>
                          </a:rPr>
                          <m:t>𝑤</m:t>
                        </m:r>
                      </m:num>
                      <m:den>
                        <m:r>
                          <a:rPr lang="en-US" altLang="zh-CN" sz="2400" i="1" smtClean="0">
                            <a:latin typeface="Cambria Math"/>
                          </a:rPr>
                          <m:t>𝑑</m:t>
                        </m:r>
                        <m:r>
                          <a:rPr lang="en-US" altLang="zh-CN" sz="2400" b="0" i="1" smtClean="0">
                            <a:latin typeface="Cambria Math"/>
                          </a:rPr>
                          <m:t>𝑡</m:t>
                        </m:r>
                      </m:den>
                    </m:f>
                  </m:oMath>
                </a14:m>
                <a:r>
                  <a:rPr lang="zh-CN" altLang="zh-CN" sz="2400" dirty="0"/>
                  <a:t>的表达式。</a:t>
                </a:r>
              </a:p>
              <a:p>
                <a:pPr marL="0" indent="0">
                  <a:buNone/>
                </a:pPr>
                <a:r>
                  <a:rPr lang="en-US" altLang="zh-CN" sz="2400" dirty="0"/>
                  <a:t>3. </a:t>
                </a:r>
                <a:r>
                  <a:rPr lang="zh-CN" altLang="zh-CN" sz="2400" b="1" dirty="0">
                    <a:solidFill>
                      <a:srgbClr val="FF0000"/>
                    </a:solidFill>
                  </a:rPr>
                  <a:t>配备物理单位</a:t>
                </a:r>
                <a:r>
                  <a:rPr lang="zh-CN" altLang="zh-CN" sz="2400" dirty="0"/>
                  <a:t>。建模中应注意每一项采用同样的物理单位。</a:t>
                </a:r>
              </a:p>
              <a:p>
                <a:pPr marL="0" indent="0">
                  <a:buNone/>
                </a:pPr>
                <a:r>
                  <a:rPr lang="en-US" altLang="zh-CN" sz="2400" dirty="0"/>
                  <a:t>4. </a:t>
                </a:r>
                <a:r>
                  <a:rPr lang="zh-CN" altLang="zh-CN" sz="2400" b="1" dirty="0">
                    <a:solidFill>
                      <a:srgbClr val="FF0000"/>
                    </a:solidFill>
                  </a:rPr>
                  <a:t>确定条件</a:t>
                </a:r>
                <a:r>
                  <a:rPr lang="zh-CN" altLang="zh-CN" sz="2400" dirty="0"/>
                  <a:t>。这些条件是关于系统在某一特定时期或边界上的信息，它们独立于微分方程而成立，用以确定有关的常数。为了完整充分地给出问题的数学陈述，应将这些给定的条件和微分方程一起给出。</a:t>
                </a: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67544" y="1916832"/>
                <a:ext cx="8487544" cy="4215681"/>
              </a:xfrm>
              <a:blipFill rotWithShape="1">
                <a:blip r:embed="rId2"/>
                <a:stretch>
                  <a:fillRect l="-1149" t="-1445" r="-107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8</a:t>
            </a:fld>
            <a:endParaRPr lang="en-US" altLang="zh-CN"/>
          </a:p>
        </p:txBody>
      </p:sp>
    </p:spTree>
    <p:extLst>
      <p:ext uri="{BB962C8B-B14F-4D97-AF65-F5344CB8AC3E}">
        <p14:creationId xmlns:p14="http://schemas.microsoft.com/office/powerpoint/2010/main" val="833034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微分方程建模</a:t>
            </a:r>
            <a:r>
              <a:rPr lang="zh-CN" altLang="en-US" dirty="0"/>
              <a:t>方法</a:t>
            </a:r>
          </a:p>
        </p:txBody>
      </p:sp>
      <p:sp>
        <p:nvSpPr>
          <p:cNvPr id="3" name="内容占位符 2"/>
          <p:cNvSpPr>
            <a:spLocks noGrp="1"/>
          </p:cNvSpPr>
          <p:nvPr>
            <p:ph idx="1"/>
          </p:nvPr>
        </p:nvSpPr>
        <p:spPr>
          <a:xfrm>
            <a:off x="832048" y="2017713"/>
            <a:ext cx="7772400" cy="4114800"/>
          </a:xfrm>
        </p:spPr>
        <p:txBody>
          <a:bodyPr/>
          <a:lstStyle/>
          <a:p>
            <a:pPr marL="0" indent="0">
              <a:buNone/>
            </a:pPr>
            <a:r>
              <a:rPr lang="en-US" altLang="zh-CN" sz="2600" dirty="0"/>
              <a:t>1. </a:t>
            </a:r>
            <a:r>
              <a:rPr lang="zh-CN" altLang="zh-CN" sz="2600" b="1" dirty="0">
                <a:solidFill>
                  <a:srgbClr val="FF0000"/>
                </a:solidFill>
              </a:rPr>
              <a:t>按变化规律直接列方程</a:t>
            </a:r>
            <a:r>
              <a:rPr lang="zh-CN" altLang="zh-CN" sz="2600" dirty="0"/>
              <a:t>，即利用人们熟悉的力学、数学、物理、化学等学科中的规律，如牛顿第二定律，放射性物质的放射规律等。对某些实际问题直接列出微分方程。</a:t>
            </a:r>
          </a:p>
          <a:p>
            <a:pPr marL="0" indent="0">
              <a:buNone/>
            </a:pPr>
            <a:r>
              <a:rPr lang="en-US" altLang="zh-CN" sz="2600" dirty="0"/>
              <a:t>2. </a:t>
            </a:r>
            <a:r>
              <a:rPr lang="zh-CN" altLang="zh-CN" sz="2600" b="1" dirty="0">
                <a:solidFill>
                  <a:srgbClr val="FF0000"/>
                </a:solidFill>
              </a:rPr>
              <a:t>模拟近似法</a:t>
            </a:r>
            <a:r>
              <a:rPr lang="zh-CN" altLang="zh-CN" sz="2600" dirty="0"/>
              <a:t>。在生物、经济等学科中，许多现象所满足的规律并不很清楚，而且现象也相当复杂，因而需要根据实际资料或大量的实验数据，提出各种假设</a:t>
            </a:r>
            <a:r>
              <a:rPr lang="zh-CN" altLang="en-US" sz="2600" dirty="0"/>
              <a:t>。</a:t>
            </a:r>
            <a:r>
              <a:rPr lang="zh-CN" altLang="zh-CN" sz="2600" dirty="0"/>
              <a:t>在一定的假设下，给出实际现象所满足的规律，然后利用适当的数学方法得出微分方程。</a:t>
            </a:r>
            <a:endParaRPr lang="zh-CN" altLang="en-US" sz="26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a:t>
            </a:fld>
            <a:endParaRPr lang="en-US" altLang="zh-CN"/>
          </a:p>
        </p:txBody>
      </p:sp>
    </p:spTree>
    <p:extLst>
      <p:ext uri="{BB962C8B-B14F-4D97-AF65-F5344CB8AC3E}">
        <p14:creationId xmlns:p14="http://schemas.microsoft.com/office/powerpoint/2010/main" val="967925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Text Box 2050"/>
          <p:cNvSpPr txBox="1">
            <a:spLocks noChangeArrowheads="1"/>
          </p:cNvSpPr>
          <p:nvPr/>
        </p:nvSpPr>
        <p:spPr bwMode="auto">
          <a:xfrm>
            <a:off x="2590800" y="457200"/>
            <a:ext cx="3810000" cy="64135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600" b="1" dirty="0">
                <a:ea typeface="楷体_GB2312" pitchFamily="49" charset="-122"/>
              </a:rPr>
              <a:t>例</a:t>
            </a:r>
            <a:r>
              <a:rPr lang="en-US" altLang="zh-CN" sz="3600" b="1" dirty="0">
                <a:ea typeface="楷体_GB2312" pitchFamily="49" charset="-122"/>
              </a:rPr>
              <a:t>1  </a:t>
            </a:r>
            <a:r>
              <a:rPr lang="zh-CN" altLang="en-US" sz="3600" b="1" dirty="0">
                <a:ea typeface="楷体_GB2312" pitchFamily="49" charset="-122"/>
              </a:rPr>
              <a:t>传染病模型</a:t>
            </a:r>
          </a:p>
        </p:txBody>
      </p:sp>
      <p:sp>
        <p:nvSpPr>
          <p:cNvPr id="28675" name="Text Box 2051"/>
          <p:cNvSpPr txBox="1">
            <a:spLocks noChangeArrowheads="1"/>
          </p:cNvSpPr>
          <p:nvPr/>
        </p:nvSpPr>
        <p:spPr bwMode="auto">
          <a:xfrm>
            <a:off x="609600" y="1477963"/>
            <a:ext cx="1143000" cy="57943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问题</a:t>
            </a:r>
          </a:p>
        </p:txBody>
      </p:sp>
      <p:sp>
        <p:nvSpPr>
          <p:cNvPr id="28676" name="Text Box 2052"/>
          <p:cNvSpPr txBox="1">
            <a:spLocks noChangeArrowheads="1"/>
          </p:cNvSpPr>
          <p:nvPr/>
        </p:nvSpPr>
        <p:spPr bwMode="auto">
          <a:xfrm>
            <a:off x="2133600" y="1447800"/>
            <a:ext cx="4648200" cy="519113"/>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zh-CN" sz="2800" b="1" dirty="0"/>
              <a:t> </a:t>
            </a:r>
            <a:r>
              <a:rPr lang="zh-CN" altLang="en-US" sz="2800" b="1" dirty="0"/>
              <a:t>描述传染病的传播过程</a:t>
            </a:r>
          </a:p>
        </p:txBody>
      </p:sp>
      <p:sp>
        <p:nvSpPr>
          <p:cNvPr id="28677" name="Text Box 2053"/>
          <p:cNvSpPr txBox="1">
            <a:spLocks noChangeArrowheads="1"/>
          </p:cNvSpPr>
          <p:nvPr/>
        </p:nvSpPr>
        <p:spPr bwMode="auto">
          <a:xfrm>
            <a:off x="2133600" y="2209800"/>
            <a:ext cx="5246712" cy="51911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Char char="•"/>
            </a:pPr>
            <a:r>
              <a:rPr lang="en-US" altLang="zh-CN" sz="2800" b="1" dirty="0"/>
              <a:t> </a:t>
            </a:r>
            <a:r>
              <a:rPr lang="zh-CN" altLang="en-US" sz="2800" b="1" dirty="0"/>
              <a:t>分析受感染人数的变化规律</a:t>
            </a:r>
          </a:p>
        </p:txBody>
      </p:sp>
      <p:sp>
        <p:nvSpPr>
          <p:cNvPr id="28678" name="Text Box 2054"/>
          <p:cNvSpPr txBox="1">
            <a:spLocks noChangeArrowheads="1"/>
          </p:cNvSpPr>
          <p:nvPr/>
        </p:nvSpPr>
        <p:spPr bwMode="auto">
          <a:xfrm>
            <a:off x="2133600" y="2971800"/>
            <a:ext cx="5246712" cy="519113"/>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Char char="•"/>
            </a:pPr>
            <a:r>
              <a:rPr lang="en-US" altLang="zh-CN" sz="2800" b="1" dirty="0"/>
              <a:t> </a:t>
            </a:r>
            <a:r>
              <a:rPr lang="zh-CN" altLang="en-US" sz="2800" b="1" dirty="0"/>
              <a:t>预报传染病高潮到来的时刻</a:t>
            </a:r>
          </a:p>
        </p:txBody>
      </p:sp>
      <p:sp>
        <p:nvSpPr>
          <p:cNvPr id="28679" name="Text Box 2055"/>
          <p:cNvSpPr txBox="1">
            <a:spLocks noChangeArrowheads="1"/>
          </p:cNvSpPr>
          <p:nvPr/>
        </p:nvSpPr>
        <p:spPr bwMode="auto">
          <a:xfrm>
            <a:off x="2133600" y="3810000"/>
            <a:ext cx="4648200" cy="51911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zh-CN" sz="2800" b="1" dirty="0"/>
              <a:t> </a:t>
            </a:r>
            <a:r>
              <a:rPr lang="zh-CN" altLang="en-US" sz="2800" b="1" dirty="0"/>
              <a:t>预防传染病蔓延的手段</a:t>
            </a:r>
          </a:p>
        </p:txBody>
      </p:sp>
      <p:sp>
        <p:nvSpPr>
          <p:cNvPr id="28680" name="Text Box 2056"/>
          <p:cNvSpPr txBox="1">
            <a:spLocks noChangeArrowheads="1"/>
          </p:cNvSpPr>
          <p:nvPr/>
        </p:nvSpPr>
        <p:spPr bwMode="auto">
          <a:xfrm>
            <a:off x="2133600" y="4662488"/>
            <a:ext cx="4724400" cy="11176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20000"/>
              </a:lnSpc>
              <a:spcBef>
                <a:spcPct val="50000"/>
              </a:spcBef>
              <a:buFontTx/>
              <a:buChar char="•"/>
            </a:pPr>
            <a:r>
              <a:rPr lang="en-US" altLang="zh-CN" sz="2800" b="1" dirty="0"/>
              <a:t> </a:t>
            </a:r>
            <a:r>
              <a:rPr lang="zh-CN" altLang="en-US" sz="2800" b="1" dirty="0"/>
              <a:t>按照传播过程的一般规律，用机理分析方法建立模型</a:t>
            </a:r>
          </a:p>
        </p:txBody>
      </p:sp>
      <p:pic>
        <p:nvPicPr>
          <p:cNvPr id="28683" name="Picture 2059" descr="PE01023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0" y="685800"/>
            <a:ext cx="996950" cy="1247775"/>
          </a:xfrm>
          <a:prstGeom prst="rect">
            <a:avLst/>
          </a:prstGeom>
          <a:solidFill>
            <a:srgbClr val="FF99CC"/>
          </a:solidFill>
        </p:spPr>
      </p:pic>
    </p:spTree>
    <p:extLst>
      <p:ext uri="{BB962C8B-B14F-4D97-AF65-F5344CB8AC3E}">
        <p14:creationId xmlns:p14="http://schemas.microsoft.com/office/powerpoint/2010/main" val="33761348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6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28676"/>
                                        </p:tgtEl>
                                        <p:attrNameLst>
                                          <p:attrName>style.visibility</p:attrName>
                                        </p:attrNameLst>
                                      </p:cBhvr>
                                      <p:to>
                                        <p:strVal val="visible"/>
                                      </p:to>
                                    </p:set>
                                    <p:animEffect transition="in" filter="box(in)">
                                      <p:cBhvr>
                                        <p:cTn id="11" dur="500"/>
                                        <p:tgtEl>
                                          <p:spTgt spid="2867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8677"/>
                                        </p:tgtEl>
                                        <p:attrNameLst>
                                          <p:attrName>style.visibility</p:attrName>
                                        </p:attrNameLst>
                                      </p:cBhvr>
                                      <p:to>
                                        <p:strVal val="visible"/>
                                      </p:to>
                                    </p:set>
                                    <p:animEffect transition="in" filter="box(in)">
                                      <p:cBhvr>
                                        <p:cTn id="16" dur="500"/>
                                        <p:tgtEl>
                                          <p:spTgt spid="2867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28678"/>
                                        </p:tgtEl>
                                        <p:attrNameLst>
                                          <p:attrName>style.visibility</p:attrName>
                                        </p:attrNameLst>
                                      </p:cBhvr>
                                      <p:to>
                                        <p:strVal val="visible"/>
                                      </p:to>
                                    </p:set>
                                    <p:animEffect transition="in" filter="box(out)">
                                      <p:cBhvr>
                                        <p:cTn id="21" dur="500"/>
                                        <p:tgtEl>
                                          <p:spTgt spid="2867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28679"/>
                                        </p:tgtEl>
                                        <p:attrNameLst>
                                          <p:attrName>style.visibility</p:attrName>
                                        </p:attrNameLst>
                                      </p:cBhvr>
                                      <p:to>
                                        <p:strVal val="visible"/>
                                      </p:to>
                                    </p:set>
                                    <p:animEffect transition="in" filter="box(out)">
                                      <p:cBhvr>
                                        <p:cTn id="26" dur="500"/>
                                        <p:tgtEl>
                                          <p:spTgt spid="2867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8680"/>
                                        </p:tgtEl>
                                        <p:attrNameLst>
                                          <p:attrName>style.visibility</p:attrName>
                                        </p:attrNameLst>
                                      </p:cBhvr>
                                      <p:to>
                                        <p:strVal val="visible"/>
                                      </p:to>
                                    </p:set>
                                    <p:animEffect transition="in" filter="checkerboard(across)">
                                      <p:cBhvr>
                                        <p:cTn id="31" dur="5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nimBg="1" autoUpdateAnimBg="0"/>
      <p:bldP spid="28676" grpId="0" animBg="1" autoUpdateAnimBg="0"/>
      <p:bldP spid="28677" grpId="0" animBg="1" autoUpdateAnimBg="0"/>
      <p:bldP spid="28678" grpId="0" animBg="1" autoUpdateAnimBg="0"/>
      <p:bldP spid="28679" grpId="0" animBg="1" autoUpdateAnimBg="0"/>
      <p:bldP spid="28680"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1" name="Text Box 3"/>
          <p:cNvSpPr txBox="1">
            <a:spLocks noChangeArrowheads="1"/>
          </p:cNvSpPr>
          <p:nvPr/>
        </p:nvSpPr>
        <p:spPr bwMode="auto">
          <a:xfrm>
            <a:off x="2209800" y="533400"/>
            <a:ext cx="4090988" cy="5191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 </a:t>
            </a:r>
            <a:r>
              <a:rPr lang="zh-CN" altLang="en-US" sz="2800" b="1"/>
              <a:t>已感染人数 </a:t>
            </a:r>
            <a:r>
              <a:rPr lang="en-US" altLang="zh-CN" sz="2800" b="1"/>
              <a:t>(</a:t>
            </a:r>
            <a:r>
              <a:rPr lang="zh-CN" altLang="en-US" sz="2800" b="1"/>
              <a:t>病人</a:t>
            </a:r>
            <a:r>
              <a:rPr lang="en-US" altLang="zh-CN" sz="2800" b="1"/>
              <a:t>) </a:t>
            </a:r>
            <a:r>
              <a:rPr lang="en-US" altLang="zh-CN" sz="2800" b="1" i="1"/>
              <a:t>i</a:t>
            </a:r>
            <a:r>
              <a:rPr lang="en-US" altLang="zh-CN" sz="2800" b="1"/>
              <a:t>(</a:t>
            </a:r>
            <a:r>
              <a:rPr lang="en-US" altLang="zh-CN" sz="2800" b="1" i="1"/>
              <a:t>t</a:t>
            </a:r>
            <a:r>
              <a:rPr lang="en-US" altLang="zh-CN" sz="2800" b="1"/>
              <a:t>)</a:t>
            </a:r>
          </a:p>
        </p:txBody>
      </p:sp>
      <p:sp>
        <p:nvSpPr>
          <p:cNvPr id="27653" name="Text Box 5"/>
          <p:cNvSpPr txBox="1">
            <a:spLocks noChangeArrowheads="1"/>
          </p:cNvSpPr>
          <p:nvPr/>
        </p:nvSpPr>
        <p:spPr bwMode="auto">
          <a:xfrm>
            <a:off x="2057400" y="1219200"/>
            <a:ext cx="4674840" cy="112646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buFontTx/>
              <a:buChar char="•"/>
            </a:pPr>
            <a:r>
              <a:rPr lang="en-US" altLang="zh-CN" sz="2800" b="1" dirty="0"/>
              <a:t> </a:t>
            </a:r>
            <a:r>
              <a:rPr lang="zh-CN" altLang="en-US" sz="2800" b="1" dirty="0"/>
              <a:t>每个病人每天有效接触</a:t>
            </a:r>
            <a:r>
              <a:rPr lang="en-US" altLang="zh-CN" sz="2800" b="1" dirty="0"/>
              <a:t>(</a:t>
            </a:r>
            <a:r>
              <a:rPr lang="zh-CN" altLang="en-US" sz="2800" b="1" dirty="0"/>
              <a:t>足以使人致病</a:t>
            </a:r>
            <a:r>
              <a:rPr lang="en-US" altLang="zh-CN" sz="2800" b="1" dirty="0"/>
              <a:t>)</a:t>
            </a:r>
            <a:r>
              <a:rPr lang="zh-CN" altLang="en-US" sz="2800" b="1" dirty="0"/>
              <a:t>人的比率为</a:t>
            </a:r>
            <a:r>
              <a:rPr lang="zh-CN" altLang="en-US" sz="2800" b="1" i="1" dirty="0">
                <a:sym typeface="Symbol" panose="05050102010706020507" pitchFamily="18" charset="2"/>
              </a:rPr>
              <a:t></a:t>
            </a:r>
            <a:endParaRPr lang="zh-CN" altLang="en-US" sz="2800" b="1" i="1" dirty="0"/>
          </a:p>
        </p:txBody>
      </p:sp>
      <p:sp>
        <p:nvSpPr>
          <p:cNvPr id="27654" name="Text Box 6"/>
          <p:cNvSpPr txBox="1">
            <a:spLocks noChangeArrowheads="1"/>
          </p:cNvSpPr>
          <p:nvPr/>
        </p:nvSpPr>
        <p:spPr bwMode="auto">
          <a:xfrm>
            <a:off x="533400" y="533400"/>
            <a:ext cx="1371600"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latin typeface="楷体_GB2312" pitchFamily="49" charset="-122"/>
                <a:ea typeface="楷体_GB2312" pitchFamily="49" charset="-122"/>
              </a:rPr>
              <a:t>模型</a:t>
            </a:r>
            <a:r>
              <a:rPr lang="en-US" altLang="zh-CN" sz="3200" b="1">
                <a:latin typeface="楷体_GB2312" pitchFamily="49" charset="-122"/>
                <a:ea typeface="楷体_GB2312" pitchFamily="49" charset="-122"/>
              </a:rPr>
              <a:t>1</a:t>
            </a:r>
          </a:p>
        </p:txBody>
      </p:sp>
      <p:sp>
        <p:nvSpPr>
          <p:cNvPr id="27655" name="Text Box 7"/>
          <p:cNvSpPr txBox="1">
            <a:spLocks noChangeArrowheads="1"/>
          </p:cNvSpPr>
          <p:nvPr/>
        </p:nvSpPr>
        <p:spPr bwMode="auto">
          <a:xfrm>
            <a:off x="609600" y="1371600"/>
            <a:ext cx="9906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800" b="1">
                <a:ea typeface="楷体_GB2312" pitchFamily="49" charset="-122"/>
              </a:rPr>
              <a:t>假设</a:t>
            </a:r>
          </a:p>
        </p:txBody>
      </p:sp>
      <p:graphicFrame>
        <p:nvGraphicFramePr>
          <p:cNvPr id="27656" name="Object 8"/>
          <p:cNvGraphicFramePr>
            <a:graphicFrameLocks noChangeAspect="1"/>
          </p:cNvGraphicFramePr>
          <p:nvPr/>
        </p:nvGraphicFramePr>
        <p:xfrm>
          <a:off x="2133600" y="2438400"/>
          <a:ext cx="4038600" cy="542925"/>
        </p:xfrm>
        <a:graphic>
          <a:graphicData uri="http://schemas.openxmlformats.org/presentationml/2006/ole">
            <mc:AlternateContent xmlns:mc="http://schemas.openxmlformats.org/markup-compatibility/2006">
              <mc:Choice xmlns:v="urn:schemas-microsoft-com:vml" Requires="v">
                <p:oleObj spid="_x0000_s2338" name="公式" r:id="rId3" imgW="1790640" imgH="241200" progId="Equation.3">
                  <p:embed/>
                </p:oleObj>
              </mc:Choice>
              <mc:Fallback>
                <p:oleObj name="公式" r:id="rId3" imgW="1790640" imgH="241200" progId="Equation.3">
                  <p:embed/>
                  <p:pic>
                    <p:nvPicPr>
                      <p:cNvPr id="27656" name="Object 8"/>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438400"/>
                        <a:ext cx="4038600" cy="54292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0" name="Text Box 12"/>
          <p:cNvSpPr txBox="1">
            <a:spLocks noChangeArrowheads="1"/>
          </p:cNvSpPr>
          <p:nvPr/>
        </p:nvSpPr>
        <p:spPr bwMode="auto">
          <a:xfrm>
            <a:off x="468313" y="5130800"/>
            <a:ext cx="3887787" cy="11176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a:t>若有效接触的是病人，则不能使病人数增加</a:t>
            </a:r>
          </a:p>
        </p:txBody>
      </p:sp>
      <p:grpSp>
        <p:nvGrpSpPr>
          <p:cNvPr id="27665" name="Group 17"/>
          <p:cNvGrpSpPr>
            <a:grpSpLocks/>
          </p:cNvGrpSpPr>
          <p:nvPr/>
        </p:nvGrpSpPr>
        <p:grpSpPr bwMode="auto">
          <a:xfrm>
            <a:off x="4343400" y="5130800"/>
            <a:ext cx="4419600" cy="1117600"/>
            <a:chOff x="2736" y="3072"/>
            <a:chExt cx="2784" cy="704"/>
          </a:xfrm>
          <a:solidFill>
            <a:schemeClr val="accent1">
              <a:lumMod val="40000"/>
              <a:lumOff val="60000"/>
            </a:schemeClr>
          </a:solidFill>
        </p:grpSpPr>
        <p:sp>
          <p:nvSpPr>
            <p:cNvPr id="27661" name="Text Box 13"/>
            <p:cNvSpPr txBox="1">
              <a:spLocks noChangeArrowheads="1"/>
            </p:cNvSpPr>
            <p:nvPr/>
          </p:nvSpPr>
          <p:spPr bwMode="auto">
            <a:xfrm>
              <a:off x="3120" y="3072"/>
              <a:ext cx="2400" cy="70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dirty="0"/>
                <a:t>必须区分已感染者</a:t>
              </a:r>
              <a:r>
                <a:rPr lang="en-US" altLang="zh-CN" sz="2800" b="1" dirty="0"/>
                <a:t>(</a:t>
              </a:r>
              <a:r>
                <a:rPr lang="zh-CN" altLang="en-US" sz="2800" b="1" dirty="0"/>
                <a:t>病人</a:t>
              </a:r>
              <a:r>
                <a:rPr lang="en-US" altLang="zh-CN" sz="2800" b="1" dirty="0"/>
                <a:t>)</a:t>
              </a:r>
              <a:r>
                <a:rPr lang="zh-CN" altLang="en-US" sz="2800" b="1" dirty="0"/>
                <a:t>和未感染者</a:t>
              </a:r>
              <a:r>
                <a:rPr lang="en-US" altLang="zh-CN" sz="2800" b="1" dirty="0"/>
                <a:t>(</a:t>
              </a:r>
              <a:r>
                <a:rPr lang="zh-CN" altLang="en-US" sz="2800" b="1" dirty="0"/>
                <a:t>健康人</a:t>
              </a:r>
              <a:r>
                <a:rPr lang="en-US" altLang="zh-CN" sz="2800" b="1" dirty="0"/>
                <a:t>)</a:t>
              </a:r>
            </a:p>
          </p:txBody>
        </p:sp>
        <p:sp>
          <p:nvSpPr>
            <p:cNvPr id="27663" name="AutoShape 15"/>
            <p:cNvSpPr>
              <a:spLocks noChangeArrowheads="1"/>
            </p:cNvSpPr>
            <p:nvPr/>
          </p:nvSpPr>
          <p:spPr bwMode="auto">
            <a:xfrm>
              <a:off x="2736" y="3294"/>
              <a:ext cx="240" cy="306"/>
            </a:xfrm>
            <a:prstGeom prst="rightArrow">
              <a:avLst>
                <a:gd name="adj1" fmla="val 50000"/>
                <a:gd name="adj2" fmla="val 25000"/>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666" name="Text Box 18"/>
          <p:cNvSpPr txBox="1">
            <a:spLocks noChangeArrowheads="1"/>
          </p:cNvSpPr>
          <p:nvPr/>
        </p:nvSpPr>
        <p:spPr bwMode="auto">
          <a:xfrm>
            <a:off x="609600" y="2362200"/>
            <a:ext cx="9906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800" b="1">
                <a:ea typeface="楷体_GB2312" pitchFamily="49" charset="-122"/>
              </a:rPr>
              <a:t>建模</a:t>
            </a:r>
          </a:p>
        </p:txBody>
      </p:sp>
      <p:grpSp>
        <p:nvGrpSpPr>
          <p:cNvPr id="27668" name="Group 20"/>
          <p:cNvGrpSpPr>
            <a:grpSpLocks/>
          </p:cNvGrpSpPr>
          <p:nvPr/>
        </p:nvGrpSpPr>
        <p:grpSpPr bwMode="auto">
          <a:xfrm>
            <a:off x="1676400" y="3124200"/>
            <a:ext cx="2133600" cy="1676400"/>
            <a:chOff x="1056" y="1872"/>
            <a:chExt cx="1344" cy="1056"/>
          </a:xfrm>
        </p:grpSpPr>
        <p:graphicFrame>
          <p:nvGraphicFramePr>
            <p:cNvPr id="27657" name="Object 9"/>
            <p:cNvGraphicFramePr>
              <a:graphicFrameLocks noChangeAspect="1"/>
            </p:cNvGraphicFramePr>
            <p:nvPr/>
          </p:nvGraphicFramePr>
          <p:xfrm>
            <a:off x="1344" y="1872"/>
            <a:ext cx="1056" cy="1056"/>
          </p:xfrm>
          <a:graphic>
            <a:graphicData uri="http://schemas.openxmlformats.org/presentationml/2006/ole">
              <mc:AlternateContent xmlns:mc="http://schemas.openxmlformats.org/markup-compatibility/2006">
                <mc:Choice xmlns:v="urn:schemas-microsoft-com:vml" Requires="v">
                  <p:oleObj spid="_x0000_s2339" name="公式" r:id="rId5" imgW="507960" imgH="634680" progId="Equation.3">
                    <p:embed/>
                  </p:oleObj>
                </mc:Choice>
                <mc:Fallback>
                  <p:oleObj name="公式" r:id="rId5" imgW="507960" imgH="634680" progId="Equation.3">
                    <p:embed/>
                    <p:pic>
                      <p:nvPicPr>
                        <p:cNvPr id="27657" name="Object 9"/>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4" y="1872"/>
                          <a:ext cx="1056" cy="1056"/>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7" name="AutoShape 19"/>
            <p:cNvSpPr>
              <a:spLocks noChangeArrowheads="1"/>
            </p:cNvSpPr>
            <p:nvPr/>
          </p:nvSpPr>
          <p:spPr bwMode="auto">
            <a:xfrm>
              <a:off x="1056" y="2208"/>
              <a:ext cx="144" cy="306"/>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rgbClr val="CC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73" name="Group 25"/>
          <p:cNvGrpSpPr>
            <a:grpSpLocks/>
          </p:cNvGrpSpPr>
          <p:nvPr/>
        </p:nvGrpSpPr>
        <p:grpSpPr bwMode="auto">
          <a:xfrm>
            <a:off x="4495800" y="4162425"/>
            <a:ext cx="2819400" cy="561975"/>
            <a:chOff x="2832" y="2526"/>
            <a:chExt cx="1776" cy="357"/>
          </a:xfrm>
        </p:grpSpPr>
        <p:graphicFrame>
          <p:nvGraphicFramePr>
            <p:cNvPr id="27659" name="Object 11"/>
            <p:cNvGraphicFramePr>
              <a:graphicFrameLocks noChangeAspect="1"/>
            </p:cNvGraphicFramePr>
            <p:nvPr/>
          </p:nvGraphicFramePr>
          <p:xfrm>
            <a:off x="3072" y="2544"/>
            <a:ext cx="1536" cy="339"/>
          </p:xfrm>
          <a:graphic>
            <a:graphicData uri="http://schemas.openxmlformats.org/presentationml/2006/ole">
              <mc:AlternateContent xmlns:mc="http://schemas.openxmlformats.org/markup-compatibility/2006">
                <mc:Choice xmlns:v="urn:schemas-microsoft-com:vml" Requires="v">
                  <p:oleObj spid="_x0000_s2340" name="公式" r:id="rId7" imgW="1041120" imgH="190440" progId="Equation.3">
                    <p:embed/>
                  </p:oleObj>
                </mc:Choice>
                <mc:Fallback>
                  <p:oleObj name="公式" r:id="rId7" imgW="1041120" imgH="190440" progId="Equation.3">
                    <p:embed/>
                    <p:pic>
                      <p:nvPicPr>
                        <p:cNvPr id="27659" name="Object 11"/>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2" y="2544"/>
                          <a:ext cx="1536"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9" name="AutoShape 21"/>
            <p:cNvSpPr>
              <a:spLocks noChangeArrowheads="1"/>
            </p:cNvSpPr>
            <p:nvPr/>
          </p:nvSpPr>
          <p:spPr bwMode="auto">
            <a:xfrm>
              <a:off x="2832" y="2526"/>
              <a:ext cx="144" cy="306"/>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671" name="Group 23"/>
          <p:cNvGrpSpPr>
            <a:grpSpLocks/>
          </p:cNvGrpSpPr>
          <p:nvPr/>
        </p:nvGrpSpPr>
        <p:grpSpPr bwMode="auto">
          <a:xfrm>
            <a:off x="4495800" y="3276600"/>
            <a:ext cx="2590800" cy="685800"/>
            <a:chOff x="2832" y="1968"/>
            <a:chExt cx="1632" cy="432"/>
          </a:xfrm>
        </p:grpSpPr>
        <p:graphicFrame>
          <p:nvGraphicFramePr>
            <p:cNvPr id="27658" name="Object 10"/>
            <p:cNvGraphicFramePr>
              <a:graphicFrameLocks noChangeAspect="1"/>
            </p:cNvGraphicFramePr>
            <p:nvPr/>
          </p:nvGraphicFramePr>
          <p:xfrm>
            <a:off x="3072" y="1968"/>
            <a:ext cx="1392" cy="432"/>
          </p:xfrm>
          <a:graphic>
            <a:graphicData uri="http://schemas.openxmlformats.org/presentationml/2006/ole">
              <mc:AlternateContent xmlns:mc="http://schemas.openxmlformats.org/markup-compatibility/2006">
                <mc:Choice xmlns:v="urn:schemas-microsoft-com:vml" Requires="v">
                  <p:oleObj spid="_x0000_s2341" name="公式" r:id="rId9" imgW="761760" imgH="266400" progId="Equation.3">
                    <p:embed/>
                  </p:oleObj>
                </mc:Choice>
                <mc:Fallback>
                  <p:oleObj name="公式" r:id="rId9" imgW="761760" imgH="266400" progId="Equation.3">
                    <p:embed/>
                    <p:pic>
                      <p:nvPicPr>
                        <p:cNvPr id="27658" name="Object 10"/>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2" y="1968"/>
                          <a:ext cx="1392" cy="43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70" name="AutoShape 22"/>
            <p:cNvSpPr>
              <a:spLocks noChangeArrowheads="1"/>
            </p:cNvSpPr>
            <p:nvPr/>
          </p:nvSpPr>
          <p:spPr bwMode="auto">
            <a:xfrm>
              <a:off x="2832" y="2064"/>
              <a:ext cx="144" cy="306"/>
            </a:xfrm>
            <a:prstGeom prst="rightArrow">
              <a:avLst>
                <a:gd name="adj1" fmla="val 50000"/>
                <a:gd name="adj2"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674" name="Text Box 26"/>
          <p:cNvSpPr txBox="1">
            <a:spLocks noChangeArrowheads="1"/>
          </p:cNvSpPr>
          <p:nvPr/>
        </p:nvSpPr>
        <p:spPr bwMode="auto">
          <a:xfrm>
            <a:off x="7315200" y="4144963"/>
            <a:ext cx="533400" cy="579437"/>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t>?</a:t>
            </a:r>
          </a:p>
        </p:txBody>
      </p:sp>
      <p:pic>
        <p:nvPicPr>
          <p:cNvPr id="27679" name="Picture 31" descr="PE01023_"/>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740650" y="461963"/>
            <a:ext cx="996950" cy="1247775"/>
          </a:xfrm>
          <a:prstGeom prst="rect">
            <a:avLst/>
          </a:prstGeom>
          <a:solidFill>
            <a:srgbClr val="FF99CC"/>
          </a:solidFill>
        </p:spPr>
      </p:pic>
    </p:spTree>
    <p:extLst>
      <p:ext uri="{BB962C8B-B14F-4D97-AF65-F5344CB8AC3E}">
        <p14:creationId xmlns:p14="http://schemas.microsoft.com/office/powerpoint/2010/main" val="19174244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box(in)">
                                      <p:cBhvr>
                                        <p:cTn id="7" dur="500"/>
                                        <p:tgtEl>
                                          <p:spTgt spid="276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765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7653"/>
                                        </p:tgtEl>
                                        <p:attrNameLst>
                                          <p:attrName>style.visibility</p:attrName>
                                        </p:attrNameLst>
                                      </p:cBhvr>
                                      <p:to>
                                        <p:strVal val="visible"/>
                                      </p:to>
                                    </p:set>
                                    <p:animEffect transition="in" filter="box(in)">
                                      <p:cBhvr>
                                        <p:cTn id="16" dur="500"/>
                                        <p:tgtEl>
                                          <p:spTgt spid="2765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766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5" fill="hold" nodeType="clickEffect">
                                  <p:stCondLst>
                                    <p:cond delay="0"/>
                                  </p:stCondLst>
                                  <p:childTnLst>
                                    <p:set>
                                      <p:cBhvr>
                                        <p:cTn id="24" dur="1" fill="hold">
                                          <p:stCondLst>
                                            <p:cond delay="0"/>
                                          </p:stCondLst>
                                        </p:cTn>
                                        <p:tgtEl>
                                          <p:spTgt spid="27656"/>
                                        </p:tgtEl>
                                        <p:attrNameLst>
                                          <p:attrName>style.visibility</p:attrName>
                                        </p:attrNameLst>
                                      </p:cBhvr>
                                      <p:to>
                                        <p:strVal val="visible"/>
                                      </p:to>
                                    </p:set>
                                    <p:animEffect transition="in" filter="blinds(vertical)">
                                      <p:cBhvr>
                                        <p:cTn id="25" dur="500"/>
                                        <p:tgtEl>
                                          <p:spTgt spid="2765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32" fill="hold" nodeType="clickEffect">
                                  <p:stCondLst>
                                    <p:cond delay="0"/>
                                  </p:stCondLst>
                                  <p:childTnLst>
                                    <p:set>
                                      <p:cBhvr>
                                        <p:cTn id="29" dur="1" fill="hold">
                                          <p:stCondLst>
                                            <p:cond delay="0"/>
                                          </p:stCondLst>
                                        </p:cTn>
                                        <p:tgtEl>
                                          <p:spTgt spid="27668"/>
                                        </p:tgtEl>
                                        <p:attrNameLst>
                                          <p:attrName>style.visibility</p:attrName>
                                        </p:attrNameLst>
                                      </p:cBhvr>
                                      <p:to>
                                        <p:strVal val="visible"/>
                                      </p:to>
                                    </p:set>
                                    <p:animEffect transition="in" filter="box(out)">
                                      <p:cBhvr>
                                        <p:cTn id="30" dur="500"/>
                                        <p:tgtEl>
                                          <p:spTgt spid="2766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nodeType="clickEffect">
                                  <p:stCondLst>
                                    <p:cond delay="0"/>
                                  </p:stCondLst>
                                  <p:childTnLst>
                                    <p:set>
                                      <p:cBhvr>
                                        <p:cTn id="34" dur="1" fill="hold">
                                          <p:stCondLst>
                                            <p:cond delay="0"/>
                                          </p:stCondLst>
                                        </p:cTn>
                                        <p:tgtEl>
                                          <p:spTgt spid="27671"/>
                                        </p:tgtEl>
                                        <p:attrNameLst>
                                          <p:attrName>style.visibility</p:attrName>
                                        </p:attrNameLst>
                                      </p:cBhvr>
                                      <p:to>
                                        <p:strVal val="visible"/>
                                      </p:to>
                                    </p:set>
                                    <p:animEffect transition="in" filter="box(out)">
                                      <p:cBhvr>
                                        <p:cTn id="35" dur="500"/>
                                        <p:tgtEl>
                                          <p:spTgt spid="2767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nodeType="clickEffect">
                                  <p:stCondLst>
                                    <p:cond delay="0"/>
                                  </p:stCondLst>
                                  <p:childTnLst>
                                    <p:set>
                                      <p:cBhvr>
                                        <p:cTn id="39" dur="1" fill="hold">
                                          <p:stCondLst>
                                            <p:cond delay="0"/>
                                          </p:stCondLst>
                                        </p:cTn>
                                        <p:tgtEl>
                                          <p:spTgt spid="27673"/>
                                        </p:tgtEl>
                                        <p:attrNameLst>
                                          <p:attrName>style.visibility</p:attrName>
                                        </p:attrNameLst>
                                      </p:cBhvr>
                                      <p:to>
                                        <p:strVal val="visible"/>
                                      </p:to>
                                    </p:set>
                                    <p:animEffect transition="in" filter="checkerboard(across)">
                                      <p:cBhvr>
                                        <p:cTn id="40" dur="500"/>
                                        <p:tgtEl>
                                          <p:spTgt spid="2767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27674"/>
                                        </p:tgtEl>
                                        <p:attrNameLst>
                                          <p:attrName>style.visibility</p:attrName>
                                        </p:attrNameLst>
                                      </p:cBhvr>
                                      <p:to>
                                        <p:strVal val="visible"/>
                                      </p:to>
                                    </p:set>
                                    <p:anim calcmode="lin" valueType="num">
                                      <p:cBhvr>
                                        <p:cTn id="45" dur="500" fill="hold"/>
                                        <p:tgtEl>
                                          <p:spTgt spid="27674"/>
                                        </p:tgtEl>
                                        <p:attrNameLst>
                                          <p:attrName>ppt_w</p:attrName>
                                        </p:attrNameLst>
                                      </p:cBhvr>
                                      <p:tavLst>
                                        <p:tav tm="0">
                                          <p:val>
                                            <p:fltVal val="0"/>
                                          </p:val>
                                        </p:tav>
                                        <p:tav tm="100000">
                                          <p:val>
                                            <p:strVal val="#ppt_w"/>
                                          </p:val>
                                        </p:tav>
                                      </p:tavLst>
                                    </p:anim>
                                    <p:anim calcmode="lin" valueType="num">
                                      <p:cBhvr>
                                        <p:cTn id="46" dur="500" fill="hold"/>
                                        <p:tgtEl>
                                          <p:spTgt spid="27674"/>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27660"/>
                                        </p:tgtEl>
                                        <p:attrNameLst>
                                          <p:attrName>style.visibility</p:attrName>
                                        </p:attrNameLst>
                                      </p:cBhvr>
                                      <p:to>
                                        <p:strVal val="visible"/>
                                      </p:to>
                                    </p:set>
                                    <p:animEffect transition="in" filter="checkerboard(across)">
                                      <p:cBhvr>
                                        <p:cTn id="51" dur="500"/>
                                        <p:tgtEl>
                                          <p:spTgt spid="2766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7665"/>
                                        </p:tgtEl>
                                        <p:attrNameLst>
                                          <p:attrName>style.visibility</p:attrName>
                                        </p:attrNameLst>
                                      </p:cBhvr>
                                      <p:to>
                                        <p:strVal val="visible"/>
                                      </p:to>
                                    </p:set>
                                    <p:animEffect transition="in" filter="wipe(left)">
                                      <p:cBhvr>
                                        <p:cTn id="56" dur="500"/>
                                        <p:tgtEl>
                                          <p:spTgt spid="27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P spid="27653" grpId="0" autoUpdateAnimBg="0"/>
      <p:bldP spid="27655" grpId="0" animBg="1" autoUpdateAnimBg="0"/>
      <p:bldP spid="27660" grpId="0"/>
      <p:bldP spid="27666" grpId="0" animBg="1" autoUpdateAnimBg="0"/>
      <p:bldP spid="27674"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nvGraphicFramePr>
        <p:xfrm>
          <a:off x="1981200" y="4648200"/>
          <a:ext cx="1752600" cy="962025"/>
        </p:xfrm>
        <a:graphic>
          <a:graphicData uri="http://schemas.openxmlformats.org/presentationml/2006/ole">
            <mc:AlternateContent xmlns:mc="http://schemas.openxmlformats.org/markup-compatibility/2006">
              <mc:Choice xmlns:v="urn:schemas-microsoft-com:vml" Requires="v">
                <p:oleObj spid="_x0000_s3439" name="公式" r:id="rId3" imgW="647640" imgH="469800" progId="Equation.3">
                  <p:embed/>
                </p:oleObj>
              </mc:Choice>
              <mc:Fallback>
                <p:oleObj name="公式" r:id="rId3" imgW="647640" imgH="469800" progId="Equation.3">
                  <p:embed/>
                  <p:pic>
                    <p:nvPicPr>
                      <p:cNvPr id="2050" name="Object 2"/>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4648200"/>
                        <a:ext cx="1752600" cy="96202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p:cNvGraphicFramePr>
            <a:graphicFrameLocks noChangeAspect="1"/>
          </p:cNvGraphicFramePr>
          <p:nvPr/>
        </p:nvGraphicFramePr>
        <p:xfrm>
          <a:off x="1981200" y="5715000"/>
          <a:ext cx="2438400" cy="534988"/>
        </p:xfrm>
        <a:graphic>
          <a:graphicData uri="http://schemas.openxmlformats.org/presentationml/2006/ole">
            <mc:AlternateContent xmlns:mc="http://schemas.openxmlformats.org/markup-compatibility/2006">
              <mc:Choice xmlns:v="urn:schemas-microsoft-com:vml" Requires="v">
                <p:oleObj spid="_x0000_s3440" name="公式" r:id="rId5" imgW="990360" imgH="241200" progId="Equation.3">
                  <p:embed/>
                </p:oleObj>
              </mc:Choice>
              <mc:Fallback>
                <p:oleObj name="公式" r:id="rId5" imgW="990360" imgH="241200" progId="Equation.3">
                  <p:embed/>
                  <p:pic>
                    <p:nvPicPr>
                      <p:cNvPr id="2051" name="Object 3"/>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5715000"/>
                        <a:ext cx="2438400" cy="5349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4" name="Text Box 6"/>
          <p:cNvSpPr txBox="1">
            <a:spLocks noChangeArrowheads="1"/>
          </p:cNvSpPr>
          <p:nvPr/>
        </p:nvSpPr>
        <p:spPr bwMode="auto">
          <a:xfrm>
            <a:off x="228600" y="685800"/>
            <a:ext cx="1371600"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dirty="0">
                <a:latin typeface="楷体_GB2312" pitchFamily="49" charset="-122"/>
                <a:ea typeface="楷体_GB2312" pitchFamily="49" charset="-122"/>
              </a:rPr>
              <a:t>模型</a:t>
            </a:r>
            <a:r>
              <a:rPr lang="en-US" altLang="zh-CN" sz="3200" b="1" dirty="0">
                <a:latin typeface="楷体_GB2312" pitchFamily="49" charset="-122"/>
                <a:ea typeface="楷体_GB2312" pitchFamily="49" charset="-122"/>
              </a:rPr>
              <a:t>2</a:t>
            </a:r>
          </a:p>
        </p:txBody>
      </p:sp>
      <p:sp>
        <p:nvSpPr>
          <p:cNvPr id="2056" name="Text Box 8"/>
          <p:cNvSpPr txBox="1">
            <a:spLocks noChangeArrowheads="1"/>
          </p:cNvSpPr>
          <p:nvPr/>
        </p:nvSpPr>
        <p:spPr bwMode="auto">
          <a:xfrm>
            <a:off x="1905000" y="685800"/>
            <a:ext cx="6400800" cy="604838"/>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a:t>区分已感染者</a:t>
            </a:r>
            <a:r>
              <a:rPr lang="en-US" altLang="zh-CN" sz="2800" b="1"/>
              <a:t>(</a:t>
            </a:r>
            <a:r>
              <a:rPr lang="zh-CN" altLang="en-US" sz="2800" b="1"/>
              <a:t>病人</a:t>
            </a:r>
            <a:r>
              <a:rPr lang="en-US" altLang="zh-CN" sz="2800" b="1"/>
              <a:t>)</a:t>
            </a:r>
            <a:r>
              <a:rPr lang="zh-CN" altLang="en-US" sz="2800" b="1"/>
              <a:t>和未感染者</a:t>
            </a:r>
            <a:r>
              <a:rPr lang="en-US" altLang="zh-CN" sz="2800" b="1"/>
              <a:t>(</a:t>
            </a:r>
            <a:r>
              <a:rPr lang="zh-CN" altLang="en-US" sz="2800" b="1"/>
              <a:t>健康人</a:t>
            </a:r>
            <a:r>
              <a:rPr lang="en-US" altLang="zh-CN" sz="2800" b="1"/>
              <a:t>)</a:t>
            </a:r>
          </a:p>
        </p:txBody>
      </p:sp>
      <p:sp>
        <p:nvSpPr>
          <p:cNvPr id="2058" name="Text Box 10"/>
          <p:cNvSpPr txBox="1">
            <a:spLocks noChangeArrowheads="1"/>
          </p:cNvSpPr>
          <p:nvPr/>
        </p:nvSpPr>
        <p:spPr bwMode="auto">
          <a:xfrm>
            <a:off x="228600" y="1524000"/>
            <a:ext cx="9906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楷体_GB2312" pitchFamily="49" charset="-122"/>
                <a:ea typeface="楷体_GB2312" pitchFamily="49" charset="-122"/>
              </a:rPr>
              <a:t>假设</a:t>
            </a:r>
          </a:p>
        </p:txBody>
      </p:sp>
      <p:grpSp>
        <p:nvGrpSpPr>
          <p:cNvPr id="2069" name="Group 21"/>
          <p:cNvGrpSpPr>
            <a:grpSpLocks/>
          </p:cNvGrpSpPr>
          <p:nvPr/>
        </p:nvGrpSpPr>
        <p:grpSpPr bwMode="auto">
          <a:xfrm>
            <a:off x="1908175" y="1412875"/>
            <a:ext cx="5257800" cy="1111250"/>
            <a:chOff x="1104" y="720"/>
            <a:chExt cx="3312" cy="700"/>
          </a:xfrm>
        </p:grpSpPr>
        <p:sp>
          <p:nvSpPr>
            <p:cNvPr id="2059" name="Text Box 11"/>
            <p:cNvSpPr txBox="1">
              <a:spLocks noChangeArrowheads="1"/>
            </p:cNvSpPr>
            <p:nvPr/>
          </p:nvSpPr>
          <p:spPr bwMode="auto">
            <a:xfrm>
              <a:off x="1104" y="720"/>
              <a:ext cx="3312" cy="67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sz="2800" b="1" dirty="0"/>
                <a:t>1</a:t>
              </a:r>
              <a:r>
                <a:rPr lang="zh-CN" altLang="en-US" sz="2800" b="1" dirty="0"/>
                <a:t>）总人数</a:t>
              </a:r>
              <a:r>
                <a:rPr lang="en-US" altLang="zh-CN" sz="2800" b="1" i="1" dirty="0"/>
                <a:t>N</a:t>
              </a:r>
              <a:r>
                <a:rPr lang="zh-CN" altLang="en-US" sz="2800" b="1" dirty="0"/>
                <a:t>不变，病人和健康  人的比例分别为</a:t>
              </a:r>
              <a:endParaRPr lang="zh-CN" altLang="en-US" sz="2800" b="1" dirty="0">
                <a:sym typeface="Symbol" panose="05050102010706020507" pitchFamily="18" charset="2"/>
              </a:endParaRPr>
            </a:p>
          </p:txBody>
        </p:sp>
        <p:graphicFrame>
          <p:nvGraphicFramePr>
            <p:cNvPr id="2060" name="Object 12"/>
            <p:cNvGraphicFramePr>
              <a:graphicFrameLocks noChangeAspect="1"/>
            </p:cNvGraphicFramePr>
            <p:nvPr>
              <p:extLst>
                <p:ext uri="{D42A27DB-BD31-4B8C-83A1-F6EECF244321}">
                  <p14:modId xmlns:p14="http://schemas.microsoft.com/office/powerpoint/2010/main" val="3624551653"/>
                </p:ext>
              </p:extLst>
            </p:nvPr>
          </p:nvGraphicFramePr>
          <p:xfrm>
            <a:off x="2782" y="1083"/>
            <a:ext cx="1012" cy="337"/>
          </p:xfrm>
          <a:graphic>
            <a:graphicData uri="http://schemas.openxmlformats.org/presentationml/2006/ole">
              <mc:AlternateContent xmlns:mc="http://schemas.openxmlformats.org/markup-compatibility/2006">
                <mc:Choice xmlns:v="urn:schemas-microsoft-com:vml" Requires="v">
                  <p:oleObj spid="_x0000_s3441" name="公式" r:id="rId7" imgW="634680" imgH="241200" progId="Equation.3">
                    <p:embed/>
                  </p:oleObj>
                </mc:Choice>
                <mc:Fallback>
                  <p:oleObj name="公式" r:id="rId7" imgW="634680" imgH="241200" progId="Equation.3">
                    <p:embed/>
                    <p:pic>
                      <p:nvPicPr>
                        <p:cNvPr id="2060" name="Object 12"/>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2" y="1083"/>
                          <a:ext cx="1012"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61" name="Text Box 13"/>
          <p:cNvSpPr txBox="1">
            <a:spLocks noChangeArrowheads="1"/>
          </p:cNvSpPr>
          <p:nvPr/>
        </p:nvSpPr>
        <p:spPr bwMode="auto">
          <a:xfrm>
            <a:off x="1763688" y="2667000"/>
            <a:ext cx="5638800" cy="112646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en-US" altLang="zh-CN" sz="2800" b="1" dirty="0"/>
              <a:t> 2</a:t>
            </a:r>
            <a:r>
              <a:rPr lang="zh-CN" altLang="en-US" sz="2800" b="1" dirty="0"/>
              <a:t>）每个病人每天有效接触人的比率数为</a:t>
            </a:r>
            <a:r>
              <a:rPr lang="zh-CN" altLang="en-US" sz="2800" b="1" i="1" dirty="0">
                <a:sym typeface="Symbol" panose="05050102010706020507" pitchFamily="18" charset="2"/>
              </a:rPr>
              <a:t></a:t>
            </a:r>
            <a:r>
              <a:rPr lang="en-US" altLang="zh-CN" sz="2800" b="1" dirty="0">
                <a:sym typeface="Symbol" panose="05050102010706020507" pitchFamily="18" charset="2"/>
              </a:rPr>
              <a:t>,  </a:t>
            </a:r>
            <a:r>
              <a:rPr lang="zh-CN" altLang="en-US" sz="2800" b="1" dirty="0">
                <a:sym typeface="Symbol" panose="05050102010706020507" pitchFamily="18" charset="2"/>
              </a:rPr>
              <a:t>且</a:t>
            </a:r>
            <a:r>
              <a:rPr lang="zh-CN" altLang="en-US" sz="2800" b="1" dirty="0"/>
              <a:t>使接触的健康人致病</a:t>
            </a:r>
          </a:p>
        </p:txBody>
      </p:sp>
      <p:sp>
        <p:nvSpPr>
          <p:cNvPr id="2062" name="Text Box 14"/>
          <p:cNvSpPr txBox="1">
            <a:spLocks noChangeArrowheads="1"/>
          </p:cNvSpPr>
          <p:nvPr/>
        </p:nvSpPr>
        <p:spPr bwMode="auto">
          <a:xfrm>
            <a:off x="228600" y="3886200"/>
            <a:ext cx="9906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楷体_GB2312" pitchFamily="49" charset="-122"/>
                <a:ea typeface="楷体_GB2312" pitchFamily="49" charset="-122"/>
              </a:rPr>
              <a:t>建模</a:t>
            </a:r>
          </a:p>
        </p:txBody>
      </p:sp>
      <p:graphicFrame>
        <p:nvGraphicFramePr>
          <p:cNvPr id="2063" name="Object 15"/>
          <p:cNvGraphicFramePr>
            <a:graphicFrameLocks noChangeAspect="1"/>
          </p:cNvGraphicFramePr>
          <p:nvPr>
            <p:extLst>
              <p:ext uri="{D42A27DB-BD31-4B8C-83A1-F6EECF244321}">
                <p14:modId xmlns:p14="http://schemas.microsoft.com/office/powerpoint/2010/main" val="1332145264"/>
              </p:ext>
            </p:extLst>
          </p:nvPr>
        </p:nvGraphicFramePr>
        <p:xfrm>
          <a:off x="1622499" y="3962400"/>
          <a:ext cx="6765925" cy="533400"/>
        </p:xfrm>
        <a:graphic>
          <a:graphicData uri="http://schemas.openxmlformats.org/presentationml/2006/ole">
            <mc:AlternateContent xmlns:mc="http://schemas.openxmlformats.org/markup-compatibility/2006">
              <mc:Choice xmlns:v="urn:schemas-microsoft-com:vml" Requires="v">
                <p:oleObj spid="_x0000_s3442" name="Equation" r:id="rId9" imgW="2552400" imgH="203040" progId="Equation.DSMT4">
                  <p:embed/>
                </p:oleObj>
              </mc:Choice>
              <mc:Fallback>
                <p:oleObj name="Equation" r:id="rId9" imgW="2552400" imgH="203040" progId="Equation.DSMT4">
                  <p:embed/>
                  <p:pic>
                    <p:nvPicPr>
                      <p:cNvPr id="2063" name="Object 15"/>
                      <p:cNvPicPr preferRelativeResize="0">
                        <a:picLocks noChangeAspect="1" noChangeArrowheads="1"/>
                      </p:cNvPicPr>
                      <p:nvPr/>
                    </p:nvPicPr>
                    <p:blipFill>
                      <a:blip r:embed="rId10"/>
                      <a:srcRect/>
                      <a:stretch>
                        <a:fillRect/>
                      </a:stretch>
                    </p:blipFill>
                    <p:spPr bwMode="auto">
                      <a:xfrm>
                        <a:off x="1622499" y="3962400"/>
                        <a:ext cx="6765925" cy="5334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65" name="Group 17"/>
          <p:cNvGrpSpPr>
            <a:grpSpLocks/>
          </p:cNvGrpSpPr>
          <p:nvPr/>
        </p:nvGrpSpPr>
        <p:grpSpPr bwMode="auto">
          <a:xfrm>
            <a:off x="4876800" y="4648200"/>
            <a:ext cx="3733800" cy="1674813"/>
            <a:chOff x="3216" y="2640"/>
            <a:chExt cx="2352" cy="1055"/>
          </a:xfrm>
        </p:grpSpPr>
        <p:graphicFrame>
          <p:nvGraphicFramePr>
            <p:cNvPr id="2052" name="Object 4"/>
            <p:cNvGraphicFramePr>
              <a:graphicFrameLocks noChangeAspect="1"/>
            </p:cNvGraphicFramePr>
            <p:nvPr/>
          </p:nvGraphicFramePr>
          <p:xfrm>
            <a:off x="3600" y="2640"/>
            <a:ext cx="1968" cy="1055"/>
          </p:xfrm>
          <a:graphic>
            <a:graphicData uri="http://schemas.openxmlformats.org/presentationml/2006/ole">
              <mc:AlternateContent xmlns:mc="http://schemas.openxmlformats.org/markup-compatibility/2006">
                <mc:Choice xmlns:v="urn:schemas-microsoft-com:vml" Requires="v">
                  <p:oleObj spid="_x0000_s3443" name="公式" r:id="rId11" imgW="1091880" imgH="799920" progId="Equation.3">
                    <p:embed/>
                  </p:oleObj>
                </mc:Choice>
                <mc:Fallback>
                  <p:oleObj name="公式" r:id="rId11" imgW="1091880" imgH="799920" progId="Equation.3">
                    <p:embed/>
                    <p:pic>
                      <p:nvPicPr>
                        <p:cNvPr id="2052" name="Object 4"/>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0" y="2640"/>
                          <a:ext cx="1968" cy="1055"/>
                        </a:xfrm>
                        <a:prstGeom prst="rect">
                          <a:avLst/>
                        </a:prstGeom>
                        <a:solidFill>
                          <a:srgbClr val="00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4" name="AutoShape 16"/>
            <p:cNvSpPr>
              <a:spLocks noChangeArrowheads="1"/>
            </p:cNvSpPr>
            <p:nvPr/>
          </p:nvSpPr>
          <p:spPr bwMode="auto">
            <a:xfrm>
              <a:off x="3216" y="3024"/>
              <a:ext cx="192" cy="288"/>
            </a:xfrm>
            <a:prstGeom prst="rightArrow">
              <a:avLst>
                <a:gd name="adj1" fmla="val 50000"/>
                <a:gd name="adj2" fmla="val 25000"/>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67" name="Text Box 19"/>
          <p:cNvSpPr txBox="1">
            <a:spLocks noChangeArrowheads="1"/>
          </p:cNvSpPr>
          <p:nvPr/>
        </p:nvSpPr>
        <p:spPr bwMode="auto">
          <a:xfrm>
            <a:off x="7315200" y="2743200"/>
            <a:ext cx="1524000" cy="94615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800" b="1" i="1" dirty="0">
                <a:sym typeface="Symbol" panose="05050102010706020507" pitchFamily="18" charset="2"/>
              </a:rPr>
              <a:t> </a:t>
            </a:r>
            <a:r>
              <a:rPr lang="en-US" altLang="zh-CN" sz="2800" b="1" dirty="0">
                <a:sym typeface="Symbol" panose="05050102010706020507" pitchFamily="18" charset="2"/>
              </a:rPr>
              <a:t>~ </a:t>
            </a:r>
            <a:r>
              <a:rPr lang="zh-CN" altLang="en-US" sz="2800" b="1" dirty="0">
                <a:sym typeface="Symbol" panose="05050102010706020507" pitchFamily="18" charset="2"/>
              </a:rPr>
              <a:t>日</a:t>
            </a:r>
          </a:p>
          <a:p>
            <a:r>
              <a:rPr lang="zh-CN" altLang="en-US" sz="2800" b="1" dirty="0">
                <a:sym typeface="Symbol" panose="05050102010706020507" pitchFamily="18" charset="2"/>
              </a:rPr>
              <a:t>接触率</a:t>
            </a:r>
          </a:p>
        </p:txBody>
      </p:sp>
      <p:sp>
        <p:nvSpPr>
          <p:cNvPr id="2068" name="Text Box 20"/>
          <p:cNvSpPr txBox="1">
            <a:spLocks noChangeArrowheads="1"/>
          </p:cNvSpPr>
          <p:nvPr/>
        </p:nvSpPr>
        <p:spPr bwMode="auto">
          <a:xfrm>
            <a:off x="7391400" y="1752600"/>
            <a:ext cx="14478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a:t>SI </a:t>
            </a:r>
            <a:r>
              <a:rPr lang="zh-CN" altLang="zh-CN" sz="2800" b="1">
                <a:ea typeface="楷体_GB2312" pitchFamily="49" charset="-122"/>
              </a:rPr>
              <a:t>模型</a:t>
            </a:r>
            <a:endParaRPr lang="zh-CN" altLang="en-US" sz="2800" b="1">
              <a:ea typeface="楷体_GB2312" pitchFamily="49" charset="-122"/>
            </a:endParaRPr>
          </a:p>
        </p:txBody>
      </p:sp>
    </p:spTree>
    <p:extLst>
      <p:ext uri="{BB962C8B-B14F-4D97-AF65-F5344CB8AC3E}">
        <p14:creationId xmlns:p14="http://schemas.microsoft.com/office/powerpoint/2010/main" val="6677462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56"/>
                                        </p:tgtEl>
                                        <p:attrNameLst>
                                          <p:attrName>style.visibility</p:attrName>
                                        </p:attrNameLst>
                                      </p:cBhvr>
                                      <p:to>
                                        <p:strVal val="visible"/>
                                      </p:to>
                                    </p:set>
                                    <p:animEffect transition="in" filter="box(in)">
                                      <p:cBhvr>
                                        <p:cTn id="7" dur="500"/>
                                        <p:tgtEl>
                                          <p:spTgt spid="20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05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2069"/>
                                        </p:tgtEl>
                                        <p:attrNameLst>
                                          <p:attrName>style.visibility</p:attrName>
                                        </p:attrNameLst>
                                      </p:cBhvr>
                                      <p:to>
                                        <p:strVal val="visible"/>
                                      </p:to>
                                    </p:set>
                                    <p:animEffect transition="in" filter="dissolve">
                                      <p:cBhvr>
                                        <p:cTn id="16" dur="500"/>
                                        <p:tgtEl>
                                          <p:spTgt spid="206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068"/>
                                        </p:tgtEl>
                                        <p:attrNameLst>
                                          <p:attrName>style.visibility</p:attrName>
                                        </p:attrNameLst>
                                      </p:cBhvr>
                                      <p:to>
                                        <p:strVal val="visible"/>
                                      </p:to>
                                    </p:set>
                                    <p:animEffect transition="in" filter="wipe(up)">
                                      <p:cBhvr>
                                        <p:cTn id="21" dur="500"/>
                                        <p:tgtEl>
                                          <p:spTgt spid="206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2061"/>
                                        </p:tgtEl>
                                        <p:attrNameLst>
                                          <p:attrName>style.visibility</p:attrName>
                                        </p:attrNameLst>
                                      </p:cBhvr>
                                      <p:to>
                                        <p:strVal val="visible"/>
                                      </p:to>
                                    </p:set>
                                    <p:animEffect transition="in" filter="box(in)">
                                      <p:cBhvr>
                                        <p:cTn id="26" dur="500"/>
                                        <p:tgtEl>
                                          <p:spTgt spid="206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2067"/>
                                        </p:tgtEl>
                                        <p:attrNameLst>
                                          <p:attrName>style.visibility</p:attrName>
                                        </p:attrNameLst>
                                      </p:cBhvr>
                                      <p:to>
                                        <p:strVal val="visible"/>
                                      </p:to>
                                    </p:set>
                                    <p:anim calcmode="lin" valueType="num">
                                      <p:cBhvr>
                                        <p:cTn id="31" dur="500" fill="hold"/>
                                        <p:tgtEl>
                                          <p:spTgt spid="2067"/>
                                        </p:tgtEl>
                                        <p:attrNameLst>
                                          <p:attrName>ppt_w</p:attrName>
                                        </p:attrNameLst>
                                      </p:cBhvr>
                                      <p:tavLst>
                                        <p:tav tm="0">
                                          <p:val>
                                            <p:fltVal val="0"/>
                                          </p:val>
                                        </p:tav>
                                        <p:tav tm="100000">
                                          <p:val>
                                            <p:strVal val="#ppt_w"/>
                                          </p:val>
                                        </p:tav>
                                      </p:tavLst>
                                    </p:anim>
                                    <p:anim calcmode="lin" valueType="num">
                                      <p:cBhvr>
                                        <p:cTn id="32" dur="500" fill="hold"/>
                                        <p:tgtEl>
                                          <p:spTgt spid="2067"/>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06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2063"/>
                                        </p:tgtEl>
                                        <p:attrNameLst>
                                          <p:attrName>style.visibility</p:attrName>
                                        </p:attrNameLst>
                                      </p:cBhvr>
                                      <p:to>
                                        <p:strVal val="visible"/>
                                      </p:to>
                                    </p:set>
                                    <p:animEffect transition="in" filter="blinds(horizontal)">
                                      <p:cBhvr>
                                        <p:cTn id="41" dur="500"/>
                                        <p:tgtEl>
                                          <p:spTgt spid="206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5" fill="hold" nodeType="clickEffect">
                                  <p:stCondLst>
                                    <p:cond delay="0"/>
                                  </p:stCondLst>
                                  <p:childTnLst>
                                    <p:set>
                                      <p:cBhvr>
                                        <p:cTn id="45" dur="1" fill="hold">
                                          <p:stCondLst>
                                            <p:cond delay="0"/>
                                          </p:stCondLst>
                                        </p:cTn>
                                        <p:tgtEl>
                                          <p:spTgt spid="2050"/>
                                        </p:tgtEl>
                                        <p:attrNameLst>
                                          <p:attrName>style.visibility</p:attrName>
                                        </p:attrNameLst>
                                      </p:cBhvr>
                                      <p:to>
                                        <p:strVal val="visible"/>
                                      </p:to>
                                    </p:set>
                                    <p:animEffect transition="in" filter="blinds(vertical)">
                                      <p:cBhvr>
                                        <p:cTn id="46" dur="500"/>
                                        <p:tgtEl>
                                          <p:spTgt spid="205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nodeType="clickEffect">
                                  <p:stCondLst>
                                    <p:cond delay="0"/>
                                  </p:stCondLst>
                                  <p:childTnLst>
                                    <p:set>
                                      <p:cBhvr>
                                        <p:cTn id="50" dur="1" fill="hold">
                                          <p:stCondLst>
                                            <p:cond delay="0"/>
                                          </p:stCondLst>
                                        </p:cTn>
                                        <p:tgtEl>
                                          <p:spTgt spid="2051"/>
                                        </p:tgtEl>
                                        <p:attrNameLst>
                                          <p:attrName>style.visibility</p:attrName>
                                        </p:attrNameLst>
                                      </p:cBhvr>
                                      <p:to>
                                        <p:strVal val="visible"/>
                                      </p:to>
                                    </p:set>
                                    <p:animEffect transition="in" filter="checkerboard(across)">
                                      <p:cBhvr>
                                        <p:cTn id="51" dur="500"/>
                                        <p:tgtEl>
                                          <p:spTgt spid="205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065"/>
                                        </p:tgtEl>
                                        <p:attrNameLst>
                                          <p:attrName>style.visibility</p:attrName>
                                        </p:attrNameLst>
                                      </p:cBhvr>
                                      <p:to>
                                        <p:strVal val="visible"/>
                                      </p:to>
                                    </p:set>
                                    <p:animEffect transition="in" filter="wipe(left)">
                                      <p:cBhvr>
                                        <p:cTn id="56" dur="500"/>
                                        <p:tgtEl>
                                          <p:spTgt spid="2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 grpId="0" autoUpdateAnimBg="0"/>
      <p:bldP spid="2058" grpId="0" animBg="1" autoUpdateAnimBg="0"/>
      <p:bldP spid="2061" grpId="0" autoUpdateAnimBg="0"/>
      <p:bldP spid="2062" grpId="0" animBg="1" autoUpdateAnimBg="0"/>
      <p:bldP spid="2067" grpId="0" animBg="1" autoUpdateAnimBg="0"/>
      <p:bldP spid="2068"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107" name="Object 35"/>
          <p:cNvGraphicFramePr>
            <a:graphicFrameLocks noChangeAspect="1"/>
          </p:cNvGraphicFramePr>
          <p:nvPr/>
        </p:nvGraphicFramePr>
        <p:xfrm>
          <a:off x="4800600" y="1828800"/>
          <a:ext cx="4191000" cy="1773238"/>
        </p:xfrm>
        <a:graphic>
          <a:graphicData uri="http://schemas.openxmlformats.org/presentationml/2006/ole">
            <mc:AlternateContent xmlns:mc="http://schemas.openxmlformats.org/markup-compatibility/2006">
              <mc:Choice xmlns:v="urn:schemas-microsoft-com:vml" Requires="v">
                <p:oleObj spid="_x0000_s4390" name="公式" r:id="rId4" imgW="1536480" imgH="812520" progId="Equation.3">
                  <p:embed/>
                </p:oleObj>
              </mc:Choice>
              <mc:Fallback>
                <p:oleObj name="公式" r:id="rId4" imgW="1536480" imgH="812520" progId="Equation.3">
                  <p:embed/>
                  <p:pic>
                    <p:nvPicPr>
                      <p:cNvPr id="3107"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1828800"/>
                        <a:ext cx="4191000" cy="1773238"/>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09" name="Object 37"/>
          <p:cNvGraphicFramePr>
            <a:graphicFrameLocks noChangeAspect="1"/>
          </p:cNvGraphicFramePr>
          <p:nvPr/>
        </p:nvGraphicFramePr>
        <p:xfrm>
          <a:off x="2590800" y="304800"/>
          <a:ext cx="3124200" cy="1674813"/>
        </p:xfrm>
        <a:graphic>
          <a:graphicData uri="http://schemas.openxmlformats.org/presentationml/2006/ole">
            <mc:AlternateContent xmlns:mc="http://schemas.openxmlformats.org/markup-compatibility/2006">
              <mc:Choice xmlns:v="urn:schemas-microsoft-com:vml" Requires="v">
                <p:oleObj spid="_x0000_s4391" name="公式" r:id="rId6" imgW="1091880" imgH="799920" progId="Equation.3">
                  <p:embed/>
                </p:oleObj>
              </mc:Choice>
              <mc:Fallback>
                <p:oleObj name="公式" r:id="rId6" imgW="1091880" imgH="799920" progId="Equation.3">
                  <p:embed/>
                  <p:pic>
                    <p:nvPicPr>
                      <p:cNvPr id="3109" name="Object 37"/>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0" y="304800"/>
                        <a:ext cx="3124200" cy="167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11" name="Text Box 39"/>
          <p:cNvSpPr txBox="1">
            <a:spLocks noChangeArrowheads="1"/>
          </p:cNvSpPr>
          <p:nvPr/>
        </p:nvSpPr>
        <p:spPr bwMode="auto">
          <a:xfrm>
            <a:off x="533400" y="381000"/>
            <a:ext cx="1371600"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a:t>
            </a:r>
            <a:r>
              <a:rPr lang="en-US" altLang="zh-CN" sz="3200" b="1"/>
              <a:t>2</a:t>
            </a:r>
          </a:p>
        </p:txBody>
      </p:sp>
      <p:grpSp>
        <p:nvGrpSpPr>
          <p:cNvPr id="3126" name="Group 54"/>
          <p:cNvGrpSpPr>
            <a:grpSpLocks/>
          </p:cNvGrpSpPr>
          <p:nvPr/>
        </p:nvGrpSpPr>
        <p:grpSpPr bwMode="auto">
          <a:xfrm>
            <a:off x="533400" y="2922588"/>
            <a:ext cx="1663700" cy="1573212"/>
            <a:chOff x="336" y="1841"/>
            <a:chExt cx="1048" cy="991"/>
          </a:xfrm>
        </p:grpSpPr>
        <p:sp>
          <p:nvSpPr>
            <p:cNvPr id="3077" name="Line 5"/>
            <p:cNvSpPr>
              <a:spLocks noChangeShapeType="1"/>
            </p:cNvSpPr>
            <p:nvPr/>
          </p:nvSpPr>
          <p:spPr bwMode="auto">
            <a:xfrm>
              <a:off x="635" y="1950"/>
              <a:ext cx="499"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8" name="Line 6"/>
            <p:cNvSpPr>
              <a:spLocks noChangeShapeType="1"/>
            </p:cNvSpPr>
            <p:nvPr/>
          </p:nvSpPr>
          <p:spPr bwMode="auto">
            <a:xfrm>
              <a:off x="1134" y="1950"/>
              <a:ext cx="0" cy="64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84" name="Text Box 12"/>
            <p:cNvSpPr txBox="1">
              <a:spLocks noChangeArrowheads="1"/>
            </p:cNvSpPr>
            <p:nvPr/>
          </p:nvSpPr>
          <p:spPr bwMode="auto">
            <a:xfrm>
              <a:off x="336" y="1841"/>
              <a:ext cx="3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1/2</a:t>
              </a:r>
            </a:p>
          </p:txBody>
        </p:sp>
        <p:sp>
          <p:nvSpPr>
            <p:cNvPr id="3088" name="Text Box 16"/>
            <p:cNvSpPr txBox="1">
              <a:spLocks noChangeArrowheads="1"/>
            </p:cNvSpPr>
            <p:nvPr/>
          </p:nvSpPr>
          <p:spPr bwMode="auto">
            <a:xfrm>
              <a:off x="1034" y="2544"/>
              <a:ext cx="3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t</a:t>
              </a:r>
              <a:r>
                <a:rPr lang="en-US" altLang="zh-CN" b="1" i="1" baseline="-25000"/>
                <a:t>m</a:t>
              </a:r>
              <a:endParaRPr lang="en-US" altLang="zh-CN" b="1" i="1"/>
            </a:p>
          </p:txBody>
        </p:sp>
      </p:grpSp>
      <p:grpSp>
        <p:nvGrpSpPr>
          <p:cNvPr id="3127" name="Group 55"/>
          <p:cNvGrpSpPr>
            <a:grpSpLocks/>
          </p:cNvGrpSpPr>
          <p:nvPr/>
        </p:nvGrpSpPr>
        <p:grpSpPr bwMode="auto">
          <a:xfrm>
            <a:off x="692150" y="1524000"/>
            <a:ext cx="3879850" cy="3033713"/>
            <a:chOff x="436" y="960"/>
            <a:chExt cx="2444" cy="1911"/>
          </a:xfrm>
        </p:grpSpPr>
        <p:sp>
          <p:nvSpPr>
            <p:cNvPr id="3075" name="Line 3"/>
            <p:cNvSpPr>
              <a:spLocks noChangeShapeType="1"/>
            </p:cNvSpPr>
            <p:nvPr/>
          </p:nvSpPr>
          <p:spPr bwMode="auto">
            <a:xfrm>
              <a:off x="635" y="2594"/>
              <a:ext cx="194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 name="Line 4"/>
            <p:cNvSpPr>
              <a:spLocks noChangeShapeType="1"/>
            </p:cNvSpPr>
            <p:nvPr/>
          </p:nvSpPr>
          <p:spPr bwMode="auto">
            <a:xfrm flipV="1">
              <a:off x="635" y="1059"/>
              <a:ext cx="0" cy="153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80" name="Arc 8"/>
            <p:cNvSpPr>
              <a:spLocks/>
            </p:cNvSpPr>
            <p:nvPr/>
          </p:nvSpPr>
          <p:spPr bwMode="auto">
            <a:xfrm flipV="1">
              <a:off x="635" y="1920"/>
              <a:ext cx="499" cy="37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81" name="Arc 9"/>
            <p:cNvSpPr>
              <a:spLocks/>
            </p:cNvSpPr>
            <p:nvPr/>
          </p:nvSpPr>
          <p:spPr bwMode="auto">
            <a:xfrm flipH="1">
              <a:off x="1132" y="1356"/>
              <a:ext cx="932" cy="737"/>
            </a:xfrm>
            <a:custGeom>
              <a:avLst/>
              <a:gdLst>
                <a:gd name="G0" fmla="+- 0 0 0"/>
                <a:gd name="G1" fmla="+- 21448 0 0"/>
                <a:gd name="G2" fmla="+- 21600 0 0"/>
                <a:gd name="T0" fmla="*/ 2555 w 21226"/>
                <a:gd name="T1" fmla="*/ 0 h 21448"/>
                <a:gd name="T2" fmla="*/ 21226 w 21226"/>
                <a:gd name="T3" fmla="*/ 17445 h 21448"/>
                <a:gd name="T4" fmla="*/ 0 w 21226"/>
                <a:gd name="T5" fmla="*/ 21448 h 21448"/>
              </a:gdLst>
              <a:ahLst/>
              <a:cxnLst>
                <a:cxn ang="0">
                  <a:pos x="T0" y="T1"/>
                </a:cxn>
                <a:cxn ang="0">
                  <a:pos x="T2" y="T3"/>
                </a:cxn>
                <a:cxn ang="0">
                  <a:pos x="T4" y="T5"/>
                </a:cxn>
              </a:cxnLst>
              <a:rect l="0" t="0" r="r" b="b"/>
              <a:pathLst>
                <a:path w="21226" h="21448" fill="none" extrusionOk="0">
                  <a:moveTo>
                    <a:pt x="2555" y="-1"/>
                  </a:moveTo>
                  <a:cubicBezTo>
                    <a:pt x="11919" y="1115"/>
                    <a:pt x="19478" y="8177"/>
                    <a:pt x="21225" y="17445"/>
                  </a:cubicBezTo>
                </a:path>
                <a:path w="21226" h="21448" stroke="0" extrusionOk="0">
                  <a:moveTo>
                    <a:pt x="2555" y="-1"/>
                  </a:moveTo>
                  <a:cubicBezTo>
                    <a:pt x="11919" y="1115"/>
                    <a:pt x="19478" y="8177"/>
                    <a:pt x="21225" y="17445"/>
                  </a:cubicBezTo>
                  <a:lnTo>
                    <a:pt x="0" y="21448"/>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82" name="Text Box 10"/>
            <p:cNvSpPr txBox="1">
              <a:spLocks noChangeArrowheads="1"/>
            </p:cNvSpPr>
            <p:nvPr/>
          </p:nvSpPr>
          <p:spPr bwMode="auto">
            <a:xfrm>
              <a:off x="685" y="960"/>
              <a:ext cx="3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p>
          </p:txBody>
        </p:sp>
        <p:sp>
          <p:nvSpPr>
            <p:cNvPr id="3083" name="Text Box 11"/>
            <p:cNvSpPr txBox="1">
              <a:spLocks noChangeArrowheads="1"/>
            </p:cNvSpPr>
            <p:nvPr/>
          </p:nvSpPr>
          <p:spPr bwMode="auto">
            <a:xfrm>
              <a:off x="436" y="2148"/>
              <a:ext cx="4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0</a:t>
              </a:r>
              <a:endParaRPr lang="en-US" altLang="zh-CN" b="1"/>
            </a:p>
          </p:txBody>
        </p:sp>
        <p:sp>
          <p:nvSpPr>
            <p:cNvPr id="3086" name="Text Box 14"/>
            <p:cNvSpPr txBox="1">
              <a:spLocks noChangeArrowheads="1"/>
            </p:cNvSpPr>
            <p:nvPr/>
          </p:nvSpPr>
          <p:spPr bwMode="auto">
            <a:xfrm>
              <a:off x="486" y="1208"/>
              <a:ext cx="2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1</a:t>
              </a:r>
            </a:p>
          </p:txBody>
        </p:sp>
        <p:sp>
          <p:nvSpPr>
            <p:cNvPr id="3087" name="Text Box 15"/>
            <p:cNvSpPr txBox="1">
              <a:spLocks noChangeArrowheads="1"/>
            </p:cNvSpPr>
            <p:nvPr/>
          </p:nvSpPr>
          <p:spPr bwMode="auto">
            <a:xfrm>
              <a:off x="486" y="2534"/>
              <a:ext cx="3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0</a:t>
              </a:r>
            </a:p>
          </p:txBody>
        </p:sp>
        <p:sp>
          <p:nvSpPr>
            <p:cNvPr id="3089" name="Text Box 17"/>
            <p:cNvSpPr txBox="1">
              <a:spLocks noChangeArrowheads="1"/>
            </p:cNvSpPr>
            <p:nvPr/>
          </p:nvSpPr>
          <p:spPr bwMode="auto">
            <a:xfrm>
              <a:off x="2431" y="2583"/>
              <a:ext cx="44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t</a:t>
              </a:r>
            </a:p>
          </p:txBody>
        </p:sp>
        <p:sp>
          <p:nvSpPr>
            <p:cNvPr id="3113" name="Line 41"/>
            <p:cNvSpPr>
              <a:spLocks noChangeShapeType="1"/>
            </p:cNvSpPr>
            <p:nvPr/>
          </p:nvSpPr>
          <p:spPr bwMode="auto">
            <a:xfrm flipH="1">
              <a:off x="635" y="1307"/>
              <a:ext cx="149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3115" name="Object 43"/>
          <p:cNvGraphicFramePr>
            <a:graphicFrameLocks noChangeAspect="1"/>
          </p:cNvGraphicFramePr>
          <p:nvPr/>
        </p:nvGraphicFramePr>
        <p:xfrm>
          <a:off x="4800600" y="3733800"/>
          <a:ext cx="3352800" cy="1211263"/>
        </p:xfrm>
        <a:graphic>
          <a:graphicData uri="http://schemas.openxmlformats.org/presentationml/2006/ole">
            <mc:AlternateContent xmlns:mc="http://schemas.openxmlformats.org/markup-compatibility/2006">
              <mc:Choice xmlns:v="urn:schemas-microsoft-com:vml" Requires="v">
                <p:oleObj spid="_x0000_s4392" name="公式" r:id="rId8" imgW="1307880" imgH="571320" progId="Equation.3">
                  <p:embed/>
                </p:oleObj>
              </mc:Choice>
              <mc:Fallback>
                <p:oleObj name="公式" r:id="rId8" imgW="1307880" imgH="571320" progId="Equation.3">
                  <p:embed/>
                  <p:pic>
                    <p:nvPicPr>
                      <p:cNvPr id="3115" name="Object 4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0" y="3733800"/>
                        <a:ext cx="3352800" cy="1211263"/>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16" name="Text Box 44"/>
          <p:cNvSpPr txBox="1">
            <a:spLocks noChangeArrowheads="1"/>
          </p:cNvSpPr>
          <p:nvPr/>
        </p:nvSpPr>
        <p:spPr bwMode="auto">
          <a:xfrm>
            <a:off x="609600" y="5195888"/>
            <a:ext cx="4682480" cy="51911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t>t</a:t>
            </a:r>
            <a:r>
              <a:rPr lang="en-US" altLang="zh-CN" sz="2800" b="1" i="1" baseline="-25000" dirty="0"/>
              <a:t>m</a:t>
            </a:r>
            <a:r>
              <a:rPr lang="en-US" altLang="zh-CN" sz="2800" b="1" dirty="0"/>
              <a:t>~</a:t>
            </a:r>
            <a:r>
              <a:rPr lang="zh-CN" altLang="en-US" sz="2800" b="1" dirty="0"/>
              <a:t>传染病高潮到来时刻</a:t>
            </a:r>
          </a:p>
        </p:txBody>
      </p:sp>
      <p:sp>
        <p:nvSpPr>
          <p:cNvPr id="3118" name="Text Box 46"/>
          <p:cNvSpPr txBox="1">
            <a:spLocks noChangeArrowheads="1"/>
          </p:cNvSpPr>
          <p:nvPr/>
        </p:nvSpPr>
        <p:spPr bwMode="auto">
          <a:xfrm>
            <a:off x="609600" y="5867400"/>
            <a:ext cx="3962400" cy="5191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ym typeface="Symbol" panose="05050102010706020507" pitchFamily="18" charset="2"/>
              </a:rPr>
              <a:t></a:t>
            </a:r>
            <a:r>
              <a:rPr lang="en-US" altLang="zh-CN" sz="2800" b="1" dirty="0">
                <a:sym typeface="Symbol" panose="05050102010706020507" pitchFamily="18" charset="2"/>
              </a:rPr>
              <a:t> (</a:t>
            </a:r>
            <a:r>
              <a:rPr lang="zh-CN" altLang="en-US" sz="2800" b="1" dirty="0">
                <a:sym typeface="Symbol" panose="05050102010706020507" pitchFamily="18" charset="2"/>
              </a:rPr>
              <a:t>日接触率</a:t>
            </a:r>
            <a:r>
              <a:rPr lang="en-US" altLang="zh-CN" sz="2800" b="1" dirty="0">
                <a:sym typeface="Symbol" panose="05050102010706020507" pitchFamily="18" charset="2"/>
              </a:rPr>
              <a:t>)    </a:t>
            </a:r>
            <a:r>
              <a:rPr lang="en-US" altLang="zh-CN" sz="2800" b="1" i="1" dirty="0"/>
              <a:t>t</a:t>
            </a:r>
            <a:r>
              <a:rPr lang="en-US" altLang="zh-CN" sz="2800" b="1" i="1" baseline="-25000" dirty="0"/>
              <a:t>m</a:t>
            </a:r>
            <a:r>
              <a:rPr lang="en-US" altLang="zh-CN" sz="2800" b="1" dirty="0">
                <a:sym typeface="Symbol" panose="05050102010706020507" pitchFamily="18" charset="2"/>
              </a:rPr>
              <a:t></a:t>
            </a:r>
          </a:p>
        </p:txBody>
      </p:sp>
      <p:graphicFrame>
        <p:nvGraphicFramePr>
          <p:cNvPr id="3120" name="Object 48"/>
          <p:cNvGraphicFramePr>
            <a:graphicFrameLocks noChangeAspect="1"/>
          </p:cNvGraphicFramePr>
          <p:nvPr/>
        </p:nvGraphicFramePr>
        <p:xfrm>
          <a:off x="4876800" y="5076825"/>
          <a:ext cx="2746375" cy="552450"/>
        </p:xfrm>
        <a:graphic>
          <a:graphicData uri="http://schemas.openxmlformats.org/presentationml/2006/ole">
            <mc:AlternateContent xmlns:mc="http://schemas.openxmlformats.org/markup-compatibility/2006">
              <mc:Choice xmlns:v="urn:schemas-microsoft-com:vml" Requires="v">
                <p:oleObj spid="_x0000_s4393" name="公式" r:id="rId10" imgW="977760" imgH="203040" progId="Equation.3">
                  <p:embed/>
                </p:oleObj>
              </mc:Choice>
              <mc:Fallback>
                <p:oleObj name="公式" r:id="rId10" imgW="977760" imgH="203040" progId="Equation.3">
                  <p:embed/>
                  <p:pic>
                    <p:nvPicPr>
                      <p:cNvPr id="3120" name="Object 48"/>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76800" y="5076825"/>
                        <a:ext cx="2746375" cy="5524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22" name="Group 50"/>
          <p:cNvGrpSpPr>
            <a:grpSpLocks/>
          </p:cNvGrpSpPr>
          <p:nvPr/>
        </p:nvGrpSpPr>
        <p:grpSpPr bwMode="auto">
          <a:xfrm>
            <a:off x="5943600" y="685800"/>
            <a:ext cx="2590800" cy="519113"/>
            <a:chOff x="3744" y="345"/>
            <a:chExt cx="1632" cy="327"/>
          </a:xfrm>
        </p:grpSpPr>
        <p:sp>
          <p:nvSpPr>
            <p:cNvPr id="3112" name="Text Box 40"/>
            <p:cNvSpPr txBox="1">
              <a:spLocks noChangeArrowheads="1"/>
            </p:cNvSpPr>
            <p:nvPr/>
          </p:nvSpPr>
          <p:spPr bwMode="auto">
            <a:xfrm>
              <a:off x="3984" y="345"/>
              <a:ext cx="139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a:t>Logistic </a:t>
              </a:r>
              <a:r>
                <a:rPr lang="zh-CN" altLang="en-US" sz="2800"/>
                <a:t>模型</a:t>
              </a:r>
            </a:p>
          </p:txBody>
        </p:sp>
        <p:sp>
          <p:nvSpPr>
            <p:cNvPr id="3121" name="AutoShape 49"/>
            <p:cNvSpPr>
              <a:spLocks noChangeArrowheads="1"/>
            </p:cNvSpPr>
            <p:nvPr/>
          </p:nvSpPr>
          <p:spPr bwMode="auto">
            <a:xfrm>
              <a:off x="3744" y="384"/>
              <a:ext cx="144" cy="288"/>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123" name="Text Box 51"/>
          <p:cNvSpPr txBox="1">
            <a:spLocks noChangeArrowheads="1"/>
          </p:cNvSpPr>
          <p:nvPr/>
        </p:nvSpPr>
        <p:spPr bwMode="auto">
          <a:xfrm>
            <a:off x="4876800" y="5795963"/>
            <a:ext cx="2743200" cy="5191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rgbClr val="FF0000"/>
                </a:solidFill>
              </a:rPr>
              <a:t>病人可以治愈！</a:t>
            </a:r>
          </a:p>
        </p:txBody>
      </p:sp>
      <p:sp>
        <p:nvSpPr>
          <p:cNvPr id="3124" name="Text Box 52"/>
          <p:cNvSpPr txBox="1">
            <a:spLocks noChangeArrowheads="1"/>
          </p:cNvSpPr>
          <p:nvPr/>
        </p:nvSpPr>
        <p:spPr bwMode="auto">
          <a:xfrm>
            <a:off x="7620000" y="5029200"/>
            <a:ext cx="533400" cy="579438"/>
          </a:xfrm>
          <a:prstGeom prst="rect">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3200" b="1"/>
              <a:t>?</a:t>
            </a:r>
          </a:p>
        </p:txBody>
      </p:sp>
      <p:sp>
        <p:nvSpPr>
          <p:cNvPr id="3128" name="Text Box 56"/>
          <p:cNvSpPr txBox="1">
            <a:spLocks noChangeArrowheads="1"/>
          </p:cNvSpPr>
          <p:nvPr/>
        </p:nvSpPr>
        <p:spPr bwMode="auto">
          <a:xfrm>
            <a:off x="609599" y="4572000"/>
            <a:ext cx="3660775" cy="519113"/>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t>t=t</a:t>
            </a:r>
            <a:r>
              <a:rPr lang="en-US" altLang="zh-CN" sz="2800" b="1" i="1" baseline="-25000" dirty="0"/>
              <a:t>m</a:t>
            </a:r>
            <a:r>
              <a:rPr lang="en-US" altLang="zh-CN" sz="2800" b="1" dirty="0"/>
              <a:t>, </a:t>
            </a:r>
            <a:r>
              <a:rPr lang="en-US" altLang="zh-CN" sz="2800" b="1" i="1" dirty="0"/>
              <a:t>di</a:t>
            </a:r>
            <a:r>
              <a:rPr lang="en-US" altLang="zh-CN" sz="2800" b="1" dirty="0"/>
              <a:t>/</a:t>
            </a:r>
            <a:r>
              <a:rPr lang="en-US" altLang="zh-CN" sz="2800" b="1" i="1" dirty="0" err="1"/>
              <a:t>dt</a:t>
            </a:r>
            <a:r>
              <a:rPr lang="en-US" altLang="zh-CN" sz="2800" b="1" i="1" dirty="0"/>
              <a:t> </a:t>
            </a:r>
            <a:r>
              <a:rPr lang="zh-CN" altLang="zh-CN" sz="2800" b="1" dirty="0"/>
              <a:t>最大</a:t>
            </a:r>
            <a:endParaRPr lang="zh-CN" altLang="en-US" sz="2800" b="1" dirty="0"/>
          </a:p>
        </p:txBody>
      </p:sp>
    </p:spTree>
    <p:extLst>
      <p:ext uri="{BB962C8B-B14F-4D97-AF65-F5344CB8AC3E}">
        <p14:creationId xmlns:p14="http://schemas.microsoft.com/office/powerpoint/2010/main" val="4910930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1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1" fill="hold" nodeType="clickEffect">
                                  <p:stCondLst>
                                    <p:cond delay="0"/>
                                  </p:stCondLst>
                                  <p:childTnLst>
                                    <p:set>
                                      <p:cBhvr>
                                        <p:cTn id="10" dur="1" fill="hold">
                                          <p:stCondLst>
                                            <p:cond delay="0"/>
                                          </p:stCondLst>
                                        </p:cTn>
                                        <p:tgtEl>
                                          <p:spTgt spid="3122"/>
                                        </p:tgtEl>
                                        <p:attrNameLst>
                                          <p:attrName>style.visibility</p:attrName>
                                        </p:attrNameLst>
                                      </p:cBhvr>
                                      <p:to>
                                        <p:strVal val="visible"/>
                                      </p:to>
                                    </p:set>
                                    <p:anim calcmode="lin" valueType="num">
                                      <p:cBhvr additive="base">
                                        <p:cTn id="11" dur="500" fill="hold"/>
                                        <p:tgtEl>
                                          <p:spTgt spid="3122"/>
                                        </p:tgtEl>
                                        <p:attrNameLst>
                                          <p:attrName>ppt_x</p:attrName>
                                        </p:attrNameLst>
                                      </p:cBhvr>
                                      <p:tavLst>
                                        <p:tav tm="0">
                                          <p:val>
                                            <p:strVal val="#ppt_x"/>
                                          </p:val>
                                        </p:tav>
                                        <p:tav tm="100000">
                                          <p:val>
                                            <p:strVal val="#ppt_x"/>
                                          </p:val>
                                        </p:tav>
                                      </p:tavLst>
                                    </p:anim>
                                    <p:anim calcmode="lin" valueType="num">
                                      <p:cBhvr additive="base">
                                        <p:cTn id="12" dur="500" fill="hold"/>
                                        <p:tgtEl>
                                          <p:spTgt spid="3122"/>
                                        </p:tgtEl>
                                        <p:attrNameLst>
                                          <p:attrName>ppt_y</p:attrName>
                                        </p:attrNameLst>
                                      </p:cBhvr>
                                      <p:tavLst>
                                        <p:tav tm="0">
                                          <p:val>
                                            <p:strVal val="0-#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127"/>
                                        </p:tgtEl>
                                        <p:attrNameLst>
                                          <p:attrName>style.visibility</p:attrName>
                                        </p:attrNameLst>
                                      </p:cBhvr>
                                      <p:to>
                                        <p:strVal val="visible"/>
                                      </p:to>
                                    </p:set>
                                    <p:animEffect transition="in" filter="box(out)">
                                      <p:cBhvr>
                                        <p:cTn id="17" dur="500"/>
                                        <p:tgtEl>
                                          <p:spTgt spid="31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107"/>
                                        </p:tgtEl>
                                        <p:attrNameLst>
                                          <p:attrName>style.visibility</p:attrName>
                                        </p:attrNameLst>
                                      </p:cBhvr>
                                      <p:to>
                                        <p:strVal val="visible"/>
                                      </p:to>
                                    </p:set>
                                    <p:animEffect transition="in" filter="box(out)">
                                      <p:cBhvr>
                                        <p:cTn id="22" dur="500"/>
                                        <p:tgtEl>
                                          <p:spTgt spid="310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126"/>
                                        </p:tgtEl>
                                        <p:attrNameLst>
                                          <p:attrName>style.visibility</p:attrName>
                                        </p:attrNameLst>
                                      </p:cBhvr>
                                      <p:to>
                                        <p:strVal val="visible"/>
                                      </p:to>
                                    </p:set>
                                    <p:animEffect transition="in" filter="box(in)">
                                      <p:cBhvr>
                                        <p:cTn id="27" dur="500"/>
                                        <p:tgtEl>
                                          <p:spTgt spid="31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5" fill="hold" grpId="0" nodeType="clickEffect">
                                  <p:stCondLst>
                                    <p:cond delay="0"/>
                                  </p:stCondLst>
                                  <p:childTnLst>
                                    <p:set>
                                      <p:cBhvr>
                                        <p:cTn id="31" dur="1" fill="hold">
                                          <p:stCondLst>
                                            <p:cond delay="0"/>
                                          </p:stCondLst>
                                        </p:cTn>
                                        <p:tgtEl>
                                          <p:spTgt spid="3128"/>
                                        </p:tgtEl>
                                        <p:attrNameLst>
                                          <p:attrName>style.visibility</p:attrName>
                                        </p:attrNameLst>
                                      </p:cBhvr>
                                      <p:to>
                                        <p:strVal val="visible"/>
                                      </p:to>
                                    </p:set>
                                    <p:animEffect transition="in" filter="checkerboard(down)">
                                      <p:cBhvr>
                                        <p:cTn id="32" dur="500"/>
                                        <p:tgtEl>
                                          <p:spTgt spid="31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116"/>
                                        </p:tgtEl>
                                        <p:attrNameLst>
                                          <p:attrName>style.visibility</p:attrName>
                                        </p:attrNameLst>
                                      </p:cBhvr>
                                      <p:to>
                                        <p:strVal val="visible"/>
                                      </p:to>
                                    </p:set>
                                    <p:animEffect transition="in" filter="box(in)">
                                      <p:cBhvr>
                                        <p:cTn id="37" dur="500"/>
                                        <p:tgtEl>
                                          <p:spTgt spid="31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115"/>
                                        </p:tgtEl>
                                        <p:attrNameLst>
                                          <p:attrName>style.visibility</p:attrName>
                                        </p:attrNameLst>
                                      </p:cBhvr>
                                      <p:to>
                                        <p:strVal val="visible"/>
                                      </p:to>
                                    </p:set>
                                    <p:animEffect transition="in" filter="blinds(horizontal)">
                                      <p:cBhvr>
                                        <p:cTn id="42" dur="500"/>
                                        <p:tgtEl>
                                          <p:spTgt spid="31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10" fill="hold" grpId="0" nodeType="clickEffect">
                                  <p:stCondLst>
                                    <p:cond delay="0"/>
                                  </p:stCondLst>
                                  <p:childTnLst>
                                    <p:set>
                                      <p:cBhvr>
                                        <p:cTn id="46" dur="1" fill="hold">
                                          <p:stCondLst>
                                            <p:cond delay="0"/>
                                          </p:stCondLst>
                                        </p:cTn>
                                        <p:tgtEl>
                                          <p:spTgt spid="3118"/>
                                        </p:tgtEl>
                                        <p:attrNameLst>
                                          <p:attrName>style.visibility</p:attrName>
                                        </p:attrNameLst>
                                      </p:cBhvr>
                                      <p:to>
                                        <p:strVal val="visible"/>
                                      </p:to>
                                    </p:set>
                                    <p:anim calcmode="lin" valueType="num">
                                      <p:cBhvr>
                                        <p:cTn id="47" dur="500" fill="hold"/>
                                        <p:tgtEl>
                                          <p:spTgt spid="3118"/>
                                        </p:tgtEl>
                                        <p:attrNameLst>
                                          <p:attrName>ppt_w</p:attrName>
                                        </p:attrNameLst>
                                      </p:cBhvr>
                                      <p:tavLst>
                                        <p:tav tm="0">
                                          <p:val>
                                            <p:fltVal val="0"/>
                                          </p:val>
                                        </p:tav>
                                        <p:tav tm="100000">
                                          <p:val>
                                            <p:strVal val="#ppt_w"/>
                                          </p:val>
                                        </p:tav>
                                      </p:tavLst>
                                    </p:anim>
                                    <p:anim calcmode="lin" valueType="num">
                                      <p:cBhvr>
                                        <p:cTn id="48" dur="500" fill="hold"/>
                                        <p:tgtEl>
                                          <p:spTgt spid="3118"/>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3120"/>
                                        </p:tgtEl>
                                        <p:attrNameLst>
                                          <p:attrName>style.visibility</p:attrName>
                                        </p:attrNameLst>
                                      </p:cBhvr>
                                      <p:to>
                                        <p:strVal val="visible"/>
                                      </p:to>
                                    </p:set>
                                    <p:animEffect transition="in" filter="box(in)">
                                      <p:cBhvr>
                                        <p:cTn id="53" dur="500"/>
                                        <p:tgtEl>
                                          <p:spTgt spid="312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16" fill="hold" grpId="0" nodeType="clickEffect">
                                  <p:stCondLst>
                                    <p:cond delay="0"/>
                                  </p:stCondLst>
                                  <p:childTnLst>
                                    <p:set>
                                      <p:cBhvr>
                                        <p:cTn id="57" dur="1" fill="hold">
                                          <p:stCondLst>
                                            <p:cond delay="0"/>
                                          </p:stCondLst>
                                        </p:cTn>
                                        <p:tgtEl>
                                          <p:spTgt spid="3124"/>
                                        </p:tgtEl>
                                        <p:attrNameLst>
                                          <p:attrName>style.visibility</p:attrName>
                                        </p:attrNameLst>
                                      </p:cBhvr>
                                      <p:to>
                                        <p:strVal val="visible"/>
                                      </p:to>
                                    </p:set>
                                    <p:anim calcmode="lin" valueType="num">
                                      <p:cBhvr>
                                        <p:cTn id="58" dur="500" fill="hold"/>
                                        <p:tgtEl>
                                          <p:spTgt spid="3124"/>
                                        </p:tgtEl>
                                        <p:attrNameLst>
                                          <p:attrName>ppt_w</p:attrName>
                                        </p:attrNameLst>
                                      </p:cBhvr>
                                      <p:tavLst>
                                        <p:tav tm="0">
                                          <p:val>
                                            <p:fltVal val="0"/>
                                          </p:val>
                                        </p:tav>
                                        <p:tav tm="100000">
                                          <p:val>
                                            <p:strVal val="#ppt_w"/>
                                          </p:val>
                                        </p:tav>
                                      </p:tavLst>
                                    </p:anim>
                                    <p:anim calcmode="lin" valueType="num">
                                      <p:cBhvr>
                                        <p:cTn id="59" dur="500" fill="hold"/>
                                        <p:tgtEl>
                                          <p:spTgt spid="3124"/>
                                        </p:tgtEl>
                                        <p:attrNameLst>
                                          <p:attrName>ppt_h</p:attrName>
                                        </p:attrNameLst>
                                      </p:cBhvr>
                                      <p:tavLst>
                                        <p:tav tm="0">
                                          <p:val>
                                            <p:fltVal val="0"/>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6" presetClass="entr" presetSubtype="26" fill="hold" grpId="0" nodeType="clickEffect">
                                  <p:stCondLst>
                                    <p:cond delay="0"/>
                                  </p:stCondLst>
                                  <p:childTnLst>
                                    <p:set>
                                      <p:cBhvr>
                                        <p:cTn id="63" dur="1" fill="hold">
                                          <p:stCondLst>
                                            <p:cond delay="0"/>
                                          </p:stCondLst>
                                        </p:cTn>
                                        <p:tgtEl>
                                          <p:spTgt spid="3123"/>
                                        </p:tgtEl>
                                        <p:attrNameLst>
                                          <p:attrName>style.visibility</p:attrName>
                                        </p:attrNameLst>
                                      </p:cBhvr>
                                      <p:to>
                                        <p:strVal val="visible"/>
                                      </p:to>
                                    </p:set>
                                    <p:animEffect transition="in" filter="barn(inHorizontal)">
                                      <p:cBhvr>
                                        <p:cTn id="64" dur="500"/>
                                        <p:tgtEl>
                                          <p:spTgt spid="3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6" grpId="0" autoUpdateAnimBg="0"/>
      <p:bldP spid="3118" grpId="0" autoUpdateAnimBg="0"/>
      <p:bldP spid="3123" grpId="0" autoUpdateAnimBg="0"/>
      <p:bldP spid="3124" grpId="0" animBg="1" autoUpdateAnimBg="0"/>
      <p:bldP spid="312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01" name="Text Box 5"/>
          <p:cNvSpPr txBox="1">
            <a:spLocks noChangeArrowheads="1"/>
          </p:cNvSpPr>
          <p:nvPr/>
        </p:nvSpPr>
        <p:spPr bwMode="auto">
          <a:xfrm>
            <a:off x="152400" y="730250"/>
            <a:ext cx="1371600"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dirty="0">
                <a:ea typeface="楷体_GB2312" pitchFamily="49" charset="-122"/>
              </a:rPr>
              <a:t>模型</a:t>
            </a:r>
            <a:r>
              <a:rPr lang="en-US" altLang="zh-CN" sz="3200" b="1" dirty="0"/>
              <a:t>3</a:t>
            </a:r>
          </a:p>
        </p:txBody>
      </p:sp>
      <p:sp>
        <p:nvSpPr>
          <p:cNvPr id="4102" name="Text Box 6"/>
          <p:cNvSpPr txBox="1">
            <a:spLocks noChangeArrowheads="1"/>
          </p:cNvSpPr>
          <p:nvPr/>
        </p:nvSpPr>
        <p:spPr bwMode="auto">
          <a:xfrm>
            <a:off x="1981200" y="654050"/>
            <a:ext cx="5257800" cy="11176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dirty="0"/>
              <a:t>传染病无免疫性</a:t>
            </a:r>
            <a:r>
              <a:rPr lang="en-US" altLang="zh-CN" sz="2800" b="1" dirty="0"/>
              <a:t>——</a:t>
            </a:r>
            <a:r>
              <a:rPr lang="zh-CN" altLang="en-US" sz="2800" b="1" dirty="0"/>
              <a:t>病人治愈成为健康人，健康人可再次被感染</a:t>
            </a:r>
          </a:p>
        </p:txBody>
      </p:sp>
      <p:sp>
        <p:nvSpPr>
          <p:cNvPr id="4103" name="Text Box 7"/>
          <p:cNvSpPr txBox="1">
            <a:spLocks noChangeArrowheads="1"/>
          </p:cNvSpPr>
          <p:nvPr/>
        </p:nvSpPr>
        <p:spPr bwMode="auto">
          <a:xfrm>
            <a:off x="152400" y="1963738"/>
            <a:ext cx="1752600" cy="51911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ea typeface="楷体_GB2312" pitchFamily="49" charset="-122"/>
              </a:rPr>
              <a:t>增加假设</a:t>
            </a:r>
          </a:p>
        </p:txBody>
      </p:sp>
      <p:sp>
        <p:nvSpPr>
          <p:cNvPr id="4104" name="Text Box 8"/>
          <p:cNvSpPr txBox="1">
            <a:spLocks noChangeArrowheads="1"/>
          </p:cNvSpPr>
          <p:nvPr/>
        </p:nvSpPr>
        <p:spPr bwMode="auto">
          <a:xfrm>
            <a:off x="7390928" y="1035050"/>
            <a:ext cx="16764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t>SIS </a:t>
            </a:r>
            <a:r>
              <a:rPr lang="zh-CN" altLang="zh-CN" sz="2800" b="1" dirty="0">
                <a:ea typeface="楷体_GB2312" pitchFamily="49" charset="-122"/>
              </a:rPr>
              <a:t>模型</a:t>
            </a:r>
            <a:endParaRPr lang="zh-CN" altLang="en-US" sz="2800" b="1" dirty="0">
              <a:ea typeface="楷体_GB2312" pitchFamily="49" charset="-122"/>
            </a:endParaRPr>
          </a:p>
        </p:txBody>
      </p:sp>
      <p:sp>
        <p:nvSpPr>
          <p:cNvPr id="4105" name="Text Box 9"/>
          <p:cNvSpPr txBox="1">
            <a:spLocks noChangeArrowheads="1"/>
          </p:cNvSpPr>
          <p:nvPr/>
        </p:nvSpPr>
        <p:spPr bwMode="auto">
          <a:xfrm>
            <a:off x="2057400" y="1873250"/>
            <a:ext cx="4572000" cy="604838"/>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sz="2800" b="1" dirty="0"/>
              <a:t>3</a:t>
            </a:r>
            <a:r>
              <a:rPr lang="zh-CN" altLang="en-US" sz="2800" b="1" dirty="0"/>
              <a:t>）病人每天治愈的比例为</a:t>
            </a:r>
            <a:r>
              <a:rPr lang="zh-CN" altLang="en-US" sz="2800" b="1" i="1" dirty="0">
                <a:sym typeface="Symbol" panose="05050102010706020507" pitchFamily="18" charset="2"/>
              </a:rPr>
              <a:t></a:t>
            </a:r>
            <a:endParaRPr lang="zh-CN" altLang="en-US" sz="2800" b="1" i="1" dirty="0"/>
          </a:p>
        </p:txBody>
      </p:sp>
      <p:sp>
        <p:nvSpPr>
          <p:cNvPr id="4106" name="Text Box 10"/>
          <p:cNvSpPr txBox="1">
            <a:spLocks noChangeArrowheads="1"/>
          </p:cNvSpPr>
          <p:nvPr/>
        </p:nvSpPr>
        <p:spPr bwMode="auto">
          <a:xfrm>
            <a:off x="6781800" y="1887538"/>
            <a:ext cx="2285528" cy="519112"/>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sym typeface="Symbol" panose="05050102010706020507" pitchFamily="18" charset="2"/>
              </a:rPr>
              <a:t> </a:t>
            </a:r>
            <a:r>
              <a:rPr lang="en-US" altLang="zh-CN" sz="2800" b="1" dirty="0">
                <a:sym typeface="Symbol" panose="05050102010706020507" pitchFamily="18" charset="2"/>
              </a:rPr>
              <a:t>~</a:t>
            </a:r>
            <a:r>
              <a:rPr lang="zh-CN" altLang="en-US" sz="2800" b="1" dirty="0">
                <a:sym typeface="Symbol" panose="05050102010706020507" pitchFamily="18" charset="2"/>
              </a:rPr>
              <a:t>日</a:t>
            </a:r>
            <a:r>
              <a:rPr lang="zh-CN" altLang="en-US" sz="2800" b="1" dirty="0"/>
              <a:t>治愈率</a:t>
            </a:r>
          </a:p>
        </p:txBody>
      </p:sp>
      <p:graphicFrame>
        <p:nvGraphicFramePr>
          <p:cNvPr id="4107" name="Object 11"/>
          <p:cNvGraphicFramePr>
            <a:graphicFrameLocks noChangeAspect="1"/>
          </p:cNvGraphicFramePr>
          <p:nvPr/>
        </p:nvGraphicFramePr>
        <p:xfrm>
          <a:off x="1219200" y="2787650"/>
          <a:ext cx="7689850" cy="533400"/>
        </p:xfrm>
        <a:graphic>
          <a:graphicData uri="http://schemas.openxmlformats.org/presentationml/2006/ole">
            <mc:AlternateContent xmlns:mc="http://schemas.openxmlformats.org/markup-compatibility/2006">
              <mc:Choice xmlns:v="urn:schemas-microsoft-com:vml" Requires="v">
                <p:oleObj spid="_x0000_s5344" name="公式" r:id="rId3" imgW="3301920" imgH="241200" progId="Equation.3">
                  <p:embed/>
                </p:oleObj>
              </mc:Choice>
              <mc:Fallback>
                <p:oleObj name="公式" r:id="rId3" imgW="3301920" imgH="241200" progId="Equation.3">
                  <p:embed/>
                  <p:pic>
                    <p:nvPicPr>
                      <p:cNvPr id="4107" name="Object 11"/>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787650"/>
                        <a:ext cx="7689850" cy="5334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8" name="Text Box 12"/>
          <p:cNvSpPr txBox="1">
            <a:spLocks noChangeArrowheads="1"/>
          </p:cNvSpPr>
          <p:nvPr/>
        </p:nvSpPr>
        <p:spPr bwMode="auto">
          <a:xfrm>
            <a:off x="152400" y="2787650"/>
            <a:ext cx="9906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ea typeface="楷体_GB2312" pitchFamily="49" charset="-122"/>
              </a:rPr>
              <a:t>建模</a:t>
            </a:r>
          </a:p>
        </p:txBody>
      </p:sp>
      <p:graphicFrame>
        <p:nvGraphicFramePr>
          <p:cNvPr id="4110" name="Object 14"/>
          <p:cNvGraphicFramePr>
            <a:graphicFrameLocks noChangeAspect="1"/>
          </p:cNvGraphicFramePr>
          <p:nvPr/>
        </p:nvGraphicFramePr>
        <p:xfrm>
          <a:off x="1187450" y="5300663"/>
          <a:ext cx="1447800" cy="515937"/>
        </p:xfrm>
        <a:graphic>
          <a:graphicData uri="http://schemas.openxmlformats.org/presentationml/2006/ole">
            <mc:AlternateContent xmlns:mc="http://schemas.openxmlformats.org/markup-compatibility/2006">
              <mc:Choice xmlns:v="urn:schemas-microsoft-com:vml" Requires="v">
                <p:oleObj spid="_x0000_s5345" name="公式" r:id="rId5" imgW="711000" imgH="241200" progId="Equation.3">
                  <p:embed/>
                </p:oleObj>
              </mc:Choice>
              <mc:Fallback>
                <p:oleObj name="公式" r:id="rId5" imgW="711000" imgH="241200" progId="Equation.3">
                  <p:embed/>
                  <p:pic>
                    <p:nvPicPr>
                      <p:cNvPr id="4110" name="Object 14"/>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5300663"/>
                        <a:ext cx="1447800" cy="515937"/>
                      </a:xfrm>
                      <a:prstGeom prst="rect">
                        <a:avLst/>
                      </a:prstGeom>
                      <a:solidFill>
                        <a:srgbClr val="00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1" name="Text Box 15"/>
          <p:cNvSpPr txBox="1">
            <a:spLocks noChangeArrowheads="1"/>
          </p:cNvSpPr>
          <p:nvPr/>
        </p:nvSpPr>
        <p:spPr bwMode="auto">
          <a:xfrm>
            <a:off x="6444208" y="3702050"/>
            <a:ext cx="2623120" cy="5191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sym typeface="Symbol" panose="05050102010706020507" pitchFamily="18" charset="2"/>
              </a:rPr>
              <a:t> </a:t>
            </a:r>
            <a:r>
              <a:rPr lang="en-US" altLang="zh-CN" sz="2800" b="1" dirty="0">
                <a:sym typeface="Symbol" panose="05050102010706020507" pitchFamily="18" charset="2"/>
              </a:rPr>
              <a:t>~ </a:t>
            </a:r>
            <a:r>
              <a:rPr lang="zh-CN" altLang="en-US" sz="2800" b="1" dirty="0">
                <a:sym typeface="Symbol" panose="05050102010706020507" pitchFamily="18" charset="2"/>
              </a:rPr>
              <a:t>日接触率</a:t>
            </a:r>
          </a:p>
        </p:txBody>
      </p:sp>
      <p:sp>
        <p:nvSpPr>
          <p:cNvPr id="4112" name="Text Box 16"/>
          <p:cNvSpPr txBox="1">
            <a:spLocks noChangeArrowheads="1"/>
          </p:cNvSpPr>
          <p:nvPr/>
        </p:nvSpPr>
        <p:spPr bwMode="auto">
          <a:xfrm>
            <a:off x="6516216" y="4464050"/>
            <a:ext cx="2362200" cy="5191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sym typeface="Symbol" panose="05050102010706020507" pitchFamily="18" charset="2"/>
              </a:rPr>
              <a:t>1/</a:t>
            </a:r>
            <a:r>
              <a:rPr lang="en-US" altLang="zh-CN" sz="2800" b="1" i="1" dirty="0">
                <a:sym typeface="Symbol" panose="05050102010706020507" pitchFamily="18" charset="2"/>
              </a:rPr>
              <a:t> </a:t>
            </a:r>
            <a:r>
              <a:rPr lang="en-US" altLang="zh-CN" sz="2800" b="1" dirty="0">
                <a:sym typeface="Symbol" panose="05050102010706020507" pitchFamily="18" charset="2"/>
              </a:rPr>
              <a:t>~</a:t>
            </a:r>
            <a:r>
              <a:rPr lang="zh-CN" altLang="en-US" sz="2800" b="1" dirty="0">
                <a:sym typeface="Symbol" panose="05050102010706020507" pitchFamily="18" charset="2"/>
              </a:rPr>
              <a:t>感染期</a:t>
            </a:r>
            <a:endParaRPr lang="zh-CN" altLang="en-US" sz="2800" b="1" dirty="0"/>
          </a:p>
        </p:txBody>
      </p:sp>
      <p:sp>
        <p:nvSpPr>
          <p:cNvPr id="4113" name="Text Box 17"/>
          <p:cNvSpPr txBox="1">
            <a:spLocks noChangeArrowheads="1"/>
          </p:cNvSpPr>
          <p:nvPr/>
        </p:nvSpPr>
        <p:spPr bwMode="auto">
          <a:xfrm>
            <a:off x="3276600" y="5229225"/>
            <a:ext cx="5013325" cy="946150"/>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ym typeface="Symbol" panose="05050102010706020507" pitchFamily="18" charset="2"/>
              </a:rPr>
              <a:t> </a:t>
            </a:r>
            <a:r>
              <a:rPr lang="en-US" altLang="zh-CN" sz="2800" b="1" dirty="0">
                <a:sym typeface="Symbol" panose="05050102010706020507" pitchFamily="18" charset="2"/>
              </a:rPr>
              <a:t> ~ </a:t>
            </a:r>
            <a:r>
              <a:rPr lang="zh-CN" altLang="en-US" sz="2800" b="1" dirty="0">
                <a:sym typeface="Symbol" panose="05050102010706020507" pitchFamily="18" charset="2"/>
              </a:rPr>
              <a:t>一个感染期内</a:t>
            </a:r>
            <a:r>
              <a:rPr lang="zh-CN" altLang="en-US" sz="2800" b="1" dirty="0"/>
              <a:t>每个病人的有效接触人数，称为</a:t>
            </a:r>
            <a:r>
              <a:rPr lang="zh-CN" altLang="en-US" sz="2800" b="1" dirty="0">
                <a:solidFill>
                  <a:srgbClr val="FF3300"/>
                </a:solidFill>
              </a:rPr>
              <a:t>接触数</a:t>
            </a:r>
            <a:r>
              <a:rPr lang="zh-CN" altLang="en-US" sz="2800" b="1" dirty="0"/>
              <a:t>。</a:t>
            </a:r>
          </a:p>
        </p:txBody>
      </p:sp>
      <p:grpSp>
        <p:nvGrpSpPr>
          <p:cNvPr id="4115" name="Group 19"/>
          <p:cNvGrpSpPr>
            <a:grpSpLocks/>
          </p:cNvGrpSpPr>
          <p:nvPr/>
        </p:nvGrpSpPr>
        <p:grpSpPr bwMode="auto">
          <a:xfrm>
            <a:off x="609600" y="3473450"/>
            <a:ext cx="4572000" cy="1676400"/>
            <a:chOff x="384" y="1920"/>
            <a:chExt cx="2880" cy="1056"/>
          </a:xfrm>
        </p:grpSpPr>
        <p:graphicFrame>
          <p:nvGraphicFramePr>
            <p:cNvPr id="4100" name="Object 4"/>
            <p:cNvGraphicFramePr>
              <a:graphicFrameLocks noChangeAspect="1"/>
            </p:cNvGraphicFramePr>
            <p:nvPr/>
          </p:nvGraphicFramePr>
          <p:xfrm>
            <a:off x="720" y="1920"/>
            <a:ext cx="2544" cy="1056"/>
          </p:xfrm>
          <a:graphic>
            <a:graphicData uri="http://schemas.openxmlformats.org/presentationml/2006/ole">
              <mc:AlternateContent xmlns:mc="http://schemas.openxmlformats.org/markup-compatibility/2006">
                <mc:Choice xmlns:v="urn:schemas-microsoft-com:vml" Requires="v">
                  <p:oleObj spid="_x0000_s5346" name="公式" r:id="rId7" imgW="1434960" imgH="799920" progId="Equation.3">
                    <p:embed/>
                  </p:oleObj>
                </mc:Choice>
                <mc:Fallback>
                  <p:oleObj name="公式" r:id="rId7" imgW="1434960" imgH="799920" progId="Equation.3">
                    <p:embed/>
                    <p:pic>
                      <p:nvPicPr>
                        <p:cNvPr id="4100" name="Object 4"/>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0" y="1920"/>
                          <a:ext cx="2544" cy="1056"/>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4" name="AutoShape 18"/>
            <p:cNvSpPr>
              <a:spLocks noChangeArrowheads="1"/>
            </p:cNvSpPr>
            <p:nvPr/>
          </p:nvSpPr>
          <p:spPr bwMode="auto">
            <a:xfrm>
              <a:off x="384" y="2304"/>
              <a:ext cx="144" cy="306"/>
            </a:xfrm>
            <a:prstGeom prst="rightArrow">
              <a:avLst>
                <a:gd name="adj1" fmla="val 50000"/>
                <a:gd name="adj2"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7005298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blinds(horizontal)">
                                      <p:cBhvr>
                                        <p:cTn id="7" dur="500"/>
                                        <p:tgtEl>
                                          <p:spTgt spid="41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104"/>
                                        </p:tgtEl>
                                        <p:attrNameLst>
                                          <p:attrName>style.visibility</p:attrName>
                                        </p:attrNameLst>
                                      </p:cBhvr>
                                      <p:to>
                                        <p:strVal val="visible"/>
                                      </p:to>
                                    </p:set>
                                    <p:anim calcmode="lin" valueType="num">
                                      <p:cBhvr>
                                        <p:cTn id="12" dur="500" fill="hold"/>
                                        <p:tgtEl>
                                          <p:spTgt spid="4104"/>
                                        </p:tgtEl>
                                        <p:attrNameLst>
                                          <p:attrName>ppt_w</p:attrName>
                                        </p:attrNameLst>
                                      </p:cBhvr>
                                      <p:tavLst>
                                        <p:tav tm="0">
                                          <p:val>
                                            <p:fltVal val="0"/>
                                          </p:val>
                                        </p:tav>
                                        <p:tav tm="100000">
                                          <p:val>
                                            <p:strVal val="#ppt_w"/>
                                          </p:val>
                                        </p:tav>
                                      </p:tavLst>
                                    </p:anim>
                                    <p:anim calcmode="lin" valueType="num">
                                      <p:cBhvr>
                                        <p:cTn id="13" dur="500" fill="hold"/>
                                        <p:tgtEl>
                                          <p:spTgt spid="4104"/>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10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105"/>
                                        </p:tgtEl>
                                        <p:attrNameLst>
                                          <p:attrName>style.visibility</p:attrName>
                                        </p:attrNameLst>
                                      </p:cBhvr>
                                      <p:to>
                                        <p:strVal val="visible"/>
                                      </p:to>
                                    </p:set>
                                    <p:animEffect transition="in" filter="box(in)">
                                      <p:cBhvr>
                                        <p:cTn id="22" dur="500"/>
                                        <p:tgtEl>
                                          <p:spTgt spid="41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4106"/>
                                        </p:tgtEl>
                                        <p:attrNameLst>
                                          <p:attrName>style.visibility</p:attrName>
                                        </p:attrNameLst>
                                      </p:cBhvr>
                                      <p:to>
                                        <p:strVal val="visible"/>
                                      </p:to>
                                    </p:set>
                                    <p:animEffect transition="in" filter="barn(outHorizontal)">
                                      <p:cBhvr>
                                        <p:cTn id="27" dur="500"/>
                                        <p:tgtEl>
                                          <p:spTgt spid="410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4108"/>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4107"/>
                                        </p:tgtEl>
                                        <p:attrNameLst>
                                          <p:attrName>style.visibility</p:attrName>
                                        </p:attrNameLst>
                                      </p:cBhvr>
                                      <p:to>
                                        <p:strVal val="visible"/>
                                      </p:to>
                                    </p:set>
                                    <p:animEffect transition="in" filter="blinds(horizontal)">
                                      <p:cBhvr>
                                        <p:cTn id="36" dur="500"/>
                                        <p:tgtEl>
                                          <p:spTgt spid="410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4115"/>
                                        </p:tgtEl>
                                        <p:attrNameLst>
                                          <p:attrName>style.visibility</p:attrName>
                                        </p:attrNameLst>
                                      </p:cBhvr>
                                      <p:to>
                                        <p:strVal val="visible"/>
                                      </p:to>
                                    </p:set>
                                    <p:animEffect transition="in" filter="dissolve">
                                      <p:cBhvr>
                                        <p:cTn id="41" dur="500"/>
                                        <p:tgtEl>
                                          <p:spTgt spid="411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3" presetClass="entr" presetSubtype="16" fill="hold" nodeType="clickEffect">
                                  <p:stCondLst>
                                    <p:cond delay="0"/>
                                  </p:stCondLst>
                                  <p:childTnLst>
                                    <p:set>
                                      <p:cBhvr>
                                        <p:cTn id="45" dur="1" fill="hold">
                                          <p:stCondLst>
                                            <p:cond delay="0"/>
                                          </p:stCondLst>
                                        </p:cTn>
                                        <p:tgtEl>
                                          <p:spTgt spid="4110"/>
                                        </p:tgtEl>
                                        <p:attrNameLst>
                                          <p:attrName>style.visibility</p:attrName>
                                        </p:attrNameLst>
                                      </p:cBhvr>
                                      <p:to>
                                        <p:strVal val="visible"/>
                                      </p:to>
                                    </p:set>
                                    <p:anim calcmode="lin" valueType="num">
                                      <p:cBhvr>
                                        <p:cTn id="46" dur="500" fill="hold"/>
                                        <p:tgtEl>
                                          <p:spTgt spid="4110"/>
                                        </p:tgtEl>
                                        <p:attrNameLst>
                                          <p:attrName>ppt_w</p:attrName>
                                        </p:attrNameLst>
                                      </p:cBhvr>
                                      <p:tavLst>
                                        <p:tav tm="0">
                                          <p:val>
                                            <p:fltVal val="0"/>
                                          </p:val>
                                        </p:tav>
                                        <p:tav tm="100000">
                                          <p:val>
                                            <p:strVal val="#ppt_w"/>
                                          </p:val>
                                        </p:tav>
                                      </p:tavLst>
                                    </p:anim>
                                    <p:anim calcmode="lin" valueType="num">
                                      <p:cBhvr>
                                        <p:cTn id="47" dur="500" fill="hold"/>
                                        <p:tgtEl>
                                          <p:spTgt spid="4110"/>
                                        </p:tgtEl>
                                        <p:attrNameLst>
                                          <p:attrName>ppt_h</p:attrName>
                                        </p:attrNameLst>
                                      </p:cBhvr>
                                      <p:tavLst>
                                        <p:tav tm="0">
                                          <p:val>
                                            <p:fltVal val="0"/>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272" fill="hold" grpId="0" nodeType="clickEffect">
                                  <p:stCondLst>
                                    <p:cond delay="0"/>
                                  </p:stCondLst>
                                  <p:childTnLst>
                                    <p:set>
                                      <p:cBhvr>
                                        <p:cTn id="51" dur="1" fill="hold">
                                          <p:stCondLst>
                                            <p:cond delay="0"/>
                                          </p:stCondLst>
                                        </p:cTn>
                                        <p:tgtEl>
                                          <p:spTgt spid="4111"/>
                                        </p:tgtEl>
                                        <p:attrNameLst>
                                          <p:attrName>style.visibility</p:attrName>
                                        </p:attrNameLst>
                                      </p:cBhvr>
                                      <p:to>
                                        <p:strVal val="visible"/>
                                      </p:to>
                                    </p:set>
                                    <p:anim calcmode="lin" valueType="num">
                                      <p:cBhvr>
                                        <p:cTn id="52" dur="500" fill="hold"/>
                                        <p:tgtEl>
                                          <p:spTgt spid="4111"/>
                                        </p:tgtEl>
                                        <p:attrNameLst>
                                          <p:attrName>ppt_w</p:attrName>
                                        </p:attrNameLst>
                                      </p:cBhvr>
                                      <p:tavLst>
                                        <p:tav tm="0">
                                          <p:val>
                                            <p:strVal val="2/3*#ppt_w"/>
                                          </p:val>
                                        </p:tav>
                                        <p:tav tm="100000">
                                          <p:val>
                                            <p:strVal val="#ppt_w"/>
                                          </p:val>
                                        </p:tav>
                                      </p:tavLst>
                                    </p:anim>
                                    <p:anim calcmode="lin" valueType="num">
                                      <p:cBhvr>
                                        <p:cTn id="53" dur="500" fill="hold"/>
                                        <p:tgtEl>
                                          <p:spTgt spid="4111"/>
                                        </p:tgtEl>
                                        <p:attrNameLst>
                                          <p:attrName>ppt_h</p:attrName>
                                        </p:attrNameLst>
                                      </p:cBhvr>
                                      <p:tavLst>
                                        <p:tav tm="0">
                                          <p:val>
                                            <p:strVal val="2/3*#ppt_h"/>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4112"/>
                                        </p:tgtEl>
                                        <p:attrNameLst>
                                          <p:attrName>style.visibility</p:attrName>
                                        </p:attrNameLst>
                                      </p:cBhvr>
                                      <p:to>
                                        <p:strVal val="visible"/>
                                      </p:to>
                                    </p:set>
                                    <p:animEffect transition="in" filter="blinds(horizontal)">
                                      <p:cBhvr>
                                        <p:cTn id="58" dur="500"/>
                                        <p:tgtEl>
                                          <p:spTgt spid="411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4113"/>
                                        </p:tgtEl>
                                        <p:attrNameLst>
                                          <p:attrName>style.visibility</p:attrName>
                                        </p:attrNameLst>
                                      </p:cBhvr>
                                      <p:to>
                                        <p:strVal val="visible"/>
                                      </p:to>
                                    </p:set>
                                    <p:animEffect transition="in" filter="dissolve">
                                      <p:cBhvr>
                                        <p:cTn id="63" dur="500"/>
                                        <p:tgtEl>
                                          <p:spTgt spid="4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 grpId="0" autoUpdateAnimBg="0"/>
      <p:bldP spid="4103" grpId="0" animBg="1" autoUpdateAnimBg="0"/>
      <p:bldP spid="4104" grpId="0" animBg="1" autoUpdateAnimBg="0"/>
      <p:bldP spid="4105" grpId="0" autoUpdateAnimBg="0"/>
      <p:bldP spid="4106" grpId="0" animBg="1" autoUpdateAnimBg="0"/>
      <p:bldP spid="4108" grpId="0" animBg="1" autoUpdateAnimBg="0"/>
      <p:bldP spid="4111" grpId="0" autoUpdateAnimBg="0"/>
      <p:bldP spid="4112" grpId="0" autoUpdateAnimBg="0"/>
      <p:bldP spid="4113"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123" name="Object 3"/>
          <p:cNvGraphicFramePr>
            <a:graphicFrameLocks noChangeAspect="1"/>
          </p:cNvGraphicFramePr>
          <p:nvPr/>
        </p:nvGraphicFramePr>
        <p:xfrm>
          <a:off x="228600" y="3657600"/>
          <a:ext cx="4191000" cy="1330325"/>
        </p:xfrm>
        <a:graphic>
          <a:graphicData uri="http://schemas.openxmlformats.org/presentationml/2006/ole">
            <mc:AlternateContent xmlns:mc="http://schemas.openxmlformats.org/markup-compatibility/2006">
              <mc:Choice xmlns:v="urn:schemas-microsoft-com:vml" Requires="v">
                <p:oleObj spid="_x0000_s6746" name="公式" r:id="rId3" imgW="1587240" imgH="787320" progId="Equation.3">
                  <p:embed/>
                </p:oleObj>
              </mc:Choice>
              <mc:Fallback>
                <p:oleObj name="公式" r:id="rId3" imgW="1587240" imgH="787320" progId="Equation.3">
                  <p:embed/>
                  <p:pic>
                    <p:nvPicPr>
                      <p:cNvPr id="5123" name="Object 3"/>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657600"/>
                        <a:ext cx="4191000" cy="133032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4" name="Object 4"/>
          <p:cNvGraphicFramePr>
            <a:graphicFrameLocks noChangeAspect="1"/>
          </p:cNvGraphicFramePr>
          <p:nvPr>
            <p:extLst>
              <p:ext uri="{D42A27DB-BD31-4B8C-83A1-F6EECF244321}">
                <p14:modId xmlns:p14="http://schemas.microsoft.com/office/powerpoint/2010/main" val="1426617129"/>
              </p:ext>
            </p:extLst>
          </p:nvPr>
        </p:nvGraphicFramePr>
        <p:xfrm>
          <a:off x="5940152" y="354013"/>
          <a:ext cx="3124200" cy="1017587"/>
        </p:xfrm>
        <a:graphic>
          <a:graphicData uri="http://schemas.openxmlformats.org/presentationml/2006/ole">
            <mc:AlternateContent xmlns:mc="http://schemas.openxmlformats.org/markup-compatibility/2006">
              <mc:Choice xmlns:v="urn:schemas-microsoft-com:vml" Requires="v">
                <p:oleObj spid="_x0000_s6747" name="公式" r:id="rId5" imgW="1244520" imgH="393480" progId="Equation.3">
                  <p:embed/>
                </p:oleObj>
              </mc:Choice>
              <mc:Fallback>
                <p:oleObj name="公式" r:id="rId5" imgW="1244520" imgH="393480" progId="Equation.3">
                  <p:embed/>
                  <p:pic>
                    <p:nvPicPr>
                      <p:cNvPr id="5124" name="Object 4"/>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0152" y="354013"/>
                        <a:ext cx="3124200" cy="1017587"/>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5" name="Text Box 5"/>
          <p:cNvSpPr txBox="1">
            <a:spLocks noChangeArrowheads="1"/>
          </p:cNvSpPr>
          <p:nvPr/>
        </p:nvSpPr>
        <p:spPr bwMode="auto">
          <a:xfrm>
            <a:off x="228600" y="457200"/>
            <a:ext cx="1371600"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a:t>
            </a:r>
            <a:r>
              <a:rPr lang="en-US" altLang="zh-CN" sz="3200" b="1"/>
              <a:t>3</a:t>
            </a:r>
          </a:p>
        </p:txBody>
      </p:sp>
      <p:grpSp>
        <p:nvGrpSpPr>
          <p:cNvPr id="5211" name="Group 91"/>
          <p:cNvGrpSpPr>
            <a:grpSpLocks/>
          </p:cNvGrpSpPr>
          <p:nvPr/>
        </p:nvGrpSpPr>
        <p:grpSpPr bwMode="auto">
          <a:xfrm>
            <a:off x="3487738" y="2376488"/>
            <a:ext cx="2098675" cy="914400"/>
            <a:chOff x="2197" y="1440"/>
            <a:chExt cx="1322" cy="576"/>
          </a:xfrm>
        </p:grpSpPr>
        <p:sp>
          <p:nvSpPr>
            <p:cNvPr id="5129" name="Line 9"/>
            <p:cNvSpPr>
              <a:spLocks noChangeShapeType="1"/>
            </p:cNvSpPr>
            <p:nvPr/>
          </p:nvSpPr>
          <p:spPr bwMode="auto">
            <a:xfrm>
              <a:off x="2352" y="1440"/>
              <a:ext cx="1167" cy="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204" name="Group 84"/>
            <p:cNvGrpSpPr>
              <a:grpSpLocks/>
            </p:cNvGrpSpPr>
            <p:nvPr/>
          </p:nvGrpSpPr>
          <p:grpSpPr bwMode="auto">
            <a:xfrm>
              <a:off x="2352" y="1536"/>
              <a:ext cx="975" cy="322"/>
              <a:chOff x="2385" y="1592"/>
              <a:chExt cx="975" cy="322"/>
            </a:xfrm>
          </p:grpSpPr>
          <p:sp>
            <p:nvSpPr>
              <p:cNvPr id="5130" name="Arc 10"/>
              <p:cNvSpPr>
                <a:spLocks/>
              </p:cNvSpPr>
              <p:nvPr/>
            </p:nvSpPr>
            <p:spPr bwMode="auto">
              <a:xfrm rot="21213641" flipH="1">
                <a:off x="2612" y="1592"/>
                <a:ext cx="748" cy="215"/>
              </a:xfrm>
              <a:custGeom>
                <a:avLst/>
                <a:gdLst>
                  <a:gd name="G0" fmla="+- 0 0 0"/>
                  <a:gd name="G1" fmla="+- 21600 0 0"/>
                  <a:gd name="G2" fmla="+- 21600 0 0"/>
                  <a:gd name="T0" fmla="*/ 0 w 21529"/>
                  <a:gd name="T1" fmla="*/ 0 h 21600"/>
                  <a:gd name="T2" fmla="*/ 21529 w 21529"/>
                  <a:gd name="T3" fmla="*/ 19856 h 21600"/>
                  <a:gd name="T4" fmla="*/ 0 w 21529"/>
                  <a:gd name="T5" fmla="*/ 21600 h 21600"/>
                </a:gdLst>
                <a:ahLst/>
                <a:cxnLst>
                  <a:cxn ang="0">
                    <a:pos x="T0" y="T1"/>
                  </a:cxn>
                  <a:cxn ang="0">
                    <a:pos x="T2" y="T3"/>
                  </a:cxn>
                  <a:cxn ang="0">
                    <a:pos x="T4" y="T5"/>
                  </a:cxn>
                </a:cxnLst>
                <a:rect l="0" t="0" r="r" b="b"/>
                <a:pathLst>
                  <a:path w="21529" h="21600" fill="none" extrusionOk="0">
                    <a:moveTo>
                      <a:pt x="0" y="0"/>
                    </a:moveTo>
                    <a:cubicBezTo>
                      <a:pt x="11253" y="0"/>
                      <a:pt x="20620" y="8639"/>
                      <a:pt x="21529" y="19855"/>
                    </a:cubicBezTo>
                  </a:path>
                  <a:path w="21529" h="21600" stroke="0" extrusionOk="0">
                    <a:moveTo>
                      <a:pt x="0" y="0"/>
                    </a:moveTo>
                    <a:cubicBezTo>
                      <a:pt x="11253" y="0"/>
                      <a:pt x="20620" y="8639"/>
                      <a:pt x="21529" y="19855"/>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1" name="Arc 11"/>
              <p:cNvSpPr>
                <a:spLocks/>
              </p:cNvSpPr>
              <p:nvPr/>
            </p:nvSpPr>
            <p:spPr bwMode="auto">
              <a:xfrm flipV="1">
                <a:off x="2385" y="1776"/>
                <a:ext cx="255" cy="138"/>
              </a:xfrm>
              <a:custGeom>
                <a:avLst/>
                <a:gdLst>
                  <a:gd name="G0" fmla="+- 0 0 0"/>
                  <a:gd name="G1" fmla="+- 21600 0 0"/>
                  <a:gd name="G2" fmla="+- 21600 0 0"/>
                  <a:gd name="T0" fmla="*/ 0 w 21191"/>
                  <a:gd name="T1" fmla="*/ 0 h 21600"/>
                  <a:gd name="T2" fmla="*/ 21191 w 21191"/>
                  <a:gd name="T3" fmla="*/ 17418 h 21600"/>
                  <a:gd name="T4" fmla="*/ 0 w 21191"/>
                  <a:gd name="T5" fmla="*/ 21600 h 21600"/>
                </a:gdLst>
                <a:ahLst/>
                <a:cxnLst>
                  <a:cxn ang="0">
                    <a:pos x="T0" y="T1"/>
                  </a:cxn>
                  <a:cxn ang="0">
                    <a:pos x="T2" y="T3"/>
                  </a:cxn>
                  <a:cxn ang="0">
                    <a:pos x="T4" y="T5"/>
                  </a:cxn>
                </a:cxnLst>
                <a:rect l="0" t="0" r="r" b="b"/>
                <a:pathLst>
                  <a:path w="21191" h="21600" fill="none" extrusionOk="0">
                    <a:moveTo>
                      <a:pt x="0" y="0"/>
                    </a:moveTo>
                    <a:cubicBezTo>
                      <a:pt x="10317" y="0"/>
                      <a:pt x="19193" y="7296"/>
                      <a:pt x="21191" y="17417"/>
                    </a:cubicBezTo>
                  </a:path>
                  <a:path w="21191" h="21600" stroke="0" extrusionOk="0">
                    <a:moveTo>
                      <a:pt x="0" y="0"/>
                    </a:moveTo>
                    <a:cubicBezTo>
                      <a:pt x="10317" y="0"/>
                      <a:pt x="19193" y="7296"/>
                      <a:pt x="21191" y="17417"/>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35" name="Text Box 15"/>
            <p:cNvSpPr txBox="1">
              <a:spLocks noChangeArrowheads="1"/>
            </p:cNvSpPr>
            <p:nvPr/>
          </p:nvSpPr>
          <p:spPr bwMode="auto">
            <a:xfrm>
              <a:off x="2197" y="1728"/>
              <a:ext cx="2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sz="2000" b="1" baseline="-25000"/>
                <a:t>0</a:t>
              </a:r>
              <a:endParaRPr lang="en-US" altLang="zh-CN" b="1"/>
            </a:p>
          </p:txBody>
        </p:sp>
      </p:grpSp>
      <p:grpSp>
        <p:nvGrpSpPr>
          <p:cNvPr id="5212" name="Group 92"/>
          <p:cNvGrpSpPr>
            <a:grpSpLocks/>
          </p:cNvGrpSpPr>
          <p:nvPr/>
        </p:nvGrpSpPr>
        <p:grpSpPr bwMode="auto">
          <a:xfrm>
            <a:off x="3429000" y="1462088"/>
            <a:ext cx="1755775" cy="854075"/>
            <a:chOff x="2160" y="864"/>
            <a:chExt cx="1106" cy="538"/>
          </a:xfrm>
        </p:grpSpPr>
        <p:sp>
          <p:nvSpPr>
            <p:cNvPr id="5134" name="Text Box 14"/>
            <p:cNvSpPr txBox="1">
              <a:spLocks noChangeArrowheads="1"/>
            </p:cNvSpPr>
            <p:nvPr/>
          </p:nvSpPr>
          <p:spPr bwMode="auto">
            <a:xfrm>
              <a:off x="2160" y="864"/>
              <a:ext cx="2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solidFill>
                    <a:srgbClr val="FF3300"/>
                  </a:solidFill>
                </a:rPr>
                <a:t>i</a:t>
              </a:r>
              <a:r>
                <a:rPr lang="en-US" altLang="zh-CN" sz="2000" b="1" baseline="-25000">
                  <a:solidFill>
                    <a:srgbClr val="FF3300"/>
                  </a:solidFill>
                </a:rPr>
                <a:t>0</a:t>
              </a:r>
              <a:endParaRPr lang="en-US" altLang="zh-CN" b="1">
                <a:solidFill>
                  <a:srgbClr val="FF3300"/>
                </a:solidFill>
              </a:endParaRPr>
            </a:p>
          </p:txBody>
        </p:sp>
        <p:sp>
          <p:nvSpPr>
            <p:cNvPr id="5139" name="Arc 19"/>
            <p:cNvSpPr>
              <a:spLocks/>
            </p:cNvSpPr>
            <p:nvPr/>
          </p:nvSpPr>
          <p:spPr bwMode="auto">
            <a:xfrm flipH="1" flipV="1">
              <a:off x="2400" y="864"/>
              <a:ext cx="866" cy="538"/>
            </a:xfrm>
            <a:custGeom>
              <a:avLst/>
              <a:gdLst>
                <a:gd name="G0" fmla="+- 2103 0 0"/>
                <a:gd name="G1" fmla="+- 21600 0 0"/>
                <a:gd name="G2" fmla="+- 21600 0 0"/>
                <a:gd name="T0" fmla="*/ 0 w 22988"/>
                <a:gd name="T1" fmla="*/ 103 h 21600"/>
                <a:gd name="T2" fmla="*/ 22988 w 22988"/>
                <a:gd name="T3" fmla="*/ 16088 h 21600"/>
                <a:gd name="T4" fmla="*/ 2103 w 22988"/>
                <a:gd name="T5" fmla="*/ 21600 h 21600"/>
              </a:gdLst>
              <a:ahLst/>
              <a:cxnLst>
                <a:cxn ang="0">
                  <a:pos x="T0" y="T1"/>
                </a:cxn>
                <a:cxn ang="0">
                  <a:pos x="T2" y="T3"/>
                </a:cxn>
                <a:cxn ang="0">
                  <a:pos x="T4" y="T5"/>
                </a:cxn>
              </a:cxnLst>
              <a:rect l="0" t="0" r="r" b="b"/>
              <a:pathLst>
                <a:path w="22988" h="21600" fill="none" extrusionOk="0">
                  <a:moveTo>
                    <a:pt x="-1" y="102"/>
                  </a:moveTo>
                  <a:cubicBezTo>
                    <a:pt x="698" y="34"/>
                    <a:pt x="1400" y="0"/>
                    <a:pt x="2103" y="0"/>
                  </a:cubicBezTo>
                  <a:cubicBezTo>
                    <a:pt x="11909" y="0"/>
                    <a:pt x="20485" y="6606"/>
                    <a:pt x="22987" y="16088"/>
                  </a:cubicBezTo>
                </a:path>
                <a:path w="22988" h="21600" stroke="0" extrusionOk="0">
                  <a:moveTo>
                    <a:pt x="-1" y="102"/>
                  </a:moveTo>
                  <a:cubicBezTo>
                    <a:pt x="698" y="34"/>
                    <a:pt x="1400" y="0"/>
                    <a:pt x="2103" y="0"/>
                  </a:cubicBezTo>
                  <a:cubicBezTo>
                    <a:pt x="11909" y="0"/>
                    <a:pt x="20485" y="6606"/>
                    <a:pt x="22987" y="16088"/>
                  </a:cubicBezTo>
                  <a:lnTo>
                    <a:pt x="2103" y="21600"/>
                  </a:lnTo>
                  <a:close/>
                </a:path>
              </a:pathLst>
            </a:cu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66" name="Text Box 46"/>
          <p:cNvSpPr txBox="1">
            <a:spLocks noChangeArrowheads="1"/>
          </p:cNvSpPr>
          <p:nvPr/>
        </p:nvSpPr>
        <p:spPr bwMode="auto">
          <a:xfrm>
            <a:off x="5334000" y="3810000"/>
            <a:ext cx="3337992" cy="519113"/>
          </a:xfrm>
          <a:prstGeom prst="rect">
            <a:avLst/>
          </a:prstGeom>
          <a:noFill/>
          <a:ln>
            <a:noFill/>
          </a:ln>
          <a:effectLst/>
          <a:extLst>
            <a:ext uri="{909E8E84-426E-40DD-AFC4-6F175D3DCCD1}">
              <a14:hiddenFill xmlns:a14="http://schemas.microsoft.com/office/drawing/2010/main">
                <a:solidFill>
                  <a:srgbClr val="66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t>接触数</a:t>
            </a:r>
            <a:r>
              <a:rPr lang="zh-CN" altLang="en-US" sz="2800" b="1" i="1" dirty="0">
                <a:sym typeface="Symbol" panose="05050102010706020507" pitchFamily="18" charset="2"/>
              </a:rPr>
              <a:t> </a:t>
            </a:r>
            <a:r>
              <a:rPr lang="en-US" altLang="zh-CN" sz="2800" b="1" dirty="0">
                <a:sym typeface="Symbol" panose="05050102010706020507" pitchFamily="18" charset="2"/>
              </a:rPr>
              <a:t>=1 </a:t>
            </a:r>
            <a:r>
              <a:rPr lang="en-US" altLang="zh-CN" sz="2800" b="1" dirty="0"/>
              <a:t>~ </a:t>
            </a:r>
            <a:r>
              <a:rPr lang="zh-CN" altLang="en-US" sz="2800" b="1" dirty="0"/>
              <a:t>阈值</a:t>
            </a:r>
          </a:p>
        </p:txBody>
      </p:sp>
      <p:graphicFrame>
        <p:nvGraphicFramePr>
          <p:cNvPr id="5164" name="Object 44"/>
          <p:cNvGraphicFramePr>
            <a:graphicFrameLocks noChangeAspect="1"/>
          </p:cNvGraphicFramePr>
          <p:nvPr/>
        </p:nvGraphicFramePr>
        <p:xfrm>
          <a:off x="4419600" y="658813"/>
          <a:ext cx="1219200" cy="512762"/>
        </p:xfrm>
        <a:graphic>
          <a:graphicData uri="http://schemas.openxmlformats.org/presentationml/2006/ole">
            <mc:AlternateContent xmlns:mc="http://schemas.openxmlformats.org/markup-compatibility/2006">
              <mc:Choice xmlns:v="urn:schemas-microsoft-com:vml" Requires="v">
                <p:oleObj spid="_x0000_s6748" name="公式" r:id="rId7" imgW="711000" imgH="241200" progId="Equation.3">
                  <p:embed/>
                </p:oleObj>
              </mc:Choice>
              <mc:Fallback>
                <p:oleObj name="公式" r:id="rId7" imgW="711000" imgH="241200" progId="Equation.3">
                  <p:embed/>
                  <p:pic>
                    <p:nvPicPr>
                      <p:cNvPr id="5164" name="Object 44"/>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658813"/>
                        <a:ext cx="1219200" cy="512762"/>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218" name="Group 98"/>
          <p:cNvGrpSpPr>
            <a:grpSpLocks/>
          </p:cNvGrpSpPr>
          <p:nvPr/>
        </p:nvGrpSpPr>
        <p:grpSpPr bwMode="auto">
          <a:xfrm>
            <a:off x="5410200" y="4373563"/>
            <a:ext cx="2514600" cy="614362"/>
            <a:chOff x="3408" y="2707"/>
            <a:chExt cx="1584" cy="387"/>
          </a:xfrm>
        </p:grpSpPr>
        <p:graphicFrame>
          <p:nvGraphicFramePr>
            <p:cNvPr id="5169" name="Object 49"/>
            <p:cNvGraphicFramePr>
              <a:graphicFrameLocks noChangeAspect="1"/>
            </p:cNvGraphicFramePr>
            <p:nvPr/>
          </p:nvGraphicFramePr>
          <p:xfrm>
            <a:off x="3408" y="2738"/>
            <a:ext cx="624" cy="300"/>
          </p:xfrm>
          <a:graphic>
            <a:graphicData uri="http://schemas.openxmlformats.org/presentationml/2006/ole">
              <mc:AlternateContent xmlns:mc="http://schemas.openxmlformats.org/markup-compatibility/2006">
                <mc:Choice xmlns:v="urn:schemas-microsoft-com:vml" Requires="v">
                  <p:oleObj spid="_x0000_s6749" name="公式" r:id="rId9" imgW="419040" imgH="203040" progId="Equation.3">
                    <p:embed/>
                  </p:oleObj>
                </mc:Choice>
                <mc:Fallback>
                  <p:oleObj name="公式" r:id="rId9" imgW="419040" imgH="203040" progId="Equation.3">
                    <p:embed/>
                    <p:pic>
                      <p:nvPicPr>
                        <p:cNvPr id="5169" name="Object 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08" y="2738"/>
                          <a:ext cx="624" cy="300"/>
                        </a:xfrm>
                        <a:prstGeom prst="rect">
                          <a:avLst/>
                        </a:prstGeom>
                        <a:solidFill>
                          <a:srgbClr val="66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70" name="Object 50"/>
            <p:cNvGraphicFramePr>
              <a:graphicFrameLocks noChangeAspect="1"/>
            </p:cNvGraphicFramePr>
            <p:nvPr/>
          </p:nvGraphicFramePr>
          <p:xfrm>
            <a:off x="4032" y="2707"/>
            <a:ext cx="960" cy="387"/>
          </p:xfrm>
          <a:graphic>
            <a:graphicData uri="http://schemas.openxmlformats.org/presentationml/2006/ole">
              <mc:AlternateContent xmlns:mc="http://schemas.openxmlformats.org/markup-compatibility/2006">
                <mc:Choice xmlns:v="urn:schemas-microsoft-com:vml" Requires="v">
                  <p:oleObj spid="_x0000_s6750" name="公式" r:id="rId11" imgW="672840" imgH="279360" progId="Equation.3">
                    <p:embed/>
                  </p:oleObj>
                </mc:Choice>
                <mc:Fallback>
                  <p:oleObj name="公式" r:id="rId11" imgW="672840" imgH="279360" progId="Equation.3">
                    <p:embed/>
                    <p:pic>
                      <p:nvPicPr>
                        <p:cNvPr id="5170" name="Object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32" y="2707"/>
                          <a:ext cx="960" cy="387"/>
                        </a:xfrm>
                        <a:prstGeom prst="rect">
                          <a:avLst/>
                        </a:prstGeom>
                        <a:solidFill>
                          <a:srgbClr val="66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173" name="Object 53"/>
          <p:cNvGraphicFramePr>
            <a:graphicFrameLocks noChangeAspect="1"/>
          </p:cNvGraphicFramePr>
          <p:nvPr/>
        </p:nvGraphicFramePr>
        <p:xfrm>
          <a:off x="1219200" y="5189538"/>
          <a:ext cx="3352800" cy="520700"/>
        </p:xfrm>
        <a:graphic>
          <a:graphicData uri="http://schemas.openxmlformats.org/presentationml/2006/ole">
            <mc:AlternateContent xmlns:mc="http://schemas.openxmlformats.org/markup-compatibility/2006">
              <mc:Choice xmlns:v="urn:schemas-microsoft-com:vml" Requires="v">
                <p:oleObj spid="_x0000_s6751" name="公式" r:id="rId13" imgW="1752480" imgH="266400" progId="Equation.3">
                  <p:embed/>
                </p:oleObj>
              </mc:Choice>
              <mc:Fallback>
                <p:oleObj name="公式" r:id="rId13" imgW="1752480" imgH="266400" progId="Equation.3">
                  <p:embed/>
                  <p:pic>
                    <p:nvPicPr>
                      <p:cNvPr id="5173" name="Object 53"/>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19200" y="5189538"/>
                        <a:ext cx="3352800" cy="520700"/>
                      </a:xfrm>
                      <a:prstGeom prst="rect">
                        <a:avLst/>
                      </a:prstGeom>
                      <a:solidFill>
                        <a:srgbClr val="00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75" name="Text Box 55"/>
          <p:cNvSpPr txBox="1">
            <a:spLocks noChangeArrowheads="1"/>
          </p:cNvSpPr>
          <p:nvPr/>
        </p:nvSpPr>
        <p:spPr bwMode="auto">
          <a:xfrm>
            <a:off x="4876800" y="5029200"/>
            <a:ext cx="4191000" cy="946150"/>
          </a:xfrm>
          <a:prstGeom prst="rect">
            <a:avLst/>
          </a:prstGeom>
          <a:noFill/>
          <a:ln>
            <a:noFill/>
          </a:ln>
          <a:effectLst/>
          <a:extLst>
            <a:ext uri="{909E8E84-426E-40DD-AFC4-6F175D3DCCD1}">
              <a14:hiddenFill xmlns:a14="http://schemas.microsoft.com/office/drawing/2010/main">
                <a:solidFill>
                  <a:srgbClr val="66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ym typeface="Symbol" panose="05050102010706020507" pitchFamily="18" charset="2"/>
              </a:rPr>
              <a:t>感染期内</a:t>
            </a:r>
            <a:r>
              <a:rPr lang="zh-CN" altLang="en-US" sz="2800" b="1" dirty="0"/>
              <a:t>有效接触感染的健康者人数不超过病人数</a:t>
            </a:r>
          </a:p>
        </p:txBody>
      </p:sp>
      <p:graphicFrame>
        <p:nvGraphicFramePr>
          <p:cNvPr id="5172" name="Object 52"/>
          <p:cNvGraphicFramePr>
            <a:graphicFrameLocks noChangeAspect="1"/>
          </p:cNvGraphicFramePr>
          <p:nvPr>
            <p:extLst>
              <p:ext uri="{D42A27DB-BD31-4B8C-83A1-F6EECF244321}">
                <p14:modId xmlns:p14="http://schemas.microsoft.com/office/powerpoint/2010/main" val="1018730432"/>
              </p:ext>
            </p:extLst>
          </p:nvPr>
        </p:nvGraphicFramePr>
        <p:xfrm>
          <a:off x="228600" y="4938713"/>
          <a:ext cx="1019175" cy="1000125"/>
        </p:xfrm>
        <a:graphic>
          <a:graphicData uri="http://schemas.openxmlformats.org/presentationml/2006/ole">
            <mc:AlternateContent xmlns:mc="http://schemas.openxmlformats.org/markup-compatibility/2006">
              <mc:Choice xmlns:v="urn:schemas-microsoft-com:vml" Requires="v">
                <p:oleObj spid="_x0000_s6752" name="公式" r:id="rId15" imgW="469800" imgH="533160" progId="Equation.3">
                  <p:embed/>
                </p:oleObj>
              </mc:Choice>
              <mc:Fallback>
                <p:oleObj name="公式" r:id="rId15" imgW="469800" imgH="533160" progId="Equation.3">
                  <p:embed/>
                  <p:pic>
                    <p:nvPicPr>
                      <p:cNvPr id="5172" name="Object 5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8600" y="4938713"/>
                        <a:ext cx="1019175" cy="1000125"/>
                      </a:xfrm>
                      <a:prstGeom prst="rect">
                        <a:avLst/>
                      </a:prstGeom>
                      <a:solidFill>
                        <a:srgbClr val="00FFFF"/>
                      </a:solidFill>
                      <a:ln>
                        <a:noFill/>
                      </a:ln>
                      <a:effectLst/>
                    </p:spPr>
                  </p:pic>
                </p:oleObj>
              </mc:Fallback>
            </mc:AlternateContent>
          </a:graphicData>
        </a:graphic>
      </p:graphicFrame>
      <p:grpSp>
        <p:nvGrpSpPr>
          <p:cNvPr id="5209" name="Group 89"/>
          <p:cNvGrpSpPr>
            <a:grpSpLocks/>
          </p:cNvGrpSpPr>
          <p:nvPr/>
        </p:nvGrpSpPr>
        <p:grpSpPr bwMode="auto">
          <a:xfrm>
            <a:off x="762000" y="2224088"/>
            <a:ext cx="1905000" cy="1447800"/>
            <a:chOff x="816" y="2976"/>
            <a:chExt cx="1200" cy="912"/>
          </a:xfrm>
        </p:grpSpPr>
        <p:sp>
          <p:nvSpPr>
            <p:cNvPr id="5179" name="Arc 59"/>
            <p:cNvSpPr>
              <a:spLocks/>
            </p:cNvSpPr>
            <p:nvPr/>
          </p:nvSpPr>
          <p:spPr bwMode="auto">
            <a:xfrm flipH="1">
              <a:off x="816" y="2976"/>
              <a:ext cx="576" cy="547"/>
            </a:xfrm>
            <a:custGeom>
              <a:avLst/>
              <a:gdLst>
                <a:gd name="G0" fmla="+- 0 0 0"/>
                <a:gd name="G1" fmla="+- 20514 0 0"/>
                <a:gd name="G2" fmla="+- 21600 0 0"/>
                <a:gd name="T0" fmla="*/ 6764 w 21600"/>
                <a:gd name="T1" fmla="*/ 0 h 20514"/>
                <a:gd name="T2" fmla="*/ 21600 w 21600"/>
                <a:gd name="T3" fmla="*/ 20514 h 20514"/>
                <a:gd name="T4" fmla="*/ 0 w 21600"/>
                <a:gd name="T5" fmla="*/ 20514 h 20514"/>
              </a:gdLst>
              <a:ahLst/>
              <a:cxnLst>
                <a:cxn ang="0">
                  <a:pos x="T0" y="T1"/>
                </a:cxn>
                <a:cxn ang="0">
                  <a:pos x="T2" y="T3"/>
                </a:cxn>
                <a:cxn ang="0">
                  <a:pos x="T4" y="T5"/>
                </a:cxn>
              </a:cxnLst>
              <a:rect l="0" t="0" r="r" b="b"/>
              <a:pathLst>
                <a:path w="21600" h="20514" fill="none" extrusionOk="0">
                  <a:moveTo>
                    <a:pt x="6763" y="0"/>
                  </a:moveTo>
                  <a:cubicBezTo>
                    <a:pt x="15618" y="2919"/>
                    <a:pt x="21600" y="11190"/>
                    <a:pt x="21600" y="20514"/>
                  </a:cubicBezTo>
                </a:path>
                <a:path w="21600" h="20514" stroke="0" extrusionOk="0">
                  <a:moveTo>
                    <a:pt x="6763" y="0"/>
                  </a:moveTo>
                  <a:cubicBezTo>
                    <a:pt x="15618" y="2919"/>
                    <a:pt x="21600" y="11190"/>
                    <a:pt x="21600" y="20514"/>
                  </a:cubicBezTo>
                  <a:lnTo>
                    <a:pt x="0" y="20514"/>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0" name="Arc 60"/>
            <p:cNvSpPr>
              <a:spLocks/>
            </p:cNvSpPr>
            <p:nvPr/>
          </p:nvSpPr>
          <p:spPr bwMode="auto">
            <a:xfrm>
              <a:off x="1201" y="2979"/>
              <a:ext cx="577" cy="909"/>
            </a:xfrm>
            <a:custGeom>
              <a:avLst/>
              <a:gdLst>
                <a:gd name="G0" fmla="+- 450 0 0"/>
                <a:gd name="G1" fmla="+- 21600 0 0"/>
                <a:gd name="G2" fmla="+- 21600 0 0"/>
                <a:gd name="T0" fmla="*/ 0 w 22050"/>
                <a:gd name="T1" fmla="*/ 5 h 22744"/>
                <a:gd name="T2" fmla="*/ 22020 w 22050"/>
                <a:gd name="T3" fmla="*/ 22744 h 22744"/>
                <a:gd name="T4" fmla="*/ 450 w 22050"/>
                <a:gd name="T5" fmla="*/ 21600 h 22744"/>
              </a:gdLst>
              <a:ahLst/>
              <a:cxnLst>
                <a:cxn ang="0">
                  <a:pos x="T0" y="T1"/>
                </a:cxn>
                <a:cxn ang="0">
                  <a:pos x="T2" y="T3"/>
                </a:cxn>
                <a:cxn ang="0">
                  <a:pos x="T4" y="T5"/>
                </a:cxn>
              </a:cxnLst>
              <a:rect l="0" t="0" r="r" b="b"/>
              <a:pathLst>
                <a:path w="22050" h="22744" fill="none" extrusionOk="0">
                  <a:moveTo>
                    <a:pt x="-1" y="4"/>
                  </a:moveTo>
                  <a:cubicBezTo>
                    <a:pt x="149" y="1"/>
                    <a:pt x="299" y="0"/>
                    <a:pt x="450" y="0"/>
                  </a:cubicBezTo>
                  <a:cubicBezTo>
                    <a:pt x="12379" y="0"/>
                    <a:pt x="22050" y="9670"/>
                    <a:pt x="22050" y="21600"/>
                  </a:cubicBezTo>
                  <a:cubicBezTo>
                    <a:pt x="22050" y="21981"/>
                    <a:pt x="22039" y="22362"/>
                    <a:pt x="22019" y="22743"/>
                  </a:cubicBezTo>
                </a:path>
                <a:path w="22050" h="22744" stroke="0" extrusionOk="0">
                  <a:moveTo>
                    <a:pt x="-1" y="4"/>
                  </a:moveTo>
                  <a:cubicBezTo>
                    <a:pt x="149" y="1"/>
                    <a:pt x="299" y="0"/>
                    <a:pt x="450" y="0"/>
                  </a:cubicBezTo>
                  <a:cubicBezTo>
                    <a:pt x="12379" y="0"/>
                    <a:pt x="22050" y="9670"/>
                    <a:pt x="22050" y="21600"/>
                  </a:cubicBezTo>
                  <a:cubicBezTo>
                    <a:pt x="22050" y="21981"/>
                    <a:pt x="22039" y="22362"/>
                    <a:pt x="22019" y="22743"/>
                  </a:cubicBezTo>
                  <a:lnTo>
                    <a:pt x="45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3" name="Text Box 63"/>
            <p:cNvSpPr txBox="1">
              <a:spLocks noChangeArrowheads="1"/>
            </p:cNvSpPr>
            <p:nvPr/>
          </p:nvSpPr>
          <p:spPr bwMode="auto">
            <a:xfrm>
              <a:off x="1201" y="3446"/>
              <a:ext cx="81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a:t>1-1/</a:t>
              </a:r>
              <a:r>
                <a:rPr lang="en-US" altLang="zh-CN" sz="2000" b="1" dirty="0">
                  <a:sym typeface="Symbol" panose="05050102010706020507" pitchFamily="18" charset="2"/>
                </a:rPr>
                <a:t></a:t>
              </a:r>
              <a:endParaRPr lang="en-US" altLang="zh-CN" sz="2000" b="1" dirty="0"/>
            </a:p>
          </p:txBody>
        </p:sp>
      </p:grpSp>
      <p:grpSp>
        <p:nvGrpSpPr>
          <p:cNvPr id="5216" name="Group 96"/>
          <p:cNvGrpSpPr>
            <a:grpSpLocks/>
          </p:cNvGrpSpPr>
          <p:nvPr/>
        </p:nvGrpSpPr>
        <p:grpSpPr bwMode="auto">
          <a:xfrm>
            <a:off x="6248400" y="1843088"/>
            <a:ext cx="2159000" cy="1438275"/>
            <a:chOff x="3936" y="1104"/>
            <a:chExt cx="1360" cy="906"/>
          </a:xfrm>
        </p:grpSpPr>
        <p:sp>
          <p:nvSpPr>
            <p:cNvPr id="5191" name="Arc 71"/>
            <p:cNvSpPr>
              <a:spLocks/>
            </p:cNvSpPr>
            <p:nvPr/>
          </p:nvSpPr>
          <p:spPr bwMode="auto">
            <a:xfrm flipH="1" flipV="1">
              <a:off x="4176" y="1248"/>
              <a:ext cx="1120" cy="762"/>
            </a:xfrm>
            <a:custGeom>
              <a:avLst/>
              <a:gdLst>
                <a:gd name="G0" fmla="+- 0 0 0"/>
                <a:gd name="G1" fmla="+- 21511 0 0"/>
                <a:gd name="G2" fmla="+- 21600 0 0"/>
                <a:gd name="T0" fmla="*/ 1955 w 21600"/>
                <a:gd name="T1" fmla="*/ 0 h 21511"/>
                <a:gd name="T2" fmla="*/ 21600 w 21600"/>
                <a:gd name="T3" fmla="*/ 21511 h 21511"/>
                <a:gd name="T4" fmla="*/ 0 w 21600"/>
                <a:gd name="T5" fmla="*/ 21511 h 21511"/>
              </a:gdLst>
              <a:ahLst/>
              <a:cxnLst>
                <a:cxn ang="0">
                  <a:pos x="T0" y="T1"/>
                </a:cxn>
                <a:cxn ang="0">
                  <a:pos x="T2" y="T3"/>
                </a:cxn>
                <a:cxn ang="0">
                  <a:pos x="T4" y="T5"/>
                </a:cxn>
              </a:cxnLst>
              <a:rect l="0" t="0" r="r" b="b"/>
              <a:pathLst>
                <a:path w="21600" h="21511" fill="none" extrusionOk="0">
                  <a:moveTo>
                    <a:pt x="1955" y="-1"/>
                  </a:moveTo>
                  <a:cubicBezTo>
                    <a:pt x="13080" y="1010"/>
                    <a:pt x="21600" y="10339"/>
                    <a:pt x="21600" y="21511"/>
                  </a:cubicBezTo>
                </a:path>
                <a:path w="21600" h="21511" stroke="0" extrusionOk="0">
                  <a:moveTo>
                    <a:pt x="1955" y="-1"/>
                  </a:moveTo>
                  <a:cubicBezTo>
                    <a:pt x="13080" y="1010"/>
                    <a:pt x="21600" y="10339"/>
                    <a:pt x="21600" y="21511"/>
                  </a:cubicBezTo>
                  <a:lnTo>
                    <a:pt x="0" y="21511"/>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6" name="Text Box 76"/>
            <p:cNvSpPr txBox="1">
              <a:spLocks noChangeArrowheads="1"/>
            </p:cNvSpPr>
            <p:nvPr/>
          </p:nvSpPr>
          <p:spPr bwMode="auto">
            <a:xfrm>
              <a:off x="3936" y="1104"/>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r>
                <a:rPr lang="en-US" altLang="zh-CN" b="1" baseline="-25000"/>
                <a:t>0</a:t>
              </a:r>
              <a:endParaRPr lang="en-US" altLang="zh-CN" b="1"/>
            </a:p>
          </p:txBody>
        </p:sp>
      </p:grpSp>
      <p:graphicFrame>
        <p:nvGraphicFramePr>
          <p:cNvPr id="5198" name="Object 78"/>
          <p:cNvGraphicFramePr>
            <a:graphicFrameLocks noChangeAspect="1"/>
          </p:cNvGraphicFramePr>
          <p:nvPr/>
        </p:nvGraphicFramePr>
        <p:xfrm>
          <a:off x="1676400" y="430213"/>
          <a:ext cx="2667000" cy="914400"/>
        </p:xfrm>
        <a:graphic>
          <a:graphicData uri="http://schemas.openxmlformats.org/presentationml/2006/ole">
            <mc:AlternateContent xmlns:mc="http://schemas.openxmlformats.org/markup-compatibility/2006">
              <mc:Choice xmlns:v="urn:schemas-microsoft-com:vml" Requires="v">
                <p:oleObj spid="_x0000_s6753" name="公式" r:id="rId17" imgW="1079280" imgH="393480" progId="Equation.3">
                  <p:embed/>
                </p:oleObj>
              </mc:Choice>
              <mc:Fallback>
                <p:oleObj name="公式" r:id="rId17" imgW="1079280" imgH="393480" progId="Equation.3">
                  <p:embed/>
                  <p:pic>
                    <p:nvPicPr>
                      <p:cNvPr id="5198" name="Object 78"/>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76400" y="430213"/>
                        <a:ext cx="2667000" cy="9144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99" name="Text Box 79"/>
          <p:cNvSpPr txBox="1">
            <a:spLocks noChangeArrowheads="1"/>
          </p:cNvSpPr>
          <p:nvPr/>
        </p:nvSpPr>
        <p:spPr bwMode="auto">
          <a:xfrm>
            <a:off x="899592" y="6021288"/>
            <a:ext cx="7772400" cy="52322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t>模型</a:t>
            </a:r>
            <a:r>
              <a:rPr lang="en-US" altLang="zh-CN" sz="2800" b="1" dirty="0"/>
              <a:t>2(SI</a:t>
            </a:r>
            <a:r>
              <a:rPr lang="zh-CN" altLang="en-US" sz="2800" b="1" dirty="0"/>
              <a:t>模型</a:t>
            </a:r>
            <a:r>
              <a:rPr lang="en-US" altLang="zh-CN" sz="2800" b="1" dirty="0"/>
              <a:t>)</a:t>
            </a:r>
            <a:r>
              <a:rPr lang="zh-CN" altLang="en-US" sz="2800" b="1" dirty="0"/>
              <a:t>如何看作模型</a:t>
            </a:r>
            <a:r>
              <a:rPr lang="en-US" altLang="zh-CN" sz="2800" b="1" dirty="0"/>
              <a:t>3(SIS</a:t>
            </a:r>
            <a:r>
              <a:rPr lang="zh-CN" altLang="en-US" sz="2800" b="1" dirty="0"/>
              <a:t>模型</a:t>
            </a:r>
            <a:r>
              <a:rPr lang="en-US" altLang="zh-CN" sz="2800" b="1" dirty="0"/>
              <a:t>)</a:t>
            </a:r>
            <a:r>
              <a:rPr lang="zh-CN" altLang="en-US" sz="2800" b="1" dirty="0"/>
              <a:t>的特例</a:t>
            </a:r>
          </a:p>
        </p:txBody>
      </p:sp>
      <p:grpSp>
        <p:nvGrpSpPr>
          <p:cNvPr id="5206" name="Group 86"/>
          <p:cNvGrpSpPr>
            <a:grpSpLocks/>
          </p:cNvGrpSpPr>
          <p:nvPr/>
        </p:nvGrpSpPr>
        <p:grpSpPr bwMode="auto">
          <a:xfrm>
            <a:off x="381000" y="1081088"/>
            <a:ext cx="2819400" cy="2362200"/>
            <a:chOff x="240" y="624"/>
            <a:chExt cx="1776" cy="1488"/>
          </a:xfrm>
        </p:grpSpPr>
        <p:sp>
          <p:nvSpPr>
            <p:cNvPr id="5177" name="Line 57"/>
            <p:cNvSpPr>
              <a:spLocks noChangeShapeType="1"/>
            </p:cNvSpPr>
            <p:nvPr/>
          </p:nvSpPr>
          <p:spPr bwMode="auto">
            <a:xfrm flipV="1">
              <a:off x="480" y="1872"/>
              <a:ext cx="13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8" name="Line 58"/>
            <p:cNvSpPr>
              <a:spLocks noChangeShapeType="1"/>
            </p:cNvSpPr>
            <p:nvPr/>
          </p:nvSpPr>
          <p:spPr bwMode="auto">
            <a:xfrm flipV="1">
              <a:off x="480" y="864"/>
              <a:ext cx="0" cy="10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1" name="Text Box 61"/>
            <p:cNvSpPr txBox="1">
              <a:spLocks noChangeArrowheads="1"/>
            </p:cNvSpPr>
            <p:nvPr/>
          </p:nvSpPr>
          <p:spPr bwMode="auto">
            <a:xfrm>
              <a:off x="1728" y="182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p>
          </p:txBody>
        </p:sp>
        <p:sp>
          <p:nvSpPr>
            <p:cNvPr id="5182" name="Text Box 62"/>
            <p:cNvSpPr txBox="1">
              <a:spLocks noChangeArrowheads="1"/>
            </p:cNvSpPr>
            <p:nvPr/>
          </p:nvSpPr>
          <p:spPr bwMode="auto">
            <a:xfrm>
              <a:off x="240" y="624"/>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dirty="0"/>
                <a:t>di/dt</a:t>
              </a:r>
            </a:p>
          </p:txBody>
        </p:sp>
        <p:sp>
          <p:nvSpPr>
            <p:cNvPr id="5184" name="Text Box 64"/>
            <p:cNvSpPr txBox="1">
              <a:spLocks noChangeArrowheads="1"/>
            </p:cNvSpPr>
            <p:nvPr/>
          </p:nvSpPr>
          <p:spPr bwMode="auto">
            <a:xfrm>
              <a:off x="288" y="177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t>0</a:t>
              </a:r>
            </a:p>
          </p:txBody>
        </p:sp>
        <p:sp>
          <p:nvSpPr>
            <p:cNvPr id="5186" name="Text Box 66"/>
            <p:cNvSpPr txBox="1">
              <a:spLocks noChangeArrowheads="1"/>
            </p:cNvSpPr>
            <p:nvPr/>
          </p:nvSpPr>
          <p:spPr bwMode="auto">
            <a:xfrm>
              <a:off x="1536" y="182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t>1</a:t>
              </a:r>
              <a:endParaRPr lang="en-US" altLang="zh-CN" sz="2000" b="1"/>
            </a:p>
          </p:txBody>
        </p:sp>
        <p:sp>
          <p:nvSpPr>
            <p:cNvPr id="5200" name="Text Box 80"/>
            <p:cNvSpPr txBox="1">
              <a:spLocks noChangeArrowheads="1"/>
            </p:cNvSpPr>
            <p:nvPr/>
          </p:nvSpPr>
          <p:spPr bwMode="auto">
            <a:xfrm>
              <a:off x="1008" y="912"/>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sym typeface="Symbol" panose="05050102010706020507" pitchFamily="18" charset="2"/>
                </a:rPr>
                <a:t> &gt;</a:t>
              </a:r>
              <a:r>
                <a:rPr lang="en-US" altLang="zh-CN" b="1">
                  <a:sym typeface="Symbol" panose="05050102010706020507" pitchFamily="18" charset="2"/>
                </a:rPr>
                <a:t>1</a:t>
              </a:r>
              <a:endParaRPr lang="en-US" altLang="zh-CN" b="1"/>
            </a:p>
          </p:txBody>
        </p:sp>
      </p:grpSp>
      <p:grpSp>
        <p:nvGrpSpPr>
          <p:cNvPr id="5210" name="Group 90"/>
          <p:cNvGrpSpPr>
            <a:grpSpLocks/>
          </p:cNvGrpSpPr>
          <p:nvPr/>
        </p:nvGrpSpPr>
        <p:grpSpPr bwMode="auto">
          <a:xfrm>
            <a:off x="3048000" y="1081088"/>
            <a:ext cx="3159125" cy="2790825"/>
            <a:chOff x="1920" y="624"/>
            <a:chExt cx="1990" cy="1758"/>
          </a:xfrm>
        </p:grpSpPr>
        <p:sp>
          <p:nvSpPr>
            <p:cNvPr id="5127" name="Line 7"/>
            <p:cNvSpPr>
              <a:spLocks noChangeShapeType="1"/>
            </p:cNvSpPr>
            <p:nvPr/>
          </p:nvSpPr>
          <p:spPr bwMode="auto">
            <a:xfrm flipV="1">
              <a:off x="2400" y="2112"/>
              <a:ext cx="13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8" name="Line 8"/>
            <p:cNvSpPr>
              <a:spLocks noChangeShapeType="1"/>
            </p:cNvSpPr>
            <p:nvPr/>
          </p:nvSpPr>
          <p:spPr bwMode="auto">
            <a:xfrm flipV="1">
              <a:off x="2385" y="696"/>
              <a:ext cx="0" cy="143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6" name="Text Box 16"/>
            <p:cNvSpPr txBox="1">
              <a:spLocks noChangeArrowheads="1"/>
            </p:cNvSpPr>
            <p:nvPr/>
          </p:nvSpPr>
          <p:spPr bwMode="auto">
            <a:xfrm>
              <a:off x="2309" y="2122"/>
              <a:ext cx="30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0</a:t>
              </a:r>
            </a:p>
          </p:txBody>
        </p:sp>
        <p:sp>
          <p:nvSpPr>
            <p:cNvPr id="5137" name="Text Box 17"/>
            <p:cNvSpPr txBox="1">
              <a:spLocks noChangeArrowheads="1"/>
            </p:cNvSpPr>
            <p:nvPr/>
          </p:nvSpPr>
          <p:spPr bwMode="auto">
            <a:xfrm>
              <a:off x="3648" y="2094"/>
              <a:ext cx="2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t</a:t>
              </a:r>
            </a:p>
          </p:txBody>
        </p:sp>
        <p:sp>
          <p:nvSpPr>
            <p:cNvPr id="5138" name="Text Box 18"/>
            <p:cNvSpPr txBox="1">
              <a:spLocks noChangeArrowheads="1"/>
            </p:cNvSpPr>
            <p:nvPr/>
          </p:nvSpPr>
          <p:spPr bwMode="auto">
            <a:xfrm>
              <a:off x="2208" y="624"/>
              <a:ext cx="3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p>
          </p:txBody>
        </p:sp>
        <p:sp>
          <p:nvSpPr>
            <p:cNvPr id="5205" name="Text Box 85"/>
            <p:cNvSpPr txBox="1">
              <a:spLocks noChangeArrowheads="1"/>
            </p:cNvSpPr>
            <p:nvPr/>
          </p:nvSpPr>
          <p:spPr bwMode="auto">
            <a:xfrm>
              <a:off x="2928" y="864"/>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sym typeface="Symbol" panose="05050102010706020507" pitchFamily="18" charset="2"/>
                </a:rPr>
                <a:t> &gt;</a:t>
              </a:r>
              <a:r>
                <a:rPr lang="en-US" altLang="zh-CN" b="1">
                  <a:sym typeface="Symbol" panose="05050102010706020507" pitchFamily="18" charset="2"/>
                </a:rPr>
                <a:t>1</a:t>
              </a:r>
              <a:endParaRPr lang="en-US" altLang="zh-CN" b="1"/>
            </a:p>
          </p:txBody>
        </p:sp>
        <p:sp>
          <p:nvSpPr>
            <p:cNvPr id="5207" name="Text Box 87"/>
            <p:cNvSpPr txBox="1">
              <a:spLocks noChangeArrowheads="1"/>
            </p:cNvSpPr>
            <p:nvPr/>
          </p:nvSpPr>
          <p:spPr bwMode="auto">
            <a:xfrm>
              <a:off x="1920" y="1344"/>
              <a:ext cx="6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a:t>1-1/</a:t>
              </a:r>
              <a:r>
                <a:rPr lang="en-US" altLang="zh-CN" sz="2000" b="1" dirty="0">
                  <a:sym typeface="Symbol" panose="05050102010706020507" pitchFamily="18" charset="2"/>
                </a:rPr>
                <a:t></a:t>
              </a:r>
              <a:endParaRPr lang="en-US" altLang="zh-CN" sz="2000" b="1" dirty="0"/>
            </a:p>
          </p:txBody>
        </p:sp>
      </p:grpSp>
      <p:grpSp>
        <p:nvGrpSpPr>
          <p:cNvPr id="5219" name="Group 99"/>
          <p:cNvGrpSpPr>
            <a:grpSpLocks/>
          </p:cNvGrpSpPr>
          <p:nvPr/>
        </p:nvGrpSpPr>
        <p:grpSpPr bwMode="auto">
          <a:xfrm>
            <a:off x="6400800" y="1157288"/>
            <a:ext cx="2438400" cy="2574925"/>
            <a:chOff x="4032" y="672"/>
            <a:chExt cx="1536" cy="1622"/>
          </a:xfrm>
        </p:grpSpPr>
        <p:sp>
          <p:nvSpPr>
            <p:cNvPr id="5189" name="Line 69"/>
            <p:cNvSpPr>
              <a:spLocks noChangeShapeType="1"/>
            </p:cNvSpPr>
            <p:nvPr/>
          </p:nvSpPr>
          <p:spPr bwMode="auto">
            <a:xfrm>
              <a:off x="4160" y="2047"/>
              <a:ext cx="13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0" name="Line 70"/>
            <p:cNvSpPr>
              <a:spLocks noChangeShapeType="1"/>
            </p:cNvSpPr>
            <p:nvPr/>
          </p:nvSpPr>
          <p:spPr bwMode="auto">
            <a:xfrm flipV="1">
              <a:off x="4160" y="755"/>
              <a:ext cx="0" cy="12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3" name="Text Box 73"/>
            <p:cNvSpPr txBox="1">
              <a:spLocks noChangeArrowheads="1"/>
            </p:cNvSpPr>
            <p:nvPr/>
          </p:nvSpPr>
          <p:spPr bwMode="auto">
            <a:xfrm>
              <a:off x="4032" y="672"/>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p>
          </p:txBody>
        </p:sp>
        <p:sp>
          <p:nvSpPr>
            <p:cNvPr id="5194" name="Text Box 74"/>
            <p:cNvSpPr txBox="1">
              <a:spLocks noChangeArrowheads="1"/>
            </p:cNvSpPr>
            <p:nvPr/>
          </p:nvSpPr>
          <p:spPr bwMode="auto">
            <a:xfrm>
              <a:off x="4096" y="2039"/>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0</a:t>
              </a:r>
            </a:p>
          </p:txBody>
        </p:sp>
        <p:sp>
          <p:nvSpPr>
            <p:cNvPr id="5195" name="Text Box 75"/>
            <p:cNvSpPr txBox="1">
              <a:spLocks noChangeArrowheads="1"/>
            </p:cNvSpPr>
            <p:nvPr/>
          </p:nvSpPr>
          <p:spPr bwMode="auto">
            <a:xfrm>
              <a:off x="5376" y="2006"/>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t</a:t>
              </a:r>
            </a:p>
          </p:txBody>
        </p:sp>
        <p:sp>
          <p:nvSpPr>
            <p:cNvPr id="5214" name="Text Box 94"/>
            <p:cNvSpPr txBox="1">
              <a:spLocks noChangeArrowheads="1"/>
            </p:cNvSpPr>
            <p:nvPr/>
          </p:nvSpPr>
          <p:spPr bwMode="auto">
            <a:xfrm>
              <a:off x="4704" y="864"/>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sym typeface="Symbol" panose="05050102010706020507" pitchFamily="18" charset="2"/>
                </a:rPr>
                <a:t> </a:t>
              </a:r>
              <a:r>
                <a:rPr lang="en-US" altLang="zh-CN" b="1">
                  <a:sym typeface="Symbol" panose="05050102010706020507" pitchFamily="18" charset="2"/>
                </a:rPr>
                <a:t>1</a:t>
              </a:r>
              <a:endParaRPr lang="en-US" altLang="zh-CN" b="1"/>
            </a:p>
          </p:txBody>
        </p:sp>
      </p:grpSp>
      <p:grpSp>
        <p:nvGrpSpPr>
          <p:cNvPr id="5222" name="Group 102"/>
          <p:cNvGrpSpPr>
            <a:grpSpLocks/>
          </p:cNvGrpSpPr>
          <p:nvPr/>
        </p:nvGrpSpPr>
        <p:grpSpPr bwMode="auto">
          <a:xfrm>
            <a:off x="7315200" y="2060848"/>
            <a:ext cx="1371600" cy="522288"/>
            <a:chOff x="4608" y="1200"/>
            <a:chExt cx="864" cy="329"/>
          </a:xfrm>
        </p:grpSpPr>
        <p:sp>
          <p:nvSpPr>
            <p:cNvPr id="5220" name="Text Box 100"/>
            <p:cNvSpPr txBox="1">
              <a:spLocks noChangeArrowheads="1"/>
            </p:cNvSpPr>
            <p:nvPr/>
          </p:nvSpPr>
          <p:spPr bwMode="auto">
            <a:xfrm>
              <a:off x="4608" y="1296"/>
              <a:ext cx="8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i="1" dirty="0"/>
                <a:t>di</a:t>
              </a:r>
              <a:r>
                <a:rPr lang="en-US" altLang="zh-CN" b="1" dirty="0"/>
                <a:t>/</a:t>
              </a:r>
              <a:r>
                <a:rPr lang="en-US" altLang="zh-CN" b="1" i="1" dirty="0" err="1"/>
                <a:t>dt</a:t>
              </a:r>
              <a:r>
                <a:rPr lang="en-US" altLang="zh-CN" b="1" i="1" dirty="0"/>
                <a:t> </a:t>
              </a:r>
              <a:r>
                <a:rPr lang="en-US" altLang="zh-CN" b="1" dirty="0"/>
                <a:t>&lt; 0</a:t>
              </a:r>
            </a:p>
          </p:txBody>
        </p:sp>
        <p:sp>
          <p:nvSpPr>
            <p:cNvPr id="5221" name="AutoShape 101"/>
            <p:cNvSpPr>
              <a:spLocks noChangeArrowheads="1"/>
            </p:cNvSpPr>
            <p:nvPr/>
          </p:nvSpPr>
          <p:spPr bwMode="auto">
            <a:xfrm>
              <a:off x="4800" y="1200"/>
              <a:ext cx="306" cy="96"/>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8171823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5198"/>
                                        </p:tgtEl>
                                        <p:attrNameLst>
                                          <p:attrName>style.visibility</p:attrName>
                                        </p:attrNameLst>
                                      </p:cBhvr>
                                      <p:to>
                                        <p:strVal val="visible"/>
                                      </p:to>
                                    </p:set>
                                    <p:animEffect transition="in" filter="box(out)">
                                      <p:cBhvr>
                                        <p:cTn id="7" dur="500"/>
                                        <p:tgtEl>
                                          <p:spTgt spid="51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516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5124"/>
                                        </p:tgtEl>
                                        <p:attrNameLst>
                                          <p:attrName>style.visibility</p:attrName>
                                        </p:attrNameLst>
                                      </p:cBhvr>
                                      <p:to>
                                        <p:strVal val="visible"/>
                                      </p:to>
                                    </p:set>
                                    <p:animEffect transition="in" filter="box(out)">
                                      <p:cBhvr>
                                        <p:cTn id="16" dur="500"/>
                                        <p:tgtEl>
                                          <p:spTgt spid="51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5206"/>
                                        </p:tgtEl>
                                        <p:attrNameLst>
                                          <p:attrName>style.visibility</p:attrName>
                                        </p:attrNameLst>
                                      </p:cBhvr>
                                      <p:to>
                                        <p:strVal val="visible"/>
                                      </p:to>
                                    </p:set>
                                    <p:animEffect transition="in" filter="dissolve">
                                      <p:cBhvr>
                                        <p:cTn id="21" dur="500"/>
                                        <p:tgtEl>
                                          <p:spTgt spid="520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nodeType="clickEffect">
                                  <p:stCondLst>
                                    <p:cond delay="0"/>
                                  </p:stCondLst>
                                  <p:childTnLst>
                                    <p:set>
                                      <p:cBhvr>
                                        <p:cTn id="25" dur="1" fill="hold">
                                          <p:stCondLst>
                                            <p:cond delay="0"/>
                                          </p:stCondLst>
                                        </p:cTn>
                                        <p:tgtEl>
                                          <p:spTgt spid="5209"/>
                                        </p:tgtEl>
                                        <p:attrNameLst>
                                          <p:attrName>style.visibility</p:attrName>
                                        </p:attrNameLst>
                                      </p:cBhvr>
                                      <p:to>
                                        <p:strVal val="visible"/>
                                      </p:to>
                                    </p:set>
                                    <p:animEffect transition="in" filter="dissolve">
                                      <p:cBhvr>
                                        <p:cTn id="26" dur="500"/>
                                        <p:tgtEl>
                                          <p:spTgt spid="520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5210"/>
                                        </p:tgtEl>
                                        <p:attrNameLst>
                                          <p:attrName>style.visibility</p:attrName>
                                        </p:attrNameLst>
                                      </p:cBhvr>
                                      <p:to>
                                        <p:strVal val="visible"/>
                                      </p:to>
                                    </p:set>
                                    <p:animEffect transition="in" filter="dissolve">
                                      <p:cBhvr>
                                        <p:cTn id="31" dur="500"/>
                                        <p:tgtEl>
                                          <p:spTgt spid="52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nodeType="clickEffect">
                                  <p:stCondLst>
                                    <p:cond delay="0"/>
                                  </p:stCondLst>
                                  <p:childTnLst>
                                    <p:set>
                                      <p:cBhvr>
                                        <p:cTn id="35" dur="1" fill="hold">
                                          <p:stCondLst>
                                            <p:cond delay="0"/>
                                          </p:stCondLst>
                                        </p:cTn>
                                        <p:tgtEl>
                                          <p:spTgt spid="5211"/>
                                        </p:tgtEl>
                                        <p:attrNameLst>
                                          <p:attrName>style.visibility</p:attrName>
                                        </p:attrNameLst>
                                      </p:cBhvr>
                                      <p:to>
                                        <p:strVal val="visible"/>
                                      </p:to>
                                    </p:set>
                                    <p:animEffect transition="in" filter="box(in)">
                                      <p:cBhvr>
                                        <p:cTn id="36" dur="500"/>
                                        <p:tgtEl>
                                          <p:spTgt spid="521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nodeType="clickEffect">
                                  <p:stCondLst>
                                    <p:cond delay="0"/>
                                  </p:stCondLst>
                                  <p:childTnLst>
                                    <p:set>
                                      <p:cBhvr>
                                        <p:cTn id="40" dur="1" fill="hold">
                                          <p:stCondLst>
                                            <p:cond delay="0"/>
                                          </p:stCondLst>
                                        </p:cTn>
                                        <p:tgtEl>
                                          <p:spTgt spid="5212"/>
                                        </p:tgtEl>
                                        <p:attrNameLst>
                                          <p:attrName>style.visibility</p:attrName>
                                        </p:attrNameLst>
                                      </p:cBhvr>
                                      <p:to>
                                        <p:strVal val="visible"/>
                                      </p:to>
                                    </p:set>
                                    <p:animEffect transition="in" filter="box(in)">
                                      <p:cBhvr>
                                        <p:cTn id="41" dur="500"/>
                                        <p:tgtEl>
                                          <p:spTgt spid="521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5219"/>
                                        </p:tgtEl>
                                        <p:attrNameLst>
                                          <p:attrName>style.visibility</p:attrName>
                                        </p:attrNameLst>
                                      </p:cBhvr>
                                      <p:to>
                                        <p:strVal val="visible"/>
                                      </p:to>
                                    </p:set>
                                    <p:animEffect transition="in" filter="dissolve">
                                      <p:cBhvr>
                                        <p:cTn id="46" dur="500"/>
                                        <p:tgtEl>
                                          <p:spTgt spid="521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5222"/>
                                        </p:tgtEl>
                                        <p:attrNameLst>
                                          <p:attrName>style.visibility</p:attrName>
                                        </p:attrNameLst>
                                      </p:cBhvr>
                                      <p:to>
                                        <p:strVal val="visible"/>
                                      </p:to>
                                    </p:set>
                                    <p:animEffect transition="in" filter="dissolve">
                                      <p:cBhvr>
                                        <p:cTn id="51" dur="500"/>
                                        <p:tgtEl>
                                          <p:spTgt spid="522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5216"/>
                                        </p:tgtEl>
                                        <p:attrNameLst>
                                          <p:attrName>style.visibility</p:attrName>
                                        </p:attrNameLst>
                                      </p:cBhvr>
                                      <p:to>
                                        <p:strVal val="visible"/>
                                      </p:to>
                                    </p:set>
                                    <p:animEffect transition="in" filter="dissolve">
                                      <p:cBhvr>
                                        <p:cTn id="56" dur="500"/>
                                        <p:tgtEl>
                                          <p:spTgt spid="521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nodeType="clickEffect">
                                  <p:stCondLst>
                                    <p:cond delay="0"/>
                                  </p:stCondLst>
                                  <p:childTnLst>
                                    <p:set>
                                      <p:cBhvr>
                                        <p:cTn id="60" dur="1" fill="hold">
                                          <p:stCondLst>
                                            <p:cond delay="0"/>
                                          </p:stCondLst>
                                        </p:cTn>
                                        <p:tgtEl>
                                          <p:spTgt spid="5123"/>
                                        </p:tgtEl>
                                        <p:attrNameLst>
                                          <p:attrName>style.visibility</p:attrName>
                                        </p:attrNameLst>
                                      </p:cBhvr>
                                      <p:to>
                                        <p:strVal val="visible"/>
                                      </p:to>
                                    </p:set>
                                    <p:animEffect transition="in" filter="box(in)">
                                      <p:cBhvr>
                                        <p:cTn id="61" dur="500"/>
                                        <p:tgtEl>
                                          <p:spTgt spid="512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5166"/>
                                        </p:tgtEl>
                                        <p:attrNameLst>
                                          <p:attrName>style.visibility</p:attrName>
                                        </p:attrNameLst>
                                      </p:cBhvr>
                                      <p:to>
                                        <p:strVal val="visible"/>
                                      </p:to>
                                    </p:set>
                                    <p:animEffect transition="in" filter="blinds(horizontal)">
                                      <p:cBhvr>
                                        <p:cTn id="66" dur="500"/>
                                        <p:tgtEl>
                                          <p:spTgt spid="516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 presetClass="entr" presetSubtype="10" fill="hold" nodeType="clickEffect">
                                  <p:stCondLst>
                                    <p:cond delay="0"/>
                                  </p:stCondLst>
                                  <p:childTnLst>
                                    <p:set>
                                      <p:cBhvr>
                                        <p:cTn id="70" dur="1" fill="hold">
                                          <p:stCondLst>
                                            <p:cond delay="0"/>
                                          </p:stCondLst>
                                        </p:cTn>
                                        <p:tgtEl>
                                          <p:spTgt spid="5172"/>
                                        </p:tgtEl>
                                        <p:attrNameLst>
                                          <p:attrName>style.visibility</p:attrName>
                                        </p:attrNameLst>
                                      </p:cBhvr>
                                      <p:to>
                                        <p:strVal val="visible"/>
                                      </p:to>
                                    </p:set>
                                    <p:animEffect transition="in" filter="checkerboard(across)">
                                      <p:cBhvr>
                                        <p:cTn id="71" dur="500"/>
                                        <p:tgtEl>
                                          <p:spTgt spid="517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5" presetClass="entr" presetSubtype="10" fill="hold" nodeType="clickEffect">
                                  <p:stCondLst>
                                    <p:cond delay="0"/>
                                  </p:stCondLst>
                                  <p:childTnLst>
                                    <p:set>
                                      <p:cBhvr>
                                        <p:cTn id="75" dur="1" fill="hold">
                                          <p:stCondLst>
                                            <p:cond delay="0"/>
                                          </p:stCondLst>
                                        </p:cTn>
                                        <p:tgtEl>
                                          <p:spTgt spid="5173"/>
                                        </p:tgtEl>
                                        <p:attrNameLst>
                                          <p:attrName>style.visibility</p:attrName>
                                        </p:attrNameLst>
                                      </p:cBhvr>
                                      <p:to>
                                        <p:strVal val="visible"/>
                                      </p:to>
                                    </p:set>
                                    <p:animEffect transition="in" filter="checkerboard(across)">
                                      <p:cBhvr>
                                        <p:cTn id="76" dur="500"/>
                                        <p:tgtEl>
                                          <p:spTgt spid="517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3" presetClass="entr" presetSubtype="10" fill="hold" nodeType="clickEffect">
                                  <p:stCondLst>
                                    <p:cond delay="0"/>
                                  </p:stCondLst>
                                  <p:childTnLst>
                                    <p:set>
                                      <p:cBhvr>
                                        <p:cTn id="80" dur="1" fill="hold">
                                          <p:stCondLst>
                                            <p:cond delay="0"/>
                                          </p:stCondLst>
                                        </p:cTn>
                                        <p:tgtEl>
                                          <p:spTgt spid="5218"/>
                                        </p:tgtEl>
                                        <p:attrNameLst>
                                          <p:attrName>style.visibility</p:attrName>
                                        </p:attrNameLst>
                                      </p:cBhvr>
                                      <p:to>
                                        <p:strVal val="visible"/>
                                      </p:to>
                                    </p:set>
                                    <p:animEffect transition="in" filter="blinds(horizontal)">
                                      <p:cBhvr>
                                        <p:cTn id="81" dur="500"/>
                                        <p:tgtEl>
                                          <p:spTgt spid="5218"/>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6" presetClass="entr" presetSubtype="42" fill="hold" grpId="0" nodeType="clickEffect">
                                  <p:stCondLst>
                                    <p:cond delay="0"/>
                                  </p:stCondLst>
                                  <p:childTnLst>
                                    <p:set>
                                      <p:cBhvr>
                                        <p:cTn id="85" dur="1" fill="hold">
                                          <p:stCondLst>
                                            <p:cond delay="0"/>
                                          </p:stCondLst>
                                        </p:cTn>
                                        <p:tgtEl>
                                          <p:spTgt spid="5175"/>
                                        </p:tgtEl>
                                        <p:attrNameLst>
                                          <p:attrName>style.visibility</p:attrName>
                                        </p:attrNameLst>
                                      </p:cBhvr>
                                      <p:to>
                                        <p:strVal val="visible"/>
                                      </p:to>
                                    </p:set>
                                    <p:animEffect transition="in" filter="barn(outHorizontal)">
                                      <p:cBhvr>
                                        <p:cTn id="86" dur="500"/>
                                        <p:tgtEl>
                                          <p:spTgt spid="5175"/>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2" presetClass="entr" presetSubtype="4" fill="hold" grpId="0" nodeType="clickEffect">
                                  <p:stCondLst>
                                    <p:cond delay="0"/>
                                  </p:stCondLst>
                                  <p:childTnLst>
                                    <p:set>
                                      <p:cBhvr>
                                        <p:cTn id="90" dur="1" fill="hold">
                                          <p:stCondLst>
                                            <p:cond delay="0"/>
                                          </p:stCondLst>
                                        </p:cTn>
                                        <p:tgtEl>
                                          <p:spTgt spid="5199"/>
                                        </p:tgtEl>
                                        <p:attrNameLst>
                                          <p:attrName>style.visibility</p:attrName>
                                        </p:attrNameLst>
                                      </p:cBhvr>
                                      <p:to>
                                        <p:strVal val="visible"/>
                                      </p:to>
                                    </p:set>
                                    <p:animEffect transition="in" filter="slide(fromBottom)">
                                      <p:cBhvr>
                                        <p:cTn id="91" dur="500"/>
                                        <p:tgtEl>
                                          <p:spTgt spid="5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6" grpId="0" autoUpdateAnimBg="0"/>
      <p:bldP spid="5175" grpId="0" autoUpdateAnimBg="0"/>
      <p:bldP spid="5199"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98" name="Text Box 54"/>
          <p:cNvSpPr txBox="1">
            <a:spLocks noChangeArrowheads="1"/>
          </p:cNvSpPr>
          <p:nvPr/>
        </p:nvSpPr>
        <p:spPr bwMode="auto">
          <a:xfrm>
            <a:off x="381000" y="533400"/>
            <a:ext cx="1371600"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dirty="0">
                <a:ea typeface="楷体_GB2312" pitchFamily="49" charset="-122"/>
              </a:rPr>
              <a:t>模型</a:t>
            </a:r>
            <a:r>
              <a:rPr lang="en-US" altLang="zh-CN" sz="3200" b="1" dirty="0"/>
              <a:t>4</a:t>
            </a:r>
          </a:p>
        </p:txBody>
      </p:sp>
      <p:sp>
        <p:nvSpPr>
          <p:cNvPr id="6199" name="Text Box 55"/>
          <p:cNvSpPr txBox="1">
            <a:spLocks noChangeArrowheads="1"/>
          </p:cNvSpPr>
          <p:nvPr/>
        </p:nvSpPr>
        <p:spPr bwMode="auto">
          <a:xfrm>
            <a:off x="1981200" y="457200"/>
            <a:ext cx="4953000" cy="11176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dirty="0"/>
              <a:t>传染病有免疫性</a:t>
            </a:r>
            <a:r>
              <a:rPr lang="en-US" altLang="zh-CN" sz="2800" b="1" dirty="0"/>
              <a:t>——</a:t>
            </a:r>
            <a:r>
              <a:rPr lang="zh-CN" altLang="en-US" sz="2800" b="1" dirty="0"/>
              <a:t>病人治愈后即移出感染系统，称</a:t>
            </a:r>
            <a:r>
              <a:rPr lang="zh-CN" altLang="en-US" sz="2800" b="1" dirty="0">
                <a:solidFill>
                  <a:srgbClr val="FF3300"/>
                </a:solidFill>
              </a:rPr>
              <a:t>移出者</a:t>
            </a:r>
          </a:p>
        </p:txBody>
      </p:sp>
      <p:sp>
        <p:nvSpPr>
          <p:cNvPr id="6200" name="Text Box 56"/>
          <p:cNvSpPr txBox="1">
            <a:spLocks noChangeArrowheads="1"/>
          </p:cNvSpPr>
          <p:nvPr/>
        </p:nvSpPr>
        <p:spPr bwMode="auto">
          <a:xfrm>
            <a:off x="7164288" y="692696"/>
            <a:ext cx="1797496"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a:t>SI</a:t>
            </a:r>
            <a:r>
              <a:rPr lang="en-US" altLang="zh-CN" sz="2800" b="1">
                <a:solidFill>
                  <a:srgbClr val="FF3300"/>
                </a:solidFill>
              </a:rPr>
              <a:t>R</a:t>
            </a:r>
            <a:r>
              <a:rPr lang="zh-CN" altLang="zh-CN" sz="2800" b="1">
                <a:ea typeface="楷体_GB2312" pitchFamily="49" charset="-122"/>
              </a:rPr>
              <a:t>模型</a:t>
            </a:r>
            <a:endParaRPr lang="zh-CN" altLang="en-US" sz="2800" b="1">
              <a:ea typeface="楷体_GB2312" pitchFamily="49" charset="-122"/>
            </a:endParaRPr>
          </a:p>
        </p:txBody>
      </p:sp>
      <p:sp>
        <p:nvSpPr>
          <p:cNvPr id="6201" name="Text Box 57"/>
          <p:cNvSpPr txBox="1">
            <a:spLocks noChangeArrowheads="1"/>
          </p:cNvSpPr>
          <p:nvPr/>
        </p:nvSpPr>
        <p:spPr bwMode="auto">
          <a:xfrm>
            <a:off x="381000" y="1919288"/>
            <a:ext cx="990600" cy="51911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ea typeface="楷体_GB2312" pitchFamily="49" charset="-122"/>
              </a:rPr>
              <a:t>假设</a:t>
            </a:r>
          </a:p>
        </p:txBody>
      </p:sp>
      <p:grpSp>
        <p:nvGrpSpPr>
          <p:cNvPr id="6212" name="Group 68"/>
          <p:cNvGrpSpPr>
            <a:grpSpLocks/>
          </p:cNvGrpSpPr>
          <p:nvPr/>
        </p:nvGrpSpPr>
        <p:grpSpPr bwMode="auto">
          <a:xfrm>
            <a:off x="1751013" y="1827213"/>
            <a:ext cx="6096000" cy="1144587"/>
            <a:chOff x="1103" y="1440"/>
            <a:chExt cx="3840" cy="721"/>
          </a:xfrm>
        </p:grpSpPr>
        <p:sp>
          <p:nvSpPr>
            <p:cNvPr id="6203" name="Text Box 59"/>
            <p:cNvSpPr txBox="1">
              <a:spLocks noChangeArrowheads="1"/>
            </p:cNvSpPr>
            <p:nvPr/>
          </p:nvSpPr>
          <p:spPr bwMode="auto">
            <a:xfrm>
              <a:off x="1103" y="1440"/>
              <a:ext cx="3840" cy="704"/>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sz="2800" b="1" dirty="0"/>
                <a:t>1</a:t>
              </a:r>
              <a:r>
                <a:rPr lang="zh-CN" altLang="en-US" sz="2800" b="1" dirty="0"/>
                <a:t>）总人数</a:t>
              </a:r>
              <a:r>
                <a:rPr lang="en-US" altLang="zh-CN" sz="2800" b="1" i="1" dirty="0"/>
                <a:t>N</a:t>
              </a:r>
              <a:r>
                <a:rPr lang="zh-CN" altLang="en-US" sz="2800" b="1" dirty="0"/>
                <a:t>不变，病人、健康人和移出者的比例分别为</a:t>
              </a:r>
            </a:p>
          </p:txBody>
        </p:sp>
        <p:graphicFrame>
          <p:nvGraphicFramePr>
            <p:cNvPr id="6204" name="Object 60"/>
            <p:cNvGraphicFramePr>
              <a:graphicFrameLocks noChangeAspect="1"/>
            </p:cNvGraphicFramePr>
            <p:nvPr/>
          </p:nvGraphicFramePr>
          <p:xfrm>
            <a:off x="2990" y="1824"/>
            <a:ext cx="1810" cy="337"/>
          </p:xfrm>
          <a:graphic>
            <a:graphicData uri="http://schemas.openxmlformats.org/presentationml/2006/ole">
              <mc:AlternateContent xmlns:mc="http://schemas.openxmlformats.org/markup-compatibility/2006">
                <mc:Choice xmlns:v="urn:schemas-microsoft-com:vml" Requires="v">
                  <p:oleObj spid="_x0000_s7392" name="公式" r:id="rId3" imgW="977760" imgH="241200" progId="Equation.3">
                    <p:embed/>
                  </p:oleObj>
                </mc:Choice>
                <mc:Fallback>
                  <p:oleObj name="公式" r:id="rId3" imgW="977760" imgH="241200" progId="Equation.3">
                    <p:embed/>
                    <p:pic>
                      <p:nvPicPr>
                        <p:cNvPr id="6204" name="Object 60"/>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0" y="1824"/>
                          <a:ext cx="1810"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206" name="Text Box 62"/>
          <p:cNvSpPr txBox="1">
            <a:spLocks noChangeArrowheads="1"/>
          </p:cNvSpPr>
          <p:nvPr/>
        </p:nvSpPr>
        <p:spPr bwMode="auto">
          <a:xfrm>
            <a:off x="1676399" y="3200400"/>
            <a:ext cx="6170613" cy="10318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pPr>
            <a:r>
              <a:rPr lang="en-US" altLang="zh-CN" sz="2800" b="1" dirty="0">
                <a:sym typeface="Symbol" panose="05050102010706020507" pitchFamily="18" charset="2"/>
              </a:rPr>
              <a:t>2</a:t>
            </a:r>
            <a:r>
              <a:rPr lang="zh-CN" altLang="en-US" sz="2800" b="1" dirty="0">
                <a:sym typeface="Symbol" panose="05050102010706020507" pitchFamily="18" charset="2"/>
              </a:rPr>
              <a:t>）病人的日接触率</a:t>
            </a:r>
            <a:r>
              <a:rPr lang="zh-CN" altLang="en-US" sz="2800" b="1" i="1" dirty="0">
                <a:sym typeface="Symbol" panose="05050102010706020507" pitchFamily="18" charset="2"/>
              </a:rPr>
              <a:t></a:t>
            </a:r>
            <a:r>
              <a:rPr lang="zh-CN" altLang="en-US" sz="2800" b="1" dirty="0">
                <a:sym typeface="Symbol" panose="05050102010706020507" pitchFamily="18" charset="2"/>
              </a:rPr>
              <a:t> </a:t>
            </a:r>
            <a:r>
              <a:rPr lang="en-US" altLang="zh-CN" sz="2800" b="1" dirty="0">
                <a:sym typeface="Symbol" panose="05050102010706020507" pitchFamily="18" charset="2"/>
              </a:rPr>
              <a:t>, </a:t>
            </a:r>
            <a:r>
              <a:rPr lang="zh-CN" altLang="en-US" sz="2800" b="1" dirty="0">
                <a:sym typeface="Symbol" panose="05050102010706020507" pitchFamily="18" charset="2"/>
              </a:rPr>
              <a:t>日</a:t>
            </a:r>
            <a:r>
              <a:rPr lang="zh-CN" altLang="en-US" sz="2800" b="1" dirty="0"/>
              <a:t>治愈率</a:t>
            </a:r>
            <a:r>
              <a:rPr lang="zh-CN" altLang="en-US" sz="2800" b="1" i="1" dirty="0">
                <a:sym typeface="Symbol" panose="05050102010706020507" pitchFamily="18" charset="2"/>
              </a:rPr>
              <a:t></a:t>
            </a:r>
            <a:r>
              <a:rPr lang="en-US" altLang="zh-CN" sz="2800" b="1" dirty="0">
                <a:sym typeface="Symbol" panose="05050102010706020507" pitchFamily="18" charset="2"/>
              </a:rPr>
              <a:t>, </a:t>
            </a:r>
          </a:p>
          <a:p>
            <a:pPr>
              <a:spcBef>
                <a:spcPct val="20000"/>
              </a:spcBef>
            </a:pPr>
            <a:r>
              <a:rPr lang="en-US" altLang="zh-CN" sz="2800" b="1" dirty="0">
                <a:sym typeface="Symbol" panose="05050102010706020507" pitchFamily="18" charset="2"/>
              </a:rPr>
              <a:t>     </a:t>
            </a:r>
            <a:r>
              <a:rPr lang="zh-CN" altLang="en-US" sz="2800" b="1" dirty="0"/>
              <a:t>接触数 </a:t>
            </a:r>
            <a:r>
              <a:rPr lang="zh-CN" altLang="en-US" sz="2800" b="1" i="1" dirty="0">
                <a:sym typeface="Symbol" panose="05050102010706020507" pitchFamily="18" charset="2"/>
              </a:rPr>
              <a:t> </a:t>
            </a:r>
            <a:r>
              <a:rPr lang="en-US" altLang="zh-CN" sz="2800" b="1" i="1" dirty="0">
                <a:sym typeface="Symbol" panose="05050102010706020507" pitchFamily="18" charset="2"/>
              </a:rPr>
              <a:t>=  / </a:t>
            </a:r>
          </a:p>
        </p:txBody>
      </p:sp>
      <p:sp>
        <p:nvSpPr>
          <p:cNvPr id="6207" name="Text Box 63"/>
          <p:cNvSpPr txBox="1">
            <a:spLocks noChangeArrowheads="1"/>
          </p:cNvSpPr>
          <p:nvPr/>
        </p:nvSpPr>
        <p:spPr bwMode="auto">
          <a:xfrm>
            <a:off x="381000" y="4510088"/>
            <a:ext cx="990600" cy="51911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ea typeface="楷体_GB2312" pitchFamily="49" charset="-122"/>
              </a:rPr>
              <a:t>建模</a:t>
            </a:r>
          </a:p>
        </p:txBody>
      </p:sp>
      <p:graphicFrame>
        <p:nvGraphicFramePr>
          <p:cNvPr id="6208" name="Object 64"/>
          <p:cNvGraphicFramePr>
            <a:graphicFrameLocks noChangeAspect="1"/>
          </p:cNvGraphicFramePr>
          <p:nvPr/>
        </p:nvGraphicFramePr>
        <p:xfrm>
          <a:off x="1676400" y="4402138"/>
          <a:ext cx="4495800" cy="615950"/>
        </p:xfrm>
        <a:graphic>
          <a:graphicData uri="http://schemas.openxmlformats.org/presentationml/2006/ole">
            <mc:AlternateContent xmlns:mc="http://schemas.openxmlformats.org/markup-compatibility/2006">
              <mc:Choice xmlns:v="urn:schemas-microsoft-com:vml" Requires="v">
                <p:oleObj spid="_x0000_s7393" name="公式" r:id="rId5" imgW="1447560" imgH="241200" progId="Equation.3">
                  <p:embed/>
                </p:oleObj>
              </mc:Choice>
              <mc:Fallback>
                <p:oleObj name="公式" r:id="rId5" imgW="1447560" imgH="241200" progId="Equation.3">
                  <p:embed/>
                  <p:pic>
                    <p:nvPicPr>
                      <p:cNvPr id="6208" name="Object 64"/>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4402138"/>
                        <a:ext cx="4495800" cy="6159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214" name="Group 70"/>
          <p:cNvGrpSpPr>
            <a:grpSpLocks/>
          </p:cNvGrpSpPr>
          <p:nvPr/>
        </p:nvGrpSpPr>
        <p:grpSpPr bwMode="auto">
          <a:xfrm>
            <a:off x="1676400" y="5180013"/>
            <a:ext cx="6712024" cy="534987"/>
            <a:chOff x="1248" y="3263"/>
            <a:chExt cx="3936" cy="337"/>
          </a:xfrm>
        </p:grpSpPr>
        <p:sp>
          <p:nvSpPr>
            <p:cNvPr id="6210" name="Text Box 66"/>
            <p:cNvSpPr txBox="1">
              <a:spLocks noChangeArrowheads="1"/>
            </p:cNvSpPr>
            <p:nvPr/>
          </p:nvSpPr>
          <p:spPr bwMode="auto">
            <a:xfrm>
              <a:off x="1248" y="3263"/>
              <a:ext cx="3936" cy="32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需建立                                 的两个方程</a:t>
              </a:r>
            </a:p>
          </p:txBody>
        </p:sp>
        <p:graphicFrame>
          <p:nvGraphicFramePr>
            <p:cNvPr id="6211" name="Object 67"/>
            <p:cNvGraphicFramePr>
              <a:graphicFrameLocks noChangeAspect="1"/>
            </p:cNvGraphicFramePr>
            <p:nvPr/>
          </p:nvGraphicFramePr>
          <p:xfrm>
            <a:off x="2016" y="3263"/>
            <a:ext cx="1879" cy="337"/>
          </p:xfrm>
          <a:graphic>
            <a:graphicData uri="http://schemas.openxmlformats.org/presentationml/2006/ole">
              <mc:AlternateContent xmlns:mc="http://schemas.openxmlformats.org/markup-compatibility/2006">
                <mc:Choice xmlns:v="urn:schemas-microsoft-com:vml" Requires="v">
                  <p:oleObj spid="_x0000_s7394" name="公式" r:id="rId7" imgW="977760" imgH="241200" progId="Equation.3">
                    <p:embed/>
                  </p:oleObj>
                </mc:Choice>
                <mc:Fallback>
                  <p:oleObj name="公式" r:id="rId7" imgW="977760" imgH="241200" progId="Equation.3">
                    <p:embed/>
                    <p:pic>
                      <p:nvPicPr>
                        <p:cNvPr id="6211" name="Object 67"/>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 y="3263"/>
                          <a:ext cx="1879" cy="33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22212678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99"/>
                                        </p:tgtEl>
                                        <p:attrNameLst>
                                          <p:attrName>style.visibility</p:attrName>
                                        </p:attrNameLst>
                                      </p:cBhvr>
                                      <p:to>
                                        <p:strVal val="visible"/>
                                      </p:to>
                                    </p:set>
                                    <p:animEffect transition="in" filter="box(in)">
                                      <p:cBhvr>
                                        <p:cTn id="7" dur="500"/>
                                        <p:tgtEl>
                                          <p:spTgt spid="61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200"/>
                                        </p:tgtEl>
                                        <p:attrNameLst>
                                          <p:attrName>style.visibility</p:attrName>
                                        </p:attrNameLst>
                                      </p:cBhvr>
                                      <p:to>
                                        <p:strVal val="visible"/>
                                      </p:to>
                                    </p:set>
                                    <p:animEffect transition="in" filter="wipe(up)">
                                      <p:cBhvr>
                                        <p:cTn id="12" dur="500"/>
                                        <p:tgtEl>
                                          <p:spTgt spid="62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20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6212"/>
                                        </p:tgtEl>
                                        <p:attrNameLst>
                                          <p:attrName>style.visibility</p:attrName>
                                        </p:attrNameLst>
                                      </p:cBhvr>
                                      <p:to>
                                        <p:strVal val="visible"/>
                                      </p:to>
                                    </p:set>
                                    <p:animEffect transition="in" filter="checkerboard(across)">
                                      <p:cBhvr>
                                        <p:cTn id="21" dur="500"/>
                                        <p:tgtEl>
                                          <p:spTgt spid="621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528" fill="hold" grpId="0" nodeType="clickEffect">
                                  <p:stCondLst>
                                    <p:cond delay="0"/>
                                  </p:stCondLst>
                                  <p:childTnLst>
                                    <p:set>
                                      <p:cBhvr>
                                        <p:cTn id="25" dur="1" fill="hold">
                                          <p:stCondLst>
                                            <p:cond delay="0"/>
                                          </p:stCondLst>
                                        </p:cTn>
                                        <p:tgtEl>
                                          <p:spTgt spid="6206"/>
                                        </p:tgtEl>
                                        <p:attrNameLst>
                                          <p:attrName>style.visibility</p:attrName>
                                        </p:attrNameLst>
                                      </p:cBhvr>
                                      <p:to>
                                        <p:strVal val="visible"/>
                                      </p:to>
                                    </p:set>
                                    <p:anim calcmode="lin" valueType="num">
                                      <p:cBhvr>
                                        <p:cTn id="26" dur="500" fill="hold"/>
                                        <p:tgtEl>
                                          <p:spTgt spid="6206"/>
                                        </p:tgtEl>
                                        <p:attrNameLst>
                                          <p:attrName>ppt_w</p:attrName>
                                        </p:attrNameLst>
                                      </p:cBhvr>
                                      <p:tavLst>
                                        <p:tav tm="0">
                                          <p:val>
                                            <p:fltVal val="0"/>
                                          </p:val>
                                        </p:tav>
                                        <p:tav tm="100000">
                                          <p:val>
                                            <p:strVal val="#ppt_w"/>
                                          </p:val>
                                        </p:tav>
                                      </p:tavLst>
                                    </p:anim>
                                    <p:anim calcmode="lin" valueType="num">
                                      <p:cBhvr>
                                        <p:cTn id="27" dur="500" fill="hold"/>
                                        <p:tgtEl>
                                          <p:spTgt spid="6206"/>
                                        </p:tgtEl>
                                        <p:attrNameLst>
                                          <p:attrName>ppt_h</p:attrName>
                                        </p:attrNameLst>
                                      </p:cBhvr>
                                      <p:tavLst>
                                        <p:tav tm="0">
                                          <p:val>
                                            <p:fltVal val="0"/>
                                          </p:val>
                                        </p:tav>
                                        <p:tav tm="100000">
                                          <p:val>
                                            <p:strVal val="#ppt_h"/>
                                          </p:val>
                                        </p:tav>
                                      </p:tavLst>
                                    </p:anim>
                                    <p:anim calcmode="lin" valueType="num">
                                      <p:cBhvr>
                                        <p:cTn id="28" dur="500" fill="hold"/>
                                        <p:tgtEl>
                                          <p:spTgt spid="6206"/>
                                        </p:tgtEl>
                                        <p:attrNameLst>
                                          <p:attrName>ppt_x</p:attrName>
                                        </p:attrNameLst>
                                      </p:cBhvr>
                                      <p:tavLst>
                                        <p:tav tm="0">
                                          <p:val>
                                            <p:fltVal val="0.5"/>
                                          </p:val>
                                        </p:tav>
                                        <p:tav tm="100000">
                                          <p:val>
                                            <p:strVal val="#ppt_x"/>
                                          </p:val>
                                        </p:tav>
                                      </p:tavLst>
                                    </p:anim>
                                    <p:anim calcmode="lin" valueType="num">
                                      <p:cBhvr>
                                        <p:cTn id="29" dur="500" fill="hold"/>
                                        <p:tgtEl>
                                          <p:spTgt spid="6206"/>
                                        </p:tgtEl>
                                        <p:attrNameLst>
                                          <p:attrName>ppt_y</p:attrName>
                                        </p:attrNameLst>
                                      </p:cBhvr>
                                      <p:tavLst>
                                        <p:tav tm="0">
                                          <p:val>
                                            <p:fltVal val="0.5"/>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6207"/>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5" fill="hold" nodeType="clickEffect">
                                  <p:stCondLst>
                                    <p:cond delay="0"/>
                                  </p:stCondLst>
                                  <p:childTnLst>
                                    <p:set>
                                      <p:cBhvr>
                                        <p:cTn id="37" dur="1" fill="hold">
                                          <p:stCondLst>
                                            <p:cond delay="0"/>
                                          </p:stCondLst>
                                        </p:cTn>
                                        <p:tgtEl>
                                          <p:spTgt spid="6208"/>
                                        </p:tgtEl>
                                        <p:attrNameLst>
                                          <p:attrName>style.visibility</p:attrName>
                                        </p:attrNameLst>
                                      </p:cBhvr>
                                      <p:to>
                                        <p:strVal val="visible"/>
                                      </p:to>
                                    </p:set>
                                    <p:animEffect transition="in" filter="blinds(vertical)">
                                      <p:cBhvr>
                                        <p:cTn id="38" dur="500"/>
                                        <p:tgtEl>
                                          <p:spTgt spid="620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6214"/>
                                        </p:tgtEl>
                                        <p:attrNameLst>
                                          <p:attrName>style.visibility</p:attrName>
                                        </p:attrNameLst>
                                      </p:cBhvr>
                                      <p:to>
                                        <p:strVal val="visible"/>
                                      </p:to>
                                    </p:set>
                                    <p:animEffect transition="in" filter="dissolve">
                                      <p:cBhvr>
                                        <p:cTn id="43" dur="500"/>
                                        <p:tgtEl>
                                          <p:spTgt spid="6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9" grpId="0" autoUpdateAnimBg="0"/>
      <p:bldP spid="6200" grpId="0" animBg="1" autoUpdateAnimBg="0"/>
      <p:bldP spid="6201" grpId="0" animBg="1" autoUpdateAnimBg="0"/>
      <p:bldP spid="6206" grpId="0" autoUpdateAnimBg="0"/>
      <p:bldP spid="6207"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174" name="Object 6"/>
          <p:cNvGraphicFramePr>
            <a:graphicFrameLocks noChangeAspect="1"/>
          </p:cNvGraphicFramePr>
          <p:nvPr/>
        </p:nvGraphicFramePr>
        <p:xfrm>
          <a:off x="615950" y="1066800"/>
          <a:ext cx="7689850" cy="533400"/>
        </p:xfrm>
        <a:graphic>
          <a:graphicData uri="http://schemas.openxmlformats.org/presentationml/2006/ole">
            <mc:AlternateContent xmlns:mc="http://schemas.openxmlformats.org/markup-compatibility/2006">
              <mc:Choice xmlns:v="urn:schemas-microsoft-com:vml" Requires="v">
                <p:oleObj spid="_x0000_s8638" name="公式" r:id="rId3" imgW="3301920" imgH="241200" progId="Equation.3">
                  <p:embed/>
                </p:oleObj>
              </mc:Choice>
              <mc:Fallback>
                <p:oleObj name="公式" r:id="rId3" imgW="3301920" imgH="241200" progId="Equation.3">
                  <p:embed/>
                  <p:pic>
                    <p:nvPicPr>
                      <p:cNvPr id="7174" name="Object 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950" y="1066800"/>
                        <a:ext cx="7689850" cy="5334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5" name="Text Box 7"/>
          <p:cNvSpPr txBox="1">
            <a:spLocks noChangeArrowheads="1"/>
          </p:cNvSpPr>
          <p:nvPr/>
        </p:nvSpPr>
        <p:spPr bwMode="auto">
          <a:xfrm>
            <a:off x="381000" y="334963"/>
            <a:ext cx="1371600" cy="57943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a:t>
            </a:r>
            <a:r>
              <a:rPr lang="en-US" altLang="zh-CN" sz="3200" b="1"/>
              <a:t>4</a:t>
            </a:r>
          </a:p>
        </p:txBody>
      </p:sp>
      <p:sp>
        <p:nvSpPr>
          <p:cNvPr id="7178" name="Text Box 10"/>
          <p:cNvSpPr txBox="1">
            <a:spLocks noChangeArrowheads="1"/>
          </p:cNvSpPr>
          <p:nvPr/>
        </p:nvSpPr>
        <p:spPr bwMode="auto">
          <a:xfrm>
            <a:off x="4876800" y="381000"/>
            <a:ext cx="19812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t>SIR</a:t>
            </a:r>
            <a:r>
              <a:rPr lang="zh-CN" altLang="zh-CN" sz="2800" b="1" dirty="0">
                <a:ea typeface="楷体_GB2312" pitchFamily="49" charset="-122"/>
              </a:rPr>
              <a:t>模型</a:t>
            </a:r>
            <a:endParaRPr lang="zh-CN" altLang="en-US" sz="2800" b="1" dirty="0">
              <a:ea typeface="楷体_GB2312" pitchFamily="49" charset="-122"/>
            </a:endParaRPr>
          </a:p>
        </p:txBody>
      </p:sp>
      <p:graphicFrame>
        <p:nvGraphicFramePr>
          <p:cNvPr id="7179" name="Object 11"/>
          <p:cNvGraphicFramePr>
            <a:graphicFrameLocks noChangeAspect="1"/>
          </p:cNvGraphicFramePr>
          <p:nvPr/>
        </p:nvGraphicFramePr>
        <p:xfrm>
          <a:off x="685800" y="5867400"/>
          <a:ext cx="4795838" cy="566738"/>
        </p:xfrm>
        <a:graphic>
          <a:graphicData uri="http://schemas.openxmlformats.org/presentationml/2006/ole">
            <mc:AlternateContent xmlns:mc="http://schemas.openxmlformats.org/markup-compatibility/2006">
              <mc:Choice xmlns:v="urn:schemas-microsoft-com:vml" Requires="v">
                <p:oleObj spid="_x0000_s8639" name="公式" r:id="rId5" imgW="2286000" imgH="266400" progId="Equation.3">
                  <p:embed/>
                </p:oleObj>
              </mc:Choice>
              <mc:Fallback>
                <p:oleObj name="公式" r:id="rId5" imgW="2286000" imgH="266400" progId="Equation.3">
                  <p:embed/>
                  <p:pic>
                    <p:nvPicPr>
                      <p:cNvPr id="7179" name="Object 11"/>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5867400"/>
                        <a:ext cx="4795838" cy="56673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183" name="Group 15"/>
          <p:cNvGrpSpPr>
            <a:grpSpLocks/>
          </p:cNvGrpSpPr>
          <p:nvPr/>
        </p:nvGrpSpPr>
        <p:grpSpPr bwMode="auto">
          <a:xfrm>
            <a:off x="5181600" y="3243263"/>
            <a:ext cx="3733800" cy="1160462"/>
            <a:chOff x="3168" y="2208"/>
            <a:chExt cx="2352" cy="731"/>
          </a:xfrm>
        </p:grpSpPr>
        <p:sp>
          <p:nvSpPr>
            <p:cNvPr id="7180" name="Text Box 12"/>
            <p:cNvSpPr txBox="1">
              <a:spLocks noChangeArrowheads="1"/>
            </p:cNvSpPr>
            <p:nvPr/>
          </p:nvSpPr>
          <p:spPr bwMode="auto">
            <a:xfrm>
              <a:off x="3552" y="2208"/>
              <a:ext cx="1824" cy="73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无法求出         </a:t>
              </a:r>
            </a:p>
            <a:p>
              <a:pPr algn="ctr">
                <a:spcBef>
                  <a:spcPct val="50000"/>
                </a:spcBef>
              </a:pPr>
              <a:r>
                <a:rPr lang="zh-CN" altLang="en-US" sz="2800" b="1"/>
                <a:t>的解析解</a:t>
              </a:r>
            </a:p>
          </p:txBody>
        </p:sp>
        <p:graphicFrame>
          <p:nvGraphicFramePr>
            <p:cNvPr id="7181" name="Object 13"/>
            <p:cNvGraphicFramePr>
              <a:graphicFrameLocks noChangeAspect="1"/>
            </p:cNvGraphicFramePr>
            <p:nvPr/>
          </p:nvGraphicFramePr>
          <p:xfrm>
            <a:off x="4560" y="2256"/>
            <a:ext cx="960" cy="316"/>
          </p:xfrm>
          <a:graphic>
            <a:graphicData uri="http://schemas.openxmlformats.org/presentationml/2006/ole">
              <mc:AlternateContent xmlns:mc="http://schemas.openxmlformats.org/markup-compatibility/2006">
                <mc:Choice xmlns:v="urn:schemas-microsoft-com:vml" Requires="v">
                  <p:oleObj spid="_x0000_s8640" name="公式" r:id="rId7" imgW="634680" imgH="241200" progId="Equation.3">
                    <p:embed/>
                  </p:oleObj>
                </mc:Choice>
                <mc:Fallback>
                  <p:oleObj name="公式" r:id="rId7" imgW="634680" imgH="241200" progId="Equation.3">
                    <p:embed/>
                    <p:pic>
                      <p:nvPicPr>
                        <p:cNvPr id="7181" name="Object 13"/>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0" y="2256"/>
                          <a:ext cx="960" cy="31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2" name="AutoShape 14"/>
            <p:cNvSpPr>
              <a:spLocks noChangeArrowheads="1"/>
            </p:cNvSpPr>
            <p:nvPr/>
          </p:nvSpPr>
          <p:spPr bwMode="auto">
            <a:xfrm>
              <a:off x="3168" y="2496"/>
              <a:ext cx="240" cy="306"/>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7" name="Group 19"/>
          <p:cNvGrpSpPr>
            <a:grpSpLocks/>
          </p:cNvGrpSpPr>
          <p:nvPr/>
        </p:nvGrpSpPr>
        <p:grpSpPr bwMode="auto">
          <a:xfrm>
            <a:off x="5715000" y="4538663"/>
            <a:ext cx="3200400" cy="1541462"/>
            <a:chOff x="3600" y="2880"/>
            <a:chExt cx="2016" cy="971"/>
          </a:xfrm>
        </p:grpSpPr>
        <p:sp>
          <p:nvSpPr>
            <p:cNvPr id="7184" name="Text Box 16"/>
            <p:cNvSpPr txBox="1">
              <a:spLocks noChangeArrowheads="1"/>
            </p:cNvSpPr>
            <p:nvPr/>
          </p:nvSpPr>
          <p:spPr bwMode="auto">
            <a:xfrm>
              <a:off x="3600" y="3120"/>
              <a:ext cx="2016" cy="731"/>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t>在相平面        上</a:t>
              </a:r>
            </a:p>
            <a:p>
              <a:pPr algn="ctr">
                <a:spcBef>
                  <a:spcPct val="50000"/>
                </a:spcBef>
              </a:pPr>
              <a:r>
                <a:rPr lang="zh-CN" altLang="en-US" sz="2800" b="1" dirty="0"/>
                <a:t>研究解的性质</a:t>
              </a:r>
            </a:p>
          </p:txBody>
        </p:sp>
        <p:graphicFrame>
          <p:nvGraphicFramePr>
            <p:cNvPr id="7185" name="Object 17"/>
            <p:cNvGraphicFramePr>
              <a:graphicFrameLocks noChangeAspect="1"/>
            </p:cNvGraphicFramePr>
            <p:nvPr/>
          </p:nvGraphicFramePr>
          <p:xfrm>
            <a:off x="4560" y="3168"/>
            <a:ext cx="480" cy="248"/>
          </p:xfrm>
          <a:graphic>
            <a:graphicData uri="http://schemas.openxmlformats.org/presentationml/2006/ole">
              <mc:AlternateContent xmlns:mc="http://schemas.openxmlformats.org/markup-compatibility/2006">
                <mc:Choice xmlns:v="urn:schemas-microsoft-com:vml" Requires="v">
                  <p:oleObj spid="_x0000_s8641" name="公式" r:id="rId9" imgW="368280" imgH="190440" progId="Equation.3">
                    <p:embed/>
                  </p:oleObj>
                </mc:Choice>
                <mc:Fallback>
                  <p:oleObj name="公式" r:id="rId9" imgW="368280" imgH="190440" progId="Equation.3">
                    <p:embed/>
                    <p:pic>
                      <p:nvPicPr>
                        <p:cNvPr id="7185" name="Object 17"/>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0" y="3168"/>
                          <a:ext cx="48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6" name="AutoShape 18"/>
            <p:cNvSpPr>
              <a:spLocks noChangeArrowheads="1"/>
            </p:cNvSpPr>
            <p:nvPr/>
          </p:nvSpPr>
          <p:spPr bwMode="auto">
            <a:xfrm>
              <a:off x="4320" y="2880"/>
              <a:ext cx="306" cy="144"/>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grpSp>
      <p:graphicFrame>
        <p:nvGraphicFramePr>
          <p:cNvPr id="7188" name="Object 20"/>
          <p:cNvGraphicFramePr>
            <a:graphicFrameLocks noChangeAspect="1"/>
          </p:cNvGraphicFramePr>
          <p:nvPr/>
        </p:nvGraphicFramePr>
        <p:xfrm>
          <a:off x="609600" y="1752600"/>
          <a:ext cx="6629400" cy="609600"/>
        </p:xfrm>
        <a:graphic>
          <a:graphicData uri="http://schemas.openxmlformats.org/presentationml/2006/ole">
            <mc:AlternateContent xmlns:mc="http://schemas.openxmlformats.org/markup-compatibility/2006">
              <mc:Choice xmlns:v="urn:schemas-microsoft-com:vml" Requires="v">
                <p:oleObj spid="_x0000_s8642" name="公式" r:id="rId11" imgW="2108160" imgH="203040" progId="Equation.3">
                  <p:embed/>
                </p:oleObj>
              </mc:Choice>
              <mc:Fallback>
                <p:oleObj name="公式" r:id="rId11" imgW="2108160" imgH="203040" progId="Equation.3">
                  <p:embed/>
                  <p:pic>
                    <p:nvPicPr>
                      <p:cNvPr id="7188" name="Object 20"/>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1752600"/>
                        <a:ext cx="6629400" cy="6096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190" name="Group 22"/>
          <p:cNvGrpSpPr>
            <a:grpSpLocks/>
          </p:cNvGrpSpPr>
          <p:nvPr/>
        </p:nvGrpSpPr>
        <p:grpSpPr bwMode="auto">
          <a:xfrm>
            <a:off x="685800" y="2362200"/>
            <a:ext cx="4495800" cy="3429000"/>
            <a:chOff x="432" y="1488"/>
            <a:chExt cx="2832" cy="2160"/>
          </a:xfrm>
        </p:grpSpPr>
        <p:graphicFrame>
          <p:nvGraphicFramePr>
            <p:cNvPr id="7173" name="Object 5"/>
            <p:cNvGraphicFramePr>
              <a:graphicFrameLocks noChangeAspect="1"/>
            </p:cNvGraphicFramePr>
            <p:nvPr/>
          </p:nvGraphicFramePr>
          <p:xfrm>
            <a:off x="624" y="1488"/>
            <a:ext cx="2640" cy="2160"/>
          </p:xfrm>
          <a:graphic>
            <a:graphicData uri="http://schemas.openxmlformats.org/presentationml/2006/ole">
              <mc:AlternateContent xmlns:mc="http://schemas.openxmlformats.org/markup-compatibility/2006">
                <mc:Choice xmlns:v="urn:schemas-microsoft-com:vml" Requires="v">
                  <p:oleObj spid="_x0000_s8643" name="公式" r:id="rId13" imgW="1193760" imgH="1269720" progId="Equation.3">
                    <p:embed/>
                  </p:oleObj>
                </mc:Choice>
                <mc:Fallback>
                  <p:oleObj name="公式" r:id="rId13" imgW="1193760" imgH="1269720" progId="Equation.3">
                    <p:embed/>
                    <p:pic>
                      <p:nvPicPr>
                        <p:cNvPr id="7173" name="Object 5"/>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4" y="1488"/>
                          <a:ext cx="2640" cy="216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89" name="AutoShape 21"/>
            <p:cNvSpPr>
              <a:spLocks noChangeArrowheads="1"/>
            </p:cNvSpPr>
            <p:nvPr/>
          </p:nvSpPr>
          <p:spPr bwMode="auto">
            <a:xfrm>
              <a:off x="432" y="2352"/>
              <a:ext cx="144" cy="306"/>
            </a:xfrm>
            <a:prstGeom prst="rightArrow">
              <a:avLst>
                <a:gd name="adj1" fmla="val 50000"/>
                <a:gd name="adj2"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2689397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4"/>
                                        </p:tgtEl>
                                        <p:attrNameLst>
                                          <p:attrName>style.visibility</p:attrName>
                                        </p:attrNameLst>
                                      </p:cBhvr>
                                      <p:to>
                                        <p:strVal val="visible"/>
                                      </p:to>
                                    </p:set>
                                    <p:animEffect transition="in" filter="blinds(horizontal)">
                                      <p:cBhvr>
                                        <p:cTn id="7" dur="500"/>
                                        <p:tgtEl>
                                          <p:spTgt spid="71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88"/>
                                        </p:tgtEl>
                                        <p:attrNameLst>
                                          <p:attrName>style.visibility</p:attrName>
                                        </p:attrNameLst>
                                      </p:cBhvr>
                                      <p:to>
                                        <p:strVal val="visible"/>
                                      </p:to>
                                    </p:set>
                                    <p:animEffect transition="in" filter="blinds(horizontal)">
                                      <p:cBhvr>
                                        <p:cTn id="12" dur="500"/>
                                        <p:tgtEl>
                                          <p:spTgt spid="71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190"/>
                                        </p:tgtEl>
                                        <p:attrNameLst>
                                          <p:attrName>style.visibility</p:attrName>
                                        </p:attrNameLst>
                                      </p:cBhvr>
                                      <p:to>
                                        <p:strVal val="visible"/>
                                      </p:to>
                                    </p:set>
                                    <p:animEffect transition="in" filter="dissolve">
                                      <p:cBhvr>
                                        <p:cTn id="17" dur="500"/>
                                        <p:tgtEl>
                                          <p:spTgt spid="71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7179"/>
                                        </p:tgtEl>
                                        <p:attrNameLst>
                                          <p:attrName>style.visibility</p:attrName>
                                        </p:attrNameLst>
                                      </p:cBhvr>
                                      <p:to>
                                        <p:strVal val="visible"/>
                                      </p:to>
                                    </p:set>
                                    <p:animEffect transition="in" filter="barn(outHorizontal)">
                                      <p:cBhvr>
                                        <p:cTn id="22" dur="500"/>
                                        <p:tgtEl>
                                          <p:spTgt spid="71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7183"/>
                                        </p:tgtEl>
                                        <p:attrNameLst>
                                          <p:attrName>style.visibility</p:attrName>
                                        </p:attrNameLst>
                                      </p:cBhvr>
                                      <p:to>
                                        <p:strVal val="visible"/>
                                      </p:to>
                                    </p:set>
                                    <p:animEffect transition="in" filter="checkerboard(across)">
                                      <p:cBhvr>
                                        <p:cTn id="27" dur="500"/>
                                        <p:tgtEl>
                                          <p:spTgt spid="718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7187"/>
                                        </p:tgtEl>
                                        <p:attrNameLst>
                                          <p:attrName>style.visibility</p:attrName>
                                        </p:attrNameLst>
                                      </p:cBhvr>
                                      <p:to>
                                        <p:strVal val="visible"/>
                                      </p:to>
                                    </p:set>
                                    <p:animEffect transition="in" filter="box(out)">
                                      <p:cBhvr>
                                        <p:cTn id="32" dur="500"/>
                                        <p:tgtEl>
                                          <p:spTgt spid="7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8195" name="Object 3"/>
          <p:cNvGraphicFramePr>
            <a:graphicFrameLocks noChangeAspect="1"/>
          </p:cNvGraphicFramePr>
          <p:nvPr/>
        </p:nvGraphicFramePr>
        <p:xfrm>
          <a:off x="5257800" y="863600"/>
          <a:ext cx="3048000" cy="1905000"/>
        </p:xfrm>
        <a:graphic>
          <a:graphicData uri="http://schemas.openxmlformats.org/presentationml/2006/ole">
            <mc:AlternateContent xmlns:mc="http://schemas.openxmlformats.org/markup-compatibility/2006">
              <mc:Choice xmlns:v="urn:schemas-microsoft-com:vml" Requires="v">
                <p:oleObj spid="_x0000_s9729" name="公式" r:id="rId3" imgW="965160" imgH="863280" progId="Equation.3">
                  <p:embed/>
                </p:oleObj>
              </mc:Choice>
              <mc:Fallback>
                <p:oleObj name="公式" r:id="rId3" imgW="965160" imgH="863280" progId="Equation.3">
                  <p:embed/>
                  <p:pic>
                    <p:nvPicPr>
                      <p:cNvPr id="8195" name="Object 3"/>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863600"/>
                        <a:ext cx="3048000" cy="19050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6" name="Object 4"/>
          <p:cNvGraphicFramePr>
            <a:graphicFrameLocks noChangeAspect="1"/>
          </p:cNvGraphicFramePr>
          <p:nvPr/>
        </p:nvGraphicFramePr>
        <p:xfrm>
          <a:off x="4114800" y="3378200"/>
          <a:ext cx="4949825" cy="1143000"/>
        </p:xfrm>
        <a:graphic>
          <a:graphicData uri="http://schemas.openxmlformats.org/presentationml/2006/ole">
            <mc:AlternateContent xmlns:mc="http://schemas.openxmlformats.org/markup-compatibility/2006">
              <mc:Choice xmlns:v="urn:schemas-microsoft-com:vml" Requires="v">
                <p:oleObj spid="_x0000_s9730" name="公式" r:id="rId5" imgW="2019240" imgH="520560" progId="Equation.3">
                  <p:embed/>
                </p:oleObj>
              </mc:Choice>
              <mc:Fallback>
                <p:oleObj name="公式" r:id="rId5" imgW="2019240" imgH="520560" progId="Equation.3">
                  <p:embed/>
                  <p:pic>
                    <p:nvPicPr>
                      <p:cNvPr id="8196" name="Object 4"/>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378200"/>
                        <a:ext cx="4949825" cy="11430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7" name="Text Box 5"/>
          <p:cNvSpPr txBox="1">
            <a:spLocks noChangeArrowheads="1"/>
          </p:cNvSpPr>
          <p:nvPr/>
        </p:nvSpPr>
        <p:spPr bwMode="auto">
          <a:xfrm>
            <a:off x="228600" y="381000"/>
            <a:ext cx="1371600"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a:t>
            </a:r>
            <a:r>
              <a:rPr lang="en-US" altLang="zh-CN" sz="3200" b="1"/>
              <a:t>4</a:t>
            </a:r>
          </a:p>
        </p:txBody>
      </p:sp>
      <p:graphicFrame>
        <p:nvGraphicFramePr>
          <p:cNvPr id="8198" name="Object 6"/>
          <p:cNvGraphicFramePr>
            <a:graphicFrameLocks noChangeAspect="1"/>
          </p:cNvGraphicFramePr>
          <p:nvPr/>
        </p:nvGraphicFramePr>
        <p:xfrm>
          <a:off x="304800" y="1016000"/>
          <a:ext cx="3048000" cy="3124200"/>
        </p:xfrm>
        <a:graphic>
          <a:graphicData uri="http://schemas.openxmlformats.org/presentationml/2006/ole">
            <mc:AlternateContent xmlns:mc="http://schemas.openxmlformats.org/markup-compatibility/2006">
              <mc:Choice xmlns:v="urn:schemas-microsoft-com:vml" Requires="v">
                <p:oleObj spid="_x0000_s9731" name="公式" r:id="rId7" imgW="1447560" imgH="1549080" progId="Equation.3">
                  <p:embed/>
                </p:oleObj>
              </mc:Choice>
              <mc:Fallback>
                <p:oleObj name="公式" r:id="rId7" imgW="1447560" imgH="1549080" progId="Equation.3">
                  <p:embed/>
                  <p:pic>
                    <p:nvPicPr>
                      <p:cNvPr id="8198" name="Object 6"/>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1016000"/>
                        <a:ext cx="3048000" cy="31242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12" name="Group 20"/>
          <p:cNvGrpSpPr>
            <a:grpSpLocks/>
          </p:cNvGrpSpPr>
          <p:nvPr/>
        </p:nvGrpSpPr>
        <p:grpSpPr bwMode="auto">
          <a:xfrm>
            <a:off x="3443288" y="787400"/>
            <a:ext cx="1509712" cy="1295400"/>
            <a:chOff x="2217" y="672"/>
            <a:chExt cx="951" cy="768"/>
          </a:xfrm>
        </p:grpSpPr>
        <p:graphicFrame>
          <p:nvGraphicFramePr>
            <p:cNvPr id="8200" name="Object 8"/>
            <p:cNvGraphicFramePr>
              <a:graphicFrameLocks noChangeAspect="1"/>
            </p:cNvGraphicFramePr>
            <p:nvPr/>
          </p:nvGraphicFramePr>
          <p:xfrm>
            <a:off x="2304" y="1008"/>
            <a:ext cx="768" cy="272"/>
          </p:xfrm>
          <a:graphic>
            <a:graphicData uri="http://schemas.openxmlformats.org/presentationml/2006/ole">
              <mc:AlternateContent xmlns:mc="http://schemas.openxmlformats.org/markup-compatibility/2006">
                <mc:Choice xmlns:v="urn:schemas-microsoft-com:vml" Requires="v">
                  <p:oleObj spid="_x0000_s9732" name="公式" r:id="rId9" imgW="711000" imgH="241200" progId="Equation.3">
                    <p:embed/>
                  </p:oleObj>
                </mc:Choice>
                <mc:Fallback>
                  <p:oleObj name="公式" r:id="rId9" imgW="711000" imgH="241200" progId="Equation.3">
                    <p:embed/>
                    <p:pic>
                      <p:nvPicPr>
                        <p:cNvPr id="8200" name="Object 8"/>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4" y="1008"/>
                          <a:ext cx="768" cy="272"/>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3" name="Text Box 11"/>
            <p:cNvSpPr txBox="1">
              <a:spLocks noChangeArrowheads="1"/>
            </p:cNvSpPr>
            <p:nvPr/>
          </p:nvSpPr>
          <p:spPr bwMode="auto">
            <a:xfrm>
              <a:off x="2256" y="672"/>
              <a:ext cx="816" cy="30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消去</a:t>
              </a:r>
              <a:r>
                <a:rPr lang="en-US" altLang="zh-CN" sz="2800" b="1" i="1"/>
                <a:t>dt</a:t>
              </a:r>
            </a:p>
          </p:txBody>
        </p:sp>
        <p:sp>
          <p:nvSpPr>
            <p:cNvPr id="8204" name="AutoShape 12"/>
            <p:cNvSpPr>
              <a:spLocks noChangeArrowheads="1"/>
            </p:cNvSpPr>
            <p:nvPr/>
          </p:nvSpPr>
          <p:spPr bwMode="auto">
            <a:xfrm>
              <a:off x="2217" y="1296"/>
              <a:ext cx="951" cy="144"/>
            </a:xfrm>
            <a:prstGeom prst="rightArrow">
              <a:avLst>
                <a:gd name="adj1" fmla="val 50000"/>
                <a:gd name="adj2" fmla="val 165104"/>
              </a:avLst>
            </a:prstGeom>
            <a:noFill/>
            <a:ln w="9525">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205" name="Text Box 13"/>
          <p:cNvSpPr txBox="1">
            <a:spLocks noChangeArrowheads="1"/>
          </p:cNvSpPr>
          <p:nvPr/>
        </p:nvSpPr>
        <p:spPr bwMode="auto">
          <a:xfrm>
            <a:off x="5105399" y="304800"/>
            <a:ext cx="2162175"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t>SIR</a:t>
            </a:r>
            <a:r>
              <a:rPr lang="zh-CN" altLang="zh-CN" sz="2800" b="1" dirty="0"/>
              <a:t>模型</a:t>
            </a:r>
            <a:endParaRPr lang="zh-CN" altLang="en-US" sz="2800" b="1" dirty="0"/>
          </a:p>
        </p:txBody>
      </p:sp>
      <p:grpSp>
        <p:nvGrpSpPr>
          <p:cNvPr id="8226" name="Group 34"/>
          <p:cNvGrpSpPr>
            <a:grpSpLocks/>
          </p:cNvGrpSpPr>
          <p:nvPr/>
        </p:nvGrpSpPr>
        <p:grpSpPr bwMode="auto">
          <a:xfrm>
            <a:off x="76200" y="4216400"/>
            <a:ext cx="5486401" cy="1135063"/>
            <a:chOff x="96" y="2544"/>
            <a:chExt cx="3246" cy="715"/>
          </a:xfrm>
        </p:grpSpPr>
        <p:graphicFrame>
          <p:nvGraphicFramePr>
            <p:cNvPr id="8194" name="Object 2"/>
            <p:cNvGraphicFramePr>
              <a:graphicFrameLocks noChangeAspect="1"/>
            </p:cNvGraphicFramePr>
            <p:nvPr/>
          </p:nvGraphicFramePr>
          <p:xfrm>
            <a:off x="96" y="2928"/>
            <a:ext cx="3246" cy="331"/>
          </p:xfrm>
          <a:graphic>
            <a:graphicData uri="http://schemas.openxmlformats.org/presentationml/2006/ole">
              <mc:AlternateContent xmlns:mc="http://schemas.openxmlformats.org/markup-compatibility/2006">
                <mc:Choice xmlns:v="urn:schemas-microsoft-com:vml" Requires="v">
                  <p:oleObj spid="_x0000_s9733" name="公式" r:id="rId11" imgW="2298600" imgH="279360" progId="Equation.3">
                    <p:embed/>
                  </p:oleObj>
                </mc:Choice>
                <mc:Fallback>
                  <p:oleObj name="公式" r:id="rId11" imgW="2298600" imgH="279360" progId="Equation.3">
                    <p:embed/>
                    <p:pic>
                      <p:nvPicPr>
                        <p:cNvPr id="8194" name="Object 2"/>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 y="2928"/>
                          <a:ext cx="3246" cy="33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21" name="Group 29"/>
            <p:cNvGrpSpPr>
              <a:grpSpLocks/>
            </p:cNvGrpSpPr>
            <p:nvPr/>
          </p:nvGrpSpPr>
          <p:grpSpPr bwMode="auto">
            <a:xfrm>
              <a:off x="240" y="2544"/>
              <a:ext cx="2352" cy="336"/>
              <a:chOff x="240" y="2544"/>
              <a:chExt cx="2352" cy="336"/>
            </a:xfrm>
          </p:grpSpPr>
          <p:sp>
            <p:nvSpPr>
              <p:cNvPr id="8202" name="Text Box 10"/>
              <p:cNvSpPr txBox="1">
                <a:spLocks noChangeArrowheads="1"/>
              </p:cNvSpPr>
              <p:nvPr/>
            </p:nvSpPr>
            <p:spPr bwMode="auto">
              <a:xfrm>
                <a:off x="240" y="2544"/>
                <a:ext cx="2352" cy="32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相轨线           的定义域</a:t>
                </a:r>
              </a:p>
            </p:txBody>
          </p:sp>
          <p:graphicFrame>
            <p:nvGraphicFramePr>
              <p:cNvPr id="8206" name="Object 14"/>
              <p:cNvGraphicFramePr>
                <a:graphicFrameLocks noChangeAspect="1"/>
              </p:cNvGraphicFramePr>
              <p:nvPr/>
            </p:nvGraphicFramePr>
            <p:xfrm>
              <a:off x="1039" y="2564"/>
              <a:ext cx="537" cy="316"/>
            </p:xfrm>
            <a:graphic>
              <a:graphicData uri="http://schemas.openxmlformats.org/presentationml/2006/ole">
                <mc:AlternateContent xmlns:mc="http://schemas.openxmlformats.org/markup-compatibility/2006">
                  <mc:Choice xmlns:v="urn:schemas-microsoft-com:vml" Requires="v">
                    <p:oleObj spid="_x0000_s9734" name="公式" r:id="rId13" imgW="317160" imgH="241200" progId="Equation.3">
                      <p:embed/>
                    </p:oleObj>
                  </mc:Choice>
                  <mc:Fallback>
                    <p:oleObj name="公式" r:id="rId13" imgW="317160" imgH="241200" progId="Equation.3">
                      <p:embed/>
                      <p:pic>
                        <p:nvPicPr>
                          <p:cNvPr id="8206" name="Object 14"/>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9" y="2564"/>
                            <a:ext cx="537" cy="316"/>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8228" name="Group 36"/>
          <p:cNvGrpSpPr>
            <a:grpSpLocks/>
          </p:cNvGrpSpPr>
          <p:nvPr/>
        </p:nvGrpSpPr>
        <p:grpSpPr bwMode="auto">
          <a:xfrm>
            <a:off x="5486400" y="2844800"/>
            <a:ext cx="1781175" cy="519113"/>
            <a:chOff x="3504" y="1680"/>
            <a:chExt cx="1122" cy="327"/>
          </a:xfrm>
        </p:grpSpPr>
        <p:sp>
          <p:nvSpPr>
            <p:cNvPr id="8208" name="AutoShape 16"/>
            <p:cNvSpPr>
              <a:spLocks noChangeArrowheads="1"/>
            </p:cNvSpPr>
            <p:nvPr/>
          </p:nvSpPr>
          <p:spPr bwMode="auto">
            <a:xfrm>
              <a:off x="4320" y="1728"/>
              <a:ext cx="306" cy="240"/>
            </a:xfrm>
            <a:prstGeom prst="down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8209" name="Text Box 17"/>
            <p:cNvSpPr txBox="1">
              <a:spLocks noChangeArrowheads="1"/>
            </p:cNvSpPr>
            <p:nvPr/>
          </p:nvSpPr>
          <p:spPr bwMode="auto">
            <a:xfrm>
              <a:off x="3504" y="1680"/>
              <a:ext cx="816" cy="327"/>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相轨线</a:t>
              </a:r>
            </a:p>
          </p:txBody>
        </p:sp>
      </p:grpSp>
      <p:grpSp>
        <p:nvGrpSpPr>
          <p:cNvPr id="8227" name="Group 35"/>
          <p:cNvGrpSpPr>
            <a:grpSpLocks/>
          </p:cNvGrpSpPr>
          <p:nvPr/>
        </p:nvGrpSpPr>
        <p:grpSpPr bwMode="auto">
          <a:xfrm>
            <a:off x="5715000" y="4267200"/>
            <a:ext cx="3124200" cy="2438400"/>
            <a:chOff x="3600" y="2592"/>
            <a:chExt cx="1968" cy="1536"/>
          </a:xfrm>
        </p:grpSpPr>
        <p:sp>
          <p:nvSpPr>
            <p:cNvPr id="8211" name="Line 19"/>
            <p:cNvSpPr>
              <a:spLocks noChangeShapeType="1"/>
            </p:cNvSpPr>
            <p:nvPr/>
          </p:nvSpPr>
          <p:spPr bwMode="auto">
            <a:xfrm>
              <a:off x="3792" y="3888"/>
              <a:ext cx="14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3" name="Line 21"/>
            <p:cNvSpPr>
              <a:spLocks noChangeShapeType="1"/>
            </p:cNvSpPr>
            <p:nvPr/>
          </p:nvSpPr>
          <p:spPr bwMode="auto">
            <a:xfrm flipV="1">
              <a:off x="3792" y="2736"/>
              <a:ext cx="0" cy="115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4" name="Line 22"/>
            <p:cNvSpPr>
              <a:spLocks noChangeShapeType="1"/>
            </p:cNvSpPr>
            <p:nvPr/>
          </p:nvSpPr>
          <p:spPr bwMode="auto">
            <a:xfrm>
              <a:off x="3792" y="2928"/>
              <a:ext cx="1104" cy="9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5" name="Text Box 23"/>
            <p:cNvSpPr txBox="1">
              <a:spLocks noChangeArrowheads="1"/>
            </p:cNvSpPr>
            <p:nvPr/>
          </p:nvSpPr>
          <p:spPr bwMode="auto">
            <a:xfrm>
              <a:off x="3600" y="2832"/>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1</a:t>
              </a:r>
            </a:p>
          </p:txBody>
        </p:sp>
        <p:sp>
          <p:nvSpPr>
            <p:cNvPr id="8216" name="Text Box 24"/>
            <p:cNvSpPr txBox="1">
              <a:spLocks noChangeArrowheads="1"/>
            </p:cNvSpPr>
            <p:nvPr/>
          </p:nvSpPr>
          <p:spPr bwMode="auto">
            <a:xfrm>
              <a:off x="4800" y="3878"/>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1</a:t>
              </a:r>
            </a:p>
          </p:txBody>
        </p:sp>
        <p:sp>
          <p:nvSpPr>
            <p:cNvPr id="8217" name="Text Box 25"/>
            <p:cNvSpPr txBox="1">
              <a:spLocks noChangeArrowheads="1"/>
            </p:cNvSpPr>
            <p:nvPr/>
          </p:nvSpPr>
          <p:spPr bwMode="auto">
            <a:xfrm>
              <a:off x="5232" y="369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s</a:t>
              </a:r>
            </a:p>
          </p:txBody>
        </p:sp>
        <p:sp>
          <p:nvSpPr>
            <p:cNvPr id="8218" name="Text Box 26"/>
            <p:cNvSpPr txBox="1">
              <a:spLocks noChangeArrowheads="1"/>
            </p:cNvSpPr>
            <p:nvPr/>
          </p:nvSpPr>
          <p:spPr bwMode="auto">
            <a:xfrm>
              <a:off x="3648" y="259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p>
          </p:txBody>
        </p:sp>
        <p:sp>
          <p:nvSpPr>
            <p:cNvPr id="8219" name="Text Box 27"/>
            <p:cNvSpPr txBox="1">
              <a:spLocks noChangeArrowheads="1"/>
            </p:cNvSpPr>
            <p:nvPr/>
          </p:nvSpPr>
          <p:spPr bwMode="auto">
            <a:xfrm>
              <a:off x="3648" y="3840"/>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0</a:t>
              </a:r>
            </a:p>
          </p:txBody>
        </p:sp>
        <p:sp>
          <p:nvSpPr>
            <p:cNvPr id="8220" name="Text Box 28"/>
            <p:cNvSpPr txBox="1">
              <a:spLocks noChangeArrowheads="1"/>
            </p:cNvSpPr>
            <p:nvPr/>
          </p:nvSpPr>
          <p:spPr bwMode="auto">
            <a:xfrm>
              <a:off x="3984" y="350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t>D</a:t>
              </a:r>
            </a:p>
          </p:txBody>
        </p:sp>
      </p:grpSp>
      <p:grpSp>
        <p:nvGrpSpPr>
          <p:cNvPr id="8225" name="Group 33"/>
          <p:cNvGrpSpPr>
            <a:grpSpLocks/>
          </p:cNvGrpSpPr>
          <p:nvPr/>
        </p:nvGrpSpPr>
        <p:grpSpPr bwMode="auto">
          <a:xfrm>
            <a:off x="865188" y="5359400"/>
            <a:ext cx="3340100" cy="1117600"/>
            <a:chOff x="593" y="3388"/>
            <a:chExt cx="2104" cy="704"/>
          </a:xfrm>
        </p:grpSpPr>
        <p:sp>
          <p:nvSpPr>
            <p:cNvPr id="8223" name="Text Box 31"/>
            <p:cNvSpPr txBox="1">
              <a:spLocks noChangeArrowheads="1"/>
            </p:cNvSpPr>
            <p:nvPr/>
          </p:nvSpPr>
          <p:spPr bwMode="auto">
            <a:xfrm>
              <a:off x="593" y="3388"/>
              <a:ext cx="2095" cy="70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a:t>在</a:t>
              </a:r>
              <a:r>
                <a:rPr lang="en-US" altLang="zh-CN" sz="2800" b="1" i="1"/>
                <a:t>D</a:t>
              </a:r>
              <a:r>
                <a:rPr lang="zh-CN" altLang="en-US" sz="2800" b="1"/>
                <a:t>内作相轨线           的图形，进行分析</a:t>
              </a:r>
            </a:p>
          </p:txBody>
        </p:sp>
        <p:graphicFrame>
          <p:nvGraphicFramePr>
            <p:cNvPr id="8224" name="Object 32"/>
            <p:cNvGraphicFramePr>
              <a:graphicFrameLocks noChangeAspect="1"/>
            </p:cNvGraphicFramePr>
            <p:nvPr/>
          </p:nvGraphicFramePr>
          <p:xfrm>
            <a:off x="2160" y="3456"/>
            <a:ext cx="537" cy="316"/>
          </p:xfrm>
          <a:graphic>
            <a:graphicData uri="http://schemas.openxmlformats.org/presentationml/2006/ole">
              <mc:AlternateContent xmlns:mc="http://schemas.openxmlformats.org/markup-compatibility/2006">
                <mc:Choice xmlns:v="urn:schemas-microsoft-com:vml" Requires="v">
                  <p:oleObj spid="_x0000_s9735" name="公式" r:id="rId15" imgW="317160" imgH="241200" progId="Equation.3">
                    <p:embed/>
                  </p:oleObj>
                </mc:Choice>
                <mc:Fallback>
                  <p:oleObj name="公式" r:id="rId15" imgW="317160" imgH="241200" progId="Equation.3">
                    <p:embed/>
                    <p:pic>
                      <p:nvPicPr>
                        <p:cNvPr id="8224" name="Object 32"/>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60" y="3456"/>
                          <a:ext cx="537" cy="31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4078688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198"/>
                                        </p:tgtEl>
                                        <p:attrNameLst>
                                          <p:attrName>style.visibility</p:attrName>
                                        </p:attrNameLst>
                                      </p:cBhvr>
                                      <p:to>
                                        <p:strVal val="visible"/>
                                      </p:to>
                                    </p:set>
                                    <p:animEffect transition="in" filter="dissolve">
                                      <p:cBhvr>
                                        <p:cTn id="7" dur="500"/>
                                        <p:tgtEl>
                                          <p:spTgt spid="81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8212"/>
                                        </p:tgtEl>
                                        <p:attrNameLst>
                                          <p:attrName>style.visibility</p:attrName>
                                        </p:attrNameLst>
                                      </p:cBhvr>
                                      <p:to>
                                        <p:strVal val="visible"/>
                                      </p:to>
                                    </p:set>
                                    <p:animEffect transition="in" filter="checkerboard(across)">
                                      <p:cBhvr>
                                        <p:cTn id="12" dur="500"/>
                                        <p:tgtEl>
                                          <p:spTgt spid="82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8195"/>
                                        </p:tgtEl>
                                        <p:attrNameLst>
                                          <p:attrName>style.visibility</p:attrName>
                                        </p:attrNameLst>
                                      </p:cBhvr>
                                      <p:to>
                                        <p:strVal val="visible"/>
                                      </p:to>
                                    </p:set>
                                    <p:animEffect transition="in" filter="box(out)">
                                      <p:cBhvr>
                                        <p:cTn id="17" dur="500"/>
                                        <p:tgtEl>
                                          <p:spTgt spid="81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8228"/>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8196"/>
                                        </p:tgtEl>
                                        <p:attrNameLst>
                                          <p:attrName>style.visibility</p:attrName>
                                        </p:attrNameLst>
                                      </p:cBhvr>
                                      <p:to>
                                        <p:strVal val="visible"/>
                                      </p:to>
                                    </p:set>
                                    <p:animEffect transition="in" filter="blinds(horizontal)">
                                      <p:cBhvr>
                                        <p:cTn id="26" dur="500"/>
                                        <p:tgtEl>
                                          <p:spTgt spid="819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5" fill="hold" nodeType="clickEffect">
                                  <p:stCondLst>
                                    <p:cond delay="0"/>
                                  </p:stCondLst>
                                  <p:childTnLst>
                                    <p:set>
                                      <p:cBhvr>
                                        <p:cTn id="30" dur="1" fill="hold">
                                          <p:stCondLst>
                                            <p:cond delay="0"/>
                                          </p:stCondLst>
                                        </p:cTn>
                                        <p:tgtEl>
                                          <p:spTgt spid="8226"/>
                                        </p:tgtEl>
                                        <p:attrNameLst>
                                          <p:attrName>style.visibility</p:attrName>
                                        </p:attrNameLst>
                                      </p:cBhvr>
                                      <p:to>
                                        <p:strVal val="visible"/>
                                      </p:to>
                                    </p:set>
                                    <p:animEffect transition="in" filter="blinds(vertical)">
                                      <p:cBhvr>
                                        <p:cTn id="31" dur="500"/>
                                        <p:tgtEl>
                                          <p:spTgt spid="822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nodeType="clickEffect">
                                  <p:stCondLst>
                                    <p:cond delay="0"/>
                                  </p:stCondLst>
                                  <p:childTnLst>
                                    <p:set>
                                      <p:cBhvr>
                                        <p:cTn id="35" dur="1" fill="hold">
                                          <p:stCondLst>
                                            <p:cond delay="0"/>
                                          </p:stCondLst>
                                        </p:cTn>
                                        <p:tgtEl>
                                          <p:spTgt spid="8227"/>
                                        </p:tgtEl>
                                        <p:attrNameLst>
                                          <p:attrName>style.visibility</p:attrName>
                                        </p:attrNameLst>
                                      </p:cBhvr>
                                      <p:to>
                                        <p:strVal val="visible"/>
                                      </p:to>
                                    </p:set>
                                    <p:animEffect transition="in" filter="checkerboard(across)">
                                      <p:cBhvr>
                                        <p:cTn id="36" dur="500"/>
                                        <p:tgtEl>
                                          <p:spTgt spid="822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6" presetClass="entr" presetSubtype="42" fill="hold" nodeType="clickEffect">
                                  <p:stCondLst>
                                    <p:cond delay="0"/>
                                  </p:stCondLst>
                                  <p:childTnLst>
                                    <p:set>
                                      <p:cBhvr>
                                        <p:cTn id="40" dur="1" fill="hold">
                                          <p:stCondLst>
                                            <p:cond delay="0"/>
                                          </p:stCondLst>
                                        </p:cTn>
                                        <p:tgtEl>
                                          <p:spTgt spid="8225"/>
                                        </p:tgtEl>
                                        <p:attrNameLst>
                                          <p:attrName>style.visibility</p:attrName>
                                        </p:attrNameLst>
                                      </p:cBhvr>
                                      <p:to>
                                        <p:strVal val="visible"/>
                                      </p:to>
                                    </p:set>
                                    <p:animEffect transition="in" filter="barn(outHorizontal)">
                                      <p:cBhvr>
                                        <p:cTn id="41" dur="500"/>
                                        <p:tgtEl>
                                          <p:spTgt spid="8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283" name="Group 67"/>
          <p:cNvGrpSpPr>
            <a:grpSpLocks/>
          </p:cNvGrpSpPr>
          <p:nvPr/>
        </p:nvGrpSpPr>
        <p:grpSpPr bwMode="auto">
          <a:xfrm>
            <a:off x="5029200" y="1066800"/>
            <a:ext cx="4191000" cy="3810000"/>
            <a:chOff x="3168" y="528"/>
            <a:chExt cx="2640" cy="2400"/>
          </a:xfrm>
        </p:grpSpPr>
        <p:sp>
          <p:nvSpPr>
            <p:cNvPr id="9235" name="Text Box 19"/>
            <p:cNvSpPr txBox="1">
              <a:spLocks noChangeArrowheads="1"/>
            </p:cNvSpPr>
            <p:nvPr/>
          </p:nvSpPr>
          <p:spPr bwMode="auto">
            <a:xfrm>
              <a:off x="5376" y="264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s</a:t>
              </a:r>
            </a:p>
          </p:txBody>
        </p:sp>
        <p:grpSp>
          <p:nvGrpSpPr>
            <p:cNvPr id="9252" name="Group 36"/>
            <p:cNvGrpSpPr>
              <a:grpSpLocks/>
            </p:cNvGrpSpPr>
            <p:nvPr/>
          </p:nvGrpSpPr>
          <p:grpSpPr bwMode="auto">
            <a:xfrm>
              <a:off x="3168" y="528"/>
              <a:ext cx="2496" cy="2400"/>
              <a:chOff x="3024" y="528"/>
              <a:chExt cx="2496" cy="2400"/>
            </a:xfrm>
          </p:grpSpPr>
          <p:sp>
            <p:nvSpPr>
              <p:cNvPr id="9218" name="Line 2"/>
              <p:cNvSpPr>
                <a:spLocks noChangeShapeType="1"/>
              </p:cNvSpPr>
              <p:nvPr/>
            </p:nvSpPr>
            <p:spPr bwMode="auto">
              <a:xfrm>
                <a:off x="3168" y="2688"/>
                <a:ext cx="235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19" name="Line 3"/>
              <p:cNvSpPr>
                <a:spLocks noChangeShapeType="1"/>
              </p:cNvSpPr>
              <p:nvPr/>
            </p:nvSpPr>
            <p:spPr bwMode="auto">
              <a:xfrm flipV="1">
                <a:off x="3168" y="624"/>
                <a:ext cx="0" cy="206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0" name="Line 4"/>
              <p:cNvSpPr>
                <a:spLocks noChangeShapeType="1"/>
              </p:cNvSpPr>
              <p:nvPr/>
            </p:nvSpPr>
            <p:spPr bwMode="auto">
              <a:xfrm>
                <a:off x="3168" y="960"/>
                <a:ext cx="2016" cy="17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1" name="Text Box 15"/>
              <p:cNvSpPr txBox="1">
                <a:spLocks noChangeArrowheads="1"/>
              </p:cNvSpPr>
              <p:nvPr/>
            </p:nvSpPr>
            <p:spPr bwMode="auto">
              <a:xfrm>
                <a:off x="3024" y="52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a:t>i</a:t>
                </a:r>
              </a:p>
            </p:txBody>
          </p:sp>
          <p:sp>
            <p:nvSpPr>
              <p:cNvPr id="9232" name="Text Box 16"/>
              <p:cNvSpPr txBox="1">
                <a:spLocks noChangeArrowheads="1"/>
              </p:cNvSpPr>
              <p:nvPr/>
            </p:nvSpPr>
            <p:spPr bwMode="auto">
              <a:xfrm>
                <a:off x="3024" y="85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1</a:t>
                </a:r>
              </a:p>
            </p:txBody>
          </p:sp>
          <p:sp>
            <p:nvSpPr>
              <p:cNvPr id="9233" name="Text Box 17"/>
              <p:cNvSpPr txBox="1">
                <a:spLocks noChangeArrowheads="1"/>
              </p:cNvSpPr>
              <p:nvPr/>
            </p:nvSpPr>
            <p:spPr bwMode="auto">
              <a:xfrm>
                <a:off x="3072" y="267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0</a:t>
                </a:r>
              </a:p>
            </p:txBody>
          </p:sp>
          <p:sp>
            <p:nvSpPr>
              <p:cNvPr id="9234" name="Text Box 18"/>
              <p:cNvSpPr txBox="1">
                <a:spLocks noChangeArrowheads="1"/>
              </p:cNvSpPr>
              <p:nvPr/>
            </p:nvSpPr>
            <p:spPr bwMode="auto">
              <a:xfrm>
                <a:off x="5088" y="2678"/>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1</a:t>
                </a:r>
              </a:p>
            </p:txBody>
          </p:sp>
          <p:sp>
            <p:nvSpPr>
              <p:cNvPr id="9236" name="Text Box 20"/>
              <p:cNvSpPr txBox="1">
                <a:spLocks noChangeArrowheads="1"/>
              </p:cNvSpPr>
              <p:nvPr/>
            </p:nvSpPr>
            <p:spPr bwMode="auto">
              <a:xfrm>
                <a:off x="3216" y="1344"/>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t>D</a:t>
                </a:r>
              </a:p>
            </p:txBody>
          </p:sp>
        </p:grpSp>
      </p:grpSp>
      <p:sp>
        <p:nvSpPr>
          <p:cNvPr id="9250" name="Text Box 34"/>
          <p:cNvSpPr txBox="1">
            <a:spLocks noChangeArrowheads="1"/>
          </p:cNvSpPr>
          <p:nvPr/>
        </p:nvSpPr>
        <p:spPr bwMode="auto">
          <a:xfrm>
            <a:off x="609600" y="457200"/>
            <a:ext cx="1371600"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a:t>
            </a:r>
            <a:r>
              <a:rPr lang="en-US" altLang="zh-CN" sz="3200" b="1"/>
              <a:t>4</a:t>
            </a:r>
          </a:p>
        </p:txBody>
      </p:sp>
      <p:sp>
        <p:nvSpPr>
          <p:cNvPr id="9251" name="Text Box 35"/>
          <p:cNvSpPr txBox="1">
            <a:spLocks noChangeArrowheads="1"/>
          </p:cNvSpPr>
          <p:nvPr/>
        </p:nvSpPr>
        <p:spPr bwMode="auto">
          <a:xfrm>
            <a:off x="7086600" y="533400"/>
            <a:ext cx="17526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t>SIR</a:t>
            </a:r>
            <a:r>
              <a:rPr lang="zh-CN" altLang="zh-CN" sz="2800" b="1" dirty="0">
                <a:ea typeface="楷体_GB2312" pitchFamily="49" charset="-122"/>
              </a:rPr>
              <a:t>模型</a:t>
            </a:r>
            <a:endParaRPr lang="zh-CN" altLang="en-US" sz="2800" b="1" dirty="0">
              <a:ea typeface="楷体_GB2312" pitchFamily="49" charset="-122"/>
            </a:endParaRPr>
          </a:p>
        </p:txBody>
      </p:sp>
      <p:grpSp>
        <p:nvGrpSpPr>
          <p:cNvPr id="9256" name="Group 40"/>
          <p:cNvGrpSpPr>
            <a:grpSpLocks/>
          </p:cNvGrpSpPr>
          <p:nvPr/>
        </p:nvGrpSpPr>
        <p:grpSpPr bwMode="auto">
          <a:xfrm>
            <a:off x="2286000" y="457200"/>
            <a:ext cx="3733800" cy="604838"/>
            <a:chOff x="288" y="864"/>
            <a:chExt cx="2352" cy="381"/>
          </a:xfrm>
        </p:grpSpPr>
        <p:sp>
          <p:nvSpPr>
            <p:cNvPr id="9254" name="Text Box 38"/>
            <p:cNvSpPr txBox="1">
              <a:spLocks noChangeArrowheads="1"/>
            </p:cNvSpPr>
            <p:nvPr/>
          </p:nvSpPr>
          <p:spPr bwMode="auto">
            <a:xfrm>
              <a:off x="288" y="864"/>
              <a:ext cx="2352" cy="381"/>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a:t>相轨线          及其分析</a:t>
              </a:r>
            </a:p>
          </p:txBody>
        </p:sp>
        <p:graphicFrame>
          <p:nvGraphicFramePr>
            <p:cNvPr id="9255" name="Object 39"/>
            <p:cNvGraphicFramePr>
              <a:graphicFrameLocks noChangeAspect="1"/>
            </p:cNvGraphicFramePr>
            <p:nvPr/>
          </p:nvGraphicFramePr>
          <p:xfrm>
            <a:off x="1056" y="912"/>
            <a:ext cx="537" cy="316"/>
          </p:xfrm>
          <a:graphic>
            <a:graphicData uri="http://schemas.openxmlformats.org/presentationml/2006/ole">
              <mc:AlternateContent xmlns:mc="http://schemas.openxmlformats.org/markup-compatibility/2006">
                <mc:Choice xmlns:v="urn:schemas-microsoft-com:vml" Requires="v">
                  <p:oleObj spid="_x0000_s11002" name="公式" r:id="rId3" imgW="317160" imgH="241200" progId="Equation.3">
                    <p:embed/>
                  </p:oleObj>
                </mc:Choice>
                <mc:Fallback>
                  <p:oleObj name="公式" r:id="rId3" imgW="317160" imgH="241200" progId="Equation.3">
                    <p:embed/>
                    <p:pic>
                      <p:nvPicPr>
                        <p:cNvPr id="9255"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912"/>
                          <a:ext cx="537" cy="316"/>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257" name="Object 41"/>
          <p:cNvGraphicFramePr>
            <a:graphicFrameLocks noChangeAspect="1"/>
          </p:cNvGraphicFramePr>
          <p:nvPr/>
        </p:nvGraphicFramePr>
        <p:xfrm>
          <a:off x="381000" y="1066800"/>
          <a:ext cx="2230438" cy="2286000"/>
        </p:xfrm>
        <a:graphic>
          <a:graphicData uri="http://schemas.openxmlformats.org/presentationml/2006/ole">
            <mc:AlternateContent xmlns:mc="http://schemas.openxmlformats.org/markup-compatibility/2006">
              <mc:Choice xmlns:v="urn:schemas-microsoft-com:vml" Requires="v">
                <p:oleObj spid="_x0000_s11003" name="公式" r:id="rId5" imgW="1447560" imgH="1549080" progId="Equation.3">
                  <p:embed/>
                </p:oleObj>
              </mc:Choice>
              <mc:Fallback>
                <p:oleObj name="公式" r:id="rId5" imgW="1447560" imgH="1549080" progId="Equation.3">
                  <p:embed/>
                  <p:pic>
                    <p:nvPicPr>
                      <p:cNvPr id="9257"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066800"/>
                        <a:ext cx="2230438" cy="228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8" name="Object 42"/>
          <p:cNvGraphicFramePr>
            <a:graphicFrameLocks noChangeAspect="1"/>
          </p:cNvGraphicFramePr>
          <p:nvPr/>
        </p:nvGraphicFramePr>
        <p:xfrm>
          <a:off x="2514600" y="1190625"/>
          <a:ext cx="2362200" cy="1476375"/>
        </p:xfrm>
        <a:graphic>
          <a:graphicData uri="http://schemas.openxmlformats.org/presentationml/2006/ole">
            <mc:AlternateContent xmlns:mc="http://schemas.openxmlformats.org/markup-compatibility/2006">
              <mc:Choice xmlns:v="urn:schemas-microsoft-com:vml" Requires="v">
                <p:oleObj spid="_x0000_s11004" name="公式" r:id="rId7" imgW="965160" imgH="863280" progId="Equation.3">
                  <p:embed/>
                </p:oleObj>
              </mc:Choice>
              <mc:Fallback>
                <p:oleObj name="公式" r:id="rId7" imgW="965160" imgH="863280" progId="Equation.3">
                  <p:embed/>
                  <p:pic>
                    <p:nvPicPr>
                      <p:cNvPr id="9258"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4600" y="1190625"/>
                        <a:ext cx="2362200" cy="1476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9" name="Object 43"/>
          <p:cNvGraphicFramePr>
            <a:graphicFrameLocks noChangeAspect="1"/>
          </p:cNvGraphicFramePr>
          <p:nvPr/>
        </p:nvGraphicFramePr>
        <p:xfrm>
          <a:off x="5795963" y="1371600"/>
          <a:ext cx="3195637" cy="879475"/>
        </p:xfrm>
        <a:graphic>
          <a:graphicData uri="http://schemas.openxmlformats.org/presentationml/2006/ole">
            <mc:AlternateContent xmlns:mc="http://schemas.openxmlformats.org/markup-compatibility/2006">
              <mc:Choice xmlns:v="urn:schemas-microsoft-com:vml" Requires="v">
                <p:oleObj spid="_x0000_s11005" name="公式" r:id="rId9" imgW="2019240" imgH="520560" progId="Equation.3">
                  <p:embed/>
                </p:oleObj>
              </mc:Choice>
              <mc:Fallback>
                <p:oleObj name="公式" r:id="rId9" imgW="2019240" imgH="520560" progId="Equation.3">
                  <p:embed/>
                  <p:pic>
                    <p:nvPicPr>
                      <p:cNvPr id="9259" name="Object 43"/>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5963" y="1371600"/>
                        <a:ext cx="3195637" cy="87947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6" name="Object 30"/>
          <p:cNvGraphicFramePr>
            <a:graphicFrameLocks noChangeAspect="1"/>
          </p:cNvGraphicFramePr>
          <p:nvPr/>
        </p:nvGraphicFramePr>
        <p:xfrm>
          <a:off x="304800" y="4329113"/>
          <a:ext cx="4572000" cy="868362"/>
        </p:xfrm>
        <a:graphic>
          <a:graphicData uri="http://schemas.openxmlformats.org/presentationml/2006/ole">
            <mc:AlternateContent xmlns:mc="http://schemas.openxmlformats.org/markup-compatibility/2006">
              <mc:Choice xmlns:v="urn:schemas-microsoft-com:vml" Requires="v">
                <p:oleObj spid="_x0000_s11006" name="公式" r:id="rId11" imgW="1981080" imgH="431640" progId="Equation.3">
                  <p:embed/>
                </p:oleObj>
              </mc:Choice>
              <mc:Fallback>
                <p:oleObj name="公式" r:id="rId11" imgW="1981080" imgH="431640" progId="Equation.3">
                  <p:embed/>
                  <p:pic>
                    <p:nvPicPr>
                      <p:cNvPr id="9246" name="Object 30"/>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 y="4329113"/>
                        <a:ext cx="4572000" cy="86836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64" name="Object 48"/>
          <p:cNvGraphicFramePr>
            <a:graphicFrameLocks noChangeAspect="1"/>
          </p:cNvGraphicFramePr>
          <p:nvPr/>
        </p:nvGraphicFramePr>
        <p:xfrm>
          <a:off x="533400" y="3733800"/>
          <a:ext cx="2057400" cy="498475"/>
        </p:xfrm>
        <a:graphic>
          <a:graphicData uri="http://schemas.openxmlformats.org/presentationml/2006/ole">
            <mc:AlternateContent xmlns:mc="http://schemas.openxmlformats.org/markup-compatibility/2006">
              <mc:Choice xmlns:v="urn:schemas-microsoft-com:vml" Requires="v">
                <p:oleObj spid="_x0000_s11007" name="公式" r:id="rId13" imgW="888840" imgH="228600" progId="Equation.3">
                  <p:embed/>
                </p:oleObj>
              </mc:Choice>
              <mc:Fallback>
                <p:oleObj name="公式" r:id="rId13" imgW="888840" imgH="228600" progId="Equation.3">
                  <p:embed/>
                  <p:pic>
                    <p:nvPicPr>
                      <p:cNvPr id="9264" name="Object 48"/>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3733800"/>
                        <a:ext cx="2057400" cy="4984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314" name="Group 98"/>
          <p:cNvGrpSpPr>
            <a:grpSpLocks/>
          </p:cNvGrpSpPr>
          <p:nvPr/>
        </p:nvGrpSpPr>
        <p:grpSpPr bwMode="auto">
          <a:xfrm>
            <a:off x="5424288" y="5272088"/>
            <a:ext cx="2430463" cy="519112"/>
            <a:chOff x="3390" y="3177"/>
            <a:chExt cx="1531" cy="327"/>
          </a:xfrm>
        </p:grpSpPr>
        <p:sp>
          <p:nvSpPr>
            <p:cNvPr id="9276" name="Text Box 60"/>
            <p:cNvSpPr txBox="1">
              <a:spLocks noChangeArrowheads="1"/>
            </p:cNvSpPr>
            <p:nvPr/>
          </p:nvSpPr>
          <p:spPr bwMode="auto">
            <a:xfrm>
              <a:off x="3625" y="3177"/>
              <a:ext cx="1296" cy="327"/>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传染病蔓延</a:t>
              </a:r>
            </a:p>
          </p:txBody>
        </p:sp>
        <p:sp>
          <p:nvSpPr>
            <p:cNvPr id="9278" name="AutoShape 62"/>
            <p:cNvSpPr>
              <a:spLocks noChangeArrowheads="1"/>
            </p:cNvSpPr>
            <p:nvPr/>
          </p:nvSpPr>
          <p:spPr bwMode="auto">
            <a:xfrm>
              <a:off x="3390" y="3264"/>
              <a:ext cx="144" cy="192"/>
            </a:xfrm>
            <a:prstGeom prst="rightArrow">
              <a:avLst>
                <a:gd name="adj1" fmla="val 50000"/>
                <a:gd name="adj2" fmla="val 25000"/>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282" name="Group 66"/>
          <p:cNvGrpSpPr>
            <a:grpSpLocks/>
          </p:cNvGrpSpPr>
          <p:nvPr/>
        </p:nvGrpSpPr>
        <p:grpSpPr bwMode="auto">
          <a:xfrm>
            <a:off x="5217368" y="6021288"/>
            <a:ext cx="2667000" cy="519113"/>
            <a:chOff x="3168" y="3585"/>
            <a:chExt cx="1680" cy="323"/>
          </a:xfrm>
        </p:grpSpPr>
        <p:sp>
          <p:nvSpPr>
            <p:cNvPr id="9277" name="Text Box 61"/>
            <p:cNvSpPr txBox="1">
              <a:spLocks noChangeArrowheads="1"/>
            </p:cNvSpPr>
            <p:nvPr/>
          </p:nvSpPr>
          <p:spPr bwMode="auto">
            <a:xfrm>
              <a:off x="3360" y="3585"/>
              <a:ext cx="1488" cy="32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t>传染病不蔓延</a:t>
              </a:r>
            </a:p>
          </p:txBody>
        </p:sp>
        <p:sp>
          <p:nvSpPr>
            <p:cNvPr id="9279" name="AutoShape 63"/>
            <p:cNvSpPr>
              <a:spLocks noChangeArrowheads="1"/>
            </p:cNvSpPr>
            <p:nvPr/>
          </p:nvSpPr>
          <p:spPr bwMode="auto">
            <a:xfrm>
              <a:off x="3168" y="3671"/>
              <a:ext cx="144" cy="192"/>
            </a:xfrm>
            <a:prstGeom prst="rightArrow">
              <a:avLst>
                <a:gd name="adj1" fmla="val 50000"/>
                <a:gd name="adj2"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85" name="Text Box 69"/>
          <p:cNvSpPr txBox="1">
            <a:spLocks noChangeArrowheads="1"/>
          </p:cNvSpPr>
          <p:nvPr/>
        </p:nvSpPr>
        <p:spPr bwMode="auto">
          <a:xfrm>
            <a:off x="251520" y="3124200"/>
            <a:ext cx="4549080" cy="51911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t>s</a:t>
            </a:r>
            <a:r>
              <a:rPr lang="en-US" altLang="zh-CN" sz="2800" b="1" dirty="0"/>
              <a:t>(</a:t>
            </a:r>
            <a:r>
              <a:rPr lang="en-US" altLang="zh-CN" sz="2800" b="1" i="1" dirty="0"/>
              <a:t>t</a:t>
            </a:r>
            <a:r>
              <a:rPr lang="en-US" altLang="zh-CN" sz="2800" b="1" dirty="0"/>
              <a:t>)</a:t>
            </a:r>
            <a:r>
              <a:rPr lang="zh-CN" altLang="en-US" sz="2800" b="1" dirty="0"/>
              <a:t>单调减</a:t>
            </a:r>
            <a:r>
              <a:rPr lang="zh-CN" altLang="en-US" sz="2800" b="1" dirty="0">
                <a:sym typeface="Symbol" panose="05050102010706020507" pitchFamily="18" charset="2"/>
              </a:rPr>
              <a:t></a:t>
            </a:r>
            <a:r>
              <a:rPr lang="zh-CN" altLang="en-US" sz="2800" b="1" dirty="0"/>
              <a:t>相轨线的方向</a:t>
            </a:r>
          </a:p>
        </p:txBody>
      </p:sp>
      <p:graphicFrame>
        <p:nvGraphicFramePr>
          <p:cNvPr id="9291" name="Object 75"/>
          <p:cNvGraphicFramePr>
            <a:graphicFrameLocks noChangeAspect="1"/>
          </p:cNvGraphicFramePr>
          <p:nvPr/>
        </p:nvGraphicFramePr>
        <p:xfrm>
          <a:off x="2743200" y="3754438"/>
          <a:ext cx="1981200" cy="485775"/>
        </p:xfrm>
        <a:graphic>
          <a:graphicData uri="http://schemas.openxmlformats.org/presentationml/2006/ole">
            <mc:AlternateContent xmlns:mc="http://schemas.openxmlformats.org/markup-compatibility/2006">
              <mc:Choice xmlns:v="urn:schemas-microsoft-com:vml" Requires="v">
                <p:oleObj spid="_x0000_s11008" name="公式" r:id="rId15" imgW="825480" imgH="203040" progId="Equation.3">
                  <p:embed/>
                </p:oleObj>
              </mc:Choice>
              <mc:Fallback>
                <p:oleObj name="公式" r:id="rId15" imgW="825480" imgH="203040" progId="Equation.3">
                  <p:embed/>
                  <p:pic>
                    <p:nvPicPr>
                      <p:cNvPr id="9291" name="Object 75"/>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43200" y="3754438"/>
                        <a:ext cx="1981200" cy="4857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292" name="Group 76"/>
          <p:cNvGrpSpPr>
            <a:grpSpLocks/>
          </p:cNvGrpSpPr>
          <p:nvPr/>
        </p:nvGrpSpPr>
        <p:grpSpPr bwMode="auto">
          <a:xfrm>
            <a:off x="5791200" y="3581400"/>
            <a:ext cx="1974850" cy="914400"/>
            <a:chOff x="3652" y="2105"/>
            <a:chExt cx="1244" cy="576"/>
          </a:xfrm>
        </p:grpSpPr>
        <p:sp>
          <p:nvSpPr>
            <p:cNvPr id="9293" name="Arc 77"/>
            <p:cNvSpPr>
              <a:spLocks/>
            </p:cNvSpPr>
            <p:nvPr/>
          </p:nvSpPr>
          <p:spPr bwMode="auto">
            <a:xfrm flipH="1">
              <a:off x="3652" y="2105"/>
              <a:ext cx="432" cy="5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4" name="Arc 78"/>
            <p:cNvSpPr>
              <a:spLocks/>
            </p:cNvSpPr>
            <p:nvPr/>
          </p:nvSpPr>
          <p:spPr bwMode="auto">
            <a:xfrm>
              <a:off x="4090" y="2107"/>
              <a:ext cx="806" cy="288"/>
            </a:xfrm>
            <a:custGeom>
              <a:avLst/>
              <a:gdLst>
                <a:gd name="G0" fmla="+- 0 0 0"/>
                <a:gd name="G1" fmla="+- 21600 0 0"/>
                <a:gd name="G2" fmla="+- 21600 0 0"/>
                <a:gd name="T0" fmla="*/ 0 w 21322"/>
                <a:gd name="T1" fmla="*/ 0 h 21600"/>
                <a:gd name="T2" fmla="*/ 21322 w 21322"/>
                <a:gd name="T3" fmla="*/ 18145 h 21600"/>
                <a:gd name="T4" fmla="*/ 0 w 21322"/>
                <a:gd name="T5" fmla="*/ 21600 h 21600"/>
              </a:gdLst>
              <a:ahLst/>
              <a:cxnLst>
                <a:cxn ang="0">
                  <a:pos x="T0" y="T1"/>
                </a:cxn>
                <a:cxn ang="0">
                  <a:pos x="T2" y="T3"/>
                </a:cxn>
                <a:cxn ang="0">
                  <a:pos x="T4" y="T5"/>
                </a:cxn>
              </a:cxnLst>
              <a:rect l="0" t="0" r="r" b="b"/>
              <a:pathLst>
                <a:path w="21322" h="21600" fill="none" extrusionOk="0">
                  <a:moveTo>
                    <a:pt x="0" y="0"/>
                  </a:moveTo>
                  <a:cubicBezTo>
                    <a:pt x="10595" y="0"/>
                    <a:pt x="19627" y="7685"/>
                    <a:pt x="21321" y="18145"/>
                  </a:cubicBezTo>
                </a:path>
                <a:path w="21322" h="21600" stroke="0" extrusionOk="0">
                  <a:moveTo>
                    <a:pt x="0" y="0"/>
                  </a:moveTo>
                  <a:cubicBezTo>
                    <a:pt x="10595" y="0"/>
                    <a:pt x="19627" y="7685"/>
                    <a:pt x="21321" y="18145"/>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304" name="Group 88"/>
          <p:cNvGrpSpPr>
            <a:grpSpLocks/>
          </p:cNvGrpSpPr>
          <p:nvPr/>
        </p:nvGrpSpPr>
        <p:grpSpPr bwMode="auto">
          <a:xfrm>
            <a:off x="6781800" y="3535363"/>
            <a:ext cx="685800" cy="1265237"/>
            <a:chOff x="4272" y="2083"/>
            <a:chExt cx="432" cy="797"/>
          </a:xfrm>
        </p:grpSpPr>
        <p:grpSp>
          <p:nvGrpSpPr>
            <p:cNvPr id="9295" name="Group 79"/>
            <p:cNvGrpSpPr>
              <a:grpSpLocks/>
            </p:cNvGrpSpPr>
            <p:nvPr/>
          </p:nvGrpSpPr>
          <p:grpSpPr bwMode="auto">
            <a:xfrm>
              <a:off x="4272" y="2083"/>
              <a:ext cx="336" cy="269"/>
              <a:chOff x="4416" y="1450"/>
              <a:chExt cx="336" cy="269"/>
            </a:xfrm>
          </p:grpSpPr>
          <p:sp>
            <p:nvSpPr>
              <p:cNvPr id="9237" name="Text Box 21"/>
              <p:cNvSpPr txBox="1">
                <a:spLocks noChangeArrowheads="1"/>
              </p:cNvSpPr>
              <p:nvPr/>
            </p:nvSpPr>
            <p:spPr bwMode="auto">
              <a:xfrm>
                <a:off x="4416" y="1488"/>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i="1"/>
                  <a:t>P</a:t>
                </a:r>
                <a:r>
                  <a:rPr lang="en-US" altLang="zh-CN" sz="1800" b="1" baseline="-25000"/>
                  <a:t>1</a:t>
                </a:r>
                <a:endParaRPr lang="en-US" altLang="zh-CN" sz="1800" b="1"/>
              </a:p>
            </p:txBody>
          </p:sp>
          <p:graphicFrame>
            <p:nvGraphicFramePr>
              <p:cNvPr id="9243" name="Object 27"/>
              <p:cNvGraphicFramePr>
                <a:graphicFrameLocks noChangeAspect="1"/>
              </p:cNvGraphicFramePr>
              <p:nvPr/>
            </p:nvGraphicFramePr>
            <p:xfrm>
              <a:off x="4568" y="1450"/>
              <a:ext cx="155" cy="172"/>
            </p:xfrm>
            <a:graphic>
              <a:graphicData uri="http://schemas.openxmlformats.org/presentationml/2006/ole">
                <mc:AlternateContent xmlns:mc="http://schemas.openxmlformats.org/markup-compatibility/2006">
                  <mc:Choice xmlns:v="urn:schemas-microsoft-com:vml" Requires="v">
                    <p:oleObj spid="_x0000_s11009" name="公式" r:id="rId17" imgW="114120" imgH="126720" progId="Equation.3">
                      <p:embed/>
                    </p:oleObj>
                  </mc:Choice>
                  <mc:Fallback>
                    <p:oleObj name="公式" r:id="rId17" imgW="114120" imgH="126720" progId="Equation.3">
                      <p:embed/>
                      <p:pic>
                        <p:nvPicPr>
                          <p:cNvPr id="9243"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68" y="1450"/>
                            <a:ext cx="15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96" name="Line 80"/>
            <p:cNvSpPr>
              <a:spLocks noChangeShapeType="1"/>
            </p:cNvSpPr>
            <p:nvPr/>
          </p:nvSpPr>
          <p:spPr bwMode="auto">
            <a:xfrm>
              <a:off x="4512" y="2160"/>
              <a:ext cx="0" cy="5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7" name="Text Box 81"/>
            <p:cNvSpPr txBox="1">
              <a:spLocks noChangeArrowheads="1"/>
            </p:cNvSpPr>
            <p:nvPr/>
          </p:nvSpPr>
          <p:spPr bwMode="auto">
            <a:xfrm>
              <a:off x="4416" y="2630"/>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t>s</a:t>
              </a:r>
              <a:r>
                <a:rPr lang="en-US" altLang="zh-CN" sz="2000" b="1" baseline="-25000"/>
                <a:t>0</a:t>
              </a:r>
              <a:endParaRPr lang="en-US" altLang="zh-CN" sz="2000" b="1"/>
            </a:p>
          </p:txBody>
        </p:sp>
      </p:grpSp>
      <p:grpSp>
        <p:nvGrpSpPr>
          <p:cNvPr id="9311" name="Group 95"/>
          <p:cNvGrpSpPr>
            <a:grpSpLocks/>
          </p:cNvGrpSpPr>
          <p:nvPr/>
        </p:nvGrpSpPr>
        <p:grpSpPr bwMode="auto">
          <a:xfrm>
            <a:off x="4876800" y="3336925"/>
            <a:ext cx="2057400" cy="1504950"/>
            <a:chOff x="3072" y="1958"/>
            <a:chExt cx="1296" cy="948"/>
          </a:xfrm>
        </p:grpSpPr>
        <p:graphicFrame>
          <p:nvGraphicFramePr>
            <p:cNvPr id="9306" name="Object 90"/>
            <p:cNvGraphicFramePr>
              <a:graphicFrameLocks noChangeAspect="1"/>
            </p:cNvGraphicFramePr>
            <p:nvPr/>
          </p:nvGraphicFramePr>
          <p:xfrm>
            <a:off x="4080" y="2736"/>
            <a:ext cx="288" cy="170"/>
          </p:xfrm>
          <a:graphic>
            <a:graphicData uri="http://schemas.openxmlformats.org/presentationml/2006/ole">
              <mc:AlternateContent xmlns:mc="http://schemas.openxmlformats.org/markup-compatibility/2006">
                <mc:Choice xmlns:v="urn:schemas-microsoft-com:vml" Requires="v">
                  <p:oleObj spid="_x0000_s11010" name="公式" r:id="rId19" imgW="342720" imgH="203040" progId="Equation.3">
                    <p:embed/>
                  </p:oleObj>
                </mc:Choice>
                <mc:Fallback>
                  <p:oleObj name="公式" r:id="rId19" imgW="342720" imgH="203040" progId="Equation.3">
                    <p:embed/>
                    <p:pic>
                      <p:nvPicPr>
                        <p:cNvPr id="9306" name="Object 9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80" y="2736"/>
                          <a:ext cx="288"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07" name="Line 91"/>
            <p:cNvSpPr>
              <a:spLocks noChangeShapeType="1"/>
            </p:cNvSpPr>
            <p:nvPr/>
          </p:nvSpPr>
          <p:spPr bwMode="auto">
            <a:xfrm flipV="1">
              <a:off x="4228" y="2105"/>
              <a:ext cx="0" cy="57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08" name="Line 92"/>
            <p:cNvSpPr>
              <a:spLocks noChangeShapeType="1"/>
            </p:cNvSpPr>
            <p:nvPr/>
          </p:nvSpPr>
          <p:spPr bwMode="auto">
            <a:xfrm flipH="1">
              <a:off x="3316" y="2112"/>
              <a:ext cx="912"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09" name="Text Box 93"/>
            <p:cNvSpPr txBox="1">
              <a:spLocks noChangeArrowheads="1"/>
            </p:cNvSpPr>
            <p:nvPr/>
          </p:nvSpPr>
          <p:spPr bwMode="auto">
            <a:xfrm>
              <a:off x="3072" y="195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t>i</a:t>
              </a:r>
              <a:r>
                <a:rPr lang="en-US" altLang="zh-CN" sz="2000" b="1" i="1" baseline="-25000"/>
                <a:t>m</a:t>
              </a:r>
              <a:endParaRPr lang="en-US" altLang="zh-CN" sz="2000" b="1" i="1"/>
            </a:p>
          </p:txBody>
        </p:sp>
      </p:grpSp>
      <p:graphicFrame>
        <p:nvGraphicFramePr>
          <p:cNvPr id="9310" name="Object 94"/>
          <p:cNvGraphicFramePr>
            <a:graphicFrameLocks noChangeAspect="1"/>
          </p:cNvGraphicFramePr>
          <p:nvPr/>
        </p:nvGraphicFramePr>
        <p:xfrm>
          <a:off x="5638800" y="4413250"/>
          <a:ext cx="463550" cy="463550"/>
        </p:xfrm>
        <a:graphic>
          <a:graphicData uri="http://schemas.openxmlformats.org/presentationml/2006/ole">
            <mc:AlternateContent xmlns:mc="http://schemas.openxmlformats.org/markup-compatibility/2006">
              <mc:Choice xmlns:v="urn:schemas-microsoft-com:vml" Requires="v">
                <p:oleObj spid="_x0000_s11011" name="公式" r:id="rId21" imgW="190440" imgH="253800" progId="Equation.3">
                  <p:embed/>
                </p:oleObj>
              </mc:Choice>
              <mc:Fallback>
                <p:oleObj name="公式" r:id="rId21" imgW="190440" imgH="253800" progId="Equation.3">
                  <p:embed/>
                  <p:pic>
                    <p:nvPicPr>
                      <p:cNvPr id="9310" name="Object 9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38800" y="4413250"/>
                        <a:ext cx="46355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12" name="Text Box 96"/>
          <p:cNvSpPr txBox="1">
            <a:spLocks noChangeArrowheads="1"/>
          </p:cNvSpPr>
          <p:nvPr/>
        </p:nvSpPr>
        <p:spPr bwMode="auto">
          <a:xfrm>
            <a:off x="107504" y="5282044"/>
            <a:ext cx="5316784" cy="523220"/>
          </a:xfrm>
          <a:prstGeom prst="rect">
            <a:avLst/>
          </a:prstGeom>
          <a:solidFill>
            <a:srgbClr val="66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t>P</a:t>
            </a:r>
            <a:r>
              <a:rPr lang="en-US" altLang="zh-CN" sz="2800" b="1" baseline="-25000" dirty="0"/>
              <a:t>1</a:t>
            </a:r>
            <a:r>
              <a:rPr lang="en-US" altLang="zh-CN" sz="2800" b="1" dirty="0"/>
              <a:t>: </a:t>
            </a:r>
            <a:r>
              <a:rPr lang="en-US" altLang="zh-CN" sz="2800" b="1" i="1" dirty="0"/>
              <a:t>s</a:t>
            </a:r>
            <a:r>
              <a:rPr lang="en-US" altLang="zh-CN" sz="2800" b="1" baseline="-25000" dirty="0"/>
              <a:t>0</a:t>
            </a:r>
            <a:r>
              <a:rPr lang="en-US" altLang="zh-CN" sz="2800" b="1" dirty="0"/>
              <a:t>&gt;1/</a:t>
            </a:r>
            <a:r>
              <a:rPr lang="en-US" altLang="zh-CN" sz="2800" b="1" dirty="0">
                <a:latin typeface="Tahoma"/>
                <a:ea typeface="Tahoma"/>
                <a:cs typeface="Tahoma"/>
                <a:sym typeface="Math1" pitchFamily="2" charset="2"/>
              </a:rPr>
              <a:t>ϭ</a:t>
            </a:r>
            <a:r>
              <a:rPr lang="en-US" altLang="zh-CN" sz="2800" b="1" dirty="0">
                <a:sym typeface="Math1" pitchFamily="2" charset="2"/>
              </a:rPr>
              <a:t> </a:t>
            </a:r>
            <a:r>
              <a:rPr lang="en-US" altLang="zh-CN" sz="2800" b="1" dirty="0">
                <a:sym typeface="Symbol" panose="05050102010706020507" pitchFamily="18" charset="2"/>
              </a:rPr>
              <a:t> </a:t>
            </a:r>
            <a:r>
              <a:rPr lang="en-US" altLang="zh-CN" sz="2800" b="1" i="1" dirty="0" err="1">
                <a:sym typeface="Symbol" panose="05050102010706020507" pitchFamily="18" charset="2"/>
              </a:rPr>
              <a:t>i</a:t>
            </a:r>
            <a:r>
              <a:rPr lang="en-US" altLang="zh-CN" sz="2800" b="1" dirty="0">
                <a:sym typeface="Symbol" panose="05050102010706020507" pitchFamily="18" charset="2"/>
              </a:rPr>
              <a:t>(</a:t>
            </a:r>
            <a:r>
              <a:rPr lang="en-US" altLang="zh-CN" sz="2800" b="1" i="1" dirty="0">
                <a:sym typeface="Symbol" panose="05050102010706020507" pitchFamily="18" charset="2"/>
              </a:rPr>
              <a:t>t</a:t>
            </a:r>
            <a:r>
              <a:rPr lang="en-US" altLang="zh-CN" sz="2800" b="1" dirty="0">
                <a:sym typeface="Symbol" panose="05050102010706020507" pitchFamily="18" charset="2"/>
              </a:rPr>
              <a:t>)</a:t>
            </a:r>
            <a:r>
              <a:rPr lang="zh-CN" altLang="zh-CN" sz="2800" b="1" dirty="0">
                <a:sym typeface="Symbol" panose="05050102010706020507" pitchFamily="18" charset="2"/>
              </a:rPr>
              <a:t>先升后降至0</a:t>
            </a:r>
            <a:endParaRPr lang="en-US" altLang="zh-CN" sz="2800" b="1" dirty="0">
              <a:sym typeface="Symbol" panose="05050102010706020507" pitchFamily="18" charset="2"/>
            </a:endParaRPr>
          </a:p>
        </p:txBody>
      </p:sp>
      <p:sp>
        <p:nvSpPr>
          <p:cNvPr id="9313" name="Text Box 97"/>
          <p:cNvSpPr txBox="1">
            <a:spLocks noChangeArrowheads="1"/>
          </p:cNvSpPr>
          <p:nvPr/>
        </p:nvSpPr>
        <p:spPr bwMode="auto">
          <a:xfrm>
            <a:off x="176808" y="6093562"/>
            <a:ext cx="4888160"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solidFill>
                  <a:srgbClr val="FF3300"/>
                </a:solidFill>
              </a:rPr>
              <a:t>P</a:t>
            </a:r>
            <a:r>
              <a:rPr lang="en-US" altLang="zh-CN" sz="2800" b="1" baseline="-25000" dirty="0">
                <a:solidFill>
                  <a:srgbClr val="FF3300"/>
                </a:solidFill>
              </a:rPr>
              <a:t>2</a:t>
            </a:r>
            <a:r>
              <a:rPr lang="en-US" altLang="zh-CN" sz="2800" b="1" dirty="0">
                <a:solidFill>
                  <a:srgbClr val="FF3300"/>
                </a:solidFill>
              </a:rPr>
              <a:t>: </a:t>
            </a:r>
            <a:r>
              <a:rPr lang="en-US" altLang="zh-CN" sz="2800" b="1" i="1" dirty="0">
                <a:solidFill>
                  <a:srgbClr val="FF3300"/>
                </a:solidFill>
              </a:rPr>
              <a:t>s</a:t>
            </a:r>
            <a:r>
              <a:rPr lang="en-US" altLang="zh-CN" sz="2800" b="1" baseline="-25000" dirty="0">
                <a:solidFill>
                  <a:srgbClr val="FF3300"/>
                </a:solidFill>
              </a:rPr>
              <a:t>0</a:t>
            </a:r>
            <a:r>
              <a:rPr lang="en-US" altLang="zh-CN" sz="2800" b="1" dirty="0">
                <a:solidFill>
                  <a:srgbClr val="FF3300"/>
                </a:solidFill>
              </a:rPr>
              <a:t>&lt;1/</a:t>
            </a:r>
            <a:r>
              <a:rPr lang="en-US" altLang="zh-CN" sz="2800" b="1" dirty="0">
                <a:solidFill>
                  <a:srgbClr val="FF3300"/>
                </a:solidFill>
                <a:sym typeface="Math1" pitchFamily="2" charset="2"/>
              </a:rPr>
              <a:t>ϭ</a:t>
            </a:r>
            <a:r>
              <a:rPr lang="en-US" altLang="zh-CN" sz="2800" b="1" dirty="0">
                <a:sym typeface="Math1" pitchFamily="2" charset="2"/>
              </a:rPr>
              <a:t> </a:t>
            </a:r>
            <a:r>
              <a:rPr lang="en-US" altLang="zh-CN" sz="2800" b="1" dirty="0">
                <a:sym typeface="Symbol" panose="05050102010706020507" pitchFamily="18" charset="2"/>
              </a:rPr>
              <a:t> </a:t>
            </a:r>
            <a:r>
              <a:rPr lang="en-US" altLang="zh-CN" sz="2800" b="1" i="1" dirty="0" err="1">
                <a:sym typeface="Symbol" panose="05050102010706020507" pitchFamily="18" charset="2"/>
              </a:rPr>
              <a:t>i</a:t>
            </a:r>
            <a:r>
              <a:rPr lang="en-US" altLang="zh-CN" sz="2800" b="1" dirty="0">
                <a:sym typeface="Symbol" panose="05050102010706020507" pitchFamily="18" charset="2"/>
              </a:rPr>
              <a:t>(</a:t>
            </a:r>
            <a:r>
              <a:rPr lang="en-US" altLang="zh-CN" sz="2800" b="1" i="1" dirty="0">
                <a:sym typeface="Symbol" panose="05050102010706020507" pitchFamily="18" charset="2"/>
              </a:rPr>
              <a:t>t</a:t>
            </a:r>
            <a:r>
              <a:rPr lang="en-US" altLang="zh-CN" sz="2800" b="1" dirty="0">
                <a:sym typeface="Symbol" panose="05050102010706020507" pitchFamily="18" charset="2"/>
              </a:rPr>
              <a:t>)</a:t>
            </a:r>
            <a:r>
              <a:rPr lang="zh-CN" altLang="zh-CN" sz="2800" b="1" dirty="0">
                <a:sym typeface="Symbol" panose="05050102010706020507" pitchFamily="18" charset="2"/>
              </a:rPr>
              <a:t>单调降至0</a:t>
            </a:r>
            <a:endParaRPr lang="en-US" altLang="zh-CN" sz="2800" b="1" dirty="0">
              <a:sym typeface="Symbol" panose="05050102010706020507" pitchFamily="18" charset="2"/>
            </a:endParaRPr>
          </a:p>
        </p:txBody>
      </p:sp>
      <p:sp>
        <p:nvSpPr>
          <p:cNvPr id="9315" name="Text Box 99"/>
          <p:cNvSpPr txBox="1">
            <a:spLocks noChangeArrowheads="1"/>
          </p:cNvSpPr>
          <p:nvPr/>
        </p:nvSpPr>
        <p:spPr bwMode="auto">
          <a:xfrm>
            <a:off x="7924800" y="5440363"/>
            <a:ext cx="1219200" cy="9461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t>1/</a:t>
            </a:r>
            <a:r>
              <a:rPr lang="en-US" altLang="zh-CN" sz="2800" b="1" dirty="0">
                <a:sym typeface="Math1" pitchFamily="2" charset="2"/>
              </a:rPr>
              <a:t>ϭ~</a:t>
            </a:r>
            <a:r>
              <a:rPr lang="zh-CN" altLang="en-US" sz="2800" b="1" dirty="0"/>
              <a:t>阈值</a:t>
            </a:r>
          </a:p>
        </p:txBody>
      </p:sp>
      <p:grpSp>
        <p:nvGrpSpPr>
          <p:cNvPr id="9320" name="Group 104"/>
          <p:cNvGrpSpPr>
            <a:grpSpLocks/>
          </p:cNvGrpSpPr>
          <p:nvPr/>
        </p:nvGrpSpPr>
        <p:grpSpPr bwMode="auto">
          <a:xfrm>
            <a:off x="5943600" y="3962400"/>
            <a:ext cx="2057400" cy="609600"/>
            <a:chOff x="3744" y="2352"/>
            <a:chExt cx="1296" cy="384"/>
          </a:xfrm>
        </p:grpSpPr>
        <p:grpSp>
          <p:nvGrpSpPr>
            <p:cNvPr id="9317" name="Group 101"/>
            <p:cNvGrpSpPr>
              <a:grpSpLocks/>
            </p:cNvGrpSpPr>
            <p:nvPr/>
          </p:nvGrpSpPr>
          <p:grpSpPr bwMode="auto">
            <a:xfrm>
              <a:off x="3744" y="2352"/>
              <a:ext cx="1163" cy="384"/>
              <a:chOff x="3744" y="3984"/>
              <a:chExt cx="1163" cy="384"/>
            </a:xfrm>
          </p:grpSpPr>
          <p:sp>
            <p:nvSpPr>
              <p:cNvPr id="9226" name="Arc 10"/>
              <p:cNvSpPr>
                <a:spLocks/>
              </p:cNvSpPr>
              <p:nvPr/>
            </p:nvSpPr>
            <p:spPr bwMode="auto">
              <a:xfrm flipH="1">
                <a:off x="3744" y="3984"/>
                <a:ext cx="384" cy="38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0" name="Arc 14"/>
              <p:cNvSpPr>
                <a:spLocks/>
              </p:cNvSpPr>
              <p:nvPr/>
            </p:nvSpPr>
            <p:spPr bwMode="auto">
              <a:xfrm>
                <a:off x="4128" y="3986"/>
                <a:ext cx="779" cy="336"/>
              </a:xfrm>
              <a:custGeom>
                <a:avLst/>
                <a:gdLst>
                  <a:gd name="G0" fmla="+- 0 0 0"/>
                  <a:gd name="G1" fmla="+- 21600 0 0"/>
                  <a:gd name="G2" fmla="+- 21600 0 0"/>
                  <a:gd name="T0" fmla="*/ 0 w 15231"/>
                  <a:gd name="T1" fmla="*/ 0 h 21600"/>
                  <a:gd name="T2" fmla="*/ 15231 w 15231"/>
                  <a:gd name="T3" fmla="*/ 6284 h 21600"/>
                  <a:gd name="T4" fmla="*/ 0 w 15231"/>
                  <a:gd name="T5" fmla="*/ 21600 h 21600"/>
                </a:gdLst>
                <a:ahLst/>
                <a:cxnLst>
                  <a:cxn ang="0">
                    <a:pos x="T0" y="T1"/>
                  </a:cxn>
                  <a:cxn ang="0">
                    <a:pos x="T2" y="T3"/>
                  </a:cxn>
                  <a:cxn ang="0">
                    <a:pos x="T4" y="T5"/>
                  </a:cxn>
                </a:cxnLst>
                <a:rect l="0" t="0" r="r" b="b"/>
                <a:pathLst>
                  <a:path w="15231" h="21600" fill="none" extrusionOk="0">
                    <a:moveTo>
                      <a:pt x="0" y="0"/>
                    </a:moveTo>
                    <a:cubicBezTo>
                      <a:pt x="5707" y="0"/>
                      <a:pt x="11183" y="2259"/>
                      <a:pt x="15230" y="6284"/>
                    </a:cubicBezTo>
                  </a:path>
                  <a:path w="15231" h="21600" stroke="0" extrusionOk="0">
                    <a:moveTo>
                      <a:pt x="0" y="0"/>
                    </a:moveTo>
                    <a:cubicBezTo>
                      <a:pt x="5707" y="0"/>
                      <a:pt x="11183" y="2259"/>
                      <a:pt x="15230" y="6284"/>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318" name="Text Box 102"/>
            <p:cNvSpPr txBox="1">
              <a:spLocks noChangeArrowheads="1"/>
            </p:cNvSpPr>
            <p:nvPr/>
          </p:nvSpPr>
          <p:spPr bwMode="auto">
            <a:xfrm>
              <a:off x="4752" y="2400"/>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i="1"/>
                <a:t>P</a:t>
              </a:r>
              <a:r>
                <a:rPr lang="en-US" altLang="zh-CN" sz="1800" b="1" baseline="-25000"/>
                <a:t>3</a:t>
              </a:r>
              <a:endParaRPr lang="en-US" altLang="zh-CN" sz="1800" b="1" i="1"/>
            </a:p>
          </p:txBody>
        </p:sp>
      </p:grpSp>
      <p:grpSp>
        <p:nvGrpSpPr>
          <p:cNvPr id="9321" name="Group 105"/>
          <p:cNvGrpSpPr>
            <a:grpSpLocks/>
          </p:cNvGrpSpPr>
          <p:nvPr/>
        </p:nvGrpSpPr>
        <p:grpSpPr bwMode="auto">
          <a:xfrm>
            <a:off x="5486400" y="2590800"/>
            <a:ext cx="838200" cy="1905000"/>
            <a:chOff x="3456" y="1488"/>
            <a:chExt cx="528" cy="1200"/>
          </a:xfrm>
        </p:grpSpPr>
        <p:sp>
          <p:nvSpPr>
            <p:cNvPr id="9221" name="Arc 5"/>
            <p:cNvSpPr>
              <a:spLocks/>
            </p:cNvSpPr>
            <p:nvPr/>
          </p:nvSpPr>
          <p:spPr bwMode="auto">
            <a:xfrm flipH="1">
              <a:off x="3456" y="1597"/>
              <a:ext cx="432" cy="1091"/>
            </a:xfrm>
            <a:custGeom>
              <a:avLst/>
              <a:gdLst>
                <a:gd name="G0" fmla="+- 0 0 0"/>
                <a:gd name="G1" fmla="+- 19640 0 0"/>
                <a:gd name="G2" fmla="+- 21600 0 0"/>
                <a:gd name="T0" fmla="*/ 8991 w 21600"/>
                <a:gd name="T1" fmla="*/ 0 h 19640"/>
                <a:gd name="T2" fmla="*/ 21600 w 21600"/>
                <a:gd name="T3" fmla="*/ 19640 h 19640"/>
                <a:gd name="T4" fmla="*/ 0 w 21600"/>
                <a:gd name="T5" fmla="*/ 19640 h 19640"/>
              </a:gdLst>
              <a:ahLst/>
              <a:cxnLst>
                <a:cxn ang="0">
                  <a:pos x="T0" y="T1"/>
                </a:cxn>
                <a:cxn ang="0">
                  <a:pos x="T2" y="T3"/>
                </a:cxn>
                <a:cxn ang="0">
                  <a:pos x="T4" y="T5"/>
                </a:cxn>
              </a:cxnLst>
              <a:rect l="0" t="0" r="r" b="b"/>
              <a:pathLst>
                <a:path w="21600" h="19640" fill="none" extrusionOk="0">
                  <a:moveTo>
                    <a:pt x="8990" y="0"/>
                  </a:moveTo>
                  <a:cubicBezTo>
                    <a:pt x="16673" y="3517"/>
                    <a:pt x="21600" y="11190"/>
                    <a:pt x="21600" y="19640"/>
                  </a:cubicBezTo>
                </a:path>
                <a:path w="21600" h="19640" stroke="0" extrusionOk="0">
                  <a:moveTo>
                    <a:pt x="8990" y="0"/>
                  </a:moveTo>
                  <a:cubicBezTo>
                    <a:pt x="16673" y="3517"/>
                    <a:pt x="21600" y="11190"/>
                    <a:pt x="21600" y="19640"/>
                  </a:cubicBezTo>
                  <a:lnTo>
                    <a:pt x="0" y="19640"/>
                  </a:lnTo>
                  <a:close/>
                </a:path>
              </a:pathLst>
            </a:custGeom>
            <a:noFill/>
            <a:ln w="28575">
              <a:solidFill>
                <a:schemeClr val="tx1"/>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19" name="Text Box 103"/>
            <p:cNvSpPr txBox="1">
              <a:spLocks noChangeArrowheads="1"/>
            </p:cNvSpPr>
            <p:nvPr/>
          </p:nvSpPr>
          <p:spPr bwMode="auto">
            <a:xfrm>
              <a:off x="3696" y="1488"/>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i="1"/>
                <a:t>P</a:t>
              </a:r>
              <a:r>
                <a:rPr lang="en-US" altLang="zh-CN" sz="1800" b="1" baseline="-25000"/>
                <a:t>4</a:t>
              </a:r>
              <a:endParaRPr lang="en-US" altLang="zh-CN" sz="1800" b="1" i="1"/>
            </a:p>
          </p:txBody>
        </p:sp>
      </p:grpSp>
      <p:grpSp>
        <p:nvGrpSpPr>
          <p:cNvPr id="9324" name="Group 108"/>
          <p:cNvGrpSpPr>
            <a:grpSpLocks/>
          </p:cNvGrpSpPr>
          <p:nvPr/>
        </p:nvGrpSpPr>
        <p:grpSpPr bwMode="auto">
          <a:xfrm>
            <a:off x="5638800" y="2971800"/>
            <a:ext cx="1219200" cy="1828800"/>
            <a:chOff x="3552" y="1728"/>
            <a:chExt cx="768" cy="1152"/>
          </a:xfrm>
        </p:grpSpPr>
        <p:sp>
          <p:nvSpPr>
            <p:cNvPr id="9224" name="Arc 8"/>
            <p:cNvSpPr>
              <a:spLocks/>
            </p:cNvSpPr>
            <p:nvPr/>
          </p:nvSpPr>
          <p:spPr bwMode="auto">
            <a:xfrm flipH="1">
              <a:off x="3552" y="1930"/>
              <a:ext cx="528" cy="758"/>
            </a:xfrm>
            <a:custGeom>
              <a:avLst/>
              <a:gdLst>
                <a:gd name="G0" fmla="+- 0 0 0"/>
                <a:gd name="G1" fmla="+- 21318 0 0"/>
                <a:gd name="G2" fmla="+- 21600 0 0"/>
                <a:gd name="T0" fmla="*/ 3479 w 21600"/>
                <a:gd name="T1" fmla="*/ 0 h 21318"/>
                <a:gd name="T2" fmla="*/ 21600 w 21600"/>
                <a:gd name="T3" fmla="*/ 21318 h 21318"/>
                <a:gd name="T4" fmla="*/ 0 w 21600"/>
                <a:gd name="T5" fmla="*/ 21318 h 21318"/>
              </a:gdLst>
              <a:ahLst/>
              <a:cxnLst>
                <a:cxn ang="0">
                  <a:pos x="T0" y="T1"/>
                </a:cxn>
                <a:cxn ang="0">
                  <a:pos x="T2" y="T3"/>
                </a:cxn>
                <a:cxn ang="0">
                  <a:pos x="T4" y="T5"/>
                </a:cxn>
              </a:cxnLst>
              <a:rect l="0" t="0" r="r" b="b"/>
              <a:pathLst>
                <a:path w="21600" h="21318" fill="none" extrusionOk="0">
                  <a:moveTo>
                    <a:pt x="3478" y="0"/>
                  </a:moveTo>
                  <a:cubicBezTo>
                    <a:pt x="13927" y="1705"/>
                    <a:pt x="21600" y="10731"/>
                    <a:pt x="21600" y="21318"/>
                  </a:cubicBezTo>
                </a:path>
                <a:path w="21600" h="21318" stroke="0" extrusionOk="0">
                  <a:moveTo>
                    <a:pt x="3478" y="0"/>
                  </a:moveTo>
                  <a:cubicBezTo>
                    <a:pt x="13927" y="1705"/>
                    <a:pt x="21600" y="10731"/>
                    <a:pt x="21600" y="21318"/>
                  </a:cubicBezTo>
                  <a:lnTo>
                    <a:pt x="0" y="21318"/>
                  </a:lnTo>
                  <a:close/>
                </a:path>
              </a:pathLst>
            </a:custGeom>
            <a:noFill/>
            <a:ln w="28575">
              <a:solidFill>
                <a:srgbClr val="FF3300"/>
              </a:solidFill>
              <a:round/>
              <a:headEnd/>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8" name="Text Box 22"/>
            <p:cNvSpPr txBox="1">
              <a:spLocks noChangeArrowheads="1"/>
            </p:cNvSpPr>
            <p:nvPr/>
          </p:nvSpPr>
          <p:spPr bwMode="auto">
            <a:xfrm>
              <a:off x="3936" y="172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solidFill>
                    <a:srgbClr val="FF3300"/>
                  </a:solidFill>
                </a:rPr>
                <a:t>P</a:t>
              </a:r>
              <a:r>
                <a:rPr lang="en-US" altLang="zh-CN" sz="2000" b="1" baseline="-25000">
                  <a:solidFill>
                    <a:srgbClr val="FF3300"/>
                  </a:solidFill>
                </a:rPr>
                <a:t>2</a:t>
              </a:r>
              <a:endParaRPr lang="en-US" altLang="zh-CN" sz="2000" b="1"/>
            </a:p>
          </p:txBody>
        </p:sp>
        <p:sp>
          <p:nvSpPr>
            <p:cNvPr id="9322" name="Text Box 106"/>
            <p:cNvSpPr txBox="1">
              <a:spLocks noChangeArrowheads="1"/>
            </p:cNvSpPr>
            <p:nvPr/>
          </p:nvSpPr>
          <p:spPr bwMode="auto">
            <a:xfrm>
              <a:off x="3840" y="2668"/>
              <a:ext cx="2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i="1">
                  <a:solidFill>
                    <a:srgbClr val="FF3300"/>
                  </a:solidFill>
                </a:rPr>
                <a:t>S</a:t>
              </a:r>
              <a:r>
                <a:rPr lang="en-US" altLang="zh-CN" sz="1600" b="1" baseline="-25000">
                  <a:solidFill>
                    <a:srgbClr val="FF3300"/>
                  </a:solidFill>
                </a:rPr>
                <a:t>0</a:t>
              </a:r>
              <a:endParaRPr lang="en-US" altLang="zh-CN" sz="1600" b="1">
                <a:solidFill>
                  <a:srgbClr val="FF3300"/>
                </a:solidFill>
              </a:endParaRPr>
            </a:p>
          </p:txBody>
        </p:sp>
        <p:sp>
          <p:nvSpPr>
            <p:cNvPr id="9323" name="Line 107"/>
            <p:cNvSpPr>
              <a:spLocks noChangeShapeType="1"/>
            </p:cNvSpPr>
            <p:nvPr/>
          </p:nvSpPr>
          <p:spPr bwMode="auto">
            <a:xfrm>
              <a:off x="3984" y="1920"/>
              <a:ext cx="0" cy="768"/>
            </a:xfrm>
            <a:prstGeom prst="line">
              <a:avLst/>
            </a:prstGeom>
            <a:noFill/>
            <a:ln w="9525">
              <a:solidFill>
                <a:srgbClr val="FF33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8324905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9256"/>
                                        </p:tgtEl>
                                        <p:attrNameLst>
                                          <p:attrName>style.visibility</p:attrName>
                                        </p:attrNameLst>
                                      </p:cBhvr>
                                      <p:to>
                                        <p:strVal val="visible"/>
                                      </p:to>
                                    </p:set>
                                    <p:anim calcmode="lin" valueType="num">
                                      <p:cBhvr additive="base">
                                        <p:cTn id="7" dur="500" fill="hold"/>
                                        <p:tgtEl>
                                          <p:spTgt spid="9256"/>
                                        </p:tgtEl>
                                        <p:attrNameLst>
                                          <p:attrName>ppt_x</p:attrName>
                                        </p:attrNameLst>
                                      </p:cBhvr>
                                      <p:tavLst>
                                        <p:tav tm="0">
                                          <p:val>
                                            <p:strVal val="#ppt_x"/>
                                          </p:val>
                                        </p:tav>
                                        <p:tav tm="100000">
                                          <p:val>
                                            <p:strVal val="#ppt_x"/>
                                          </p:val>
                                        </p:tav>
                                      </p:tavLst>
                                    </p:anim>
                                    <p:anim calcmode="lin" valueType="num">
                                      <p:cBhvr additive="base">
                                        <p:cTn id="8" dur="500" fill="hold"/>
                                        <p:tgtEl>
                                          <p:spTgt spid="925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9257"/>
                                        </p:tgtEl>
                                        <p:attrNameLst>
                                          <p:attrName>style.visibility</p:attrName>
                                        </p:attrNameLst>
                                      </p:cBhvr>
                                      <p:to>
                                        <p:strVal val="visible"/>
                                      </p:to>
                                    </p:set>
                                    <p:animEffect transition="in" filter="checkerboard(across)">
                                      <p:cBhvr>
                                        <p:cTn id="13" dur="500"/>
                                        <p:tgtEl>
                                          <p:spTgt spid="925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nodeType="clickEffect">
                                  <p:stCondLst>
                                    <p:cond delay="0"/>
                                  </p:stCondLst>
                                  <p:childTnLst>
                                    <p:set>
                                      <p:cBhvr>
                                        <p:cTn id="17" dur="1" fill="hold">
                                          <p:stCondLst>
                                            <p:cond delay="0"/>
                                          </p:stCondLst>
                                        </p:cTn>
                                        <p:tgtEl>
                                          <p:spTgt spid="9258"/>
                                        </p:tgtEl>
                                        <p:attrNameLst>
                                          <p:attrName>style.visibility</p:attrName>
                                        </p:attrNameLst>
                                      </p:cBhvr>
                                      <p:to>
                                        <p:strVal val="visible"/>
                                      </p:to>
                                    </p:set>
                                    <p:animEffect transition="in" filter="box(out)">
                                      <p:cBhvr>
                                        <p:cTn id="18" dur="500"/>
                                        <p:tgtEl>
                                          <p:spTgt spid="925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9259"/>
                                        </p:tgtEl>
                                        <p:attrNameLst>
                                          <p:attrName>style.visibility</p:attrName>
                                        </p:attrNameLst>
                                      </p:cBhvr>
                                      <p:to>
                                        <p:strVal val="visible"/>
                                      </p:to>
                                    </p:set>
                                    <p:animEffect transition="in" filter="blinds(horizontal)">
                                      <p:cBhvr>
                                        <p:cTn id="23" dur="500"/>
                                        <p:tgtEl>
                                          <p:spTgt spid="925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9283"/>
                                        </p:tgtEl>
                                        <p:attrNameLst>
                                          <p:attrName>style.visibility</p:attrName>
                                        </p:attrNameLst>
                                      </p:cBhvr>
                                      <p:to>
                                        <p:strVal val="visible"/>
                                      </p:to>
                                    </p:set>
                                    <p:animEffect transition="in" filter="blinds(horizontal)">
                                      <p:cBhvr>
                                        <p:cTn id="28" dur="500"/>
                                        <p:tgtEl>
                                          <p:spTgt spid="928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childTnLst>
                                    <p:set>
                                      <p:cBhvr>
                                        <p:cTn id="32" dur="1" fill="hold">
                                          <p:stCondLst>
                                            <p:cond delay="0"/>
                                          </p:stCondLst>
                                        </p:cTn>
                                        <p:tgtEl>
                                          <p:spTgt spid="9292"/>
                                        </p:tgtEl>
                                        <p:attrNameLst>
                                          <p:attrName>style.visibility</p:attrName>
                                        </p:attrNameLst>
                                      </p:cBhvr>
                                      <p:to>
                                        <p:strVal val="visible"/>
                                      </p:to>
                                    </p:set>
                                    <p:anim calcmode="lin" valueType="num">
                                      <p:cBhvr>
                                        <p:cTn id="33" dur="500" fill="hold"/>
                                        <p:tgtEl>
                                          <p:spTgt spid="9292"/>
                                        </p:tgtEl>
                                        <p:attrNameLst>
                                          <p:attrName>ppt_w</p:attrName>
                                        </p:attrNameLst>
                                      </p:cBhvr>
                                      <p:tavLst>
                                        <p:tav tm="0">
                                          <p:val>
                                            <p:fltVal val="0"/>
                                          </p:val>
                                        </p:tav>
                                        <p:tav tm="100000">
                                          <p:val>
                                            <p:strVal val="#ppt_w"/>
                                          </p:val>
                                        </p:tav>
                                      </p:tavLst>
                                    </p:anim>
                                    <p:anim calcmode="lin" valueType="num">
                                      <p:cBhvr>
                                        <p:cTn id="34" dur="500" fill="hold"/>
                                        <p:tgtEl>
                                          <p:spTgt spid="9292"/>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9285"/>
                                        </p:tgtEl>
                                        <p:attrNameLst>
                                          <p:attrName>style.visibility</p:attrName>
                                        </p:attrNameLst>
                                      </p:cBhvr>
                                      <p:to>
                                        <p:strVal val="visible"/>
                                      </p:to>
                                    </p:set>
                                    <p:animEffect transition="in" filter="box(in)">
                                      <p:cBhvr>
                                        <p:cTn id="39" dur="500"/>
                                        <p:tgtEl>
                                          <p:spTgt spid="928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16" fill="hold" nodeType="clickEffect">
                                  <p:stCondLst>
                                    <p:cond delay="0"/>
                                  </p:stCondLst>
                                  <p:childTnLst>
                                    <p:set>
                                      <p:cBhvr>
                                        <p:cTn id="43" dur="1" fill="hold">
                                          <p:stCondLst>
                                            <p:cond delay="0"/>
                                          </p:stCondLst>
                                        </p:cTn>
                                        <p:tgtEl>
                                          <p:spTgt spid="9311"/>
                                        </p:tgtEl>
                                        <p:attrNameLst>
                                          <p:attrName>style.visibility</p:attrName>
                                        </p:attrNameLst>
                                      </p:cBhvr>
                                      <p:to>
                                        <p:strVal val="visible"/>
                                      </p:to>
                                    </p:set>
                                    <p:anim calcmode="lin" valueType="num">
                                      <p:cBhvr>
                                        <p:cTn id="44" dur="500" fill="hold"/>
                                        <p:tgtEl>
                                          <p:spTgt spid="9311"/>
                                        </p:tgtEl>
                                        <p:attrNameLst>
                                          <p:attrName>ppt_w</p:attrName>
                                        </p:attrNameLst>
                                      </p:cBhvr>
                                      <p:tavLst>
                                        <p:tav tm="0">
                                          <p:val>
                                            <p:fltVal val="0"/>
                                          </p:val>
                                        </p:tav>
                                        <p:tav tm="100000">
                                          <p:val>
                                            <p:strVal val="#ppt_w"/>
                                          </p:val>
                                        </p:tav>
                                      </p:tavLst>
                                    </p:anim>
                                    <p:anim calcmode="lin" valueType="num">
                                      <p:cBhvr>
                                        <p:cTn id="45" dur="500" fill="hold"/>
                                        <p:tgtEl>
                                          <p:spTgt spid="9311"/>
                                        </p:tgtEl>
                                        <p:attrNameLst>
                                          <p:attrName>ppt_h</p:attrName>
                                        </p:attrNameLst>
                                      </p:cBhvr>
                                      <p:tavLst>
                                        <p:tav tm="0">
                                          <p:val>
                                            <p:fltVal val="0"/>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9264"/>
                                        </p:tgtEl>
                                        <p:attrNameLst>
                                          <p:attrName>style.visibility</p:attrName>
                                        </p:attrNameLst>
                                      </p:cBhvr>
                                      <p:to>
                                        <p:strVal val="visible"/>
                                      </p:to>
                                    </p:set>
                                    <p:animEffect transition="in" filter="dissolve">
                                      <p:cBhvr>
                                        <p:cTn id="50" dur="500"/>
                                        <p:tgtEl>
                                          <p:spTgt spid="926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5" fill="hold" nodeType="clickEffect">
                                  <p:stCondLst>
                                    <p:cond delay="0"/>
                                  </p:stCondLst>
                                  <p:childTnLst>
                                    <p:set>
                                      <p:cBhvr>
                                        <p:cTn id="54" dur="1" fill="hold">
                                          <p:stCondLst>
                                            <p:cond delay="0"/>
                                          </p:stCondLst>
                                        </p:cTn>
                                        <p:tgtEl>
                                          <p:spTgt spid="9291"/>
                                        </p:tgtEl>
                                        <p:attrNameLst>
                                          <p:attrName>style.visibility</p:attrName>
                                        </p:attrNameLst>
                                      </p:cBhvr>
                                      <p:to>
                                        <p:strVal val="visible"/>
                                      </p:to>
                                    </p:set>
                                    <p:animEffect transition="in" filter="blinds(vertical)">
                                      <p:cBhvr>
                                        <p:cTn id="55" dur="500"/>
                                        <p:tgtEl>
                                          <p:spTgt spid="929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nodeType="clickEffect">
                                  <p:stCondLst>
                                    <p:cond delay="0"/>
                                  </p:stCondLst>
                                  <p:childTnLst>
                                    <p:set>
                                      <p:cBhvr>
                                        <p:cTn id="59" dur="1" fill="hold">
                                          <p:stCondLst>
                                            <p:cond delay="0"/>
                                          </p:stCondLst>
                                        </p:cTn>
                                        <p:tgtEl>
                                          <p:spTgt spid="9310"/>
                                        </p:tgtEl>
                                        <p:attrNameLst>
                                          <p:attrName>style.visibility</p:attrName>
                                        </p:attrNameLst>
                                      </p:cBhvr>
                                      <p:to>
                                        <p:strVal val="visible"/>
                                      </p:to>
                                    </p:set>
                                    <p:anim calcmode="lin" valueType="num">
                                      <p:cBhvr additive="base">
                                        <p:cTn id="60" dur="500" fill="hold"/>
                                        <p:tgtEl>
                                          <p:spTgt spid="9310"/>
                                        </p:tgtEl>
                                        <p:attrNameLst>
                                          <p:attrName>ppt_x</p:attrName>
                                        </p:attrNameLst>
                                      </p:cBhvr>
                                      <p:tavLst>
                                        <p:tav tm="0">
                                          <p:val>
                                            <p:strVal val="#ppt_x"/>
                                          </p:val>
                                        </p:tav>
                                        <p:tav tm="100000">
                                          <p:val>
                                            <p:strVal val="#ppt_x"/>
                                          </p:val>
                                        </p:tav>
                                      </p:tavLst>
                                    </p:anim>
                                    <p:anim calcmode="lin" valueType="num">
                                      <p:cBhvr additive="base">
                                        <p:cTn id="61" dur="500" fill="hold"/>
                                        <p:tgtEl>
                                          <p:spTgt spid="9310"/>
                                        </p:tgtEl>
                                        <p:attrNameLst>
                                          <p:attrName>ppt_y</p:attrName>
                                        </p:attrNameLst>
                                      </p:cBhvr>
                                      <p:tavLst>
                                        <p:tav tm="0">
                                          <p:val>
                                            <p:strVal val="1+#ppt_h/2"/>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nodeType="clickEffect">
                                  <p:stCondLst>
                                    <p:cond delay="0"/>
                                  </p:stCondLst>
                                  <p:childTnLst>
                                    <p:set>
                                      <p:cBhvr>
                                        <p:cTn id="65" dur="1" fill="hold">
                                          <p:stCondLst>
                                            <p:cond delay="0"/>
                                          </p:stCondLst>
                                        </p:cTn>
                                        <p:tgtEl>
                                          <p:spTgt spid="9246"/>
                                        </p:tgtEl>
                                        <p:attrNameLst>
                                          <p:attrName>style.visibility</p:attrName>
                                        </p:attrNameLst>
                                      </p:cBhvr>
                                      <p:to>
                                        <p:strVal val="visible"/>
                                      </p:to>
                                    </p:set>
                                    <p:animEffect transition="in" filter="dissolve">
                                      <p:cBhvr>
                                        <p:cTn id="66" dur="500"/>
                                        <p:tgtEl>
                                          <p:spTgt spid="924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3" presetClass="entr" presetSubtype="16" fill="hold" nodeType="clickEffect">
                                  <p:stCondLst>
                                    <p:cond delay="0"/>
                                  </p:stCondLst>
                                  <p:childTnLst>
                                    <p:set>
                                      <p:cBhvr>
                                        <p:cTn id="70" dur="1" fill="hold">
                                          <p:stCondLst>
                                            <p:cond delay="0"/>
                                          </p:stCondLst>
                                        </p:cTn>
                                        <p:tgtEl>
                                          <p:spTgt spid="9304"/>
                                        </p:tgtEl>
                                        <p:attrNameLst>
                                          <p:attrName>style.visibility</p:attrName>
                                        </p:attrNameLst>
                                      </p:cBhvr>
                                      <p:to>
                                        <p:strVal val="visible"/>
                                      </p:to>
                                    </p:set>
                                    <p:anim calcmode="lin" valueType="num">
                                      <p:cBhvr>
                                        <p:cTn id="71" dur="500" fill="hold"/>
                                        <p:tgtEl>
                                          <p:spTgt spid="9304"/>
                                        </p:tgtEl>
                                        <p:attrNameLst>
                                          <p:attrName>ppt_w</p:attrName>
                                        </p:attrNameLst>
                                      </p:cBhvr>
                                      <p:tavLst>
                                        <p:tav tm="0">
                                          <p:val>
                                            <p:fltVal val="0"/>
                                          </p:val>
                                        </p:tav>
                                        <p:tav tm="100000">
                                          <p:val>
                                            <p:strVal val="#ppt_w"/>
                                          </p:val>
                                        </p:tav>
                                      </p:tavLst>
                                    </p:anim>
                                    <p:anim calcmode="lin" valueType="num">
                                      <p:cBhvr>
                                        <p:cTn id="72" dur="500" fill="hold"/>
                                        <p:tgtEl>
                                          <p:spTgt spid="9304"/>
                                        </p:tgtEl>
                                        <p:attrNameLst>
                                          <p:attrName>ppt_h</p:attrName>
                                        </p:attrNameLst>
                                      </p:cBhvr>
                                      <p:tavLst>
                                        <p:tav tm="0">
                                          <p:val>
                                            <p:fltVal val="0"/>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32" fill="hold" grpId="0" nodeType="clickEffect">
                                  <p:stCondLst>
                                    <p:cond delay="0"/>
                                  </p:stCondLst>
                                  <p:childTnLst>
                                    <p:set>
                                      <p:cBhvr>
                                        <p:cTn id="76" dur="1" fill="hold">
                                          <p:stCondLst>
                                            <p:cond delay="0"/>
                                          </p:stCondLst>
                                        </p:cTn>
                                        <p:tgtEl>
                                          <p:spTgt spid="9312"/>
                                        </p:tgtEl>
                                        <p:attrNameLst>
                                          <p:attrName>style.visibility</p:attrName>
                                        </p:attrNameLst>
                                      </p:cBhvr>
                                      <p:to>
                                        <p:strVal val="visible"/>
                                      </p:to>
                                    </p:set>
                                    <p:animEffect transition="in" filter="box(out)">
                                      <p:cBhvr>
                                        <p:cTn id="77" dur="500"/>
                                        <p:tgtEl>
                                          <p:spTgt spid="931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21" fill="hold" nodeType="clickEffect">
                                  <p:stCondLst>
                                    <p:cond delay="0"/>
                                  </p:stCondLst>
                                  <p:childTnLst>
                                    <p:set>
                                      <p:cBhvr>
                                        <p:cTn id="81" dur="1" fill="hold">
                                          <p:stCondLst>
                                            <p:cond delay="0"/>
                                          </p:stCondLst>
                                        </p:cTn>
                                        <p:tgtEl>
                                          <p:spTgt spid="9324"/>
                                        </p:tgtEl>
                                        <p:attrNameLst>
                                          <p:attrName>style.visibility</p:attrName>
                                        </p:attrNameLst>
                                      </p:cBhvr>
                                      <p:to>
                                        <p:strVal val="visible"/>
                                      </p:to>
                                    </p:set>
                                    <p:animEffect transition="in" filter="barn(inVertical)">
                                      <p:cBhvr>
                                        <p:cTn id="82" dur="500"/>
                                        <p:tgtEl>
                                          <p:spTgt spid="932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32" fill="hold" grpId="0" nodeType="clickEffect">
                                  <p:stCondLst>
                                    <p:cond delay="0"/>
                                  </p:stCondLst>
                                  <p:childTnLst>
                                    <p:set>
                                      <p:cBhvr>
                                        <p:cTn id="86" dur="1" fill="hold">
                                          <p:stCondLst>
                                            <p:cond delay="0"/>
                                          </p:stCondLst>
                                        </p:cTn>
                                        <p:tgtEl>
                                          <p:spTgt spid="9313"/>
                                        </p:tgtEl>
                                        <p:attrNameLst>
                                          <p:attrName>style.visibility</p:attrName>
                                        </p:attrNameLst>
                                      </p:cBhvr>
                                      <p:to>
                                        <p:strVal val="visible"/>
                                      </p:to>
                                    </p:set>
                                    <p:animEffect transition="in" filter="box(out)">
                                      <p:cBhvr>
                                        <p:cTn id="87" dur="500"/>
                                        <p:tgtEl>
                                          <p:spTgt spid="931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3" presetClass="entr" presetSubtype="16" fill="hold" nodeType="clickEffect">
                                  <p:stCondLst>
                                    <p:cond delay="0"/>
                                  </p:stCondLst>
                                  <p:childTnLst>
                                    <p:set>
                                      <p:cBhvr>
                                        <p:cTn id="91" dur="1" fill="hold">
                                          <p:stCondLst>
                                            <p:cond delay="0"/>
                                          </p:stCondLst>
                                        </p:cTn>
                                        <p:tgtEl>
                                          <p:spTgt spid="9314"/>
                                        </p:tgtEl>
                                        <p:attrNameLst>
                                          <p:attrName>style.visibility</p:attrName>
                                        </p:attrNameLst>
                                      </p:cBhvr>
                                      <p:to>
                                        <p:strVal val="visible"/>
                                      </p:to>
                                    </p:set>
                                    <p:anim calcmode="lin" valueType="num">
                                      <p:cBhvr>
                                        <p:cTn id="92" dur="500" fill="hold"/>
                                        <p:tgtEl>
                                          <p:spTgt spid="9314"/>
                                        </p:tgtEl>
                                        <p:attrNameLst>
                                          <p:attrName>ppt_w</p:attrName>
                                        </p:attrNameLst>
                                      </p:cBhvr>
                                      <p:tavLst>
                                        <p:tav tm="0">
                                          <p:val>
                                            <p:fltVal val="0"/>
                                          </p:val>
                                        </p:tav>
                                        <p:tav tm="100000">
                                          <p:val>
                                            <p:strVal val="#ppt_w"/>
                                          </p:val>
                                        </p:tav>
                                      </p:tavLst>
                                    </p:anim>
                                    <p:anim calcmode="lin" valueType="num">
                                      <p:cBhvr>
                                        <p:cTn id="93" dur="500" fill="hold"/>
                                        <p:tgtEl>
                                          <p:spTgt spid="9314"/>
                                        </p:tgtEl>
                                        <p:attrNameLst>
                                          <p:attrName>ppt_h</p:attrName>
                                        </p:attrNameLst>
                                      </p:cBhvr>
                                      <p:tavLst>
                                        <p:tav tm="0">
                                          <p:val>
                                            <p:fltVal val="0"/>
                                          </p:val>
                                        </p:tav>
                                        <p:tav tm="100000">
                                          <p:val>
                                            <p:strVal val="#ppt_h"/>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3" presetClass="entr" presetSubtype="5" fill="hold" nodeType="clickEffect">
                                  <p:stCondLst>
                                    <p:cond delay="0"/>
                                  </p:stCondLst>
                                  <p:childTnLst>
                                    <p:set>
                                      <p:cBhvr>
                                        <p:cTn id="97" dur="1" fill="hold">
                                          <p:stCondLst>
                                            <p:cond delay="0"/>
                                          </p:stCondLst>
                                        </p:cTn>
                                        <p:tgtEl>
                                          <p:spTgt spid="9282"/>
                                        </p:tgtEl>
                                        <p:attrNameLst>
                                          <p:attrName>style.visibility</p:attrName>
                                        </p:attrNameLst>
                                      </p:cBhvr>
                                      <p:to>
                                        <p:strVal val="visible"/>
                                      </p:to>
                                    </p:set>
                                    <p:animEffect transition="in" filter="blinds(vertical)">
                                      <p:cBhvr>
                                        <p:cTn id="98" dur="500"/>
                                        <p:tgtEl>
                                          <p:spTgt spid="9282"/>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6" presetClass="entr" presetSubtype="42" fill="hold" nodeType="clickEffect">
                                  <p:stCondLst>
                                    <p:cond delay="0"/>
                                  </p:stCondLst>
                                  <p:childTnLst>
                                    <p:set>
                                      <p:cBhvr>
                                        <p:cTn id="102" dur="1" fill="hold">
                                          <p:stCondLst>
                                            <p:cond delay="0"/>
                                          </p:stCondLst>
                                        </p:cTn>
                                        <p:tgtEl>
                                          <p:spTgt spid="9320"/>
                                        </p:tgtEl>
                                        <p:attrNameLst>
                                          <p:attrName>style.visibility</p:attrName>
                                        </p:attrNameLst>
                                      </p:cBhvr>
                                      <p:to>
                                        <p:strVal val="visible"/>
                                      </p:to>
                                    </p:set>
                                    <p:animEffect transition="in" filter="barn(outHorizontal)">
                                      <p:cBhvr>
                                        <p:cTn id="103" dur="500"/>
                                        <p:tgtEl>
                                          <p:spTgt spid="9320"/>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6" presetClass="entr" presetSubtype="42" fill="hold" nodeType="clickEffect">
                                  <p:stCondLst>
                                    <p:cond delay="0"/>
                                  </p:stCondLst>
                                  <p:childTnLst>
                                    <p:set>
                                      <p:cBhvr>
                                        <p:cTn id="107" dur="1" fill="hold">
                                          <p:stCondLst>
                                            <p:cond delay="0"/>
                                          </p:stCondLst>
                                        </p:cTn>
                                        <p:tgtEl>
                                          <p:spTgt spid="9321"/>
                                        </p:tgtEl>
                                        <p:attrNameLst>
                                          <p:attrName>style.visibility</p:attrName>
                                        </p:attrNameLst>
                                      </p:cBhvr>
                                      <p:to>
                                        <p:strVal val="visible"/>
                                      </p:to>
                                    </p:set>
                                    <p:animEffect transition="in" filter="barn(outHorizontal)">
                                      <p:cBhvr>
                                        <p:cTn id="108" dur="500"/>
                                        <p:tgtEl>
                                          <p:spTgt spid="9321"/>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9315"/>
                                        </p:tgtEl>
                                        <p:attrNameLst>
                                          <p:attrName>style.visibility</p:attrName>
                                        </p:attrNameLst>
                                      </p:cBhvr>
                                      <p:to>
                                        <p:strVal val="visible"/>
                                      </p:to>
                                    </p:set>
                                    <p:animEffect transition="in" filter="wipe(up)">
                                      <p:cBhvr>
                                        <p:cTn id="113" dur="500"/>
                                        <p:tgtEl>
                                          <p:spTgt spid="9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85" grpId="0" animBg="1" autoUpdateAnimBg="0"/>
      <p:bldP spid="9312" grpId="0" animBg="1" autoUpdateAnimBg="0"/>
      <p:bldP spid="9313" grpId="0" animBg="1" autoUpdateAnimBg="0"/>
      <p:bldP spid="9315"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0242" name="Object 2"/>
          <p:cNvGraphicFramePr>
            <a:graphicFrameLocks noChangeAspect="1"/>
          </p:cNvGraphicFramePr>
          <p:nvPr/>
        </p:nvGraphicFramePr>
        <p:xfrm>
          <a:off x="6019800" y="5257800"/>
          <a:ext cx="2743200" cy="1219200"/>
        </p:xfrm>
        <a:graphic>
          <a:graphicData uri="http://schemas.openxmlformats.org/presentationml/2006/ole">
            <mc:AlternateContent xmlns:mc="http://schemas.openxmlformats.org/markup-compatibility/2006">
              <mc:Choice xmlns:v="urn:schemas-microsoft-com:vml" Requires="v">
                <p:oleObj spid="_x0000_s11562" name="公式" r:id="rId3" imgW="1218960" imgH="520560" progId="Equation.3">
                  <p:embed/>
                </p:oleObj>
              </mc:Choice>
              <mc:Fallback>
                <p:oleObj name="公式" r:id="rId3" imgW="1218960" imgH="520560" progId="Equation.3">
                  <p:embed/>
                  <p:pic>
                    <p:nvPicPr>
                      <p:cNvPr id="10242" name="Object 2"/>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5257800"/>
                        <a:ext cx="2743200" cy="12192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3" name="Text Box 3"/>
          <p:cNvSpPr txBox="1">
            <a:spLocks noChangeArrowheads="1"/>
          </p:cNvSpPr>
          <p:nvPr/>
        </p:nvSpPr>
        <p:spPr bwMode="auto">
          <a:xfrm>
            <a:off x="609600" y="411163"/>
            <a:ext cx="1371600" cy="57943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49" charset="-122"/>
              </a:rPr>
              <a:t>模型</a:t>
            </a:r>
            <a:r>
              <a:rPr lang="en-US" altLang="zh-CN" sz="3200" b="1"/>
              <a:t>4</a:t>
            </a:r>
          </a:p>
        </p:txBody>
      </p:sp>
      <p:sp>
        <p:nvSpPr>
          <p:cNvPr id="10244" name="Text Box 4"/>
          <p:cNvSpPr txBox="1">
            <a:spLocks noChangeArrowheads="1"/>
          </p:cNvSpPr>
          <p:nvPr/>
        </p:nvSpPr>
        <p:spPr bwMode="auto">
          <a:xfrm>
            <a:off x="7010400" y="404664"/>
            <a:ext cx="17526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t>SIR</a:t>
            </a:r>
            <a:r>
              <a:rPr lang="zh-CN" altLang="zh-CN" sz="2800" b="1" dirty="0">
                <a:ea typeface="楷体_GB2312" pitchFamily="49" charset="-122"/>
              </a:rPr>
              <a:t>模型</a:t>
            </a:r>
            <a:endParaRPr lang="zh-CN" altLang="en-US" sz="2800" b="1" dirty="0">
              <a:ea typeface="楷体_GB2312" pitchFamily="49" charset="-122"/>
            </a:endParaRPr>
          </a:p>
        </p:txBody>
      </p:sp>
      <p:sp>
        <p:nvSpPr>
          <p:cNvPr id="10245" name="Text Box 5"/>
          <p:cNvSpPr txBox="1">
            <a:spLocks noChangeArrowheads="1"/>
          </p:cNvSpPr>
          <p:nvPr/>
        </p:nvSpPr>
        <p:spPr bwMode="auto">
          <a:xfrm>
            <a:off x="2362200" y="411163"/>
            <a:ext cx="4191000" cy="51911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800" b="1">
                <a:ea typeface="楷体_GB2312" pitchFamily="49" charset="-122"/>
              </a:rPr>
              <a:t>预防传染病蔓延的手段</a:t>
            </a:r>
          </a:p>
        </p:txBody>
      </p:sp>
      <p:sp>
        <p:nvSpPr>
          <p:cNvPr id="10271" name="Text Box 31"/>
          <p:cNvSpPr txBox="1">
            <a:spLocks noChangeArrowheads="1"/>
          </p:cNvSpPr>
          <p:nvPr/>
        </p:nvSpPr>
        <p:spPr bwMode="auto">
          <a:xfrm>
            <a:off x="2209800" y="2625725"/>
            <a:ext cx="4954488" cy="51911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i="1" dirty="0">
                <a:sym typeface="Symbol" panose="05050102010706020507" pitchFamily="18" charset="2"/>
              </a:rPr>
              <a:t></a:t>
            </a:r>
            <a:r>
              <a:rPr lang="en-US" altLang="zh-CN" sz="2800" b="1" dirty="0">
                <a:sym typeface="Symbol" panose="05050102010706020507" pitchFamily="18" charset="2"/>
              </a:rPr>
              <a:t> (</a:t>
            </a:r>
            <a:r>
              <a:rPr lang="zh-CN" altLang="en-US" sz="2800" b="1" dirty="0">
                <a:sym typeface="Symbol" panose="05050102010706020507" pitchFamily="18" charset="2"/>
              </a:rPr>
              <a:t>日接触率</a:t>
            </a:r>
            <a:r>
              <a:rPr lang="en-US" altLang="zh-CN" sz="2800" b="1" dirty="0">
                <a:sym typeface="Symbol" panose="05050102010706020507" pitchFamily="18" charset="2"/>
              </a:rPr>
              <a:t>)  </a:t>
            </a:r>
            <a:r>
              <a:rPr lang="zh-CN" altLang="en-US" sz="2800" b="1" dirty="0">
                <a:solidFill>
                  <a:srgbClr val="FF3300"/>
                </a:solidFill>
                <a:sym typeface="Symbol" panose="05050102010706020507" pitchFamily="18" charset="2"/>
              </a:rPr>
              <a:t>卫生水平</a:t>
            </a:r>
          </a:p>
        </p:txBody>
      </p:sp>
      <p:sp>
        <p:nvSpPr>
          <p:cNvPr id="10272" name="Text Box 32"/>
          <p:cNvSpPr txBox="1">
            <a:spLocks noChangeArrowheads="1"/>
          </p:cNvSpPr>
          <p:nvPr/>
        </p:nvSpPr>
        <p:spPr bwMode="auto">
          <a:xfrm>
            <a:off x="2209800" y="3325813"/>
            <a:ext cx="4724400" cy="51911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sym typeface="Symbol" panose="05050102010706020507" pitchFamily="18" charset="2"/>
              </a:rPr>
              <a:t></a:t>
            </a:r>
            <a:r>
              <a:rPr lang="en-US" altLang="zh-CN" sz="2800" b="1" dirty="0">
                <a:sym typeface="Symbol" panose="05050102010706020507" pitchFamily="18" charset="2"/>
              </a:rPr>
              <a:t>(</a:t>
            </a:r>
            <a:r>
              <a:rPr lang="zh-CN" altLang="en-US" sz="2800" b="1" dirty="0">
                <a:sym typeface="Symbol" panose="05050102010706020507" pitchFamily="18" charset="2"/>
              </a:rPr>
              <a:t>日</a:t>
            </a:r>
            <a:r>
              <a:rPr lang="zh-CN" altLang="en-US" sz="2800" b="1" dirty="0"/>
              <a:t>治愈率</a:t>
            </a:r>
            <a:r>
              <a:rPr lang="en-US" altLang="zh-CN" sz="2800" b="1" dirty="0"/>
              <a:t>)</a:t>
            </a:r>
            <a:r>
              <a:rPr lang="en-US" altLang="zh-CN" sz="2800" b="1" dirty="0">
                <a:sym typeface="Symbol" panose="05050102010706020507" pitchFamily="18" charset="2"/>
              </a:rPr>
              <a:t>  </a:t>
            </a:r>
            <a:r>
              <a:rPr lang="zh-CN" altLang="en-US" sz="2800" b="1" dirty="0">
                <a:solidFill>
                  <a:srgbClr val="FF3300"/>
                </a:solidFill>
                <a:sym typeface="Symbol" panose="05050102010706020507" pitchFamily="18" charset="2"/>
              </a:rPr>
              <a:t>医疗水平</a:t>
            </a:r>
          </a:p>
        </p:txBody>
      </p:sp>
      <p:sp>
        <p:nvSpPr>
          <p:cNvPr id="10274" name="Text Box 34"/>
          <p:cNvSpPr txBox="1">
            <a:spLocks noChangeArrowheads="1"/>
          </p:cNvSpPr>
          <p:nvPr/>
        </p:nvSpPr>
        <p:spPr bwMode="auto">
          <a:xfrm>
            <a:off x="990600" y="1219200"/>
            <a:ext cx="5334000"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传染病不蔓延的条件</a:t>
            </a:r>
            <a:r>
              <a:rPr lang="en-US" altLang="zh-CN" sz="2800" b="1"/>
              <a:t>——</a:t>
            </a:r>
            <a:r>
              <a:rPr lang="en-US" altLang="zh-CN" sz="2800" b="1" i="1"/>
              <a:t>s</a:t>
            </a:r>
            <a:r>
              <a:rPr lang="en-US" altLang="zh-CN" sz="2800" b="1" baseline="-25000"/>
              <a:t>0</a:t>
            </a:r>
            <a:r>
              <a:rPr lang="en-US" altLang="zh-CN" sz="2800" b="1"/>
              <a:t>&lt;1/</a:t>
            </a:r>
            <a:r>
              <a:rPr lang="en-US" altLang="zh-CN" sz="2800" b="1" i="1">
                <a:sym typeface="Symbol" panose="05050102010706020507" pitchFamily="18" charset="2"/>
              </a:rPr>
              <a:t></a:t>
            </a:r>
            <a:endParaRPr lang="en-US" altLang="zh-CN" sz="2800" b="1" i="1"/>
          </a:p>
        </p:txBody>
      </p:sp>
      <p:sp>
        <p:nvSpPr>
          <p:cNvPr id="10281" name="Text Box 41"/>
          <p:cNvSpPr txBox="1">
            <a:spLocks noChangeArrowheads="1"/>
          </p:cNvSpPr>
          <p:nvPr/>
        </p:nvSpPr>
        <p:spPr bwMode="auto">
          <a:xfrm>
            <a:off x="381000" y="4876800"/>
            <a:ext cx="17526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a:sym typeface="Symbol" panose="05050102010706020507" pitchFamily="18" charset="2"/>
              </a:rPr>
              <a:t>  </a:t>
            </a:r>
            <a:r>
              <a:rPr lang="zh-CN" altLang="en-US" sz="2800" b="1"/>
              <a:t>的估计</a:t>
            </a:r>
          </a:p>
        </p:txBody>
      </p:sp>
      <p:graphicFrame>
        <p:nvGraphicFramePr>
          <p:cNvPr id="10283" name="Object 43"/>
          <p:cNvGraphicFramePr>
            <a:graphicFrameLocks noChangeAspect="1"/>
          </p:cNvGraphicFramePr>
          <p:nvPr/>
        </p:nvGraphicFramePr>
        <p:xfrm>
          <a:off x="304800" y="5407025"/>
          <a:ext cx="3810000" cy="993775"/>
        </p:xfrm>
        <a:graphic>
          <a:graphicData uri="http://schemas.openxmlformats.org/presentationml/2006/ole">
            <mc:AlternateContent xmlns:mc="http://schemas.openxmlformats.org/markup-compatibility/2006">
              <mc:Choice xmlns:v="urn:schemas-microsoft-com:vml" Requires="v">
                <p:oleObj spid="_x0000_s11563" name="公式" r:id="rId5" imgW="1815840" imgH="520560" progId="Equation.3">
                  <p:embed/>
                </p:oleObj>
              </mc:Choice>
              <mc:Fallback>
                <p:oleObj name="公式" r:id="rId5" imgW="1815840" imgH="520560" progId="Equation.3">
                  <p:embed/>
                  <p:pic>
                    <p:nvPicPr>
                      <p:cNvPr id="10283" name="Object 43"/>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5407025"/>
                        <a:ext cx="3810000" cy="99377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288" name="Group 48"/>
          <p:cNvGrpSpPr>
            <a:grpSpLocks/>
          </p:cNvGrpSpPr>
          <p:nvPr/>
        </p:nvGrpSpPr>
        <p:grpSpPr bwMode="auto">
          <a:xfrm>
            <a:off x="4343400" y="5486400"/>
            <a:ext cx="1447800" cy="914400"/>
            <a:chOff x="2688" y="3312"/>
            <a:chExt cx="864" cy="480"/>
          </a:xfrm>
        </p:grpSpPr>
        <p:sp>
          <p:nvSpPr>
            <p:cNvPr id="10285" name="AutoShape 45"/>
            <p:cNvSpPr>
              <a:spLocks noChangeArrowheads="1"/>
            </p:cNvSpPr>
            <p:nvPr/>
          </p:nvSpPr>
          <p:spPr bwMode="auto">
            <a:xfrm>
              <a:off x="2688" y="3600"/>
              <a:ext cx="864" cy="192"/>
            </a:xfrm>
            <a:prstGeom prst="rightArrow">
              <a:avLst>
                <a:gd name="adj1" fmla="val 50000"/>
                <a:gd name="adj2" fmla="val 112500"/>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286" name="Object 46"/>
            <p:cNvGraphicFramePr>
              <a:graphicFrameLocks noChangeAspect="1"/>
            </p:cNvGraphicFramePr>
            <p:nvPr/>
          </p:nvGraphicFramePr>
          <p:xfrm>
            <a:off x="2784" y="3312"/>
            <a:ext cx="720" cy="288"/>
          </p:xfrm>
          <a:graphic>
            <a:graphicData uri="http://schemas.openxmlformats.org/presentationml/2006/ole">
              <mc:AlternateContent xmlns:mc="http://schemas.openxmlformats.org/markup-compatibility/2006">
                <mc:Choice xmlns:v="urn:schemas-microsoft-com:vml" Requires="v">
                  <p:oleObj spid="_x0000_s11564" name="公式" r:id="rId7" imgW="520560" imgH="266400" progId="Equation.3">
                    <p:embed/>
                  </p:oleObj>
                </mc:Choice>
                <mc:Fallback>
                  <p:oleObj name="公式" r:id="rId7" imgW="520560" imgH="266400" progId="Equation.3">
                    <p:embed/>
                    <p:pic>
                      <p:nvPicPr>
                        <p:cNvPr id="10286" name="Object 46"/>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4" y="3312"/>
                          <a:ext cx="720" cy="28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291" name="Text Box 51"/>
          <p:cNvSpPr txBox="1">
            <a:spLocks noChangeArrowheads="1"/>
          </p:cNvSpPr>
          <p:nvPr/>
        </p:nvSpPr>
        <p:spPr bwMode="auto">
          <a:xfrm>
            <a:off x="838200" y="3921125"/>
            <a:ext cx="1752600" cy="519113"/>
          </a:xfrm>
          <a:prstGeom prst="rect">
            <a:avLst/>
          </a:prstGeom>
          <a:noFill/>
          <a:ln>
            <a:noFill/>
          </a:ln>
          <a:effectLst/>
          <a:extLst>
            <a:ext uri="{909E8E84-426E-40DD-AFC4-6F175D3DCCD1}">
              <a14:hiddenFill xmlns:a14="http://schemas.microsoft.com/office/drawing/2010/main">
                <a:solidFill>
                  <a:srgbClr val="66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zh-CN" sz="2800" b="1"/>
              <a:t> </a:t>
            </a:r>
            <a:r>
              <a:rPr lang="zh-CN" altLang="en-US" sz="2800" b="1"/>
              <a:t>降低 </a:t>
            </a:r>
            <a:r>
              <a:rPr lang="en-US" altLang="zh-CN" sz="2800" b="1" i="1"/>
              <a:t>s</a:t>
            </a:r>
            <a:r>
              <a:rPr lang="en-US" altLang="zh-CN" sz="2800" b="1" baseline="-25000"/>
              <a:t>0</a:t>
            </a:r>
            <a:endParaRPr lang="en-US" altLang="zh-CN" sz="2800" b="1"/>
          </a:p>
        </p:txBody>
      </p:sp>
      <p:sp>
        <p:nvSpPr>
          <p:cNvPr id="10293" name="Text Box 53"/>
          <p:cNvSpPr txBox="1">
            <a:spLocks noChangeArrowheads="1"/>
          </p:cNvSpPr>
          <p:nvPr/>
        </p:nvSpPr>
        <p:spPr bwMode="auto">
          <a:xfrm>
            <a:off x="4038600" y="3973037"/>
            <a:ext cx="1524000" cy="51911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t>提高 </a:t>
            </a:r>
            <a:r>
              <a:rPr lang="en-US" altLang="zh-CN" sz="2800" b="1" i="1" dirty="0"/>
              <a:t>r</a:t>
            </a:r>
            <a:r>
              <a:rPr lang="en-US" altLang="zh-CN" sz="2800" b="1" baseline="-25000" dirty="0"/>
              <a:t>0 </a:t>
            </a:r>
            <a:endParaRPr lang="en-US" altLang="zh-CN" sz="2800" b="1" dirty="0"/>
          </a:p>
        </p:txBody>
      </p:sp>
      <p:grpSp>
        <p:nvGrpSpPr>
          <p:cNvPr id="10295" name="Group 55"/>
          <p:cNvGrpSpPr>
            <a:grpSpLocks/>
          </p:cNvGrpSpPr>
          <p:nvPr/>
        </p:nvGrpSpPr>
        <p:grpSpPr bwMode="auto">
          <a:xfrm>
            <a:off x="2514600" y="3997325"/>
            <a:ext cx="1806575" cy="1031875"/>
            <a:chOff x="1680" y="2400"/>
            <a:chExt cx="1138" cy="650"/>
          </a:xfrm>
        </p:grpSpPr>
        <p:graphicFrame>
          <p:nvGraphicFramePr>
            <p:cNvPr id="10278" name="Object 38"/>
            <p:cNvGraphicFramePr>
              <a:graphicFrameLocks noChangeAspect="1"/>
            </p:cNvGraphicFramePr>
            <p:nvPr/>
          </p:nvGraphicFramePr>
          <p:xfrm>
            <a:off x="1680" y="2736"/>
            <a:ext cx="1138" cy="314"/>
          </p:xfrm>
          <a:graphic>
            <a:graphicData uri="http://schemas.openxmlformats.org/presentationml/2006/ole">
              <mc:AlternateContent xmlns:mc="http://schemas.openxmlformats.org/markup-compatibility/2006">
                <mc:Choice xmlns:v="urn:schemas-microsoft-com:vml" Requires="v">
                  <p:oleObj spid="_x0000_s11565" name="公式" r:id="rId9" imgW="888840" imgH="228600" progId="Equation.3">
                    <p:embed/>
                  </p:oleObj>
                </mc:Choice>
                <mc:Fallback>
                  <p:oleObj name="公式" r:id="rId9" imgW="888840" imgH="228600" progId="Equation.3">
                    <p:embed/>
                    <p:pic>
                      <p:nvPicPr>
                        <p:cNvPr id="10278" name="Object 38"/>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0" y="2736"/>
                          <a:ext cx="1138" cy="314"/>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94" name="AutoShape 54"/>
            <p:cNvSpPr>
              <a:spLocks noChangeArrowheads="1"/>
            </p:cNvSpPr>
            <p:nvPr/>
          </p:nvSpPr>
          <p:spPr bwMode="auto">
            <a:xfrm>
              <a:off x="2016" y="2400"/>
              <a:ext cx="240" cy="306"/>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rgbClr val="00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96" name="Text Box 56"/>
          <p:cNvSpPr txBox="1">
            <a:spLocks noChangeArrowheads="1"/>
          </p:cNvSpPr>
          <p:nvPr/>
        </p:nvSpPr>
        <p:spPr bwMode="auto">
          <a:xfrm>
            <a:off x="683568" y="1939925"/>
            <a:ext cx="2797696" cy="519113"/>
          </a:xfrm>
          <a:prstGeom prst="rect">
            <a:avLst/>
          </a:prstGeom>
          <a:noFill/>
          <a:ln>
            <a:noFill/>
          </a:ln>
          <a:effectLst/>
          <a:extLst>
            <a:ext uri="{909E8E84-426E-40DD-AFC4-6F175D3DCCD1}">
              <a14:hiddenFill xmlns:a14="http://schemas.microsoft.com/office/drawing/2010/main">
                <a:solidFill>
                  <a:srgbClr val="66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Char char="•"/>
            </a:pPr>
            <a:r>
              <a:rPr lang="en-US" altLang="zh-CN" sz="2800" b="1" dirty="0"/>
              <a:t>  </a:t>
            </a:r>
            <a:r>
              <a:rPr lang="zh-CN" altLang="en-US" sz="2800" b="1" dirty="0"/>
              <a:t>提高阈值 </a:t>
            </a:r>
            <a:r>
              <a:rPr lang="en-US" altLang="zh-CN" sz="2800" b="1" dirty="0"/>
              <a:t>1/</a:t>
            </a:r>
            <a:r>
              <a:rPr lang="en-US" altLang="zh-CN" sz="2800" b="1" i="1" dirty="0">
                <a:sym typeface="Symbol" panose="05050102010706020507" pitchFamily="18" charset="2"/>
              </a:rPr>
              <a:t></a:t>
            </a:r>
            <a:endParaRPr lang="en-US" altLang="zh-CN" sz="2800" b="1" i="1" dirty="0"/>
          </a:p>
        </p:txBody>
      </p:sp>
      <p:grpSp>
        <p:nvGrpSpPr>
          <p:cNvPr id="10301" name="Group 61"/>
          <p:cNvGrpSpPr>
            <a:grpSpLocks/>
          </p:cNvGrpSpPr>
          <p:nvPr/>
        </p:nvGrpSpPr>
        <p:grpSpPr bwMode="auto">
          <a:xfrm>
            <a:off x="3581401" y="1939925"/>
            <a:ext cx="2865438" cy="519113"/>
            <a:chOff x="2256" y="1104"/>
            <a:chExt cx="1805" cy="327"/>
          </a:xfrm>
        </p:grpSpPr>
        <p:sp>
          <p:nvSpPr>
            <p:cNvPr id="10297" name="Text Box 57"/>
            <p:cNvSpPr txBox="1">
              <a:spLocks noChangeArrowheads="1"/>
            </p:cNvSpPr>
            <p:nvPr/>
          </p:nvSpPr>
          <p:spPr bwMode="auto">
            <a:xfrm>
              <a:off x="2381" y="1104"/>
              <a:ext cx="1680" cy="32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t> </a:t>
              </a:r>
              <a:r>
                <a:rPr lang="zh-CN" altLang="en-US" sz="2800" b="1" dirty="0"/>
                <a:t>降低 </a:t>
              </a:r>
              <a:r>
                <a:rPr lang="zh-CN" altLang="en-US" sz="2800" b="1" i="1" dirty="0">
                  <a:sym typeface="Symbol" panose="05050102010706020507" pitchFamily="18" charset="2"/>
                </a:rPr>
                <a:t></a:t>
              </a:r>
              <a:r>
                <a:rPr lang="en-US" altLang="zh-CN" sz="2800" b="1" dirty="0">
                  <a:sym typeface="Symbol" panose="05050102010706020507" pitchFamily="18" charset="2"/>
                </a:rPr>
                <a:t>(=</a:t>
              </a:r>
              <a:r>
                <a:rPr lang="en-US" altLang="zh-CN" sz="2800" b="1" i="1" dirty="0">
                  <a:sym typeface="Symbol" panose="05050102010706020507" pitchFamily="18" charset="2"/>
                </a:rPr>
                <a:t></a:t>
              </a:r>
              <a:r>
                <a:rPr lang="en-US" altLang="zh-CN" sz="2800" b="1" dirty="0">
                  <a:sym typeface="Symbol" panose="05050102010706020507" pitchFamily="18" charset="2"/>
                </a:rPr>
                <a:t>/</a:t>
              </a:r>
              <a:r>
                <a:rPr lang="en-US" altLang="zh-CN" sz="2800" b="1" i="1" dirty="0">
                  <a:sym typeface="Symbol" panose="05050102010706020507" pitchFamily="18" charset="2"/>
                </a:rPr>
                <a:t></a:t>
              </a:r>
              <a:r>
                <a:rPr lang="en-US" altLang="zh-CN" sz="2800" b="1" dirty="0">
                  <a:sym typeface="Symbol" panose="05050102010706020507" pitchFamily="18" charset="2"/>
                </a:rPr>
                <a:t>)</a:t>
              </a:r>
            </a:p>
          </p:txBody>
        </p:sp>
        <p:sp>
          <p:nvSpPr>
            <p:cNvPr id="10299" name="AutoShape 59"/>
            <p:cNvSpPr>
              <a:spLocks noChangeArrowheads="1"/>
            </p:cNvSpPr>
            <p:nvPr/>
          </p:nvSpPr>
          <p:spPr bwMode="auto">
            <a:xfrm>
              <a:off x="2256" y="1104"/>
              <a:ext cx="96" cy="306"/>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302" name="Group 62"/>
          <p:cNvGrpSpPr>
            <a:grpSpLocks/>
          </p:cNvGrpSpPr>
          <p:nvPr/>
        </p:nvGrpSpPr>
        <p:grpSpPr bwMode="auto">
          <a:xfrm>
            <a:off x="6400800" y="1939925"/>
            <a:ext cx="2133600" cy="561975"/>
            <a:chOff x="4080" y="1104"/>
            <a:chExt cx="1344" cy="354"/>
          </a:xfrm>
        </p:grpSpPr>
        <p:sp>
          <p:nvSpPr>
            <p:cNvPr id="10298" name="Text Box 58"/>
            <p:cNvSpPr txBox="1">
              <a:spLocks noChangeArrowheads="1"/>
            </p:cNvSpPr>
            <p:nvPr/>
          </p:nvSpPr>
          <p:spPr bwMode="auto">
            <a:xfrm>
              <a:off x="4320" y="1104"/>
              <a:ext cx="1104" cy="32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a:sym typeface="Symbol" panose="05050102010706020507" pitchFamily="18" charset="2"/>
                </a:rPr>
                <a:t></a:t>
              </a:r>
              <a:r>
                <a:rPr lang="en-US" altLang="zh-CN" sz="2800" b="1">
                  <a:sym typeface="Symbol" panose="05050102010706020507" pitchFamily="18" charset="2"/>
                </a:rPr>
                <a:t>  ,   </a:t>
              </a:r>
              <a:r>
                <a:rPr lang="en-US" altLang="zh-CN" sz="2800" b="1" i="1">
                  <a:sym typeface="Symbol" panose="05050102010706020507" pitchFamily="18" charset="2"/>
                </a:rPr>
                <a:t> </a:t>
              </a:r>
              <a:r>
                <a:rPr lang="en-US" altLang="zh-CN" sz="2800" b="1">
                  <a:sym typeface="Symbol" panose="05050102010706020507" pitchFamily="18" charset="2"/>
                </a:rPr>
                <a:t></a:t>
              </a:r>
            </a:p>
          </p:txBody>
        </p:sp>
        <p:sp>
          <p:nvSpPr>
            <p:cNvPr id="10300" name="AutoShape 60"/>
            <p:cNvSpPr>
              <a:spLocks noChangeArrowheads="1"/>
            </p:cNvSpPr>
            <p:nvPr/>
          </p:nvSpPr>
          <p:spPr bwMode="auto">
            <a:xfrm>
              <a:off x="4080" y="1152"/>
              <a:ext cx="96" cy="306"/>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rgbClr val="00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304" name="Group 64"/>
          <p:cNvGrpSpPr>
            <a:grpSpLocks/>
          </p:cNvGrpSpPr>
          <p:nvPr/>
        </p:nvGrpSpPr>
        <p:grpSpPr bwMode="auto">
          <a:xfrm>
            <a:off x="6007968" y="2778125"/>
            <a:ext cx="2743200" cy="1752600"/>
            <a:chOff x="3792" y="1632"/>
            <a:chExt cx="1728" cy="1104"/>
          </a:xfrm>
        </p:grpSpPr>
        <p:grpSp>
          <p:nvGrpSpPr>
            <p:cNvPr id="10287" name="Group 47"/>
            <p:cNvGrpSpPr>
              <a:grpSpLocks/>
            </p:cNvGrpSpPr>
            <p:nvPr/>
          </p:nvGrpSpPr>
          <p:grpSpPr bwMode="auto">
            <a:xfrm>
              <a:off x="3792" y="2400"/>
              <a:ext cx="1344" cy="336"/>
              <a:chOff x="3840" y="2352"/>
              <a:chExt cx="1344" cy="336"/>
            </a:xfrm>
          </p:grpSpPr>
          <p:sp>
            <p:nvSpPr>
              <p:cNvPr id="10279" name="Text Box 39"/>
              <p:cNvSpPr txBox="1">
                <a:spLocks noChangeArrowheads="1"/>
              </p:cNvSpPr>
              <p:nvPr/>
            </p:nvSpPr>
            <p:spPr bwMode="auto">
              <a:xfrm>
                <a:off x="4080" y="2352"/>
                <a:ext cx="1104" cy="32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solidFill>
                      <a:srgbClr val="FF3300"/>
                    </a:solidFill>
                  </a:rPr>
                  <a:t>群体免疫</a:t>
                </a:r>
              </a:p>
            </p:txBody>
          </p:sp>
          <p:sp>
            <p:nvSpPr>
              <p:cNvPr id="10280" name="AutoShape 40"/>
              <p:cNvSpPr>
                <a:spLocks noChangeArrowheads="1"/>
              </p:cNvSpPr>
              <p:nvPr/>
            </p:nvSpPr>
            <p:spPr bwMode="auto">
              <a:xfrm>
                <a:off x="3840" y="2400"/>
                <a:ext cx="192" cy="288"/>
              </a:xfrm>
              <a:prstGeom prst="rightArrow">
                <a:avLst>
                  <a:gd name="adj1" fmla="val 50000"/>
                  <a:gd name="adj2" fmla="val 25000"/>
                </a:avLst>
              </a:prstGeom>
              <a:noFill/>
              <a:ln w="9525">
                <a:solidFill>
                  <a:schemeClr val="tx1"/>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10303" name="Picture 63" descr="HM00163_"/>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025" y="1632"/>
              <a:ext cx="495" cy="6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79707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 calcmode="lin" valueType="num">
                                      <p:cBhvr additive="base">
                                        <p:cTn id="7" dur="500" fill="hold"/>
                                        <p:tgtEl>
                                          <p:spTgt spid="10245"/>
                                        </p:tgtEl>
                                        <p:attrNameLst>
                                          <p:attrName>ppt_x</p:attrName>
                                        </p:attrNameLst>
                                      </p:cBhvr>
                                      <p:tavLst>
                                        <p:tav tm="0">
                                          <p:val>
                                            <p:strVal val="#ppt_x"/>
                                          </p:val>
                                        </p:tav>
                                        <p:tav tm="100000">
                                          <p:val>
                                            <p:strVal val="#ppt_x"/>
                                          </p:val>
                                        </p:tav>
                                      </p:tavLst>
                                    </p:anim>
                                    <p:anim calcmode="lin" valueType="num">
                                      <p:cBhvr additive="base">
                                        <p:cTn id="8" dur="500" fill="hold"/>
                                        <p:tgtEl>
                                          <p:spTgt spid="1024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0274"/>
                                        </p:tgtEl>
                                        <p:attrNameLst>
                                          <p:attrName>style.visibility</p:attrName>
                                        </p:attrNameLst>
                                      </p:cBhvr>
                                      <p:to>
                                        <p:strVal val="visible"/>
                                      </p:to>
                                    </p:set>
                                    <p:animEffect transition="in" filter="checkerboard(across)">
                                      <p:cBhvr>
                                        <p:cTn id="13" dur="500"/>
                                        <p:tgtEl>
                                          <p:spTgt spid="1027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0296"/>
                                        </p:tgtEl>
                                        <p:attrNameLst>
                                          <p:attrName>style.visibility</p:attrName>
                                        </p:attrNameLst>
                                      </p:cBhvr>
                                      <p:to>
                                        <p:strVal val="visible"/>
                                      </p:to>
                                    </p:set>
                                    <p:animEffect transition="in" filter="checkerboard(across)">
                                      <p:cBhvr>
                                        <p:cTn id="18" dur="500"/>
                                        <p:tgtEl>
                                          <p:spTgt spid="1029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10301"/>
                                        </p:tgtEl>
                                        <p:attrNameLst>
                                          <p:attrName>style.visibility</p:attrName>
                                        </p:attrNameLst>
                                      </p:cBhvr>
                                      <p:to>
                                        <p:strVal val="visible"/>
                                      </p:to>
                                    </p:set>
                                    <p:animEffect transition="in" filter="box(in)">
                                      <p:cBhvr>
                                        <p:cTn id="23" dur="500"/>
                                        <p:tgtEl>
                                          <p:spTgt spid="1030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10302"/>
                                        </p:tgtEl>
                                        <p:attrNameLst>
                                          <p:attrName>style.visibility</p:attrName>
                                        </p:attrNameLst>
                                      </p:cBhvr>
                                      <p:to>
                                        <p:strVal val="visible"/>
                                      </p:to>
                                    </p:set>
                                    <p:animEffect transition="in" filter="box(in)">
                                      <p:cBhvr>
                                        <p:cTn id="28" dur="500"/>
                                        <p:tgtEl>
                                          <p:spTgt spid="1030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2" fill="hold" grpId="0" nodeType="clickEffect">
                                  <p:stCondLst>
                                    <p:cond delay="0"/>
                                  </p:stCondLst>
                                  <p:childTnLst>
                                    <p:set>
                                      <p:cBhvr>
                                        <p:cTn id="32" dur="1" fill="hold">
                                          <p:stCondLst>
                                            <p:cond delay="0"/>
                                          </p:stCondLst>
                                        </p:cTn>
                                        <p:tgtEl>
                                          <p:spTgt spid="10271"/>
                                        </p:tgtEl>
                                        <p:attrNameLst>
                                          <p:attrName>style.visibility</p:attrName>
                                        </p:attrNameLst>
                                      </p:cBhvr>
                                      <p:to>
                                        <p:strVal val="visible"/>
                                      </p:to>
                                    </p:set>
                                    <p:animEffect transition="in" filter="wipe(right)">
                                      <p:cBhvr>
                                        <p:cTn id="33" dur="500"/>
                                        <p:tgtEl>
                                          <p:spTgt spid="1027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10272"/>
                                        </p:tgtEl>
                                        <p:attrNameLst>
                                          <p:attrName>style.visibility</p:attrName>
                                        </p:attrNameLst>
                                      </p:cBhvr>
                                      <p:to>
                                        <p:strVal val="visible"/>
                                      </p:to>
                                    </p:set>
                                    <p:animEffect transition="in" filter="box(in)">
                                      <p:cBhvr>
                                        <p:cTn id="38" dur="500"/>
                                        <p:tgtEl>
                                          <p:spTgt spid="1027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10291"/>
                                        </p:tgtEl>
                                        <p:attrNameLst>
                                          <p:attrName>style.visibility</p:attrName>
                                        </p:attrNameLst>
                                      </p:cBhvr>
                                      <p:to>
                                        <p:strVal val="visible"/>
                                      </p:to>
                                    </p:set>
                                    <p:animEffect transition="in" filter="checkerboard(across)">
                                      <p:cBhvr>
                                        <p:cTn id="43" dur="500"/>
                                        <p:tgtEl>
                                          <p:spTgt spid="1029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10295"/>
                                        </p:tgtEl>
                                        <p:attrNameLst>
                                          <p:attrName>style.visibility</p:attrName>
                                        </p:attrNameLst>
                                      </p:cBhvr>
                                      <p:to>
                                        <p:strVal val="visible"/>
                                      </p:to>
                                    </p:set>
                                    <p:animEffect transition="in" filter="blinds(horizontal)">
                                      <p:cBhvr>
                                        <p:cTn id="48" dur="500"/>
                                        <p:tgtEl>
                                          <p:spTgt spid="1029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10293"/>
                                        </p:tgtEl>
                                        <p:attrNameLst>
                                          <p:attrName>style.visibility</p:attrName>
                                        </p:attrNameLst>
                                      </p:cBhvr>
                                      <p:to>
                                        <p:strVal val="visible"/>
                                      </p:to>
                                    </p:set>
                                    <p:animEffect transition="in" filter="checkerboard(across)">
                                      <p:cBhvr>
                                        <p:cTn id="53" dur="500"/>
                                        <p:tgtEl>
                                          <p:spTgt spid="1029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8" presetClass="entr" presetSubtype="12" fill="hold" nodeType="clickEffect">
                                  <p:stCondLst>
                                    <p:cond delay="0"/>
                                  </p:stCondLst>
                                  <p:childTnLst>
                                    <p:set>
                                      <p:cBhvr>
                                        <p:cTn id="57" dur="1" fill="hold">
                                          <p:stCondLst>
                                            <p:cond delay="0"/>
                                          </p:stCondLst>
                                        </p:cTn>
                                        <p:tgtEl>
                                          <p:spTgt spid="10304"/>
                                        </p:tgtEl>
                                        <p:attrNameLst>
                                          <p:attrName>style.visibility</p:attrName>
                                        </p:attrNameLst>
                                      </p:cBhvr>
                                      <p:to>
                                        <p:strVal val="visible"/>
                                      </p:to>
                                    </p:set>
                                    <p:animEffect transition="in" filter="strips(downLeft)">
                                      <p:cBhvr>
                                        <p:cTn id="58" dur="500"/>
                                        <p:tgtEl>
                                          <p:spTgt spid="1030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0281"/>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16" fill="hold" nodeType="clickEffect">
                                  <p:stCondLst>
                                    <p:cond delay="0"/>
                                  </p:stCondLst>
                                  <p:childTnLst>
                                    <p:set>
                                      <p:cBhvr>
                                        <p:cTn id="66" dur="1" fill="hold">
                                          <p:stCondLst>
                                            <p:cond delay="0"/>
                                          </p:stCondLst>
                                        </p:cTn>
                                        <p:tgtEl>
                                          <p:spTgt spid="10283"/>
                                        </p:tgtEl>
                                        <p:attrNameLst>
                                          <p:attrName>style.visibility</p:attrName>
                                        </p:attrNameLst>
                                      </p:cBhvr>
                                      <p:to>
                                        <p:strVal val="visible"/>
                                      </p:to>
                                    </p:set>
                                    <p:animEffect transition="in" filter="box(in)">
                                      <p:cBhvr>
                                        <p:cTn id="67" dur="500"/>
                                        <p:tgtEl>
                                          <p:spTgt spid="1028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499"/>
                                          </p:stCondLst>
                                        </p:cTn>
                                        <p:tgtEl>
                                          <p:spTgt spid="10288"/>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4" presetClass="entr" presetSubtype="16" fill="hold" nodeType="clickEffect">
                                  <p:stCondLst>
                                    <p:cond delay="0"/>
                                  </p:stCondLst>
                                  <p:childTnLst>
                                    <p:set>
                                      <p:cBhvr>
                                        <p:cTn id="75" dur="1" fill="hold">
                                          <p:stCondLst>
                                            <p:cond delay="0"/>
                                          </p:stCondLst>
                                        </p:cTn>
                                        <p:tgtEl>
                                          <p:spTgt spid="10242"/>
                                        </p:tgtEl>
                                        <p:attrNameLst>
                                          <p:attrName>style.visibility</p:attrName>
                                        </p:attrNameLst>
                                      </p:cBhvr>
                                      <p:to>
                                        <p:strVal val="visible"/>
                                      </p:to>
                                    </p:set>
                                    <p:animEffect transition="in" filter="box(in)">
                                      <p:cBhvr>
                                        <p:cTn id="76"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nimBg="1" autoUpdateAnimBg="0"/>
      <p:bldP spid="10271" grpId="0" autoUpdateAnimBg="0"/>
      <p:bldP spid="10272" grpId="0" autoUpdateAnimBg="0"/>
      <p:bldP spid="10274" grpId="0" animBg="1"/>
      <p:bldP spid="10281" grpId="0" animBg="1" autoUpdateAnimBg="0"/>
      <p:bldP spid="10291" grpId="0" autoUpdateAnimBg="0"/>
      <p:bldP spid="10293" grpId="0" autoUpdateAnimBg="0"/>
      <p:bldP spid="1029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新产品销售模型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46087" y="2060848"/>
                <a:ext cx="8497888" cy="4359697"/>
              </a:xfrm>
            </p:spPr>
            <p:txBody>
              <a:bodyPr/>
              <a:lstStyle/>
              <a:p>
                <a:pPr marL="0" lvl="0" indent="0">
                  <a:buNone/>
                </a:pPr>
                <a:r>
                  <a:rPr lang="en-US" altLang="zh-CN" b="1" dirty="0">
                    <a:solidFill>
                      <a:srgbClr val="FF0000"/>
                    </a:solidFill>
                  </a:rPr>
                  <a:t>1.</a:t>
                </a:r>
                <a:r>
                  <a:rPr lang="zh-CN" altLang="zh-CN" b="1" dirty="0">
                    <a:solidFill>
                      <a:srgbClr val="FF0000"/>
                    </a:solidFill>
                  </a:rPr>
                  <a:t>新产品销售的</a:t>
                </a:r>
                <a:r>
                  <a:rPr lang="en-US" altLang="zh-CN" b="1" dirty="0">
                    <a:solidFill>
                      <a:srgbClr val="FF0000"/>
                    </a:solidFill>
                  </a:rPr>
                  <a:t>Malthus</a:t>
                </a:r>
                <a:r>
                  <a:rPr lang="zh-CN" altLang="zh-CN" b="1" dirty="0">
                    <a:solidFill>
                      <a:srgbClr val="FF0000"/>
                    </a:solidFill>
                  </a:rPr>
                  <a:t>模型</a:t>
                </a:r>
              </a:p>
              <a:p>
                <a:r>
                  <a:rPr lang="zh-CN" altLang="zh-CN" sz="2400" dirty="0"/>
                  <a:t>著名的英国统计学家托马斯·马尔萨斯（</a:t>
                </a:r>
                <a:r>
                  <a:rPr lang="en-US" altLang="zh-CN" sz="2400" dirty="0"/>
                  <a:t>Thomas Malthus</a:t>
                </a:r>
                <a:r>
                  <a:rPr lang="zh-CN" altLang="zh-CN" sz="2400" dirty="0"/>
                  <a:t>）在</a:t>
                </a:r>
                <a:r>
                  <a:rPr lang="en-US" altLang="zh-CN" sz="2400" dirty="0"/>
                  <a:t>1798</a:t>
                </a:r>
                <a:r>
                  <a:rPr lang="zh-CN" altLang="zh-CN" sz="2400" dirty="0"/>
                  <a:t>年提出了</a:t>
                </a:r>
                <a:r>
                  <a:rPr lang="en-US" altLang="zh-CN" sz="2400" dirty="0"/>
                  <a:t>Malthus</a:t>
                </a:r>
                <a:r>
                  <a:rPr lang="zh-CN" altLang="zh-CN" sz="2400" dirty="0"/>
                  <a:t>模型。用</a:t>
                </a:r>
                <a14:m>
                  <m:oMath xmlns:m="http://schemas.openxmlformats.org/officeDocument/2006/math">
                    <m:r>
                      <m:rPr>
                        <m:sty m:val="p"/>
                      </m:rPr>
                      <a:rPr lang="en-US" altLang="zh-CN" sz="2400" b="0" i="0" smtClean="0">
                        <a:latin typeface="Cambria Math"/>
                      </a:rPr>
                      <m:t>N</m:t>
                    </m:r>
                    <m:r>
                      <a:rPr lang="en-US" altLang="zh-CN" sz="2400" i="1">
                        <a:latin typeface="Cambria Math"/>
                      </a:rPr>
                      <m:t>(</m:t>
                    </m:r>
                    <m:r>
                      <a:rPr lang="en-US" altLang="zh-CN" sz="2400" i="1">
                        <a:latin typeface="Cambria Math"/>
                      </a:rPr>
                      <m:t>𝑡</m:t>
                    </m:r>
                    <m:r>
                      <a:rPr lang="en-US" altLang="zh-CN" sz="2400" i="1">
                        <a:latin typeface="Cambria Math"/>
                      </a:rPr>
                      <m:t>)</m:t>
                    </m:r>
                  </m:oMath>
                </a14:m>
                <a:r>
                  <a:rPr lang="zh-CN" altLang="zh-CN" sz="2400" dirty="0"/>
                  <a:t>表示第</a:t>
                </a:r>
                <a14:m>
                  <m:oMath xmlns:m="http://schemas.openxmlformats.org/officeDocument/2006/math">
                    <m:r>
                      <a:rPr lang="en-US" altLang="zh-CN" sz="2400" i="1">
                        <a:latin typeface="Cambria Math"/>
                      </a:rPr>
                      <m:t>𝑡</m:t>
                    </m:r>
                  </m:oMath>
                </a14:m>
                <a:r>
                  <a:rPr lang="zh-CN" altLang="zh-CN" sz="2400" dirty="0"/>
                  <a:t>时刻购买了新产品的人数，根据</a:t>
                </a:r>
                <a:r>
                  <a:rPr lang="en-US" altLang="zh-CN" sz="2400" dirty="0"/>
                  <a:t>Malthus</a:t>
                </a:r>
                <a:r>
                  <a:rPr lang="zh-CN" altLang="zh-CN" sz="2400" dirty="0"/>
                  <a:t>模型的理论，我们有单位时间内购买了新产品的人数的增量与当时购买了新产品的人数成正比例。</a:t>
                </a:r>
              </a:p>
              <a:p>
                <a:r>
                  <a:rPr lang="zh-CN" altLang="zh-CN" sz="2400" dirty="0"/>
                  <a:t>则模型的方程可以表示为：</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46087" y="2060848"/>
                <a:ext cx="8497888" cy="4359697"/>
              </a:xfrm>
              <a:blipFill>
                <a:blip r:embed="rId2"/>
                <a:stretch>
                  <a:fillRect l="-1793" t="-2098" r="-57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21</a:t>
            </a:fld>
            <a:endParaRPr lang="en-US" altLang="zh-CN"/>
          </a:p>
        </p:txBody>
      </p:sp>
      <p:sp>
        <p:nvSpPr>
          <p:cNvPr id="5" name="AutoShape 1" descr="C:\Users\DELL\AppData\Roaming\Tencent\Users\124558160\QQ\WinTemp\RichOle\K6E8_4{9`R7WG)J78@wYB.pn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2" descr="C:\Users\DELL\AppData\Roaming\Tencent\Users\124558160\QQ\WinTemp\RichOle\K6E8_4{9`R7WG)J78@wYB.pn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98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511" y="5081774"/>
            <a:ext cx="7154977" cy="720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7516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99592" y="2017713"/>
                <a:ext cx="8055496" cy="4114800"/>
              </a:xfrm>
            </p:spPr>
            <p:txBody>
              <a:bodyPr/>
              <a:lstStyle/>
              <a:p>
                <a:r>
                  <a:rPr lang="zh-CN" altLang="zh-CN" sz="2800" dirty="0"/>
                  <a:t>容易求得（</a:t>
                </a:r>
                <a:r>
                  <a:rPr lang="en-US" altLang="zh-CN" sz="2800" dirty="0"/>
                  <a:t>3.2.1</a:t>
                </a:r>
                <a:r>
                  <a:rPr lang="zh-CN" altLang="zh-CN" sz="2800" dirty="0"/>
                  <a:t>）式的解为：</a:t>
                </a:r>
                <a14:m>
                  <m:oMath xmlns:m="http://schemas.openxmlformats.org/officeDocument/2006/math">
                    <m:r>
                      <m:rPr>
                        <m:sty m:val="p"/>
                      </m:rPr>
                      <a:rPr lang="en-US" altLang="zh-CN" sz="2800">
                        <a:latin typeface="Cambria Math"/>
                      </a:rPr>
                      <m:t>N</m:t>
                    </m:r>
                    <m:d>
                      <m:dPr>
                        <m:ctrlPr>
                          <a:rPr lang="en-US" altLang="zh-CN" sz="2800" i="1">
                            <a:latin typeface="Cambria Math" panose="02040503050406030204" pitchFamily="18" charset="0"/>
                          </a:rPr>
                        </m:ctrlPr>
                      </m:dPr>
                      <m:e>
                        <m:r>
                          <a:rPr lang="en-US" altLang="zh-CN" sz="2800" i="1">
                            <a:latin typeface="Cambria Math"/>
                          </a:rPr>
                          <m:t>𝑡</m:t>
                        </m:r>
                      </m:e>
                    </m:d>
                    <m:r>
                      <a:rPr lang="en-US" altLang="zh-CN" sz="2800" b="0" i="1" smtClean="0">
                        <a:latin typeface="Cambria Math"/>
                      </a:rPr>
                      <m:t>=</m:t>
                    </m:r>
                    <m:sSub>
                      <m:sSubPr>
                        <m:ctrlPr>
                          <a:rPr lang="en-US" altLang="zh-CN" sz="2800" b="0" i="1" smtClean="0">
                            <a:latin typeface="Cambria Math" panose="02040503050406030204" pitchFamily="18" charset="0"/>
                          </a:rPr>
                        </m:ctrlPr>
                      </m:sSubPr>
                      <m:e>
                        <m:r>
                          <a:rPr lang="en-US" altLang="zh-CN" sz="2800" b="0" i="1" smtClean="0">
                            <a:latin typeface="Cambria Math"/>
                          </a:rPr>
                          <m:t>𝑁</m:t>
                        </m:r>
                      </m:e>
                      <m:sub>
                        <m:r>
                          <a:rPr lang="en-US" altLang="zh-CN" sz="2800" b="0" i="1" smtClean="0">
                            <a:latin typeface="Cambria Math"/>
                          </a:rPr>
                          <m:t>0</m:t>
                        </m:r>
                      </m:sub>
                    </m:sSub>
                    <m:sSup>
                      <m:sSupPr>
                        <m:ctrlPr>
                          <a:rPr lang="en-US" altLang="zh-CN" sz="2800" b="0" i="1" smtClean="0">
                            <a:latin typeface="Cambria Math" panose="02040503050406030204" pitchFamily="18" charset="0"/>
                          </a:rPr>
                        </m:ctrlPr>
                      </m:sSupPr>
                      <m:e>
                        <m:r>
                          <a:rPr lang="en-US" altLang="zh-CN" sz="2800" b="0" i="1" smtClean="0">
                            <a:latin typeface="Cambria Math"/>
                          </a:rPr>
                          <m:t>𝑒</m:t>
                        </m:r>
                      </m:e>
                      <m:sup>
                        <m:r>
                          <a:rPr lang="en-US" altLang="zh-CN" sz="2800" b="0" i="1" smtClean="0">
                            <a:latin typeface="Cambria Math"/>
                          </a:rPr>
                          <m:t>𝑟𝑡</m:t>
                        </m:r>
                      </m:sup>
                    </m:sSup>
                  </m:oMath>
                </a14:m>
                <a:r>
                  <a:rPr lang="zh-CN" altLang="en-US" sz="2800" dirty="0"/>
                  <a:t>，</a:t>
                </a:r>
                <a:r>
                  <a:rPr lang="zh-CN" altLang="zh-CN" sz="2800" dirty="0"/>
                  <a:t>其中</a:t>
                </a:r>
                <a14:m>
                  <m:oMath xmlns:m="http://schemas.openxmlformats.org/officeDocument/2006/math">
                    <m:r>
                      <a:rPr lang="en-US" altLang="zh-CN" sz="2800" b="0" i="1" smtClean="0">
                        <a:latin typeface="Cambria Math"/>
                      </a:rPr>
                      <m:t>𝑟</m:t>
                    </m:r>
                  </m:oMath>
                </a14:m>
                <a:r>
                  <a:rPr lang="zh-CN" altLang="zh-CN" sz="2800" dirty="0"/>
                  <a:t>是购买了新产品人数的净增长率，</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a:rPr>
                          <m:t>𝑡</m:t>
                        </m:r>
                      </m:e>
                      <m:sub>
                        <m:r>
                          <a:rPr lang="en-US" altLang="zh-CN" sz="2800" b="0" i="1" smtClean="0">
                            <a:latin typeface="Cambria Math"/>
                          </a:rPr>
                          <m:t>0</m:t>
                        </m:r>
                      </m:sub>
                    </m:sSub>
                  </m:oMath>
                </a14:m>
                <a:r>
                  <a:rPr lang="zh-CN" altLang="zh-CN" sz="2800" dirty="0"/>
                  <a:t>是初始时间，</a:t>
                </a:r>
                <a:r>
                  <a:rPr lang="zh-CN" altLang="en-US" sz="2800" dirty="0"/>
                  <a:t>若</a:t>
                </a:r>
                <a14:m>
                  <m:oMath xmlns:m="http://schemas.openxmlformats.org/officeDocument/2006/math">
                    <m:r>
                      <a:rPr lang="en-US" altLang="zh-CN" sz="2800" i="1">
                        <a:latin typeface="Cambria Math"/>
                      </a:rPr>
                      <m:t>𝑟</m:t>
                    </m:r>
                    <m:r>
                      <a:rPr lang="en-US" altLang="zh-CN" sz="2800" b="0" i="1" smtClean="0">
                        <a:latin typeface="Cambria Math"/>
                      </a:rPr>
                      <m:t>&gt;0</m:t>
                    </m:r>
                  </m:oMath>
                </a14:m>
                <a:r>
                  <a:rPr lang="zh-CN" altLang="en-US" sz="2800" dirty="0"/>
                  <a:t>，</a:t>
                </a:r>
                <a:r>
                  <a:rPr lang="zh-CN" altLang="zh-CN" sz="2800" dirty="0"/>
                  <a:t>则模型中的购买了新产品的人数将呈指数级数增长。</a:t>
                </a:r>
                <a:endParaRPr lang="en-US" altLang="zh-CN" sz="2800" dirty="0"/>
              </a:p>
              <a:p>
                <a:r>
                  <a:rPr lang="en-US" altLang="zh-CN" sz="2800" dirty="0"/>
                  <a:t>Malthus</a:t>
                </a:r>
                <a:r>
                  <a:rPr lang="zh-CN" altLang="zh-CN" sz="2800" dirty="0"/>
                  <a:t>模型较符合一种</a:t>
                </a:r>
                <a:r>
                  <a:rPr lang="zh-CN" altLang="zh-CN" sz="2800" b="1" dirty="0">
                    <a:solidFill>
                      <a:srgbClr val="FF0000"/>
                    </a:solidFill>
                  </a:rPr>
                  <a:t>新产品刚刚上市</a:t>
                </a:r>
                <a:r>
                  <a:rPr lang="zh-CN" altLang="zh-CN" sz="2800" dirty="0"/>
                  <a:t>，并且非常畅销的情况，可是这仅限于在很短的时间内，因为购买新产品的人数是有限的，市场对新产品需求量也是有限的，当产品有一定的普及率时，将不可能再呈指数级数增长。</a:t>
                </a:r>
              </a:p>
              <a:p>
                <a:endParaRPr lang="zh-CN" altLang="en-US" sz="2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99592" y="2017713"/>
                <a:ext cx="8055496" cy="4114800"/>
              </a:xfrm>
              <a:blipFill rotWithShape="1">
                <a:blip r:embed="rId2"/>
                <a:stretch>
                  <a:fillRect l="-379" t="-1778" r="-379" b="-14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22</a:t>
            </a:fld>
            <a:endParaRPr lang="en-US" altLang="zh-CN"/>
          </a:p>
        </p:txBody>
      </p:sp>
    </p:spTree>
    <p:extLst>
      <p:ext uri="{BB962C8B-B14F-4D97-AF65-F5344CB8AC3E}">
        <p14:creationId xmlns:p14="http://schemas.microsoft.com/office/powerpoint/2010/main" val="2680870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zh-CN" dirty="0"/>
              <a:t>新产品销售的</a:t>
            </a:r>
            <a:r>
              <a:rPr lang="en-US" altLang="zh-CN" dirty="0">
                <a:latin typeface="Times New Roman" panose="02020603050405020304" pitchFamily="18" charset="0"/>
                <a:cs typeface="Times New Roman" panose="02020603050405020304" pitchFamily="18" charset="0"/>
              </a:rPr>
              <a:t>Logistic</a:t>
            </a:r>
            <a:r>
              <a:rPr lang="zh-CN" altLang="zh-CN" dirty="0"/>
              <a:t>模型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7584" y="2017713"/>
                <a:ext cx="8127504" cy="4114800"/>
              </a:xfrm>
            </p:spPr>
            <p:txBody>
              <a:bodyPr/>
              <a:lstStyle/>
              <a:p>
                <a:pPr>
                  <a:lnSpc>
                    <a:spcPct val="150000"/>
                  </a:lnSpc>
                </a:pPr>
                <a:r>
                  <a:rPr lang="zh-CN" altLang="zh-CN" sz="2800" dirty="0">
                    <a:latin typeface="Times New Roman" panose="02020603050405020304" pitchFamily="18" charset="0"/>
                    <a:cs typeface="Times New Roman" panose="02020603050405020304" pitchFamily="18" charset="0"/>
                  </a:rPr>
                  <a:t>考虑市场对新产品需求量的限制，则</a:t>
                </a:r>
                <a:r>
                  <a:rPr lang="en-US" altLang="zh-CN" sz="2800" dirty="0">
                    <a:latin typeface="Times New Roman" panose="02020603050405020304" pitchFamily="18" charset="0"/>
                    <a:cs typeface="Times New Roman" panose="02020603050405020304" pitchFamily="18" charset="0"/>
                  </a:rPr>
                  <a:t>Malthus</a:t>
                </a:r>
                <a:r>
                  <a:rPr lang="zh-CN" altLang="zh-CN" sz="2800" dirty="0">
                    <a:latin typeface="Times New Roman" panose="02020603050405020304" pitchFamily="18" charset="0"/>
                    <a:cs typeface="Times New Roman" panose="02020603050405020304" pitchFamily="18" charset="0"/>
                  </a:rPr>
                  <a:t>模型就必须改进。假设</a:t>
                </a:r>
                <a14:m>
                  <m:oMath xmlns:m="http://schemas.openxmlformats.org/officeDocument/2006/math">
                    <m:r>
                      <a:rPr lang="en-US" altLang="zh-CN" sz="2800" b="0" i="1" smtClean="0">
                        <a:latin typeface="Cambria Math"/>
                      </a:rPr>
                      <m:t>𝐾</m:t>
                    </m:r>
                  </m:oMath>
                </a14:m>
                <a:r>
                  <a:rPr lang="zh-CN" altLang="zh-CN" sz="2800" dirty="0">
                    <a:latin typeface="Times New Roman" panose="02020603050405020304" pitchFamily="18" charset="0"/>
                    <a:cs typeface="Times New Roman" panose="02020603050405020304" pitchFamily="18" charset="0"/>
                  </a:rPr>
                  <a:t>是市场中对新产品有需求的潜在消费者总人数，购买新产品人数的增长率随</a:t>
                </a:r>
                <a14:m>
                  <m:oMath xmlns:m="http://schemas.openxmlformats.org/officeDocument/2006/math">
                    <m:r>
                      <m:rPr>
                        <m:sty m:val="p"/>
                      </m:rPr>
                      <a:rPr lang="en-US" altLang="zh-CN" sz="2800">
                        <a:latin typeface="Cambria Math"/>
                      </a:rPr>
                      <m:t>N</m:t>
                    </m:r>
                    <m:r>
                      <a:rPr lang="en-US" altLang="zh-CN" sz="2800" i="1">
                        <a:latin typeface="Cambria Math"/>
                      </a:rPr>
                      <m:t>(</m:t>
                    </m:r>
                    <m:r>
                      <a:rPr lang="en-US" altLang="zh-CN" sz="2800" i="1">
                        <a:latin typeface="Cambria Math"/>
                      </a:rPr>
                      <m:t>𝑡</m:t>
                    </m:r>
                    <m:r>
                      <a:rPr lang="en-US" altLang="zh-CN" sz="2800" i="1">
                        <a:latin typeface="Cambria Math"/>
                      </a:rPr>
                      <m:t>)</m:t>
                    </m:r>
                  </m:oMath>
                </a14:m>
                <a:r>
                  <a:rPr lang="zh-CN" altLang="zh-CN" sz="2800" dirty="0">
                    <a:latin typeface="Times New Roman" panose="02020603050405020304" pitchFamily="18" charset="0"/>
                    <a:cs typeface="Times New Roman" panose="02020603050405020304" pitchFamily="18" charset="0"/>
                  </a:rPr>
                  <a:t>的增加而减少，当</a:t>
                </a:r>
                <a14:m>
                  <m:oMath xmlns:m="http://schemas.openxmlformats.org/officeDocument/2006/math">
                    <m:r>
                      <m:rPr>
                        <m:sty m:val="p"/>
                      </m:rPr>
                      <a:rPr lang="en-US" altLang="zh-CN" sz="2800">
                        <a:latin typeface="Cambria Math"/>
                      </a:rPr>
                      <m:t>N</m:t>
                    </m:r>
                    <m:r>
                      <a:rPr lang="en-US" altLang="zh-CN" sz="2800" i="1">
                        <a:latin typeface="Cambria Math"/>
                      </a:rPr>
                      <m:t>(</m:t>
                    </m:r>
                    <m:r>
                      <a:rPr lang="en-US" altLang="zh-CN" sz="2800" i="1">
                        <a:latin typeface="Cambria Math"/>
                      </a:rPr>
                      <m:t>𝑡</m:t>
                    </m:r>
                    <m:r>
                      <a:rPr lang="en-US" altLang="zh-CN" sz="2800" i="1">
                        <a:latin typeface="Cambria Math"/>
                      </a:rPr>
                      <m:t>)→</m:t>
                    </m:r>
                    <m:r>
                      <a:rPr lang="en-US" altLang="zh-CN" sz="2800" b="0" i="1" smtClean="0">
                        <a:latin typeface="Cambria Math"/>
                        <a:ea typeface="Cambria Math"/>
                      </a:rPr>
                      <m:t>𝐾</m:t>
                    </m:r>
                  </m:oMath>
                </a14:m>
                <a:r>
                  <a:rPr lang="zh-CN" altLang="zh-CN" sz="2800" dirty="0">
                    <a:latin typeface="Times New Roman" panose="02020603050405020304" pitchFamily="18" charset="0"/>
                    <a:cs typeface="Times New Roman" panose="02020603050405020304" pitchFamily="18" charset="0"/>
                  </a:rPr>
                  <a:t>时，购买新产品的人数的增长率趋于</a:t>
                </a:r>
                <a:r>
                  <a:rPr lang="en-US" altLang="zh-CN" sz="2800" dirty="0">
                    <a:latin typeface="Times New Roman" panose="02020603050405020304" pitchFamily="18" charset="0"/>
                    <a:cs typeface="Times New Roman" panose="02020603050405020304" pitchFamily="18" charset="0"/>
                  </a:rPr>
                  <a:t>0</a:t>
                </a:r>
                <a:r>
                  <a:rPr lang="zh-CN" altLang="zh-CN" sz="2800" dirty="0">
                    <a:latin typeface="Times New Roman" panose="02020603050405020304" pitchFamily="18" charset="0"/>
                    <a:cs typeface="Times New Roman" panose="02020603050405020304" pitchFamily="18" charset="0"/>
                  </a:rPr>
                  <a:t>。其模型的方程为：</a:t>
                </a: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7584" y="2017713"/>
                <a:ext cx="8127504" cy="4114800"/>
              </a:xfrm>
              <a:blipFill rotWithShape="1">
                <a:blip r:embed="rId2"/>
                <a:stretch>
                  <a:fillRect l="-375" r="-67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23</a:t>
            </a:fld>
            <a:endParaRPr lang="en-US" altLang="zh-CN"/>
          </a:p>
        </p:txBody>
      </p:sp>
      <p:pic>
        <p:nvPicPr>
          <p:cNvPr id="80897" name="Picture 1" descr="C:\Users\DELL\AppData\Roaming\Tencent\Users\124558160\QQ\WinTemp\RichOle\MTRI}[IFKLLDFRLVKK_GMA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5373216"/>
            <a:ext cx="8086498" cy="792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1234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zh-CN" sz="2400" dirty="0"/>
                  <a:t>可以求得（</a:t>
                </a:r>
                <a:r>
                  <a:rPr lang="en-US" altLang="zh-CN" sz="2400" dirty="0"/>
                  <a:t>3.2.2</a:t>
                </a:r>
                <a:r>
                  <a:rPr lang="zh-CN" altLang="zh-CN" sz="2400" dirty="0"/>
                  <a:t>）式的解为：</a:t>
                </a:r>
                <a:r>
                  <a:rPr lang="en-US" altLang="zh-CN" sz="2400" dirty="0"/>
                  <a:t> </a:t>
                </a:r>
                <a14:m>
                  <m:oMath xmlns:m="http://schemas.openxmlformats.org/officeDocument/2006/math">
                    <m:r>
                      <m:rPr>
                        <m:sty m:val="p"/>
                      </m:rPr>
                      <a:rPr lang="en-US" altLang="zh-CN" sz="2400">
                        <a:latin typeface="Cambria Math"/>
                      </a:rPr>
                      <m:t>N</m:t>
                    </m:r>
                    <m:d>
                      <m:dPr>
                        <m:ctrlPr>
                          <a:rPr lang="en-US" altLang="zh-CN" sz="2400" i="1">
                            <a:latin typeface="Cambria Math" panose="02040503050406030204" pitchFamily="18" charset="0"/>
                          </a:rPr>
                        </m:ctrlPr>
                      </m:dPr>
                      <m:e>
                        <m:r>
                          <a:rPr lang="en-US" altLang="zh-CN" sz="2400" i="1">
                            <a:latin typeface="Cambria Math"/>
                          </a:rPr>
                          <m:t>𝑡</m:t>
                        </m:r>
                      </m:e>
                    </m:d>
                    <m:r>
                      <a:rPr lang="en-US" altLang="zh-CN" sz="2400" b="0" i="1" smtClean="0">
                        <a:latin typeface="Cambria Math"/>
                      </a:rPr>
                      <m:t>=</m:t>
                    </m:r>
                    <m:f>
                      <m:fPr>
                        <m:ctrlPr>
                          <a:rPr lang="en-US" altLang="zh-CN" sz="2400" b="0" i="1" smtClean="0">
                            <a:latin typeface="Cambria Math" panose="02040503050406030204" pitchFamily="18" charset="0"/>
                          </a:rPr>
                        </m:ctrlPr>
                      </m:fPr>
                      <m:num>
                        <m:r>
                          <a:rPr lang="en-US" altLang="zh-CN" sz="2400" b="0" i="1" smtClean="0">
                            <a:latin typeface="Cambria Math"/>
                          </a:rPr>
                          <m:t>𝐾</m:t>
                        </m:r>
                      </m:num>
                      <m:den>
                        <m:r>
                          <a:rPr lang="en-US" altLang="zh-CN" sz="2400" b="0" i="1" smtClean="0">
                            <a:latin typeface="Cambria Math"/>
                          </a:rPr>
                          <m:t>1+(</m:t>
                        </m:r>
                        <m:f>
                          <m:fPr>
                            <m:ctrlPr>
                              <a:rPr lang="en-US" altLang="zh-CN" sz="2400" b="0" i="1" smtClean="0">
                                <a:latin typeface="Cambria Math" panose="02040503050406030204" pitchFamily="18" charset="0"/>
                              </a:rPr>
                            </m:ctrlPr>
                          </m:fPr>
                          <m:num>
                            <m:r>
                              <a:rPr lang="en-US" altLang="zh-CN" sz="2400" b="0" i="1" smtClean="0">
                                <a:latin typeface="Cambria Math"/>
                              </a:rPr>
                              <m:t>𝐾</m:t>
                            </m:r>
                          </m:num>
                          <m:den>
                            <m:sSub>
                              <m:sSubPr>
                                <m:ctrlPr>
                                  <a:rPr lang="en-US" altLang="zh-CN" sz="2400" b="0" i="1" smtClean="0">
                                    <a:latin typeface="Cambria Math" panose="02040503050406030204" pitchFamily="18" charset="0"/>
                                  </a:rPr>
                                </m:ctrlPr>
                              </m:sSubPr>
                              <m:e>
                                <m:r>
                                  <a:rPr lang="en-US" altLang="zh-CN" sz="2400" b="0" i="1" smtClean="0">
                                    <a:latin typeface="Cambria Math"/>
                                  </a:rPr>
                                  <m:t>𝑁</m:t>
                                </m:r>
                              </m:e>
                              <m:sub>
                                <m:r>
                                  <a:rPr lang="en-US" altLang="zh-CN" sz="2400" b="0" i="1" smtClean="0">
                                    <a:latin typeface="Cambria Math"/>
                                  </a:rPr>
                                  <m:t>0</m:t>
                                </m:r>
                              </m:sub>
                            </m:sSub>
                          </m:den>
                        </m:f>
                        <m:r>
                          <a:rPr lang="en-US" altLang="zh-CN" sz="2400" b="0" i="1" smtClean="0">
                            <a:latin typeface="Cambria Math"/>
                          </a:rPr>
                          <m:t>−1)</m:t>
                        </m:r>
                        <m:sSup>
                          <m:sSupPr>
                            <m:ctrlPr>
                              <a:rPr lang="en-US" altLang="zh-CN" sz="2400" b="0" i="1" smtClean="0">
                                <a:latin typeface="Cambria Math" panose="02040503050406030204" pitchFamily="18" charset="0"/>
                              </a:rPr>
                            </m:ctrlPr>
                          </m:sSupPr>
                          <m:e>
                            <m:r>
                              <a:rPr lang="en-US" altLang="zh-CN" sz="2400" b="0" i="1" smtClean="0">
                                <a:latin typeface="Cambria Math"/>
                              </a:rPr>
                              <m:t>𝑒</m:t>
                            </m:r>
                          </m:e>
                          <m:sup>
                            <m:r>
                              <a:rPr lang="en-US" altLang="zh-CN" sz="2400" b="0" i="1" smtClean="0">
                                <a:latin typeface="Cambria Math"/>
                              </a:rPr>
                              <m:t>−</m:t>
                            </m:r>
                            <m:r>
                              <a:rPr lang="en-US" altLang="zh-CN" sz="2400" b="0" i="1" smtClean="0">
                                <a:latin typeface="Cambria Math"/>
                              </a:rPr>
                              <m:t>𝑟𝑡</m:t>
                            </m:r>
                          </m:sup>
                        </m:sSup>
                      </m:den>
                    </m:f>
                  </m:oMath>
                </a14:m>
                <a:endParaRPr lang="en-US" altLang="zh-CN" sz="2400" dirty="0"/>
              </a:p>
              <a:p>
                <a:r>
                  <a:rPr lang="zh-CN" altLang="zh-CN" sz="2400" dirty="0"/>
                  <a:t>设参数</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a:rPr>
                          <m:t>𝑁</m:t>
                        </m:r>
                      </m:e>
                      <m:sub>
                        <m:r>
                          <a:rPr lang="en-US" altLang="zh-CN" sz="2400" b="0" i="1" smtClean="0">
                            <a:latin typeface="Cambria Math"/>
                          </a:rPr>
                          <m:t>0</m:t>
                        </m:r>
                      </m:sub>
                    </m:sSub>
                    <m:r>
                      <a:rPr lang="en-US" altLang="zh-CN" sz="2400" b="0" i="1" smtClean="0">
                        <a:latin typeface="Cambria Math"/>
                      </a:rPr>
                      <m:t>=5</m:t>
                    </m:r>
                    <m:r>
                      <a:rPr lang="en-US" altLang="zh-CN" sz="2400" b="0" i="1" smtClean="0">
                        <a:latin typeface="Cambria Math"/>
                        <a:ea typeface="Cambria Math"/>
                      </a:rPr>
                      <m:t>×</m:t>
                    </m:r>
                    <m:sSup>
                      <m:sSupPr>
                        <m:ctrlPr>
                          <a:rPr lang="en-US" altLang="zh-CN" sz="2400" b="0" i="1" smtClean="0">
                            <a:latin typeface="Cambria Math" panose="02040503050406030204" pitchFamily="18" charset="0"/>
                            <a:ea typeface="Cambria Math"/>
                          </a:rPr>
                        </m:ctrlPr>
                      </m:sSupPr>
                      <m:e>
                        <m:r>
                          <a:rPr lang="en-US" altLang="zh-CN" sz="2400" b="0" i="1" smtClean="0">
                            <a:latin typeface="Cambria Math"/>
                            <a:ea typeface="Cambria Math"/>
                          </a:rPr>
                          <m:t>10</m:t>
                        </m:r>
                      </m:e>
                      <m:sup>
                        <m:r>
                          <a:rPr lang="en-US" altLang="zh-CN" sz="2400" b="0" i="1" smtClean="0">
                            <a:latin typeface="Cambria Math"/>
                            <a:ea typeface="Cambria Math"/>
                          </a:rPr>
                          <m:t>6</m:t>
                        </m:r>
                      </m:sup>
                    </m:sSup>
                  </m:oMath>
                </a14:m>
                <a:r>
                  <a:rPr lang="zh-CN" altLang="zh-CN" sz="2400" dirty="0"/>
                  <a:t>，</a:t>
                </a:r>
                <a:r>
                  <a:rPr lang="en-US" altLang="zh-CN" sz="2400" dirty="0"/>
                  <a:t> </a:t>
                </a:r>
                <a14:m>
                  <m:oMath xmlns:m="http://schemas.openxmlformats.org/officeDocument/2006/math">
                    <m:r>
                      <a:rPr lang="en-US" altLang="zh-CN" sz="2400" i="1" smtClean="0">
                        <a:latin typeface="Cambria Math"/>
                      </a:rPr>
                      <m:t>𝑟</m:t>
                    </m:r>
                    <m:r>
                      <a:rPr lang="en-US" altLang="zh-CN" sz="2400" b="0" i="0" smtClean="0">
                        <a:latin typeface="Cambria Math"/>
                      </a:rPr>
                      <m:t>=0.4</m:t>
                    </m:r>
                  </m:oMath>
                </a14:m>
                <a:r>
                  <a:rPr lang="zh-CN" altLang="zh-CN" sz="2400" dirty="0"/>
                  <a:t>，</a:t>
                </a:r>
                <a:r>
                  <a:rPr lang="en-US" altLang="zh-CN" sz="2400" dirty="0"/>
                  <a:t> </a:t>
                </a:r>
                <a14:m>
                  <m:oMath xmlns:m="http://schemas.openxmlformats.org/officeDocument/2006/math">
                    <m:r>
                      <m:rPr>
                        <m:sty m:val="p"/>
                      </m:rPr>
                      <a:rPr lang="en-US" altLang="zh-CN" sz="2400" b="0" i="0" smtClean="0">
                        <a:latin typeface="Cambria Math"/>
                      </a:rPr>
                      <m:t>K</m:t>
                    </m:r>
                    <m:r>
                      <a:rPr lang="en-US" altLang="zh-CN" sz="2400" b="0" i="0" smtClean="0">
                        <a:latin typeface="Cambria Math"/>
                      </a:rPr>
                      <m:t>=300</m:t>
                    </m:r>
                    <m:r>
                      <a:rPr lang="en-US" altLang="zh-CN" sz="2400" b="0" i="1" smtClean="0">
                        <a:latin typeface="Cambria Math"/>
                        <a:ea typeface="Cambria Math"/>
                      </a:rPr>
                      <m:t>×</m:t>
                    </m:r>
                    <m:sSup>
                      <m:sSupPr>
                        <m:ctrlPr>
                          <a:rPr lang="en-US" altLang="zh-CN" sz="2400" b="0" i="1" smtClean="0">
                            <a:latin typeface="Cambria Math" panose="02040503050406030204" pitchFamily="18" charset="0"/>
                            <a:ea typeface="Cambria Math"/>
                          </a:rPr>
                        </m:ctrlPr>
                      </m:sSupPr>
                      <m:e>
                        <m:r>
                          <a:rPr lang="en-US" altLang="zh-CN" sz="2400" b="0" i="1" smtClean="0">
                            <a:latin typeface="Cambria Math"/>
                            <a:ea typeface="Cambria Math"/>
                          </a:rPr>
                          <m:t>10</m:t>
                        </m:r>
                      </m:e>
                      <m:sup>
                        <m:r>
                          <a:rPr lang="en-US" altLang="zh-CN" sz="2400" b="0" i="1" smtClean="0">
                            <a:latin typeface="Cambria Math"/>
                            <a:ea typeface="Cambria Math"/>
                          </a:rPr>
                          <m:t>6</m:t>
                        </m:r>
                      </m:sup>
                    </m:sSup>
                  </m:oMath>
                </a14:m>
                <a:r>
                  <a:rPr lang="zh-CN" altLang="zh-CN" sz="2400" dirty="0"/>
                  <a:t> ，其增长曲线见图</a:t>
                </a:r>
                <a:r>
                  <a:rPr lang="en-US" altLang="zh-CN" sz="2400" dirty="0"/>
                  <a:t>3.1</a:t>
                </a:r>
                <a:r>
                  <a:rPr lang="zh-CN" altLang="zh-CN" sz="2400" dirty="0"/>
                  <a:t>：</a:t>
                </a: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7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24</a:t>
            </a:fld>
            <a:endParaRPr lang="en-US" altLang="zh-CN"/>
          </a:p>
        </p:txBody>
      </p:sp>
      <p:pic>
        <p:nvPicPr>
          <p:cNvPr id="81921" name="Picture 1" descr="C:\Users\DELL\AppData\Roaming\Tencent\Users\124558160\QQ\WinTemp\RichOle\QJ}X5O%~H`QE5GNKV@AI@K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3356991"/>
            <a:ext cx="3591132" cy="3168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162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sz="half" idx="1"/>
              </p:nvPr>
            </p:nvSpPr>
            <p:spPr>
              <a:xfrm>
                <a:off x="611560" y="2122512"/>
                <a:ext cx="4381128" cy="4114800"/>
              </a:xfrm>
            </p:spPr>
            <p:txBody>
              <a:bodyPr/>
              <a:lstStyle/>
              <a:p>
                <a:r>
                  <a:rPr lang="zh-CN" altLang="en-US" sz="2400" dirty="0"/>
                  <a:t>如果定义</a:t>
                </a:r>
                <a14:m>
                  <m:oMath xmlns:m="http://schemas.openxmlformats.org/officeDocument/2006/math">
                    <m:r>
                      <a:rPr lang="en-US" altLang="zh-CN" sz="2400" b="0" i="1" smtClean="0">
                        <a:latin typeface="Cambria Math" panose="02040503050406030204" pitchFamily="18" charset="0"/>
                      </a:rPr>
                      <m:t>𝑉</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𝑑𝑁</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num>
                      <m:den>
                        <m:r>
                          <a:rPr lang="en-US" altLang="zh-CN" sz="2400" b="0" i="1" smtClean="0">
                            <a:latin typeface="Cambria Math" panose="02040503050406030204" pitchFamily="18" charset="0"/>
                          </a:rPr>
                          <m:t>𝑑𝑡</m:t>
                        </m:r>
                      </m:den>
                    </m:f>
                  </m:oMath>
                </a14:m>
                <a:r>
                  <a:rPr lang="zh-CN" altLang="en-US" sz="2400" dirty="0"/>
                  <a:t>，𝑉反映了新产品的销售速度，销售速度与购买新产品人数的关系见图</a:t>
                </a:r>
                <a:r>
                  <a:rPr lang="en-US" altLang="zh-CN" sz="2400" dirty="0"/>
                  <a:t>3.2</a:t>
                </a:r>
                <a:r>
                  <a:rPr lang="zh-CN" altLang="en-US" sz="2400" dirty="0"/>
                  <a:t>：</a:t>
                </a:r>
                <a:endParaRPr lang="en-US" altLang="zh-CN" sz="2400" dirty="0"/>
              </a:p>
              <a:p>
                <a:r>
                  <a:rPr lang="zh-CN" altLang="en-US" sz="2400" dirty="0"/>
                  <a:t>当销售量小于最大需求量的一半，即</a:t>
                </a:r>
                <a14:m>
                  <m:oMath xmlns:m="http://schemas.openxmlformats.org/officeDocument/2006/math">
                    <m:r>
                      <m:rPr>
                        <m:sty m:val="p"/>
                      </m:rPr>
                      <a:rPr lang="en-US" altLang="zh-CN" sz="2400" b="0" i="0" smtClean="0">
                        <a:latin typeface="Cambria Math" panose="02040503050406030204" pitchFamily="18" charset="0"/>
                      </a:rPr>
                      <m:t>N</m:t>
                    </m:r>
                    <m:r>
                      <a:rPr lang="en-US" altLang="zh-CN" sz="2400" b="0" i="0" smtClean="0">
                        <a:latin typeface="Cambria Math" panose="02040503050406030204" pitchFamily="18" charset="0"/>
                      </a:rPr>
                      <m:t>&lt;</m:t>
                    </m:r>
                    <m:f>
                      <m:fPr>
                        <m:ctrlPr>
                          <a:rPr lang="en-US" altLang="zh-CN" sz="2400" i="1">
                            <a:latin typeface="Cambria Math" panose="02040503050406030204" pitchFamily="18" charset="0"/>
                          </a:rPr>
                        </m:ctrlPr>
                      </m:fPr>
                      <m:num>
                        <m:r>
                          <a:rPr lang="en-US" altLang="zh-CN" sz="2400" b="0" i="1" smtClean="0">
                            <a:latin typeface="Cambria Math" panose="02040503050406030204" pitchFamily="18" charset="0"/>
                          </a:rPr>
                          <m:t>𝐾</m:t>
                        </m:r>
                      </m:num>
                      <m:den>
                        <m:r>
                          <a:rPr lang="en-US" altLang="zh-CN" sz="2400" b="0" i="1" smtClean="0">
                            <a:latin typeface="Cambria Math" panose="02040503050406030204" pitchFamily="18" charset="0"/>
                          </a:rPr>
                          <m:t>2</m:t>
                        </m:r>
                      </m:den>
                    </m:f>
                  </m:oMath>
                </a14:m>
                <a:r>
                  <a:rPr lang="zh-CN" altLang="en-US" sz="2400" dirty="0"/>
                  <a:t>时，销售速度是逐渐增加的；当</a:t>
                </a:r>
                <a14:m>
                  <m:oMath xmlns:m="http://schemas.openxmlformats.org/officeDocument/2006/math">
                    <m:r>
                      <m:rPr>
                        <m:sty m:val="p"/>
                      </m:rPr>
                      <a:rPr lang="en-US" altLang="zh-CN" sz="2400">
                        <a:latin typeface="Cambria Math" panose="02040503050406030204" pitchFamily="18" charset="0"/>
                      </a:rPr>
                      <m:t>N</m:t>
                    </m:r>
                    <m:r>
                      <a:rPr lang="en-US" altLang="zh-CN" sz="2400" b="0" i="0" smtClean="0">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𝐾</m:t>
                        </m:r>
                      </m:num>
                      <m:den>
                        <m:r>
                          <a:rPr lang="en-US" altLang="zh-CN" sz="2400" i="1">
                            <a:latin typeface="Cambria Math" panose="02040503050406030204" pitchFamily="18" charset="0"/>
                          </a:rPr>
                          <m:t>2</m:t>
                        </m:r>
                      </m:den>
                    </m:f>
                  </m:oMath>
                </a14:m>
                <a:r>
                  <a:rPr lang="zh-CN" altLang="en-US" sz="2400" dirty="0"/>
                  <a:t> 时，新产品最为畅销；当</a:t>
                </a:r>
                <a14:m>
                  <m:oMath xmlns:m="http://schemas.openxmlformats.org/officeDocument/2006/math">
                    <m:r>
                      <m:rPr>
                        <m:sty m:val="p"/>
                      </m:rPr>
                      <a:rPr lang="en-US" altLang="zh-CN" sz="2400">
                        <a:latin typeface="Cambria Math" panose="02040503050406030204" pitchFamily="18" charset="0"/>
                      </a:rPr>
                      <m:t>N</m:t>
                    </m:r>
                    <m:r>
                      <a:rPr lang="en-US" altLang="zh-CN" sz="2400" b="0" i="0" smtClean="0">
                        <a:latin typeface="Cambria Math" panose="02040503050406030204" pitchFamily="18" charset="0"/>
                      </a:rPr>
                      <m:t>&gt;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𝐾</m:t>
                        </m:r>
                      </m:num>
                      <m:den>
                        <m:r>
                          <a:rPr lang="en-US" altLang="zh-CN" sz="2400" i="1">
                            <a:latin typeface="Cambria Math" panose="02040503050406030204" pitchFamily="18" charset="0"/>
                          </a:rPr>
                          <m:t>2</m:t>
                        </m:r>
                      </m:den>
                    </m:f>
                  </m:oMath>
                </a14:m>
                <a:r>
                  <a:rPr lang="zh-CN" altLang="en-US" sz="2400" dirty="0"/>
                  <a:t> 时销售速度逐渐减少。</a:t>
                </a:r>
              </a:p>
            </p:txBody>
          </p:sp>
        </mc:Choice>
        <mc:Fallback xmlns="">
          <p:sp>
            <p:nvSpPr>
              <p:cNvPr id="3" name="内容占位符 2"/>
              <p:cNvSpPr>
                <a:spLocks noGrp="1" noRot="1" noChangeAspect="1" noMove="1" noResize="1" noEditPoints="1" noAdjustHandles="1" noChangeArrowheads="1" noChangeShapeType="1" noTextEdit="1"/>
              </p:cNvSpPr>
              <p:nvPr>
                <p:ph sz="half" idx="1"/>
              </p:nvPr>
            </p:nvSpPr>
            <p:spPr>
              <a:xfrm>
                <a:off x="611560" y="2122512"/>
                <a:ext cx="4381128" cy="4114800"/>
              </a:xfrm>
              <a:blipFill>
                <a:blip r:embed="rId2"/>
                <a:stretch>
                  <a:fillRect l="-278" r="-1530" b="-237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25</a:t>
            </a:fld>
            <a:endParaRPr lang="en-US" altLang="zh-CN"/>
          </a:p>
        </p:txBody>
      </p:sp>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5384" y="2060848"/>
            <a:ext cx="4168615" cy="3810538"/>
          </a:xfrm>
          <a:prstGeom prst="rect">
            <a:avLst/>
          </a:prstGeom>
        </p:spPr>
      </p:pic>
      <p:sp>
        <p:nvSpPr>
          <p:cNvPr id="25" name="文本框 24"/>
          <p:cNvSpPr txBox="1"/>
          <p:nvPr/>
        </p:nvSpPr>
        <p:spPr>
          <a:xfrm>
            <a:off x="5148064" y="5949280"/>
            <a:ext cx="3795911" cy="830997"/>
          </a:xfrm>
          <a:prstGeom prst="rect">
            <a:avLst/>
          </a:prstGeom>
          <a:noFill/>
        </p:spPr>
        <p:txBody>
          <a:bodyPr wrap="square" rtlCol="0">
            <a:spAutoFit/>
          </a:bodyPr>
          <a:lstStyle/>
          <a:p>
            <a:r>
              <a:rPr lang="zh-CN" altLang="en-US" sz="2400" dirty="0">
                <a:latin typeface="Times New Roman" panose="02020603050405020304" pitchFamily="18" charset="0"/>
                <a:ea typeface="+mn-ea"/>
                <a:cs typeface="Times New Roman" panose="02020603050405020304" pitchFamily="18" charset="0"/>
              </a:rPr>
              <a:t>产品的生命周期，简记为</a:t>
            </a:r>
            <a:r>
              <a:rPr lang="en-US" altLang="zh-CN" sz="2400" dirty="0">
                <a:latin typeface="Times New Roman" panose="02020603050405020304" pitchFamily="18" charset="0"/>
                <a:ea typeface="+mn-ea"/>
                <a:cs typeface="Times New Roman" panose="02020603050405020304" pitchFamily="18" charset="0"/>
              </a:rPr>
              <a:t>PLC(Product Life Cycle)</a:t>
            </a:r>
            <a:endParaRPr lang="zh-CN" altLang="en-US" sz="2400" dirty="0">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04921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zh-CN" dirty="0"/>
              <a:t>新产品销售的</a:t>
            </a:r>
            <a:r>
              <a:rPr lang="en-US" altLang="zh-CN" dirty="0"/>
              <a:t>Bass</a:t>
            </a:r>
            <a:r>
              <a:rPr lang="zh-CN" altLang="zh-CN" dirty="0"/>
              <a:t>模型</a:t>
            </a:r>
            <a:endParaRPr lang="zh-CN" altLang="en-US" dirty="0"/>
          </a:p>
        </p:txBody>
      </p:sp>
      <p:sp>
        <p:nvSpPr>
          <p:cNvPr id="3" name="内容占位符 2"/>
          <p:cNvSpPr>
            <a:spLocks noGrp="1"/>
          </p:cNvSpPr>
          <p:nvPr>
            <p:ph idx="1"/>
          </p:nvPr>
        </p:nvSpPr>
        <p:spPr>
          <a:xfrm>
            <a:off x="683568" y="2017713"/>
            <a:ext cx="8271520" cy="4114800"/>
          </a:xfrm>
        </p:spPr>
        <p:txBody>
          <a:bodyPr/>
          <a:lstStyle/>
          <a:p>
            <a:r>
              <a:rPr lang="en-US" altLang="zh-CN" sz="2400" dirty="0"/>
              <a:t>Logistic</a:t>
            </a:r>
            <a:r>
              <a:rPr lang="zh-CN" altLang="zh-CN" sz="2400" dirty="0"/>
              <a:t>模型有时与实际不符</a:t>
            </a:r>
            <a:r>
              <a:rPr lang="zh-CN" altLang="en-US" sz="2400" dirty="0"/>
              <a:t>；</a:t>
            </a:r>
            <a:endParaRPr lang="en-US" altLang="zh-CN" sz="2400" dirty="0"/>
          </a:p>
          <a:p>
            <a:r>
              <a:rPr lang="en-US" altLang="zh-CN" sz="2400" dirty="0"/>
              <a:t>Bass</a:t>
            </a:r>
            <a:r>
              <a:rPr lang="zh-CN" altLang="zh-CN" sz="2400" dirty="0"/>
              <a:t>模型认为新产品进入市场后的扩散过程</a:t>
            </a:r>
            <a:r>
              <a:rPr lang="zh-CN" altLang="zh-CN" sz="2400" b="1" dirty="0">
                <a:solidFill>
                  <a:srgbClr val="FF0000"/>
                </a:solidFill>
              </a:rPr>
              <a:t>类似于传染病的扩散过程</a:t>
            </a:r>
            <a:r>
              <a:rPr lang="zh-CN" altLang="zh-CN" sz="2400" dirty="0"/>
              <a:t>，他以传染病模式为基础导出了一个微分方程模型，用以估计多种耐用消费品的销售量</a:t>
            </a:r>
            <a:r>
              <a:rPr lang="zh-CN" altLang="en-US" sz="2400" dirty="0"/>
              <a:t>。</a:t>
            </a:r>
            <a:endParaRPr lang="en-US" altLang="zh-CN" sz="2400" dirty="0"/>
          </a:p>
          <a:p>
            <a:r>
              <a:rPr lang="en-US" altLang="zh-CN" sz="2400" dirty="0"/>
              <a:t>Bass</a:t>
            </a:r>
            <a:r>
              <a:rPr lang="zh-CN" altLang="zh-CN" sz="2400" dirty="0"/>
              <a:t>认为一个新产品进入市场，其有关信息的传播一般有两个途径：</a:t>
            </a:r>
            <a:r>
              <a:rPr lang="zh-CN" altLang="zh-CN" sz="2400" b="1" dirty="0">
                <a:solidFill>
                  <a:srgbClr val="FF0000"/>
                </a:solidFill>
              </a:rPr>
              <a:t>一是一部分人购买后经过使用</a:t>
            </a:r>
            <a:r>
              <a:rPr lang="zh-CN" altLang="zh-CN" sz="2400" dirty="0"/>
              <a:t>而对产品有所评价并传播开来，在早期购买者周围的人们就得到了新产品的信息；二是经营者或者是厂家通过</a:t>
            </a:r>
            <a:r>
              <a:rPr lang="zh-CN" altLang="zh-CN" sz="2400" b="1" dirty="0">
                <a:solidFill>
                  <a:srgbClr val="FF0000"/>
                </a:solidFill>
              </a:rPr>
              <a:t>大量的宣传工具</a:t>
            </a:r>
            <a:r>
              <a:rPr lang="zh-CN" altLang="zh-CN" sz="2400" dirty="0"/>
              <a:t>如报纸、网络、电视媒体等广告宣传</a:t>
            </a:r>
            <a:r>
              <a:rPr lang="zh-CN" altLang="en-US" sz="2400" dirty="0"/>
              <a:t>。</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26</a:t>
            </a:fld>
            <a:endParaRPr lang="en-US" altLang="zh-CN"/>
          </a:p>
        </p:txBody>
      </p:sp>
    </p:spTree>
    <p:extLst>
      <p:ext uri="{BB962C8B-B14F-4D97-AF65-F5344CB8AC3E}">
        <p14:creationId xmlns:p14="http://schemas.microsoft.com/office/powerpoint/2010/main" val="3887759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600" y="2017713"/>
                <a:ext cx="7983488" cy="4114800"/>
              </a:xfrm>
            </p:spPr>
            <p:txBody>
              <a:bodyPr/>
              <a:lstStyle/>
              <a:p>
                <a:r>
                  <a:rPr lang="zh-CN" altLang="en-US" sz="2400" dirty="0"/>
                  <a:t>第一种途径就是</a:t>
                </a:r>
                <a:r>
                  <a:rPr lang="en-US" altLang="zh-CN" sz="2400" dirty="0"/>
                  <a:t>logistic</a:t>
                </a:r>
                <a:r>
                  <a:rPr lang="zh-CN" altLang="en-US" sz="2400" dirty="0"/>
                  <a:t>模型，</a:t>
                </a:r>
                <a:r>
                  <a:rPr lang="zh-CN" altLang="zh-CN" sz="2400" dirty="0"/>
                  <a:t>来自消费者内部传播新产品信息导致购买者人数的增量为</a:t>
                </a:r>
                <a14:m>
                  <m:oMath xmlns:m="http://schemas.openxmlformats.org/officeDocument/2006/math">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r</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𝑁</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num>
                          <m:den>
                            <m:r>
                              <a:rPr lang="en-US" altLang="zh-CN" sz="2400" b="0" i="1" smtClean="0">
                                <a:latin typeface="Cambria Math" panose="02040503050406030204" pitchFamily="18" charset="0"/>
                              </a:rPr>
                              <m:t>𝐾</m:t>
                            </m:r>
                          </m:den>
                        </m:f>
                      </m:e>
                    </m:d>
                    <m:r>
                      <a:rPr lang="en-US" altLang="zh-CN" sz="2400" b="0" i="1" smtClean="0">
                        <a:latin typeface="Cambria Math" panose="02040503050406030204" pitchFamily="18" charset="0"/>
                      </a:rPr>
                      <m:t>𝑁</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𝑡</m:t>
                    </m:r>
                  </m:oMath>
                </a14:m>
                <a:r>
                  <a:rPr lang="en-US" altLang="zh-CN" sz="2400" dirty="0"/>
                  <a:t>, </a:t>
                </a:r>
                <a14:m>
                  <m:oMath xmlns:m="http://schemas.openxmlformats.org/officeDocument/2006/math">
                    <m:r>
                      <a:rPr lang="en-US" altLang="zh-CN" sz="2400" b="0" i="1" smtClean="0">
                        <a:latin typeface="Cambria Math" panose="02040503050406030204" pitchFamily="18" charset="0"/>
                      </a:rPr>
                      <m:t>𝑟</m:t>
                    </m:r>
                  </m:oMath>
                </a14:m>
                <a:r>
                  <a:rPr lang="zh-CN" altLang="en-US" sz="2400" dirty="0"/>
                  <a:t>是第一种途径下购买新产品人数的净增长率。</a:t>
                </a:r>
                <a:endParaRPr lang="en-US" altLang="zh-CN" sz="2400" dirty="0"/>
              </a:p>
              <a:p>
                <a:r>
                  <a:rPr lang="zh-CN" altLang="en-US" sz="2400" dirty="0"/>
                  <a:t>第二种途径，</a:t>
                </a:r>
                <a:r>
                  <a:rPr lang="zh-CN" altLang="zh-CN" sz="2400" dirty="0"/>
                  <a:t>来自消费者外部的有关新产品的信息导致购买人数的增量的因素考虑进去，则通过宣传工具促使潜在的消费者可能购买的人数与完全不知道这种新产品的潜在消费者成正比，即宣传工具导致购买者人数的增量为：</a:t>
                </a:r>
                <a:r>
                  <a:rPr lang="en-US" altLang="zh-CN" sz="2400" dirty="0"/>
                  <a:t> </a:t>
                </a:r>
                <a14:m>
                  <m:oMath xmlns:m="http://schemas.openxmlformats.org/officeDocument/2006/math">
                    <m:r>
                      <m:rPr>
                        <m:sty m:val="p"/>
                      </m:rPr>
                      <a:rPr lang="el-GR" altLang="zh-CN" sz="2400" i="1" smtClean="0">
                        <a:latin typeface="Cambria Math" panose="02040503050406030204" pitchFamily="18" charset="0"/>
                        <a:ea typeface="Cambria Math" panose="02040503050406030204" pitchFamily="18" charset="0"/>
                      </a:rPr>
                      <m:t>μ</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1−</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𝑁</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𝑡</m:t>
                                </m:r>
                              </m:e>
                            </m:d>
                          </m:num>
                          <m:den>
                            <m:r>
                              <a:rPr lang="en-US" altLang="zh-CN" sz="2400" i="1">
                                <a:latin typeface="Cambria Math" panose="02040503050406030204" pitchFamily="18" charset="0"/>
                              </a:rPr>
                              <m:t>𝐾</m:t>
                            </m:r>
                          </m:den>
                        </m:f>
                      </m:e>
                    </m:d>
                    <m:r>
                      <a:rPr lang="en-US" altLang="zh-CN" sz="2400" i="1">
                        <a:latin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𝑡</m:t>
                    </m:r>
                  </m:oMath>
                </a14:m>
                <a:r>
                  <a:rPr lang="en-US" altLang="zh-CN" sz="2400" dirty="0"/>
                  <a:t>, </a:t>
                </a:r>
                <a14:m>
                  <m:oMath xmlns:m="http://schemas.openxmlformats.org/officeDocument/2006/math">
                    <m:r>
                      <a:rPr lang="zh-CN" altLang="en-US" sz="2400" i="1" smtClean="0">
                        <a:latin typeface="Cambria Math" panose="02040503050406030204" pitchFamily="18" charset="0"/>
                      </a:rPr>
                      <m:t>𝜇</m:t>
                    </m:r>
                  </m:oMath>
                </a14:m>
                <a:r>
                  <a:rPr lang="zh-CN" altLang="en-US" sz="2400" dirty="0"/>
                  <a:t>是第二种途径下购买新产品人数的净增长率。</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600" y="2017713"/>
                <a:ext cx="7983488" cy="4114800"/>
              </a:xfrm>
              <a:blipFill>
                <a:blip r:embed="rId2"/>
                <a:stretch>
                  <a:fillRect l="-153" t="-148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27</a:t>
            </a:fld>
            <a:endParaRPr lang="en-US" altLang="zh-CN"/>
          </a:p>
        </p:txBody>
      </p:sp>
    </p:spTree>
    <p:extLst>
      <p:ext uri="{BB962C8B-B14F-4D97-AF65-F5344CB8AC3E}">
        <p14:creationId xmlns:p14="http://schemas.microsoft.com/office/powerpoint/2010/main" val="85231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在时间段</a:t>
                </a:r>
                <a14:m>
                  <m:oMath xmlns:m="http://schemas.openxmlformats.org/officeDocument/2006/math">
                    <m:r>
                      <a:rPr lang="zh-CN" altLang="en-US" i="1" smtClean="0">
                        <a:latin typeface="Cambria Math" panose="02040503050406030204" pitchFamily="18" charset="0"/>
                      </a:rPr>
                      <m:t>∆</m:t>
                    </m:r>
                    <m:r>
                      <a:rPr lang="en-US" altLang="zh-CN" b="0" i="1" smtClean="0">
                        <a:latin typeface="Cambria Math" panose="02040503050406030204" pitchFamily="18" charset="0"/>
                      </a:rPr>
                      <m:t>𝑡</m:t>
                    </m:r>
                  </m:oMath>
                </a14:m>
                <a:r>
                  <a:rPr lang="zh-CN" altLang="en-US" dirty="0"/>
                  <a:t> 内，购买人数的增量为前面两种途径带来增量的总和。从而可得</a:t>
                </a:r>
                <a:r>
                  <a:rPr lang="en-US" altLang="zh-CN" dirty="0"/>
                  <a:t>Bass</a:t>
                </a:r>
                <a:r>
                  <a:rPr lang="zh-CN" altLang="en-US" dirty="0"/>
                  <a:t>模型的方程</a:t>
                </a:r>
                <a:r>
                  <a:rPr lang="en-US" altLang="zh-CN" dirty="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49" t="-237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28</a:t>
            </a:fld>
            <a:endParaRPr lang="en-US" altLang="zh-CN"/>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076" y="3717032"/>
            <a:ext cx="8125045" cy="1656184"/>
          </a:xfrm>
          <a:prstGeom prst="rect">
            <a:avLst/>
          </a:prstGeom>
        </p:spPr>
      </p:pic>
    </p:spTree>
    <p:extLst>
      <p:ext uri="{BB962C8B-B14F-4D97-AF65-F5344CB8AC3E}">
        <p14:creationId xmlns:p14="http://schemas.microsoft.com/office/powerpoint/2010/main" val="2835858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539552" y="2132856"/>
            <a:ext cx="8276456" cy="4435623"/>
          </a:xfrm>
        </p:spPr>
        <p:txBody>
          <a:bodyPr/>
          <a:lstStyle/>
          <a:p>
            <a:r>
              <a:rPr lang="en-US" altLang="zh-CN" sz="2400" dirty="0"/>
              <a:t>Bass</a:t>
            </a:r>
            <a:r>
              <a:rPr lang="zh-CN" altLang="zh-CN" sz="2400" dirty="0"/>
              <a:t>模型给出了同一消费者总体中产品信息的两种不同的传播渠道。人们接收</a:t>
            </a:r>
            <a:r>
              <a:rPr lang="en-US" altLang="zh-CN" sz="2400" dirty="0"/>
              <a:t>Bass</a:t>
            </a:r>
            <a:r>
              <a:rPr lang="zh-CN" altLang="zh-CN" sz="2400" dirty="0"/>
              <a:t>提出的信息传播的两种途径</a:t>
            </a:r>
            <a:r>
              <a:rPr lang="zh-CN" altLang="en-US" sz="2400" dirty="0"/>
              <a:t>。</a:t>
            </a:r>
            <a:endParaRPr lang="en-US" altLang="zh-CN" sz="2400" dirty="0"/>
          </a:p>
          <a:p>
            <a:r>
              <a:rPr lang="zh-CN" altLang="zh-CN" sz="2400" dirty="0"/>
              <a:t>但是</a:t>
            </a:r>
            <a:r>
              <a:rPr lang="en-US" altLang="zh-CN" sz="2400" dirty="0"/>
              <a:t>Bass</a:t>
            </a:r>
            <a:r>
              <a:rPr lang="zh-CN" altLang="zh-CN" sz="2400" dirty="0"/>
              <a:t>模型的销售增长曲线与生命周期曲线和</a:t>
            </a:r>
            <a:r>
              <a:rPr lang="en-US" altLang="zh-CN" sz="2400" dirty="0"/>
              <a:t>Logistic </a:t>
            </a:r>
            <a:r>
              <a:rPr lang="zh-CN" altLang="zh-CN" sz="2400" dirty="0"/>
              <a:t>模型相似，模型中看不到他分析的两类不同消费者在市场中表现出的不同消费行为，然而恰恰是消费者的行为决定了新产品的推广模式。</a:t>
            </a:r>
            <a:endParaRPr lang="en-US" altLang="zh-CN" sz="2400" dirty="0"/>
          </a:p>
          <a:p>
            <a:r>
              <a:rPr lang="zh-CN" altLang="zh-CN" sz="2400" dirty="0"/>
              <a:t>对于新型耐用消费品，可以观察到，有时生命曲线在销售开始阶段有一个销售高峰，经过一段时间的</a:t>
            </a:r>
            <a:r>
              <a:rPr lang="zh-CN" altLang="en-US" sz="2400" dirty="0"/>
              <a:t>持平</a:t>
            </a:r>
            <a:r>
              <a:rPr lang="zh-CN" altLang="zh-CN" sz="2400" dirty="0"/>
              <a:t>或者下降，产品的销售再次进入销售上升阶段达到销售高峰，从而出现双峰的</a:t>
            </a:r>
            <a:r>
              <a:rPr lang="en-US" altLang="zh-CN" sz="2400" dirty="0"/>
              <a:t>PLC</a:t>
            </a:r>
            <a:r>
              <a:rPr lang="zh-CN" altLang="zh-CN" sz="2400" dirty="0"/>
              <a:t>曲线。</a:t>
            </a:r>
            <a:endParaRPr lang="zh-CN" altLang="en-US" sz="2400"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29</a:t>
            </a:fld>
            <a:endParaRPr lang="en-US" altLang="zh-CN"/>
          </a:p>
        </p:txBody>
      </p:sp>
    </p:spTree>
    <p:extLst>
      <p:ext uri="{BB962C8B-B14F-4D97-AF65-F5344CB8AC3E}">
        <p14:creationId xmlns:p14="http://schemas.microsoft.com/office/powerpoint/2010/main" val="33120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latin typeface="Times New Roman" panose="02020603050405020304" pitchFamily="18" charset="0"/>
                <a:cs typeface="Times New Roman" panose="02020603050405020304" pitchFamily="18" charset="0"/>
              </a:rPr>
              <a:t>4. </a:t>
            </a:r>
            <a:r>
              <a:rPr lang="zh-CN" altLang="zh-CN" sz="3600" dirty="0">
                <a:latin typeface="Times New Roman" panose="02020603050405020304" pitchFamily="18" charset="0"/>
                <a:cs typeface="Times New Roman" panose="02020603050405020304" pitchFamily="18" charset="0"/>
              </a:rPr>
              <a:t>新产品销售的</a:t>
            </a:r>
            <a:r>
              <a:rPr lang="en-US" altLang="zh-CN" sz="3600" dirty="0">
                <a:latin typeface="Times New Roman" panose="02020603050405020304" pitchFamily="18" charset="0"/>
                <a:cs typeface="Times New Roman" panose="02020603050405020304" pitchFamily="18" charset="0"/>
              </a:rPr>
              <a:t>Steffens-Murthy</a:t>
            </a:r>
            <a:r>
              <a:rPr lang="zh-CN" altLang="zh-CN" sz="3600" dirty="0">
                <a:latin typeface="Times New Roman" panose="02020603050405020304" pitchFamily="18" charset="0"/>
                <a:cs typeface="Times New Roman" panose="02020603050405020304" pitchFamily="18" charset="0"/>
              </a:rPr>
              <a:t>模型</a:t>
            </a:r>
            <a:endParaRPr lang="zh-CN" altLang="en-US" sz="3600"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827584" y="2017713"/>
            <a:ext cx="7772400" cy="4114800"/>
          </a:xfrm>
        </p:spPr>
        <p:txBody>
          <a:bodyPr/>
          <a:lstStyle/>
          <a:p>
            <a:r>
              <a:rPr lang="en-US" altLang="zh-CN" dirty="0"/>
              <a:t>P. R. Steffens</a:t>
            </a:r>
            <a:r>
              <a:rPr lang="zh-CN" altLang="zh-CN" dirty="0"/>
              <a:t>和</a:t>
            </a:r>
            <a:r>
              <a:rPr lang="en-US" altLang="zh-CN" dirty="0"/>
              <a:t>D. N. P. Murthy</a:t>
            </a:r>
            <a:r>
              <a:rPr lang="zh-CN" altLang="zh-CN" dirty="0"/>
              <a:t>针对</a:t>
            </a:r>
            <a:r>
              <a:rPr lang="en-US" altLang="zh-CN" dirty="0"/>
              <a:t>Bass</a:t>
            </a:r>
            <a:r>
              <a:rPr lang="zh-CN" altLang="zh-CN" dirty="0"/>
              <a:t>模型存在的缺点，以</a:t>
            </a:r>
            <a:r>
              <a:rPr lang="zh-CN" altLang="zh-CN" b="1" dirty="0">
                <a:solidFill>
                  <a:srgbClr val="FF0000"/>
                </a:solidFill>
              </a:rPr>
              <a:t>革新者和模仿者</a:t>
            </a:r>
            <a:r>
              <a:rPr lang="zh-CN" altLang="zh-CN" dirty="0"/>
              <a:t>在市场中表现出的不同消费行为为依据建立了新的产品销售模型。</a:t>
            </a:r>
            <a:endParaRPr lang="en-US" altLang="zh-CN" dirty="0"/>
          </a:p>
          <a:p>
            <a:r>
              <a:rPr lang="en-US" altLang="zh-CN" dirty="0"/>
              <a:t>Steffens-Murthy</a:t>
            </a:r>
            <a:r>
              <a:rPr lang="zh-CN" altLang="zh-CN" dirty="0"/>
              <a:t>模型的</a:t>
            </a:r>
            <a:r>
              <a:rPr lang="en-US" altLang="zh-CN" dirty="0"/>
              <a:t>PLC</a:t>
            </a:r>
            <a:r>
              <a:rPr lang="zh-CN" altLang="zh-CN" dirty="0"/>
              <a:t>曲线</a:t>
            </a:r>
            <a:r>
              <a:rPr lang="zh-CN" altLang="zh-CN" b="1" dirty="0">
                <a:solidFill>
                  <a:srgbClr val="FF0000"/>
                </a:solidFill>
              </a:rPr>
              <a:t>不仅</a:t>
            </a:r>
            <a:r>
              <a:rPr lang="zh-CN" altLang="zh-CN" dirty="0"/>
              <a:t>能出现</a:t>
            </a:r>
            <a:r>
              <a:rPr lang="zh-CN" altLang="zh-CN" b="1" dirty="0">
                <a:solidFill>
                  <a:srgbClr val="FF0000"/>
                </a:solidFill>
              </a:rPr>
              <a:t>只有一次销售高峰</a:t>
            </a:r>
            <a:r>
              <a:rPr lang="zh-CN" altLang="zh-CN" dirty="0"/>
              <a:t>，同时也适用于</a:t>
            </a:r>
            <a:r>
              <a:rPr lang="zh-CN" altLang="zh-CN" b="1" dirty="0">
                <a:solidFill>
                  <a:srgbClr val="FF0000"/>
                </a:solidFill>
              </a:rPr>
              <a:t>双峰</a:t>
            </a:r>
            <a:r>
              <a:rPr lang="zh-CN" altLang="zh-CN" dirty="0"/>
              <a:t>的情形。</a:t>
            </a:r>
            <a:endParaRPr lang="zh-CN" altLang="en-US" dirty="0"/>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30</a:t>
            </a:fld>
            <a:endParaRPr lang="en-US" altLang="zh-CN"/>
          </a:p>
        </p:txBody>
      </p:sp>
    </p:spTree>
    <p:extLst>
      <p:ext uri="{BB962C8B-B14F-4D97-AF65-F5344CB8AC3E}">
        <p14:creationId xmlns:p14="http://schemas.microsoft.com/office/powerpoint/2010/main" val="1532204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模型的假设：</a:t>
            </a:r>
            <a:endParaRPr lang="zh-CN" altLang="en-US" dirty="0"/>
          </a:p>
        </p:txBody>
      </p:sp>
      <p:sp>
        <p:nvSpPr>
          <p:cNvPr id="3" name="内容占位符 2"/>
          <p:cNvSpPr>
            <a:spLocks noGrp="1"/>
          </p:cNvSpPr>
          <p:nvPr>
            <p:ph idx="1"/>
          </p:nvPr>
        </p:nvSpPr>
        <p:spPr>
          <a:xfrm>
            <a:off x="539552" y="2102065"/>
            <a:ext cx="8280920" cy="4114800"/>
          </a:xfrm>
        </p:spPr>
        <p:txBody>
          <a:bodyPr/>
          <a:lstStyle/>
          <a:p>
            <a:r>
              <a:rPr lang="zh-CN" altLang="en-US" sz="2600" dirty="0"/>
              <a:t>第一、</a:t>
            </a:r>
            <a:r>
              <a:rPr lang="zh-CN" altLang="zh-CN" sz="2600" dirty="0"/>
              <a:t>有关新产品信息可以分为两类：</a:t>
            </a:r>
            <a:r>
              <a:rPr lang="zh-CN" altLang="zh-CN" sz="2600" b="1" dirty="0">
                <a:solidFill>
                  <a:srgbClr val="FF0000"/>
                </a:solidFill>
              </a:rPr>
              <a:t>搜寻型信息和体验型信息</a:t>
            </a:r>
            <a:r>
              <a:rPr lang="zh-CN" altLang="zh-CN" sz="2600" dirty="0"/>
              <a:t>，搜寻型信息是指人们从广告、媒体、光顾商店业以及从新产品的说明书了解和获得的信息，体验型信息是指消费者购买产品使用产品得到的对产品的认识信息。</a:t>
            </a:r>
          </a:p>
          <a:p>
            <a:r>
              <a:rPr lang="zh-CN" altLang="en-US" sz="2600" dirty="0"/>
              <a:t>第二、</a:t>
            </a:r>
            <a:r>
              <a:rPr lang="zh-CN" altLang="zh-CN" sz="2600" dirty="0"/>
              <a:t>消费者总体按照他们在决定采用新产品之前所需的信息分成两部分，第一部分是消费者有了产品的搜寻型信息就决定购买，称为</a:t>
            </a:r>
            <a:r>
              <a:rPr lang="zh-CN" altLang="zh-CN" sz="2600" b="1" dirty="0">
                <a:solidFill>
                  <a:srgbClr val="FF0000"/>
                </a:solidFill>
              </a:rPr>
              <a:t>革新者</a:t>
            </a:r>
            <a:r>
              <a:rPr lang="zh-CN" altLang="zh-CN" sz="2600" dirty="0"/>
              <a:t>；第二部分是消费者得到了产品的体验型信息后才决定购买，称为</a:t>
            </a:r>
            <a:r>
              <a:rPr lang="zh-CN" altLang="zh-CN" sz="2600" b="1" dirty="0">
                <a:solidFill>
                  <a:srgbClr val="FF0000"/>
                </a:solidFill>
              </a:rPr>
              <a:t>模仿者</a:t>
            </a:r>
            <a:r>
              <a:rPr lang="zh-CN" altLang="zh-CN" sz="2600" dirty="0"/>
              <a:t>。</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31</a:t>
            </a:fld>
            <a:endParaRPr lang="en-US" altLang="zh-CN"/>
          </a:p>
        </p:txBody>
      </p:sp>
    </p:spTree>
    <p:extLst>
      <p:ext uri="{BB962C8B-B14F-4D97-AF65-F5344CB8AC3E}">
        <p14:creationId xmlns:p14="http://schemas.microsoft.com/office/powerpoint/2010/main" val="1502615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55576" y="1844824"/>
                <a:ext cx="8060432" cy="4470822"/>
              </a:xfrm>
            </p:spPr>
            <p:txBody>
              <a:bodyPr/>
              <a:lstStyle/>
              <a:p>
                <a:pPr>
                  <a:lnSpc>
                    <a:spcPct val="150000"/>
                  </a:lnSpc>
                </a:pPr>
                <a:r>
                  <a:rPr lang="zh-CN" altLang="en-US" dirty="0"/>
                  <a:t>第三、消费者总体人数为</a:t>
                </a:r>
                <a14:m>
                  <m:oMath xmlns:m="http://schemas.openxmlformats.org/officeDocument/2006/math">
                    <m:r>
                      <a:rPr lang="en-US" altLang="zh-CN" b="0" i="1" smtClean="0">
                        <a:latin typeface="Cambria Math" panose="02040503050406030204" pitchFamily="18" charset="0"/>
                      </a:rPr>
                      <m:t>𝐾</m:t>
                    </m:r>
                  </m:oMath>
                </a14:m>
                <a:r>
                  <a:rPr lang="zh-CN" altLang="en-US" dirty="0"/>
                  <a:t> ，</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smtClean="0">
                            <a:latin typeface="Cambria Math" panose="02040503050406030204" pitchFamily="18" charset="0"/>
                          </a:rPr>
                          <m:t>𝛼</m:t>
                        </m:r>
                      </m:e>
                      <m:sub>
                        <m:r>
                          <a:rPr lang="en-US" altLang="zh-CN" b="0" i="1" dirty="0" smtClean="0">
                            <a:latin typeface="Cambria Math" panose="02040503050406030204" pitchFamily="18" charset="0"/>
                          </a:rPr>
                          <m:t>1</m:t>
                        </m:r>
                      </m:sub>
                    </m:sSub>
                  </m:oMath>
                </a14:m>
                <a:r>
                  <a:rPr lang="zh-CN" altLang="en-US" dirty="0"/>
                  <a:t> 和</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𝛼</m:t>
                        </m:r>
                      </m:e>
                      <m:sub>
                        <m:r>
                          <a:rPr lang="en-US" altLang="zh-CN" b="0" i="1" dirty="0" smtClean="0">
                            <a:latin typeface="Cambria Math" panose="02040503050406030204" pitchFamily="18" charset="0"/>
                          </a:rPr>
                          <m:t>2</m:t>
                        </m:r>
                      </m:sub>
                    </m:sSub>
                  </m:oMath>
                </a14:m>
                <a:r>
                  <a:rPr lang="zh-CN" altLang="en-US" dirty="0"/>
                  <a:t>分别为革新者和模仿者的比例系数，则革新者的总人数</a:t>
                </a:r>
                <a14:m>
                  <m:oMath xmlns:m="http://schemas.openxmlformats.org/officeDocument/2006/math">
                    <m:sSub>
                      <m:sSubPr>
                        <m:ctrlPr>
                          <a:rPr lang="en-US" altLang="zh-CN" i="1" dirty="0">
                            <a:latin typeface="Cambria Math" panose="02040503050406030204" pitchFamily="18" charset="0"/>
                          </a:rPr>
                        </m:ctrlPr>
                      </m:sSubPr>
                      <m:e>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𝐾</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r>
                          <a:rPr lang="zh-CN" altLang="en-US" i="1" dirty="0">
                            <a:latin typeface="Cambria Math" panose="02040503050406030204" pitchFamily="18" charset="0"/>
                          </a:rPr>
                          <m:t>𝛼</m:t>
                        </m:r>
                      </m:e>
                      <m:sub>
                        <m:r>
                          <a:rPr lang="en-US" altLang="zh-CN" i="1" dirty="0">
                            <a:latin typeface="Cambria Math" panose="02040503050406030204" pitchFamily="18" charset="0"/>
                          </a:rPr>
                          <m:t>1</m:t>
                        </m:r>
                      </m:sub>
                    </m:sSub>
                    <m:r>
                      <a:rPr lang="en-US" altLang="zh-CN" b="0" i="1" dirty="0" smtClean="0">
                        <a:latin typeface="Cambria Math" panose="02040503050406030204" pitchFamily="18" charset="0"/>
                      </a:rPr>
                      <m:t>𝐾</m:t>
                    </m:r>
                  </m:oMath>
                </a14:m>
                <a:r>
                  <a:rPr lang="zh-CN" altLang="en-US" dirty="0"/>
                  <a:t> ，模仿者的总人数</a:t>
                </a:r>
                <a14:m>
                  <m:oMath xmlns:m="http://schemas.openxmlformats.org/officeDocument/2006/math">
                    <m:sSub>
                      <m:sSubPr>
                        <m:ctrlPr>
                          <a:rPr lang="en-US" altLang="zh-CN" i="1" dirty="0">
                            <a:latin typeface="Cambria Math" panose="02040503050406030204" pitchFamily="18" charset="0"/>
                          </a:rPr>
                        </m:ctrlPr>
                      </m:sSub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𝐾</m:t>
                            </m:r>
                          </m:e>
                          <m:sub>
                            <m:r>
                              <a:rPr lang="en-US" altLang="zh-CN" b="0" i="1" dirty="0" smtClean="0">
                                <a:latin typeface="Cambria Math" panose="02040503050406030204" pitchFamily="18" charset="0"/>
                              </a:rPr>
                              <m:t>2</m:t>
                            </m:r>
                          </m:sub>
                        </m:sSub>
                        <m:r>
                          <a:rPr lang="en-US" altLang="zh-CN" i="1" dirty="0">
                            <a:latin typeface="Cambria Math" panose="02040503050406030204" pitchFamily="18" charset="0"/>
                          </a:rPr>
                          <m:t>=</m:t>
                        </m:r>
                        <m:r>
                          <a:rPr lang="zh-CN" altLang="en-US" i="1" dirty="0">
                            <a:latin typeface="Cambria Math" panose="02040503050406030204" pitchFamily="18" charset="0"/>
                          </a:rPr>
                          <m:t>𝛼</m:t>
                        </m:r>
                      </m:e>
                      <m:sub>
                        <m:r>
                          <a:rPr lang="en-US" altLang="zh-CN" b="0" i="1" dirty="0" smtClean="0">
                            <a:latin typeface="Cambria Math" panose="02040503050406030204" pitchFamily="18" charset="0"/>
                          </a:rPr>
                          <m:t>2</m:t>
                        </m:r>
                      </m:sub>
                    </m:sSub>
                    <m:r>
                      <a:rPr lang="en-US" altLang="zh-CN" i="1" dirty="0">
                        <a:latin typeface="Cambria Math" panose="02040503050406030204" pitchFamily="18" charset="0"/>
                      </a:rPr>
                      <m:t>𝐾</m:t>
                    </m:r>
                  </m:oMath>
                </a14:m>
                <a:r>
                  <a:rPr lang="zh-CN" altLang="en-US" dirty="0"/>
                  <a:t>  ，</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𝛼</m:t>
                        </m:r>
                      </m:e>
                      <m:sub>
                        <m:r>
                          <a:rPr lang="en-US" altLang="zh-CN" i="1" dirty="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zh-CN" altLang="en-US" b="0" i="1" dirty="0" smtClean="0">
                            <a:latin typeface="Cambria Math" panose="02040503050406030204" pitchFamily="18" charset="0"/>
                          </a:rPr>
                          <m:t>𝛼</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ea typeface="Cambria Math" panose="02040503050406030204" pitchFamily="18" charset="0"/>
                      </a:rPr>
                      <m:t>≤1</m:t>
                    </m:r>
                  </m:oMath>
                </a14:m>
                <a:r>
                  <a:rPr lang="zh-CN" altLang="en-US" dirty="0"/>
                  <a:t>  。</a:t>
                </a:r>
              </a:p>
              <a:p>
                <a:pPr>
                  <a:lnSpc>
                    <a:spcPct val="150000"/>
                  </a:lnSpc>
                </a:pPr>
                <a:r>
                  <a:rPr lang="zh-CN" altLang="en-US" dirty="0"/>
                  <a:t>第四、革新者和模仿者对搜寻型信息的传播速度是一致的。</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55576" y="1844824"/>
                <a:ext cx="8060432" cy="4470822"/>
              </a:xfrm>
              <a:blipFill>
                <a:blip r:embed="rId2"/>
                <a:stretch>
                  <a:fillRect l="-605" r="-1589" b="-436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32</a:t>
            </a:fld>
            <a:endParaRPr lang="en-US" altLang="zh-CN"/>
          </a:p>
        </p:txBody>
      </p:sp>
    </p:spTree>
    <p:extLst>
      <p:ext uri="{BB962C8B-B14F-4D97-AF65-F5344CB8AC3E}">
        <p14:creationId xmlns:p14="http://schemas.microsoft.com/office/powerpoint/2010/main" val="46265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搜寻型信息传播的模型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7583" y="2017713"/>
                <a:ext cx="8021691" cy="4114800"/>
              </a:xfrm>
            </p:spPr>
            <p:txBody>
              <a:bodyPr/>
              <a:lstStyle/>
              <a:p>
                <a:r>
                  <a:rPr lang="zh-CN" altLang="en-US" sz="2400" dirty="0"/>
                  <a:t>设</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𝑁</m:t>
                        </m:r>
                      </m:e>
                      <m:sub>
                        <m:r>
                          <a:rPr lang="en-US" altLang="zh-CN" sz="2400" b="0" i="1" smtClean="0">
                            <a:latin typeface="Cambria Math" panose="02040503050406030204" pitchFamily="18" charset="0"/>
                          </a:rPr>
                          <m:t>1</m:t>
                        </m:r>
                      </m:sub>
                    </m:sSub>
                    <m:r>
                      <a:rPr lang="en-US" altLang="zh-CN" sz="2400" i="1">
                        <a:latin typeface="Cambria Math"/>
                      </a:rPr>
                      <m:t>(</m:t>
                    </m:r>
                    <m:r>
                      <a:rPr lang="en-US" altLang="zh-CN" sz="2400" i="1">
                        <a:latin typeface="Cambria Math"/>
                      </a:rPr>
                      <m:t>𝑡</m:t>
                    </m:r>
                    <m:r>
                      <a:rPr lang="en-US" altLang="zh-CN" sz="2400" i="1">
                        <a:latin typeface="Cambria Math"/>
                      </a:rPr>
                      <m:t>)</m:t>
                    </m:r>
                  </m:oMath>
                </a14:m>
                <a:r>
                  <a:rPr lang="zh-CN" altLang="en-US" sz="2400" dirty="0"/>
                  <a:t>和</a:t>
                </a:r>
                <a14:m>
                  <m:oMath xmlns:m="http://schemas.openxmlformats.org/officeDocument/2006/math">
                    <m:r>
                      <m:rPr>
                        <m:sty m:val="p"/>
                      </m:rPr>
                      <a:rPr lang="en-US" altLang="zh-CN" sz="2400">
                        <a:latin typeface="Cambria Math"/>
                      </a:rPr>
                      <m:t>N</m:t>
                    </m:r>
                    <m:r>
                      <a:rPr lang="en-US" altLang="zh-CN" sz="2400" i="1">
                        <a:latin typeface="Cambria Math"/>
                      </a:rPr>
                      <m:t>(</m:t>
                    </m:r>
                    <m:r>
                      <a:rPr lang="en-US" altLang="zh-CN" sz="2400" i="1">
                        <a:latin typeface="Cambria Math"/>
                      </a:rPr>
                      <m:t>𝑡</m:t>
                    </m:r>
                    <m:r>
                      <a:rPr lang="en-US" altLang="zh-CN" sz="2400" i="1">
                        <a:latin typeface="Cambria Math"/>
                      </a:rPr>
                      <m:t>)</m:t>
                    </m:r>
                  </m:oMath>
                </a14:m>
                <a:r>
                  <a:rPr lang="zh-CN" altLang="en-US" sz="2400" dirty="0"/>
                  <a:t>分别表示在</a:t>
                </a:r>
                <a14:m>
                  <m:oMath xmlns:m="http://schemas.openxmlformats.org/officeDocument/2006/math">
                    <m:r>
                      <a:rPr lang="en-US" altLang="zh-CN" sz="2400" i="1">
                        <a:latin typeface="Cambria Math"/>
                      </a:rPr>
                      <m:t>𝑡</m:t>
                    </m:r>
                  </m:oMath>
                </a14:m>
                <a:r>
                  <a:rPr lang="zh-CN" altLang="en-US" sz="2400" dirty="0"/>
                  <a:t>时刻已得到搜寻型信息的革新者人数和总人数，由假设三有</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1</m:t>
                        </m:r>
                      </m:sub>
                    </m:sSub>
                    <m:d>
                      <m:dPr>
                        <m:ctrlPr>
                          <a:rPr lang="en-US" altLang="zh-CN" sz="2400" i="1">
                            <a:latin typeface="Cambria Math" panose="02040503050406030204" pitchFamily="18" charset="0"/>
                          </a:rPr>
                        </m:ctrlPr>
                      </m:dPr>
                      <m:e>
                        <m:r>
                          <a:rPr lang="en-US" altLang="zh-CN" sz="2400" i="1">
                            <a:latin typeface="Cambria Math"/>
                          </a:rPr>
                          <m:t>𝑡</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𝛼</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𝑁</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a14:m>
                <a:r>
                  <a:rPr lang="zh-CN" altLang="en-US" sz="2400" dirty="0"/>
                  <a:t>，考虑到搜寻型信息的传播仍然有两个途径，即来自消费者外部的广告传播以及来自消费者内部的口头传播，根据</a:t>
                </a:r>
                <a:r>
                  <a:rPr lang="en-US" altLang="zh-CN" sz="2400" dirty="0"/>
                  <a:t>Bass</a:t>
                </a:r>
                <a:r>
                  <a:rPr lang="zh-CN" altLang="en-US" sz="2400" dirty="0"/>
                  <a:t>模型可以得到搜寻型信息的传播公式：</a:t>
                </a:r>
                <a:endParaRPr lang="en-US" altLang="zh-CN" sz="2400" dirty="0"/>
              </a:p>
              <a:p>
                <a:endParaRPr lang="en-US" altLang="zh-CN" sz="2400" dirty="0"/>
              </a:p>
              <a:p>
                <a:endParaRPr lang="en-US" altLang="zh-CN" sz="2400" dirty="0"/>
              </a:p>
              <a:p>
                <a:endParaRPr lang="en-US" altLang="zh-CN" sz="2400" dirty="0"/>
              </a:p>
              <a:p>
                <a:r>
                  <a:rPr lang="en-US" altLang="zh-CN" sz="2400" dirty="0"/>
                  <a:t>(3.2.4)</a:t>
                </a:r>
                <a:r>
                  <a:rPr lang="zh-CN" altLang="en-US" sz="2400" dirty="0"/>
                  <a:t>式为革新者方程，</a:t>
                </a:r>
                <a14:m>
                  <m:oMath xmlns:m="http://schemas.openxmlformats.org/officeDocument/2006/math">
                    <m:sSub>
                      <m:sSubPr>
                        <m:ctrlPr>
                          <a:rPr lang="en-US" altLang="zh-CN" sz="2400" i="1" dirty="0" smtClean="0">
                            <a:latin typeface="Cambria Math" panose="02040503050406030204" pitchFamily="18" charset="0"/>
                          </a:rPr>
                        </m:ctrlPr>
                      </m:sSubPr>
                      <m:e>
                        <m:r>
                          <a:rPr lang="zh-CN" altLang="en-US" sz="2400" i="1" dirty="0" smtClean="0">
                            <a:latin typeface="Cambria Math" panose="02040503050406030204" pitchFamily="18" charset="0"/>
                          </a:rPr>
                          <m:t>𝜃</m:t>
                        </m:r>
                      </m:e>
                      <m:sub>
                        <m:r>
                          <a:rPr lang="en-US" altLang="zh-CN" sz="2400" b="0" i="1" dirty="0" smtClean="0">
                            <a:latin typeface="Cambria Math" panose="02040503050406030204" pitchFamily="18" charset="0"/>
                          </a:rPr>
                          <m:t>1</m:t>
                        </m:r>
                      </m:sub>
                    </m:sSub>
                    <m:r>
                      <a:rPr lang="zh-CN" altLang="en-US" sz="2400" i="1" dirty="0" smtClean="0">
                        <a:latin typeface="Cambria Math" panose="02040503050406030204" pitchFamily="18" charset="0"/>
                      </a:rPr>
                      <m:t> </m:t>
                    </m:r>
                  </m:oMath>
                </a14:m>
                <a:r>
                  <a:rPr lang="zh-CN" altLang="en-US" sz="2400" dirty="0"/>
                  <a:t>和</a:t>
                </a:r>
                <a14:m>
                  <m:oMath xmlns:m="http://schemas.openxmlformats.org/officeDocument/2006/math">
                    <m:sSub>
                      <m:sSubPr>
                        <m:ctrlPr>
                          <a:rPr lang="en-US" altLang="zh-CN" sz="2400" i="1" dirty="0">
                            <a:latin typeface="Cambria Math" panose="02040503050406030204" pitchFamily="18" charset="0"/>
                          </a:rPr>
                        </m:ctrlPr>
                      </m:sSubPr>
                      <m:e>
                        <m:r>
                          <a:rPr lang="zh-CN" altLang="en-US" sz="2400" i="1" dirty="0">
                            <a:latin typeface="Cambria Math" panose="02040503050406030204" pitchFamily="18" charset="0"/>
                          </a:rPr>
                          <m:t>𝜃</m:t>
                        </m:r>
                      </m:e>
                      <m:sub>
                        <m:r>
                          <a:rPr lang="en-US" altLang="zh-CN" sz="2400" b="0" i="1" dirty="0" smtClean="0">
                            <a:latin typeface="Cambria Math" panose="02040503050406030204" pitchFamily="18" charset="0"/>
                          </a:rPr>
                          <m:t>2</m:t>
                        </m:r>
                      </m:sub>
                    </m:sSub>
                  </m:oMath>
                </a14:m>
                <a:r>
                  <a:rPr lang="zh-CN" altLang="en-US" sz="2400" dirty="0"/>
                  <a:t>是大于零的比例系数。</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7583" y="2017713"/>
                <a:ext cx="8021691" cy="4114800"/>
              </a:xfrm>
              <a:blipFill>
                <a:blip r:embed="rId2"/>
                <a:stretch>
                  <a:fillRect l="-152" t="-163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33</a:t>
            </a:fld>
            <a:endParaRPr lang="en-US" altLang="zh-CN"/>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4115510"/>
            <a:ext cx="7733659" cy="825658"/>
          </a:xfrm>
          <a:prstGeom prst="rect">
            <a:avLst/>
          </a:prstGeom>
        </p:spPr>
      </p:pic>
    </p:spTree>
    <p:extLst>
      <p:ext uri="{BB962C8B-B14F-4D97-AF65-F5344CB8AC3E}">
        <p14:creationId xmlns:p14="http://schemas.microsoft.com/office/powerpoint/2010/main" val="693663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体验型信息传播模型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11560" y="1964175"/>
                <a:ext cx="8343528" cy="4489161"/>
              </a:xfrm>
            </p:spPr>
            <p:txBody>
              <a:bodyPr/>
              <a:lstStyle/>
              <a:p>
                <a:r>
                  <a:rPr lang="zh-CN" altLang="en-US" sz="2400" dirty="0"/>
                  <a:t>设</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b="0" i="1" smtClean="0">
                            <a:latin typeface="Cambria Math" panose="02040503050406030204" pitchFamily="18" charset="0"/>
                          </a:rPr>
                          <m:t>2</m:t>
                        </m:r>
                      </m:sub>
                    </m:sSub>
                    <m:r>
                      <a:rPr lang="en-US" altLang="zh-CN" sz="2400" i="1">
                        <a:latin typeface="Cambria Math"/>
                      </a:rPr>
                      <m:t>(</m:t>
                    </m:r>
                    <m:r>
                      <a:rPr lang="en-US" altLang="zh-CN" sz="2400" i="1">
                        <a:latin typeface="Cambria Math"/>
                      </a:rPr>
                      <m:t>𝑡</m:t>
                    </m:r>
                    <m:r>
                      <a:rPr lang="en-US" altLang="zh-CN" sz="2400" i="1">
                        <a:latin typeface="Cambria Math"/>
                      </a:rPr>
                      <m:t>)</m:t>
                    </m:r>
                  </m:oMath>
                </a14:m>
                <a:r>
                  <a:rPr lang="zh-CN" altLang="en-US" sz="2400" dirty="0"/>
                  <a:t>为</a:t>
                </a:r>
                <a14:m>
                  <m:oMath xmlns:m="http://schemas.openxmlformats.org/officeDocument/2006/math">
                    <m:r>
                      <a:rPr lang="en-US" altLang="zh-CN" sz="2400" i="1">
                        <a:latin typeface="Cambria Math"/>
                      </a:rPr>
                      <m:t>𝑡</m:t>
                    </m:r>
                  </m:oMath>
                </a14:m>
                <a:r>
                  <a:rPr lang="zh-CN" altLang="en-US" sz="2400" dirty="0"/>
                  <a:t>时刻购买新产品的模仿者人数，可以得到关于体验型信息传播的方程为：</a:t>
                </a:r>
                <a:endParaRPr lang="en-US" altLang="zh-CN" sz="2400" dirty="0"/>
              </a:p>
              <a:p>
                <a:endParaRPr lang="en-US" altLang="zh-CN" sz="2400" dirty="0"/>
              </a:p>
              <a:p>
                <a:endParaRPr lang="en-US" altLang="zh-CN" sz="2400" dirty="0"/>
              </a:p>
              <a:p>
                <a:r>
                  <a:rPr lang="en-US" altLang="zh-CN" sz="2400" dirty="0"/>
                  <a:t>(3.2.5)</a:t>
                </a:r>
                <a:r>
                  <a:rPr lang="zh-CN" altLang="en-US" sz="2400" dirty="0"/>
                  <a:t>式为模仿者方程，</a:t>
                </a:r>
                <a14:m>
                  <m:oMath xmlns:m="http://schemas.openxmlformats.org/officeDocument/2006/math">
                    <m:sSub>
                      <m:sSubPr>
                        <m:ctrlPr>
                          <a:rPr lang="en-US" altLang="zh-CN" sz="2400" i="1" dirty="0">
                            <a:latin typeface="Cambria Math" panose="02040503050406030204" pitchFamily="18" charset="0"/>
                          </a:rPr>
                        </m:ctrlPr>
                      </m:sSubPr>
                      <m:e>
                        <m:r>
                          <a:rPr lang="zh-CN" altLang="en-US" sz="2400" i="1" dirty="0" smtClean="0">
                            <a:latin typeface="Cambria Math" panose="02040503050406030204" pitchFamily="18" charset="0"/>
                          </a:rPr>
                          <m:t>𝜆</m:t>
                        </m:r>
                      </m:e>
                      <m:sub>
                        <m:r>
                          <a:rPr lang="en-US" altLang="zh-CN" sz="2400" i="1" dirty="0">
                            <a:latin typeface="Cambria Math" panose="02040503050406030204" pitchFamily="18" charset="0"/>
                          </a:rPr>
                          <m:t>1</m:t>
                        </m:r>
                      </m:sub>
                    </m:sSub>
                  </m:oMath>
                </a14:m>
                <a:r>
                  <a:rPr lang="zh-CN" altLang="en-US" sz="2400" dirty="0"/>
                  <a:t>和</a:t>
                </a:r>
                <a14:m>
                  <m:oMath xmlns:m="http://schemas.openxmlformats.org/officeDocument/2006/math">
                    <m:sSub>
                      <m:sSubPr>
                        <m:ctrlPr>
                          <a:rPr lang="en-US" altLang="zh-CN" sz="2400" i="1" dirty="0">
                            <a:latin typeface="Cambria Math" panose="02040503050406030204" pitchFamily="18" charset="0"/>
                          </a:rPr>
                        </m:ctrlPr>
                      </m:sSubPr>
                      <m:e>
                        <m:r>
                          <a:rPr lang="zh-CN" altLang="en-US" sz="2400" i="1" dirty="0">
                            <a:latin typeface="Cambria Math" panose="02040503050406030204" pitchFamily="18" charset="0"/>
                          </a:rPr>
                          <m:t>𝜆</m:t>
                        </m:r>
                      </m:e>
                      <m:sub>
                        <m:r>
                          <a:rPr lang="en-US" altLang="zh-CN" sz="2400" b="0" i="1" dirty="0" smtClean="0">
                            <a:latin typeface="Cambria Math" panose="02040503050406030204" pitchFamily="18" charset="0"/>
                          </a:rPr>
                          <m:t>2</m:t>
                        </m:r>
                      </m:sub>
                    </m:sSub>
                  </m:oMath>
                </a14:m>
                <a:r>
                  <a:rPr lang="zh-CN" altLang="en-US" sz="2400" dirty="0"/>
                  <a:t>是大于零的比例系数。当 </a:t>
                </a:r>
                <a14:m>
                  <m:oMath xmlns:m="http://schemas.openxmlformats.org/officeDocument/2006/math">
                    <m:r>
                      <a:rPr lang="en-US" altLang="zh-CN" sz="2400" i="1">
                        <a:latin typeface="Cambria Math"/>
                      </a:rPr>
                      <m:t>𝑡</m:t>
                    </m:r>
                    <m:r>
                      <a:rPr lang="en-US" altLang="zh-CN" sz="2400" b="0" i="1" smtClean="0">
                        <a:latin typeface="Cambria Math" panose="02040503050406030204" pitchFamily="18" charset="0"/>
                      </a:rPr>
                      <m:t>&lt;</m:t>
                    </m:r>
                    <m:r>
                      <a:rPr lang="en-US" altLang="zh-CN" sz="2400" b="0" i="1" smtClean="0">
                        <a:latin typeface="Cambria Math" panose="02040503050406030204" pitchFamily="18" charset="0"/>
                      </a:rPr>
                      <m:t>𝑇</m:t>
                    </m:r>
                  </m:oMath>
                </a14:m>
                <a:r>
                  <a:rPr lang="zh-CN" altLang="en-US" sz="2400" dirty="0"/>
                  <a:t>时，</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𝑁</m:t>
                        </m:r>
                      </m:e>
                      <m:sub>
                        <m:r>
                          <a:rPr lang="en-US" altLang="zh-CN" sz="2400" i="1">
                            <a:latin typeface="Cambria Math" panose="02040503050406030204" pitchFamily="18" charset="0"/>
                          </a:rPr>
                          <m:t>2</m:t>
                        </m:r>
                      </m:sub>
                    </m:sSub>
                    <m:r>
                      <a:rPr lang="en-US" altLang="zh-CN" sz="2400" i="1">
                        <a:latin typeface="Cambria Math"/>
                      </a:rPr>
                      <m:t>(</m:t>
                    </m:r>
                    <m:r>
                      <a:rPr lang="en-US" altLang="zh-CN" sz="2400" i="1">
                        <a:latin typeface="Cambria Math"/>
                      </a:rPr>
                      <m:t>𝑡</m:t>
                    </m:r>
                    <m:r>
                      <a:rPr lang="en-US" altLang="zh-CN" sz="2400" i="1">
                        <a:latin typeface="Cambria Math"/>
                      </a:rPr>
                      <m:t>)</m:t>
                    </m:r>
                  </m:oMath>
                </a14:m>
                <a:r>
                  <a:rPr lang="en-US" altLang="zh-CN" sz="2400" dirty="0"/>
                  <a:t>=0</a:t>
                </a:r>
                <a:r>
                  <a:rPr lang="zh-CN" altLang="en-US" sz="2400" dirty="0"/>
                  <a:t> ，故方程中</a:t>
                </a:r>
                <a14:m>
                  <m:oMath xmlns:m="http://schemas.openxmlformats.org/officeDocument/2006/math">
                    <m:r>
                      <a:rPr lang="en-US" altLang="zh-CN" sz="2400" i="1">
                        <a:latin typeface="Cambria Math"/>
                      </a:rPr>
                      <m:t>𝑡</m:t>
                    </m:r>
                    <m:r>
                      <a:rPr lang="en-US" altLang="zh-CN" sz="2400" i="1" smtClean="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rPr>
                      <m:t>𝑇</m:t>
                    </m:r>
                  </m:oMath>
                </a14:m>
                <a:r>
                  <a:rPr lang="zh-CN" altLang="en-US" sz="2400" dirty="0"/>
                  <a:t> 。为了便于分析，不防假设购买产品后对产品评价所需时间忽略不计，即</a:t>
                </a:r>
                <a14:m>
                  <m:oMath xmlns:m="http://schemas.openxmlformats.org/officeDocument/2006/math">
                    <m:r>
                      <a:rPr lang="en-US" altLang="zh-CN" sz="2400" i="1">
                        <a:latin typeface="Cambria Math" panose="02040503050406030204" pitchFamily="18" charset="0"/>
                      </a:rPr>
                      <m:t>𝑇</m:t>
                    </m:r>
                    <m:r>
                      <a:rPr lang="en-US" altLang="zh-CN" sz="2400" b="0" i="1" smtClean="0">
                        <a:latin typeface="Cambria Math" panose="02040503050406030204" pitchFamily="18" charset="0"/>
                      </a:rPr>
                      <m:t>=0</m:t>
                    </m:r>
                  </m:oMath>
                </a14:m>
                <a:r>
                  <a:rPr lang="zh-CN" altLang="en-US" sz="2400" dirty="0"/>
                  <a:t> ，并且在体验型信息传播方面，革新者与模仿者的作用相同，即</a:t>
                </a:r>
                <a14:m>
                  <m:oMath xmlns:m="http://schemas.openxmlformats.org/officeDocument/2006/math">
                    <m:sSub>
                      <m:sSubPr>
                        <m:ctrlPr>
                          <a:rPr lang="en-US" altLang="zh-CN" sz="2400" i="1" dirty="0">
                            <a:latin typeface="Cambria Math" panose="02040503050406030204" pitchFamily="18" charset="0"/>
                          </a:rPr>
                        </m:ctrlPr>
                      </m:sSubPr>
                      <m:e>
                        <m:r>
                          <a:rPr lang="zh-CN" altLang="en-US" sz="2400" i="1" dirty="0">
                            <a:latin typeface="Cambria Math" panose="02040503050406030204" pitchFamily="18" charset="0"/>
                          </a:rPr>
                          <m:t>𝜆</m:t>
                        </m:r>
                      </m:e>
                      <m:sub>
                        <m:r>
                          <a:rPr lang="en-US" altLang="zh-CN" sz="2400" i="1" dirty="0">
                            <a:latin typeface="Cambria Math" panose="02040503050406030204" pitchFamily="18" charset="0"/>
                          </a:rPr>
                          <m:t>1</m:t>
                        </m:r>
                      </m:sub>
                    </m:sSub>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zh-CN" altLang="en-US" sz="2400" i="1" dirty="0">
                            <a:latin typeface="Cambria Math" panose="02040503050406030204" pitchFamily="18" charset="0"/>
                          </a:rPr>
                          <m:t>𝜆</m:t>
                        </m:r>
                      </m:e>
                      <m:sub>
                        <m:r>
                          <a:rPr lang="en-US" altLang="zh-CN" sz="2400" b="0" i="1" dirty="0" smtClean="0">
                            <a:latin typeface="Cambria Math" panose="02040503050406030204" pitchFamily="18" charset="0"/>
                          </a:rPr>
                          <m:t>2</m:t>
                        </m:r>
                      </m:sub>
                    </m:sSub>
                    <m:r>
                      <a:rPr lang="en-US" altLang="zh-CN" sz="2400" b="0" i="1" dirty="0" smtClean="0">
                        <a:latin typeface="Cambria Math" panose="02040503050406030204" pitchFamily="18" charset="0"/>
                      </a:rPr>
                      <m:t>=</m:t>
                    </m:r>
                    <m:r>
                      <a:rPr lang="en-US" altLang="zh-CN" sz="2400" i="1" dirty="0" smtClean="0">
                        <a:latin typeface="Cambria Math" panose="02040503050406030204" pitchFamily="18" charset="0"/>
                      </a:rPr>
                      <m:t>𝜆</m:t>
                    </m:r>
                  </m:oMath>
                </a14:m>
                <a:r>
                  <a:rPr lang="zh-CN" altLang="en-US" sz="2400" dirty="0"/>
                  <a:t>，此时</a:t>
                </a:r>
                <a:r>
                  <a:rPr lang="en-US" altLang="zh-CN" sz="2400" dirty="0"/>
                  <a:t>(3.2.5)</a:t>
                </a:r>
                <a:r>
                  <a:rPr lang="zh-CN" altLang="en-US" sz="2400" dirty="0"/>
                  <a:t>式可以简化为：</a:t>
                </a:r>
              </a:p>
              <a:p>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11560" y="1964175"/>
                <a:ext cx="8343528" cy="4489161"/>
              </a:xfrm>
              <a:blipFill rotWithShape="1">
                <a:blip r:embed="rId2"/>
                <a:stretch>
                  <a:fillRect l="-73" t="-1493"/>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34</a:t>
            </a:fld>
            <a:endParaRPr lang="en-US" altLang="zh-CN"/>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944" y="2780928"/>
            <a:ext cx="8305800" cy="800100"/>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344" y="5538936"/>
            <a:ext cx="8153400" cy="914400"/>
          </a:xfrm>
          <a:prstGeom prst="rect">
            <a:avLst/>
          </a:prstGeom>
        </p:spPr>
      </p:pic>
    </p:spTree>
    <p:extLst>
      <p:ext uri="{BB962C8B-B14F-4D97-AF65-F5344CB8AC3E}">
        <p14:creationId xmlns:p14="http://schemas.microsoft.com/office/powerpoint/2010/main" val="271526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10533" y="2017713"/>
                <a:ext cx="8444555" cy="4114800"/>
              </a:xfrm>
            </p:spPr>
            <p:txBody>
              <a:bodyPr/>
              <a:lstStyle/>
              <a:p>
                <a:r>
                  <a:rPr lang="zh-CN" altLang="en-US" dirty="0"/>
                  <a:t>方程</a:t>
                </a:r>
                <a:r>
                  <a:rPr lang="en-US" altLang="zh-CN" dirty="0"/>
                  <a:t>(3.2.4)</a:t>
                </a:r>
                <a:r>
                  <a:rPr lang="zh-CN" altLang="en-US" dirty="0"/>
                  <a:t>式与</a:t>
                </a:r>
                <a:r>
                  <a:rPr lang="en-US" altLang="zh-CN" dirty="0"/>
                  <a:t>(3.2.6)</a:t>
                </a:r>
                <a:r>
                  <a:rPr lang="zh-CN" altLang="en-US" dirty="0"/>
                  <a:t>式一起描述了新产品销售的扩散过程，称为</a:t>
                </a:r>
                <a:r>
                  <a:rPr lang="en-US" altLang="zh-CN" dirty="0"/>
                  <a:t>Steffens-Murthy</a:t>
                </a:r>
                <a:r>
                  <a:rPr lang="zh-CN" altLang="en-US" dirty="0"/>
                  <a:t>模型，简称</a:t>
                </a:r>
                <a:r>
                  <a:rPr lang="en-US" altLang="zh-CN" dirty="0"/>
                  <a:t>S-M</a:t>
                </a:r>
                <a:r>
                  <a:rPr lang="zh-CN" altLang="en-US" dirty="0"/>
                  <a:t>模型，由</a:t>
                </a:r>
                <a:r>
                  <a:rPr lang="en-US" altLang="zh-CN" dirty="0"/>
                  <a:t>S-M</a:t>
                </a:r>
                <a:r>
                  <a:rPr lang="zh-CN" altLang="en-US" dirty="0"/>
                  <a:t>模型可以解出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b="0" i="1" smtClean="0">
                            <a:latin typeface="Cambria Math" panose="02040503050406030204" pitchFamily="18" charset="0"/>
                          </a:rPr>
                          <m:t>1</m:t>
                        </m:r>
                      </m:sub>
                    </m:sSub>
                    <m:r>
                      <a:rPr lang="en-US" altLang="zh-CN" i="1">
                        <a:latin typeface="Cambria Math"/>
                      </a:rPr>
                      <m:t>(</m:t>
                    </m:r>
                    <m:r>
                      <a:rPr lang="en-US" altLang="zh-CN" i="1">
                        <a:latin typeface="Cambria Math"/>
                      </a:rPr>
                      <m:t>𝑡</m:t>
                    </m:r>
                    <m:r>
                      <a:rPr lang="en-US" altLang="zh-CN" i="1">
                        <a:latin typeface="Cambria Math"/>
                      </a:rPr>
                      <m:t>)</m:t>
                    </m:r>
                  </m:oMath>
                </a14:m>
                <a:r>
                  <a:rPr lang="zh-CN" altLang="en-US" dirty="0"/>
                  <a:t>与</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2</m:t>
                        </m:r>
                      </m:sub>
                    </m:sSub>
                    <m:r>
                      <a:rPr lang="en-US" altLang="zh-CN" i="1">
                        <a:latin typeface="Cambria Math"/>
                      </a:rPr>
                      <m:t>(</m:t>
                    </m:r>
                    <m:r>
                      <a:rPr lang="en-US" altLang="zh-CN" i="1">
                        <a:latin typeface="Cambria Math"/>
                      </a:rPr>
                      <m:t>𝑡</m:t>
                    </m:r>
                    <m:r>
                      <a:rPr lang="en-US" altLang="zh-CN" i="1">
                        <a:latin typeface="Cambria Math"/>
                      </a:rPr>
                      <m:t>)</m:t>
                    </m:r>
                  </m:oMath>
                </a14:m>
                <a:r>
                  <a:rPr lang="zh-CN" altLang="en-US" dirty="0"/>
                  <a:t>，则</a:t>
                </a:r>
                <a14:m>
                  <m:oMath xmlns:m="http://schemas.openxmlformats.org/officeDocument/2006/math">
                    <m:r>
                      <a:rPr lang="en-US" altLang="zh-CN" i="1">
                        <a:latin typeface="Cambria Math"/>
                      </a:rPr>
                      <m:t>𝑡</m:t>
                    </m:r>
                  </m:oMath>
                </a14:m>
                <a:r>
                  <a:rPr lang="zh-CN" altLang="en-US" dirty="0"/>
                  <a:t> 时刻新产品购买总人数为</a:t>
                </a:r>
                <a:r>
                  <a:rPr lang="en-US" altLang="zh-CN" dirty="0"/>
                  <a:t>:</a:t>
                </a:r>
              </a:p>
              <a:p>
                <a:endParaRPr lang="en-US" altLang="zh-CN" dirty="0"/>
              </a:p>
              <a:p>
                <a:r>
                  <a:rPr lang="zh-CN" altLang="en-US" dirty="0"/>
                  <a:t>可以表示单峰，也可以表示双峰，灵活之处。</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10533" y="2017713"/>
                <a:ext cx="8444555" cy="4114800"/>
              </a:xfrm>
              <a:blipFill>
                <a:blip r:embed="rId2"/>
                <a:stretch>
                  <a:fillRect l="-578" t="-222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35</a:t>
            </a:fld>
            <a:endParaRPr lang="en-US" altLang="zh-CN"/>
          </a:p>
        </p:txBody>
      </p: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1445" y="4075113"/>
            <a:ext cx="7172022" cy="540605"/>
          </a:xfrm>
          <a:prstGeom prst="rect">
            <a:avLst/>
          </a:prstGeom>
        </p:spPr>
      </p:pic>
    </p:spTree>
    <p:extLst>
      <p:ext uri="{BB962C8B-B14F-4D97-AF65-F5344CB8AC3E}">
        <p14:creationId xmlns:p14="http://schemas.microsoft.com/office/powerpoint/2010/main" val="5548677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连续系统数值仿真方法</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83568" y="2017713"/>
                <a:ext cx="8271520" cy="4114800"/>
              </a:xfrm>
            </p:spPr>
            <p:txBody>
              <a:bodyPr/>
              <a:lstStyle/>
              <a:p>
                <a:r>
                  <a:rPr lang="zh-CN" altLang="zh-CN" dirty="0"/>
                  <a:t>数值积分法</a:t>
                </a:r>
                <a:r>
                  <a:rPr lang="en-US" altLang="zh-CN" dirty="0"/>
                  <a:t>(</a:t>
                </a:r>
                <a:r>
                  <a:rPr lang="zh-CN" altLang="zh-CN" dirty="0"/>
                  <a:t>或称数值解法</a:t>
                </a:r>
                <a:r>
                  <a:rPr lang="en-US" altLang="zh-CN" dirty="0"/>
                  <a:t>)</a:t>
                </a:r>
                <a:r>
                  <a:rPr lang="zh-CN" altLang="zh-CN" dirty="0"/>
                  <a:t>，就是对常微分方程建立离散形式的数学模型—差分方程，并求出其数值解。</a:t>
                </a:r>
                <a:endParaRPr lang="en-US" altLang="zh-CN" dirty="0"/>
              </a:p>
              <a:p>
                <a:r>
                  <a:rPr lang="zh-CN" altLang="zh-CN" dirty="0"/>
                  <a:t>例如已知某系统的一阶向量微分方程及其初值为</a:t>
                </a:r>
                <a:r>
                  <a:rPr lang="zh-CN" altLang="en-US" dirty="0"/>
                  <a:t>：</a:t>
                </a:r>
                <a:endParaRPr lang="en-US" altLang="zh-CN" dirty="0"/>
              </a:p>
              <a:p>
                <a:endParaRPr lang="en-US" altLang="zh-CN" dirty="0"/>
              </a:p>
              <a:p>
                <a:r>
                  <a:rPr lang="zh-CN" altLang="en-US" dirty="0"/>
                  <a:t>其中</a:t>
                </a:r>
                <a14:m>
                  <m:oMath xmlns:m="http://schemas.openxmlformats.org/officeDocument/2006/math">
                    <m:r>
                      <a:rPr lang="en-US" altLang="zh-CN" b="0" i="1" dirty="0" smtClean="0">
                        <a:latin typeface="Cambria Math" panose="02040503050406030204" pitchFamily="18" charset="0"/>
                      </a:rPr>
                      <m:t>𝑦</m:t>
                    </m:r>
                  </m:oMath>
                </a14:m>
                <a:r>
                  <a:rPr lang="zh-CN" altLang="en-US" dirty="0"/>
                  <a:t>为</a:t>
                </a:r>
                <a14:m>
                  <m:oMath xmlns:m="http://schemas.openxmlformats.org/officeDocument/2006/math">
                    <m:r>
                      <a:rPr lang="en-US" altLang="zh-CN" b="0" i="1" dirty="0" smtClean="0">
                        <a:latin typeface="Cambria Math" panose="02040503050406030204" pitchFamily="18" charset="0"/>
                      </a:rPr>
                      <m:t>𝑛</m:t>
                    </m:r>
                  </m:oMath>
                </a14:m>
                <a:r>
                  <a:rPr lang="zh-CN" altLang="en-US" dirty="0"/>
                  <a:t> 维状态向量，</a:t>
                </a:r>
                <a14:m>
                  <m:oMath xmlns:m="http://schemas.openxmlformats.org/officeDocument/2006/math">
                    <m:r>
                      <a:rPr lang="en-US" altLang="zh-CN" b="0" i="1" dirty="0" smtClean="0">
                        <a:latin typeface="Cambria Math" panose="02040503050406030204" pitchFamily="18" charset="0"/>
                      </a:rPr>
                      <m:t>𝑓</m:t>
                    </m:r>
                    <m:r>
                      <a:rPr lang="en-US" altLang="zh-CN" b="0" i="0" dirty="0" smtClean="0">
                        <a:latin typeface="Cambria Math" panose="02040503050406030204" pitchFamily="18" charset="0"/>
                      </a:rPr>
                      <m:t>(</m:t>
                    </m:r>
                    <m:r>
                      <a:rPr lang="en-US" altLang="zh-CN" b="0" i="1" dirty="0" smtClean="0">
                        <a:latin typeface="Cambria Math" panose="02040503050406030204" pitchFamily="18" charset="0"/>
                      </a:rPr>
                      <m:t>𝑡</m:t>
                    </m:r>
                    <m:r>
                      <a:rPr lang="en-US" altLang="zh-CN" b="0" i="0" dirty="0" smtClean="0">
                        <a:latin typeface="Cambria Math" panose="02040503050406030204" pitchFamily="18" charset="0"/>
                      </a:rPr>
                      <m:t>,</m:t>
                    </m:r>
                    <m:r>
                      <a:rPr lang="en-US" altLang="zh-CN" b="0" i="1" dirty="0" smtClean="0">
                        <a:latin typeface="Cambria Math" panose="02040503050406030204" pitchFamily="18" charset="0"/>
                      </a:rPr>
                      <m:t>𝑦</m:t>
                    </m:r>
                    <m:r>
                      <a:rPr lang="en-US" altLang="zh-CN" b="0" i="0" dirty="0" smtClean="0">
                        <a:latin typeface="Cambria Math" panose="02040503050406030204" pitchFamily="18" charset="0"/>
                      </a:rPr>
                      <m:t>)</m:t>
                    </m:r>
                  </m:oMath>
                </a14:m>
                <a:r>
                  <a:rPr lang="zh-CN" altLang="en-US" dirty="0"/>
                  <a:t>为</a:t>
                </a:r>
                <a14:m>
                  <m:oMath xmlns:m="http://schemas.openxmlformats.org/officeDocument/2006/math">
                    <m:r>
                      <a:rPr lang="en-US" altLang="zh-CN" i="1" dirty="0">
                        <a:latin typeface="Cambria Math" panose="02040503050406030204" pitchFamily="18" charset="0"/>
                      </a:rPr>
                      <m:t>𝑛</m:t>
                    </m:r>
                  </m:oMath>
                </a14:m>
                <a:r>
                  <a:rPr lang="zh-CN" altLang="en-US" dirty="0"/>
                  <a:t>维向量</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83568" y="2017713"/>
                <a:ext cx="8271520" cy="4114800"/>
              </a:xfrm>
              <a:blipFill>
                <a:blip r:embed="rId2"/>
                <a:stretch>
                  <a:fillRect l="-516" t="-2222" r="-184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36</a:t>
            </a:fld>
            <a:endParaRPr lang="en-US" altLang="zh-CN"/>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3761" y="4149080"/>
            <a:ext cx="3444383" cy="1080120"/>
          </a:xfrm>
          <a:prstGeom prst="rect">
            <a:avLst/>
          </a:prstGeom>
        </p:spPr>
      </p:pic>
    </p:spTree>
    <p:extLst>
      <p:ext uri="{BB962C8B-B14F-4D97-AF65-F5344CB8AC3E}">
        <p14:creationId xmlns:p14="http://schemas.microsoft.com/office/powerpoint/2010/main" val="20190703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67544" y="1916832"/>
                <a:ext cx="8487544" cy="4435623"/>
              </a:xfrm>
            </p:spPr>
            <p:txBody>
              <a:bodyPr/>
              <a:lstStyle/>
              <a:p>
                <a:r>
                  <a:rPr lang="zh-CN" altLang="en-US" sz="2800" dirty="0"/>
                  <a:t>设方程</a:t>
                </a:r>
                <a:r>
                  <a:rPr lang="en-US" altLang="zh-CN" sz="2800" dirty="0"/>
                  <a:t>(3.5.1)</a:t>
                </a:r>
                <a:r>
                  <a:rPr lang="zh-CN" altLang="en-US" sz="2800" dirty="0"/>
                  <a:t>在</a:t>
                </a:r>
                <a14:m>
                  <m:oMath xmlns:m="http://schemas.openxmlformats.org/officeDocument/2006/math">
                    <m:r>
                      <a:rPr lang="en-US" altLang="zh-CN" sz="2800" b="0" i="1" smtClean="0">
                        <a:latin typeface="Cambria Math" panose="02040503050406030204" pitchFamily="18" charset="0"/>
                      </a:rPr>
                      <m:t>𝑡</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𝑡</m:t>
                        </m:r>
                      </m:e>
                      <m:sub>
                        <m:r>
                          <a:rPr lang="en-US" altLang="zh-CN" sz="2800" b="0" i="1" smtClean="0">
                            <a:latin typeface="Cambria Math" panose="02040503050406030204" pitchFamily="18" charset="0"/>
                          </a:rPr>
                          <m:t>0</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𝑡</m:t>
                        </m:r>
                      </m:e>
                      <m:sub>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m:t>
                    </m:r>
                    <m:sSub>
                      <m:sSubPr>
                        <m:ctrlPr>
                          <a:rPr lang="en-US" altLang="zh-CN" sz="2800" b="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𝑡</m:t>
                        </m:r>
                      </m:e>
                      <m:sub>
                        <m:r>
                          <a:rPr lang="en-US" altLang="zh-CN" sz="2800" b="0" i="1" smtClean="0">
                            <a:latin typeface="Cambria Math" panose="02040503050406030204" pitchFamily="18" charset="0"/>
                            <a:ea typeface="Cambria Math" panose="02040503050406030204" pitchFamily="18" charset="0"/>
                          </a:rPr>
                          <m:t>𝑛</m:t>
                        </m:r>
                      </m:sub>
                    </m:sSub>
                    <m:r>
                      <a:rPr lang="en-US" altLang="zh-CN" sz="2800" b="0" i="1" smtClean="0">
                        <a:latin typeface="Cambria Math" panose="02040503050406030204" pitchFamily="18" charset="0"/>
                        <a:ea typeface="Cambria Math" panose="02040503050406030204" pitchFamily="18" charset="0"/>
                      </a:rPr>
                      <m:t>⋯</m:t>
                    </m:r>
                  </m:oMath>
                </a14:m>
                <a:r>
                  <a:rPr lang="zh-CN" altLang="en-US" sz="2800" dirty="0"/>
                  <a:t> 处的形式上的连续解为</a:t>
                </a:r>
                <a:endParaRPr lang="en-US" altLang="zh-CN" sz="2800" dirty="0"/>
              </a:p>
              <a:p>
                <a:endParaRPr lang="en-US" altLang="zh-CN" sz="2800" dirty="0"/>
              </a:p>
              <a:p>
                <a:endParaRPr lang="en-US" altLang="zh-CN" sz="2800" dirty="0"/>
              </a:p>
              <a:p>
                <a:endParaRPr lang="en-US" altLang="zh-CN" sz="2800" dirty="0"/>
              </a:p>
              <a:p>
                <a:r>
                  <a:rPr lang="zh-CN" altLang="zh-CN" sz="2800" dirty="0"/>
                  <a:t>希望能够找到一个近似公式来近似连续解</a:t>
                </a:r>
                <a14:m>
                  <m:oMath xmlns:m="http://schemas.openxmlformats.org/officeDocument/2006/math">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𝑦</m:t>
                        </m:r>
                      </m:e>
                      <m:sub>
                        <m:r>
                          <a:rPr lang="en-US" altLang="zh-CN" sz="2800" i="1" dirty="0">
                            <a:latin typeface="Cambria Math" panose="02040503050406030204" pitchFamily="18" charset="0"/>
                          </a:rPr>
                          <m:t>𝑛</m:t>
                        </m:r>
                        <m:r>
                          <a:rPr lang="en-US" altLang="zh-CN" sz="2800" b="0" i="1" dirty="0" smtClean="0">
                            <a:latin typeface="Cambria Math" panose="02040503050406030204" pitchFamily="18" charset="0"/>
                          </a:rPr>
                          <m:t>+1</m:t>
                        </m:r>
                      </m:sub>
                    </m:sSub>
                    <m:r>
                      <a:rPr lang="en-US" altLang="zh-CN" sz="2800" i="1" dirty="0" smtClean="0">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𝑦</m:t>
                        </m:r>
                      </m:e>
                      <m:sub>
                        <m:r>
                          <a:rPr lang="en-US" altLang="zh-CN" sz="2800" i="1" dirty="0">
                            <a:latin typeface="Cambria Math" panose="02040503050406030204" pitchFamily="18" charset="0"/>
                          </a:rPr>
                          <m:t>𝑛</m:t>
                        </m:r>
                      </m:sub>
                    </m:sSub>
                  </m:oMath>
                </a14:m>
                <a:r>
                  <a:rPr lang="en-US" altLang="zh-CN" sz="2800" dirty="0"/>
                  <a:t>+</a:t>
                </a:r>
                <a14:m>
                  <m:oMath xmlns:m="http://schemas.openxmlformats.org/officeDocument/2006/math">
                    <m:sSub>
                      <m:sSubPr>
                        <m:ctrlPr>
                          <a:rPr lang="en-US" altLang="zh-CN" sz="2800" i="1" dirty="0">
                            <a:latin typeface="Cambria Math" panose="02040503050406030204" pitchFamily="18" charset="0"/>
                          </a:rPr>
                        </m:ctrlPr>
                      </m:sSubPr>
                      <m:e>
                        <m:r>
                          <a:rPr lang="en-US" altLang="zh-CN" sz="2800" b="0" i="1" dirty="0" smtClean="0">
                            <a:latin typeface="Cambria Math" panose="02040503050406030204" pitchFamily="18" charset="0"/>
                          </a:rPr>
                          <m:t>𝑄</m:t>
                        </m:r>
                      </m:e>
                      <m:sub>
                        <m:r>
                          <a:rPr lang="en-US" altLang="zh-CN" sz="2800" i="1" dirty="0">
                            <a:latin typeface="Cambria Math" panose="02040503050406030204" pitchFamily="18" charset="0"/>
                          </a:rPr>
                          <m:t>𝑛</m:t>
                        </m:r>
                      </m:sub>
                    </m:sSub>
                  </m:oMath>
                </a14:m>
                <a:endParaRPr lang="en-US" altLang="zh-CN" sz="2800" dirty="0"/>
              </a:p>
              <a:p>
                <a:r>
                  <a:rPr lang="zh-CN" altLang="en-US" sz="2800" dirty="0"/>
                  <a:t>式中</a:t>
                </a:r>
                <a14:m>
                  <m:oMath xmlns:m="http://schemas.openxmlformats.org/officeDocument/2006/math">
                    <m:sSub>
                      <m:sSubPr>
                        <m:ctrlPr>
                          <a:rPr lang="en-US" altLang="zh-CN" sz="2800" i="1" dirty="0" smtClean="0">
                            <a:latin typeface="Cambria Math" panose="02040503050406030204" pitchFamily="18" charset="0"/>
                          </a:rPr>
                        </m:ctrlPr>
                      </m:sSubPr>
                      <m:e>
                        <m:r>
                          <a:rPr lang="en-US" altLang="zh-CN" sz="2800" b="0" i="1" dirty="0" smtClean="0">
                            <a:latin typeface="Cambria Math" panose="02040503050406030204" pitchFamily="18" charset="0"/>
                          </a:rPr>
                          <m:t>𝑦</m:t>
                        </m:r>
                      </m:e>
                      <m:sub>
                        <m:r>
                          <a:rPr lang="en-US" altLang="zh-CN" sz="2800" b="0" i="1" dirty="0" smtClean="0">
                            <a:latin typeface="Cambria Math" panose="02040503050406030204" pitchFamily="18" charset="0"/>
                          </a:rPr>
                          <m:t>𝑛</m:t>
                        </m:r>
                      </m:sub>
                    </m:sSub>
                    <m:r>
                      <a:rPr lang="zh-CN" altLang="en-US" sz="2800" i="1" dirty="0" smtClean="0">
                        <a:latin typeface="Cambria Math" panose="02040503050406030204" pitchFamily="18" charset="0"/>
                      </a:rPr>
                      <m:t> </m:t>
                    </m:r>
                  </m:oMath>
                </a14:m>
                <a:r>
                  <a:rPr lang="zh-CN" altLang="en-US" sz="2800" dirty="0"/>
                  <a:t>为准确解</a:t>
                </a:r>
                <a:r>
                  <a:rPr lang="en-US" altLang="zh-CN" sz="2800" dirty="0"/>
                  <a:t>(</a:t>
                </a:r>
                <a:r>
                  <a:rPr lang="zh-CN" altLang="en-US" sz="2800" dirty="0"/>
                  <a:t>精确解</a:t>
                </a:r>
                <a:r>
                  <a:rPr lang="en-US" altLang="zh-CN" sz="2800" dirty="0"/>
                  <a:t>)</a:t>
                </a:r>
                <a14:m>
                  <m:oMath xmlns:m="http://schemas.openxmlformats.org/officeDocument/2006/math">
                    <m:r>
                      <a:rPr lang="en-US" altLang="zh-CN" sz="2800" b="0" i="1" smtClean="0">
                        <a:latin typeface="Cambria Math" panose="02040503050406030204" pitchFamily="18" charset="0"/>
                      </a:rPr>
                      <m:t>𝑦</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𝑡</m:t>
                        </m:r>
                      </m:e>
                      <m:sub>
                        <m:r>
                          <a:rPr lang="en-US" altLang="zh-CN" sz="2800" b="0" i="1" smtClean="0">
                            <a:latin typeface="Cambria Math" panose="02040503050406030204" pitchFamily="18" charset="0"/>
                          </a:rPr>
                          <m:t>𝑛</m:t>
                        </m:r>
                      </m:sub>
                    </m:sSub>
                    <m:r>
                      <a:rPr lang="en-US" altLang="zh-CN" sz="2800" b="0" i="1" smtClean="0">
                        <a:latin typeface="Cambria Math" panose="02040503050406030204" pitchFamily="18" charset="0"/>
                      </a:rPr>
                      <m:t>)</m:t>
                    </m:r>
                  </m:oMath>
                </a14:m>
                <a:r>
                  <a:rPr lang="en-US" altLang="zh-CN" sz="2800" dirty="0"/>
                  <a:t> </a:t>
                </a:r>
                <a:r>
                  <a:rPr lang="zh-CN" altLang="en-US" sz="2800" dirty="0"/>
                  <a:t>的近似解；</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𝑄</m:t>
                        </m:r>
                      </m:e>
                      <m:sub>
                        <m:r>
                          <a:rPr lang="en-US" altLang="zh-CN" sz="2800" i="1">
                            <a:latin typeface="Cambria Math" panose="02040503050406030204" pitchFamily="18" charset="0"/>
                          </a:rPr>
                          <m:t>𝑛</m:t>
                        </m:r>
                      </m:sub>
                    </m:sSub>
                  </m:oMath>
                </a14:m>
                <a:r>
                  <a:rPr lang="zh-CN" altLang="en-US" sz="2800" dirty="0"/>
                  <a:t> 是准确积分值的近似值</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67544" y="1916832"/>
                <a:ext cx="8487544" cy="4435623"/>
              </a:xfrm>
              <a:blipFill>
                <a:blip r:embed="rId3"/>
                <a:stretch>
                  <a:fillRect l="-359" t="-1648" r="-144" b="-178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37</a:t>
            </a:fld>
            <a:endParaRPr lang="en-US" altLang="zh-CN"/>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9672" y="2992363"/>
            <a:ext cx="6896100" cy="1228725"/>
          </a:xfrm>
          <a:prstGeom prst="rect">
            <a:avLst/>
          </a:prstGeom>
        </p:spPr>
      </p:pic>
    </p:spTree>
    <p:extLst>
      <p:ext uri="{BB962C8B-B14F-4D97-AF65-F5344CB8AC3E}">
        <p14:creationId xmlns:p14="http://schemas.microsoft.com/office/powerpoint/2010/main" val="2300874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600" y="1748408"/>
                <a:ext cx="7772400" cy="4704928"/>
              </a:xfrm>
            </p:spPr>
            <p:txBody>
              <a:bodyPr/>
              <a:lstStyle/>
              <a:p>
                <a:pPr>
                  <a:lnSpc>
                    <a:spcPct val="150000"/>
                  </a:lnSpc>
                </a:pPr>
                <a:r>
                  <a:rPr lang="zh-CN" altLang="en-US" sz="2800" dirty="0"/>
                  <a:t>数值积分是解决在已知初值的情况下，对</a:t>
                </a:r>
                <a14:m>
                  <m:oMath xmlns:m="http://schemas.openxmlformats.org/officeDocument/2006/math">
                    <m:r>
                      <m:rPr>
                        <m:sty m:val="p"/>
                      </m:rPr>
                      <a:rPr lang="en-US" altLang="zh-CN" sz="2800" dirty="0">
                        <a:latin typeface="Cambria Math" panose="02040503050406030204" pitchFamily="18" charset="0"/>
                      </a:rPr>
                      <m:t>f</m:t>
                    </m:r>
                    <m:r>
                      <a:rPr lang="en-US" altLang="zh-CN" sz="2800" dirty="0">
                        <a:latin typeface="Cambria Math" panose="02040503050406030204" pitchFamily="18" charset="0"/>
                      </a:rPr>
                      <m:t>(</m:t>
                    </m:r>
                    <m:r>
                      <m:rPr>
                        <m:sty m:val="p"/>
                      </m:rPr>
                      <a:rPr lang="en-US" altLang="zh-CN" sz="2800" dirty="0">
                        <a:latin typeface="Cambria Math" panose="02040503050406030204" pitchFamily="18" charset="0"/>
                      </a:rPr>
                      <m:t>t</m:t>
                    </m:r>
                    <m:r>
                      <a:rPr lang="en-US" altLang="zh-CN" sz="2800" dirty="0">
                        <a:latin typeface="Cambria Math" panose="02040503050406030204" pitchFamily="18" charset="0"/>
                      </a:rPr>
                      <m:t>,</m:t>
                    </m:r>
                    <m:r>
                      <m:rPr>
                        <m:sty m:val="p"/>
                      </m:rPr>
                      <a:rPr lang="en-US" altLang="zh-CN" sz="2800" dirty="0">
                        <a:latin typeface="Cambria Math" panose="02040503050406030204" pitchFamily="18" charset="0"/>
                      </a:rPr>
                      <m:t>y</m:t>
                    </m:r>
                    <m:r>
                      <a:rPr lang="en-US" altLang="zh-CN" sz="2800" dirty="0">
                        <a:latin typeface="Cambria Math" panose="02040503050406030204" pitchFamily="18" charset="0"/>
                      </a:rPr>
                      <m:t>)</m:t>
                    </m:r>
                  </m:oMath>
                </a14:m>
                <a:r>
                  <a:rPr lang="zh-CN" altLang="en-US" sz="2800" dirty="0"/>
                  <a:t>进行近似积分，对</a:t>
                </a:r>
                <a14:m>
                  <m:oMath xmlns:m="http://schemas.openxmlformats.org/officeDocument/2006/math">
                    <m:r>
                      <m:rPr>
                        <m:sty m:val="p"/>
                      </m:rPr>
                      <a:rPr lang="en-US" altLang="zh-CN" sz="2800" dirty="0" smtClean="0">
                        <a:latin typeface="Cambria Math" panose="02040503050406030204" pitchFamily="18" charset="0"/>
                      </a:rPr>
                      <m:t>y</m:t>
                    </m:r>
                    <m:r>
                      <a:rPr lang="en-US" altLang="zh-CN" sz="2800" i="1" dirty="0" smtClean="0">
                        <a:latin typeface="Cambria Math" panose="02040503050406030204" pitchFamily="18" charset="0"/>
                      </a:rPr>
                      <m:t> </m:t>
                    </m:r>
                    <m:r>
                      <a:rPr lang="en-US" altLang="zh-CN" sz="2800" dirty="0">
                        <a:latin typeface="Cambria Math" panose="02040503050406030204" pitchFamily="18" charset="0"/>
                      </a:rPr>
                      <m:t>(</m:t>
                    </m:r>
                    <m:r>
                      <m:rPr>
                        <m:sty m:val="p"/>
                      </m:rPr>
                      <a:rPr lang="en-US" altLang="zh-CN" sz="2800" dirty="0">
                        <a:latin typeface="Cambria Math" panose="02040503050406030204" pitchFamily="18" charset="0"/>
                      </a:rPr>
                      <m:t>t</m:t>
                    </m:r>
                    <m:r>
                      <a:rPr lang="en-US" altLang="zh-CN" sz="2800" dirty="0">
                        <a:latin typeface="Cambria Math" panose="02040503050406030204" pitchFamily="18" charset="0"/>
                      </a:rPr>
                      <m:t>)</m:t>
                    </m:r>
                  </m:oMath>
                </a14:m>
                <a:r>
                  <a:rPr lang="zh-CN" altLang="en-US" sz="2800" dirty="0"/>
                  <a:t>进行数值求解的方法，数学上称为微分方程初值问题的数值方法。</a:t>
                </a:r>
              </a:p>
              <a:p>
                <a:pPr>
                  <a:lnSpc>
                    <a:spcPct val="150000"/>
                  </a:lnSpc>
                </a:pPr>
                <a:r>
                  <a:rPr lang="zh-CN" altLang="en-US" sz="2800" dirty="0"/>
                  <a:t>所谓数值解法，就是寻求初值问题的解在一系列离散点</a:t>
                </a:r>
                <a14:m>
                  <m:oMath xmlns:m="http://schemas.openxmlformats.org/officeDocument/2006/math">
                    <m:r>
                      <a:rPr lang="en-US" altLang="zh-CN" sz="2800" i="1">
                        <a:latin typeface="Cambria Math" panose="02040503050406030204" pitchFamily="18" charset="0"/>
                      </a:rPr>
                      <m:t>𝑡</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𝑡</m:t>
                        </m:r>
                      </m:e>
                      <m:sub>
                        <m:r>
                          <a:rPr lang="en-US" altLang="zh-CN" sz="2800" i="1">
                            <a:latin typeface="Cambria Math" panose="02040503050406030204" pitchFamily="18" charset="0"/>
                          </a:rPr>
                          <m:t>0</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𝑡</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𝑡</m:t>
                        </m:r>
                      </m:e>
                      <m:sub>
                        <m:r>
                          <a:rPr lang="en-US" altLang="zh-CN" sz="2800" i="1">
                            <a:latin typeface="Cambria Math" panose="02040503050406030204" pitchFamily="18" charset="0"/>
                            <a:ea typeface="Cambria Math" panose="02040503050406030204" pitchFamily="18" charset="0"/>
                          </a:rPr>
                          <m:t>𝑛</m:t>
                        </m:r>
                      </m:sub>
                    </m:sSub>
                    <m:r>
                      <a:rPr lang="en-US" altLang="zh-CN" sz="2800" i="1">
                        <a:latin typeface="Cambria Math" panose="02040503050406030204" pitchFamily="18" charset="0"/>
                        <a:ea typeface="Cambria Math" panose="02040503050406030204" pitchFamily="18" charset="0"/>
                      </a:rPr>
                      <m:t>⋯</m:t>
                    </m:r>
                  </m:oMath>
                </a14:m>
                <a:r>
                  <a:rPr lang="zh-CN" altLang="en-US" sz="2800" dirty="0"/>
                  <a:t>的近似解</a:t>
                </a:r>
                <a14:m>
                  <m:oMath xmlns:m="http://schemas.openxmlformats.org/officeDocument/2006/math">
                    <m:r>
                      <a:rPr lang="en-US" altLang="zh-CN" sz="2800" b="0" i="1" smtClean="0">
                        <a:latin typeface="Cambria Math" panose="02040503050406030204" pitchFamily="18" charset="0"/>
                      </a:rPr>
                      <m:t>𝑦</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i="1">
                            <a:latin typeface="Cambria Math" panose="02040503050406030204" pitchFamily="18" charset="0"/>
                          </a:rPr>
                          <m:t>0</m:t>
                        </m:r>
                      </m:sub>
                    </m:sSub>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𝑦</m:t>
                        </m:r>
                      </m:e>
                      <m:sub>
                        <m:r>
                          <a:rPr lang="en-US" altLang="zh-CN" sz="2800" i="1">
                            <a:latin typeface="Cambria Math" panose="02040503050406030204" pitchFamily="18" charset="0"/>
                            <a:ea typeface="Cambria Math" panose="02040503050406030204" pitchFamily="18" charset="0"/>
                          </a:rPr>
                          <m:t>𝑛</m:t>
                        </m:r>
                      </m:sub>
                    </m:sSub>
                    <m:r>
                      <a:rPr lang="en-US" altLang="zh-CN" sz="2800" i="1">
                        <a:latin typeface="Cambria Math" panose="02040503050406030204" pitchFamily="18" charset="0"/>
                        <a:ea typeface="Cambria Math" panose="02040503050406030204" pitchFamily="18" charset="0"/>
                      </a:rPr>
                      <m:t>⋯</m:t>
                    </m:r>
                  </m:oMath>
                </a14:m>
                <a:r>
                  <a:rPr lang="zh-CN" altLang="en-US" sz="2800" dirty="0"/>
                  <a:t> ，</a:t>
                </a:r>
                <a:r>
                  <a:rPr lang="en-US" altLang="zh-CN" sz="2800" dirty="0"/>
                  <a:t>(</a:t>
                </a:r>
                <a:r>
                  <a:rPr lang="zh-CN" altLang="en-US" sz="2800" dirty="0"/>
                  <a:t>即数值解</a:t>
                </a:r>
                <a:r>
                  <a:rPr lang="en-US" altLang="zh-CN" sz="2800" dirty="0"/>
                  <a:t>)</a:t>
                </a:r>
                <a:r>
                  <a:rPr lang="zh-CN" altLang="en-US" sz="2800" dirty="0"/>
                  <a:t>。相邻两个离散点的间距</a:t>
                </a:r>
                <a14:m>
                  <m:oMath xmlns:m="http://schemas.openxmlformats.org/officeDocument/2006/math">
                    <m:r>
                      <a:rPr lang="en-US" altLang="zh-CN" sz="2800" b="0" i="1" smtClean="0">
                        <a:latin typeface="Cambria Math" panose="02040503050406030204" pitchFamily="18" charset="0"/>
                      </a:rPr>
                      <m:t>h</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𝑡</m:t>
                        </m:r>
                      </m:e>
                      <m:sub>
                        <m:r>
                          <a:rPr lang="en-US" altLang="zh-CN" sz="2800" b="0" i="1" smtClean="0">
                            <a:latin typeface="Cambria Math" panose="02040503050406030204" pitchFamily="18" charset="0"/>
                          </a:rPr>
                          <m:t>𝑛</m:t>
                        </m:r>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𝑡</m:t>
                        </m:r>
                      </m:e>
                      <m:sub>
                        <m:r>
                          <a:rPr lang="en-US" altLang="zh-CN" sz="2800" b="0" i="1" smtClean="0">
                            <a:latin typeface="Cambria Math" panose="02040503050406030204" pitchFamily="18" charset="0"/>
                          </a:rPr>
                          <m:t>𝑛</m:t>
                        </m:r>
                      </m:sub>
                    </m:sSub>
                  </m:oMath>
                </a14:m>
                <a:r>
                  <a:rPr lang="zh-CN" altLang="en-US" sz="2800" dirty="0"/>
                  <a:t>称为计算步长或步距。</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600" y="1748408"/>
                <a:ext cx="7772400" cy="4704928"/>
              </a:xfrm>
              <a:blipFill>
                <a:blip r:embed="rId2"/>
                <a:stretch>
                  <a:fillRect l="-314" r="-392" b="-51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38</a:t>
            </a:fld>
            <a:endParaRPr lang="en-US" altLang="zh-CN"/>
          </a:p>
        </p:txBody>
      </p:sp>
    </p:spTree>
    <p:extLst>
      <p:ext uri="{BB962C8B-B14F-4D97-AF65-F5344CB8AC3E}">
        <p14:creationId xmlns:p14="http://schemas.microsoft.com/office/powerpoint/2010/main" val="729127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几个概念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55576" y="2017713"/>
                <a:ext cx="8199512" cy="4114800"/>
              </a:xfrm>
            </p:spPr>
            <p:txBody>
              <a:bodyPr/>
              <a:lstStyle/>
              <a:p>
                <a:r>
                  <a:rPr lang="zh-CN" altLang="en-US" b="1" dirty="0">
                    <a:solidFill>
                      <a:srgbClr val="FF0000"/>
                    </a:solidFill>
                  </a:rPr>
                  <a:t>单步法与多步法</a:t>
                </a:r>
              </a:p>
              <a:p>
                <a:pPr marL="0" indent="0">
                  <a:buNone/>
                </a:pPr>
                <a:r>
                  <a:rPr lang="zh-CN" altLang="en-US" dirty="0"/>
                  <a:t>   只由前一时刻的数值</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𝑦</m:t>
                        </m:r>
                      </m:e>
                      <m:sub>
                        <m:r>
                          <a:rPr lang="en-US" altLang="zh-CN" i="1">
                            <a:latin typeface="Cambria Math" panose="02040503050406030204" pitchFamily="18" charset="0"/>
                            <a:ea typeface="Cambria Math" panose="02040503050406030204" pitchFamily="18" charset="0"/>
                          </a:rPr>
                          <m:t>𝑛</m:t>
                        </m:r>
                      </m:sub>
                    </m:sSub>
                  </m:oMath>
                </a14:m>
                <a:r>
                  <a:rPr lang="zh-CN" altLang="en-US" dirty="0"/>
                  <a:t>就可求得后一时刻的数值</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𝑦</m:t>
                        </m:r>
                      </m:e>
                      <m:sub>
                        <m:r>
                          <a:rPr lang="en-US" altLang="zh-CN" i="1">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+1</m:t>
                        </m:r>
                      </m:sub>
                    </m:sSub>
                  </m:oMath>
                </a14:m>
                <a:r>
                  <a:rPr lang="zh-CN" altLang="en-US" dirty="0"/>
                  <a:t>，称为单步法，它是一种能自动启动的算法。反之，计算</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𝑦</m:t>
                        </m:r>
                      </m:e>
                      <m:sub>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+1</m:t>
                        </m:r>
                      </m:sub>
                    </m:sSub>
                  </m:oMath>
                </a14:m>
                <a:r>
                  <a:rPr lang="zh-CN" altLang="en-US" dirty="0"/>
                  <a:t>需要用到过去</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 </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−2</m:t>
                        </m:r>
                      </m:sub>
                    </m:sSub>
                  </m:oMath>
                </a14:m>
                <a:r>
                  <a:rPr lang="zh-CN" altLang="en-US" dirty="0"/>
                  <a:t>时刻</a:t>
                </a:r>
                <a14:m>
                  <m:oMath xmlns:m="http://schemas.openxmlformats.org/officeDocument/2006/math">
                    <m:r>
                      <a:rPr lang="en-US" altLang="zh-CN" b="0" i="1" smtClean="0">
                        <a:latin typeface="Cambria Math" panose="02040503050406030204" pitchFamily="18" charset="0"/>
                      </a:rPr>
                      <m:t>𝑦</m:t>
                    </m:r>
                  </m:oMath>
                </a14:m>
                <a:r>
                  <a:rPr lang="zh-CN" altLang="en-US" dirty="0"/>
                  <a:t> 的数据，则称为多步法。</a:t>
                </a:r>
                <a:endParaRPr lang="en-US" altLang="zh-CN" dirty="0"/>
              </a:p>
              <a:p>
                <a:r>
                  <a:rPr lang="zh-CN" altLang="en-US" dirty="0"/>
                  <a:t>多步法不能自启动，计算</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𝑦</m:t>
                        </m:r>
                      </m:e>
                      <m:sub>
                        <m:r>
                          <a:rPr lang="en-US" altLang="zh-CN" i="1">
                            <a:latin typeface="Cambria Math" panose="02040503050406030204" pitchFamily="18" charset="0"/>
                            <a:ea typeface="Cambria Math" panose="02040503050406030204" pitchFamily="18" charset="0"/>
                          </a:rPr>
                          <m:t>𝑛</m:t>
                        </m:r>
                      </m:sub>
                    </m:sSub>
                  </m:oMath>
                </a14:m>
                <a:r>
                  <a:rPr lang="zh-CN" altLang="en-US" dirty="0"/>
                  <a:t>需要</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𝑛</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𝑛</m:t>
                        </m:r>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 </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−2</m:t>
                        </m:r>
                      </m:sub>
                    </m:sSub>
                  </m:oMath>
                </a14:m>
                <a:r>
                  <a:rPr lang="zh-CN" altLang="en-US" dirty="0"/>
                  <a:t>非同一时刻值。</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55576" y="2017713"/>
                <a:ext cx="8199512" cy="4114800"/>
              </a:xfrm>
              <a:blipFill>
                <a:blip r:embed="rId2"/>
                <a:stretch>
                  <a:fillRect l="-1933" t="-222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39</a:t>
            </a:fld>
            <a:endParaRPr lang="en-US" altLang="zh-CN"/>
          </a:p>
        </p:txBody>
      </p:sp>
    </p:spTree>
    <p:extLst>
      <p:ext uri="{BB962C8B-B14F-4D97-AF65-F5344CB8AC3E}">
        <p14:creationId xmlns:p14="http://schemas.microsoft.com/office/powerpoint/2010/main" val="271066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68313" y="260350"/>
            <a:ext cx="2819400" cy="685800"/>
          </a:xfr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p:spPr>
        <p:txBody>
          <a:bodyPr>
            <a:flatTx/>
          </a:bodyPr>
          <a:lstStyle/>
          <a:p>
            <a:pPr algn="l" eaLnBrk="1" hangingPunct="1"/>
            <a:r>
              <a:rPr lang="zh-CN" altLang="en-US" sz="3200" b="1">
                <a:solidFill>
                  <a:srgbClr val="FF0066"/>
                </a:solidFill>
                <a:ea typeface="楷体_GB2312" pitchFamily="49" charset="-122"/>
              </a:rPr>
              <a:t>单步法的优点</a:t>
            </a:r>
          </a:p>
        </p:txBody>
      </p:sp>
      <p:sp>
        <p:nvSpPr>
          <p:cNvPr id="40963" name="Rectangle 3"/>
          <p:cNvSpPr>
            <a:spLocks noGrp="1" noChangeArrowheads="1"/>
          </p:cNvSpPr>
          <p:nvPr>
            <p:ph type="body" idx="1"/>
          </p:nvPr>
        </p:nvSpPr>
        <p:spPr>
          <a:xfrm>
            <a:off x="395288" y="1196975"/>
            <a:ext cx="8382000" cy="1871985"/>
          </a:xfrm>
          <a:solidFill>
            <a:srgbClr val="CCECFF"/>
          </a:solidFill>
        </p:spPr>
        <p:txBody>
          <a:bodyPr/>
          <a:lstStyle/>
          <a:p>
            <a:pPr marL="0" indent="0" eaLnBrk="1" hangingPunct="1">
              <a:lnSpc>
                <a:spcPct val="150000"/>
              </a:lnSpc>
              <a:buFontTx/>
              <a:buNone/>
            </a:pPr>
            <a:r>
              <a:rPr lang="en-US" altLang="zh-CN" sz="2400" b="1" dirty="0">
                <a:solidFill>
                  <a:srgbClr val="0D17D7"/>
                </a:solidFill>
                <a:latin typeface="宋体" panose="02010600030101010101" pitchFamily="2" charset="-122"/>
              </a:rPr>
              <a:t>(1)</a:t>
            </a:r>
            <a:r>
              <a:rPr lang="zh-CN" altLang="en-US" sz="2400" b="1" dirty="0">
                <a:solidFill>
                  <a:srgbClr val="0D17D7"/>
                </a:solidFill>
                <a:latin typeface="宋体" panose="02010600030101010101" pitchFamily="2" charset="-122"/>
              </a:rPr>
              <a:t>需要存储的数据量少，占用的存储空间少。</a:t>
            </a:r>
          </a:p>
          <a:p>
            <a:pPr marL="0" indent="0" eaLnBrk="1" hangingPunct="1">
              <a:lnSpc>
                <a:spcPct val="150000"/>
              </a:lnSpc>
              <a:buFontTx/>
              <a:buNone/>
            </a:pPr>
            <a:r>
              <a:rPr lang="en-US" altLang="zh-CN" sz="2400" b="1" dirty="0">
                <a:solidFill>
                  <a:srgbClr val="0D17D7"/>
                </a:solidFill>
                <a:latin typeface="宋体" panose="02010600030101010101" pitchFamily="2" charset="-122"/>
              </a:rPr>
              <a:t>(2)</a:t>
            </a:r>
            <a:r>
              <a:rPr lang="zh-CN" altLang="en-US" sz="2400" b="1" dirty="0">
                <a:solidFill>
                  <a:srgbClr val="0D17D7"/>
                </a:solidFill>
                <a:latin typeface="宋体" panose="02010600030101010101" pitchFamily="2" charset="-122"/>
              </a:rPr>
              <a:t>只需知道初值，即可启动递推公式进行运算，可自启动。</a:t>
            </a:r>
          </a:p>
          <a:p>
            <a:pPr marL="0" indent="0" eaLnBrk="1" hangingPunct="1">
              <a:lnSpc>
                <a:spcPct val="150000"/>
              </a:lnSpc>
              <a:buFontTx/>
              <a:buNone/>
            </a:pPr>
            <a:r>
              <a:rPr lang="en-US" altLang="zh-CN" sz="2400" b="1" dirty="0">
                <a:solidFill>
                  <a:srgbClr val="0D17D7"/>
                </a:solidFill>
                <a:latin typeface="宋体" panose="02010600030101010101" pitchFamily="2" charset="-122"/>
              </a:rPr>
              <a:t>(3)</a:t>
            </a:r>
            <a:r>
              <a:rPr lang="zh-CN" altLang="en-US" sz="2400" b="1" dirty="0">
                <a:solidFill>
                  <a:srgbClr val="0D17D7"/>
                </a:solidFill>
                <a:latin typeface="宋体" panose="02010600030101010101" pitchFamily="2" charset="-122"/>
              </a:rPr>
              <a:t>容易实现变步长运算。</a:t>
            </a:r>
            <a:endParaRPr lang="zh-CN" altLang="en-US" sz="2400" dirty="0">
              <a:solidFill>
                <a:srgbClr val="0D17D7"/>
              </a:solidFill>
              <a:latin typeface="宋体" panose="02010600030101010101" pitchFamily="2" charset="-122"/>
            </a:endParaRPr>
          </a:p>
        </p:txBody>
      </p:sp>
      <p:sp>
        <p:nvSpPr>
          <p:cNvPr id="40964" name="Rectangle 4"/>
          <p:cNvSpPr>
            <a:spLocks noChangeArrowheads="1"/>
          </p:cNvSpPr>
          <p:nvPr/>
        </p:nvSpPr>
        <p:spPr bwMode="auto">
          <a:xfrm>
            <a:off x="323850" y="4647327"/>
            <a:ext cx="8424863" cy="1754326"/>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lnSpc>
                <a:spcPct val="150000"/>
              </a:lnSpc>
              <a:spcBef>
                <a:spcPct val="0"/>
              </a:spcBef>
            </a:pPr>
            <a:r>
              <a:rPr lang="zh-CN" altLang="en-US" baseline="0" dirty="0">
                <a:solidFill>
                  <a:srgbClr val="0D17D7"/>
                </a:solidFill>
                <a:latin typeface="宋体" panose="02010600030101010101" pitchFamily="2" charset="-122"/>
                <a:ea typeface="宋体" panose="02010600030101010101" pitchFamily="2" charset="-122"/>
              </a:rPr>
              <a:t>（</a:t>
            </a:r>
            <a:r>
              <a:rPr lang="en-US" altLang="zh-CN" baseline="0" dirty="0">
                <a:solidFill>
                  <a:srgbClr val="0D17D7"/>
                </a:solidFill>
                <a:latin typeface="宋体" panose="02010600030101010101" pitchFamily="2" charset="-122"/>
                <a:ea typeface="宋体" panose="02010600030101010101" pitchFamily="2" charset="-122"/>
              </a:rPr>
              <a:t>1</a:t>
            </a:r>
            <a:r>
              <a:rPr lang="zh-CN" altLang="en-US" baseline="0" dirty="0">
                <a:solidFill>
                  <a:srgbClr val="0D17D7"/>
                </a:solidFill>
                <a:latin typeface="宋体" panose="02010600030101010101" pitchFamily="2" charset="-122"/>
                <a:ea typeface="宋体" panose="02010600030101010101" pitchFamily="2" charset="-122"/>
              </a:rPr>
              <a:t>）多步法不能从</a:t>
            </a:r>
            <a:r>
              <a:rPr lang="en-US" altLang="zh-CN" i="1" baseline="0" dirty="0">
                <a:solidFill>
                  <a:srgbClr val="0D17D7"/>
                </a:solidFill>
                <a:latin typeface="宋体" panose="02010600030101010101" pitchFamily="2" charset="-122"/>
                <a:ea typeface="宋体" panose="02010600030101010101" pitchFamily="2" charset="-122"/>
              </a:rPr>
              <a:t>t</a:t>
            </a:r>
            <a:r>
              <a:rPr lang="en-US" altLang="zh-CN" baseline="0" dirty="0">
                <a:solidFill>
                  <a:srgbClr val="0D17D7"/>
                </a:solidFill>
                <a:latin typeface="宋体" panose="02010600030101010101" pitchFamily="2" charset="-122"/>
                <a:ea typeface="宋体" panose="02010600030101010101" pitchFamily="2" charset="-122"/>
              </a:rPr>
              <a:t>=0</a:t>
            </a:r>
            <a:r>
              <a:rPr lang="zh-CN" altLang="en-US" baseline="0" dirty="0">
                <a:solidFill>
                  <a:srgbClr val="0D17D7"/>
                </a:solidFill>
                <a:latin typeface="宋体" panose="02010600030101010101" pitchFamily="2" charset="-122"/>
                <a:ea typeface="宋体" panose="02010600030101010101" pitchFamily="2" charset="-122"/>
              </a:rPr>
              <a:t>自启动，通常需要选用相同阶次精度的单步法来启动，获得所需前</a:t>
            </a:r>
            <a:r>
              <a:rPr lang="en-US" altLang="zh-CN" i="1" baseline="0" dirty="0">
                <a:solidFill>
                  <a:srgbClr val="0D17D7"/>
                </a:solidFill>
                <a:latin typeface="宋体" panose="02010600030101010101" pitchFamily="2" charset="-122"/>
                <a:ea typeface="宋体" panose="02010600030101010101" pitchFamily="2" charset="-122"/>
              </a:rPr>
              <a:t>k</a:t>
            </a:r>
            <a:r>
              <a:rPr lang="zh-CN" altLang="en-US" baseline="0" dirty="0">
                <a:solidFill>
                  <a:srgbClr val="0D17D7"/>
                </a:solidFill>
                <a:latin typeface="宋体" panose="02010600030101010101" pitchFamily="2" charset="-122"/>
                <a:ea typeface="宋体" panose="02010600030101010101" pitchFamily="2" charset="-122"/>
              </a:rPr>
              <a:t>步数据后，方可转入多步法</a:t>
            </a:r>
          </a:p>
          <a:p>
            <a:pPr algn="l" eaLnBrk="1" hangingPunct="1">
              <a:lnSpc>
                <a:spcPct val="150000"/>
              </a:lnSpc>
              <a:spcBef>
                <a:spcPct val="0"/>
              </a:spcBef>
            </a:pPr>
            <a:r>
              <a:rPr lang="zh-CN" altLang="en-US" baseline="0" dirty="0">
                <a:solidFill>
                  <a:srgbClr val="0D17D7"/>
                </a:solidFill>
                <a:latin typeface="宋体" panose="02010600030101010101" pitchFamily="2" charset="-122"/>
                <a:ea typeface="宋体" panose="02010600030101010101" pitchFamily="2" charset="-122"/>
              </a:rPr>
              <a:t>（</a:t>
            </a:r>
            <a:r>
              <a:rPr lang="en-US" altLang="zh-CN" baseline="0" dirty="0">
                <a:solidFill>
                  <a:srgbClr val="0D17D7"/>
                </a:solidFill>
                <a:latin typeface="宋体" panose="02010600030101010101" pitchFamily="2" charset="-122"/>
                <a:ea typeface="宋体" panose="02010600030101010101" pitchFamily="2" charset="-122"/>
              </a:rPr>
              <a:t>2</a:t>
            </a:r>
            <a:r>
              <a:rPr lang="zh-CN" altLang="en-US" baseline="0" dirty="0">
                <a:solidFill>
                  <a:srgbClr val="0D17D7"/>
                </a:solidFill>
                <a:latin typeface="宋体" panose="02010600030101010101" pitchFamily="2" charset="-122"/>
                <a:ea typeface="宋体" panose="02010600030101010101" pitchFamily="2" charset="-122"/>
              </a:rPr>
              <a:t>）因多步法利用信息量大，因而比单步法更精确 </a:t>
            </a:r>
          </a:p>
        </p:txBody>
      </p:sp>
      <p:sp>
        <p:nvSpPr>
          <p:cNvPr id="40965" name="Rectangle 5"/>
          <p:cNvSpPr>
            <a:spLocks noChangeArrowheads="1"/>
          </p:cNvSpPr>
          <p:nvPr/>
        </p:nvSpPr>
        <p:spPr bwMode="auto">
          <a:xfrm>
            <a:off x="468313" y="3630602"/>
            <a:ext cx="2819400" cy="685800"/>
          </a:xfrm>
          <a:prstGeom prst="rect">
            <a:avLst/>
          </a:prstGeom>
          <a:solidFill>
            <a:srgbClr val="FFFFCC"/>
          </a:solidFill>
          <a:ln w="9525">
            <a:miter lim="800000"/>
            <a:headEnd/>
            <a:tailEnd/>
          </a:ln>
          <a:effectLst/>
          <a:scene3d>
            <a:camera prst="legacyObliqueTopRight"/>
            <a:lightRig rig="legacyFlat3" dir="b"/>
          </a:scene3d>
          <a:sp3d extrusionH="2270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flatTx/>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spcBef>
                <a:spcPct val="0"/>
              </a:spcBef>
            </a:pPr>
            <a:r>
              <a:rPr lang="zh-CN" altLang="en-US" sz="3200" baseline="0" dirty="0">
                <a:solidFill>
                  <a:srgbClr val="FF0066"/>
                </a:solidFill>
              </a:rPr>
              <a:t>多步法的特点</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72100052-AC57-408A-B64C-EE9B104E3A54}" type="slidenum">
              <a:rPr lang="en-US" altLang="zh-CN" sz="1400" b="0" baseline="0">
                <a:solidFill>
                  <a:schemeClr val="tx1"/>
                </a:solidFill>
                <a:ea typeface="宋体" panose="02010600030101010101" pitchFamily="2" charset="-122"/>
              </a:rPr>
              <a:pPr eaLnBrk="1" hangingPunct="1"/>
              <a:t>40</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126857381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0000"/>
                </a:solidFill>
              </a:rPr>
              <a:t>显式与隐式</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7584" y="1988840"/>
                <a:ext cx="7772400" cy="4254798"/>
              </a:xfrm>
            </p:spPr>
            <p:txBody>
              <a:bodyPr/>
              <a:lstStyle/>
              <a:p>
                <a:r>
                  <a:rPr lang="zh-CN" altLang="en-US" sz="2400" b="1" dirty="0">
                    <a:solidFill>
                      <a:srgbClr val="FF0000"/>
                    </a:solidFill>
                  </a:rPr>
                  <a:t>显式公式：</a:t>
                </a:r>
                <a:r>
                  <a:rPr lang="zh-CN" altLang="en-US" sz="2400" dirty="0"/>
                  <a:t>计算</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𝑦</m:t>
                        </m:r>
                      </m:e>
                      <m:sub>
                        <m:r>
                          <a:rPr lang="en-US" altLang="zh-CN" sz="2400" i="1">
                            <a:latin typeface="Cambria Math" panose="02040503050406030204" pitchFamily="18" charset="0"/>
                            <a:ea typeface="Cambria Math" panose="02040503050406030204" pitchFamily="18" charset="0"/>
                          </a:rPr>
                          <m:t>𝑛</m:t>
                        </m:r>
                        <m:r>
                          <a:rPr lang="en-US" altLang="zh-CN" sz="2400" i="1">
                            <a:latin typeface="Cambria Math" panose="02040503050406030204" pitchFamily="18" charset="0"/>
                            <a:ea typeface="Cambria Math" panose="02040503050406030204" pitchFamily="18" charset="0"/>
                          </a:rPr>
                          <m:t>+1</m:t>
                        </m:r>
                      </m:sub>
                    </m:sSub>
                  </m:oMath>
                </a14:m>
                <a:r>
                  <a:rPr lang="zh-CN" altLang="en-US" sz="2400" dirty="0"/>
                  <a:t>时所用数值均已算出来，或者说，在递推公式中只用到</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𝑛</m:t>
                        </m:r>
                      </m:sub>
                    </m:sSub>
                  </m:oMath>
                </a14:m>
                <a:r>
                  <a:rPr lang="zh-CN" altLang="en-US" sz="2400" dirty="0"/>
                  <a:t>及其之前的若干时刻的值，而不用</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𝑛</m:t>
                        </m:r>
                        <m:r>
                          <a:rPr lang="en-US" altLang="zh-CN" sz="2400" i="1">
                            <a:latin typeface="Cambria Math" panose="02040503050406030204" pitchFamily="18" charset="0"/>
                            <a:ea typeface="Cambria Math" panose="02040503050406030204" pitchFamily="18" charset="0"/>
                          </a:rPr>
                          <m:t>+1</m:t>
                        </m:r>
                      </m:sub>
                    </m:sSub>
                  </m:oMath>
                </a14:m>
                <a:r>
                  <a:rPr lang="zh-CN" altLang="en-US" sz="2400" dirty="0"/>
                  <a:t> 以及其后时刻的数值</a:t>
                </a:r>
                <a:endParaRPr lang="en-US" altLang="zh-CN" sz="2400" dirty="0"/>
              </a:p>
              <a:p>
                <a:r>
                  <a:rPr lang="zh-CN" altLang="en-US" sz="2400" b="1" dirty="0">
                    <a:solidFill>
                      <a:srgbClr val="FF0000"/>
                    </a:solidFill>
                  </a:rPr>
                  <a:t>隐式公式</a:t>
                </a:r>
                <a:r>
                  <a:rPr lang="zh-CN" altLang="en-US" sz="2400" dirty="0"/>
                  <a:t>：如果计算</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𝑦</m:t>
                        </m:r>
                      </m:e>
                      <m:sub>
                        <m:r>
                          <a:rPr lang="en-US" altLang="zh-CN" sz="2400" i="1">
                            <a:latin typeface="Cambria Math" panose="02040503050406030204" pitchFamily="18" charset="0"/>
                            <a:ea typeface="Cambria Math" panose="02040503050406030204" pitchFamily="18" charset="0"/>
                          </a:rPr>
                          <m:t>𝑛</m:t>
                        </m:r>
                        <m:r>
                          <a:rPr lang="en-US" altLang="zh-CN" sz="2400" i="1">
                            <a:latin typeface="Cambria Math" panose="02040503050406030204" pitchFamily="18" charset="0"/>
                            <a:ea typeface="Cambria Math" panose="02040503050406030204" pitchFamily="18" charset="0"/>
                          </a:rPr>
                          <m:t>+1</m:t>
                        </m:r>
                      </m:sub>
                    </m:sSub>
                  </m:oMath>
                </a14:m>
                <a:r>
                  <a:rPr lang="zh-CN" altLang="en-US" sz="2400" dirty="0"/>
                  <a:t>的递推公式用含有未知量</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𝑦</m:t>
                        </m:r>
                      </m:e>
                      <m:sub>
                        <m:r>
                          <a:rPr lang="en-US" altLang="zh-CN" sz="2400" i="1">
                            <a:latin typeface="Cambria Math" panose="02040503050406030204" pitchFamily="18" charset="0"/>
                            <a:ea typeface="Cambria Math" panose="02040503050406030204" pitchFamily="18" charset="0"/>
                          </a:rPr>
                          <m:t>𝑛</m:t>
                        </m:r>
                        <m:r>
                          <a:rPr lang="en-US" altLang="zh-CN" sz="2400" i="1">
                            <a:latin typeface="Cambria Math" panose="02040503050406030204" pitchFamily="18" charset="0"/>
                            <a:ea typeface="Cambria Math" panose="02040503050406030204" pitchFamily="18" charset="0"/>
                          </a:rPr>
                          <m:t>+1</m:t>
                        </m:r>
                      </m:sub>
                    </m:sSub>
                  </m:oMath>
                </a14:m>
                <a:r>
                  <a:rPr lang="zh-CN" altLang="en-US" sz="2400" dirty="0"/>
                  <a:t>的递推公式。</a:t>
                </a:r>
                <a:endParaRPr lang="en-US" altLang="zh-CN" sz="2400" dirty="0"/>
              </a:p>
              <a:p>
                <a:r>
                  <a:rPr lang="zh-CN" altLang="en-US" sz="2400" dirty="0"/>
                  <a:t>使用隐式公式时，需借助于一个显式公式估计一个初值，然后再用隐式公式进行迭代运算，此为预估</a:t>
                </a:r>
                <a:r>
                  <a:rPr lang="en-US" altLang="zh-CN" sz="2400" dirty="0"/>
                  <a:t>—</a:t>
                </a:r>
                <a:r>
                  <a:rPr lang="zh-CN" altLang="en-US" sz="2400" dirty="0"/>
                  <a:t>校正法。</a:t>
                </a:r>
                <a:endParaRPr lang="en-US" altLang="zh-CN" sz="2400" dirty="0"/>
              </a:p>
              <a:p>
                <a:r>
                  <a:rPr lang="zh-CN" altLang="en-US" sz="2400" dirty="0"/>
                  <a:t>隐式公式不能自启动</a:t>
                </a:r>
                <a:endParaRPr lang="en-US" altLang="zh-CN" sz="2400" dirty="0"/>
              </a:p>
              <a:p>
                <a:r>
                  <a:rPr lang="zh-CN" altLang="en-US" sz="2400" dirty="0"/>
                  <a:t>通常隐式公式有更高的精度和稳定性。</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7584" y="1988840"/>
                <a:ext cx="7772400" cy="4254798"/>
              </a:xfrm>
              <a:blipFill>
                <a:blip r:embed="rId2"/>
                <a:stretch>
                  <a:fillRect l="-157" t="-157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41</a:t>
            </a:fld>
            <a:endParaRPr lang="en-US" altLang="zh-CN"/>
          </a:p>
        </p:txBody>
      </p:sp>
    </p:spTree>
    <p:extLst>
      <p:ext uri="{BB962C8B-B14F-4D97-AF65-F5344CB8AC3E}">
        <p14:creationId xmlns:p14="http://schemas.microsoft.com/office/powerpoint/2010/main" val="123585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sz="4000" b="1" dirty="0"/>
              <a:t>显式与隐式</a:t>
            </a:r>
          </a:p>
        </p:txBody>
      </p:sp>
      <p:sp>
        <p:nvSpPr>
          <p:cNvPr id="41987" name="Rectangle 3"/>
          <p:cNvSpPr>
            <a:spLocks noGrp="1" noChangeArrowheads="1"/>
          </p:cNvSpPr>
          <p:nvPr>
            <p:ph idx="1"/>
          </p:nvPr>
        </p:nvSpPr>
        <p:spPr>
          <a:xfrm>
            <a:off x="395288" y="2017713"/>
            <a:ext cx="8559800" cy="4114800"/>
          </a:xfrm>
        </p:spPr>
        <p:txBody>
          <a:bodyPr/>
          <a:lstStyle/>
          <a:p>
            <a:pPr eaLnBrk="1" hangingPunct="1">
              <a:lnSpc>
                <a:spcPct val="150000"/>
              </a:lnSpc>
              <a:spcBef>
                <a:spcPct val="0"/>
              </a:spcBef>
            </a:pPr>
            <a:r>
              <a:rPr lang="zh-CN" altLang="en-US" sz="3000" dirty="0"/>
              <a:t>隐式算法精度高，对误差有较强的抑制作用；</a:t>
            </a:r>
          </a:p>
          <a:p>
            <a:pPr eaLnBrk="1" hangingPunct="1">
              <a:lnSpc>
                <a:spcPct val="150000"/>
              </a:lnSpc>
              <a:spcBef>
                <a:spcPct val="0"/>
              </a:spcBef>
            </a:pPr>
            <a:r>
              <a:rPr lang="zh-CN" altLang="en-US" sz="3000" dirty="0"/>
              <a:t>尽管隐式算法计算过程复杂，计算速度慢，但有时基于对精度、数值稳定性等考虑，仍经常被使用 。</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61F5509F-EB78-48F6-A71B-1FD928D61901}" type="slidenum">
              <a:rPr lang="en-US" altLang="zh-CN" sz="1400" b="0" baseline="0">
                <a:solidFill>
                  <a:schemeClr val="tx1"/>
                </a:solidFill>
                <a:ea typeface="宋体" panose="02010600030101010101" pitchFamily="2" charset="-122"/>
              </a:rPr>
              <a:pPr eaLnBrk="1" hangingPunct="1"/>
              <a:t>42</a:t>
            </a:fld>
            <a:endParaRPr lang="en-US" altLang="zh-CN" sz="1400" b="0" baseline="0">
              <a:solidFill>
                <a:schemeClr val="tx1"/>
              </a:solidFill>
              <a:ea typeface="宋体" panose="02010600030101010101" pitchFamily="2" charset="-122"/>
            </a:endParaRPr>
          </a:p>
        </p:txBody>
      </p:sp>
      <p:sp>
        <p:nvSpPr>
          <p:cNvPr id="41988" name="Rectangle 4"/>
          <p:cNvSpPr>
            <a:spLocks noChangeArrowheads="1"/>
          </p:cNvSpPr>
          <p:nvPr/>
        </p:nvSpPr>
        <p:spPr bwMode="auto">
          <a:xfrm>
            <a:off x="179512" y="5344617"/>
            <a:ext cx="84248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spcBef>
                <a:spcPct val="0"/>
              </a:spcBef>
            </a:pPr>
            <a:r>
              <a:rPr lang="en-US" altLang="zh-CN" sz="2800" baseline="0" dirty="0">
                <a:solidFill>
                  <a:srgbClr val="660066"/>
                </a:solidFill>
                <a:latin typeface="宋体" panose="02010600030101010101" pitchFamily="2" charset="-122"/>
                <a:ea typeface="宋体" panose="02010600030101010101" pitchFamily="2" charset="-122"/>
              </a:rPr>
              <a:t>    </a:t>
            </a:r>
            <a:endParaRPr lang="zh-CN" altLang="en-US" sz="2800" baseline="0" dirty="0">
              <a:solidFill>
                <a:srgbClr val="660066"/>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62110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截断误差</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95536" y="1988840"/>
                <a:ext cx="8487544" cy="4680520"/>
              </a:xfrm>
            </p:spPr>
            <p:txBody>
              <a:bodyPr/>
              <a:lstStyle/>
              <a:p>
                <a:r>
                  <a:rPr lang="zh-CN" altLang="en-US" sz="2400" dirty="0"/>
                  <a:t>分析数值积分的精度，常用泰勒级数作为工具。假定前一步得到的结果</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𝑦</m:t>
                        </m:r>
                      </m:e>
                      <m:sub>
                        <m:r>
                          <a:rPr lang="en-US" altLang="zh-CN" sz="2400" i="1">
                            <a:latin typeface="Cambria Math" panose="02040503050406030204" pitchFamily="18" charset="0"/>
                            <a:ea typeface="Cambria Math" panose="02040503050406030204" pitchFamily="18" charset="0"/>
                          </a:rPr>
                          <m:t>𝑛</m:t>
                        </m:r>
                      </m:sub>
                    </m:sSub>
                  </m:oMath>
                </a14:m>
                <a:r>
                  <a:rPr lang="zh-CN" altLang="en-US" sz="2400" dirty="0"/>
                  <a:t>是准确的，则用泰勒级数求得</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𝑛</m:t>
                        </m:r>
                        <m:r>
                          <a:rPr lang="en-US" altLang="zh-CN" sz="2400" i="1">
                            <a:latin typeface="Cambria Math" panose="02040503050406030204" pitchFamily="18" charset="0"/>
                            <a:ea typeface="Cambria Math" panose="02040503050406030204" pitchFamily="18" charset="0"/>
                          </a:rPr>
                          <m:t>+1</m:t>
                        </m:r>
                      </m:sub>
                    </m:sSub>
                  </m:oMath>
                </a14:m>
                <a:r>
                  <a:rPr lang="zh-CN" altLang="en-US" sz="2400" dirty="0"/>
                  <a:t>处的精确解为：</a:t>
                </a:r>
                <a:endParaRPr lang="en-US" altLang="zh-CN" sz="2400" dirty="0"/>
              </a:p>
              <a:p>
                <a:endParaRPr lang="en-US" altLang="zh-CN" sz="2400" dirty="0"/>
              </a:p>
              <a:p>
                <a:r>
                  <a:rPr lang="zh-CN" altLang="en-US" sz="2400" dirty="0"/>
                  <a:t>若只从以上精确解中取前</a:t>
                </a:r>
                <a14:m>
                  <m:oMath xmlns:m="http://schemas.openxmlformats.org/officeDocument/2006/math">
                    <m:r>
                      <a:rPr lang="en-US" altLang="zh-CN" sz="2400" b="0" i="1" smtClean="0">
                        <a:latin typeface="Cambria Math"/>
                      </a:rPr>
                      <m:t>𝑛</m:t>
                    </m:r>
                  </m:oMath>
                </a14:m>
                <a:r>
                  <a:rPr lang="zh-CN" altLang="en-US" sz="2400" dirty="0"/>
                  <a:t>项之和来近似计算</a:t>
                </a:r>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𝑦</m:t>
                        </m:r>
                      </m:e>
                      <m:sub>
                        <m:r>
                          <a:rPr lang="en-US" altLang="zh-CN" sz="2400" i="1">
                            <a:latin typeface="Cambria Math" panose="02040503050406030204" pitchFamily="18" charset="0"/>
                            <a:ea typeface="Cambria Math" panose="02040503050406030204" pitchFamily="18" charset="0"/>
                          </a:rPr>
                          <m:t>𝑛</m:t>
                        </m:r>
                        <m:r>
                          <a:rPr lang="en-US" altLang="zh-CN" sz="2400" b="0" i="1" smtClean="0">
                            <a:latin typeface="Cambria Math" panose="02040503050406030204" pitchFamily="18" charset="0"/>
                            <a:ea typeface="Cambria Math" panose="02040503050406030204" pitchFamily="18" charset="0"/>
                          </a:rPr>
                          <m:t>+1</m:t>
                        </m:r>
                      </m:sub>
                    </m:sSub>
                  </m:oMath>
                </a14:m>
                <a:r>
                  <a:rPr lang="zh-CN" altLang="en-US" sz="2400" dirty="0"/>
                  <a:t>，由这种方法单独</a:t>
                </a:r>
                <a:r>
                  <a:rPr lang="en-US" altLang="zh-CN" sz="2400" dirty="0"/>
                  <a:t>—</a:t>
                </a:r>
                <a:r>
                  <a:rPr lang="zh-CN" altLang="en-US" sz="2400" dirty="0"/>
                  <a:t>步引进的附加误差通常称作</a:t>
                </a:r>
                <a:r>
                  <a:rPr lang="zh-CN" altLang="en-US" sz="2400" b="1" dirty="0">
                    <a:solidFill>
                      <a:srgbClr val="FF0000"/>
                    </a:solidFill>
                  </a:rPr>
                  <a:t>局部截断误差</a:t>
                </a:r>
                <a:r>
                  <a:rPr lang="zh-CN" altLang="en-US" sz="2400" dirty="0"/>
                  <a:t>，它是由该方法给出的值与微分方程的解之间的差，故又称为局部离散误差。</a:t>
                </a:r>
                <a:endParaRPr lang="en-US" altLang="zh-CN" sz="2400" dirty="0"/>
              </a:p>
              <a:p>
                <a:r>
                  <a:rPr lang="zh-CN" altLang="en-US" sz="2400" dirty="0"/>
                  <a:t>不同的数值解法，其局部截断误差也不同。一般若差分公式局部截断误差为</a:t>
                </a:r>
                <a14:m>
                  <m:oMath xmlns:m="http://schemas.openxmlformats.org/officeDocument/2006/math">
                    <m:r>
                      <a:rPr lang="en-US" altLang="zh-CN" sz="2400" b="0" i="1" smtClean="0">
                        <a:latin typeface="Cambria Math" panose="02040503050406030204" pitchFamily="18" charset="0"/>
                      </a:rPr>
                      <m:t>𝑜</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h</m:t>
                        </m:r>
                      </m:e>
                      <m:sup>
                        <m:r>
                          <a:rPr lang="en-US" altLang="zh-CN" sz="2400" b="0" i="1" smtClean="0">
                            <a:latin typeface="Cambria Math" panose="02040503050406030204" pitchFamily="18" charset="0"/>
                          </a:rPr>
                          <m:t>𝑟</m:t>
                        </m:r>
                        <m:r>
                          <a:rPr lang="en-US" altLang="zh-CN" sz="2400" b="0" i="1" smtClean="0">
                            <a:latin typeface="Cambria Math" panose="02040503050406030204" pitchFamily="18" charset="0"/>
                          </a:rPr>
                          <m:t>+1</m:t>
                        </m:r>
                      </m:sup>
                    </m:sSup>
                    <m:r>
                      <a:rPr lang="en-US" altLang="zh-CN" sz="2400" b="0" i="1" smtClean="0">
                        <a:latin typeface="Cambria Math" panose="02040503050406030204" pitchFamily="18" charset="0"/>
                      </a:rPr>
                      <m:t>)</m:t>
                    </m:r>
                  </m:oMath>
                </a14:m>
                <a:r>
                  <a:rPr lang="zh-CN" altLang="en-US" sz="2400" dirty="0"/>
                  <a:t> ，则称它有</a:t>
                </a:r>
                <a14:m>
                  <m:oMath xmlns:m="http://schemas.openxmlformats.org/officeDocument/2006/math">
                    <m:r>
                      <a:rPr lang="en-US" altLang="zh-CN" sz="2400" b="0" i="1" smtClean="0">
                        <a:latin typeface="Cambria Math" panose="02040503050406030204" pitchFamily="18" charset="0"/>
                      </a:rPr>
                      <m:t>𝑟</m:t>
                    </m:r>
                  </m:oMath>
                </a14:m>
                <a:r>
                  <a:rPr lang="zh-CN" altLang="en-US" sz="2400" dirty="0"/>
                  <a:t> 阶精度，即方法是</a:t>
                </a:r>
                <a14:m>
                  <m:oMath xmlns:m="http://schemas.openxmlformats.org/officeDocument/2006/math">
                    <m:r>
                      <a:rPr lang="en-US" altLang="zh-CN" sz="2400" i="1">
                        <a:latin typeface="Cambria Math" panose="02040503050406030204" pitchFamily="18" charset="0"/>
                      </a:rPr>
                      <m:t>𝑟</m:t>
                    </m:r>
                  </m:oMath>
                </a14:m>
                <a:r>
                  <a:rPr lang="zh-CN" altLang="en-US" sz="2400" dirty="0"/>
                  <a:t>阶的，可以作为衡量方法准确度的一个重要标志。</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95536" y="1988840"/>
                <a:ext cx="8487544" cy="4680520"/>
              </a:xfrm>
              <a:blipFill>
                <a:blip r:embed="rId2"/>
                <a:stretch>
                  <a:fillRect l="-144" t="-1042" r="-64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43</a:t>
            </a:fld>
            <a:endParaRPr lang="en-US" altLang="zh-CN"/>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7573" y="2996952"/>
            <a:ext cx="7848872" cy="613193"/>
          </a:xfrm>
          <a:prstGeom prst="rect">
            <a:avLst/>
          </a:prstGeom>
        </p:spPr>
      </p:pic>
    </p:spTree>
    <p:extLst>
      <p:ext uri="{BB962C8B-B14F-4D97-AF65-F5344CB8AC3E}">
        <p14:creationId xmlns:p14="http://schemas.microsoft.com/office/powerpoint/2010/main" val="39773288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舍入误差</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39552" y="1988840"/>
                <a:ext cx="8415536" cy="4114800"/>
              </a:xfrm>
            </p:spPr>
            <p:txBody>
              <a:bodyPr/>
              <a:lstStyle/>
              <a:p>
                <a:pPr>
                  <a:lnSpc>
                    <a:spcPct val="120000"/>
                  </a:lnSpc>
                </a:pPr>
                <a:r>
                  <a:rPr lang="zh-CN" altLang="en-US" sz="2800" dirty="0"/>
                  <a:t>由于计算机的字长有限，数字不能表示得完全精确，在计算过程中不可避免地会产生舍入误差。</a:t>
                </a:r>
                <a:endParaRPr lang="en-US" altLang="zh-CN" sz="2800" dirty="0"/>
              </a:p>
              <a:p>
                <a:pPr>
                  <a:lnSpc>
                    <a:spcPct val="120000"/>
                  </a:lnSpc>
                </a:pPr>
                <a:r>
                  <a:rPr lang="zh-CN" altLang="en-US" sz="2800" dirty="0"/>
                  <a:t>舍入误差与</a:t>
                </a:r>
                <a14:m>
                  <m:oMath xmlns:m="http://schemas.openxmlformats.org/officeDocument/2006/math">
                    <m:r>
                      <a:rPr lang="en-US" altLang="zh-CN" sz="2800" b="0" i="1" smtClean="0">
                        <a:latin typeface="Cambria Math" panose="02040503050406030204" pitchFamily="18" charset="0"/>
                        <a:ea typeface="Cambria Math" panose="02040503050406030204" pitchFamily="18" charset="0"/>
                      </a:rPr>
                      <m:t>h</m:t>
                    </m:r>
                  </m:oMath>
                </a14:m>
                <a:r>
                  <a:rPr lang="zh-CN" altLang="en-US" sz="2800" dirty="0"/>
                  <a:t>成反比，若计算步长小，计算次数就多，则舍入误差就大。</a:t>
                </a:r>
                <a:endParaRPr lang="en-US" altLang="zh-CN" sz="2800" dirty="0"/>
              </a:p>
              <a:p>
                <a:pPr>
                  <a:lnSpc>
                    <a:spcPct val="120000"/>
                  </a:lnSpc>
                </a:pPr>
                <a:r>
                  <a:rPr lang="zh-CN" altLang="en-US" sz="2800" dirty="0"/>
                  <a:t>产生舍入误差的因素较多，除与计算机字长相关外，还与计算机所使用的数字系统、数的运算次序以及计算</a:t>
                </a:r>
                <a14:m>
                  <m:oMath xmlns:m="http://schemas.openxmlformats.org/officeDocument/2006/math">
                    <m:r>
                      <a:rPr lang="en-US" altLang="zh-CN" sz="2800" i="1">
                        <a:latin typeface="Cambria Math" panose="02040503050406030204" pitchFamily="18" charset="0"/>
                        <a:ea typeface="Cambria Math" panose="02040503050406030204" pitchFamily="18" charset="0"/>
                      </a:rPr>
                      <m:t>𝑓</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𝑡</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𝑦</m:t>
                    </m:r>
                    <m:r>
                      <a:rPr lang="en-US" altLang="zh-CN" sz="2800" i="1">
                        <a:latin typeface="Cambria Math" panose="02040503050406030204" pitchFamily="18" charset="0"/>
                        <a:ea typeface="Cambria Math" panose="02040503050406030204" pitchFamily="18" charset="0"/>
                      </a:rPr>
                      <m:t>)</m:t>
                    </m:r>
                  </m:oMath>
                </a14:m>
                <a:r>
                  <a:rPr lang="zh-CN" altLang="en-US" sz="2800" dirty="0"/>
                  <a:t>所用的子程序的精确度等因素有关。</a:t>
                </a:r>
              </a:p>
              <a:p>
                <a:pPr>
                  <a:lnSpc>
                    <a:spcPct val="120000"/>
                  </a:lnSpc>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39552" y="1988840"/>
                <a:ext cx="8415536" cy="4114800"/>
              </a:xfrm>
              <a:blipFill>
                <a:blip r:embed="rId2"/>
                <a:stretch>
                  <a:fillRect l="-362" t="-1037" r="-29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44</a:t>
            </a:fld>
            <a:endParaRPr lang="en-US" altLang="zh-CN"/>
          </a:p>
        </p:txBody>
      </p:sp>
    </p:spTree>
    <p:extLst>
      <p:ext uri="{BB962C8B-B14F-4D97-AF65-F5344CB8AC3E}">
        <p14:creationId xmlns:p14="http://schemas.microsoft.com/office/powerpoint/2010/main" val="40061256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descr="鱼类化石"/>
          <p:cNvSpPr>
            <a:spLocks noGrp="1" noChangeArrowheads="1"/>
          </p:cNvSpPr>
          <p:nvPr>
            <p:ph type="title"/>
          </p:nvPr>
        </p:nvSpPr>
        <p:spPr>
          <a:xfrm>
            <a:off x="1254294" y="998434"/>
            <a:ext cx="7702550" cy="685800"/>
          </a:xfrm>
          <a:blipFill dpi="0" rotWithShape="0">
            <a:blip r:embed="rId2">
              <a:lum bright="70000" contrast="-70000"/>
            </a:blip>
            <a:srcRect/>
            <a:tile tx="0" ty="0" sx="100000" sy="100000" flip="none" algn="tl"/>
          </a:blipFill>
        </p:spPr>
        <p:txBody>
          <a:bodyPr/>
          <a:lstStyle/>
          <a:p>
            <a:pPr algn="l" eaLnBrk="1" hangingPunct="1"/>
            <a:r>
              <a:rPr lang="zh-CN" altLang="en-US" sz="3600" b="1" dirty="0">
                <a:solidFill>
                  <a:srgbClr val="0D17D7"/>
                </a:solidFill>
                <a:latin typeface="Courier New" panose="02070309020205020404" pitchFamily="49" charset="0"/>
              </a:rPr>
              <a:t>误差与步长的关系、</a:t>
            </a:r>
            <a:r>
              <a:rPr lang="zh-CN" altLang="en-US" sz="4000" b="1" dirty="0">
                <a:solidFill>
                  <a:srgbClr val="0D17D7"/>
                </a:solidFill>
                <a:latin typeface="Courier New" panose="02070309020205020404" pitchFamily="49" charset="0"/>
              </a:rPr>
              <a:t>步长选择原则</a:t>
            </a:r>
          </a:p>
        </p:txBody>
      </p:sp>
      <p:grpSp>
        <p:nvGrpSpPr>
          <p:cNvPr id="3" name="组合 2"/>
          <p:cNvGrpSpPr/>
          <p:nvPr/>
        </p:nvGrpSpPr>
        <p:grpSpPr>
          <a:xfrm>
            <a:off x="381000" y="1976710"/>
            <a:ext cx="8151813" cy="4692650"/>
            <a:chOff x="381000" y="1524000"/>
            <a:chExt cx="8151813" cy="4692650"/>
          </a:xfrm>
        </p:grpSpPr>
        <p:grpSp>
          <p:nvGrpSpPr>
            <p:cNvPr id="44035" name="Group 29"/>
            <p:cNvGrpSpPr>
              <a:grpSpLocks/>
            </p:cNvGrpSpPr>
            <p:nvPr/>
          </p:nvGrpSpPr>
          <p:grpSpPr bwMode="auto">
            <a:xfrm>
              <a:off x="381000" y="1524000"/>
              <a:ext cx="7983538" cy="4692650"/>
              <a:chOff x="240" y="960"/>
              <a:chExt cx="5029" cy="2956"/>
            </a:xfrm>
          </p:grpSpPr>
          <p:sp>
            <p:nvSpPr>
              <p:cNvPr id="44042" name="Line 4"/>
              <p:cNvSpPr>
                <a:spLocks noChangeShapeType="1"/>
              </p:cNvSpPr>
              <p:nvPr/>
            </p:nvSpPr>
            <p:spPr bwMode="auto">
              <a:xfrm flipV="1">
                <a:off x="916" y="1046"/>
                <a:ext cx="0" cy="2832"/>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3" name="Line 5"/>
              <p:cNvSpPr>
                <a:spLocks noChangeShapeType="1"/>
              </p:cNvSpPr>
              <p:nvPr/>
            </p:nvSpPr>
            <p:spPr bwMode="auto">
              <a:xfrm>
                <a:off x="436" y="3446"/>
                <a:ext cx="4656"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4" name="Arc 6"/>
              <p:cNvSpPr>
                <a:spLocks/>
              </p:cNvSpPr>
              <p:nvPr/>
            </p:nvSpPr>
            <p:spPr bwMode="auto">
              <a:xfrm rot="-10769203">
                <a:off x="1008" y="1776"/>
                <a:ext cx="2592" cy="1488"/>
              </a:xfrm>
              <a:custGeom>
                <a:avLst/>
                <a:gdLst>
                  <a:gd name="T0" fmla="*/ 0 w 21600"/>
                  <a:gd name="T1" fmla="*/ 0 h 21600"/>
                  <a:gd name="T2" fmla="*/ 2592 w 21600"/>
                  <a:gd name="T3" fmla="*/ 1488 h 21600"/>
                  <a:gd name="T4" fmla="*/ 0 w 21600"/>
                  <a:gd name="T5" fmla="*/ 148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5" name="Arc 7"/>
              <p:cNvSpPr>
                <a:spLocks/>
              </p:cNvSpPr>
              <p:nvPr/>
            </p:nvSpPr>
            <p:spPr bwMode="auto">
              <a:xfrm rot="10925301" flipH="1">
                <a:off x="1252" y="1862"/>
                <a:ext cx="2592" cy="1488"/>
              </a:xfrm>
              <a:custGeom>
                <a:avLst/>
                <a:gdLst>
                  <a:gd name="T0" fmla="*/ 0 w 21600"/>
                  <a:gd name="T1" fmla="*/ 0 h 21600"/>
                  <a:gd name="T2" fmla="*/ 2592 w 21600"/>
                  <a:gd name="T3" fmla="*/ 1488 h 21600"/>
                  <a:gd name="T4" fmla="*/ 0 w 21600"/>
                  <a:gd name="T5" fmla="*/ 148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80008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endParaRPr lang="zh-CN" altLang="en-US"/>
              </a:p>
            </p:txBody>
          </p:sp>
          <p:sp>
            <p:nvSpPr>
              <p:cNvPr id="44046" name="Arc 8"/>
              <p:cNvSpPr>
                <a:spLocks/>
              </p:cNvSpPr>
              <p:nvPr/>
            </p:nvSpPr>
            <p:spPr bwMode="auto">
              <a:xfrm rot="5395044">
                <a:off x="2106" y="1198"/>
                <a:ext cx="938" cy="2159"/>
              </a:xfrm>
              <a:custGeom>
                <a:avLst/>
                <a:gdLst>
                  <a:gd name="T0" fmla="*/ 121 w 24810"/>
                  <a:gd name="T1" fmla="*/ 0 h 43200"/>
                  <a:gd name="T2" fmla="*/ 0 w 24810"/>
                  <a:gd name="T3" fmla="*/ 2147 h 43200"/>
                  <a:gd name="T4" fmla="*/ 121 w 24810"/>
                  <a:gd name="T5" fmla="*/ 1080 h 43200"/>
                  <a:gd name="T6" fmla="*/ 0 60000 65536"/>
                  <a:gd name="T7" fmla="*/ 0 60000 65536"/>
                  <a:gd name="T8" fmla="*/ 0 60000 65536"/>
                </a:gdLst>
                <a:ahLst/>
                <a:cxnLst>
                  <a:cxn ang="T6">
                    <a:pos x="T0" y="T1"/>
                  </a:cxn>
                  <a:cxn ang="T7">
                    <a:pos x="T2" y="T3"/>
                  </a:cxn>
                  <a:cxn ang="T8">
                    <a:pos x="T4" y="T5"/>
                  </a:cxn>
                </a:cxnLst>
                <a:rect l="0" t="0" r="r" b="b"/>
                <a:pathLst>
                  <a:path w="24810" h="43200" fill="none" extrusionOk="0">
                    <a:moveTo>
                      <a:pt x="3209" y="0"/>
                    </a:moveTo>
                    <a:cubicBezTo>
                      <a:pt x="15139" y="0"/>
                      <a:pt x="24810" y="9670"/>
                      <a:pt x="24810" y="21600"/>
                    </a:cubicBezTo>
                    <a:cubicBezTo>
                      <a:pt x="24810" y="33529"/>
                      <a:pt x="15139" y="43200"/>
                      <a:pt x="3210" y="43200"/>
                    </a:cubicBezTo>
                    <a:cubicBezTo>
                      <a:pt x="2135" y="43200"/>
                      <a:pt x="1062" y="43119"/>
                      <a:pt x="-1" y="42960"/>
                    </a:cubicBezTo>
                  </a:path>
                  <a:path w="24810" h="43200" stroke="0" extrusionOk="0">
                    <a:moveTo>
                      <a:pt x="3209" y="0"/>
                    </a:moveTo>
                    <a:cubicBezTo>
                      <a:pt x="15139" y="0"/>
                      <a:pt x="24810" y="9670"/>
                      <a:pt x="24810" y="21600"/>
                    </a:cubicBezTo>
                    <a:cubicBezTo>
                      <a:pt x="24810" y="33529"/>
                      <a:pt x="15139" y="43200"/>
                      <a:pt x="3210" y="43200"/>
                    </a:cubicBezTo>
                    <a:cubicBezTo>
                      <a:pt x="2135" y="43200"/>
                      <a:pt x="1062" y="43119"/>
                      <a:pt x="-1" y="42960"/>
                    </a:cubicBezTo>
                    <a:lnTo>
                      <a:pt x="3210" y="21600"/>
                    </a:lnTo>
                    <a:lnTo>
                      <a:pt x="3209" y="0"/>
                    </a:lnTo>
                    <a:close/>
                  </a:path>
                </a:pathLst>
              </a:custGeom>
              <a:noFill/>
              <a:ln w="38100">
                <a:solidFill>
                  <a:srgbClr val="FF0066"/>
                </a:solidFill>
                <a:prstDash val="sysDot"/>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7" name="Line 9"/>
              <p:cNvSpPr>
                <a:spLocks noChangeShapeType="1"/>
              </p:cNvSpPr>
              <p:nvPr/>
            </p:nvSpPr>
            <p:spPr bwMode="auto">
              <a:xfrm>
                <a:off x="2548" y="2774"/>
                <a:ext cx="0" cy="624"/>
              </a:xfrm>
              <a:prstGeom prst="line">
                <a:avLst/>
              </a:prstGeom>
              <a:noFill/>
              <a:ln w="381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8" name="Text Box 10"/>
              <p:cNvSpPr txBox="1">
                <a:spLocks noChangeArrowheads="1"/>
              </p:cNvSpPr>
              <p:nvPr/>
            </p:nvSpPr>
            <p:spPr bwMode="auto">
              <a:xfrm>
                <a:off x="2379" y="3551"/>
                <a:ext cx="386"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h0</a:t>
                </a:r>
              </a:p>
            </p:txBody>
          </p:sp>
          <p:sp>
            <p:nvSpPr>
              <p:cNvPr id="44049" name="Text Box 11"/>
              <p:cNvSpPr txBox="1">
                <a:spLocks noChangeArrowheads="1"/>
              </p:cNvSpPr>
              <p:nvPr/>
            </p:nvSpPr>
            <p:spPr bwMode="auto">
              <a:xfrm>
                <a:off x="5011" y="3048"/>
                <a:ext cx="258"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h</a:t>
                </a:r>
              </a:p>
            </p:txBody>
          </p:sp>
          <p:sp>
            <p:nvSpPr>
              <p:cNvPr id="44050" name="Text Box 12"/>
              <p:cNvSpPr txBox="1">
                <a:spLocks noChangeArrowheads="1"/>
              </p:cNvSpPr>
              <p:nvPr/>
            </p:nvSpPr>
            <p:spPr bwMode="auto">
              <a:xfrm>
                <a:off x="240" y="960"/>
                <a:ext cx="632"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3200" baseline="0" dirty="0">
                    <a:solidFill>
                      <a:srgbClr val="FF0066"/>
                    </a:solidFill>
                  </a:rPr>
                  <a:t>误差</a:t>
                </a:r>
              </a:p>
            </p:txBody>
          </p:sp>
          <p:sp>
            <p:nvSpPr>
              <p:cNvPr id="44051" name="Text Box 13"/>
              <p:cNvSpPr txBox="1">
                <a:spLocks noChangeArrowheads="1"/>
              </p:cNvSpPr>
              <p:nvPr/>
            </p:nvSpPr>
            <p:spPr bwMode="auto">
              <a:xfrm>
                <a:off x="4024" y="1861"/>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baseline="0">
                    <a:solidFill>
                      <a:srgbClr val="800080"/>
                    </a:solidFill>
                    <a:latin typeface="Courier New" panose="02070309020205020404" pitchFamily="49" charset="0"/>
                    <a:ea typeface="宋体" panose="02010600030101010101" pitchFamily="2" charset="-122"/>
                  </a:rPr>
                  <a:t>截断误差</a:t>
                </a:r>
                <a:endParaRPr lang="zh-CN" altLang="en-US" b="0" baseline="0">
                  <a:solidFill>
                    <a:schemeClr val="tx1"/>
                  </a:solidFill>
                  <a:latin typeface="Courier New" panose="02070309020205020404" pitchFamily="49" charset="0"/>
                  <a:ea typeface="宋体" panose="02010600030101010101" pitchFamily="2" charset="-122"/>
                </a:endParaRPr>
              </a:p>
            </p:txBody>
          </p:sp>
          <p:sp>
            <p:nvSpPr>
              <p:cNvPr id="44052" name="Text Box 14"/>
              <p:cNvSpPr txBox="1">
                <a:spLocks noChangeArrowheads="1"/>
              </p:cNvSpPr>
              <p:nvPr/>
            </p:nvSpPr>
            <p:spPr bwMode="auto">
              <a:xfrm>
                <a:off x="976" y="1454"/>
                <a:ext cx="8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baseline="0" dirty="0">
                    <a:solidFill>
                      <a:srgbClr val="0D17D7"/>
                    </a:solidFill>
                    <a:latin typeface="Courier New" panose="02070309020205020404" pitchFamily="49" charset="0"/>
                    <a:ea typeface="宋体" panose="02010600030101010101" pitchFamily="2" charset="-122"/>
                  </a:rPr>
                  <a:t>舍入误差</a:t>
                </a:r>
                <a:endParaRPr lang="zh-CN" altLang="en-US" b="0" baseline="0" dirty="0">
                  <a:solidFill>
                    <a:srgbClr val="0D17D7"/>
                  </a:solidFill>
                  <a:latin typeface="Courier New" panose="02070309020205020404" pitchFamily="49" charset="0"/>
                  <a:ea typeface="宋体" panose="02010600030101010101" pitchFamily="2" charset="-122"/>
                </a:endParaRPr>
              </a:p>
            </p:txBody>
          </p:sp>
        </p:grpSp>
        <p:grpSp>
          <p:nvGrpSpPr>
            <p:cNvPr id="44036" name="Group 30"/>
            <p:cNvGrpSpPr>
              <a:grpSpLocks/>
            </p:cNvGrpSpPr>
            <p:nvPr/>
          </p:nvGrpSpPr>
          <p:grpSpPr bwMode="auto">
            <a:xfrm>
              <a:off x="3810000" y="1828800"/>
              <a:ext cx="4722813" cy="3657600"/>
              <a:chOff x="2400" y="1152"/>
              <a:chExt cx="2880" cy="2304"/>
            </a:xfrm>
          </p:grpSpPr>
          <p:sp>
            <p:nvSpPr>
              <p:cNvPr id="44038" name="Line 24"/>
              <p:cNvSpPr>
                <a:spLocks noChangeShapeType="1"/>
              </p:cNvSpPr>
              <p:nvPr/>
            </p:nvSpPr>
            <p:spPr bwMode="auto">
              <a:xfrm>
                <a:off x="2400" y="2736"/>
                <a:ext cx="0" cy="72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39" name="Line 25"/>
              <p:cNvSpPr>
                <a:spLocks noChangeShapeType="1"/>
              </p:cNvSpPr>
              <p:nvPr/>
            </p:nvSpPr>
            <p:spPr bwMode="auto">
              <a:xfrm>
                <a:off x="2688" y="2736"/>
                <a:ext cx="0" cy="720"/>
              </a:xfrm>
              <a:prstGeom prst="line">
                <a:avLst/>
              </a:prstGeom>
              <a:noFill/>
              <a:ln w="381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0" name="AutoShape 26"/>
              <p:cNvSpPr>
                <a:spLocks/>
              </p:cNvSpPr>
              <p:nvPr/>
            </p:nvSpPr>
            <p:spPr bwMode="auto">
              <a:xfrm rot="5400000" flipV="1">
                <a:off x="2496" y="2496"/>
                <a:ext cx="96" cy="288"/>
              </a:xfrm>
              <a:prstGeom prst="leftBrace">
                <a:avLst>
                  <a:gd name="adj1" fmla="val 25000"/>
                  <a:gd name="adj2" fmla="val 50000"/>
                </a:avLst>
              </a:prstGeom>
              <a:noFill/>
              <a:ln w="3810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44041" name="AutoShape 27"/>
              <p:cNvSpPr>
                <a:spLocks/>
              </p:cNvSpPr>
              <p:nvPr/>
            </p:nvSpPr>
            <p:spPr bwMode="auto">
              <a:xfrm>
                <a:off x="2832" y="1152"/>
                <a:ext cx="2448" cy="672"/>
              </a:xfrm>
              <a:prstGeom prst="callout2">
                <a:avLst>
                  <a:gd name="adj1" fmla="val 10713"/>
                  <a:gd name="adj2" fmla="val -1963"/>
                  <a:gd name="adj3" fmla="val 10713"/>
                  <a:gd name="adj4" fmla="val -5394"/>
                  <a:gd name="adj5" fmla="val 205208"/>
                  <a:gd name="adj6" fmla="val -8986"/>
                </a:avLst>
              </a:prstGeom>
              <a:solidFill>
                <a:srgbClr val="FFFF99"/>
              </a:solidFill>
              <a:ln w="381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sz="2000" baseline="0" dirty="0">
                    <a:solidFill>
                      <a:srgbClr val="0D17D7"/>
                    </a:solidFill>
                  </a:rPr>
                  <a:t>根据经验将步长确定在</a:t>
                </a:r>
                <a:r>
                  <a:rPr lang="en-US" altLang="zh-CN" sz="2000" baseline="0" dirty="0">
                    <a:solidFill>
                      <a:srgbClr val="0D17D7"/>
                    </a:solidFill>
                  </a:rPr>
                  <a:t>ho</a:t>
                </a:r>
                <a:r>
                  <a:rPr lang="zh-CN" altLang="en-US" sz="2000" baseline="0" dirty="0">
                    <a:solidFill>
                      <a:srgbClr val="0D17D7"/>
                    </a:solidFill>
                  </a:rPr>
                  <a:t>附近的某个合理步长区（常将</a:t>
                </a:r>
                <a:r>
                  <a:rPr lang="en-US" altLang="zh-CN" sz="2000" baseline="0" dirty="0">
                    <a:solidFill>
                      <a:srgbClr val="0D17D7"/>
                    </a:solidFill>
                  </a:rPr>
                  <a:t>h</a:t>
                </a:r>
                <a:r>
                  <a:rPr lang="zh-CN" altLang="en-US" sz="2000" baseline="0" dirty="0">
                    <a:solidFill>
                      <a:srgbClr val="0D17D7"/>
                    </a:solidFill>
                  </a:rPr>
                  <a:t>限制在系统的最小时间常数数量级上）。</a:t>
                </a:r>
              </a:p>
            </p:txBody>
          </p:sp>
        </p:grpSp>
      </p:gr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0A0CDD2E-A5BC-4867-AA66-45D82A86BD15}" type="slidenum">
              <a:rPr lang="en-US" altLang="zh-CN" sz="1400" b="0" baseline="0">
                <a:solidFill>
                  <a:schemeClr val="tx1"/>
                </a:solidFill>
                <a:ea typeface="宋体" panose="02010600030101010101" pitchFamily="2" charset="-122"/>
              </a:rPr>
              <a:pPr eaLnBrk="1" hangingPunct="1"/>
              <a:t>45</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21556877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3"/>
          <p:cNvSpPr txBox="1">
            <a:spLocks noChangeArrowheads="1"/>
          </p:cNvSpPr>
          <p:nvPr/>
        </p:nvSpPr>
        <p:spPr bwMode="auto">
          <a:xfrm>
            <a:off x="1187624" y="989013"/>
            <a:ext cx="2057400" cy="641350"/>
          </a:xfrm>
          <a:prstGeom prst="rect">
            <a:avLst/>
          </a:prstGeom>
          <a:solidFill>
            <a:srgbClr val="33CCFF"/>
          </a:solidFill>
          <a:ln>
            <a:noFill/>
          </a:ln>
          <a:effectLst>
            <a:outerShdw dist="107763" dir="18900000" algn="ctr" rotWithShape="0">
              <a:srgbClr val="800080"/>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sz="3600" baseline="0" dirty="0">
                <a:solidFill>
                  <a:schemeClr val="tx1"/>
                </a:solidFill>
              </a:rPr>
              <a:t>仿真算法</a:t>
            </a:r>
          </a:p>
        </p:txBody>
      </p:sp>
      <p:sp>
        <p:nvSpPr>
          <p:cNvPr id="140292" name="AutoShape 4"/>
          <p:cNvSpPr>
            <a:spLocks noChangeArrowheads="1"/>
          </p:cNvSpPr>
          <p:nvPr/>
        </p:nvSpPr>
        <p:spPr bwMode="auto">
          <a:xfrm>
            <a:off x="4403560" y="772806"/>
            <a:ext cx="1447800" cy="762000"/>
          </a:xfrm>
          <a:prstGeom prst="cloudCallout">
            <a:avLst>
              <a:gd name="adj1" fmla="val -108222"/>
              <a:gd name="adj2" fmla="val 27292"/>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dirty="0">
                <a:solidFill>
                  <a:schemeClr val="bg1"/>
                </a:solidFill>
              </a:rPr>
              <a:t> </a:t>
            </a:r>
            <a:r>
              <a:rPr lang="en-US" altLang="zh-CN" sz="4000" baseline="0" dirty="0">
                <a:solidFill>
                  <a:schemeClr val="bg1"/>
                </a:solidFill>
              </a:rPr>
              <a:t> </a:t>
            </a:r>
            <a:r>
              <a:rPr lang="zh-CN" altLang="en-US" sz="4000" baseline="0" dirty="0">
                <a:solidFill>
                  <a:srgbClr val="FF0066"/>
                </a:solidFill>
              </a:rPr>
              <a:t>？</a:t>
            </a:r>
          </a:p>
        </p:txBody>
      </p:sp>
      <p:sp>
        <p:nvSpPr>
          <p:cNvPr id="140293" name="Text Box 5"/>
          <p:cNvSpPr txBox="1">
            <a:spLocks noChangeArrowheads="1"/>
          </p:cNvSpPr>
          <p:nvPr/>
        </p:nvSpPr>
        <p:spPr bwMode="auto">
          <a:xfrm>
            <a:off x="609600" y="2030611"/>
            <a:ext cx="7543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baseline="0" dirty="0">
                <a:solidFill>
                  <a:srgbClr val="FF0066"/>
                </a:solidFill>
              </a:rPr>
              <a:t>算法：</a:t>
            </a:r>
            <a:r>
              <a:rPr lang="zh-CN" altLang="en-US" baseline="0" dirty="0">
                <a:solidFill>
                  <a:srgbClr val="000066"/>
                </a:solidFill>
                <a:ea typeface="宋体" panose="02010600030101010101" pitchFamily="2" charset="-122"/>
              </a:rPr>
              <a:t>指从一些已知的数据出发，按照某种规定的顺序进行运算的一个有限的运算序列。</a:t>
            </a:r>
          </a:p>
        </p:txBody>
      </p:sp>
      <p:sp>
        <p:nvSpPr>
          <p:cNvPr id="140294" name="Text Box 6"/>
          <p:cNvSpPr txBox="1">
            <a:spLocks noChangeArrowheads="1"/>
          </p:cNvSpPr>
          <p:nvPr/>
        </p:nvSpPr>
        <p:spPr bwMode="auto">
          <a:xfrm>
            <a:off x="609600" y="3048000"/>
            <a:ext cx="7543800"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914400" indent="-45720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371600" indent="-4572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828800" indent="-4572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286000" indent="-4572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aseline="0" dirty="0">
                <a:solidFill>
                  <a:srgbClr val="FF0066"/>
                </a:solidFill>
                <a:ea typeface="楷体_GB2312" pitchFamily="49" charset="-122"/>
              </a:rPr>
              <a:t>仿真算法：</a:t>
            </a:r>
          </a:p>
          <a:p>
            <a:pPr eaLnBrk="1" hangingPunct="1">
              <a:spcBef>
                <a:spcPct val="50000"/>
              </a:spcBef>
              <a:buFontTx/>
              <a:buAutoNum type="arabicPeriod"/>
            </a:pPr>
            <a:r>
              <a:rPr lang="zh-CN" altLang="en-US" sz="2400" baseline="0" dirty="0">
                <a:solidFill>
                  <a:srgbClr val="000066"/>
                </a:solidFill>
                <a:ea typeface="楷体_GB2312" pitchFamily="49" charset="-122"/>
              </a:rPr>
              <a:t>狭义上讲</a:t>
            </a:r>
          </a:p>
          <a:p>
            <a:pPr eaLnBrk="1" hangingPunct="1">
              <a:spcBef>
                <a:spcPct val="50000"/>
              </a:spcBef>
              <a:buFontTx/>
              <a:buNone/>
            </a:pPr>
            <a:r>
              <a:rPr lang="zh-CN" altLang="en-US" sz="2400" baseline="0" dirty="0">
                <a:solidFill>
                  <a:srgbClr val="008000"/>
                </a:solidFill>
                <a:ea typeface="楷体_GB2312" pitchFamily="49" charset="-122"/>
              </a:rPr>
              <a:t>      </a:t>
            </a:r>
            <a:r>
              <a:rPr lang="zh-CN" altLang="en-US" sz="2400" baseline="0" dirty="0">
                <a:ea typeface="楷体_GB2312" pitchFamily="49" charset="-122"/>
              </a:rPr>
              <a:t>指实际运行的数字仿真模型中所用的算法。</a:t>
            </a:r>
            <a:endParaRPr lang="zh-CN" altLang="en-US" sz="2400" baseline="0" dirty="0">
              <a:solidFill>
                <a:srgbClr val="008000"/>
              </a:solidFill>
              <a:ea typeface="楷体_GB2312" pitchFamily="49" charset="-122"/>
            </a:endParaRPr>
          </a:p>
          <a:p>
            <a:pPr eaLnBrk="1" hangingPunct="1">
              <a:spcBef>
                <a:spcPct val="50000"/>
              </a:spcBef>
              <a:buFontTx/>
              <a:buAutoNum type="arabicPeriod" startAt="2"/>
            </a:pPr>
            <a:r>
              <a:rPr lang="zh-CN" altLang="en-US" sz="2400" baseline="0" dirty="0">
                <a:solidFill>
                  <a:srgbClr val="000066"/>
                </a:solidFill>
                <a:ea typeface="楷体_GB2312" pitchFamily="49" charset="-122"/>
              </a:rPr>
              <a:t>广义上讲</a:t>
            </a:r>
          </a:p>
          <a:p>
            <a:pPr eaLnBrk="1" hangingPunct="1">
              <a:spcBef>
                <a:spcPct val="50000"/>
              </a:spcBef>
              <a:buFontTx/>
              <a:buNone/>
            </a:pPr>
            <a:r>
              <a:rPr lang="zh-CN" altLang="en-US" sz="2400" baseline="0" dirty="0">
                <a:ea typeface="楷体_GB2312" pitchFamily="49" charset="-122"/>
              </a:rPr>
              <a:t>      是指进行数字仿真过程中，为了建立数字仿真模型，进行仿真试验以及试验结果的分析所需要的一切算法。</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2172F07B-78DB-48CC-87BC-3B726944FDF2}" type="slidenum">
              <a:rPr lang="en-US" altLang="zh-CN" sz="1400" b="0" baseline="0">
                <a:solidFill>
                  <a:schemeClr val="tx1"/>
                </a:solidFill>
                <a:ea typeface="宋体" panose="02010600030101010101" pitchFamily="2" charset="-122"/>
              </a:rPr>
              <a:pPr eaLnBrk="1" hangingPunct="1"/>
              <a:t>46</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20171815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40292"/>
                                        </p:tgtEl>
                                        <p:attrNameLst>
                                          <p:attrName>style.visibility</p:attrName>
                                        </p:attrNameLst>
                                      </p:cBhvr>
                                      <p:to>
                                        <p:strVal val="visible"/>
                                      </p:to>
                                    </p:set>
                                    <p:anim calcmode="lin" valueType="num">
                                      <p:cBhvr>
                                        <p:cTn id="7" dur="1000" fill="hold"/>
                                        <p:tgtEl>
                                          <p:spTgt spid="140292"/>
                                        </p:tgtEl>
                                        <p:attrNameLst>
                                          <p:attrName>ppt_w</p:attrName>
                                        </p:attrNameLst>
                                      </p:cBhvr>
                                      <p:tavLst>
                                        <p:tav tm="0">
                                          <p:val>
                                            <p:fltVal val="0"/>
                                          </p:val>
                                        </p:tav>
                                        <p:tav tm="100000">
                                          <p:val>
                                            <p:strVal val="#ppt_w"/>
                                          </p:val>
                                        </p:tav>
                                      </p:tavLst>
                                    </p:anim>
                                    <p:anim calcmode="lin" valueType="num">
                                      <p:cBhvr>
                                        <p:cTn id="8" dur="1000" fill="hold"/>
                                        <p:tgtEl>
                                          <p:spTgt spid="140292"/>
                                        </p:tgtEl>
                                        <p:attrNameLst>
                                          <p:attrName>ppt_h</p:attrName>
                                        </p:attrNameLst>
                                      </p:cBhvr>
                                      <p:tavLst>
                                        <p:tav tm="0">
                                          <p:val>
                                            <p:fltVal val="0"/>
                                          </p:val>
                                        </p:tav>
                                        <p:tav tm="100000">
                                          <p:val>
                                            <p:strVal val="#ppt_h"/>
                                          </p:val>
                                        </p:tav>
                                      </p:tavLst>
                                    </p:anim>
                                    <p:anim calcmode="lin" valueType="num">
                                      <p:cBhvr>
                                        <p:cTn id="9" dur="1000" fill="hold"/>
                                        <p:tgtEl>
                                          <p:spTgt spid="14029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40292"/>
                                        </p:tgtEl>
                                        <p:attrNameLst>
                                          <p:attrName>ppt_y</p:attrName>
                                        </p:attrNameLst>
                                      </p:cBhvr>
                                      <p:tavLst>
                                        <p:tav tm="0" fmla="#ppt_y+(sin(-2*pi*(1-$))*-#ppt_x+cos(-2*pi*(1-$))*(1-#ppt_y))*(1-$)">
                                          <p:val>
                                            <p:fltVal val="0"/>
                                          </p:val>
                                        </p:tav>
                                        <p:tav tm="100000">
                                          <p:val>
                                            <p:fltVal val="1"/>
                                          </p:val>
                                        </p:tav>
                                      </p:tavLst>
                                    </p:anim>
                                  </p:childTnLst>
                                  <p:subTnLst>
                                    <p:set>
                                      <p:cBhvr override="childStyle">
                                        <p:cTn dur="1" fill="hold" display="0" masterRel="nextClick" afterEffect="1"/>
                                        <p:tgtEl>
                                          <p:spTgt spid="140292"/>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0293"/>
                                        </p:tgtEl>
                                        <p:attrNameLst>
                                          <p:attrName>style.visibility</p:attrName>
                                        </p:attrNameLst>
                                      </p:cBhvr>
                                      <p:to>
                                        <p:strVal val="visible"/>
                                      </p:to>
                                    </p:set>
                                    <p:animEffect transition="in" filter="blinds(horizontal)">
                                      <p:cBhvr>
                                        <p:cTn id="15" dur="500"/>
                                        <p:tgtEl>
                                          <p:spTgt spid="14029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40294"/>
                                        </p:tgtEl>
                                        <p:attrNameLst>
                                          <p:attrName>style.visibility</p:attrName>
                                        </p:attrNameLst>
                                      </p:cBhvr>
                                      <p:to>
                                        <p:strVal val="visible"/>
                                      </p:to>
                                    </p:set>
                                    <p:animEffect transition="in" filter="dissolve">
                                      <p:cBhvr>
                                        <p:cTn id="20" dur="500"/>
                                        <p:tgtEl>
                                          <p:spTgt spid="140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animBg="1" autoUpdateAnimBg="0"/>
      <p:bldP spid="140293" grpId="0" autoUpdateAnimBg="0"/>
      <p:bldP spid="140294"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026"/>
          <p:cNvSpPr txBox="1">
            <a:spLocks noChangeArrowheads="1"/>
          </p:cNvSpPr>
          <p:nvPr/>
        </p:nvSpPr>
        <p:spPr bwMode="auto">
          <a:xfrm>
            <a:off x="1259632" y="852488"/>
            <a:ext cx="2057400" cy="641350"/>
          </a:xfrm>
          <a:prstGeom prst="rect">
            <a:avLst/>
          </a:prstGeom>
          <a:solidFill>
            <a:srgbClr val="33CCFF"/>
          </a:solidFill>
          <a:ln>
            <a:noFill/>
          </a:ln>
          <a:effectLst>
            <a:outerShdw dist="107763" dir="18900000" algn="ctr" rotWithShape="0">
              <a:srgbClr val="800080"/>
            </a:outerShdw>
          </a:effectLst>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sz="3600" baseline="0">
                <a:solidFill>
                  <a:schemeClr val="tx1"/>
                </a:solidFill>
              </a:rPr>
              <a:t>仿真算法</a:t>
            </a:r>
          </a:p>
        </p:txBody>
      </p:sp>
      <p:sp>
        <p:nvSpPr>
          <p:cNvPr id="3075" name="Text Box 1027"/>
          <p:cNvSpPr txBox="1">
            <a:spLocks noChangeArrowheads="1"/>
          </p:cNvSpPr>
          <p:nvPr/>
        </p:nvSpPr>
        <p:spPr bwMode="auto">
          <a:xfrm>
            <a:off x="685800" y="1841450"/>
            <a:ext cx="7543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sz="3200" baseline="0" dirty="0">
                <a:solidFill>
                  <a:schemeClr val="tx1"/>
                </a:solidFill>
              </a:rPr>
              <a:t>由一些基本的仿真算法组合而成。</a:t>
            </a:r>
          </a:p>
        </p:txBody>
      </p:sp>
      <p:sp>
        <p:nvSpPr>
          <p:cNvPr id="142340" name="Text Box 1028"/>
          <p:cNvSpPr txBox="1">
            <a:spLocks noChangeArrowheads="1"/>
          </p:cNvSpPr>
          <p:nvPr/>
        </p:nvSpPr>
        <p:spPr bwMode="auto">
          <a:xfrm>
            <a:off x="2743200" y="2590800"/>
            <a:ext cx="1752600" cy="519113"/>
          </a:xfrm>
          <a:prstGeom prst="rect">
            <a:avLst/>
          </a:prstGeom>
          <a:solidFill>
            <a:srgbClr val="FFFF99"/>
          </a:solidFill>
          <a:ln>
            <a:noFill/>
          </a:ln>
          <a:effectLst/>
          <a:extLs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sz="2800" baseline="0">
                <a:solidFill>
                  <a:schemeClr val="tx1"/>
                </a:solidFill>
              </a:rPr>
              <a:t>实际系统</a:t>
            </a:r>
          </a:p>
        </p:txBody>
      </p:sp>
      <p:sp>
        <p:nvSpPr>
          <p:cNvPr id="142341" name="AutoShape 1029"/>
          <p:cNvSpPr>
            <a:spLocks noChangeArrowheads="1"/>
          </p:cNvSpPr>
          <p:nvPr/>
        </p:nvSpPr>
        <p:spPr bwMode="auto">
          <a:xfrm>
            <a:off x="4495800" y="2971800"/>
            <a:ext cx="914400" cy="914400"/>
          </a:xfrm>
          <a:prstGeom prst="wedgeRoundRectCallout">
            <a:avLst>
              <a:gd name="adj1" fmla="val -113194"/>
              <a:gd name="adj2" fmla="val 23611"/>
              <a:gd name="adj3" fmla="val 16667"/>
            </a:avLst>
          </a:prstGeom>
          <a:solidFill>
            <a:srgbClr val="FFFFFF"/>
          </a:solidFill>
          <a:ln w="28575">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baseline="0">
                <a:solidFill>
                  <a:srgbClr val="800080"/>
                </a:solidFill>
              </a:rPr>
              <a:t>一次建模</a:t>
            </a:r>
          </a:p>
        </p:txBody>
      </p:sp>
      <p:grpSp>
        <p:nvGrpSpPr>
          <p:cNvPr id="142342" name="Group 1030"/>
          <p:cNvGrpSpPr>
            <a:grpSpLocks/>
          </p:cNvGrpSpPr>
          <p:nvPr/>
        </p:nvGrpSpPr>
        <p:grpSpPr bwMode="auto">
          <a:xfrm>
            <a:off x="2819400" y="3108325"/>
            <a:ext cx="1752600" cy="1525588"/>
            <a:chOff x="1776" y="1958"/>
            <a:chExt cx="1104" cy="961"/>
          </a:xfrm>
        </p:grpSpPr>
        <p:sp>
          <p:nvSpPr>
            <p:cNvPr id="3085" name="Text Box 1031"/>
            <p:cNvSpPr txBox="1">
              <a:spLocks noChangeArrowheads="1"/>
            </p:cNvSpPr>
            <p:nvPr/>
          </p:nvSpPr>
          <p:spPr bwMode="auto">
            <a:xfrm>
              <a:off x="1776" y="2592"/>
              <a:ext cx="1104" cy="327"/>
            </a:xfrm>
            <a:prstGeom prst="rect">
              <a:avLst/>
            </a:prstGeom>
            <a:solidFill>
              <a:srgbClr val="CCFF33"/>
            </a:solidFill>
            <a:ln>
              <a:noFill/>
            </a:ln>
            <a:effectLst/>
            <a:extLs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sz="2800" baseline="0">
                  <a:solidFill>
                    <a:schemeClr val="tx1"/>
                  </a:solidFill>
                </a:rPr>
                <a:t>数学模型</a:t>
              </a:r>
            </a:p>
          </p:txBody>
        </p:sp>
        <p:sp>
          <p:nvSpPr>
            <p:cNvPr id="3086" name="Line 1032"/>
            <p:cNvSpPr>
              <a:spLocks noChangeShapeType="1"/>
            </p:cNvSpPr>
            <p:nvPr/>
          </p:nvSpPr>
          <p:spPr bwMode="auto">
            <a:xfrm>
              <a:off x="2256" y="1968"/>
              <a:ext cx="0" cy="624"/>
            </a:xfrm>
            <a:prstGeom prst="line">
              <a:avLst/>
            </a:prstGeom>
            <a:noFill/>
            <a:ln w="762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87" name="Text Box 1033"/>
            <p:cNvSpPr txBox="1">
              <a:spLocks noChangeArrowheads="1"/>
            </p:cNvSpPr>
            <p:nvPr/>
          </p:nvSpPr>
          <p:spPr bwMode="auto">
            <a:xfrm>
              <a:off x="1776" y="1958"/>
              <a:ext cx="480"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2000" baseline="0" dirty="0">
                  <a:solidFill>
                    <a:srgbClr val="0D17D7"/>
                  </a:solidFill>
                </a:rPr>
                <a:t>抽简</a:t>
              </a:r>
            </a:p>
            <a:p>
              <a:pPr eaLnBrk="1" hangingPunct="1"/>
              <a:r>
                <a:rPr lang="zh-CN" altLang="en-US" sz="2000" baseline="0" dirty="0">
                  <a:solidFill>
                    <a:srgbClr val="0D17D7"/>
                  </a:solidFill>
                </a:rPr>
                <a:t>象化</a:t>
              </a:r>
            </a:p>
          </p:txBody>
        </p:sp>
      </p:grpSp>
      <p:grpSp>
        <p:nvGrpSpPr>
          <p:cNvPr id="142346" name="Group 1034"/>
          <p:cNvGrpSpPr>
            <a:grpSpLocks/>
          </p:cNvGrpSpPr>
          <p:nvPr/>
        </p:nvGrpSpPr>
        <p:grpSpPr bwMode="auto">
          <a:xfrm>
            <a:off x="2438400" y="4648200"/>
            <a:ext cx="2209800" cy="1585913"/>
            <a:chOff x="1536" y="2928"/>
            <a:chExt cx="1392" cy="999"/>
          </a:xfrm>
        </p:grpSpPr>
        <p:sp>
          <p:nvSpPr>
            <p:cNvPr id="3082" name="Text Box 1035"/>
            <p:cNvSpPr txBox="1">
              <a:spLocks noChangeArrowheads="1"/>
            </p:cNvSpPr>
            <p:nvPr/>
          </p:nvSpPr>
          <p:spPr bwMode="auto">
            <a:xfrm>
              <a:off x="1824" y="3600"/>
              <a:ext cx="1104" cy="327"/>
            </a:xfrm>
            <a:prstGeom prst="rect">
              <a:avLst/>
            </a:prstGeom>
            <a:solidFill>
              <a:schemeClr val="accent1"/>
            </a:solidFill>
            <a:ln>
              <a:noFill/>
            </a:ln>
            <a:effectLst/>
            <a:extLs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sz="2800" baseline="0">
                  <a:solidFill>
                    <a:schemeClr val="tx1"/>
                  </a:solidFill>
                </a:rPr>
                <a:t>仿真模型</a:t>
              </a:r>
            </a:p>
          </p:txBody>
        </p:sp>
        <p:sp>
          <p:nvSpPr>
            <p:cNvPr id="3083" name="Line 1036"/>
            <p:cNvSpPr>
              <a:spLocks noChangeShapeType="1"/>
            </p:cNvSpPr>
            <p:nvPr/>
          </p:nvSpPr>
          <p:spPr bwMode="auto">
            <a:xfrm>
              <a:off x="2304" y="2928"/>
              <a:ext cx="0" cy="672"/>
            </a:xfrm>
            <a:prstGeom prst="line">
              <a:avLst/>
            </a:prstGeom>
            <a:noFill/>
            <a:ln w="762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084" name="Text Box 1037"/>
            <p:cNvSpPr txBox="1">
              <a:spLocks noChangeArrowheads="1"/>
            </p:cNvSpPr>
            <p:nvPr/>
          </p:nvSpPr>
          <p:spPr bwMode="auto">
            <a:xfrm>
              <a:off x="1536" y="2976"/>
              <a:ext cx="864" cy="4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2000" baseline="0" dirty="0">
                  <a:solidFill>
                    <a:srgbClr val="0D17D7"/>
                  </a:solidFill>
                </a:rPr>
                <a:t>数字仿真算法转换</a:t>
              </a:r>
            </a:p>
          </p:txBody>
        </p:sp>
      </p:grpSp>
      <p:sp>
        <p:nvSpPr>
          <p:cNvPr id="142350" name="AutoShape 1038"/>
          <p:cNvSpPr>
            <a:spLocks noChangeArrowheads="1"/>
          </p:cNvSpPr>
          <p:nvPr/>
        </p:nvSpPr>
        <p:spPr bwMode="auto">
          <a:xfrm>
            <a:off x="4500563" y="4581525"/>
            <a:ext cx="990600" cy="914400"/>
          </a:xfrm>
          <a:prstGeom prst="wedgeRoundRectCallout">
            <a:avLst>
              <a:gd name="adj1" fmla="val -116347"/>
              <a:gd name="adj2" fmla="val 31597"/>
              <a:gd name="adj3" fmla="val 16667"/>
            </a:avLst>
          </a:prstGeom>
          <a:solidFill>
            <a:srgbClr val="FFFFFF"/>
          </a:solidFill>
          <a:ln w="28575">
            <a:solidFill>
              <a:srgbClr val="8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baseline="0">
                <a:solidFill>
                  <a:srgbClr val="800080"/>
                </a:solidFill>
              </a:rPr>
              <a:t>二次建模</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DC3C5136-F9AB-4933-9AB4-52B95FD39EA5}" type="slidenum">
              <a:rPr lang="en-US" altLang="zh-CN" sz="1400" b="0" baseline="0">
                <a:solidFill>
                  <a:schemeClr val="tx1"/>
                </a:solidFill>
                <a:ea typeface="宋体" panose="02010600030101010101" pitchFamily="2" charset="-122"/>
              </a:rPr>
              <a:pPr eaLnBrk="1" hangingPunct="1"/>
              <a:t>47</a:t>
            </a:fld>
            <a:endParaRPr lang="en-US" altLang="zh-CN" sz="1400" b="0" baseline="0">
              <a:solidFill>
                <a:schemeClr val="tx1"/>
              </a:solidFill>
              <a:ea typeface="宋体" panose="02010600030101010101" pitchFamily="2" charset="-122"/>
            </a:endParaRPr>
          </a:p>
        </p:txBody>
      </p:sp>
      <p:sp>
        <p:nvSpPr>
          <p:cNvPr id="16" name="Text Box 1043"/>
          <p:cNvSpPr txBox="1">
            <a:spLocks noChangeArrowheads="1"/>
          </p:cNvSpPr>
          <p:nvPr/>
        </p:nvSpPr>
        <p:spPr bwMode="auto">
          <a:xfrm>
            <a:off x="539402" y="6270460"/>
            <a:ext cx="6502748" cy="463846"/>
          </a:xfrm>
          <a:prstGeom prst="rect">
            <a:avLst/>
          </a:prstGeom>
          <a:solidFill>
            <a:srgbClr val="FFFF99"/>
          </a:solidFill>
          <a:ln>
            <a:noFill/>
          </a:ln>
          <a:effectLst/>
          <a:extLst>
            <a:ext uri="{91240B29-F687-4F45-9708-019B960494DF}">
              <a14:hiddenLine xmlns:a14="http://schemas.microsoft.com/office/drawing/2010/main" w="571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baseline="0" dirty="0">
                <a:solidFill>
                  <a:srgbClr val="0D17D7"/>
                </a:solidFill>
              </a:rPr>
              <a:t>仿真算法在数字仿真模型中起核心和关键作用。</a:t>
            </a:r>
          </a:p>
        </p:txBody>
      </p:sp>
    </p:spTree>
    <p:extLst>
      <p:ext uri="{BB962C8B-B14F-4D97-AF65-F5344CB8AC3E}">
        <p14:creationId xmlns:p14="http://schemas.microsoft.com/office/powerpoint/2010/main" val="28749432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23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1" fill="hold" nodeType="clickEffect">
                                  <p:stCondLst>
                                    <p:cond delay="0"/>
                                  </p:stCondLst>
                                  <p:childTnLst>
                                    <p:set>
                                      <p:cBhvr>
                                        <p:cTn id="10" dur="1" fill="hold">
                                          <p:stCondLst>
                                            <p:cond delay="0"/>
                                          </p:stCondLst>
                                        </p:cTn>
                                        <p:tgtEl>
                                          <p:spTgt spid="142342"/>
                                        </p:tgtEl>
                                        <p:attrNameLst>
                                          <p:attrName>style.visibility</p:attrName>
                                        </p:attrNameLst>
                                      </p:cBhvr>
                                      <p:to>
                                        <p:strVal val="visible"/>
                                      </p:to>
                                    </p:set>
                                    <p:anim calcmode="lin" valueType="num">
                                      <p:cBhvr>
                                        <p:cTn id="11" dur="500" fill="hold"/>
                                        <p:tgtEl>
                                          <p:spTgt spid="142342"/>
                                        </p:tgtEl>
                                        <p:attrNameLst>
                                          <p:attrName>ppt_x</p:attrName>
                                        </p:attrNameLst>
                                      </p:cBhvr>
                                      <p:tavLst>
                                        <p:tav tm="0">
                                          <p:val>
                                            <p:strVal val="#ppt_x"/>
                                          </p:val>
                                        </p:tav>
                                        <p:tav tm="100000">
                                          <p:val>
                                            <p:strVal val="#ppt_x"/>
                                          </p:val>
                                        </p:tav>
                                      </p:tavLst>
                                    </p:anim>
                                    <p:anim calcmode="lin" valueType="num">
                                      <p:cBhvr>
                                        <p:cTn id="12" dur="500" fill="hold"/>
                                        <p:tgtEl>
                                          <p:spTgt spid="142342"/>
                                        </p:tgtEl>
                                        <p:attrNameLst>
                                          <p:attrName>ppt_y</p:attrName>
                                        </p:attrNameLst>
                                      </p:cBhvr>
                                      <p:tavLst>
                                        <p:tav tm="0">
                                          <p:val>
                                            <p:strVal val="#ppt_y-#ppt_h/2"/>
                                          </p:val>
                                        </p:tav>
                                        <p:tav tm="100000">
                                          <p:val>
                                            <p:strVal val="#ppt_y"/>
                                          </p:val>
                                        </p:tav>
                                      </p:tavLst>
                                    </p:anim>
                                    <p:anim calcmode="lin" valueType="num">
                                      <p:cBhvr>
                                        <p:cTn id="13" dur="500" fill="hold"/>
                                        <p:tgtEl>
                                          <p:spTgt spid="142342"/>
                                        </p:tgtEl>
                                        <p:attrNameLst>
                                          <p:attrName>ppt_w</p:attrName>
                                        </p:attrNameLst>
                                      </p:cBhvr>
                                      <p:tavLst>
                                        <p:tav tm="0">
                                          <p:val>
                                            <p:strVal val="#ppt_w"/>
                                          </p:val>
                                        </p:tav>
                                        <p:tav tm="100000">
                                          <p:val>
                                            <p:strVal val="#ppt_w"/>
                                          </p:val>
                                        </p:tav>
                                      </p:tavLst>
                                    </p:anim>
                                    <p:anim calcmode="lin" valueType="num">
                                      <p:cBhvr>
                                        <p:cTn id="14" dur="500" fill="hold"/>
                                        <p:tgtEl>
                                          <p:spTgt spid="142342"/>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3" fill="hold" grpId="0" nodeType="clickEffect">
                                  <p:stCondLst>
                                    <p:cond delay="0"/>
                                  </p:stCondLst>
                                  <p:childTnLst>
                                    <p:set>
                                      <p:cBhvr>
                                        <p:cTn id="18" dur="1" fill="hold">
                                          <p:stCondLst>
                                            <p:cond delay="0"/>
                                          </p:stCondLst>
                                        </p:cTn>
                                        <p:tgtEl>
                                          <p:spTgt spid="142341"/>
                                        </p:tgtEl>
                                        <p:attrNameLst>
                                          <p:attrName>style.visibility</p:attrName>
                                        </p:attrNameLst>
                                      </p:cBhvr>
                                      <p:to>
                                        <p:strVal val="visible"/>
                                      </p:to>
                                    </p:set>
                                    <p:anim calcmode="lin" valueType="num">
                                      <p:cBhvr additive="base">
                                        <p:cTn id="19" dur="500" fill="hold"/>
                                        <p:tgtEl>
                                          <p:spTgt spid="142341"/>
                                        </p:tgtEl>
                                        <p:attrNameLst>
                                          <p:attrName>ppt_x</p:attrName>
                                        </p:attrNameLst>
                                      </p:cBhvr>
                                      <p:tavLst>
                                        <p:tav tm="0">
                                          <p:val>
                                            <p:strVal val="1+#ppt_w/2"/>
                                          </p:val>
                                        </p:tav>
                                        <p:tav tm="100000">
                                          <p:val>
                                            <p:strVal val="#ppt_x"/>
                                          </p:val>
                                        </p:tav>
                                      </p:tavLst>
                                    </p:anim>
                                    <p:anim calcmode="lin" valueType="num">
                                      <p:cBhvr additive="base">
                                        <p:cTn id="20" dur="500" fill="hold"/>
                                        <p:tgtEl>
                                          <p:spTgt spid="142341"/>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 fill="hold" nodeType="clickEffect">
                                  <p:stCondLst>
                                    <p:cond delay="0"/>
                                  </p:stCondLst>
                                  <p:childTnLst>
                                    <p:set>
                                      <p:cBhvr>
                                        <p:cTn id="24" dur="1" fill="hold">
                                          <p:stCondLst>
                                            <p:cond delay="0"/>
                                          </p:stCondLst>
                                        </p:cTn>
                                        <p:tgtEl>
                                          <p:spTgt spid="142346"/>
                                        </p:tgtEl>
                                        <p:attrNameLst>
                                          <p:attrName>style.visibility</p:attrName>
                                        </p:attrNameLst>
                                      </p:cBhvr>
                                      <p:to>
                                        <p:strVal val="visible"/>
                                      </p:to>
                                    </p:set>
                                    <p:anim calcmode="lin" valueType="num">
                                      <p:cBhvr>
                                        <p:cTn id="25" dur="500" fill="hold"/>
                                        <p:tgtEl>
                                          <p:spTgt spid="142346"/>
                                        </p:tgtEl>
                                        <p:attrNameLst>
                                          <p:attrName>ppt_x</p:attrName>
                                        </p:attrNameLst>
                                      </p:cBhvr>
                                      <p:tavLst>
                                        <p:tav tm="0">
                                          <p:val>
                                            <p:strVal val="#ppt_x"/>
                                          </p:val>
                                        </p:tav>
                                        <p:tav tm="100000">
                                          <p:val>
                                            <p:strVal val="#ppt_x"/>
                                          </p:val>
                                        </p:tav>
                                      </p:tavLst>
                                    </p:anim>
                                    <p:anim calcmode="lin" valueType="num">
                                      <p:cBhvr>
                                        <p:cTn id="26" dur="500" fill="hold"/>
                                        <p:tgtEl>
                                          <p:spTgt spid="142346"/>
                                        </p:tgtEl>
                                        <p:attrNameLst>
                                          <p:attrName>ppt_y</p:attrName>
                                        </p:attrNameLst>
                                      </p:cBhvr>
                                      <p:tavLst>
                                        <p:tav tm="0">
                                          <p:val>
                                            <p:strVal val="#ppt_y-#ppt_h/2"/>
                                          </p:val>
                                        </p:tav>
                                        <p:tav tm="100000">
                                          <p:val>
                                            <p:strVal val="#ppt_y"/>
                                          </p:val>
                                        </p:tav>
                                      </p:tavLst>
                                    </p:anim>
                                    <p:anim calcmode="lin" valueType="num">
                                      <p:cBhvr>
                                        <p:cTn id="27" dur="500" fill="hold"/>
                                        <p:tgtEl>
                                          <p:spTgt spid="142346"/>
                                        </p:tgtEl>
                                        <p:attrNameLst>
                                          <p:attrName>ppt_w</p:attrName>
                                        </p:attrNameLst>
                                      </p:cBhvr>
                                      <p:tavLst>
                                        <p:tav tm="0">
                                          <p:val>
                                            <p:strVal val="#ppt_w"/>
                                          </p:val>
                                        </p:tav>
                                        <p:tav tm="100000">
                                          <p:val>
                                            <p:strVal val="#ppt_w"/>
                                          </p:val>
                                        </p:tav>
                                      </p:tavLst>
                                    </p:anim>
                                    <p:anim calcmode="lin" valueType="num">
                                      <p:cBhvr>
                                        <p:cTn id="28" dur="500" fill="hold"/>
                                        <p:tgtEl>
                                          <p:spTgt spid="142346"/>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3" fill="hold" grpId="0" nodeType="clickEffect">
                                  <p:stCondLst>
                                    <p:cond delay="0"/>
                                  </p:stCondLst>
                                  <p:childTnLst>
                                    <p:set>
                                      <p:cBhvr>
                                        <p:cTn id="32" dur="1" fill="hold">
                                          <p:stCondLst>
                                            <p:cond delay="0"/>
                                          </p:stCondLst>
                                        </p:cTn>
                                        <p:tgtEl>
                                          <p:spTgt spid="142350"/>
                                        </p:tgtEl>
                                        <p:attrNameLst>
                                          <p:attrName>style.visibility</p:attrName>
                                        </p:attrNameLst>
                                      </p:cBhvr>
                                      <p:to>
                                        <p:strVal val="visible"/>
                                      </p:to>
                                    </p:set>
                                    <p:anim calcmode="lin" valueType="num">
                                      <p:cBhvr additive="base">
                                        <p:cTn id="33" dur="500" fill="hold"/>
                                        <p:tgtEl>
                                          <p:spTgt spid="142350"/>
                                        </p:tgtEl>
                                        <p:attrNameLst>
                                          <p:attrName>ppt_x</p:attrName>
                                        </p:attrNameLst>
                                      </p:cBhvr>
                                      <p:tavLst>
                                        <p:tav tm="0">
                                          <p:val>
                                            <p:strVal val="1+#ppt_w/2"/>
                                          </p:val>
                                        </p:tav>
                                        <p:tav tm="100000">
                                          <p:val>
                                            <p:strVal val="#ppt_x"/>
                                          </p:val>
                                        </p:tav>
                                      </p:tavLst>
                                    </p:anim>
                                    <p:anim calcmode="lin" valueType="num">
                                      <p:cBhvr additive="base">
                                        <p:cTn id="34" dur="500" fill="hold"/>
                                        <p:tgtEl>
                                          <p:spTgt spid="142350"/>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animBg="1" autoUpdateAnimBg="0"/>
      <p:bldP spid="142341" grpId="0" animBg="1" autoUpdateAnimBg="0"/>
      <p:bldP spid="142350" grpId="0" animBg="1" autoUpdateAnimBg="0"/>
      <p:bldP spid="1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77060" y="980728"/>
            <a:ext cx="7415212" cy="731837"/>
          </a:xfrm>
        </p:spPr>
        <p:txBody>
          <a:bodyPr/>
          <a:lstStyle/>
          <a:p>
            <a:pPr eaLnBrk="1" hangingPunct="1"/>
            <a:r>
              <a:rPr lang="zh-CN" altLang="en-US" sz="4000" b="1" dirty="0"/>
              <a:t>常微分方程求解的基本概念 </a:t>
            </a:r>
          </a:p>
        </p:txBody>
      </p:sp>
      <p:sp>
        <p:nvSpPr>
          <p:cNvPr id="5123" name="Rectangle 3"/>
          <p:cNvSpPr>
            <a:spLocks noGrp="1" noChangeArrowheads="1"/>
          </p:cNvSpPr>
          <p:nvPr>
            <p:ph type="body" idx="1"/>
          </p:nvPr>
        </p:nvSpPr>
        <p:spPr>
          <a:xfrm>
            <a:off x="497704" y="2008188"/>
            <a:ext cx="8064500" cy="4464050"/>
          </a:xfrm>
        </p:spPr>
        <p:txBody>
          <a:bodyPr/>
          <a:lstStyle/>
          <a:p>
            <a:pPr eaLnBrk="1" hangingPunct="1">
              <a:lnSpc>
                <a:spcPct val="90000"/>
              </a:lnSpc>
            </a:pPr>
            <a:r>
              <a:rPr lang="zh-CN" altLang="en-US" b="1" dirty="0"/>
              <a:t>控制系统的数学模型可能是状态方程描述，也可能是传递函数描述，或其他微分方程组的形式描述，</a:t>
            </a:r>
          </a:p>
          <a:p>
            <a:pPr eaLnBrk="1" hangingPunct="1">
              <a:lnSpc>
                <a:spcPct val="90000"/>
              </a:lnSpc>
            </a:pPr>
            <a:endParaRPr lang="zh-CN" altLang="en-US" b="1" dirty="0"/>
          </a:p>
          <a:p>
            <a:pPr eaLnBrk="1" hangingPunct="1">
              <a:lnSpc>
                <a:spcPct val="90000"/>
              </a:lnSpc>
            </a:pPr>
            <a:r>
              <a:rPr lang="zh-CN" altLang="en-US" b="1" dirty="0"/>
              <a:t>但均可以通过“实现”的方法化为一阶微分方程组的形式来求解，</a:t>
            </a:r>
          </a:p>
          <a:p>
            <a:pPr eaLnBrk="1" hangingPunct="1">
              <a:lnSpc>
                <a:spcPct val="90000"/>
              </a:lnSpc>
            </a:pPr>
            <a:endParaRPr lang="zh-CN" altLang="en-US" b="1" dirty="0"/>
          </a:p>
          <a:p>
            <a:pPr eaLnBrk="1" hangingPunct="1">
              <a:lnSpc>
                <a:spcPct val="90000"/>
              </a:lnSpc>
            </a:pPr>
            <a:r>
              <a:rPr lang="zh-CN" altLang="en-US" b="1" dirty="0"/>
              <a:t>故主要以一阶微分方程为基础来讨论数值求解的基本概念。</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30B7DF1D-3042-4D96-8B2C-3C87A4C88D97}" type="slidenum">
              <a:rPr lang="en-US" altLang="zh-CN" sz="1400" b="0" baseline="0">
                <a:solidFill>
                  <a:schemeClr val="tx1"/>
                </a:solidFill>
                <a:ea typeface="宋体" panose="02010600030101010101" pitchFamily="2" charset="-122"/>
              </a:rPr>
              <a:pPr eaLnBrk="1" hangingPunct="1"/>
              <a:t>48</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5423777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1199728" y="1141114"/>
            <a:ext cx="6324600" cy="579438"/>
          </a:xfrm>
          <a:prstGeom prst="rect">
            <a:avLst/>
          </a:prstGeom>
          <a:solidFill>
            <a:schemeClr val="accent2"/>
          </a:solidFill>
          <a:ln>
            <a:noFill/>
          </a:ln>
          <a:effectLst>
            <a:outerShdw dist="107763" dir="18900000" algn="ctr" rotWithShape="0">
              <a:schemeClr val="bg2"/>
            </a:outerShdw>
          </a:effectLst>
          <a:extLst>
            <a:ext uri="{91240B29-F687-4F45-9708-019B960494DF}">
              <a14:hiddenLine xmlns:a14="http://schemas.microsoft.com/office/drawing/2010/main" w="38100">
                <a:solidFill>
                  <a:schemeClr val="accent2"/>
                </a:solidFill>
                <a:miter lim="800000"/>
                <a:headEnd/>
                <a:tailEnd/>
              </a14:hiddenLine>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3200" baseline="0" dirty="0">
                <a:solidFill>
                  <a:srgbClr val="0D17D7"/>
                </a:solidFill>
              </a:rPr>
              <a:t>在数字机上进行仿真的一般过程</a:t>
            </a:r>
          </a:p>
        </p:txBody>
      </p:sp>
      <p:sp>
        <p:nvSpPr>
          <p:cNvPr id="139267" name="Text Box 3"/>
          <p:cNvSpPr txBox="1">
            <a:spLocks noChangeArrowheads="1"/>
          </p:cNvSpPr>
          <p:nvPr/>
        </p:nvSpPr>
        <p:spPr bwMode="auto">
          <a:xfrm>
            <a:off x="2723728" y="1979314"/>
            <a:ext cx="2895600" cy="579438"/>
          </a:xfrm>
          <a:prstGeom prst="rect">
            <a:avLst/>
          </a:prstGeom>
          <a:solidFill>
            <a:srgbClr val="008000"/>
          </a:solidFill>
          <a:ln>
            <a:noFill/>
          </a:ln>
          <a:effectLst/>
          <a:extLs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3200" baseline="0" dirty="0">
                <a:solidFill>
                  <a:schemeClr val="bg1"/>
                </a:solidFill>
              </a:rPr>
              <a:t>高阶微分方程</a:t>
            </a:r>
          </a:p>
        </p:txBody>
      </p:sp>
      <p:grpSp>
        <p:nvGrpSpPr>
          <p:cNvPr id="139277" name="Group 13"/>
          <p:cNvGrpSpPr>
            <a:grpSpLocks/>
          </p:cNvGrpSpPr>
          <p:nvPr/>
        </p:nvGrpSpPr>
        <p:grpSpPr bwMode="auto">
          <a:xfrm>
            <a:off x="818728" y="2512714"/>
            <a:ext cx="6096000" cy="1493838"/>
            <a:chOff x="336" y="1296"/>
            <a:chExt cx="3840" cy="941"/>
          </a:xfrm>
        </p:grpSpPr>
        <p:sp>
          <p:nvSpPr>
            <p:cNvPr id="6157" name="Text Box 4"/>
            <p:cNvSpPr txBox="1">
              <a:spLocks noChangeArrowheads="1"/>
            </p:cNvSpPr>
            <p:nvPr/>
          </p:nvSpPr>
          <p:spPr bwMode="auto">
            <a:xfrm>
              <a:off x="336" y="1872"/>
              <a:ext cx="1968" cy="365"/>
            </a:xfrm>
            <a:prstGeom prst="rect">
              <a:avLst/>
            </a:prstGeom>
            <a:solidFill>
              <a:srgbClr val="008000"/>
            </a:solidFill>
            <a:ln>
              <a:noFill/>
            </a:ln>
            <a:effectLst/>
            <a:extLs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3200" baseline="0">
                  <a:solidFill>
                    <a:schemeClr val="bg1"/>
                  </a:solidFill>
                </a:rPr>
                <a:t>一阶微分方程组</a:t>
              </a:r>
            </a:p>
          </p:txBody>
        </p:sp>
        <p:sp>
          <p:nvSpPr>
            <p:cNvPr id="6158" name="Text Box 5"/>
            <p:cNvSpPr txBox="1">
              <a:spLocks noChangeArrowheads="1"/>
            </p:cNvSpPr>
            <p:nvPr/>
          </p:nvSpPr>
          <p:spPr bwMode="auto">
            <a:xfrm>
              <a:off x="2688" y="1872"/>
              <a:ext cx="1488" cy="365"/>
            </a:xfrm>
            <a:prstGeom prst="rect">
              <a:avLst/>
            </a:prstGeom>
            <a:solidFill>
              <a:srgbClr val="008000"/>
            </a:solidFill>
            <a:ln>
              <a:noFill/>
            </a:ln>
            <a:effectLst/>
            <a:extLs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3200" baseline="0">
                  <a:solidFill>
                    <a:schemeClr val="bg1"/>
                  </a:solidFill>
                </a:rPr>
                <a:t>状态方程</a:t>
              </a:r>
            </a:p>
          </p:txBody>
        </p:sp>
        <p:sp>
          <p:nvSpPr>
            <p:cNvPr id="6159" name="Line 6"/>
            <p:cNvSpPr>
              <a:spLocks noChangeShapeType="1"/>
            </p:cNvSpPr>
            <p:nvPr/>
          </p:nvSpPr>
          <p:spPr bwMode="auto">
            <a:xfrm flipH="1">
              <a:off x="1584" y="1296"/>
              <a:ext cx="816" cy="576"/>
            </a:xfrm>
            <a:prstGeom prst="line">
              <a:avLst/>
            </a:prstGeom>
            <a:noFill/>
            <a:ln w="762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 name="Line 7"/>
            <p:cNvSpPr>
              <a:spLocks noChangeShapeType="1"/>
            </p:cNvSpPr>
            <p:nvPr/>
          </p:nvSpPr>
          <p:spPr bwMode="auto">
            <a:xfrm>
              <a:off x="2400" y="1296"/>
              <a:ext cx="1008" cy="576"/>
            </a:xfrm>
            <a:prstGeom prst="line">
              <a:avLst/>
            </a:prstGeom>
            <a:noFill/>
            <a:ln w="76200">
              <a:solidFill>
                <a:srgbClr val="FF0066"/>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9280" name="Group 16"/>
          <p:cNvGrpSpPr>
            <a:grpSpLocks/>
          </p:cNvGrpSpPr>
          <p:nvPr/>
        </p:nvGrpSpPr>
        <p:grpSpPr bwMode="auto">
          <a:xfrm>
            <a:off x="2799928" y="3960514"/>
            <a:ext cx="3048000" cy="1341438"/>
            <a:chOff x="1584" y="2208"/>
            <a:chExt cx="1920" cy="845"/>
          </a:xfrm>
        </p:grpSpPr>
        <p:sp>
          <p:nvSpPr>
            <p:cNvPr id="6154" name="Text Box 8"/>
            <p:cNvSpPr txBox="1">
              <a:spLocks noChangeArrowheads="1"/>
            </p:cNvSpPr>
            <p:nvPr/>
          </p:nvSpPr>
          <p:spPr bwMode="auto">
            <a:xfrm>
              <a:off x="1584" y="2688"/>
              <a:ext cx="1824" cy="365"/>
            </a:xfrm>
            <a:prstGeom prst="rect">
              <a:avLst/>
            </a:prstGeom>
            <a:solidFill>
              <a:srgbClr val="008000"/>
            </a:solidFill>
            <a:ln>
              <a:noFill/>
            </a:ln>
            <a:effectLst/>
            <a:extLs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3200" baseline="0" dirty="0">
                  <a:solidFill>
                    <a:schemeClr val="bg1"/>
                  </a:solidFill>
                </a:rPr>
                <a:t>数值积分法</a:t>
              </a:r>
            </a:p>
          </p:txBody>
        </p:sp>
        <p:sp>
          <p:nvSpPr>
            <p:cNvPr id="6155" name="Line 9"/>
            <p:cNvSpPr>
              <a:spLocks noChangeShapeType="1"/>
            </p:cNvSpPr>
            <p:nvPr/>
          </p:nvSpPr>
          <p:spPr bwMode="auto">
            <a:xfrm>
              <a:off x="1584" y="2208"/>
              <a:ext cx="816" cy="480"/>
            </a:xfrm>
            <a:prstGeom prst="line">
              <a:avLst/>
            </a:prstGeom>
            <a:noFill/>
            <a:ln w="762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 name="Line 10"/>
            <p:cNvSpPr>
              <a:spLocks noChangeShapeType="1"/>
            </p:cNvSpPr>
            <p:nvPr/>
          </p:nvSpPr>
          <p:spPr bwMode="auto">
            <a:xfrm flipH="1">
              <a:off x="2688" y="2256"/>
              <a:ext cx="816" cy="480"/>
            </a:xfrm>
            <a:prstGeom prst="line">
              <a:avLst/>
            </a:prstGeom>
            <a:noFill/>
            <a:ln w="76200">
              <a:solidFill>
                <a:srgbClr val="FF0066"/>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9279" name="Group 15"/>
          <p:cNvGrpSpPr>
            <a:grpSpLocks/>
          </p:cNvGrpSpPr>
          <p:nvPr/>
        </p:nvGrpSpPr>
        <p:grpSpPr bwMode="auto">
          <a:xfrm>
            <a:off x="2799928" y="5255914"/>
            <a:ext cx="2895600" cy="1341438"/>
            <a:chOff x="1584" y="3024"/>
            <a:chExt cx="1824" cy="845"/>
          </a:xfrm>
        </p:grpSpPr>
        <p:sp>
          <p:nvSpPr>
            <p:cNvPr id="6152" name="Text Box 11"/>
            <p:cNvSpPr txBox="1">
              <a:spLocks noChangeArrowheads="1"/>
            </p:cNvSpPr>
            <p:nvPr/>
          </p:nvSpPr>
          <p:spPr bwMode="auto">
            <a:xfrm>
              <a:off x="1584" y="3504"/>
              <a:ext cx="1824" cy="365"/>
            </a:xfrm>
            <a:prstGeom prst="rect">
              <a:avLst/>
            </a:prstGeom>
            <a:solidFill>
              <a:srgbClr val="008000"/>
            </a:solidFill>
            <a:ln>
              <a:noFill/>
            </a:ln>
            <a:effectLst/>
            <a:extLs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3200" baseline="0" dirty="0">
                  <a:solidFill>
                    <a:schemeClr val="bg1"/>
                  </a:solidFill>
                </a:rPr>
                <a:t>求出数值解</a:t>
              </a:r>
            </a:p>
          </p:txBody>
        </p:sp>
        <p:sp>
          <p:nvSpPr>
            <p:cNvPr id="6153" name="Line 12"/>
            <p:cNvSpPr>
              <a:spLocks noChangeShapeType="1"/>
            </p:cNvSpPr>
            <p:nvPr/>
          </p:nvSpPr>
          <p:spPr bwMode="auto">
            <a:xfrm>
              <a:off x="2496" y="3024"/>
              <a:ext cx="0" cy="480"/>
            </a:xfrm>
            <a:prstGeom prst="line">
              <a:avLst/>
            </a:prstGeom>
            <a:noFill/>
            <a:ln w="7620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灯片编号占位符 1"/>
          <p:cNvSpPr>
            <a:spLocks noGrp="1"/>
          </p:cNvSpPr>
          <p:nvPr>
            <p:ph type="sldNum" sz="quarter" idx="12"/>
          </p:nvPr>
        </p:nvSpPr>
        <p:spPr>
          <a:xfrm>
            <a:off x="6948264" y="6400800"/>
            <a:ext cx="1905000" cy="457200"/>
          </a:xfrm>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CB723BC8-A186-4342-A752-F9A6ACBDE275}" type="slidenum">
              <a:rPr lang="en-US" altLang="zh-CN" sz="1400" b="0" baseline="0">
                <a:solidFill>
                  <a:schemeClr val="tx1"/>
                </a:solidFill>
                <a:ea typeface="宋体" panose="02010600030101010101" pitchFamily="2" charset="-122"/>
              </a:rPr>
              <a:pPr eaLnBrk="1" hangingPunct="1"/>
              <a:t>49</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42941752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9267"/>
                                        </p:tgtEl>
                                        <p:attrNameLst>
                                          <p:attrName>style.visibility</p:attrName>
                                        </p:attrNameLst>
                                      </p:cBhvr>
                                      <p:to>
                                        <p:strVal val="visible"/>
                                      </p:to>
                                    </p:set>
                                    <p:animEffect transition="in" filter="dissolve">
                                      <p:cBhvr>
                                        <p:cTn id="7" dur="500"/>
                                        <p:tgtEl>
                                          <p:spTgt spid="139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 fill="hold" nodeType="clickEffect">
                                  <p:stCondLst>
                                    <p:cond delay="0"/>
                                  </p:stCondLst>
                                  <p:childTnLst>
                                    <p:set>
                                      <p:cBhvr>
                                        <p:cTn id="11" dur="1" fill="hold">
                                          <p:stCondLst>
                                            <p:cond delay="0"/>
                                          </p:stCondLst>
                                        </p:cTn>
                                        <p:tgtEl>
                                          <p:spTgt spid="139277"/>
                                        </p:tgtEl>
                                        <p:attrNameLst>
                                          <p:attrName>style.visibility</p:attrName>
                                        </p:attrNameLst>
                                      </p:cBhvr>
                                      <p:to>
                                        <p:strVal val="visible"/>
                                      </p:to>
                                    </p:set>
                                    <p:anim calcmode="lin" valueType="num">
                                      <p:cBhvr>
                                        <p:cTn id="12" dur="500" fill="hold"/>
                                        <p:tgtEl>
                                          <p:spTgt spid="139277"/>
                                        </p:tgtEl>
                                        <p:attrNameLst>
                                          <p:attrName>ppt_x</p:attrName>
                                        </p:attrNameLst>
                                      </p:cBhvr>
                                      <p:tavLst>
                                        <p:tav tm="0">
                                          <p:val>
                                            <p:strVal val="#ppt_x"/>
                                          </p:val>
                                        </p:tav>
                                        <p:tav tm="100000">
                                          <p:val>
                                            <p:strVal val="#ppt_x"/>
                                          </p:val>
                                        </p:tav>
                                      </p:tavLst>
                                    </p:anim>
                                    <p:anim calcmode="lin" valueType="num">
                                      <p:cBhvr>
                                        <p:cTn id="13" dur="500" fill="hold"/>
                                        <p:tgtEl>
                                          <p:spTgt spid="139277"/>
                                        </p:tgtEl>
                                        <p:attrNameLst>
                                          <p:attrName>ppt_y</p:attrName>
                                        </p:attrNameLst>
                                      </p:cBhvr>
                                      <p:tavLst>
                                        <p:tav tm="0">
                                          <p:val>
                                            <p:strVal val="#ppt_y-#ppt_h/2"/>
                                          </p:val>
                                        </p:tav>
                                        <p:tav tm="100000">
                                          <p:val>
                                            <p:strVal val="#ppt_y"/>
                                          </p:val>
                                        </p:tav>
                                      </p:tavLst>
                                    </p:anim>
                                    <p:anim calcmode="lin" valueType="num">
                                      <p:cBhvr>
                                        <p:cTn id="14" dur="500" fill="hold"/>
                                        <p:tgtEl>
                                          <p:spTgt spid="139277"/>
                                        </p:tgtEl>
                                        <p:attrNameLst>
                                          <p:attrName>ppt_w</p:attrName>
                                        </p:attrNameLst>
                                      </p:cBhvr>
                                      <p:tavLst>
                                        <p:tav tm="0">
                                          <p:val>
                                            <p:strVal val="#ppt_w"/>
                                          </p:val>
                                        </p:tav>
                                        <p:tav tm="100000">
                                          <p:val>
                                            <p:strVal val="#ppt_w"/>
                                          </p:val>
                                        </p:tav>
                                      </p:tavLst>
                                    </p:anim>
                                    <p:anim calcmode="lin" valueType="num">
                                      <p:cBhvr>
                                        <p:cTn id="15" dur="500" fill="hold"/>
                                        <p:tgtEl>
                                          <p:spTgt spid="139277"/>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1" fill="hold" nodeType="clickEffect">
                                  <p:stCondLst>
                                    <p:cond delay="0"/>
                                  </p:stCondLst>
                                  <p:childTnLst>
                                    <p:set>
                                      <p:cBhvr>
                                        <p:cTn id="19" dur="1" fill="hold">
                                          <p:stCondLst>
                                            <p:cond delay="0"/>
                                          </p:stCondLst>
                                        </p:cTn>
                                        <p:tgtEl>
                                          <p:spTgt spid="139280"/>
                                        </p:tgtEl>
                                        <p:attrNameLst>
                                          <p:attrName>style.visibility</p:attrName>
                                        </p:attrNameLst>
                                      </p:cBhvr>
                                      <p:to>
                                        <p:strVal val="visible"/>
                                      </p:to>
                                    </p:set>
                                    <p:anim calcmode="lin" valueType="num">
                                      <p:cBhvr>
                                        <p:cTn id="20" dur="500" fill="hold"/>
                                        <p:tgtEl>
                                          <p:spTgt spid="139280"/>
                                        </p:tgtEl>
                                        <p:attrNameLst>
                                          <p:attrName>ppt_x</p:attrName>
                                        </p:attrNameLst>
                                      </p:cBhvr>
                                      <p:tavLst>
                                        <p:tav tm="0">
                                          <p:val>
                                            <p:strVal val="#ppt_x"/>
                                          </p:val>
                                        </p:tav>
                                        <p:tav tm="100000">
                                          <p:val>
                                            <p:strVal val="#ppt_x"/>
                                          </p:val>
                                        </p:tav>
                                      </p:tavLst>
                                    </p:anim>
                                    <p:anim calcmode="lin" valueType="num">
                                      <p:cBhvr>
                                        <p:cTn id="21" dur="500" fill="hold"/>
                                        <p:tgtEl>
                                          <p:spTgt spid="139280"/>
                                        </p:tgtEl>
                                        <p:attrNameLst>
                                          <p:attrName>ppt_y</p:attrName>
                                        </p:attrNameLst>
                                      </p:cBhvr>
                                      <p:tavLst>
                                        <p:tav tm="0">
                                          <p:val>
                                            <p:strVal val="#ppt_y-#ppt_h/2"/>
                                          </p:val>
                                        </p:tav>
                                        <p:tav tm="100000">
                                          <p:val>
                                            <p:strVal val="#ppt_y"/>
                                          </p:val>
                                        </p:tav>
                                      </p:tavLst>
                                    </p:anim>
                                    <p:anim calcmode="lin" valueType="num">
                                      <p:cBhvr>
                                        <p:cTn id="22" dur="500" fill="hold"/>
                                        <p:tgtEl>
                                          <p:spTgt spid="139280"/>
                                        </p:tgtEl>
                                        <p:attrNameLst>
                                          <p:attrName>ppt_w</p:attrName>
                                        </p:attrNameLst>
                                      </p:cBhvr>
                                      <p:tavLst>
                                        <p:tav tm="0">
                                          <p:val>
                                            <p:strVal val="#ppt_w"/>
                                          </p:val>
                                        </p:tav>
                                        <p:tav tm="100000">
                                          <p:val>
                                            <p:strVal val="#ppt_w"/>
                                          </p:val>
                                        </p:tav>
                                      </p:tavLst>
                                    </p:anim>
                                    <p:anim calcmode="lin" valueType="num">
                                      <p:cBhvr>
                                        <p:cTn id="23" dur="500" fill="hold"/>
                                        <p:tgtEl>
                                          <p:spTgt spid="139280"/>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 fill="hold" nodeType="clickEffect">
                                  <p:stCondLst>
                                    <p:cond delay="0"/>
                                  </p:stCondLst>
                                  <p:childTnLst>
                                    <p:set>
                                      <p:cBhvr>
                                        <p:cTn id="27" dur="1" fill="hold">
                                          <p:stCondLst>
                                            <p:cond delay="0"/>
                                          </p:stCondLst>
                                        </p:cTn>
                                        <p:tgtEl>
                                          <p:spTgt spid="139279"/>
                                        </p:tgtEl>
                                        <p:attrNameLst>
                                          <p:attrName>style.visibility</p:attrName>
                                        </p:attrNameLst>
                                      </p:cBhvr>
                                      <p:to>
                                        <p:strVal val="visible"/>
                                      </p:to>
                                    </p:set>
                                    <p:anim calcmode="lin" valueType="num">
                                      <p:cBhvr>
                                        <p:cTn id="28" dur="500" fill="hold"/>
                                        <p:tgtEl>
                                          <p:spTgt spid="139279"/>
                                        </p:tgtEl>
                                        <p:attrNameLst>
                                          <p:attrName>ppt_x</p:attrName>
                                        </p:attrNameLst>
                                      </p:cBhvr>
                                      <p:tavLst>
                                        <p:tav tm="0">
                                          <p:val>
                                            <p:strVal val="#ppt_x"/>
                                          </p:val>
                                        </p:tav>
                                        <p:tav tm="100000">
                                          <p:val>
                                            <p:strVal val="#ppt_x"/>
                                          </p:val>
                                        </p:tav>
                                      </p:tavLst>
                                    </p:anim>
                                    <p:anim calcmode="lin" valueType="num">
                                      <p:cBhvr>
                                        <p:cTn id="29" dur="500" fill="hold"/>
                                        <p:tgtEl>
                                          <p:spTgt spid="139279"/>
                                        </p:tgtEl>
                                        <p:attrNameLst>
                                          <p:attrName>ppt_y</p:attrName>
                                        </p:attrNameLst>
                                      </p:cBhvr>
                                      <p:tavLst>
                                        <p:tav tm="0">
                                          <p:val>
                                            <p:strVal val="#ppt_y-#ppt_h/2"/>
                                          </p:val>
                                        </p:tav>
                                        <p:tav tm="100000">
                                          <p:val>
                                            <p:strVal val="#ppt_y"/>
                                          </p:val>
                                        </p:tav>
                                      </p:tavLst>
                                    </p:anim>
                                    <p:anim calcmode="lin" valueType="num">
                                      <p:cBhvr>
                                        <p:cTn id="30" dur="500" fill="hold"/>
                                        <p:tgtEl>
                                          <p:spTgt spid="139279"/>
                                        </p:tgtEl>
                                        <p:attrNameLst>
                                          <p:attrName>ppt_w</p:attrName>
                                        </p:attrNameLst>
                                      </p:cBhvr>
                                      <p:tavLst>
                                        <p:tav tm="0">
                                          <p:val>
                                            <p:strVal val="#ppt_w"/>
                                          </p:val>
                                        </p:tav>
                                        <p:tav tm="100000">
                                          <p:val>
                                            <p:strVal val="#ppt_w"/>
                                          </p:val>
                                        </p:tav>
                                      </p:tavLst>
                                    </p:anim>
                                    <p:anim calcmode="lin" valueType="num">
                                      <p:cBhvr>
                                        <p:cTn id="31" dur="500" fill="hold"/>
                                        <p:tgtEl>
                                          <p:spTgt spid="13927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l" eaLnBrk="1" hangingPunct="1"/>
            <a:r>
              <a:rPr lang="zh-CN" altLang="en-US" sz="4000" b="1" dirty="0"/>
              <a:t>连续系统数值仿真的基本算法</a:t>
            </a:r>
          </a:p>
        </p:txBody>
      </p:sp>
      <p:sp>
        <p:nvSpPr>
          <p:cNvPr id="10243" name="Rectangle 5"/>
          <p:cNvSpPr>
            <a:spLocks noGrp="1" noChangeArrowheads="1"/>
          </p:cNvSpPr>
          <p:nvPr>
            <p:ph idx="1"/>
          </p:nvPr>
        </p:nvSpPr>
        <p:spPr>
          <a:xfrm>
            <a:off x="827584" y="2017713"/>
            <a:ext cx="8127504" cy="4114800"/>
          </a:xfrm>
        </p:spPr>
        <p:txBody>
          <a:bodyPr/>
          <a:lstStyle/>
          <a:p>
            <a:pPr marL="609600" indent="-609600" algn="just" eaLnBrk="1" hangingPunct="1">
              <a:buFontTx/>
              <a:buNone/>
            </a:pPr>
            <a:r>
              <a:rPr lang="zh-CN" altLang="en-US" b="1" dirty="0"/>
              <a:t>求常微分方程数值解的基本方法有以下几种：</a:t>
            </a:r>
            <a:endParaRPr lang="zh-CN" altLang="en-US" sz="3600" b="1" dirty="0">
              <a:solidFill>
                <a:srgbClr val="008000"/>
              </a:solidFill>
              <a:latin typeface="隶书" panose="02010509060101010101" pitchFamily="49" charset="-122"/>
              <a:ea typeface="隶书" panose="02010509060101010101" pitchFamily="49" charset="-122"/>
            </a:endParaRPr>
          </a:p>
          <a:p>
            <a:pPr marL="609600" indent="-609600" algn="just" eaLnBrk="1" hangingPunct="1"/>
            <a:r>
              <a:rPr lang="zh-CN" altLang="en-US" b="1" dirty="0">
                <a:solidFill>
                  <a:srgbClr val="800080"/>
                </a:solidFill>
              </a:rPr>
              <a:t>差商法</a:t>
            </a:r>
            <a:endParaRPr lang="zh-CN" altLang="en-US" b="1" dirty="0">
              <a:solidFill>
                <a:srgbClr val="800080"/>
              </a:solidFill>
              <a:latin typeface="楷体_GB2312" pitchFamily="49" charset="-122"/>
              <a:ea typeface="楷体_GB2312" pitchFamily="49" charset="-122"/>
            </a:endParaRPr>
          </a:p>
          <a:p>
            <a:pPr marL="609600" indent="-609600" algn="just" eaLnBrk="1" hangingPunct="1"/>
            <a:r>
              <a:rPr lang="zh-CN" altLang="en-US" b="1" dirty="0">
                <a:solidFill>
                  <a:srgbClr val="800080"/>
                </a:solidFill>
              </a:rPr>
              <a:t>泰勒（</a:t>
            </a:r>
            <a:r>
              <a:rPr lang="en-US" altLang="zh-CN" b="1" dirty="0">
                <a:solidFill>
                  <a:srgbClr val="800080"/>
                </a:solidFill>
              </a:rPr>
              <a:t>Taylor</a:t>
            </a:r>
            <a:r>
              <a:rPr lang="zh-CN" altLang="en-US" b="1" dirty="0">
                <a:solidFill>
                  <a:srgbClr val="800080"/>
                </a:solidFill>
              </a:rPr>
              <a:t>）展开法</a:t>
            </a:r>
            <a:endParaRPr lang="zh-CN" altLang="en-US" b="1" dirty="0">
              <a:solidFill>
                <a:srgbClr val="800080"/>
              </a:solidFill>
              <a:latin typeface="楷体_GB2312" pitchFamily="49" charset="-122"/>
              <a:ea typeface="楷体_GB2312" pitchFamily="49" charset="-122"/>
            </a:endParaRPr>
          </a:p>
          <a:p>
            <a:pPr marL="609600" indent="-609600" algn="just" eaLnBrk="1" hangingPunct="1"/>
            <a:r>
              <a:rPr lang="zh-CN" altLang="en-US" b="1" dirty="0">
                <a:solidFill>
                  <a:srgbClr val="800080"/>
                </a:solidFill>
                <a:latin typeface="楷体_GB2312" pitchFamily="49" charset="-122"/>
                <a:ea typeface="楷体_GB2312" pitchFamily="49" charset="-122"/>
              </a:rPr>
              <a:t>数值积分法 </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FC2A64F8-187D-4013-BC93-FC94A7BB24AB}" type="slidenum">
              <a:rPr lang="en-US" altLang="zh-CN" sz="1400" b="0" baseline="0">
                <a:solidFill>
                  <a:schemeClr val="tx1"/>
                </a:solidFill>
                <a:ea typeface="宋体" panose="02010600030101010101" pitchFamily="2" charset="-122"/>
              </a:rPr>
              <a:pPr eaLnBrk="1" hangingPunct="1"/>
              <a:t>50</a:t>
            </a:fld>
            <a:endParaRPr lang="en-US" altLang="zh-CN" sz="1400" b="0" baseline="0">
              <a:solidFill>
                <a:schemeClr val="tx1"/>
              </a:solidFill>
              <a:ea typeface="宋体" panose="02010600030101010101" pitchFamily="2" charset="-122"/>
            </a:endParaRPr>
          </a:p>
        </p:txBody>
      </p:sp>
      <p:sp>
        <p:nvSpPr>
          <p:cNvPr id="2054" name="AutoShape 6"/>
          <p:cNvSpPr>
            <a:spLocks noChangeArrowheads="1"/>
          </p:cNvSpPr>
          <p:nvPr/>
        </p:nvSpPr>
        <p:spPr bwMode="auto">
          <a:xfrm>
            <a:off x="4211960" y="5157192"/>
            <a:ext cx="4267200" cy="837676"/>
          </a:xfrm>
          <a:prstGeom prst="wedgeRoundRectCallout">
            <a:avLst>
              <a:gd name="adj1" fmla="val -62574"/>
              <a:gd name="adj2" fmla="val -166384"/>
              <a:gd name="adj3" fmla="val 16667"/>
            </a:avLst>
          </a:prstGeom>
          <a:solidFill>
            <a:srgbClr val="FFFFFF"/>
          </a:solidFill>
          <a:ln w="38100">
            <a:solidFill>
              <a:srgbClr val="CC0000"/>
            </a:solidFill>
            <a:miter lim="800000"/>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lnSpc>
                <a:spcPct val="90000"/>
              </a:lnSpc>
              <a:buFontTx/>
              <a:buChar char="•"/>
            </a:pPr>
            <a:r>
              <a:rPr lang="en-US" altLang="zh-CN" baseline="0" dirty="0">
                <a:solidFill>
                  <a:srgbClr val="0D17D7"/>
                </a:solidFill>
                <a:latin typeface="宋体" panose="02010600030101010101" pitchFamily="2" charset="-122"/>
                <a:ea typeface="宋体" panose="02010600030101010101" pitchFamily="2" charset="-122"/>
              </a:rPr>
              <a:t> </a:t>
            </a:r>
            <a:r>
              <a:rPr lang="zh-CN" altLang="en-US" baseline="0" dirty="0">
                <a:solidFill>
                  <a:srgbClr val="0D17D7"/>
                </a:solidFill>
                <a:latin typeface="宋体" panose="02010600030101010101" pitchFamily="2" charset="-122"/>
                <a:ea typeface="宋体" panose="02010600030101010101" pitchFamily="2" charset="-122"/>
              </a:rPr>
              <a:t>欧拉（</a:t>
            </a:r>
            <a:r>
              <a:rPr lang="en-US" altLang="zh-CN" baseline="0" dirty="0">
                <a:solidFill>
                  <a:srgbClr val="0D17D7"/>
                </a:solidFill>
                <a:latin typeface="宋体" panose="02010600030101010101" pitchFamily="2" charset="-122"/>
                <a:ea typeface="宋体" panose="02010600030101010101" pitchFamily="2" charset="-122"/>
              </a:rPr>
              <a:t>Euler</a:t>
            </a:r>
            <a:r>
              <a:rPr lang="zh-CN" altLang="en-US" baseline="0" dirty="0">
                <a:solidFill>
                  <a:srgbClr val="0D17D7"/>
                </a:solidFill>
                <a:latin typeface="宋体" panose="02010600030101010101" pitchFamily="2" charset="-122"/>
                <a:ea typeface="宋体" panose="02010600030101010101" pitchFamily="2" charset="-122"/>
              </a:rPr>
              <a:t>）法</a:t>
            </a:r>
          </a:p>
          <a:p>
            <a:pPr algn="l" eaLnBrk="1" hangingPunct="1">
              <a:lnSpc>
                <a:spcPct val="90000"/>
              </a:lnSpc>
              <a:buFontTx/>
              <a:buChar char="•"/>
            </a:pPr>
            <a:r>
              <a:rPr lang="zh-CN" altLang="en-US" baseline="0" dirty="0">
                <a:solidFill>
                  <a:srgbClr val="0D17D7"/>
                </a:solidFill>
                <a:latin typeface="宋体" panose="02010600030101010101" pitchFamily="2" charset="-122"/>
                <a:ea typeface="宋体" panose="02010600030101010101" pitchFamily="2" charset="-122"/>
              </a:rPr>
              <a:t> </a:t>
            </a:r>
            <a:r>
              <a:rPr lang="en-US" altLang="zh-CN" baseline="0" dirty="0" err="1">
                <a:solidFill>
                  <a:srgbClr val="0D17D7"/>
                </a:solidFill>
                <a:latin typeface="宋体" panose="02010600030101010101" pitchFamily="2" charset="-122"/>
                <a:ea typeface="宋体" panose="02010600030101010101" pitchFamily="2" charset="-122"/>
              </a:rPr>
              <a:t>Runge-kuta</a:t>
            </a:r>
            <a:r>
              <a:rPr lang="zh-CN" altLang="en-US" baseline="0" dirty="0">
                <a:solidFill>
                  <a:srgbClr val="0D17D7"/>
                </a:solidFill>
                <a:latin typeface="宋体" panose="02010600030101010101" pitchFamily="2" charset="-122"/>
                <a:ea typeface="宋体" panose="02010600030101010101" pitchFamily="2" charset="-122"/>
              </a:rPr>
              <a:t>法最为普遍</a:t>
            </a:r>
          </a:p>
        </p:txBody>
      </p:sp>
    </p:spTree>
    <p:extLst>
      <p:ext uri="{BB962C8B-B14F-4D97-AF65-F5344CB8AC3E}">
        <p14:creationId xmlns:p14="http://schemas.microsoft.com/office/powerpoint/2010/main" val="5106074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54"/>
                                        </p:tgtEl>
                                        <p:attrNameLst>
                                          <p:attrName>style.visibility</p:attrName>
                                        </p:attrNameLst>
                                      </p:cBhvr>
                                      <p:to>
                                        <p:strVal val="visible"/>
                                      </p:to>
                                    </p:set>
                                    <p:animEffect transition="in" filter="checkerboard(across)">
                                      <p:cBhvr>
                                        <p:cTn id="7" dur="500"/>
                                        <p:tgtEl>
                                          <p:spTgt spid="2054"/>
                                        </p:tgtEl>
                                      </p:cBhvr>
                                    </p:animEffect>
                                  </p:childTnLst>
                                  <p:subTnLst>
                                    <p:set>
                                      <p:cBhvr override="childStyle">
                                        <p:cTn dur="1" fill="hold" display="0" masterRel="nextClick" afterEffect="1"/>
                                        <p:tgtEl>
                                          <p:spTgt spid="205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4"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454150" y="961851"/>
            <a:ext cx="6337300" cy="720725"/>
          </a:xfrm>
        </p:spPr>
        <p:txBody>
          <a:bodyPr/>
          <a:lstStyle/>
          <a:p>
            <a:pPr eaLnBrk="1" hangingPunct="1"/>
            <a:r>
              <a:rPr lang="zh-CN" altLang="en-US" sz="4000" b="1" dirty="0"/>
              <a:t>差商法</a:t>
            </a:r>
          </a:p>
        </p:txBody>
      </p:sp>
      <p:sp>
        <p:nvSpPr>
          <p:cNvPr id="11267" name="Rectangle 3"/>
          <p:cNvSpPr>
            <a:spLocks noGrp="1" noChangeArrowheads="1"/>
          </p:cNvSpPr>
          <p:nvPr>
            <p:ph type="body" idx="1"/>
          </p:nvPr>
        </p:nvSpPr>
        <p:spPr>
          <a:xfrm>
            <a:off x="468313" y="1988840"/>
            <a:ext cx="8135937" cy="4114800"/>
          </a:xfrm>
        </p:spPr>
        <p:txBody>
          <a:bodyPr/>
          <a:lstStyle/>
          <a:p>
            <a:pPr eaLnBrk="1" hangingPunct="1"/>
            <a:r>
              <a:rPr lang="zh-CN" altLang="en-US" sz="2800" b="1" dirty="0"/>
              <a:t>常微分方程为：</a:t>
            </a:r>
          </a:p>
          <a:p>
            <a:pPr eaLnBrk="1" hangingPunct="1"/>
            <a:endParaRPr lang="zh-CN" altLang="en-US" sz="2800" b="1" dirty="0"/>
          </a:p>
          <a:p>
            <a:pPr eaLnBrk="1" hangingPunct="1"/>
            <a:endParaRPr lang="zh-CN" altLang="en-US" sz="2800" b="1" dirty="0"/>
          </a:p>
          <a:p>
            <a:pPr eaLnBrk="1" hangingPunct="1"/>
            <a:r>
              <a:rPr lang="zh-CN" altLang="en-US" sz="2800" b="1" dirty="0"/>
              <a:t>设    在</a:t>
            </a:r>
            <a:r>
              <a:rPr lang="en-US" altLang="zh-CN" sz="2800" b="1" i="1" dirty="0"/>
              <a:t>t </a:t>
            </a:r>
            <a:r>
              <a:rPr lang="en-US" altLang="zh-CN" sz="2800" b="1" dirty="0"/>
              <a:t>= </a:t>
            </a:r>
            <a:r>
              <a:rPr lang="en-US" altLang="zh-CN" sz="2800" b="1" i="1" dirty="0" err="1"/>
              <a:t>t</a:t>
            </a:r>
            <a:r>
              <a:rPr lang="en-US" altLang="zh-CN" sz="2800" b="1" i="1" baseline="-25000" dirty="0" err="1"/>
              <a:t>k</a:t>
            </a:r>
            <a:r>
              <a:rPr lang="en-US" altLang="zh-CN" sz="2800" b="1" i="1" dirty="0"/>
              <a:t> </a:t>
            </a:r>
            <a:r>
              <a:rPr lang="zh-CN" altLang="en-US" sz="2800" b="1" dirty="0"/>
              <a:t>处可用差分形式近似代替，即：</a:t>
            </a:r>
          </a:p>
          <a:p>
            <a:pPr eaLnBrk="1" hangingPunct="1"/>
            <a:endParaRPr lang="zh-CN" altLang="en-US" sz="2800" b="1" dirty="0"/>
          </a:p>
          <a:p>
            <a:pPr eaLnBrk="1" hangingPunct="1"/>
            <a:endParaRPr lang="zh-CN" altLang="en-US" sz="2800" b="1" dirty="0"/>
          </a:p>
          <a:p>
            <a:pPr eaLnBrk="1" hangingPunct="1"/>
            <a:r>
              <a:rPr kumimoji="0" lang="zh-CN" altLang="en-US" sz="2800" b="1" dirty="0"/>
              <a:t>则</a:t>
            </a:r>
          </a:p>
          <a:p>
            <a:pPr eaLnBrk="1" hangingPunct="1">
              <a:buFontTx/>
              <a:buNone/>
            </a:pPr>
            <a:endParaRPr kumimoji="0" lang="en-US" altLang="zh-CN" sz="2800" b="1" dirty="0"/>
          </a:p>
        </p:txBody>
      </p:sp>
      <p:graphicFrame>
        <p:nvGraphicFramePr>
          <p:cNvPr id="11268" name="Object 4"/>
          <p:cNvGraphicFramePr>
            <a:graphicFrameLocks noChangeAspect="1"/>
          </p:cNvGraphicFramePr>
          <p:nvPr>
            <p:extLst>
              <p:ext uri="{D42A27DB-BD31-4B8C-83A1-F6EECF244321}">
                <p14:modId xmlns:p14="http://schemas.microsoft.com/office/powerpoint/2010/main" val="423394076"/>
              </p:ext>
            </p:extLst>
          </p:nvPr>
        </p:nvGraphicFramePr>
        <p:xfrm>
          <a:off x="3779838" y="1916832"/>
          <a:ext cx="2808287" cy="1574800"/>
        </p:xfrm>
        <a:graphic>
          <a:graphicData uri="http://schemas.openxmlformats.org/presentationml/2006/ole">
            <mc:AlternateContent xmlns:mc="http://schemas.openxmlformats.org/markup-compatibility/2006">
              <mc:Choice xmlns:v="urn:schemas-microsoft-com:vml" Requires="v">
                <p:oleObj spid="_x0000_s23862" name="Equation" r:id="rId4" imgW="1168400" imgH="660400" progId="Equation.DSMT4">
                  <p:embed/>
                </p:oleObj>
              </mc:Choice>
              <mc:Fallback>
                <p:oleObj name="Equation" r:id="rId4" imgW="1168400" imgH="660400" progId="Equation.DSMT4">
                  <p:embed/>
                  <p:pic>
                    <p:nvPicPr>
                      <p:cNvPr id="1126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838" y="1916832"/>
                        <a:ext cx="2808287" cy="157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0" name="Object 8"/>
          <p:cNvGraphicFramePr>
            <a:graphicFrameLocks noChangeAspect="1"/>
          </p:cNvGraphicFramePr>
          <p:nvPr>
            <p:extLst>
              <p:ext uri="{D42A27DB-BD31-4B8C-83A1-F6EECF244321}">
                <p14:modId xmlns:p14="http://schemas.microsoft.com/office/powerpoint/2010/main" val="3879368046"/>
              </p:ext>
            </p:extLst>
          </p:nvPr>
        </p:nvGraphicFramePr>
        <p:xfrm>
          <a:off x="1258888" y="3573016"/>
          <a:ext cx="390525" cy="431800"/>
        </p:xfrm>
        <a:graphic>
          <a:graphicData uri="http://schemas.openxmlformats.org/presentationml/2006/ole">
            <mc:AlternateContent xmlns:mc="http://schemas.openxmlformats.org/markup-compatibility/2006">
              <mc:Choice xmlns:v="urn:schemas-microsoft-com:vml" Requires="v">
                <p:oleObj spid="_x0000_s23863" name="Equation" r:id="rId6" imgW="177569" imgH="202936" progId="Equation.DSMT4">
                  <p:embed/>
                </p:oleObj>
              </mc:Choice>
              <mc:Fallback>
                <p:oleObj name="Equation" r:id="rId6" imgW="177569" imgH="202936" progId="Equation.DSMT4">
                  <p:embed/>
                  <p:pic>
                    <p:nvPicPr>
                      <p:cNvPr id="1127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3573016"/>
                        <a:ext cx="3905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1" name="Object 7"/>
          <p:cNvGraphicFramePr>
            <a:graphicFrameLocks noChangeAspect="1"/>
          </p:cNvGraphicFramePr>
          <p:nvPr>
            <p:extLst>
              <p:ext uri="{D42A27DB-BD31-4B8C-83A1-F6EECF244321}">
                <p14:modId xmlns:p14="http://schemas.microsoft.com/office/powerpoint/2010/main" val="2542647080"/>
              </p:ext>
            </p:extLst>
          </p:nvPr>
        </p:nvGraphicFramePr>
        <p:xfrm>
          <a:off x="3203575" y="4077072"/>
          <a:ext cx="3024188" cy="1093787"/>
        </p:xfrm>
        <a:graphic>
          <a:graphicData uri="http://schemas.openxmlformats.org/presentationml/2006/ole">
            <mc:AlternateContent xmlns:mc="http://schemas.openxmlformats.org/markup-compatibility/2006">
              <mc:Choice xmlns:v="urn:schemas-microsoft-com:vml" Requires="v">
                <p:oleObj spid="_x0000_s23864" name="Equation" r:id="rId8" imgW="1079032" imgH="393529" progId="Equation.DSMT4">
                  <p:embed/>
                </p:oleObj>
              </mc:Choice>
              <mc:Fallback>
                <p:oleObj name="Equation" r:id="rId8" imgW="1079032" imgH="393529" progId="Equation.DSMT4">
                  <p:embed/>
                  <p:pic>
                    <p:nvPicPr>
                      <p:cNvPr id="11271"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3575" y="4077072"/>
                        <a:ext cx="3024188"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3" name="Object 12"/>
          <p:cNvGraphicFramePr>
            <a:graphicFrameLocks noChangeAspect="1"/>
          </p:cNvGraphicFramePr>
          <p:nvPr>
            <p:extLst>
              <p:ext uri="{D42A27DB-BD31-4B8C-83A1-F6EECF244321}">
                <p14:modId xmlns:p14="http://schemas.microsoft.com/office/powerpoint/2010/main" val="3711186591"/>
              </p:ext>
            </p:extLst>
          </p:nvPr>
        </p:nvGraphicFramePr>
        <p:xfrm>
          <a:off x="1835150" y="5085134"/>
          <a:ext cx="5184775" cy="1466850"/>
        </p:xfrm>
        <a:graphic>
          <a:graphicData uri="http://schemas.openxmlformats.org/presentationml/2006/ole">
            <mc:AlternateContent xmlns:mc="http://schemas.openxmlformats.org/markup-compatibility/2006">
              <mc:Choice xmlns:v="urn:schemas-microsoft-com:vml" Requires="v">
                <p:oleObj spid="_x0000_s23865" name="Equation" r:id="rId10" imgW="2324100" imgH="660400" progId="Equation.DSMT4">
                  <p:embed/>
                </p:oleObj>
              </mc:Choice>
              <mc:Fallback>
                <p:oleObj name="Equation" r:id="rId10" imgW="2324100" imgH="660400" progId="Equation.DSMT4">
                  <p:embed/>
                  <p:pic>
                    <p:nvPicPr>
                      <p:cNvPr id="11273"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5150" y="5085134"/>
                        <a:ext cx="518477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FB9C886B-C66F-4E26-AA1F-B1CBD6A2030C}" type="slidenum">
              <a:rPr lang="en-US" altLang="zh-CN" sz="1400" b="0" baseline="0">
                <a:solidFill>
                  <a:schemeClr val="tx1"/>
                </a:solidFill>
                <a:ea typeface="宋体" panose="02010600030101010101" pitchFamily="2" charset="-122"/>
              </a:rPr>
              <a:pPr eaLnBrk="1" hangingPunct="1"/>
              <a:t>51</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729961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1079500" y="692696"/>
            <a:ext cx="8064500" cy="5400675"/>
          </a:xfrm>
        </p:spPr>
        <p:txBody>
          <a:bodyPr/>
          <a:lstStyle/>
          <a:p>
            <a:pPr eaLnBrk="1" hangingPunct="1"/>
            <a:r>
              <a:rPr lang="zh-CN" altLang="en-US" b="1" dirty="0"/>
              <a:t>显然由此可得微分方程初值问题的数值解序列值：</a:t>
            </a:r>
          </a:p>
          <a:p>
            <a:pPr eaLnBrk="1" hangingPunct="1">
              <a:buFontTx/>
              <a:buNone/>
            </a:pPr>
            <a:endParaRPr lang="zh-CN" altLang="en-US" b="1" dirty="0"/>
          </a:p>
          <a:p>
            <a:pPr eaLnBrk="1" hangingPunct="1">
              <a:buFontTx/>
              <a:buNone/>
            </a:pPr>
            <a:endParaRPr lang="zh-CN" altLang="en-US" b="1" dirty="0"/>
          </a:p>
          <a:p>
            <a:pPr eaLnBrk="1" hangingPunct="1">
              <a:buFontTx/>
              <a:buNone/>
            </a:pPr>
            <a:r>
              <a:rPr lang="zh-CN" altLang="en-US" b="1" dirty="0"/>
              <a:t>        </a:t>
            </a:r>
          </a:p>
          <a:p>
            <a:pPr eaLnBrk="1" hangingPunct="1"/>
            <a:endParaRPr lang="zh-CN" altLang="en-US" b="1" dirty="0"/>
          </a:p>
          <a:p>
            <a:pPr eaLnBrk="1" hangingPunct="1"/>
            <a:r>
              <a:rPr lang="zh-CN" altLang="en-US" b="1" dirty="0"/>
              <a:t>呈现出递推关系，只要已知初值       ，即可求得所需数值序列                          。</a:t>
            </a:r>
          </a:p>
        </p:txBody>
      </p:sp>
      <p:sp>
        <p:nvSpPr>
          <p:cNvPr id="12291" name="Rectangle 5"/>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graphicFrame>
        <p:nvGraphicFramePr>
          <p:cNvPr id="12292" name="Object 4"/>
          <p:cNvGraphicFramePr>
            <a:graphicFrameLocks noChangeAspect="1"/>
          </p:cNvGraphicFramePr>
          <p:nvPr>
            <p:extLst>
              <p:ext uri="{D42A27DB-BD31-4B8C-83A1-F6EECF244321}">
                <p14:modId xmlns:p14="http://schemas.microsoft.com/office/powerpoint/2010/main" val="2861690563"/>
              </p:ext>
            </p:extLst>
          </p:nvPr>
        </p:nvGraphicFramePr>
        <p:xfrm>
          <a:off x="1062037" y="2181179"/>
          <a:ext cx="7019925" cy="1449387"/>
        </p:xfrm>
        <a:graphic>
          <a:graphicData uri="http://schemas.openxmlformats.org/presentationml/2006/ole">
            <mc:AlternateContent xmlns:mc="http://schemas.openxmlformats.org/markup-compatibility/2006">
              <mc:Choice xmlns:v="urn:schemas-microsoft-com:vml" Requires="v">
                <p:oleObj spid="_x0000_s24800" name="Equation" r:id="rId3" imgW="2349500" imgH="482600" progId="Equation.DSMT4">
                  <p:embed/>
                </p:oleObj>
              </mc:Choice>
              <mc:Fallback>
                <p:oleObj name="Equation" r:id="rId3" imgW="2349500" imgH="482600" progId="Equation.DSMT4">
                  <p:embed/>
                  <p:pic>
                    <p:nvPicPr>
                      <p:cNvPr id="1229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2037" y="2181179"/>
                        <a:ext cx="7019925" cy="144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4" name="Rectangle 8"/>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graphicFrame>
        <p:nvGraphicFramePr>
          <p:cNvPr id="12295" name="Object 7"/>
          <p:cNvGraphicFramePr>
            <a:graphicFrameLocks noChangeAspect="1"/>
          </p:cNvGraphicFramePr>
          <p:nvPr>
            <p:extLst>
              <p:ext uri="{D42A27DB-BD31-4B8C-83A1-F6EECF244321}">
                <p14:modId xmlns:p14="http://schemas.microsoft.com/office/powerpoint/2010/main" val="2710341751"/>
              </p:ext>
            </p:extLst>
          </p:nvPr>
        </p:nvGraphicFramePr>
        <p:xfrm>
          <a:off x="7271610" y="4125482"/>
          <a:ext cx="828782" cy="551304"/>
        </p:xfrm>
        <a:graphic>
          <a:graphicData uri="http://schemas.openxmlformats.org/presentationml/2006/ole">
            <mc:AlternateContent xmlns:mc="http://schemas.openxmlformats.org/markup-compatibility/2006">
              <mc:Choice xmlns:v="urn:schemas-microsoft-com:vml" Requires="v">
                <p:oleObj spid="_x0000_s24801" name="Equation" r:id="rId5" imgW="342751" imgH="228501" progId="Equation.DSMT4">
                  <p:embed/>
                </p:oleObj>
              </mc:Choice>
              <mc:Fallback>
                <p:oleObj name="Equation" r:id="rId5" imgW="342751" imgH="228501" progId="Equation.DSMT4">
                  <p:embed/>
                  <p:pic>
                    <p:nvPicPr>
                      <p:cNvPr id="12295"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1610" y="4125482"/>
                        <a:ext cx="828782" cy="551304"/>
                      </a:xfrm>
                      <a:prstGeom prst="rect">
                        <a:avLst/>
                      </a:prstGeom>
                      <a:noFill/>
                      <a:ln>
                        <a:noFill/>
                      </a:ln>
                    </p:spPr>
                  </p:pic>
                </p:oleObj>
              </mc:Fallback>
            </mc:AlternateContent>
          </a:graphicData>
        </a:graphic>
      </p:graphicFrame>
      <p:sp>
        <p:nvSpPr>
          <p:cNvPr id="12296" name="Rectangle 10"/>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graphicFrame>
        <p:nvGraphicFramePr>
          <p:cNvPr id="12297" name="Object 9"/>
          <p:cNvGraphicFramePr>
            <a:graphicFrameLocks noChangeAspect="1"/>
          </p:cNvGraphicFramePr>
          <p:nvPr>
            <p:extLst>
              <p:ext uri="{D42A27DB-BD31-4B8C-83A1-F6EECF244321}">
                <p14:modId xmlns:p14="http://schemas.microsoft.com/office/powerpoint/2010/main" val="2377710192"/>
              </p:ext>
            </p:extLst>
          </p:nvPr>
        </p:nvGraphicFramePr>
        <p:xfrm>
          <a:off x="5292080" y="4686471"/>
          <a:ext cx="2976227" cy="614737"/>
        </p:xfrm>
        <a:graphic>
          <a:graphicData uri="http://schemas.openxmlformats.org/presentationml/2006/ole">
            <mc:AlternateContent xmlns:mc="http://schemas.openxmlformats.org/markup-compatibility/2006">
              <mc:Choice xmlns:v="urn:schemas-microsoft-com:vml" Requires="v">
                <p:oleObj spid="_x0000_s24802" name="Equation" r:id="rId7" imgW="1104900" imgH="228600" progId="Equation.DSMT4">
                  <p:embed/>
                </p:oleObj>
              </mc:Choice>
              <mc:Fallback>
                <p:oleObj name="Equation" r:id="rId7" imgW="1104900" imgH="228600" progId="Equation.DSMT4">
                  <p:embed/>
                  <p:pic>
                    <p:nvPicPr>
                      <p:cNvPr id="12297"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2080" y="4686471"/>
                        <a:ext cx="2976227" cy="614737"/>
                      </a:xfrm>
                      <a:prstGeom prst="rect">
                        <a:avLst/>
                      </a:prstGeom>
                      <a:noFill/>
                      <a:ln>
                        <a:noFill/>
                      </a:ln>
                    </p:spPr>
                  </p:pic>
                </p:oleObj>
              </mc:Fallback>
            </mc:AlternateContent>
          </a:graphicData>
        </a:graphic>
      </p:graphicFrame>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0FBB9897-C32C-45BA-B436-A55AFA9D2246}" type="slidenum">
              <a:rPr lang="en-US" altLang="zh-CN" sz="1400" b="0" baseline="0">
                <a:solidFill>
                  <a:schemeClr val="tx1"/>
                </a:solidFill>
                <a:ea typeface="宋体" panose="02010600030101010101" pitchFamily="2" charset="-122"/>
              </a:rPr>
              <a:pPr eaLnBrk="1" hangingPunct="1"/>
              <a:t>52</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25329825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52649" y="908720"/>
            <a:ext cx="7126287" cy="803275"/>
          </a:xfrm>
        </p:spPr>
        <p:txBody>
          <a:bodyPr/>
          <a:lstStyle/>
          <a:p>
            <a:pPr eaLnBrk="1" hangingPunct="1"/>
            <a:r>
              <a:rPr lang="zh-CN" altLang="en-US" sz="4000" b="1" dirty="0"/>
              <a:t>泰勒（</a:t>
            </a:r>
            <a:r>
              <a:rPr lang="en-US" altLang="zh-CN" sz="4000" b="1" dirty="0"/>
              <a:t>Taylor</a:t>
            </a:r>
            <a:r>
              <a:rPr lang="zh-CN" altLang="en-US" sz="4000" b="1" dirty="0"/>
              <a:t>）展开法</a:t>
            </a:r>
          </a:p>
        </p:txBody>
      </p:sp>
      <p:sp>
        <p:nvSpPr>
          <p:cNvPr id="13315" name="Rectangle 3"/>
          <p:cNvSpPr>
            <a:spLocks noGrp="1" noChangeArrowheads="1"/>
          </p:cNvSpPr>
          <p:nvPr>
            <p:ph type="body" idx="1"/>
          </p:nvPr>
        </p:nvSpPr>
        <p:spPr>
          <a:xfrm>
            <a:off x="576386" y="1989361"/>
            <a:ext cx="8424863" cy="4970462"/>
          </a:xfrm>
        </p:spPr>
        <p:txBody>
          <a:bodyPr/>
          <a:lstStyle/>
          <a:p>
            <a:pPr eaLnBrk="1" hangingPunct="1"/>
            <a:r>
              <a:rPr lang="zh-CN" altLang="en-US" b="1" dirty="0">
                <a:latin typeface="宋体" panose="02010600030101010101" pitchFamily="2" charset="-122"/>
              </a:rPr>
              <a:t>解函数   在  附近可展为泰勒多项式</a:t>
            </a:r>
          </a:p>
          <a:p>
            <a:pPr eaLnBrk="1" hangingPunct="1"/>
            <a:endParaRPr lang="zh-CN" altLang="en-US" b="1" dirty="0">
              <a:latin typeface="宋体" panose="02010600030101010101" pitchFamily="2" charset="-122"/>
            </a:endParaRPr>
          </a:p>
          <a:p>
            <a:pPr eaLnBrk="1" hangingPunct="1"/>
            <a:endParaRPr lang="zh-CN" altLang="en-US" sz="1000" b="1" dirty="0">
              <a:latin typeface="宋体" panose="02010600030101010101" pitchFamily="2" charset="-122"/>
            </a:endParaRPr>
          </a:p>
          <a:p>
            <a:pPr eaLnBrk="1" hangingPunct="1"/>
            <a:r>
              <a:rPr lang="zh-CN" altLang="en-US" b="1" dirty="0">
                <a:latin typeface="宋体" panose="02010600030101010101" pitchFamily="2" charset="-122"/>
              </a:rPr>
              <a:t>记</a:t>
            </a:r>
          </a:p>
          <a:p>
            <a:pPr eaLnBrk="1" hangingPunct="1"/>
            <a:endParaRPr lang="zh-CN" altLang="en-US" b="1" dirty="0">
              <a:latin typeface="宋体" panose="02010600030101010101" pitchFamily="2" charset="-122"/>
            </a:endParaRPr>
          </a:p>
          <a:p>
            <a:pPr eaLnBrk="1" hangingPunct="1"/>
            <a:r>
              <a:rPr lang="zh-CN" altLang="en-US" b="1" dirty="0">
                <a:latin typeface="宋体" panose="02010600030101010101" pitchFamily="2" charset="-122"/>
              </a:rPr>
              <a:t>并记  </a:t>
            </a:r>
          </a:p>
          <a:p>
            <a:pPr eaLnBrk="1" hangingPunct="1">
              <a:buFontTx/>
              <a:buNone/>
            </a:pPr>
            <a:r>
              <a:rPr lang="zh-CN" altLang="en-US" b="1" dirty="0">
                <a:latin typeface="宋体" panose="02010600030101010101" pitchFamily="2" charset="-122"/>
              </a:rPr>
              <a:t>   </a:t>
            </a:r>
          </a:p>
        </p:txBody>
      </p:sp>
      <p:graphicFrame>
        <p:nvGraphicFramePr>
          <p:cNvPr id="13317" name="Object 21"/>
          <p:cNvGraphicFramePr>
            <a:graphicFrameLocks noChangeAspect="1"/>
          </p:cNvGraphicFramePr>
          <p:nvPr>
            <p:extLst>
              <p:ext uri="{D42A27DB-BD31-4B8C-83A1-F6EECF244321}">
                <p14:modId xmlns:p14="http://schemas.microsoft.com/office/powerpoint/2010/main" val="1376692311"/>
              </p:ext>
            </p:extLst>
          </p:nvPr>
        </p:nvGraphicFramePr>
        <p:xfrm>
          <a:off x="2232149" y="2060798"/>
          <a:ext cx="720725" cy="487363"/>
        </p:xfrm>
        <a:graphic>
          <a:graphicData uri="http://schemas.openxmlformats.org/presentationml/2006/ole">
            <mc:AlternateContent xmlns:mc="http://schemas.openxmlformats.org/markup-compatibility/2006">
              <mc:Choice xmlns:v="urn:schemas-microsoft-com:vml" Requires="v">
                <p:oleObj spid="_x0000_s26052" name="Equation" r:id="rId3" imgW="291973" imgH="203112" progId="Equation.DSMT4">
                  <p:embed/>
                </p:oleObj>
              </mc:Choice>
              <mc:Fallback>
                <p:oleObj name="Equation" r:id="rId3" imgW="291973" imgH="203112" progId="Equation.DSMT4">
                  <p:embed/>
                  <p:pic>
                    <p:nvPicPr>
                      <p:cNvPr id="13317"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2149" y="2060798"/>
                        <a:ext cx="7207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19" name="Object 23"/>
          <p:cNvGraphicFramePr>
            <a:graphicFrameLocks noChangeAspect="1"/>
          </p:cNvGraphicFramePr>
          <p:nvPr>
            <p:extLst>
              <p:ext uri="{D42A27DB-BD31-4B8C-83A1-F6EECF244321}">
                <p14:modId xmlns:p14="http://schemas.microsoft.com/office/powerpoint/2010/main" val="2862265969"/>
              </p:ext>
            </p:extLst>
          </p:nvPr>
        </p:nvGraphicFramePr>
        <p:xfrm>
          <a:off x="3311649" y="1989361"/>
          <a:ext cx="360362" cy="576262"/>
        </p:xfrm>
        <a:graphic>
          <a:graphicData uri="http://schemas.openxmlformats.org/presentationml/2006/ole">
            <mc:AlternateContent xmlns:mc="http://schemas.openxmlformats.org/markup-compatibility/2006">
              <mc:Choice xmlns:v="urn:schemas-microsoft-com:vml" Requires="v">
                <p:oleObj spid="_x0000_s26053" name="Equation" r:id="rId5" imgW="139700" imgH="228600" progId="Equation.DSMT4">
                  <p:embed/>
                </p:oleObj>
              </mc:Choice>
              <mc:Fallback>
                <p:oleObj name="Equation" r:id="rId5" imgW="139700" imgH="228600" progId="Equation.DSMT4">
                  <p:embed/>
                  <p:pic>
                    <p:nvPicPr>
                      <p:cNvPr id="13319"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1649" y="1989361"/>
                        <a:ext cx="36036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1" name="Object 25"/>
          <p:cNvGraphicFramePr>
            <a:graphicFrameLocks noChangeAspect="1"/>
          </p:cNvGraphicFramePr>
          <p:nvPr>
            <p:extLst>
              <p:ext uri="{D42A27DB-BD31-4B8C-83A1-F6EECF244321}">
                <p14:modId xmlns:p14="http://schemas.microsoft.com/office/powerpoint/2010/main" val="3779035743"/>
              </p:ext>
            </p:extLst>
          </p:nvPr>
        </p:nvGraphicFramePr>
        <p:xfrm>
          <a:off x="1152649" y="2564904"/>
          <a:ext cx="7126287" cy="863291"/>
        </p:xfrm>
        <a:graphic>
          <a:graphicData uri="http://schemas.openxmlformats.org/presentationml/2006/ole">
            <mc:AlternateContent xmlns:mc="http://schemas.openxmlformats.org/markup-compatibility/2006">
              <mc:Choice xmlns:v="urn:schemas-microsoft-com:vml" Requires="v">
                <p:oleObj spid="_x0000_s26054" name="Equation" r:id="rId7" imgW="3454400" imgH="419100" progId="Equation.DSMT4">
                  <p:embed/>
                </p:oleObj>
              </mc:Choice>
              <mc:Fallback>
                <p:oleObj name="Equation" r:id="rId7" imgW="3454400" imgH="419100" progId="Equation.DSMT4">
                  <p:embed/>
                  <p:pic>
                    <p:nvPicPr>
                      <p:cNvPr id="13321"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2649" y="2564904"/>
                        <a:ext cx="7126287" cy="863291"/>
                      </a:xfrm>
                      <a:prstGeom prst="rect">
                        <a:avLst/>
                      </a:prstGeom>
                      <a:noFill/>
                      <a:ln>
                        <a:noFill/>
                      </a:ln>
                    </p:spPr>
                  </p:pic>
                </p:oleObj>
              </mc:Fallback>
            </mc:AlternateContent>
          </a:graphicData>
        </a:graphic>
      </p:graphicFrame>
      <p:graphicFrame>
        <p:nvGraphicFramePr>
          <p:cNvPr id="13323" name="Object 27"/>
          <p:cNvGraphicFramePr>
            <a:graphicFrameLocks noChangeAspect="1"/>
          </p:cNvGraphicFramePr>
          <p:nvPr>
            <p:extLst>
              <p:ext uri="{D42A27DB-BD31-4B8C-83A1-F6EECF244321}">
                <p14:modId xmlns:p14="http://schemas.microsoft.com/office/powerpoint/2010/main" val="104641350"/>
              </p:ext>
            </p:extLst>
          </p:nvPr>
        </p:nvGraphicFramePr>
        <p:xfrm>
          <a:off x="1910044" y="3407637"/>
          <a:ext cx="4752975" cy="638175"/>
        </p:xfrm>
        <a:graphic>
          <a:graphicData uri="http://schemas.openxmlformats.org/presentationml/2006/ole">
            <mc:AlternateContent xmlns:mc="http://schemas.openxmlformats.org/markup-compatibility/2006">
              <mc:Choice xmlns:v="urn:schemas-microsoft-com:vml" Requires="v">
                <p:oleObj spid="_x0000_s26055" name="Equation" r:id="rId9" imgW="1714500" imgH="228600" progId="Equation.DSMT4">
                  <p:embed/>
                </p:oleObj>
              </mc:Choice>
              <mc:Fallback>
                <p:oleObj name="Equation" r:id="rId9" imgW="1714500" imgH="228600" progId="Equation.DSMT4">
                  <p:embed/>
                  <p:pic>
                    <p:nvPicPr>
                      <p:cNvPr id="13323"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10044" y="3407637"/>
                        <a:ext cx="47529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5" name="Object 29"/>
          <p:cNvGraphicFramePr>
            <a:graphicFrameLocks noChangeAspect="1"/>
          </p:cNvGraphicFramePr>
          <p:nvPr>
            <p:extLst>
              <p:ext uri="{D42A27DB-BD31-4B8C-83A1-F6EECF244321}">
                <p14:modId xmlns:p14="http://schemas.microsoft.com/office/powerpoint/2010/main" val="3560049777"/>
              </p:ext>
            </p:extLst>
          </p:nvPr>
        </p:nvGraphicFramePr>
        <p:xfrm>
          <a:off x="2952874" y="4509120"/>
          <a:ext cx="4752528" cy="648072"/>
        </p:xfrm>
        <a:graphic>
          <a:graphicData uri="http://schemas.openxmlformats.org/presentationml/2006/ole">
            <mc:AlternateContent xmlns:mc="http://schemas.openxmlformats.org/markup-compatibility/2006">
              <mc:Choice xmlns:v="urn:schemas-microsoft-com:vml" Requires="v">
                <p:oleObj spid="_x0000_s26056" name="Equation" r:id="rId11" imgW="1689100" imgH="228600" progId="Equation.DSMT4">
                  <p:embed/>
                </p:oleObj>
              </mc:Choice>
              <mc:Fallback>
                <p:oleObj name="Equation" r:id="rId11" imgW="1689100" imgH="228600" progId="Equation.DSMT4">
                  <p:embed/>
                  <p:pic>
                    <p:nvPicPr>
                      <p:cNvPr id="13325"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52874" y="4509120"/>
                        <a:ext cx="4752528" cy="648072"/>
                      </a:xfrm>
                      <a:prstGeom prst="rect">
                        <a:avLst/>
                      </a:prstGeom>
                      <a:noFill/>
                      <a:ln>
                        <a:noFill/>
                      </a:ln>
                    </p:spPr>
                  </p:pic>
                </p:oleObj>
              </mc:Fallback>
            </mc:AlternateContent>
          </a:graphicData>
        </a:graphic>
      </p:graphicFrame>
      <p:graphicFrame>
        <p:nvGraphicFramePr>
          <p:cNvPr id="13327" name="Object 31"/>
          <p:cNvGraphicFramePr>
            <a:graphicFrameLocks noChangeAspect="1"/>
          </p:cNvGraphicFramePr>
          <p:nvPr>
            <p:extLst>
              <p:ext uri="{D42A27DB-BD31-4B8C-83A1-F6EECF244321}">
                <p14:modId xmlns:p14="http://schemas.microsoft.com/office/powerpoint/2010/main" val="79232537"/>
              </p:ext>
            </p:extLst>
          </p:nvPr>
        </p:nvGraphicFramePr>
        <p:xfrm>
          <a:off x="395288" y="5467350"/>
          <a:ext cx="8496300" cy="641350"/>
        </p:xfrm>
        <a:graphic>
          <a:graphicData uri="http://schemas.openxmlformats.org/presentationml/2006/ole">
            <mc:AlternateContent xmlns:mc="http://schemas.openxmlformats.org/markup-compatibility/2006">
              <mc:Choice xmlns:v="urn:schemas-microsoft-com:vml" Requires="v">
                <p:oleObj spid="_x0000_s26057" name="Equation" r:id="rId13" imgW="3377880" imgH="253800" progId="Equation.DSMT4">
                  <p:embed/>
                </p:oleObj>
              </mc:Choice>
              <mc:Fallback>
                <p:oleObj name="Equation" r:id="rId13" imgW="3377880" imgH="253800" progId="Equation.DSMT4">
                  <p:embed/>
                  <p:pic>
                    <p:nvPicPr>
                      <p:cNvPr id="13327" name="Object 31"/>
                      <p:cNvPicPr>
                        <a:picLocks noChangeAspect="1" noChangeArrowheads="1"/>
                      </p:cNvPicPr>
                      <p:nvPr/>
                    </p:nvPicPr>
                    <p:blipFill>
                      <a:blip r:embed="rId14"/>
                      <a:srcRect/>
                      <a:stretch>
                        <a:fillRect/>
                      </a:stretch>
                    </p:blipFill>
                    <p:spPr bwMode="auto">
                      <a:xfrm>
                        <a:off x="395288" y="5467350"/>
                        <a:ext cx="8496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3A766730-A864-45AB-A3FD-38C7C4F26CFE}" type="slidenum">
              <a:rPr lang="en-US" altLang="zh-CN" sz="1400" b="0" baseline="0">
                <a:solidFill>
                  <a:schemeClr val="tx1"/>
                </a:solidFill>
                <a:ea typeface="宋体" panose="02010600030101010101" pitchFamily="2" charset="-122"/>
              </a:rPr>
              <a:pPr eaLnBrk="1" hangingPunct="1"/>
              <a:t>53</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15822656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sz="half" idx="4294967295"/>
          </p:nvPr>
        </p:nvSpPr>
        <p:spPr>
          <a:xfrm>
            <a:off x="755575" y="1556792"/>
            <a:ext cx="8188399" cy="4824536"/>
          </a:xfrm>
        </p:spPr>
        <p:txBody>
          <a:bodyPr/>
          <a:lstStyle/>
          <a:p>
            <a:pPr eaLnBrk="1" hangingPunct="1">
              <a:buFontTx/>
              <a:buNone/>
            </a:pPr>
            <a:endParaRPr lang="en-US" altLang="zh-CN" sz="2800" b="1" dirty="0">
              <a:latin typeface="宋体" panose="02010600030101010101" pitchFamily="2" charset="-122"/>
            </a:endParaRPr>
          </a:p>
          <a:p>
            <a:pPr eaLnBrk="1" hangingPunct="1"/>
            <a:r>
              <a:rPr lang="zh-CN" altLang="en-US" sz="2800" b="1" dirty="0">
                <a:latin typeface="宋体" panose="02010600030101010101" pitchFamily="2" charset="-122"/>
              </a:rPr>
              <a:t>按求解精度要求，取适当项数</a:t>
            </a:r>
            <a:r>
              <a:rPr lang="en-US" altLang="zh-CN" sz="2800" b="1" i="1" dirty="0">
                <a:latin typeface="宋体" panose="02010600030101010101" pitchFamily="2" charset="-122"/>
              </a:rPr>
              <a:t>n</a:t>
            </a:r>
            <a:r>
              <a:rPr lang="zh-CN" altLang="en-US" sz="2800" b="1" dirty="0">
                <a:latin typeface="宋体" panose="02010600030101010101" pitchFamily="2" charset="-122"/>
              </a:rPr>
              <a:t>，即可递推求解。特别的，当</a:t>
            </a:r>
            <a:r>
              <a:rPr lang="en-US" altLang="zh-CN" sz="2800" b="1" i="1" dirty="0">
                <a:latin typeface="宋体" panose="02010600030101010101" pitchFamily="2" charset="-122"/>
              </a:rPr>
              <a:t>n</a:t>
            </a:r>
            <a:r>
              <a:rPr lang="en-US" altLang="zh-CN" sz="2800" b="1" dirty="0">
                <a:latin typeface="宋体" panose="02010600030101010101" pitchFamily="2" charset="-122"/>
              </a:rPr>
              <a:t>=1</a:t>
            </a:r>
            <a:r>
              <a:rPr lang="zh-CN" altLang="en-US" sz="2800" b="1" dirty="0">
                <a:latin typeface="宋体" panose="02010600030101010101" pitchFamily="2" charset="-122"/>
              </a:rPr>
              <a:t>，则有</a:t>
            </a:r>
          </a:p>
          <a:p>
            <a:pPr eaLnBrk="1" hangingPunct="1"/>
            <a:endParaRPr lang="zh-CN" altLang="en-US" sz="2800" b="1" dirty="0">
              <a:latin typeface="宋体" panose="02010600030101010101" pitchFamily="2" charset="-122"/>
            </a:endParaRPr>
          </a:p>
          <a:p>
            <a:pPr eaLnBrk="1" hangingPunct="1"/>
            <a:endParaRPr lang="zh-CN" altLang="en-US" sz="2800" b="1" dirty="0">
              <a:latin typeface="宋体" panose="02010600030101010101" pitchFamily="2" charset="-122"/>
            </a:endParaRPr>
          </a:p>
          <a:p>
            <a:pPr eaLnBrk="1" hangingPunct="1"/>
            <a:endParaRPr lang="zh-CN" altLang="en-US" sz="2800" b="1" dirty="0">
              <a:latin typeface="宋体" panose="02010600030101010101" pitchFamily="2" charset="-122"/>
            </a:endParaRPr>
          </a:p>
          <a:p>
            <a:pPr eaLnBrk="1" hangingPunct="1"/>
            <a:r>
              <a:rPr lang="zh-CN" altLang="en-US" sz="2800" b="1" dirty="0">
                <a:latin typeface="宋体" panose="02010600030101010101" pitchFamily="2" charset="-122"/>
              </a:rPr>
              <a:t>与差商法得到的求解公式完全相同。</a:t>
            </a:r>
          </a:p>
        </p:txBody>
      </p:sp>
      <p:sp>
        <p:nvSpPr>
          <p:cNvPr id="3" name="标题 2"/>
          <p:cNvSpPr>
            <a:spLocks noGrp="1"/>
          </p:cNvSpPr>
          <p:nvPr>
            <p:ph type="title"/>
          </p:nvPr>
        </p:nvSpPr>
        <p:spPr/>
        <p:txBody>
          <a:bodyPr/>
          <a:lstStyle/>
          <a:p>
            <a:r>
              <a:rPr lang="zh-CN" altLang="en-US" dirty="0"/>
              <a:t>上述泰勒展开式可化为：</a:t>
            </a:r>
          </a:p>
        </p:txBody>
      </p:sp>
      <p:graphicFrame>
        <p:nvGraphicFramePr>
          <p:cNvPr id="14339" name="Object 4"/>
          <p:cNvGraphicFramePr>
            <a:graphicFrameLocks noGrp="1" noChangeAspect="1"/>
          </p:cNvGraphicFramePr>
          <p:nvPr>
            <p:ph idx="1"/>
            <p:extLst>
              <p:ext uri="{D42A27DB-BD31-4B8C-83A1-F6EECF244321}">
                <p14:modId xmlns:p14="http://schemas.microsoft.com/office/powerpoint/2010/main" val="3437223181"/>
              </p:ext>
            </p:extLst>
          </p:nvPr>
        </p:nvGraphicFramePr>
        <p:xfrm>
          <a:off x="2562225" y="3010577"/>
          <a:ext cx="3233911" cy="1498543"/>
        </p:xfrm>
        <a:graphic>
          <a:graphicData uri="http://schemas.openxmlformats.org/presentationml/2006/ole">
            <mc:AlternateContent xmlns:mc="http://schemas.openxmlformats.org/markup-compatibility/2006">
              <mc:Choice xmlns:v="urn:schemas-microsoft-com:vml" Requires="v">
                <p:oleObj spid="_x0000_s26776" name="Equation" r:id="rId3" imgW="1041120" imgH="482400" progId="Equation.DSMT4">
                  <p:embed/>
                </p:oleObj>
              </mc:Choice>
              <mc:Fallback>
                <p:oleObj name="Equation" r:id="rId3" imgW="1041120" imgH="482400" progId="Equation.DSMT4">
                  <p:embed/>
                  <p:pic>
                    <p:nvPicPr>
                      <p:cNvPr id="14339" name="Object 4"/>
                      <p:cNvPicPr>
                        <a:picLocks noChangeAspect="1" noChangeArrowheads="1"/>
                      </p:cNvPicPr>
                      <p:nvPr/>
                    </p:nvPicPr>
                    <p:blipFill>
                      <a:blip r:embed="rId4"/>
                      <a:srcRect/>
                      <a:stretch>
                        <a:fillRect/>
                      </a:stretch>
                    </p:blipFill>
                    <p:spPr bwMode="auto">
                      <a:xfrm>
                        <a:off x="2562225" y="3010577"/>
                        <a:ext cx="3233911" cy="1498543"/>
                      </a:xfrm>
                      <a:prstGeom prst="rect">
                        <a:avLst/>
                      </a:prstGeom>
                      <a:noFill/>
                      <a:ln>
                        <a:noFill/>
                      </a:ln>
                      <a:effectLst/>
                    </p:spPr>
                  </p:pic>
                </p:oleObj>
              </mc:Fallback>
            </mc:AlternateContent>
          </a:graphicData>
        </a:graphic>
      </p:graphicFrame>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35E9CB87-A7FA-4D31-9B5E-680D4F00CC18}" type="slidenum">
              <a:rPr lang="en-US" altLang="zh-CN" sz="1400" b="0" baseline="0">
                <a:solidFill>
                  <a:schemeClr val="tx1"/>
                </a:solidFill>
                <a:ea typeface="宋体" panose="02010600030101010101" pitchFamily="2" charset="-122"/>
              </a:rPr>
              <a:pPr eaLnBrk="1" hangingPunct="1"/>
              <a:t>54</a:t>
            </a:fld>
            <a:endParaRPr lang="en-US" altLang="zh-CN" sz="1400" b="0" baseline="0">
              <a:solidFill>
                <a:schemeClr val="tx1"/>
              </a:solidFill>
              <a:ea typeface="宋体" panose="02010600030101010101" pitchFamily="2" charset="-122"/>
            </a:endParaRPr>
          </a:p>
        </p:txBody>
      </p:sp>
      <p:sp>
        <p:nvSpPr>
          <p:cNvPr id="14341" name="Rectangle 9"/>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graphicFrame>
        <p:nvGraphicFramePr>
          <p:cNvPr id="14342" name="Object 8"/>
          <p:cNvGraphicFramePr>
            <a:graphicFrameLocks noChangeAspect="1"/>
          </p:cNvGraphicFramePr>
          <p:nvPr>
            <p:extLst>
              <p:ext uri="{D42A27DB-BD31-4B8C-83A1-F6EECF244321}">
                <p14:modId xmlns:p14="http://schemas.microsoft.com/office/powerpoint/2010/main" val="3760429475"/>
              </p:ext>
            </p:extLst>
          </p:nvPr>
        </p:nvGraphicFramePr>
        <p:xfrm>
          <a:off x="1979712" y="5130371"/>
          <a:ext cx="5059262" cy="1442729"/>
        </p:xfrm>
        <a:graphic>
          <a:graphicData uri="http://schemas.openxmlformats.org/presentationml/2006/ole">
            <mc:AlternateContent xmlns:mc="http://schemas.openxmlformats.org/markup-compatibility/2006">
              <mc:Choice xmlns:v="urn:schemas-microsoft-com:vml" Requires="v">
                <p:oleObj spid="_x0000_s26777" name="Equation" r:id="rId5" imgW="2044440" imgH="482400" progId="Equation.DSMT4">
                  <p:embed/>
                </p:oleObj>
              </mc:Choice>
              <mc:Fallback>
                <p:oleObj name="Equation" r:id="rId5" imgW="2044440" imgH="482400" progId="Equation.DSMT4">
                  <p:embed/>
                  <p:pic>
                    <p:nvPicPr>
                      <p:cNvPr id="14342" name="Object 8"/>
                      <p:cNvPicPr>
                        <a:picLocks noChangeAspect="1" noChangeArrowheads="1"/>
                      </p:cNvPicPr>
                      <p:nvPr/>
                    </p:nvPicPr>
                    <p:blipFill>
                      <a:blip r:embed="rId6"/>
                      <a:srcRect/>
                      <a:stretch>
                        <a:fillRect/>
                      </a:stretch>
                    </p:blipFill>
                    <p:spPr bwMode="auto">
                      <a:xfrm>
                        <a:off x="1979712" y="5130371"/>
                        <a:ext cx="5059262" cy="144272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194546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a:lstStyle/>
          <a:p>
            <a:pPr algn="l" eaLnBrk="1" hangingPunct="1"/>
            <a:r>
              <a:rPr lang="zh-CN" altLang="en-US" sz="4000" b="1" dirty="0"/>
              <a:t>数值积分法 </a:t>
            </a:r>
          </a:p>
        </p:txBody>
      </p:sp>
      <p:sp>
        <p:nvSpPr>
          <p:cNvPr id="15363" name="Rectangle 3"/>
          <p:cNvSpPr>
            <a:spLocks noGrp="1" noChangeArrowheads="1"/>
          </p:cNvSpPr>
          <p:nvPr>
            <p:ph type="body" idx="1"/>
          </p:nvPr>
        </p:nvSpPr>
        <p:spPr>
          <a:xfrm>
            <a:off x="685800" y="2036618"/>
            <a:ext cx="7772400" cy="3886200"/>
          </a:xfrm>
        </p:spPr>
        <p:txBody>
          <a:bodyPr/>
          <a:lstStyle/>
          <a:p>
            <a:pPr marL="0" indent="0" algn="just" eaLnBrk="1" hangingPunct="1">
              <a:buFontTx/>
              <a:buNone/>
            </a:pPr>
            <a:r>
              <a:rPr lang="zh-CN" altLang="en-US" sz="2800" b="1" dirty="0">
                <a:latin typeface="楷体_GB2312" pitchFamily="49" charset="-122"/>
                <a:ea typeface="楷体_GB2312" pitchFamily="49" charset="-122"/>
              </a:rPr>
              <a:t>欧拉</a:t>
            </a:r>
            <a:r>
              <a:rPr lang="en-US" altLang="zh-CN" sz="2800" b="1" dirty="0">
                <a:latin typeface="楷体_GB2312" pitchFamily="49" charset="-122"/>
                <a:ea typeface="楷体_GB2312" pitchFamily="49" charset="-122"/>
              </a:rPr>
              <a:t>(Euler)</a:t>
            </a:r>
            <a:r>
              <a:rPr lang="zh-CN" altLang="en-US" sz="2800" b="1" dirty="0">
                <a:latin typeface="楷体_GB2312" pitchFamily="49" charset="-122"/>
                <a:ea typeface="楷体_GB2312" pitchFamily="49" charset="-122"/>
              </a:rPr>
              <a:t>法</a:t>
            </a:r>
            <a:endParaRPr lang="zh-CN" altLang="en-US" sz="2800" dirty="0"/>
          </a:p>
          <a:p>
            <a:pPr marL="0" indent="0" algn="just" eaLnBrk="1" hangingPunct="1">
              <a:buFontTx/>
              <a:buNone/>
            </a:pPr>
            <a:r>
              <a:rPr lang="zh-CN" altLang="en-US" sz="2800" b="1" dirty="0">
                <a:latin typeface="楷体_GB2312" pitchFamily="49" charset="-122"/>
                <a:ea typeface="楷体_GB2312" pitchFamily="49" charset="-122"/>
              </a:rPr>
              <a:t>梯形法</a:t>
            </a:r>
            <a:r>
              <a:rPr lang="zh-CN" altLang="en-US" sz="2800" dirty="0">
                <a:latin typeface="Courier New" panose="02070309020205020404" pitchFamily="49" charset="0"/>
              </a:rPr>
              <a:t> </a:t>
            </a:r>
            <a:endParaRPr lang="zh-CN" altLang="en-US" sz="2800" dirty="0"/>
          </a:p>
          <a:p>
            <a:pPr marL="0" indent="0" algn="just" eaLnBrk="1" hangingPunct="1">
              <a:buFontTx/>
              <a:buNone/>
            </a:pPr>
            <a:r>
              <a:rPr lang="zh-CN" altLang="en-US" sz="2800" b="1" dirty="0">
                <a:latin typeface="楷体_GB2312" pitchFamily="49" charset="-122"/>
                <a:ea typeface="楷体_GB2312" pitchFamily="49" charset="-122"/>
              </a:rPr>
              <a:t>龙格－库塔</a:t>
            </a:r>
            <a:r>
              <a:rPr lang="en-US" altLang="zh-CN" sz="2800" b="1" dirty="0">
                <a:latin typeface="楷体_GB2312" pitchFamily="49" charset="-122"/>
                <a:ea typeface="楷体_GB2312" pitchFamily="49" charset="-122"/>
              </a:rPr>
              <a:t>(</a:t>
            </a:r>
            <a:r>
              <a:rPr lang="en-US" altLang="zh-CN" sz="2800" b="1" dirty="0" err="1">
                <a:latin typeface="楷体_GB2312" pitchFamily="49" charset="-122"/>
                <a:ea typeface="楷体_GB2312" pitchFamily="49" charset="-122"/>
              </a:rPr>
              <a:t>Runge</a:t>
            </a:r>
            <a:r>
              <a:rPr lang="zh-CN" altLang="en-US" sz="2800" b="1" dirty="0">
                <a:latin typeface="楷体_GB2312" pitchFamily="49" charset="-122"/>
                <a:ea typeface="楷体_GB2312" pitchFamily="49" charset="-122"/>
              </a:rPr>
              <a:t>－</a:t>
            </a:r>
            <a:r>
              <a:rPr lang="en-US" altLang="zh-CN" sz="2800" b="1" dirty="0" err="1">
                <a:latin typeface="楷体_GB2312" pitchFamily="49" charset="-122"/>
                <a:ea typeface="楷体_GB2312" pitchFamily="49" charset="-122"/>
              </a:rPr>
              <a:t>Kutta</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法</a:t>
            </a:r>
            <a:endParaRPr lang="en-US" altLang="zh-CN" sz="2800" b="1" dirty="0">
              <a:latin typeface="楷体_GB2312" pitchFamily="49" charset="-122"/>
              <a:ea typeface="楷体_GB2312" pitchFamily="49" charset="-122"/>
            </a:endParaRPr>
          </a:p>
          <a:p>
            <a:pPr marL="0" indent="0" algn="just" eaLnBrk="1" hangingPunct="1">
              <a:buFontTx/>
              <a:buNone/>
            </a:pPr>
            <a:r>
              <a:rPr lang="zh-CN" altLang="en-US" sz="2800" b="1" dirty="0">
                <a:latin typeface="楷体_GB2312" pitchFamily="49" charset="-122"/>
                <a:ea typeface="楷体_GB2312" pitchFamily="49" charset="-122"/>
              </a:rPr>
              <a:t>变步长法</a:t>
            </a:r>
            <a:endParaRPr lang="en-US" altLang="zh-CN" sz="2800" b="1" dirty="0">
              <a:latin typeface="楷体_GB2312" pitchFamily="49" charset="-122"/>
              <a:ea typeface="楷体_GB2312" pitchFamily="49" charset="-122"/>
            </a:endParaRPr>
          </a:p>
          <a:p>
            <a:pPr marL="0" indent="0" algn="just" eaLnBrk="1" hangingPunct="1">
              <a:buFontTx/>
              <a:buNone/>
            </a:pPr>
            <a:r>
              <a:rPr lang="en-US" altLang="zh-CN" sz="2800" b="1" dirty="0">
                <a:latin typeface="楷体_GB2312" pitchFamily="49" charset="-122"/>
                <a:ea typeface="楷体_GB2312" pitchFamily="49" charset="-122"/>
              </a:rPr>
              <a:t>……</a:t>
            </a:r>
            <a:endParaRPr lang="zh-CN" altLang="en-US" sz="3600" b="1" dirty="0">
              <a:latin typeface="楷体_GB2312" pitchFamily="49" charset="-122"/>
              <a:ea typeface="楷体_GB2312" pitchFamily="49" charset="-122"/>
            </a:endParaRP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A8D52BBB-199A-49A3-9679-EF429AD0670E}" type="slidenum">
              <a:rPr lang="en-US" altLang="zh-CN" sz="1400" b="0" baseline="0">
                <a:solidFill>
                  <a:schemeClr val="tx1"/>
                </a:solidFill>
                <a:ea typeface="宋体" panose="02010600030101010101" pitchFamily="2" charset="-122"/>
              </a:rPr>
              <a:pPr eaLnBrk="1" hangingPunct="1"/>
              <a:t>55</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584019530"/>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386" name="Rectangle 3"/>
              <p:cNvSpPr>
                <a:spLocks noGrp="1" noChangeArrowheads="1"/>
              </p:cNvSpPr>
              <p:nvPr>
                <p:ph type="body" idx="1"/>
              </p:nvPr>
            </p:nvSpPr>
            <p:spPr>
              <a:xfrm>
                <a:off x="107504" y="548680"/>
                <a:ext cx="8893175" cy="5543550"/>
              </a:xfrm>
            </p:spPr>
            <p:txBody>
              <a:bodyPr/>
              <a:lstStyle/>
              <a:p>
                <a:pPr eaLnBrk="1" hangingPunct="1">
                  <a:lnSpc>
                    <a:spcPct val="90000"/>
                  </a:lnSpc>
                </a:pPr>
                <a:r>
                  <a:rPr lang="zh-CN" altLang="en-US" sz="2800" b="1" dirty="0"/>
                  <a:t>将式（</a:t>
                </a:r>
                <a:r>
                  <a:rPr lang="en-US" altLang="zh-CN" sz="2800" b="1" dirty="0"/>
                  <a:t>3.5.1</a:t>
                </a:r>
                <a:r>
                  <a:rPr lang="zh-CN" altLang="en-US" sz="2800" b="1" dirty="0"/>
                  <a:t>）在小区间</a:t>
                </a:r>
                <a:r>
                  <a:rPr lang="en-US" altLang="zh-CN" sz="2800" b="1" dirty="0"/>
                  <a:t>[</a:t>
                </a:r>
                <a:r>
                  <a:rPr lang="en-US" altLang="zh-CN" sz="2800" b="1" i="1" dirty="0"/>
                  <a:t>t</a:t>
                </a:r>
                <a:r>
                  <a:rPr lang="en-US" altLang="zh-CN" sz="2800" b="1" i="1" baseline="-25000" dirty="0"/>
                  <a:t>0</a:t>
                </a:r>
                <a:r>
                  <a:rPr lang="en-US" altLang="zh-CN" sz="2800" b="1" i="1" dirty="0"/>
                  <a:t> </a:t>
                </a:r>
                <a:r>
                  <a:rPr lang="zh-CN" altLang="en-US" sz="2800" b="1" i="1" dirty="0"/>
                  <a:t>， </a:t>
                </a:r>
                <a:r>
                  <a:rPr lang="en-US" altLang="zh-CN" sz="2800" b="1" i="1" dirty="0"/>
                  <a:t>t</a:t>
                </a:r>
                <a:r>
                  <a:rPr lang="en-US" altLang="zh-CN" sz="2800" b="1" i="1" baseline="-25000" dirty="0"/>
                  <a:t>k+1</a:t>
                </a:r>
                <a:r>
                  <a:rPr lang="en-US" altLang="zh-CN" sz="2800" b="1" dirty="0"/>
                  <a:t> ] </a:t>
                </a:r>
                <a:r>
                  <a:rPr lang="zh-CN" altLang="en-US" sz="2800" b="1" dirty="0"/>
                  <a:t>上积分，得</a:t>
                </a:r>
              </a:p>
              <a:p>
                <a:pPr eaLnBrk="1" hangingPunct="1">
                  <a:lnSpc>
                    <a:spcPct val="90000"/>
                  </a:lnSpc>
                </a:pPr>
                <a:endParaRPr lang="zh-CN" altLang="en-US" b="1" dirty="0"/>
              </a:p>
              <a:p>
                <a:pPr eaLnBrk="1" hangingPunct="1">
                  <a:lnSpc>
                    <a:spcPct val="90000"/>
                  </a:lnSpc>
                </a:pPr>
                <a:endParaRPr lang="zh-CN" altLang="en-US" b="1" dirty="0"/>
              </a:p>
              <a:p>
                <a:pPr eaLnBrk="1" hangingPunct="1">
                  <a:lnSpc>
                    <a:spcPct val="90000"/>
                  </a:lnSpc>
                </a:pPr>
                <a:endParaRPr lang="en-US" altLang="zh-CN" b="1" dirty="0"/>
              </a:p>
              <a:p>
                <a:pPr eaLnBrk="1" hangingPunct="1">
                  <a:lnSpc>
                    <a:spcPct val="90000"/>
                  </a:lnSpc>
                </a:pPr>
                <a:r>
                  <a:rPr lang="zh-CN" altLang="en-US" b="1" dirty="0"/>
                  <a:t>令：</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a:rPr>
                          <m:t>𝒚</m:t>
                        </m:r>
                      </m:e>
                      <m:sub>
                        <m:r>
                          <a:rPr lang="en-US" altLang="zh-CN" b="1" i="1" smtClean="0">
                            <a:latin typeface="Cambria Math"/>
                          </a:rPr>
                          <m:t>𝒌</m:t>
                        </m:r>
                      </m:sub>
                    </m:sSub>
                    <m:r>
                      <a:rPr lang="en-US" altLang="zh-CN" b="1" i="1" smtClean="0">
                        <a:latin typeface="Cambria Math"/>
                        <a:ea typeface="Cambria Math"/>
                      </a:rPr>
                      <m:t>≅</m:t>
                    </m:r>
                    <m:r>
                      <a:rPr lang="en-US" altLang="zh-CN" b="1" i="1" smtClean="0">
                        <a:latin typeface="Cambria Math"/>
                        <a:ea typeface="Cambria Math"/>
                      </a:rPr>
                      <m:t>𝒚</m:t>
                    </m:r>
                    <m:r>
                      <a:rPr lang="en-US" altLang="zh-CN" b="1" i="1" smtClean="0">
                        <a:latin typeface="Cambria Math"/>
                        <a:ea typeface="Cambria Math"/>
                      </a:rPr>
                      <m:t>(</m:t>
                    </m:r>
                    <m:sSub>
                      <m:sSubPr>
                        <m:ctrlPr>
                          <a:rPr lang="en-US" altLang="zh-CN" b="1" i="1" smtClean="0">
                            <a:latin typeface="Cambria Math" panose="02040503050406030204" pitchFamily="18" charset="0"/>
                            <a:ea typeface="Cambria Math"/>
                          </a:rPr>
                        </m:ctrlPr>
                      </m:sSubPr>
                      <m:e>
                        <m:r>
                          <a:rPr lang="en-US" altLang="zh-CN" b="1" i="1" smtClean="0">
                            <a:latin typeface="Cambria Math"/>
                            <a:ea typeface="Cambria Math"/>
                          </a:rPr>
                          <m:t>𝒕</m:t>
                        </m:r>
                      </m:e>
                      <m:sub>
                        <m:r>
                          <a:rPr lang="en-US" altLang="zh-CN" b="1" i="1" smtClean="0">
                            <a:latin typeface="Cambria Math"/>
                            <a:ea typeface="Cambria Math"/>
                          </a:rPr>
                          <m:t>𝒌</m:t>
                        </m:r>
                      </m:sub>
                    </m:sSub>
                    <m:r>
                      <a:rPr lang="en-US" altLang="zh-CN" b="1" i="1" smtClean="0">
                        <a:latin typeface="Cambria Math"/>
                        <a:ea typeface="Cambria Math"/>
                      </a:rPr>
                      <m:t>)</m:t>
                    </m:r>
                  </m:oMath>
                </a14:m>
                <a:r>
                  <a:rPr lang="zh-CN" altLang="en-US" b="1" dirty="0"/>
                  <a:t>，</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a:rPr>
                          <m:t>𝑸</m:t>
                        </m:r>
                      </m:e>
                      <m:sub>
                        <m:r>
                          <a:rPr lang="en-US" altLang="zh-CN" b="1" i="1" dirty="0" smtClean="0">
                            <a:latin typeface="Cambria Math"/>
                          </a:rPr>
                          <m:t>𝒌</m:t>
                        </m:r>
                      </m:sub>
                    </m:sSub>
                    <m:r>
                      <a:rPr lang="en-US" altLang="zh-CN" b="1" i="1" dirty="0" smtClean="0">
                        <a:latin typeface="Cambria Math"/>
                      </a:rPr>
                      <m:t>=</m:t>
                    </m:r>
                    <m:nary>
                      <m:naryPr>
                        <m:ctrlPr>
                          <a:rPr lang="en-US" altLang="zh-CN" b="1" i="1" dirty="0" smtClean="0">
                            <a:latin typeface="Cambria Math" panose="02040503050406030204" pitchFamily="18" charset="0"/>
                          </a:rPr>
                        </m:ctrlPr>
                      </m:naryPr>
                      <m:sub>
                        <m:sSub>
                          <m:sSubPr>
                            <m:ctrlPr>
                              <a:rPr lang="en-US" altLang="zh-CN" b="1" i="1" dirty="0" smtClean="0">
                                <a:latin typeface="Cambria Math" panose="02040503050406030204" pitchFamily="18" charset="0"/>
                              </a:rPr>
                            </m:ctrlPr>
                          </m:sSubPr>
                          <m:e>
                            <m:r>
                              <a:rPr lang="en-US" altLang="zh-CN" b="1" i="1" dirty="0" smtClean="0">
                                <a:latin typeface="Cambria Math"/>
                              </a:rPr>
                              <m:t>𝒕</m:t>
                            </m:r>
                          </m:e>
                          <m:sub>
                            <m:r>
                              <a:rPr lang="en-US" altLang="zh-CN" b="1" i="1" dirty="0" smtClean="0">
                                <a:latin typeface="Cambria Math"/>
                              </a:rPr>
                              <m:t>𝒌</m:t>
                            </m:r>
                          </m:sub>
                        </m:sSub>
                      </m:sub>
                      <m:sup>
                        <m:sSub>
                          <m:sSubPr>
                            <m:ctrlPr>
                              <a:rPr lang="en-US" altLang="zh-CN" b="1" i="1" dirty="0" smtClean="0">
                                <a:latin typeface="Cambria Math" panose="02040503050406030204" pitchFamily="18" charset="0"/>
                              </a:rPr>
                            </m:ctrlPr>
                          </m:sSubPr>
                          <m:e>
                            <m:r>
                              <a:rPr lang="en-US" altLang="zh-CN" b="1" i="1" dirty="0" smtClean="0">
                                <a:latin typeface="Cambria Math"/>
                              </a:rPr>
                              <m:t>𝒕</m:t>
                            </m:r>
                          </m:e>
                          <m:sub>
                            <m:r>
                              <a:rPr lang="en-US" altLang="zh-CN" b="1" i="1" dirty="0" smtClean="0">
                                <a:latin typeface="Cambria Math"/>
                              </a:rPr>
                              <m:t>𝒌</m:t>
                            </m:r>
                            <m:r>
                              <a:rPr lang="en-US" altLang="zh-CN" b="1" i="1" dirty="0" smtClean="0">
                                <a:latin typeface="Cambria Math"/>
                              </a:rPr>
                              <m:t>+</m:t>
                            </m:r>
                            <m:r>
                              <a:rPr lang="en-US" altLang="zh-CN" b="1" i="1" dirty="0" smtClean="0">
                                <a:latin typeface="Cambria Math"/>
                              </a:rPr>
                              <m:t>𝟏</m:t>
                            </m:r>
                          </m:sub>
                        </m:sSub>
                      </m:sup>
                      <m:e>
                        <m:r>
                          <a:rPr lang="en-US" altLang="zh-CN" b="1" i="1" dirty="0" smtClean="0">
                            <a:latin typeface="Cambria Math"/>
                          </a:rPr>
                          <m:t>𝒇</m:t>
                        </m:r>
                        <m:r>
                          <a:rPr lang="en-US" altLang="zh-CN" b="1" i="1" dirty="0" smtClean="0">
                            <a:latin typeface="Cambria Math"/>
                          </a:rPr>
                          <m:t>(</m:t>
                        </m:r>
                        <m:r>
                          <a:rPr lang="en-US" altLang="zh-CN" b="1" i="1" dirty="0" smtClean="0">
                            <a:latin typeface="Cambria Math" panose="02040503050406030204" pitchFamily="18" charset="0"/>
                          </a:rPr>
                          <m:t>𝒕</m:t>
                        </m:r>
                        <m:r>
                          <a:rPr lang="en-US" altLang="zh-CN" b="1" i="1" dirty="0" smtClean="0">
                            <a:latin typeface="Cambria Math" panose="02040503050406030204" pitchFamily="18" charset="0"/>
                          </a:rPr>
                          <m:t>,</m:t>
                        </m:r>
                        <m:r>
                          <a:rPr lang="en-US" altLang="zh-CN" b="1" i="1" dirty="0" smtClean="0">
                            <a:latin typeface="Cambria Math"/>
                          </a:rPr>
                          <m:t>𝒚</m:t>
                        </m:r>
                        <m:r>
                          <a:rPr lang="en-US" altLang="zh-CN" b="1" i="1" dirty="0" smtClean="0">
                            <a:latin typeface="Cambria Math"/>
                          </a:rPr>
                          <m:t>)</m:t>
                        </m:r>
                      </m:e>
                    </m:nary>
                  </m:oMath>
                </a14:m>
                <a:r>
                  <a:rPr lang="en-US" altLang="zh-CN" dirty="0"/>
                  <a:t>dt</a:t>
                </a:r>
              </a:p>
              <a:p>
                <a:pPr eaLnBrk="1" hangingPunct="1">
                  <a:lnSpc>
                    <a:spcPct val="90000"/>
                  </a:lnSpc>
                </a:pPr>
                <a:r>
                  <a:rPr lang="zh-CN" altLang="en-US" b="1" dirty="0"/>
                  <a:t>得到：</a:t>
                </a:r>
                <a:r>
                  <a:rPr lang="en-US" altLang="zh-CN" b="1" dirty="0"/>
                  <a:t> </a:t>
                </a:r>
                <a14:m>
                  <m:oMath xmlns:m="http://schemas.openxmlformats.org/officeDocument/2006/math">
                    <m:r>
                      <a:rPr lang="en-US" altLang="zh-CN" b="1" i="1" smtClean="0">
                        <a:latin typeface="Cambria Math"/>
                      </a:rPr>
                      <m:t>𝒚</m:t>
                    </m:r>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a:rPr>
                              <m:t>𝒕</m:t>
                            </m:r>
                          </m:e>
                          <m:sub>
                            <m:r>
                              <a:rPr lang="en-US" altLang="zh-CN" b="1" i="1" smtClean="0">
                                <a:latin typeface="Cambria Math"/>
                              </a:rPr>
                              <m:t>𝒌</m:t>
                            </m:r>
                            <m:r>
                              <a:rPr lang="en-US" altLang="zh-CN" b="1" i="1" smtClean="0">
                                <a:latin typeface="Cambria Math"/>
                              </a:rPr>
                              <m:t>+</m:t>
                            </m:r>
                            <m:r>
                              <a:rPr lang="en-US" altLang="zh-CN" b="1" i="1" smtClean="0">
                                <a:latin typeface="Cambria Math"/>
                              </a:rPr>
                              <m:t>𝟏</m:t>
                            </m:r>
                          </m:sub>
                        </m:sSub>
                      </m:e>
                    </m:d>
                    <m:r>
                      <a:rPr lang="en-US" altLang="zh-CN" b="1" i="1" smtClean="0">
                        <a:latin typeface="Cambria Math"/>
                        <a:ea typeface="Cambria Math"/>
                      </a:rPr>
                      <m:t>≅</m:t>
                    </m:r>
                    <m:sSub>
                      <m:sSubPr>
                        <m:ctrlPr>
                          <a:rPr lang="en-US" altLang="zh-CN" b="1" i="1" smtClean="0">
                            <a:latin typeface="Cambria Math" panose="02040503050406030204" pitchFamily="18" charset="0"/>
                            <a:ea typeface="Cambria Math"/>
                          </a:rPr>
                        </m:ctrlPr>
                      </m:sSubPr>
                      <m:e>
                        <m:r>
                          <a:rPr lang="en-US" altLang="zh-CN" b="1" i="1" smtClean="0">
                            <a:latin typeface="Cambria Math"/>
                            <a:ea typeface="Cambria Math"/>
                          </a:rPr>
                          <m:t>𝒚</m:t>
                        </m:r>
                      </m:e>
                      <m:sub>
                        <m:r>
                          <a:rPr lang="en-US" altLang="zh-CN" b="1" i="1" smtClean="0">
                            <a:latin typeface="Cambria Math"/>
                            <a:ea typeface="Cambria Math"/>
                          </a:rPr>
                          <m:t>𝒌</m:t>
                        </m:r>
                        <m:r>
                          <a:rPr lang="en-US" altLang="zh-CN" b="1" i="1" smtClean="0">
                            <a:latin typeface="Cambria Math"/>
                            <a:ea typeface="Cambria Math"/>
                          </a:rPr>
                          <m:t>+</m:t>
                        </m:r>
                        <m:r>
                          <a:rPr lang="en-US" altLang="zh-CN" b="1" i="1" smtClean="0">
                            <a:latin typeface="Cambria Math"/>
                            <a:ea typeface="Cambria Math"/>
                          </a:rPr>
                          <m:t>𝟏</m:t>
                        </m:r>
                      </m:sub>
                    </m:sSub>
                    <m:r>
                      <a:rPr lang="en-US" altLang="zh-CN" b="1" i="1" smtClean="0">
                        <a:latin typeface="Cambria Math"/>
                        <a:ea typeface="Cambria Math"/>
                      </a:rPr>
                      <m:t>=</m:t>
                    </m:r>
                    <m:sSub>
                      <m:sSubPr>
                        <m:ctrlPr>
                          <a:rPr lang="en-US" altLang="zh-CN" b="1" i="1" smtClean="0">
                            <a:latin typeface="Cambria Math" panose="02040503050406030204" pitchFamily="18" charset="0"/>
                            <a:ea typeface="Cambria Math"/>
                          </a:rPr>
                        </m:ctrlPr>
                      </m:sSubPr>
                      <m:e>
                        <m:r>
                          <a:rPr lang="en-US" altLang="zh-CN" b="1" i="1" smtClean="0">
                            <a:latin typeface="Cambria Math"/>
                            <a:ea typeface="Cambria Math"/>
                          </a:rPr>
                          <m:t>𝒚</m:t>
                        </m:r>
                      </m:e>
                      <m:sub>
                        <m:r>
                          <a:rPr lang="en-US" altLang="zh-CN" b="1" i="1" smtClean="0">
                            <a:latin typeface="Cambria Math"/>
                            <a:ea typeface="Cambria Math"/>
                          </a:rPr>
                          <m:t>𝒌</m:t>
                        </m:r>
                      </m:sub>
                    </m:sSub>
                    <m:r>
                      <a:rPr lang="en-US" altLang="zh-CN" b="1" i="1" smtClean="0">
                        <a:latin typeface="Cambria Math"/>
                        <a:ea typeface="Cambria Math"/>
                      </a:rPr>
                      <m:t>+</m:t>
                    </m:r>
                    <m:sSub>
                      <m:sSubPr>
                        <m:ctrlPr>
                          <a:rPr lang="en-US" altLang="zh-CN" b="1" i="1" smtClean="0">
                            <a:latin typeface="Cambria Math" panose="02040503050406030204" pitchFamily="18" charset="0"/>
                            <a:ea typeface="Cambria Math"/>
                          </a:rPr>
                        </m:ctrlPr>
                      </m:sSubPr>
                      <m:e>
                        <m:r>
                          <a:rPr lang="en-US" altLang="zh-CN" b="1" i="1" smtClean="0">
                            <a:latin typeface="Cambria Math"/>
                            <a:ea typeface="Cambria Math"/>
                          </a:rPr>
                          <m:t>𝑸</m:t>
                        </m:r>
                      </m:e>
                      <m:sub>
                        <m:r>
                          <a:rPr lang="en-US" altLang="zh-CN" b="1" i="1" smtClean="0">
                            <a:latin typeface="Cambria Math"/>
                            <a:ea typeface="Cambria Math"/>
                          </a:rPr>
                          <m:t>𝒌</m:t>
                        </m:r>
                      </m:sub>
                    </m:sSub>
                  </m:oMath>
                </a14:m>
                <a:endParaRPr lang="en-US" altLang="zh-CN" b="1" dirty="0"/>
              </a:p>
              <a:p>
                <a:pPr eaLnBrk="1" hangingPunct="1">
                  <a:lnSpc>
                    <a:spcPct val="90000"/>
                  </a:lnSpc>
                </a:pPr>
                <a:r>
                  <a:rPr lang="zh-CN" altLang="en-US" b="1" dirty="0">
                    <a:solidFill>
                      <a:srgbClr val="0D17D7"/>
                    </a:solidFill>
                  </a:rPr>
                  <a:t>问题结论：</a:t>
                </a:r>
              </a:p>
              <a:p>
                <a:pPr eaLnBrk="1" hangingPunct="1">
                  <a:lnSpc>
                    <a:spcPct val="90000"/>
                  </a:lnSpc>
                  <a:buFontTx/>
                  <a:buNone/>
                </a:pPr>
                <a:r>
                  <a:rPr lang="zh-CN" altLang="en-US" b="1" dirty="0">
                    <a:solidFill>
                      <a:srgbClr val="0D17D7"/>
                    </a:solidFill>
                  </a:rPr>
                  <a:t>          在连续系统仿真中的数值积分法，主要的数值计算工作是：在已知初值的情况下求出</a:t>
                </a:r>
                <a:r>
                  <a:rPr lang="en-US" altLang="zh-CN" b="1" i="1" dirty="0" err="1">
                    <a:solidFill>
                      <a:srgbClr val="0D17D7"/>
                    </a:solidFill>
                  </a:rPr>
                  <a:t>Q</a:t>
                </a:r>
                <a:r>
                  <a:rPr lang="en-US" altLang="zh-CN" b="1" i="1" baseline="-25000" dirty="0" err="1">
                    <a:solidFill>
                      <a:srgbClr val="0D17D7"/>
                    </a:solidFill>
                  </a:rPr>
                  <a:t>k</a:t>
                </a:r>
                <a:r>
                  <a:rPr lang="en-US" altLang="zh-CN" b="1" dirty="0">
                    <a:solidFill>
                      <a:srgbClr val="0D17D7"/>
                    </a:solidFill>
                  </a:rPr>
                  <a:t> </a:t>
                </a:r>
                <a:r>
                  <a:rPr lang="zh-CN" altLang="en-US" b="1" dirty="0">
                    <a:solidFill>
                      <a:srgbClr val="0D17D7"/>
                    </a:solidFill>
                  </a:rPr>
                  <a:t>，即对</a:t>
                </a:r>
                <a:r>
                  <a:rPr lang="en-US" altLang="zh-CN" b="1" i="1" dirty="0">
                    <a:solidFill>
                      <a:srgbClr val="0D17D7"/>
                    </a:solidFill>
                  </a:rPr>
                  <a:t>f </a:t>
                </a:r>
                <a:r>
                  <a:rPr lang="en-US" altLang="zh-CN" b="1" dirty="0">
                    <a:solidFill>
                      <a:srgbClr val="0D17D7"/>
                    </a:solidFill>
                  </a:rPr>
                  <a:t>(</a:t>
                </a:r>
                <a:r>
                  <a:rPr lang="en-US" altLang="zh-CN" b="1" i="1" dirty="0">
                    <a:solidFill>
                      <a:srgbClr val="0D17D7"/>
                    </a:solidFill>
                  </a:rPr>
                  <a:t> </a:t>
                </a:r>
                <a:r>
                  <a:rPr lang="en-US" altLang="zh-CN" b="1" i="1" dirty="0" err="1">
                    <a:solidFill>
                      <a:srgbClr val="0D17D7"/>
                    </a:solidFill>
                  </a:rPr>
                  <a:t>t,y</a:t>
                </a:r>
                <a:r>
                  <a:rPr lang="en-US" altLang="zh-CN" b="1" i="1" dirty="0">
                    <a:solidFill>
                      <a:srgbClr val="0D17D7"/>
                    </a:solidFill>
                  </a:rPr>
                  <a:t> </a:t>
                </a:r>
                <a:r>
                  <a:rPr lang="en-US" altLang="zh-CN" b="1" dirty="0">
                    <a:solidFill>
                      <a:srgbClr val="0D17D7"/>
                    </a:solidFill>
                  </a:rPr>
                  <a:t>)</a:t>
                </a:r>
                <a:r>
                  <a:rPr lang="zh-CN" altLang="en-US" b="1" dirty="0">
                    <a:solidFill>
                      <a:srgbClr val="0D17D7"/>
                    </a:solidFill>
                  </a:rPr>
                  <a:t>近似积分。 </a:t>
                </a:r>
              </a:p>
            </p:txBody>
          </p:sp>
        </mc:Choice>
        <mc:Fallback xmlns="">
          <p:sp>
            <p:nvSpPr>
              <p:cNvPr id="16386" name="Rectangle 3"/>
              <p:cNvSpPr>
                <a:spLocks noGrp="1" noRot="1" noChangeAspect="1" noMove="1" noResize="1" noEditPoints="1" noAdjustHandles="1" noChangeArrowheads="1" noChangeShapeType="1" noTextEdit="1"/>
              </p:cNvSpPr>
              <p:nvPr>
                <p:ph type="body" idx="1"/>
              </p:nvPr>
            </p:nvSpPr>
            <p:spPr>
              <a:xfrm>
                <a:off x="107504" y="548680"/>
                <a:ext cx="8893175" cy="5543550"/>
              </a:xfrm>
              <a:blipFill>
                <a:blip r:embed="rId2"/>
                <a:stretch>
                  <a:fillRect l="-549" t="-2090" r="-6104" b="-440"/>
                </a:stretch>
              </a:blipFill>
            </p:spPr>
            <p:txBody>
              <a:bodyPr/>
              <a:lstStyle/>
              <a:p>
                <a:r>
                  <a:rPr lang="zh-CN" altLang="en-US">
                    <a:noFill/>
                  </a:rPr>
                  <a:t> </a:t>
                </a:r>
              </a:p>
            </p:txBody>
          </p:sp>
        </mc:Fallback>
      </mc:AlternateContent>
      <p:sp>
        <p:nvSpPr>
          <p:cNvPr id="16387" name="Rectangle 5"/>
          <p:cNvSpPr>
            <a:spLocks noChangeArrowheads="1"/>
          </p:cNvSpPr>
          <p:nvPr/>
        </p:nvSpPr>
        <p:spPr bwMode="auto">
          <a:xfrm>
            <a:off x="0" y="347243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mc:AlternateContent xmlns:mc="http://schemas.openxmlformats.org/markup-compatibility/2006" xmlns:a14="http://schemas.microsoft.com/office/drawing/2010/main">
        <mc:Choice Requires="a14">
          <p:sp>
            <p:nvSpPr>
              <p:cNvPr id="16388" name="Object 4"/>
              <p:cNvSpPr txBox="1"/>
              <p:nvPr/>
            </p:nvSpPr>
            <p:spPr bwMode="auto">
              <a:xfrm>
                <a:off x="971550" y="1844833"/>
                <a:ext cx="6696794" cy="79200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𝑦</m:t>
                      </m:r>
                      <m:r>
                        <a:rPr lang="zh-CN" altLang="en-US"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0</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Sub>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𝑡</m:t>
                          </m:r>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𝑘</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Sub>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𝑡</m:t>
                          </m:r>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e>
                      </m:nary>
                      <m:r>
                        <m:rPr>
                          <m:nor/>
                        </m:rPr>
                        <a:rPr lang="zh-CN" altLang="en-US" i="0">
                          <a:solidFill>
                            <a:srgbClr val="000000"/>
                          </a:solidFill>
                          <a:latin typeface="Cambria Math" panose="02040503050406030204" pitchFamily="18" charset="0"/>
                        </a:rPr>
                        <m:t>dt</m:t>
                      </m:r>
                    </m:oMath>
                  </m:oMathPara>
                </a14:m>
                <a:endParaRPr lang="zh-CN" altLang="en-US" dirty="0"/>
              </a:p>
            </p:txBody>
          </p:sp>
        </mc:Choice>
        <mc:Fallback xmlns="">
          <p:sp>
            <p:nvSpPr>
              <p:cNvPr id="16388" name="Object 4"/>
              <p:cNvSpPr txBox="1">
                <a:spLocks noRot="1" noChangeAspect="1" noMove="1" noResize="1" noEditPoints="1" noAdjustHandles="1" noChangeArrowheads="1" noChangeShapeType="1" noTextEdit="1"/>
              </p:cNvSpPr>
              <p:nvPr/>
            </p:nvSpPr>
            <p:spPr bwMode="auto">
              <a:xfrm>
                <a:off x="971550" y="1844833"/>
                <a:ext cx="6696794" cy="792005"/>
              </a:xfrm>
              <a:prstGeom prst="rect">
                <a:avLst/>
              </a:prstGeom>
              <a:blipFill>
                <a:blip r:embed="rId3"/>
                <a:stretch>
                  <a:fillRect/>
                </a:stretch>
              </a:blipFill>
              <a:ln>
                <a:noFill/>
              </a:ln>
            </p:spPr>
            <p:txBody>
              <a:bodyPr/>
              <a:lstStyle/>
              <a:p>
                <a:r>
                  <a:rPr lang="zh-CN" altLang="en-US">
                    <a:noFill/>
                  </a:rPr>
                  <a:t> </a:t>
                </a:r>
              </a:p>
            </p:txBody>
          </p:sp>
        </mc:Fallback>
      </mc:AlternateContent>
      <p:sp>
        <p:nvSpPr>
          <p:cNvPr id="16389" name="Rectangle 7"/>
          <p:cNvSpPr>
            <a:spLocks noChangeArrowheads="1"/>
          </p:cNvSpPr>
          <p:nvPr/>
        </p:nvSpPr>
        <p:spPr bwMode="auto">
          <a:xfrm>
            <a:off x="0" y="350100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B485FB4E-A50F-44B4-B61D-AEDAD5178172}" type="slidenum">
              <a:rPr lang="en-US" altLang="zh-CN" sz="1400" b="0" baseline="0">
                <a:solidFill>
                  <a:schemeClr val="tx1"/>
                </a:solidFill>
                <a:ea typeface="宋体" panose="02010600030101010101" pitchFamily="2" charset="-122"/>
              </a:rPr>
              <a:pPr eaLnBrk="1" hangingPunct="1"/>
              <a:t>56</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1821621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609600"/>
            <a:ext cx="4114800" cy="685800"/>
          </a:xfr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p:spPr>
        <p:txBody>
          <a:bodyPr>
            <a:flatTx/>
          </a:bodyPr>
          <a:lstStyle/>
          <a:p>
            <a:pPr algn="l" eaLnBrk="1" hangingPunct="1"/>
            <a:r>
              <a:rPr lang="en-US" altLang="zh-CN" sz="3600" b="1">
                <a:solidFill>
                  <a:srgbClr val="FF0066"/>
                </a:solidFill>
                <a:ea typeface="楷体_GB2312" pitchFamily="49" charset="-122"/>
              </a:rPr>
              <a:t>1</a:t>
            </a:r>
            <a:r>
              <a:rPr lang="zh-CN" altLang="en-US" sz="3600" b="1">
                <a:solidFill>
                  <a:srgbClr val="FF0066"/>
                </a:solidFill>
                <a:ea typeface="楷体_GB2312" pitchFamily="49" charset="-122"/>
              </a:rPr>
              <a:t>、欧拉法</a:t>
            </a:r>
          </a:p>
        </p:txBody>
      </p:sp>
      <p:sp>
        <p:nvSpPr>
          <p:cNvPr id="18435" name="Rectangle 3"/>
          <p:cNvSpPr>
            <a:spLocks noGrp="1" noChangeArrowheads="1"/>
          </p:cNvSpPr>
          <p:nvPr>
            <p:ph type="body" idx="1"/>
          </p:nvPr>
        </p:nvSpPr>
        <p:spPr>
          <a:xfrm>
            <a:off x="5029200" y="533400"/>
            <a:ext cx="3581400" cy="990600"/>
          </a:xfrm>
          <a:solidFill>
            <a:srgbClr val="FFFF99"/>
          </a:solidFill>
        </p:spPr>
        <p:txBody>
          <a:bodyPr/>
          <a:lstStyle/>
          <a:p>
            <a:pPr algn="just" eaLnBrk="1" hangingPunct="1">
              <a:lnSpc>
                <a:spcPct val="90000"/>
              </a:lnSpc>
              <a:buFontTx/>
              <a:buNone/>
            </a:pPr>
            <a:r>
              <a:rPr lang="en-US" altLang="zh-CN">
                <a:latin typeface="Courier New" panose="02070309020205020404" pitchFamily="49" charset="0"/>
              </a:rPr>
              <a:t> </a:t>
            </a:r>
            <a:r>
              <a:rPr lang="en-US" altLang="zh-CN" sz="2800" b="1">
                <a:solidFill>
                  <a:srgbClr val="FF0066"/>
                </a:solidFill>
                <a:latin typeface="Courier New" panose="02070309020205020404" pitchFamily="49" charset="0"/>
              </a:rPr>
              <a:t>dy/dt</a:t>
            </a:r>
            <a:r>
              <a:rPr lang="zh-CN" altLang="en-US" sz="2800" b="1">
                <a:solidFill>
                  <a:srgbClr val="FF0066"/>
                </a:solidFill>
                <a:latin typeface="Courier New" panose="02070309020205020404" pitchFamily="49" charset="0"/>
              </a:rPr>
              <a:t>＝</a:t>
            </a:r>
            <a:r>
              <a:rPr lang="en-US" altLang="zh-CN" sz="2800" b="1">
                <a:solidFill>
                  <a:srgbClr val="FF0066"/>
                </a:solidFill>
                <a:latin typeface="Courier New" panose="02070309020205020404" pitchFamily="49" charset="0"/>
              </a:rPr>
              <a:t>f(t,y)</a:t>
            </a:r>
          </a:p>
          <a:p>
            <a:pPr eaLnBrk="1" hangingPunct="1">
              <a:lnSpc>
                <a:spcPct val="90000"/>
              </a:lnSpc>
              <a:buFontTx/>
              <a:buNone/>
            </a:pPr>
            <a:r>
              <a:rPr lang="en-US" altLang="zh-CN" sz="2800" b="1">
                <a:solidFill>
                  <a:srgbClr val="FF0066"/>
                </a:solidFill>
                <a:latin typeface="Courier New" panose="02070309020205020404" pitchFamily="49" charset="0"/>
              </a:rPr>
              <a:t>  y(t</a:t>
            </a:r>
            <a:r>
              <a:rPr lang="en-US" altLang="zh-CN" sz="2800" b="1" baseline="-25000">
                <a:solidFill>
                  <a:srgbClr val="FF0066"/>
                </a:solidFill>
                <a:latin typeface="Courier New" panose="02070309020205020404" pitchFamily="49" charset="0"/>
              </a:rPr>
              <a:t>0</a:t>
            </a:r>
            <a:r>
              <a:rPr lang="en-US" altLang="zh-CN" sz="2800" b="1">
                <a:solidFill>
                  <a:srgbClr val="FF0066"/>
                </a:solidFill>
                <a:latin typeface="Courier New" panose="02070309020205020404" pitchFamily="49" charset="0"/>
              </a:rPr>
              <a:t>)</a:t>
            </a:r>
            <a:r>
              <a:rPr lang="zh-CN" altLang="en-US" sz="2800" b="1">
                <a:solidFill>
                  <a:srgbClr val="FF0066"/>
                </a:solidFill>
                <a:latin typeface="Courier New" panose="02070309020205020404" pitchFamily="49" charset="0"/>
              </a:rPr>
              <a:t>＝</a:t>
            </a:r>
            <a:r>
              <a:rPr lang="en-US" altLang="zh-CN" sz="2800" b="1">
                <a:solidFill>
                  <a:srgbClr val="FF0066"/>
                </a:solidFill>
                <a:latin typeface="Courier New" panose="02070309020205020404" pitchFamily="49" charset="0"/>
              </a:rPr>
              <a:t>y</a:t>
            </a:r>
            <a:r>
              <a:rPr lang="en-US" altLang="zh-CN" sz="2800" b="1" baseline="-25000">
                <a:solidFill>
                  <a:srgbClr val="FF0066"/>
                </a:solidFill>
                <a:latin typeface="Courier New" panose="02070309020205020404" pitchFamily="49" charset="0"/>
              </a:rPr>
              <a:t>0</a:t>
            </a:r>
            <a:endParaRPr lang="en-US" altLang="zh-CN"/>
          </a:p>
        </p:txBody>
      </p:sp>
      <p:sp>
        <p:nvSpPr>
          <p:cNvPr id="18436" name="Rectangle 4"/>
          <p:cNvSpPr>
            <a:spLocks noChangeArrowheads="1"/>
          </p:cNvSpPr>
          <p:nvPr/>
        </p:nvSpPr>
        <p:spPr bwMode="auto">
          <a:xfrm>
            <a:off x="3505200" y="3886200"/>
            <a:ext cx="1676400" cy="1905000"/>
          </a:xfrm>
          <a:prstGeom prst="rect">
            <a:avLst/>
          </a:prstGeom>
          <a:solidFill>
            <a:schemeClr val="accent1"/>
          </a:solidFill>
          <a:ln w="38100">
            <a:solidFill>
              <a:schemeClr val="accent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18437" name="Line 5"/>
          <p:cNvSpPr>
            <a:spLocks noChangeShapeType="1"/>
          </p:cNvSpPr>
          <p:nvPr/>
        </p:nvSpPr>
        <p:spPr bwMode="auto">
          <a:xfrm>
            <a:off x="1524000" y="5791200"/>
            <a:ext cx="6096000"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8" name="Line 6"/>
          <p:cNvSpPr>
            <a:spLocks noChangeShapeType="1"/>
          </p:cNvSpPr>
          <p:nvPr/>
        </p:nvSpPr>
        <p:spPr bwMode="auto">
          <a:xfrm flipV="1">
            <a:off x="1600200" y="1828800"/>
            <a:ext cx="0" cy="43434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9" name="Arc 7"/>
          <p:cNvSpPr>
            <a:spLocks/>
          </p:cNvSpPr>
          <p:nvPr/>
        </p:nvSpPr>
        <p:spPr bwMode="auto">
          <a:xfrm rot="-2543936">
            <a:off x="3671888" y="3070225"/>
            <a:ext cx="1905000" cy="1038225"/>
          </a:xfrm>
          <a:custGeom>
            <a:avLst/>
            <a:gdLst>
              <a:gd name="T0" fmla="*/ 0 w 21600"/>
              <a:gd name="T1" fmla="*/ 0 h 28063"/>
              <a:gd name="T2" fmla="*/ 1817688 w 21600"/>
              <a:gd name="T3" fmla="*/ 1038225 h 28063"/>
              <a:gd name="T4" fmla="*/ 0 w 21600"/>
              <a:gd name="T5" fmla="*/ 799118 h 28063"/>
              <a:gd name="T6" fmla="*/ 0 60000 65536"/>
              <a:gd name="T7" fmla="*/ 0 60000 65536"/>
              <a:gd name="T8" fmla="*/ 0 60000 65536"/>
            </a:gdLst>
            <a:ahLst/>
            <a:cxnLst>
              <a:cxn ang="T6">
                <a:pos x="T0" y="T1"/>
              </a:cxn>
              <a:cxn ang="T7">
                <a:pos x="T2" y="T3"/>
              </a:cxn>
              <a:cxn ang="T8">
                <a:pos x="T4" y="T5"/>
              </a:cxn>
            </a:cxnLst>
            <a:rect l="0" t="0" r="r" b="b"/>
            <a:pathLst>
              <a:path w="21600" h="28063" fill="none" extrusionOk="0">
                <a:moveTo>
                  <a:pt x="-1" y="0"/>
                </a:moveTo>
                <a:cubicBezTo>
                  <a:pt x="11929" y="0"/>
                  <a:pt x="21600" y="9670"/>
                  <a:pt x="21600" y="21600"/>
                </a:cubicBezTo>
                <a:cubicBezTo>
                  <a:pt x="21600" y="23792"/>
                  <a:pt x="21266" y="25971"/>
                  <a:pt x="20610" y="28063"/>
                </a:cubicBezTo>
              </a:path>
              <a:path w="21600" h="28063" stroke="0" extrusionOk="0">
                <a:moveTo>
                  <a:pt x="-1" y="0"/>
                </a:moveTo>
                <a:cubicBezTo>
                  <a:pt x="11929" y="0"/>
                  <a:pt x="21600" y="9670"/>
                  <a:pt x="21600" y="21600"/>
                </a:cubicBezTo>
                <a:cubicBezTo>
                  <a:pt x="21600" y="23792"/>
                  <a:pt x="21266" y="25971"/>
                  <a:pt x="20610" y="28063"/>
                </a:cubicBezTo>
                <a:lnTo>
                  <a:pt x="0" y="21600"/>
                </a:lnTo>
                <a:lnTo>
                  <a:pt x="-1" y="0"/>
                </a:lnTo>
                <a:close/>
              </a:path>
            </a:pathLst>
          </a:custGeom>
          <a:noFill/>
          <a:ln w="38100">
            <a:solidFill>
              <a:srgbClr val="FF0066"/>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0" name="Line 8"/>
          <p:cNvSpPr>
            <a:spLocks noChangeShapeType="1"/>
          </p:cNvSpPr>
          <p:nvPr/>
        </p:nvSpPr>
        <p:spPr bwMode="auto">
          <a:xfrm>
            <a:off x="3505200" y="3886200"/>
            <a:ext cx="0" cy="190500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1" name="Line 9"/>
          <p:cNvSpPr>
            <a:spLocks noChangeShapeType="1"/>
          </p:cNvSpPr>
          <p:nvPr/>
        </p:nvSpPr>
        <p:spPr bwMode="auto">
          <a:xfrm flipH="1">
            <a:off x="1600200" y="3886200"/>
            <a:ext cx="1905000" cy="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2" name="Text Box 10"/>
          <p:cNvSpPr txBox="1">
            <a:spLocks noChangeArrowheads="1"/>
          </p:cNvSpPr>
          <p:nvPr/>
        </p:nvSpPr>
        <p:spPr bwMode="auto">
          <a:xfrm>
            <a:off x="3200400" y="5791200"/>
            <a:ext cx="4921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t</a:t>
            </a:r>
            <a:r>
              <a:rPr lang="en-US" altLang="zh-CN" sz="3200" baseline="-25000">
                <a:solidFill>
                  <a:srgbClr val="FF0066"/>
                </a:solidFill>
              </a:rPr>
              <a:t>0</a:t>
            </a:r>
            <a:endParaRPr lang="en-US" altLang="zh-CN" sz="3200" baseline="0">
              <a:solidFill>
                <a:srgbClr val="FF0066"/>
              </a:solidFill>
            </a:endParaRPr>
          </a:p>
        </p:txBody>
      </p:sp>
      <p:sp>
        <p:nvSpPr>
          <p:cNvPr id="18443" name="Text Box 11"/>
          <p:cNvSpPr txBox="1">
            <a:spLocks noChangeArrowheads="1"/>
          </p:cNvSpPr>
          <p:nvPr/>
        </p:nvSpPr>
        <p:spPr bwMode="auto">
          <a:xfrm>
            <a:off x="4953000" y="5791200"/>
            <a:ext cx="4524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t</a:t>
            </a:r>
            <a:r>
              <a:rPr lang="en-US" altLang="zh-CN" sz="3200" baseline="-25000">
                <a:solidFill>
                  <a:srgbClr val="FF0066"/>
                </a:solidFill>
              </a:rPr>
              <a:t>1</a:t>
            </a:r>
            <a:endParaRPr lang="en-US" altLang="zh-CN" sz="3200" baseline="0">
              <a:solidFill>
                <a:srgbClr val="FF0066"/>
              </a:solidFill>
            </a:endParaRPr>
          </a:p>
        </p:txBody>
      </p:sp>
      <p:sp>
        <p:nvSpPr>
          <p:cNvPr id="18444" name="Text Box 12"/>
          <p:cNvSpPr txBox="1">
            <a:spLocks noChangeArrowheads="1"/>
          </p:cNvSpPr>
          <p:nvPr/>
        </p:nvSpPr>
        <p:spPr bwMode="auto">
          <a:xfrm>
            <a:off x="6705600" y="2819400"/>
            <a:ext cx="7937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2000" baseline="0">
                <a:solidFill>
                  <a:srgbClr val="FF0066"/>
                </a:solidFill>
                <a:latin typeface="Courier New" panose="02070309020205020404" pitchFamily="49" charset="0"/>
                <a:ea typeface="宋体" panose="02010600030101010101" pitchFamily="2" charset="-122"/>
              </a:rPr>
              <a:t>f(t)</a:t>
            </a:r>
          </a:p>
        </p:txBody>
      </p:sp>
      <p:sp>
        <p:nvSpPr>
          <p:cNvPr id="18445" name="Line 13"/>
          <p:cNvSpPr>
            <a:spLocks noChangeShapeType="1"/>
          </p:cNvSpPr>
          <p:nvPr/>
        </p:nvSpPr>
        <p:spPr bwMode="auto">
          <a:xfrm flipH="1">
            <a:off x="5715000" y="3048000"/>
            <a:ext cx="990600" cy="152400"/>
          </a:xfrm>
          <a:prstGeom prst="line">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8974" name="Text Box 14"/>
          <p:cNvSpPr txBox="1">
            <a:spLocks noChangeArrowheads="1"/>
          </p:cNvSpPr>
          <p:nvPr/>
        </p:nvSpPr>
        <p:spPr bwMode="auto">
          <a:xfrm>
            <a:off x="2514600" y="2011363"/>
            <a:ext cx="6324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baseline="0">
                <a:solidFill>
                  <a:schemeClr val="tx1"/>
                </a:solidFill>
                <a:latin typeface="Courier New" panose="02070309020205020404" pitchFamily="49" charset="0"/>
                <a:ea typeface="宋体" panose="02010600030101010101" pitchFamily="2" charset="-122"/>
              </a:rPr>
              <a:t>∫</a:t>
            </a:r>
            <a:r>
              <a:rPr lang="en-US" altLang="zh-CN">
                <a:solidFill>
                  <a:schemeClr val="tx1"/>
                </a:solidFill>
                <a:latin typeface="Courier New" panose="02070309020205020404" pitchFamily="49" charset="0"/>
                <a:ea typeface="宋体" panose="02010600030101010101" pitchFamily="2" charset="-122"/>
              </a:rPr>
              <a:t>t1</a:t>
            </a:r>
            <a:r>
              <a:rPr lang="en-US" altLang="zh-CN" baseline="-25000">
                <a:solidFill>
                  <a:schemeClr val="tx1"/>
                </a:solidFill>
                <a:latin typeface="Courier New" panose="02070309020205020404" pitchFamily="49" charset="0"/>
                <a:ea typeface="宋体" panose="02010600030101010101" pitchFamily="2" charset="-122"/>
              </a:rPr>
              <a:t>t0</a:t>
            </a:r>
            <a:r>
              <a:rPr lang="en-US" altLang="zh-CN" baseline="0">
                <a:solidFill>
                  <a:schemeClr val="tx1"/>
                </a:solidFill>
                <a:latin typeface="Courier New" panose="02070309020205020404" pitchFamily="49" charset="0"/>
                <a:ea typeface="宋体" panose="02010600030101010101" pitchFamily="2" charset="-122"/>
              </a:rPr>
              <a:t>f</a:t>
            </a:r>
            <a:r>
              <a:rPr lang="zh-CN" altLang="en-US" baseline="0">
                <a:solidFill>
                  <a:schemeClr val="tx1"/>
                </a:solidFill>
                <a:latin typeface="Courier New" panose="02070309020205020404" pitchFamily="49" charset="0"/>
                <a:ea typeface="宋体" panose="02010600030101010101" pitchFamily="2" charset="-122"/>
              </a:rPr>
              <a:t>［</a:t>
            </a:r>
            <a:r>
              <a:rPr lang="en-US" altLang="zh-CN" baseline="0">
                <a:solidFill>
                  <a:schemeClr val="tx1"/>
                </a:solidFill>
                <a:latin typeface="Courier New" panose="02070309020205020404" pitchFamily="49" charset="0"/>
                <a:ea typeface="宋体" panose="02010600030101010101" pitchFamily="2" charset="-122"/>
              </a:rPr>
              <a:t>t,y(t)</a:t>
            </a:r>
            <a:r>
              <a:rPr lang="zh-CN" altLang="en-US" baseline="0">
                <a:solidFill>
                  <a:schemeClr val="tx1"/>
                </a:solidFill>
                <a:latin typeface="Courier New" panose="02070309020205020404" pitchFamily="49" charset="0"/>
                <a:ea typeface="宋体" panose="02010600030101010101" pitchFamily="2" charset="-122"/>
              </a:rPr>
              <a:t>］</a:t>
            </a:r>
            <a:r>
              <a:rPr lang="en-US" altLang="zh-CN" baseline="0">
                <a:solidFill>
                  <a:schemeClr val="tx1"/>
                </a:solidFill>
                <a:latin typeface="Courier New" panose="02070309020205020404" pitchFamily="49" charset="0"/>
                <a:ea typeface="宋体" panose="02010600030101010101" pitchFamily="2" charset="-122"/>
              </a:rPr>
              <a:t>dt </a:t>
            </a:r>
            <a:r>
              <a:rPr lang="en-US" altLang="zh-CN" baseline="0">
                <a:solidFill>
                  <a:schemeClr val="tx1"/>
                </a:solidFill>
                <a:latin typeface="Courier New" panose="02070309020205020404" pitchFamily="49" charset="0"/>
                <a:ea typeface="宋体" panose="02010600030101010101" pitchFamily="2" charset="-122"/>
                <a:sym typeface="Symbol" panose="05050102010706020507" pitchFamily="18" charset="2"/>
              </a:rPr>
              <a:t> </a:t>
            </a:r>
            <a:r>
              <a:rPr lang="en-US" altLang="zh-CN" baseline="0">
                <a:solidFill>
                  <a:schemeClr val="tx1"/>
                </a:solidFill>
                <a:latin typeface="Courier New" panose="02070309020205020404" pitchFamily="49" charset="0"/>
                <a:ea typeface="宋体" panose="02010600030101010101" pitchFamily="2" charset="-122"/>
              </a:rPr>
              <a:t>f(t</a:t>
            </a:r>
            <a:r>
              <a:rPr lang="en-US" altLang="zh-CN" baseline="-25000">
                <a:solidFill>
                  <a:schemeClr val="tx1"/>
                </a:solidFill>
                <a:latin typeface="Courier New" panose="02070309020205020404" pitchFamily="49" charset="0"/>
                <a:ea typeface="宋体" panose="02010600030101010101" pitchFamily="2" charset="-122"/>
              </a:rPr>
              <a:t>0</a:t>
            </a:r>
            <a:r>
              <a:rPr lang="en-US" altLang="zh-CN" baseline="0">
                <a:solidFill>
                  <a:schemeClr val="tx1"/>
                </a:solidFill>
                <a:latin typeface="Courier New" panose="02070309020205020404" pitchFamily="49" charset="0"/>
                <a:ea typeface="宋体" panose="02010600030101010101" pitchFamily="2" charset="-122"/>
              </a:rPr>
              <a:t>,y</a:t>
            </a:r>
            <a:r>
              <a:rPr lang="en-US" altLang="zh-CN" baseline="-25000">
                <a:solidFill>
                  <a:schemeClr val="tx1"/>
                </a:solidFill>
                <a:latin typeface="Courier New" panose="02070309020205020404" pitchFamily="49" charset="0"/>
                <a:ea typeface="宋体" panose="02010600030101010101" pitchFamily="2" charset="-122"/>
              </a:rPr>
              <a:t>0</a:t>
            </a:r>
            <a:r>
              <a:rPr lang="en-US" altLang="zh-CN" baseline="0">
                <a:solidFill>
                  <a:schemeClr val="tx1"/>
                </a:solidFill>
                <a:latin typeface="Courier New" panose="02070309020205020404" pitchFamily="49" charset="0"/>
                <a:ea typeface="宋体" panose="02010600030101010101" pitchFamily="2" charset="-122"/>
              </a:rPr>
              <a:t>)(t</a:t>
            </a:r>
            <a:r>
              <a:rPr lang="en-US" altLang="zh-CN" baseline="-25000">
                <a:solidFill>
                  <a:schemeClr val="tx1"/>
                </a:solidFill>
                <a:latin typeface="Courier New" panose="02070309020205020404" pitchFamily="49" charset="0"/>
                <a:ea typeface="宋体" panose="02010600030101010101" pitchFamily="2" charset="-122"/>
              </a:rPr>
              <a:t>1</a:t>
            </a:r>
            <a:r>
              <a:rPr lang="en-US" altLang="zh-CN" baseline="0">
                <a:solidFill>
                  <a:schemeClr val="tx1"/>
                </a:solidFill>
                <a:latin typeface="Courier New" panose="02070309020205020404" pitchFamily="49" charset="0"/>
                <a:ea typeface="宋体" panose="02010600030101010101" pitchFamily="2" charset="-122"/>
              </a:rPr>
              <a:t>-t</a:t>
            </a:r>
            <a:r>
              <a:rPr lang="en-US" altLang="zh-CN" baseline="-25000">
                <a:solidFill>
                  <a:schemeClr val="tx1"/>
                </a:solidFill>
                <a:latin typeface="Courier New" panose="02070309020205020404" pitchFamily="49" charset="0"/>
                <a:ea typeface="宋体" panose="02010600030101010101" pitchFamily="2" charset="-122"/>
              </a:rPr>
              <a:t>0</a:t>
            </a:r>
            <a:r>
              <a:rPr lang="en-US" altLang="zh-CN" baseline="0">
                <a:solidFill>
                  <a:schemeClr val="tx1"/>
                </a:solidFill>
                <a:latin typeface="Courier New" panose="02070309020205020404" pitchFamily="49" charset="0"/>
                <a:ea typeface="宋体" panose="02010600030101010101" pitchFamily="2" charset="-122"/>
              </a:rPr>
              <a:t>) </a:t>
            </a:r>
          </a:p>
        </p:txBody>
      </p:sp>
      <p:sp>
        <p:nvSpPr>
          <p:cNvPr id="18447" name="Line 15"/>
          <p:cNvSpPr>
            <a:spLocks noChangeShapeType="1"/>
          </p:cNvSpPr>
          <p:nvPr/>
        </p:nvSpPr>
        <p:spPr bwMode="auto">
          <a:xfrm flipH="1">
            <a:off x="1524000" y="3048000"/>
            <a:ext cx="3657600" cy="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8" name="Text Box 16"/>
          <p:cNvSpPr txBox="1">
            <a:spLocks noChangeArrowheads="1"/>
          </p:cNvSpPr>
          <p:nvPr/>
        </p:nvSpPr>
        <p:spPr bwMode="auto">
          <a:xfrm>
            <a:off x="152400" y="2819400"/>
            <a:ext cx="152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baseline="0">
                <a:solidFill>
                  <a:srgbClr val="FF0066"/>
                </a:solidFill>
                <a:latin typeface="Courier New" panose="02070309020205020404" pitchFamily="49" charset="0"/>
                <a:ea typeface="宋体" panose="02010600030101010101" pitchFamily="2" charset="-122"/>
              </a:rPr>
              <a:t>f(t</a:t>
            </a:r>
            <a:r>
              <a:rPr lang="en-US" altLang="zh-CN" baseline="-25000">
                <a:solidFill>
                  <a:srgbClr val="FF0066"/>
                </a:solidFill>
                <a:latin typeface="Courier New" panose="02070309020205020404" pitchFamily="49" charset="0"/>
                <a:ea typeface="宋体" panose="02010600030101010101" pitchFamily="2" charset="-122"/>
              </a:rPr>
              <a:t>1</a:t>
            </a:r>
            <a:r>
              <a:rPr lang="en-US" altLang="zh-CN" baseline="0">
                <a:solidFill>
                  <a:srgbClr val="FF0066"/>
                </a:solidFill>
                <a:latin typeface="Courier New" panose="02070309020205020404" pitchFamily="49" charset="0"/>
                <a:ea typeface="宋体" panose="02010600030101010101" pitchFamily="2" charset="-122"/>
              </a:rPr>
              <a:t>,y</a:t>
            </a:r>
            <a:r>
              <a:rPr lang="en-US" altLang="zh-CN" baseline="-25000">
                <a:solidFill>
                  <a:srgbClr val="FF0066"/>
                </a:solidFill>
                <a:latin typeface="Courier New" panose="02070309020205020404" pitchFamily="49" charset="0"/>
                <a:ea typeface="宋体" panose="02010600030101010101" pitchFamily="2" charset="-122"/>
              </a:rPr>
              <a:t>1</a:t>
            </a:r>
            <a:r>
              <a:rPr lang="en-US" altLang="zh-CN" baseline="0">
                <a:solidFill>
                  <a:srgbClr val="FF0066"/>
                </a:solidFill>
                <a:latin typeface="Courier New" panose="02070309020205020404" pitchFamily="49" charset="0"/>
                <a:ea typeface="宋体" panose="02010600030101010101" pitchFamily="2" charset="-122"/>
              </a:rPr>
              <a:t>)</a:t>
            </a:r>
            <a:endParaRPr lang="en-US" altLang="zh-CN" b="0" baseline="-25000">
              <a:solidFill>
                <a:schemeClr val="tx1"/>
              </a:solidFill>
              <a:latin typeface="Courier New" panose="02070309020205020404" pitchFamily="49" charset="0"/>
              <a:ea typeface="宋体" panose="02010600030101010101" pitchFamily="2" charset="-122"/>
            </a:endParaRPr>
          </a:p>
        </p:txBody>
      </p:sp>
      <p:sp>
        <p:nvSpPr>
          <p:cNvPr id="18449" name="Text Box 17"/>
          <p:cNvSpPr txBox="1">
            <a:spLocks noChangeArrowheads="1"/>
          </p:cNvSpPr>
          <p:nvPr/>
        </p:nvSpPr>
        <p:spPr bwMode="auto">
          <a:xfrm>
            <a:off x="4022725" y="4967288"/>
            <a:ext cx="7016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1800" baseline="0">
                <a:solidFill>
                  <a:srgbClr val="FF0066"/>
                </a:solidFill>
                <a:sym typeface="Symbol" panose="05050102010706020507" pitchFamily="18" charset="2"/>
              </a:rPr>
              <a:t></a:t>
            </a:r>
            <a:r>
              <a:rPr lang="en-US" altLang="zh-CN" baseline="0">
                <a:solidFill>
                  <a:srgbClr val="FF0066"/>
                </a:solidFill>
                <a:sym typeface="MapInfo Weather" pitchFamily="18" charset="2"/>
              </a:rPr>
              <a:t>t</a:t>
            </a:r>
            <a:endParaRPr lang="en-US" altLang="zh-CN" sz="3200" baseline="0">
              <a:solidFill>
                <a:srgbClr val="FF0066"/>
              </a:solidFill>
            </a:endParaRPr>
          </a:p>
        </p:txBody>
      </p:sp>
      <p:sp>
        <p:nvSpPr>
          <p:cNvPr id="18450" name="Line 18"/>
          <p:cNvSpPr>
            <a:spLocks noChangeShapeType="1"/>
          </p:cNvSpPr>
          <p:nvPr/>
        </p:nvSpPr>
        <p:spPr bwMode="auto">
          <a:xfrm flipH="1">
            <a:off x="3505200" y="5257800"/>
            <a:ext cx="609600" cy="0"/>
          </a:xfrm>
          <a:prstGeom prst="line">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1" name="Line 19"/>
          <p:cNvSpPr>
            <a:spLocks noChangeShapeType="1"/>
          </p:cNvSpPr>
          <p:nvPr/>
        </p:nvSpPr>
        <p:spPr bwMode="auto">
          <a:xfrm>
            <a:off x="4648200" y="5257800"/>
            <a:ext cx="457200" cy="0"/>
          </a:xfrm>
          <a:prstGeom prst="line">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2" name="Line 20"/>
          <p:cNvSpPr>
            <a:spLocks noChangeShapeType="1"/>
          </p:cNvSpPr>
          <p:nvPr/>
        </p:nvSpPr>
        <p:spPr bwMode="auto">
          <a:xfrm>
            <a:off x="5181600" y="3048000"/>
            <a:ext cx="0" cy="274320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53" name="Text Box 21"/>
          <p:cNvSpPr txBox="1">
            <a:spLocks noChangeArrowheads="1"/>
          </p:cNvSpPr>
          <p:nvPr/>
        </p:nvSpPr>
        <p:spPr bwMode="auto">
          <a:xfrm>
            <a:off x="7848600" y="5334000"/>
            <a:ext cx="31908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t</a:t>
            </a:r>
          </a:p>
        </p:txBody>
      </p:sp>
      <p:sp>
        <p:nvSpPr>
          <p:cNvPr id="18454" name="Text Box 22"/>
          <p:cNvSpPr txBox="1">
            <a:spLocks noChangeArrowheads="1"/>
          </p:cNvSpPr>
          <p:nvPr/>
        </p:nvSpPr>
        <p:spPr bwMode="auto">
          <a:xfrm>
            <a:off x="152400" y="3581400"/>
            <a:ext cx="152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baseline="0">
                <a:solidFill>
                  <a:srgbClr val="FF0066"/>
                </a:solidFill>
                <a:latin typeface="Courier New" panose="02070309020205020404" pitchFamily="49" charset="0"/>
                <a:ea typeface="宋体" panose="02010600030101010101" pitchFamily="2" charset="-122"/>
              </a:rPr>
              <a:t>f(t</a:t>
            </a:r>
            <a:r>
              <a:rPr lang="en-US" altLang="zh-CN" baseline="-25000">
                <a:solidFill>
                  <a:srgbClr val="FF0066"/>
                </a:solidFill>
                <a:latin typeface="Courier New" panose="02070309020205020404" pitchFamily="49" charset="0"/>
                <a:ea typeface="宋体" panose="02010600030101010101" pitchFamily="2" charset="-122"/>
              </a:rPr>
              <a:t>0</a:t>
            </a:r>
            <a:r>
              <a:rPr lang="en-US" altLang="zh-CN" baseline="0">
                <a:solidFill>
                  <a:srgbClr val="FF0066"/>
                </a:solidFill>
                <a:latin typeface="Courier New" panose="02070309020205020404" pitchFamily="49" charset="0"/>
                <a:ea typeface="宋体" panose="02010600030101010101" pitchFamily="2" charset="-122"/>
              </a:rPr>
              <a:t>,y</a:t>
            </a:r>
            <a:r>
              <a:rPr lang="en-US" altLang="zh-CN" baseline="-25000">
                <a:solidFill>
                  <a:srgbClr val="FF0066"/>
                </a:solidFill>
                <a:latin typeface="Courier New" panose="02070309020205020404" pitchFamily="49" charset="0"/>
                <a:ea typeface="宋体" panose="02010600030101010101" pitchFamily="2" charset="-122"/>
              </a:rPr>
              <a:t>0</a:t>
            </a:r>
            <a:r>
              <a:rPr lang="en-US" altLang="zh-CN" baseline="0">
                <a:solidFill>
                  <a:srgbClr val="FF0066"/>
                </a:solidFill>
                <a:latin typeface="Courier New" panose="02070309020205020404" pitchFamily="49" charset="0"/>
                <a:ea typeface="宋体" panose="02010600030101010101" pitchFamily="2" charset="-122"/>
              </a:rPr>
              <a:t>)</a:t>
            </a:r>
            <a:endParaRPr lang="en-US" altLang="zh-CN" b="0" baseline="-25000">
              <a:solidFill>
                <a:schemeClr val="tx1"/>
              </a:solidFill>
              <a:latin typeface="Courier New" panose="02070309020205020404" pitchFamily="49" charset="0"/>
              <a:ea typeface="宋体" panose="02010600030101010101" pitchFamily="2" charset="-122"/>
            </a:endParaRPr>
          </a:p>
        </p:txBody>
      </p:sp>
      <p:sp>
        <p:nvSpPr>
          <p:cNvPr id="168983" name="AutoShape 23"/>
          <p:cNvSpPr>
            <a:spLocks noChangeArrowheads="1"/>
          </p:cNvSpPr>
          <p:nvPr/>
        </p:nvSpPr>
        <p:spPr bwMode="auto">
          <a:xfrm>
            <a:off x="5410200" y="3962400"/>
            <a:ext cx="3124200" cy="1295400"/>
          </a:xfrm>
          <a:prstGeom prst="cloudCallout">
            <a:avLst>
              <a:gd name="adj1" fmla="val -64125"/>
              <a:gd name="adj2" fmla="val 15440"/>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2800" baseline="0" dirty="0">
                <a:solidFill>
                  <a:srgbClr val="0D17D7"/>
                </a:solidFill>
              </a:rPr>
              <a:t>以矩形面积逼近</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1E2A7E57-24E8-4CF4-BFB2-16820FE8E56E}" type="slidenum">
              <a:rPr lang="en-US" altLang="zh-CN" sz="1400" b="0" baseline="0">
                <a:solidFill>
                  <a:schemeClr val="tx1"/>
                </a:solidFill>
                <a:ea typeface="宋体" panose="02010600030101010101" pitchFamily="2" charset="-122"/>
              </a:rPr>
              <a:pPr eaLnBrk="1" hangingPunct="1"/>
              <a:t>57</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22989662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8983"/>
                                        </p:tgtEl>
                                        <p:attrNameLst>
                                          <p:attrName>style.visibility</p:attrName>
                                        </p:attrNameLst>
                                      </p:cBhvr>
                                      <p:to>
                                        <p:strVal val="visible"/>
                                      </p:to>
                                    </p:set>
                                    <p:anim calcmode="lin" valueType="num">
                                      <p:cBhvr additive="base">
                                        <p:cTn id="7" dur="500" fill="hold"/>
                                        <p:tgtEl>
                                          <p:spTgt spid="168983"/>
                                        </p:tgtEl>
                                        <p:attrNameLst>
                                          <p:attrName>ppt_x</p:attrName>
                                        </p:attrNameLst>
                                      </p:cBhvr>
                                      <p:tavLst>
                                        <p:tav tm="0">
                                          <p:val>
                                            <p:strVal val="1+#ppt_w/2"/>
                                          </p:val>
                                        </p:tav>
                                        <p:tav tm="100000">
                                          <p:val>
                                            <p:strVal val="#ppt_x"/>
                                          </p:val>
                                        </p:tav>
                                      </p:tavLst>
                                    </p:anim>
                                    <p:anim calcmode="lin" valueType="num">
                                      <p:cBhvr additive="base">
                                        <p:cTn id="8" dur="500" fill="hold"/>
                                        <p:tgtEl>
                                          <p:spTgt spid="16898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68974"/>
                                        </p:tgtEl>
                                        <p:attrNameLst>
                                          <p:attrName>style.visibility</p:attrName>
                                        </p:attrNameLst>
                                      </p:cBhvr>
                                      <p:to>
                                        <p:strVal val="visible"/>
                                      </p:to>
                                    </p:set>
                                    <p:anim calcmode="lin" valueType="num">
                                      <p:cBhvr additive="base">
                                        <p:cTn id="12" dur="500" fill="hold"/>
                                        <p:tgtEl>
                                          <p:spTgt spid="168974"/>
                                        </p:tgtEl>
                                        <p:attrNameLst>
                                          <p:attrName>ppt_x</p:attrName>
                                        </p:attrNameLst>
                                      </p:cBhvr>
                                      <p:tavLst>
                                        <p:tav tm="0">
                                          <p:val>
                                            <p:strVal val="1+#ppt_w/2"/>
                                          </p:val>
                                        </p:tav>
                                        <p:tav tm="100000">
                                          <p:val>
                                            <p:strVal val="#ppt_x"/>
                                          </p:val>
                                        </p:tav>
                                      </p:tavLst>
                                    </p:anim>
                                    <p:anim calcmode="lin" valueType="num">
                                      <p:cBhvr additive="base">
                                        <p:cTn id="13" dur="500" fill="hold"/>
                                        <p:tgtEl>
                                          <p:spTgt spid="1689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74" grpId="0" autoUpdateAnimBg="0"/>
      <p:bldP spid="168983"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403648" y="914400"/>
            <a:ext cx="1828800" cy="685800"/>
          </a:xfr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p:spPr>
        <p:txBody>
          <a:bodyPr>
            <a:flatTx/>
          </a:bodyPr>
          <a:lstStyle/>
          <a:p>
            <a:pPr algn="l" eaLnBrk="1" hangingPunct="1"/>
            <a:r>
              <a:rPr lang="zh-CN" altLang="en-US" sz="3200" b="1">
                <a:solidFill>
                  <a:srgbClr val="FF0066"/>
                </a:solidFill>
                <a:ea typeface="楷体_GB2312" pitchFamily="49" charset="-122"/>
              </a:rPr>
              <a:t>公式</a:t>
            </a:r>
          </a:p>
        </p:txBody>
      </p:sp>
      <p:sp>
        <p:nvSpPr>
          <p:cNvPr id="19459" name="Rectangle 3"/>
          <p:cNvSpPr>
            <a:spLocks noGrp="1" noChangeArrowheads="1"/>
          </p:cNvSpPr>
          <p:nvPr>
            <p:ph type="body" idx="1"/>
          </p:nvPr>
        </p:nvSpPr>
        <p:spPr>
          <a:xfrm>
            <a:off x="304800" y="1977008"/>
            <a:ext cx="8534400" cy="1524000"/>
          </a:xfrm>
        </p:spPr>
        <p:txBody>
          <a:bodyPr/>
          <a:lstStyle/>
          <a:p>
            <a:pPr marL="0" indent="0" algn="just" eaLnBrk="1" hangingPunct="1">
              <a:buFontTx/>
              <a:buNone/>
            </a:pPr>
            <a:r>
              <a:rPr lang="en-US" altLang="zh-CN" b="1" dirty="0">
                <a:latin typeface="Courier New" panose="02070309020205020404" pitchFamily="49" charset="0"/>
              </a:rPr>
              <a:t>y(t</a:t>
            </a:r>
            <a:r>
              <a:rPr lang="en-US" altLang="zh-CN" b="1" baseline="-25000" dirty="0">
                <a:latin typeface="Courier New" panose="02070309020205020404" pitchFamily="49" charset="0"/>
              </a:rPr>
              <a:t>1</a:t>
            </a:r>
            <a:r>
              <a:rPr lang="en-US" altLang="zh-CN" b="1" dirty="0">
                <a:latin typeface="Courier New" panose="02070309020205020404" pitchFamily="49" charset="0"/>
              </a:rPr>
              <a:t>)</a:t>
            </a:r>
            <a:r>
              <a:rPr lang="en-US" altLang="zh-CN" sz="3600" b="1" dirty="0">
                <a:latin typeface="宋体" panose="02010600030101010101" pitchFamily="2" charset="-122"/>
              </a:rPr>
              <a:t>≈</a:t>
            </a:r>
            <a:r>
              <a:rPr lang="en-US" altLang="zh-CN" b="1" dirty="0">
                <a:latin typeface="Courier New" panose="02070309020205020404" pitchFamily="49" charset="0"/>
              </a:rPr>
              <a:t>y</a:t>
            </a:r>
            <a:r>
              <a:rPr lang="en-US" altLang="zh-CN" b="1" baseline="-25000" dirty="0">
                <a:latin typeface="Courier New" panose="02070309020205020404" pitchFamily="49" charset="0"/>
              </a:rPr>
              <a:t>1</a:t>
            </a:r>
            <a:r>
              <a:rPr lang="zh-CN" altLang="en-US" b="1" dirty="0">
                <a:latin typeface="Courier New" panose="02070309020205020404" pitchFamily="49" charset="0"/>
              </a:rPr>
              <a:t>＝</a:t>
            </a:r>
            <a:r>
              <a:rPr lang="en-US" altLang="zh-CN" b="1" dirty="0">
                <a:latin typeface="Courier New" panose="02070309020205020404" pitchFamily="49" charset="0"/>
              </a:rPr>
              <a:t>y</a:t>
            </a:r>
            <a:r>
              <a:rPr lang="en-US" altLang="zh-CN" b="1" baseline="-25000" dirty="0">
                <a:latin typeface="Courier New" panose="02070309020205020404" pitchFamily="49" charset="0"/>
              </a:rPr>
              <a:t>0</a:t>
            </a:r>
            <a:r>
              <a:rPr lang="en-US" altLang="zh-CN" b="1" dirty="0">
                <a:latin typeface="Courier New" panose="02070309020205020404" pitchFamily="49" charset="0"/>
              </a:rPr>
              <a:t>+f(t</a:t>
            </a:r>
            <a:r>
              <a:rPr lang="en-US" altLang="zh-CN" b="1" baseline="-25000" dirty="0">
                <a:latin typeface="Courier New" panose="02070309020205020404" pitchFamily="49" charset="0"/>
              </a:rPr>
              <a:t>0</a:t>
            </a:r>
            <a:r>
              <a:rPr lang="en-US" altLang="zh-CN" b="1" dirty="0">
                <a:latin typeface="Courier New" panose="02070309020205020404" pitchFamily="49" charset="0"/>
              </a:rPr>
              <a:t>,y</a:t>
            </a:r>
            <a:r>
              <a:rPr lang="en-US" altLang="zh-CN" b="1" baseline="-25000" dirty="0">
                <a:latin typeface="Courier New" panose="02070309020205020404" pitchFamily="49" charset="0"/>
              </a:rPr>
              <a:t>0</a:t>
            </a:r>
            <a:r>
              <a:rPr lang="en-US" altLang="zh-CN" b="1" dirty="0">
                <a:latin typeface="Courier New" panose="02070309020205020404" pitchFamily="49" charset="0"/>
              </a:rPr>
              <a:t>)(t</a:t>
            </a:r>
            <a:r>
              <a:rPr lang="en-US" altLang="zh-CN" b="1" baseline="-25000" dirty="0">
                <a:latin typeface="Courier New" panose="02070309020205020404" pitchFamily="49" charset="0"/>
              </a:rPr>
              <a:t>1</a:t>
            </a:r>
            <a:r>
              <a:rPr lang="en-US" altLang="zh-CN" b="1" dirty="0">
                <a:latin typeface="Courier New" panose="02070309020205020404" pitchFamily="49" charset="0"/>
              </a:rPr>
              <a:t>-t</a:t>
            </a:r>
            <a:r>
              <a:rPr lang="en-US" altLang="zh-CN" b="1" baseline="-25000" dirty="0">
                <a:latin typeface="Courier New" panose="02070309020205020404" pitchFamily="49" charset="0"/>
              </a:rPr>
              <a:t>0</a:t>
            </a:r>
            <a:r>
              <a:rPr lang="en-US" altLang="zh-CN" b="1" dirty="0">
                <a:latin typeface="Courier New" panose="02070309020205020404" pitchFamily="49" charset="0"/>
              </a:rPr>
              <a:t>)</a:t>
            </a:r>
          </a:p>
          <a:p>
            <a:pPr marL="0" indent="0" algn="just" eaLnBrk="1" hangingPunct="1">
              <a:buFontTx/>
              <a:buNone/>
            </a:pPr>
            <a:r>
              <a:rPr lang="en-US" altLang="zh-CN" b="1" dirty="0">
                <a:latin typeface="Courier New" panose="02070309020205020404" pitchFamily="49" charset="0"/>
              </a:rPr>
              <a:t>y(t</a:t>
            </a:r>
            <a:r>
              <a:rPr lang="en-US" altLang="zh-CN" b="1" baseline="-25000" dirty="0">
                <a:latin typeface="Courier New" panose="02070309020205020404" pitchFamily="49" charset="0"/>
              </a:rPr>
              <a:t>k+1</a:t>
            </a:r>
            <a:r>
              <a:rPr lang="en-US" altLang="zh-CN" b="1" dirty="0">
                <a:latin typeface="Courier New" panose="02070309020205020404" pitchFamily="49" charset="0"/>
              </a:rPr>
              <a:t>)</a:t>
            </a:r>
            <a:r>
              <a:rPr lang="en-US" altLang="zh-CN" sz="3600" b="1" dirty="0">
                <a:latin typeface="宋体" panose="02010600030101010101" pitchFamily="2" charset="-122"/>
              </a:rPr>
              <a:t>≈</a:t>
            </a:r>
            <a:r>
              <a:rPr lang="en-US" altLang="zh-CN" b="1" dirty="0">
                <a:latin typeface="Courier New" panose="02070309020205020404" pitchFamily="49" charset="0"/>
              </a:rPr>
              <a:t>y</a:t>
            </a:r>
            <a:r>
              <a:rPr lang="en-US" altLang="zh-CN" b="1" baseline="-25000" dirty="0">
                <a:latin typeface="Courier New" panose="02070309020205020404" pitchFamily="49" charset="0"/>
              </a:rPr>
              <a:t>k+1</a:t>
            </a:r>
            <a:r>
              <a:rPr lang="zh-CN" altLang="en-US" b="1" dirty="0">
                <a:latin typeface="Courier New" panose="02070309020205020404" pitchFamily="49" charset="0"/>
              </a:rPr>
              <a:t>＝</a:t>
            </a:r>
            <a:r>
              <a:rPr lang="en-US" altLang="zh-CN" b="1" dirty="0" err="1">
                <a:latin typeface="Courier New" panose="02070309020205020404" pitchFamily="49" charset="0"/>
              </a:rPr>
              <a:t>y</a:t>
            </a:r>
            <a:r>
              <a:rPr lang="en-US" altLang="zh-CN" b="1" baseline="-25000" dirty="0" err="1">
                <a:latin typeface="Courier New" panose="02070309020205020404" pitchFamily="49" charset="0"/>
              </a:rPr>
              <a:t>k</a:t>
            </a:r>
            <a:r>
              <a:rPr lang="zh-CN" altLang="en-US" b="1" dirty="0">
                <a:latin typeface="Courier New" panose="02070309020205020404" pitchFamily="49" charset="0"/>
              </a:rPr>
              <a:t>＋</a:t>
            </a:r>
            <a:r>
              <a:rPr lang="en-US" altLang="zh-CN" b="1" dirty="0">
                <a:latin typeface="Courier New" panose="02070309020205020404" pitchFamily="49" charset="0"/>
              </a:rPr>
              <a:t>f(</a:t>
            </a:r>
            <a:r>
              <a:rPr lang="en-US" altLang="zh-CN" b="1" dirty="0" err="1">
                <a:latin typeface="Courier New" panose="02070309020205020404" pitchFamily="49" charset="0"/>
              </a:rPr>
              <a:t>t</a:t>
            </a:r>
            <a:r>
              <a:rPr lang="en-US" altLang="zh-CN" b="1" baseline="-25000" dirty="0" err="1">
                <a:latin typeface="Courier New" panose="02070309020205020404" pitchFamily="49" charset="0"/>
              </a:rPr>
              <a:t>k</a:t>
            </a:r>
            <a:r>
              <a:rPr lang="en-US" altLang="zh-CN" b="1" dirty="0" err="1">
                <a:latin typeface="Courier New" panose="02070309020205020404" pitchFamily="49" charset="0"/>
              </a:rPr>
              <a:t>,y</a:t>
            </a:r>
            <a:r>
              <a:rPr lang="en-US" altLang="zh-CN" b="1" baseline="-25000" dirty="0" err="1">
                <a:latin typeface="Courier New" panose="02070309020205020404" pitchFamily="49" charset="0"/>
              </a:rPr>
              <a:t>k</a:t>
            </a:r>
            <a:r>
              <a:rPr lang="en-US" altLang="zh-CN" b="1" dirty="0">
                <a:latin typeface="Courier New" panose="02070309020205020404" pitchFamily="49" charset="0"/>
              </a:rPr>
              <a:t>)(t</a:t>
            </a:r>
            <a:r>
              <a:rPr lang="en-US" altLang="zh-CN" b="1" baseline="-25000" dirty="0">
                <a:latin typeface="Courier New" panose="02070309020205020404" pitchFamily="49" charset="0"/>
              </a:rPr>
              <a:t>k+1</a:t>
            </a:r>
            <a:r>
              <a:rPr lang="en-US" altLang="zh-CN" b="1" dirty="0">
                <a:latin typeface="Courier New" panose="02070309020205020404" pitchFamily="49" charset="0"/>
              </a:rPr>
              <a:t>-t</a:t>
            </a:r>
            <a:r>
              <a:rPr lang="en-US" altLang="zh-CN" b="1" baseline="-25000" dirty="0">
                <a:latin typeface="Courier New" panose="02070309020205020404" pitchFamily="49" charset="0"/>
              </a:rPr>
              <a:t>k</a:t>
            </a:r>
            <a:r>
              <a:rPr lang="en-US" altLang="zh-CN" b="1" dirty="0">
                <a:latin typeface="Courier New" panose="02070309020205020404" pitchFamily="49" charset="0"/>
              </a:rPr>
              <a:t>) </a:t>
            </a:r>
            <a:endParaRPr lang="en-US" altLang="zh-CN" sz="3600" dirty="0"/>
          </a:p>
        </p:txBody>
      </p:sp>
      <p:sp>
        <p:nvSpPr>
          <p:cNvPr id="38916" name="Text Box 4"/>
          <p:cNvSpPr txBox="1">
            <a:spLocks noChangeArrowheads="1"/>
          </p:cNvSpPr>
          <p:nvPr/>
        </p:nvSpPr>
        <p:spPr bwMode="auto">
          <a:xfrm>
            <a:off x="381000" y="3473152"/>
            <a:ext cx="7543800" cy="1902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just" eaLnBrk="1" hangingPunct="1">
              <a:spcBef>
                <a:spcPct val="20000"/>
              </a:spcBef>
            </a:pPr>
            <a:r>
              <a:rPr lang="zh-CN" altLang="en-US" sz="2800" baseline="0" dirty="0">
                <a:solidFill>
                  <a:srgbClr val="0D17D7"/>
                </a:solidFill>
                <a:latin typeface="楷体_GB2312" pitchFamily="49" charset="-122"/>
              </a:rPr>
              <a:t>令</a:t>
            </a:r>
            <a:r>
              <a:rPr lang="en-US" altLang="zh-CN" sz="2800" baseline="0" dirty="0" err="1">
                <a:solidFill>
                  <a:srgbClr val="C81C7E"/>
                </a:solidFill>
                <a:latin typeface="楷体_GB2312" pitchFamily="49" charset="-122"/>
              </a:rPr>
              <a:t>h</a:t>
            </a:r>
            <a:r>
              <a:rPr lang="en-US" altLang="zh-CN" sz="2800" baseline="-25000" dirty="0" err="1">
                <a:solidFill>
                  <a:srgbClr val="C81C7E"/>
                </a:solidFill>
                <a:latin typeface="楷体_GB2312" pitchFamily="49" charset="-122"/>
              </a:rPr>
              <a:t>k</a:t>
            </a:r>
            <a:r>
              <a:rPr lang="zh-CN" altLang="en-US" sz="2800" baseline="0" dirty="0">
                <a:solidFill>
                  <a:srgbClr val="C81C7E"/>
                </a:solidFill>
                <a:latin typeface="楷体_GB2312" pitchFamily="49" charset="-122"/>
              </a:rPr>
              <a:t>＝</a:t>
            </a:r>
            <a:r>
              <a:rPr lang="en-US" altLang="zh-CN" sz="2800" baseline="0" dirty="0">
                <a:solidFill>
                  <a:srgbClr val="C81C7E"/>
                </a:solidFill>
                <a:latin typeface="楷体_GB2312" pitchFamily="49" charset="-122"/>
              </a:rPr>
              <a:t>t</a:t>
            </a:r>
            <a:r>
              <a:rPr lang="en-US" altLang="zh-CN" sz="2800" baseline="-25000" dirty="0">
                <a:solidFill>
                  <a:srgbClr val="C81C7E"/>
                </a:solidFill>
                <a:latin typeface="楷体_GB2312" pitchFamily="49" charset="-122"/>
              </a:rPr>
              <a:t>k+1</a:t>
            </a:r>
            <a:r>
              <a:rPr lang="zh-CN" altLang="en-US" sz="2800" baseline="0" dirty="0">
                <a:solidFill>
                  <a:srgbClr val="C81C7E"/>
                </a:solidFill>
                <a:latin typeface="楷体_GB2312" pitchFamily="49" charset="-122"/>
              </a:rPr>
              <a:t>－</a:t>
            </a:r>
            <a:r>
              <a:rPr lang="en-US" altLang="zh-CN" sz="2800" baseline="0" dirty="0" err="1">
                <a:solidFill>
                  <a:srgbClr val="C81C7E"/>
                </a:solidFill>
                <a:latin typeface="楷体_GB2312" pitchFamily="49" charset="-122"/>
              </a:rPr>
              <a:t>t</a:t>
            </a:r>
            <a:r>
              <a:rPr lang="en-US" altLang="zh-CN" sz="2800" baseline="-25000" dirty="0" err="1">
                <a:solidFill>
                  <a:srgbClr val="C81C7E"/>
                </a:solidFill>
                <a:latin typeface="楷体_GB2312" pitchFamily="49" charset="-122"/>
              </a:rPr>
              <a:t>k</a:t>
            </a:r>
            <a:r>
              <a:rPr lang="zh-CN" altLang="en-US" sz="2800" baseline="0" dirty="0">
                <a:solidFill>
                  <a:srgbClr val="0D17D7"/>
                </a:solidFill>
                <a:latin typeface="楷体_GB2312" pitchFamily="49" charset="-122"/>
              </a:rPr>
              <a:t>为第</a:t>
            </a:r>
            <a:r>
              <a:rPr lang="en-US" altLang="zh-CN" sz="2800" baseline="0" dirty="0">
                <a:solidFill>
                  <a:srgbClr val="0D17D7"/>
                </a:solidFill>
                <a:latin typeface="楷体_GB2312" pitchFamily="49" charset="-122"/>
              </a:rPr>
              <a:t>k</a:t>
            </a:r>
            <a:r>
              <a:rPr lang="zh-CN" altLang="en-US" sz="2800" baseline="0" dirty="0">
                <a:solidFill>
                  <a:srgbClr val="0D17D7"/>
                </a:solidFill>
                <a:latin typeface="楷体_GB2312" pitchFamily="49" charset="-122"/>
              </a:rPr>
              <a:t>步的计算步长（通常</a:t>
            </a:r>
            <a:r>
              <a:rPr lang="en-US" altLang="zh-CN" sz="2800" baseline="0" dirty="0" err="1">
                <a:solidFill>
                  <a:srgbClr val="C81C7E"/>
                </a:solidFill>
                <a:latin typeface="楷体_GB2312" pitchFamily="49" charset="-122"/>
              </a:rPr>
              <a:t>h</a:t>
            </a:r>
            <a:r>
              <a:rPr lang="en-US" altLang="zh-CN" sz="2800" baseline="-25000" dirty="0" err="1">
                <a:solidFill>
                  <a:srgbClr val="C81C7E"/>
                </a:solidFill>
                <a:latin typeface="楷体_GB2312" pitchFamily="49" charset="-122"/>
              </a:rPr>
              <a:t>k</a:t>
            </a:r>
            <a:r>
              <a:rPr lang="zh-CN" altLang="en-US" sz="2800" baseline="0" dirty="0">
                <a:solidFill>
                  <a:srgbClr val="0D17D7"/>
                </a:solidFill>
                <a:latin typeface="楷体_GB2312" pitchFamily="49" charset="-122"/>
              </a:rPr>
              <a:t>取为固定步长</a:t>
            </a:r>
            <a:r>
              <a:rPr lang="en-US" altLang="zh-CN" sz="2800" baseline="0" dirty="0">
                <a:solidFill>
                  <a:srgbClr val="0D17D7"/>
                </a:solidFill>
                <a:latin typeface="楷体_GB2312" pitchFamily="49" charset="-122"/>
              </a:rPr>
              <a:t>h</a:t>
            </a:r>
            <a:r>
              <a:rPr lang="zh-CN" altLang="en-US" sz="2800" baseline="0" dirty="0">
                <a:solidFill>
                  <a:srgbClr val="0D17D7"/>
                </a:solidFill>
                <a:latin typeface="楷体_GB2312" pitchFamily="49" charset="-122"/>
              </a:rPr>
              <a:t>），则上式可写成以下差分方程形式：</a:t>
            </a:r>
            <a:r>
              <a:rPr lang="zh-CN" altLang="en-US" sz="3200" b="0" baseline="0" dirty="0">
                <a:solidFill>
                  <a:srgbClr val="0D17D7"/>
                </a:solidFill>
                <a:latin typeface="Courier New" panose="02070309020205020404" pitchFamily="49" charset="0"/>
                <a:ea typeface="宋体" panose="02010600030101010101" pitchFamily="2" charset="-122"/>
              </a:rPr>
              <a:t> </a:t>
            </a:r>
          </a:p>
          <a:p>
            <a:pPr algn="l" eaLnBrk="1" hangingPunct="1">
              <a:spcBef>
                <a:spcPct val="20000"/>
              </a:spcBef>
            </a:pPr>
            <a:r>
              <a:rPr lang="en-US" altLang="zh-CN" sz="2800" baseline="0" dirty="0">
                <a:solidFill>
                  <a:srgbClr val="FF0066"/>
                </a:solidFill>
                <a:latin typeface="Courier New" panose="02070309020205020404" pitchFamily="49" charset="0"/>
                <a:ea typeface="宋体" panose="02010600030101010101" pitchFamily="2" charset="-122"/>
              </a:rPr>
              <a:t>y</a:t>
            </a:r>
            <a:r>
              <a:rPr lang="en-US" altLang="zh-CN" sz="2800" baseline="-25000" dirty="0">
                <a:solidFill>
                  <a:srgbClr val="FF0066"/>
                </a:solidFill>
                <a:latin typeface="Courier New" panose="02070309020205020404" pitchFamily="49" charset="0"/>
                <a:ea typeface="宋体" panose="02010600030101010101" pitchFamily="2" charset="-122"/>
              </a:rPr>
              <a:t>k+1</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err="1">
                <a:solidFill>
                  <a:srgbClr val="FF0066"/>
                </a:solidFill>
                <a:latin typeface="Courier New" panose="02070309020205020404" pitchFamily="49" charset="0"/>
                <a:ea typeface="宋体" panose="02010600030101010101" pitchFamily="2" charset="-122"/>
              </a:rPr>
              <a:t>y</a:t>
            </a:r>
            <a:r>
              <a:rPr lang="en-US" altLang="zh-CN" sz="2800" baseline="-25000" dirty="0" err="1">
                <a:solidFill>
                  <a:srgbClr val="FF0066"/>
                </a:solidFill>
                <a:latin typeface="Courier New" panose="02070309020205020404" pitchFamily="49" charset="0"/>
                <a:ea typeface="宋体" panose="02010600030101010101" pitchFamily="2" charset="-122"/>
              </a:rPr>
              <a:t>k</a:t>
            </a:r>
            <a:r>
              <a:rPr lang="en-US" altLang="zh-CN" sz="2800" baseline="0" dirty="0" err="1">
                <a:solidFill>
                  <a:srgbClr val="FF0066"/>
                </a:solidFill>
                <a:latin typeface="Courier New" panose="02070309020205020404" pitchFamily="49" charset="0"/>
                <a:ea typeface="宋体" panose="02010600030101010101" pitchFamily="2" charset="-122"/>
              </a:rPr>
              <a:t>+h·f</a:t>
            </a:r>
            <a:r>
              <a:rPr lang="en-US" altLang="zh-CN" sz="2800" baseline="-25000" dirty="0" err="1">
                <a:solidFill>
                  <a:srgbClr val="FF0066"/>
                </a:solidFill>
                <a:latin typeface="Courier New" panose="02070309020205020404" pitchFamily="49" charset="0"/>
                <a:ea typeface="宋体" panose="02010600030101010101" pitchFamily="2" charset="-122"/>
              </a:rPr>
              <a:t>k</a:t>
            </a:r>
            <a:r>
              <a:rPr lang="en-US" altLang="zh-CN" sz="2800" baseline="0" dirty="0">
                <a:solidFill>
                  <a:srgbClr val="FF0066"/>
                </a:solidFill>
                <a:latin typeface="Courier New" panose="02070309020205020404" pitchFamily="49" charset="0"/>
                <a:ea typeface="宋体" panose="02010600030101010101" pitchFamily="2" charset="-122"/>
              </a:rPr>
              <a:t>         k</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0</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1</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2</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a:t>
            </a:r>
            <a:endParaRPr lang="en-US" altLang="zh-CN" sz="2800" b="0" baseline="0" dirty="0">
              <a:solidFill>
                <a:srgbClr val="FF0066"/>
              </a:solidFill>
              <a:latin typeface="Courier New" panose="02070309020205020404" pitchFamily="49" charset="0"/>
              <a:ea typeface="宋体" panose="02010600030101010101" pitchFamily="2" charset="-122"/>
            </a:endParaRPr>
          </a:p>
          <a:p>
            <a:pPr algn="l" eaLnBrk="1" hangingPunct="1"/>
            <a:endParaRPr lang="en-US" altLang="zh-CN" baseline="0" dirty="0"/>
          </a:p>
        </p:txBody>
      </p:sp>
      <p:sp>
        <p:nvSpPr>
          <p:cNvPr id="38917" name="AutoShape 5"/>
          <p:cNvSpPr>
            <a:spLocks noChangeArrowheads="1"/>
          </p:cNvSpPr>
          <p:nvPr/>
        </p:nvSpPr>
        <p:spPr bwMode="auto">
          <a:xfrm>
            <a:off x="2051720" y="5445223"/>
            <a:ext cx="3124200" cy="762000"/>
          </a:xfrm>
          <a:prstGeom prst="cloudCallout">
            <a:avLst>
              <a:gd name="adj1" fmla="val -46648"/>
              <a:gd name="adj2" fmla="val -107292"/>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2800" baseline="0" dirty="0">
                <a:solidFill>
                  <a:schemeClr val="tx1"/>
                </a:solidFill>
              </a:rPr>
              <a:t>欧拉公式</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57520B11-1C54-4C95-95A0-B3EFADD58BCD}" type="slidenum">
              <a:rPr lang="en-US" altLang="zh-CN" sz="1400" b="0" baseline="0">
                <a:solidFill>
                  <a:schemeClr val="tx1"/>
                </a:solidFill>
                <a:ea typeface="宋体" panose="02010600030101010101" pitchFamily="2" charset="-122"/>
              </a:rPr>
              <a:pPr eaLnBrk="1" hangingPunct="1"/>
              <a:t>58</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28104384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box(in)">
                                      <p:cBhvr>
                                        <p:cTn id="7" dur="500"/>
                                        <p:tgtEl>
                                          <p:spTgt spid="389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8917"/>
                                        </p:tgtEl>
                                        <p:attrNameLst>
                                          <p:attrName>style.visibility</p:attrName>
                                        </p:attrNameLst>
                                      </p:cBhvr>
                                      <p:to>
                                        <p:strVal val="visible"/>
                                      </p:to>
                                    </p:set>
                                    <p:anim calcmode="lin" valueType="num">
                                      <p:cBhvr additive="base">
                                        <p:cTn id="12" dur="500" fill="hold"/>
                                        <p:tgtEl>
                                          <p:spTgt spid="38917"/>
                                        </p:tgtEl>
                                        <p:attrNameLst>
                                          <p:attrName>ppt_x</p:attrName>
                                        </p:attrNameLst>
                                      </p:cBhvr>
                                      <p:tavLst>
                                        <p:tav tm="0">
                                          <p:val>
                                            <p:strVal val="#ppt_x"/>
                                          </p:val>
                                        </p:tav>
                                        <p:tav tm="100000">
                                          <p:val>
                                            <p:strVal val="#ppt_x"/>
                                          </p:val>
                                        </p:tav>
                                      </p:tavLst>
                                    </p:anim>
                                    <p:anim calcmode="lin" valueType="num">
                                      <p:cBhvr additive="base">
                                        <p:cTn id="13"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autoUpdateAnimBg="0"/>
      <p:bldP spid="38917"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226" name="Group 2"/>
          <p:cNvGrpSpPr>
            <a:grpSpLocks/>
          </p:cNvGrpSpPr>
          <p:nvPr/>
        </p:nvGrpSpPr>
        <p:grpSpPr bwMode="auto">
          <a:xfrm>
            <a:off x="1600200" y="2819400"/>
            <a:ext cx="5486400" cy="2009775"/>
            <a:chOff x="1008" y="1776"/>
            <a:chExt cx="3456" cy="1266"/>
          </a:xfrm>
        </p:grpSpPr>
        <p:sp>
          <p:nvSpPr>
            <p:cNvPr id="20494" name="AutoShape 3"/>
            <p:cNvSpPr>
              <a:spLocks noChangeArrowheads="1"/>
            </p:cNvSpPr>
            <p:nvPr/>
          </p:nvSpPr>
          <p:spPr bwMode="auto">
            <a:xfrm>
              <a:off x="2362" y="1776"/>
              <a:ext cx="278" cy="288"/>
            </a:xfrm>
            <a:prstGeom prst="downArrow">
              <a:avLst>
                <a:gd name="adj1" fmla="val 50000"/>
                <a:gd name="adj2" fmla="val 25899"/>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20495" name="Text Box 4"/>
            <p:cNvSpPr txBox="1">
              <a:spLocks noChangeArrowheads="1"/>
            </p:cNvSpPr>
            <p:nvPr/>
          </p:nvSpPr>
          <p:spPr bwMode="auto">
            <a:xfrm>
              <a:off x="1008" y="2064"/>
              <a:ext cx="3456" cy="97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en-US" altLang="zh-CN" baseline="0">
                  <a:solidFill>
                    <a:srgbClr val="800080"/>
                  </a:solidFill>
                  <a:latin typeface="Courier New" panose="02070309020205020404" pitchFamily="49" charset="0"/>
                  <a:ea typeface="宋体" panose="02010600030101010101" pitchFamily="2" charset="-122"/>
                </a:rPr>
                <a:t>y(t</a:t>
              </a:r>
              <a:r>
                <a:rPr lang="en-US" altLang="zh-CN" baseline="-25000">
                  <a:solidFill>
                    <a:srgbClr val="800080"/>
                  </a:solidFill>
                  <a:latin typeface="Courier New" panose="02070309020205020404" pitchFamily="49" charset="0"/>
                  <a:ea typeface="宋体" panose="02010600030101010101" pitchFamily="2" charset="-122"/>
                </a:rPr>
                <a:t>1</a:t>
              </a:r>
              <a:r>
                <a:rPr lang="en-US" altLang="zh-CN" baseline="0">
                  <a:solidFill>
                    <a:srgbClr val="800080"/>
                  </a:solidFill>
                  <a:latin typeface="Courier New" panose="02070309020205020404" pitchFamily="49" charset="0"/>
                  <a:ea typeface="宋体" panose="02010600030101010101" pitchFamily="2" charset="-122"/>
                </a:rPr>
                <a:t>)</a:t>
              </a:r>
              <a:r>
                <a:rPr lang="zh-CN" altLang="en-US" baseline="0">
                  <a:solidFill>
                    <a:srgbClr val="800080"/>
                  </a:solidFill>
                  <a:latin typeface="Courier New" panose="02070309020205020404" pitchFamily="49" charset="0"/>
                  <a:ea typeface="宋体" panose="02010600030101010101" pitchFamily="2" charset="-122"/>
                </a:rPr>
                <a:t>＝</a:t>
              </a:r>
              <a:r>
                <a:rPr lang="en-US" altLang="zh-CN" baseline="0">
                  <a:solidFill>
                    <a:srgbClr val="800080"/>
                  </a:solidFill>
                  <a:latin typeface="Courier New" panose="02070309020205020404" pitchFamily="49" charset="0"/>
                  <a:ea typeface="宋体" panose="02010600030101010101" pitchFamily="2" charset="-122"/>
                </a:rPr>
                <a:t>y</a:t>
              </a:r>
              <a:r>
                <a:rPr lang="en-US" altLang="zh-CN" baseline="-25000">
                  <a:solidFill>
                    <a:srgbClr val="800080"/>
                  </a:solidFill>
                  <a:latin typeface="Courier New" panose="02070309020205020404" pitchFamily="49" charset="0"/>
                  <a:ea typeface="宋体" panose="02010600030101010101" pitchFamily="2" charset="-122"/>
                </a:rPr>
                <a:t>0</a:t>
              </a:r>
              <a:r>
                <a:rPr lang="en-US" altLang="zh-CN" baseline="0">
                  <a:solidFill>
                    <a:srgbClr val="800080"/>
                  </a:solidFill>
                  <a:latin typeface="Courier New" panose="02070309020205020404" pitchFamily="49" charset="0"/>
                  <a:ea typeface="宋体" panose="02010600030101010101" pitchFamily="2" charset="-122"/>
                </a:rPr>
                <a:t>+∫</a:t>
              </a:r>
              <a:r>
                <a:rPr lang="en-US" altLang="zh-CN">
                  <a:solidFill>
                    <a:srgbClr val="800080"/>
                  </a:solidFill>
                  <a:latin typeface="Courier New" panose="02070309020205020404" pitchFamily="49" charset="0"/>
                  <a:ea typeface="宋体" panose="02010600030101010101" pitchFamily="2" charset="-122"/>
                </a:rPr>
                <a:t>t1</a:t>
              </a:r>
              <a:r>
                <a:rPr lang="en-US" altLang="zh-CN" baseline="-25000">
                  <a:solidFill>
                    <a:srgbClr val="800080"/>
                  </a:solidFill>
                  <a:latin typeface="Courier New" panose="02070309020205020404" pitchFamily="49" charset="0"/>
                  <a:ea typeface="宋体" panose="02010600030101010101" pitchFamily="2" charset="-122"/>
                </a:rPr>
                <a:t>t0</a:t>
              </a:r>
              <a:r>
                <a:rPr lang="en-US" altLang="zh-CN" baseline="0">
                  <a:solidFill>
                    <a:srgbClr val="800080"/>
                  </a:solidFill>
                  <a:latin typeface="Courier New" panose="02070309020205020404" pitchFamily="49" charset="0"/>
                  <a:ea typeface="宋体" panose="02010600030101010101" pitchFamily="2" charset="-122"/>
                </a:rPr>
                <a:t>f</a:t>
              </a:r>
              <a:r>
                <a:rPr lang="zh-CN" altLang="en-US" baseline="0">
                  <a:solidFill>
                    <a:srgbClr val="800080"/>
                  </a:solidFill>
                  <a:latin typeface="Courier New" panose="02070309020205020404" pitchFamily="49" charset="0"/>
                  <a:ea typeface="宋体" panose="02010600030101010101" pitchFamily="2" charset="-122"/>
                </a:rPr>
                <a:t>［</a:t>
              </a:r>
              <a:r>
                <a:rPr lang="en-US" altLang="zh-CN" baseline="0">
                  <a:solidFill>
                    <a:srgbClr val="800080"/>
                  </a:solidFill>
                  <a:latin typeface="Courier New" panose="02070309020205020404" pitchFamily="49" charset="0"/>
                  <a:ea typeface="宋体" panose="02010600030101010101" pitchFamily="2" charset="-122"/>
                </a:rPr>
                <a:t>t,y(t)</a:t>
              </a:r>
              <a:r>
                <a:rPr lang="zh-CN" altLang="en-US" baseline="0">
                  <a:solidFill>
                    <a:srgbClr val="800080"/>
                  </a:solidFill>
                  <a:latin typeface="Courier New" panose="02070309020205020404" pitchFamily="49" charset="0"/>
                  <a:ea typeface="宋体" panose="02010600030101010101" pitchFamily="2" charset="-122"/>
                </a:rPr>
                <a:t>］</a:t>
              </a:r>
              <a:r>
                <a:rPr lang="en-US" altLang="zh-CN" baseline="0">
                  <a:solidFill>
                    <a:srgbClr val="800080"/>
                  </a:solidFill>
                  <a:latin typeface="Courier New" panose="02070309020205020404" pitchFamily="49" charset="0"/>
                  <a:ea typeface="宋体" panose="02010600030101010101" pitchFamily="2" charset="-122"/>
                </a:rPr>
                <a:t>dt</a:t>
              </a:r>
            </a:p>
            <a:p>
              <a:pPr algn="l" eaLnBrk="1" hangingPunct="1"/>
              <a:r>
                <a:rPr lang="en-US" altLang="zh-CN" baseline="0">
                  <a:solidFill>
                    <a:srgbClr val="800080"/>
                  </a:solidFill>
                  <a:latin typeface="Courier New" panose="02070309020205020404" pitchFamily="49" charset="0"/>
                  <a:ea typeface="宋体" panose="02010600030101010101" pitchFamily="2" charset="-122"/>
                </a:rPr>
                <a:t>     </a:t>
              </a:r>
              <a:r>
                <a:rPr lang="en-US" altLang="zh-CN" baseline="0">
                  <a:solidFill>
                    <a:srgbClr val="800080"/>
                  </a:solidFill>
                  <a:latin typeface="Courier New" panose="02070309020205020404" pitchFamily="49" charset="0"/>
                  <a:ea typeface="宋体" panose="02010600030101010101" pitchFamily="2" charset="-122"/>
                  <a:sym typeface="Symbol" panose="05050102010706020507" pitchFamily="18" charset="2"/>
                </a:rPr>
                <a:t> </a:t>
              </a:r>
              <a:r>
                <a:rPr lang="en-US" altLang="zh-CN" baseline="0">
                  <a:solidFill>
                    <a:srgbClr val="800080"/>
                  </a:solidFill>
                  <a:latin typeface="Courier New" panose="02070309020205020404" pitchFamily="49" charset="0"/>
                  <a:ea typeface="宋体" panose="02010600030101010101" pitchFamily="2" charset="-122"/>
                </a:rPr>
                <a:t>y</a:t>
              </a:r>
              <a:r>
                <a:rPr lang="en-US" altLang="zh-CN" baseline="-25000">
                  <a:solidFill>
                    <a:srgbClr val="800080"/>
                  </a:solidFill>
                  <a:latin typeface="Courier New" panose="02070309020205020404" pitchFamily="49" charset="0"/>
                  <a:ea typeface="宋体" panose="02010600030101010101" pitchFamily="2" charset="-122"/>
                </a:rPr>
                <a:t>0</a:t>
              </a:r>
              <a:r>
                <a:rPr lang="en-US" altLang="zh-CN" baseline="0">
                  <a:solidFill>
                    <a:srgbClr val="800080"/>
                  </a:solidFill>
                  <a:latin typeface="Courier New" panose="02070309020205020404" pitchFamily="49" charset="0"/>
                  <a:ea typeface="宋体" panose="02010600030101010101" pitchFamily="2" charset="-122"/>
                </a:rPr>
                <a:t>+ f</a:t>
              </a:r>
              <a:r>
                <a:rPr lang="zh-CN" altLang="en-US" baseline="0">
                  <a:solidFill>
                    <a:srgbClr val="800080"/>
                  </a:solidFill>
                  <a:latin typeface="Courier New" panose="02070309020205020404" pitchFamily="49" charset="0"/>
                  <a:ea typeface="宋体" panose="02010600030101010101" pitchFamily="2" charset="-122"/>
                </a:rPr>
                <a:t>［</a:t>
              </a:r>
              <a:r>
                <a:rPr lang="en-US" altLang="zh-CN" baseline="0">
                  <a:solidFill>
                    <a:srgbClr val="800080"/>
                  </a:solidFill>
                  <a:latin typeface="Courier New" panose="02070309020205020404" pitchFamily="49" charset="0"/>
                  <a:ea typeface="宋体" panose="02010600030101010101" pitchFamily="2" charset="-122"/>
                </a:rPr>
                <a:t>t</a:t>
              </a:r>
              <a:r>
                <a:rPr lang="en-US" altLang="zh-CN" baseline="-25000">
                  <a:solidFill>
                    <a:srgbClr val="800080"/>
                  </a:solidFill>
                  <a:latin typeface="Courier New" panose="02070309020205020404" pitchFamily="49" charset="0"/>
                  <a:ea typeface="宋体" panose="02010600030101010101" pitchFamily="2" charset="-122"/>
                </a:rPr>
                <a:t>0</a:t>
              </a:r>
              <a:r>
                <a:rPr lang="en-US" altLang="zh-CN" baseline="0">
                  <a:solidFill>
                    <a:srgbClr val="800080"/>
                  </a:solidFill>
                  <a:latin typeface="Courier New" panose="02070309020205020404" pitchFamily="49" charset="0"/>
                  <a:ea typeface="宋体" panose="02010600030101010101" pitchFamily="2" charset="-122"/>
                </a:rPr>
                <a:t>,y(t</a:t>
              </a:r>
              <a:r>
                <a:rPr lang="en-US" altLang="zh-CN" baseline="-25000">
                  <a:solidFill>
                    <a:srgbClr val="800080"/>
                  </a:solidFill>
                  <a:latin typeface="Courier New" panose="02070309020205020404" pitchFamily="49" charset="0"/>
                  <a:ea typeface="宋体" panose="02010600030101010101" pitchFamily="2" charset="-122"/>
                </a:rPr>
                <a:t>0</a:t>
              </a:r>
              <a:r>
                <a:rPr lang="en-US" altLang="zh-CN" baseline="0">
                  <a:solidFill>
                    <a:srgbClr val="800080"/>
                  </a:solidFill>
                  <a:latin typeface="Courier New" panose="02070309020205020404" pitchFamily="49" charset="0"/>
                  <a:ea typeface="宋体" panose="02010600030101010101" pitchFamily="2" charset="-122"/>
                </a:rPr>
                <a:t>)](t</a:t>
              </a:r>
              <a:r>
                <a:rPr lang="en-US" altLang="zh-CN" baseline="-25000">
                  <a:solidFill>
                    <a:srgbClr val="800080"/>
                  </a:solidFill>
                  <a:latin typeface="Courier New" panose="02070309020205020404" pitchFamily="49" charset="0"/>
                  <a:ea typeface="宋体" panose="02010600030101010101" pitchFamily="2" charset="-122"/>
                </a:rPr>
                <a:t>1</a:t>
              </a:r>
              <a:r>
                <a:rPr lang="en-US" altLang="zh-CN" baseline="0">
                  <a:solidFill>
                    <a:srgbClr val="800080"/>
                  </a:solidFill>
                  <a:latin typeface="Courier New" panose="02070309020205020404" pitchFamily="49" charset="0"/>
                  <a:ea typeface="宋体" panose="02010600030101010101" pitchFamily="2" charset="-122"/>
                </a:rPr>
                <a:t>-t</a:t>
              </a:r>
              <a:r>
                <a:rPr lang="en-US" altLang="zh-CN" baseline="-25000">
                  <a:solidFill>
                    <a:srgbClr val="800080"/>
                  </a:solidFill>
                  <a:latin typeface="Courier New" panose="02070309020205020404" pitchFamily="49" charset="0"/>
                  <a:ea typeface="宋体" panose="02010600030101010101" pitchFamily="2" charset="-122"/>
                </a:rPr>
                <a:t>0</a:t>
              </a:r>
              <a:r>
                <a:rPr lang="en-US" altLang="zh-CN" baseline="0">
                  <a:solidFill>
                    <a:srgbClr val="800080"/>
                  </a:solidFill>
                  <a:latin typeface="Courier New" panose="02070309020205020404" pitchFamily="49" charset="0"/>
                  <a:ea typeface="宋体" panose="02010600030101010101" pitchFamily="2" charset="-122"/>
                </a:rPr>
                <a:t>)</a:t>
              </a:r>
            </a:p>
            <a:p>
              <a:pPr algn="l" eaLnBrk="1" hangingPunct="1"/>
              <a:r>
                <a:rPr lang="en-US" altLang="zh-CN" baseline="0">
                  <a:solidFill>
                    <a:srgbClr val="800080"/>
                  </a:solidFill>
                  <a:latin typeface="Courier New" panose="02070309020205020404" pitchFamily="49" charset="0"/>
                  <a:ea typeface="宋体" panose="02010600030101010101" pitchFamily="2" charset="-122"/>
                </a:rPr>
                <a:t>     = y</a:t>
              </a:r>
              <a:r>
                <a:rPr lang="en-US" altLang="zh-CN" baseline="-25000">
                  <a:solidFill>
                    <a:srgbClr val="800080"/>
                  </a:solidFill>
                  <a:latin typeface="Courier New" panose="02070309020205020404" pitchFamily="49" charset="0"/>
                  <a:ea typeface="宋体" panose="02010600030101010101" pitchFamily="2" charset="-122"/>
                </a:rPr>
                <a:t>0</a:t>
              </a:r>
              <a:r>
                <a:rPr lang="en-US" altLang="zh-CN" baseline="0">
                  <a:solidFill>
                    <a:srgbClr val="800080"/>
                  </a:solidFill>
                  <a:latin typeface="Courier New" panose="02070309020205020404" pitchFamily="49" charset="0"/>
                  <a:ea typeface="宋体" panose="02010600030101010101" pitchFamily="2" charset="-122"/>
                </a:rPr>
                <a:t>+ h</a:t>
              </a:r>
              <a:r>
                <a:rPr lang="en-US" altLang="zh-CN" baseline="-25000">
                  <a:solidFill>
                    <a:srgbClr val="800080"/>
                  </a:solidFill>
                  <a:latin typeface="Courier New" panose="02070309020205020404" pitchFamily="49" charset="0"/>
                  <a:ea typeface="宋体" panose="02010600030101010101" pitchFamily="2" charset="-122"/>
                </a:rPr>
                <a:t>0</a:t>
              </a:r>
              <a:r>
                <a:rPr lang="en-US" altLang="zh-CN" baseline="0">
                  <a:solidFill>
                    <a:srgbClr val="800080"/>
                  </a:solidFill>
                  <a:latin typeface="Courier New" panose="02070309020205020404" pitchFamily="49" charset="0"/>
                  <a:ea typeface="宋体" panose="02010600030101010101" pitchFamily="2" charset="-122"/>
                </a:rPr>
                <a:t>f</a:t>
              </a:r>
              <a:r>
                <a:rPr lang="zh-CN" altLang="en-US" baseline="0">
                  <a:solidFill>
                    <a:srgbClr val="800080"/>
                  </a:solidFill>
                  <a:latin typeface="Courier New" panose="02070309020205020404" pitchFamily="49" charset="0"/>
                  <a:ea typeface="宋体" panose="02010600030101010101" pitchFamily="2" charset="-122"/>
                </a:rPr>
                <a:t>［</a:t>
              </a:r>
              <a:r>
                <a:rPr lang="en-US" altLang="zh-CN" baseline="0">
                  <a:solidFill>
                    <a:srgbClr val="800080"/>
                  </a:solidFill>
                  <a:latin typeface="Courier New" panose="02070309020205020404" pitchFamily="49" charset="0"/>
                  <a:ea typeface="宋体" panose="02010600030101010101" pitchFamily="2" charset="-122"/>
                </a:rPr>
                <a:t>t</a:t>
              </a:r>
              <a:r>
                <a:rPr lang="en-US" altLang="zh-CN" baseline="-25000">
                  <a:solidFill>
                    <a:srgbClr val="800080"/>
                  </a:solidFill>
                  <a:latin typeface="Courier New" panose="02070309020205020404" pitchFamily="49" charset="0"/>
                  <a:ea typeface="宋体" panose="02010600030101010101" pitchFamily="2" charset="-122"/>
                </a:rPr>
                <a:t>0</a:t>
              </a:r>
              <a:r>
                <a:rPr lang="en-US" altLang="zh-CN" baseline="0">
                  <a:solidFill>
                    <a:srgbClr val="800080"/>
                  </a:solidFill>
                  <a:latin typeface="Courier New" panose="02070309020205020404" pitchFamily="49" charset="0"/>
                  <a:ea typeface="宋体" panose="02010600030101010101" pitchFamily="2" charset="-122"/>
                </a:rPr>
                <a:t>,y(t</a:t>
              </a:r>
              <a:r>
                <a:rPr lang="en-US" altLang="zh-CN" baseline="-25000">
                  <a:solidFill>
                    <a:srgbClr val="800080"/>
                  </a:solidFill>
                  <a:latin typeface="Courier New" panose="02070309020205020404" pitchFamily="49" charset="0"/>
                  <a:ea typeface="宋体" panose="02010600030101010101" pitchFamily="2" charset="-122"/>
                </a:rPr>
                <a:t>0</a:t>
              </a:r>
              <a:r>
                <a:rPr lang="en-US" altLang="zh-CN" baseline="0">
                  <a:solidFill>
                    <a:srgbClr val="800080"/>
                  </a:solidFill>
                  <a:latin typeface="Courier New" panose="02070309020205020404" pitchFamily="49" charset="0"/>
                  <a:ea typeface="宋体" panose="02010600030101010101" pitchFamily="2" charset="-122"/>
                </a:rPr>
                <a:t>)]</a:t>
              </a:r>
            </a:p>
          </p:txBody>
        </p:sp>
      </p:grpSp>
      <p:sp>
        <p:nvSpPr>
          <p:cNvPr id="20483" name="Rectangle 5"/>
          <p:cNvSpPr>
            <a:spLocks noChangeArrowheads="1"/>
          </p:cNvSpPr>
          <p:nvPr/>
        </p:nvSpPr>
        <p:spPr bwMode="auto">
          <a:xfrm>
            <a:off x="381000" y="152400"/>
            <a:ext cx="4114800" cy="685800"/>
          </a:xfrm>
          <a:prstGeom prst="rect">
            <a:avLst/>
          </a:prstGeo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ln w="9525">
            <a:miter lim="800000"/>
            <a:headEnd/>
            <a:tailEnd/>
          </a:ln>
          <a:effectLst/>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flatTx/>
          </a:bodyPr>
          <a:lstStyle>
            <a:lvl1pPr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baseline="0">
                <a:solidFill>
                  <a:srgbClr val="FF0066"/>
                </a:solidFill>
                <a:ea typeface="楷体_GB2312" pitchFamily="49" charset="-122"/>
              </a:rPr>
              <a:t>欧拉法</a:t>
            </a:r>
          </a:p>
        </p:txBody>
      </p:sp>
      <p:sp>
        <p:nvSpPr>
          <p:cNvPr id="20484" name="Rectangle 6"/>
          <p:cNvSpPr>
            <a:spLocks noChangeArrowheads="1"/>
          </p:cNvSpPr>
          <p:nvPr/>
        </p:nvSpPr>
        <p:spPr bwMode="auto">
          <a:xfrm>
            <a:off x="2362200" y="990600"/>
            <a:ext cx="3200400" cy="9906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buFontTx/>
              <a:buNone/>
            </a:pPr>
            <a:r>
              <a:rPr lang="en-US" altLang="zh-CN" b="0" baseline="0" dirty="0">
                <a:latin typeface="Courier New" panose="02070309020205020404" pitchFamily="49" charset="0"/>
              </a:rPr>
              <a:t> </a:t>
            </a:r>
            <a:r>
              <a:rPr lang="en-US" altLang="zh-CN" sz="2800" baseline="0" dirty="0" err="1">
                <a:solidFill>
                  <a:srgbClr val="FF0066"/>
                </a:solidFill>
                <a:latin typeface="Courier New" panose="02070309020205020404" pitchFamily="49" charset="0"/>
              </a:rPr>
              <a:t>dy</a:t>
            </a:r>
            <a:r>
              <a:rPr lang="en-US" altLang="zh-CN" sz="2800" baseline="0" dirty="0">
                <a:solidFill>
                  <a:srgbClr val="FF0066"/>
                </a:solidFill>
                <a:latin typeface="Courier New" panose="02070309020205020404" pitchFamily="49" charset="0"/>
              </a:rPr>
              <a:t>/</a:t>
            </a:r>
            <a:r>
              <a:rPr lang="en-US" altLang="zh-CN" sz="2800" baseline="0" dirty="0" err="1">
                <a:solidFill>
                  <a:srgbClr val="FF0066"/>
                </a:solidFill>
                <a:latin typeface="Courier New" panose="02070309020205020404" pitchFamily="49" charset="0"/>
              </a:rPr>
              <a:t>dt</a:t>
            </a:r>
            <a:r>
              <a:rPr lang="zh-CN" altLang="en-US" sz="2800" baseline="0" dirty="0">
                <a:solidFill>
                  <a:srgbClr val="FF0066"/>
                </a:solidFill>
                <a:latin typeface="Courier New" panose="02070309020205020404" pitchFamily="49" charset="0"/>
              </a:rPr>
              <a:t>＝</a:t>
            </a:r>
            <a:r>
              <a:rPr lang="en-US" altLang="zh-CN" sz="2800" baseline="0" dirty="0">
                <a:solidFill>
                  <a:srgbClr val="FF0066"/>
                </a:solidFill>
                <a:latin typeface="Courier New" panose="02070309020205020404" pitchFamily="49" charset="0"/>
              </a:rPr>
              <a:t>f(</a:t>
            </a:r>
            <a:r>
              <a:rPr lang="en-US" altLang="zh-CN" sz="2800" baseline="0" dirty="0" err="1">
                <a:solidFill>
                  <a:srgbClr val="FF0066"/>
                </a:solidFill>
                <a:latin typeface="Courier New" panose="02070309020205020404" pitchFamily="49" charset="0"/>
              </a:rPr>
              <a:t>t,y</a:t>
            </a:r>
            <a:r>
              <a:rPr lang="en-US" altLang="zh-CN" sz="2800" baseline="0" dirty="0">
                <a:solidFill>
                  <a:srgbClr val="FF0066"/>
                </a:solidFill>
                <a:latin typeface="Courier New" panose="02070309020205020404" pitchFamily="49" charset="0"/>
              </a:rPr>
              <a:t>)</a:t>
            </a:r>
          </a:p>
          <a:p>
            <a:pPr eaLnBrk="1" hangingPunct="1">
              <a:lnSpc>
                <a:spcPct val="90000"/>
              </a:lnSpc>
              <a:buFontTx/>
              <a:buNone/>
            </a:pPr>
            <a:r>
              <a:rPr lang="en-US" altLang="zh-CN" sz="2800" baseline="0" dirty="0">
                <a:solidFill>
                  <a:srgbClr val="FF0066"/>
                </a:solidFill>
                <a:latin typeface="Courier New" panose="02070309020205020404" pitchFamily="49" charset="0"/>
              </a:rPr>
              <a:t>  y(t</a:t>
            </a:r>
            <a:r>
              <a:rPr lang="en-US" altLang="zh-CN" sz="2800" baseline="-25000" dirty="0">
                <a:solidFill>
                  <a:srgbClr val="FF0066"/>
                </a:solidFill>
                <a:latin typeface="Courier New" panose="02070309020205020404" pitchFamily="49" charset="0"/>
              </a:rPr>
              <a:t>0</a:t>
            </a:r>
            <a:r>
              <a:rPr lang="en-US" altLang="zh-CN" sz="2800" baseline="0" dirty="0">
                <a:solidFill>
                  <a:srgbClr val="FF0066"/>
                </a:solidFill>
                <a:latin typeface="Courier New" panose="02070309020205020404" pitchFamily="49" charset="0"/>
              </a:rPr>
              <a:t>)</a:t>
            </a:r>
            <a:r>
              <a:rPr lang="zh-CN" altLang="en-US" sz="2800" baseline="0" dirty="0">
                <a:solidFill>
                  <a:srgbClr val="FF0066"/>
                </a:solidFill>
                <a:latin typeface="Courier New" panose="02070309020205020404" pitchFamily="49" charset="0"/>
              </a:rPr>
              <a:t>＝</a:t>
            </a:r>
            <a:r>
              <a:rPr lang="en-US" altLang="zh-CN" sz="2800" baseline="0" dirty="0">
                <a:solidFill>
                  <a:srgbClr val="FF0066"/>
                </a:solidFill>
                <a:latin typeface="Courier New" panose="02070309020205020404" pitchFamily="49" charset="0"/>
              </a:rPr>
              <a:t>y</a:t>
            </a:r>
            <a:r>
              <a:rPr lang="en-US" altLang="zh-CN" sz="2800" baseline="-25000" dirty="0">
                <a:solidFill>
                  <a:srgbClr val="FF0066"/>
                </a:solidFill>
                <a:latin typeface="Courier New" panose="02070309020205020404" pitchFamily="49" charset="0"/>
              </a:rPr>
              <a:t>0</a:t>
            </a:r>
            <a:endParaRPr lang="en-US" altLang="zh-CN" b="0" baseline="0" dirty="0"/>
          </a:p>
        </p:txBody>
      </p:sp>
      <p:grpSp>
        <p:nvGrpSpPr>
          <p:cNvPr id="20485" name="Group 7"/>
          <p:cNvGrpSpPr>
            <a:grpSpLocks/>
          </p:cNvGrpSpPr>
          <p:nvPr/>
        </p:nvGrpSpPr>
        <p:grpSpPr bwMode="auto">
          <a:xfrm>
            <a:off x="1600200" y="1981200"/>
            <a:ext cx="5029200" cy="892175"/>
            <a:chOff x="768" y="1728"/>
            <a:chExt cx="3552" cy="787"/>
          </a:xfrm>
        </p:grpSpPr>
        <p:sp>
          <p:nvSpPr>
            <p:cNvPr id="20492" name="AutoShape 8"/>
            <p:cNvSpPr>
              <a:spLocks noChangeArrowheads="1"/>
            </p:cNvSpPr>
            <p:nvPr/>
          </p:nvSpPr>
          <p:spPr bwMode="auto">
            <a:xfrm>
              <a:off x="2304" y="1728"/>
              <a:ext cx="288" cy="336"/>
            </a:xfrm>
            <a:prstGeom prst="downArrow">
              <a:avLst>
                <a:gd name="adj1" fmla="val 50000"/>
                <a:gd name="adj2" fmla="val 291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20493" name="Text Box 9"/>
            <p:cNvSpPr txBox="1">
              <a:spLocks noChangeArrowheads="1"/>
            </p:cNvSpPr>
            <p:nvPr/>
          </p:nvSpPr>
          <p:spPr bwMode="auto">
            <a:xfrm>
              <a:off x="768" y="2112"/>
              <a:ext cx="3552" cy="40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en-US" altLang="zh-CN" baseline="0" dirty="0">
                  <a:solidFill>
                    <a:srgbClr val="800080"/>
                  </a:solidFill>
                  <a:latin typeface="Courier New" panose="02070309020205020404" pitchFamily="49" charset="0"/>
                  <a:ea typeface="宋体" panose="02010600030101010101" pitchFamily="2" charset="-122"/>
                </a:rPr>
                <a:t>y(t)</a:t>
              </a:r>
              <a:r>
                <a:rPr lang="zh-CN" altLang="en-US" baseline="0" dirty="0">
                  <a:solidFill>
                    <a:srgbClr val="800080"/>
                  </a:solidFill>
                  <a:latin typeface="Courier New" panose="02070309020205020404" pitchFamily="49" charset="0"/>
                  <a:ea typeface="宋体" panose="02010600030101010101" pitchFamily="2" charset="-122"/>
                </a:rPr>
                <a:t>＝</a:t>
              </a:r>
              <a:r>
                <a:rPr lang="en-US" altLang="zh-CN" baseline="0" dirty="0">
                  <a:solidFill>
                    <a:srgbClr val="800080"/>
                  </a:solidFill>
                  <a:latin typeface="Courier New" panose="02070309020205020404" pitchFamily="49" charset="0"/>
                  <a:ea typeface="宋体" panose="02010600030101010101" pitchFamily="2" charset="-122"/>
                </a:rPr>
                <a:t>y</a:t>
              </a:r>
              <a:r>
                <a:rPr lang="en-US" altLang="zh-CN" baseline="-25000" dirty="0">
                  <a:solidFill>
                    <a:srgbClr val="800080"/>
                  </a:solidFill>
                  <a:latin typeface="Courier New" panose="02070309020205020404" pitchFamily="49" charset="0"/>
                  <a:ea typeface="宋体" panose="02010600030101010101" pitchFamily="2" charset="-122"/>
                </a:rPr>
                <a:t>0</a:t>
              </a:r>
              <a:r>
                <a:rPr lang="en-US" altLang="zh-CN" baseline="0" dirty="0">
                  <a:solidFill>
                    <a:srgbClr val="800080"/>
                  </a:solidFill>
                  <a:latin typeface="Courier New" panose="02070309020205020404" pitchFamily="49" charset="0"/>
                  <a:ea typeface="宋体" panose="02010600030101010101" pitchFamily="2" charset="-122"/>
                </a:rPr>
                <a:t>+∫</a:t>
              </a:r>
              <a:r>
                <a:rPr lang="en-US" altLang="zh-CN" dirty="0">
                  <a:solidFill>
                    <a:srgbClr val="800080"/>
                  </a:solidFill>
                  <a:latin typeface="Courier New" panose="02070309020205020404" pitchFamily="49" charset="0"/>
                  <a:ea typeface="宋体" panose="02010600030101010101" pitchFamily="2" charset="-122"/>
                </a:rPr>
                <a:t>t</a:t>
              </a:r>
              <a:r>
                <a:rPr lang="en-US" altLang="zh-CN" baseline="-25000" dirty="0">
                  <a:solidFill>
                    <a:srgbClr val="800080"/>
                  </a:solidFill>
                  <a:latin typeface="Courier New" panose="02070309020205020404" pitchFamily="49" charset="0"/>
                  <a:ea typeface="宋体" panose="02010600030101010101" pitchFamily="2" charset="-122"/>
                </a:rPr>
                <a:t>t0</a:t>
              </a:r>
              <a:r>
                <a:rPr lang="en-US" altLang="zh-CN" baseline="0" dirty="0">
                  <a:solidFill>
                    <a:srgbClr val="800080"/>
                  </a:solidFill>
                  <a:latin typeface="Courier New" panose="02070309020205020404" pitchFamily="49" charset="0"/>
                  <a:ea typeface="宋体" panose="02010600030101010101" pitchFamily="2" charset="-122"/>
                </a:rPr>
                <a:t>f</a:t>
              </a:r>
              <a:r>
                <a:rPr lang="zh-CN" altLang="en-US" baseline="0" dirty="0">
                  <a:solidFill>
                    <a:srgbClr val="800080"/>
                  </a:solidFill>
                  <a:latin typeface="Courier New" panose="02070309020205020404" pitchFamily="49" charset="0"/>
                  <a:ea typeface="宋体" panose="02010600030101010101" pitchFamily="2" charset="-122"/>
                </a:rPr>
                <a:t>［</a:t>
              </a:r>
              <a:r>
                <a:rPr lang="en-US" altLang="zh-CN" baseline="0" dirty="0" err="1">
                  <a:solidFill>
                    <a:srgbClr val="800080"/>
                  </a:solidFill>
                  <a:latin typeface="Courier New" panose="02070309020205020404" pitchFamily="49" charset="0"/>
                  <a:ea typeface="宋体" panose="02010600030101010101" pitchFamily="2" charset="-122"/>
                </a:rPr>
                <a:t>t,y</a:t>
              </a:r>
              <a:r>
                <a:rPr lang="en-US" altLang="zh-CN" baseline="0" dirty="0">
                  <a:solidFill>
                    <a:srgbClr val="800080"/>
                  </a:solidFill>
                  <a:latin typeface="Courier New" panose="02070309020205020404" pitchFamily="49" charset="0"/>
                  <a:ea typeface="宋体" panose="02010600030101010101" pitchFamily="2" charset="-122"/>
                </a:rPr>
                <a:t>(t)</a:t>
              </a:r>
              <a:r>
                <a:rPr lang="zh-CN" altLang="en-US" baseline="0" dirty="0">
                  <a:solidFill>
                    <a:srgbClr val="800080"/>
                  </a:solidFill>
                  <a:latin typeface="Courier New" panose="02070309020205020404" pitchFamily="49" charset="0"/>
                  <a:ea typeface="宋体" panose="02010600030101010101" pitchFamily="2" charset="-122"/>
                </a:rPr>
                <a:t>］</a:t>
              </a:r>
              <a:r>
                <a:rPr lang="en-US" altLang="zh-CN" baseline="0" dirty="0" err="1">
                  <a:solidFill>
                    <a:srgbClr val="800080"/>
                  </a:solidFill>
                  <a:latin typeface="Courier New" panose="02070309020205020404" pitchFamily="49" charset="0"/>
                  <a:ea typeface="宋体" panose="02010600030101010101" pitchFamily="2" charset="-122"/>
                </a:rPr>
                <a:t>dt</a:t>
              </a:r>
              <a:endParaRPr lang="en-US" altLang="zh-CN" baseline="0" dirty="0">
                <a:solidFill>
                  <a:srgbClr val="800080"/>
                </a:solidFill>
                <a:latin typeface="Courier New" panose="02070309020205020404" pitchFamily="49" charset="0"/>
                <a:ea typeface="宋体" panose="02010600030101010101" pitchFamily="2" charset="-122"/>
              </a:endParaRPr>
            </a:p>
          </p:txBody>
        </p:sp>
      </p:grpSp>
      <p:sp>
        <p:nvSpPr>
          <p:cNvPr id="180234" name="AutoShape 10"/>
          <p:cNvSpPr>
            <a:spLocks noChangeArrowheads="1"/>
          </p:cNvSpPr>
          <p:nvPr/>
        </p:nvSpPr>
        <p:spPr bwMode="auto">
          <a:xfrm>
            <a:off x="5334000" y="6096000"/>
            <a:ext cx="3124200" cy="762000"/>
          </a:xfrm>
          <a:prstGeom prst="cloudCallout">
            <a:avLst>
              <a:gd name="adj1" fmla="val -68241"/>
              <a:gd name="adj2" fmla="val -69167"/>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2800" baseline="0" dirty="0">
                <a:solidFill>
                  <a:srgbClr val="0D17D7"/>
                </a:solidFill>
              </a:rPr>
              <a:t>欧拉公式</a:t>
            </a:r>
          </a:p>
        </p:txBody>
      </p:sp>
      <p:grpSp>
        <p:nvGrpSpPr>
          <p:cNvPr id="180235" name="Group 11"/>
          <p:cNvGrpSpPr>
            <a:grpSpLocks/>
          </p:cNvGrpSpPr>
          <p:nvPr/>
        </p:nvGrpSpPr>
        <p:grpSpPr bwMode="auto">
          <a:xfrm>
            <a:off x="2743200" y="4800600"/>
            <a:ext cx="4205288" cy="1143000"/>
            <a:chOff x="1728" y="3024"/>
            <a:chExt cx="2649" cy="720"/>
          </a:xfrm>
        </p:grpSpPr>
        <p:sp>
          <p:nvSpPr>
            <p:cNvPr id="20489" name="AutoShape 12"/>
            <p:cNvSpPr>
              <a:spLocks noChangeArrowheads="1"/>
            </p:cNvSpPr>
            <p:nvPr/>
          </p:nvSpPr>
          <p:spPr bwMode="auto">
            <a:xfrm>
              <a:off x="2400" y="3024"/>
              <a:ext cx="278" cy="432"/>
            </a:xfrm>
            <a:prstGeom prst="downArrow">
              <a:avLst>
                <a:gd name="adj1" fmla="val 50000"/>
                <a:gd name="adj2" fmla="val 38849"/>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20490" name="Text Box 13"/>
            <p:cNvSpPr txBox="1">
              <a:spLocks noChangeArrowheads="1"/>
            </p:cNvSpPr>
            <p:nvPr/>
          </p:nvSpPr>
          <p:spPr bwMode="auto">
            <a:xfrm>
              <a:off x="1728" y="3456"/>
              <a:ext cx="1824" cy="288"/>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baseline="0">
                  <a:solidFill>
                    <a:srgbClr val="800080"/>
                  </a:solidFill>
                  <a:latin typeface="Courier New" panose="02070309020205020404" pitchFamily="49" charset="0"/>
                  <a:ea typeface="宋体" panose="02010600030101010101" pitchFamily="2" charset="-122"/>
                </a:rPr>
                <a:t>y</a:t>
              </a:r>
              <a:r>
                <a:rPr lang="en-US" altLang="zh-CN" baseline="-25000">
                  <a:solidFill>
                    <a:srgbClr val="800080"/>
                  </a:solidFill>
                  <a:latin typeface="Courier New" panose="02070309020205020404" pitchFamily="49" charset="0"/>
                  <a:ea typeface="宋体" panose="02010600030101010101" pitchFamily="2" charset="-122"/>
                </a:rPr>
                <a:t>k+1</a:t>
              </a:r>
              <a:r>
                <a:rPr lang="en-US" altLang="zh-CN" baseline="0">
                  <a:solidFill>
                    <a:srgbClr val="800080"/>
                  </a:solidFill>
                  <a:latin typeface="Courier New" panose="02070309020205020404" pitchFamily="49" charset="0"/>
                  <a:ea typeface="宋体" panose="02010600030101010101" pitchFamily="2" charset="-122"/>
                </a:rPr>
                <a:t> = y</a:t>
              </a:r>
              <a:r>
                <a:rPr lang="en-US" altLang="zh-CN" baseline="-25000">
                  <a:solidFill>
                    <a:srgbClr val="800080"/>
                  </a:solidFill>
                  <a:latin typeface="Courier New" panose="02070309020205020404" pitchFamily="49" charset="0"/>
                  <a:ea typeface="宋体" panose="02010600030101010101" pitchFamily="2" charset="-122"/>
                </a:rPr>
                <a:t>k</a:t>
              </a:r>
              <a:r>
                <a:rPr lang="en-US" altLang="zh-CN" baseline="0">
                  <a:solidFill>
                    <a:srgbClr val="800080"/>
                  </a:solidFill>
                  <a:latin typeface="Courier New" panose="02070309020205020404" pitchFamily="49" charset="0"/>
                  <a:ea typeface="宋体" panose="02010600030101010101" pitchFamily="2" charset="-122"/>
                </a:rPr>
                <a:t>+ hf</a:t>
              </a:r>
              <a:r>
                <a:rPr lang="en-US" altLang="zh-CN" baseline="-25000">
                  <a:solidFill>
                    <a:srgbClr val="800080"/>
                  </a:solidFill>
                  <a:latin typeface="Courier New" panose="02070309020205020404" pitchFamily="49" charset="0"/>
                  <a:ea typeface="宋体" panose="02010600030101010101" pitchFamily="2" charset="-122"/>
                </a:rPr>
                <a:t>k</a:t>
              </a:r>
            </a:p>
          </p:txBody>
        </p:sp>
        <p:sp>
          <p:nvSpPr>
            <p:cNvPr id="20491" name="Text Box 14"/>
            <p:cNvSpPr txBox="1">
              <a:spLocks noChangeArrowheads="1"/>
            </p:cNvSpPr>
            <p:nvPr/>
          </p:nvSpPr>
          <p:spPr bwMode="auto">
            <a:xfrm>
              <a:off x="2649" y="3072"/>
              <a:ext cx="172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baseline="0" dirty="0">
                  <a:solidFill>
                    <a:srgbClr val="0D17D7"/>
                  </a:solidFill>
                </a:rPr>
                <a:t>递推，且取等步长</a:t>
              </a:r>
            </a:p>
          </p:txBody>
        </p:sp>
      </p:gr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45ED899A-D597-4473-9642-3BBECD1316C9}" type="slidenum">
              <a:rPr lang="en-US" altLang="zh-CN" sz="1400" b="0" baseline="0">
                <a:solidFill>
                  <a:schemeClr val="tx1"/>
                </a:solidFill>
                <a:ea typeface="宋体" panose="02010600030101010101" pitchFamily="2" charset="-122"/>
              </a:rPr>
              <a:pPr eaLnBrk="1" hangingPunct="1"/>
              <a:t>59</a:t>
            </a:fld>
            <a:endParaRPr lang="en-US" altLang="zh-CN" sz="1400" b="0" baseline="0">
              <a:solidFill>
                <a:schemeClr val="tx1"/>
              </a:solidFill>
              <a:ea typeface="宋体" panose="02010600030101010101" pitchFamily="2" charset="-122"/>
            </a:endParaRPr>
          </a:p>
        </p:txBody>
      </p:sp>
      <p:sp>
        <p:nvSpPr>
          <p:cNvPr id="3" name="矩形 2">
            <a:extLst>
              <a:ext uri="{FF2B5EF4-FFF2-40B4-BE49-F238E27FC236}">
                <a16:creationId xmlns:a16="http://schemas.microsoft.com/office/drawing/2014/main" id="{67EC49F1-3825-439C-A076-2AE60910061B}"/>
              </a:ext>
            </a:extLst>
          </p:cNvPr>
          <p:cNvSpPr/>
          <p:nvPr/>
        </p:nvSpPr>
        <p:spPr>
          <a:xfrm>
            <a:off x="179512" y="6228957"/>
            <a:ext cx="4572000" cy="646331"/>
          </a:xfrm>
          <a:prstGeom prst="rect">
            <a:avLst/>
          </a:prstGeom>
        </p:spPr>
        <p:txBody>
          <a:bodyPr>
            <a:spAutoFit/>
          </a:bodyPr>
          <a:lstStyle/>
          <a:p>
            <a:pPr eaLnBrk="1" hangingPunct="1">
              <a:buFontTx/>
              <a:buNone/>
            </a:pPr>
            <a:r>
              <a:rPr lang="zh-CN" altLang="en-US" b="1" dirty="0">
                <a:solidFill>
                  <a:srgbClr val="0D17D7"/>
                </a:solidFill>
                <a:latin typeface="Courier New" panose="02070309020205020404" pitchFamily="49" charset="0"/>
                <a:ea typeface="楷体_GB2312" pitchFamily="49" charset="-122"/>
              </a:rPr>
              <a:t>特点</a:t>
            </a:r>
            <a:r>
              <a:rPr lang="zh-CN" altLang="en-US" b="1" dirty="0">
                <a:solidFill>
                  <a:srgbClr val="FF0066"/>
                </a:solidFill>
                <a:latin typeface="Courier New" panose="02070309020205020404" pitchFamily="49" charset="0"/>
                <a:ea typeface="楷体_GB2312" pitchFamily="49" charset="-122"/>
              </a:rPr>
              <a:t>：方法简单，计算量小，计算精度较低，是单步法，可自启动。</a:t>
            </a:r>
          </a:p>
        </p:txBody>
      </p:sp>
    </p:spTree>
    <p:extLst>
      <p:ext uri="{BB962C8B-B14F-4D97-AF65-F5344CB8AC3E}">
        <p14:creationId xmlns:p14="http://schemas.microsoft.com/office/powerpoint/2010/main" val="55559801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 fill="hold" nodeType="afterEffect">
                                  <p:stCondLst>
                                    <p:cond delay="0"/>
                                  </p:stCondLst>
                                  <p:childTnLst>
                                    <p:set>
                                      <p:cBhvr>
                                        <p:cTn id="6" dur="1" fill="hold">
                                          <p:stCondLst>
                                            <p:cond delay="0"/>
                                          </p:stCondLst>
                                        </p:cTn>
                                        <p:tgtEl>
                                          <p:spTgt spid="180226"/>
                                        </p:tgtEl>
                                        <p:attrNameLst>
                                          <p:attrName>style.visibility</p:attrName>
                                        </p:attrNameLst>
                                      </p:cBhvr>
                                      <p:to>
                                        <p:strVal val="visible"/>
                                      </p:to>
                                    </p:set>
                                    <p:anim calcmode="lin" valueType="num">
                                      <p:cBhvr>
                                        <p:cTn id="7" dur="500" fill="hold"/>
                                        <p:tgtEl>
                                          <p:spTgt spid="180226"/>
                                        </p:tgtEl>
                                        <p:attrNameLst>
                                          <p:attrName>ppt_x</p:attrName>
                                        </p:attrNameLst>
                                      </p:cBhvr>
                                      <p:tavLst>
                                        <p:tav tm="0">
                                          <p:val>
                                            <p:strVal val="#ppt_x"/>
                                          </p:val>
                                        </p:tav>
                                        <p:tav tm="100000">
                                          <p:val>
                                            <p:strVal val="#ppt_x"/>
                                          </p:val>
                                        </p:tav>
                                      </p:tavLst>
                                    </p:anim>
                                    <p:anim calcmode="lin" valueType="num">
                                      <p:cBhvr>
                                        <p:cTn id="8" dur="500" fill="hold"/>
                                        <p:tgtEl>
                                          <p:spTgt spid="180226"/>
                                        </p:tgtEl>
                                        <p:attrNameLst>
                                          <p:attrName>ppt_y</p:attrName>
                                        </p:attrNameLst>
                                      </p:cBhvr>
                                      <p:tavLst>
                                        <p:tav tm="0">
                                          <p:val>
                                            <p:strVal val="#ppt_y-#ppt_h/2"/>
                                          </p:val>
                                        </p:tav>
                                        <p:tav tm="100000">
                                          <p:val>
                                            <p:strVal val="#ppt_y"/>
                                          </p:val>
                                        </p:tav>
                                      </p:tavLst>
                                    </p:anim>
                                    <p:anim calcmode="lin" valueType="num">
                                      <p:cBhvr>
                                        <p:cTn id="9" dur="500" fill="hold"/>
                                        <p:tgtEl>
                                          <p:spTgt spid="180226"/>
                                        </p:tgtEl>
                                        <p:attrNameLst>
                                          <p:attrName>ppt_w</p:attrName>
                                        </p:attrNameLst>
                                      </p:cBhvr>
                                      <p:tavLst>
                                        <p:tav tm="0">
                                          <p:val>
                                            <p:strVal val="#ppt_w"/>
                                          </p:val>
                                        </p:tav>
                                        <p:tav tm="100000">
                                          <p:val>
                                            <p:strVal val="#ppt_w"/>
                                          </p:val>
                                        </p:tav>
                                      </p:tavLst>
                                    </p:anim>
                                    <p:anim calcmode="lin" valueType="num">
                                      <p:cBhvr>
                                        <p:cTn id="10" dur="500" fill="hold"/>
                                        <p:tgtEl>
                                          <p:spTgt spid="180226"/>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nodeType="clickEffect">
                                  <p:stCondLst>
                                    <p:cond delay="0"/>
                                  </p:stCondLst>
                                  <p:childTnLst>
                                    <p:set>
                                      <p:cBhvr>
                                        <p:cTn id="14" dur="1" fill="hold">
                                          <p:stCondLst>
                                            <p:cond delay="0"/>
                                          </p:stCondLst>
                                        </p:cTn>
                                        <p:tgtEl>
                                          <p:spTgt spid="180235"/>
                                        </p:tgtEl>
                                        <p:attrNameLst>
                                          <p:attrName>style.visibility</p:attrName>
                                        </p:attrNameLst>
                                      </p:cBhvr>
                                      <p:to>
                                        <p:strVal val="visible"/>
                                      </p:to>
                                    </p:set>
                                    <p:anim calcmode="lin" valueType="num">
                                      <p:cBhvr>
                                        <p:cTn id="15" dur="500" fill="hold"/>
                                        <p:tgtEl>
                                          <p:spTgt spid="180235"/>
                                        </p:tgtEl>
                                        <p:attrNameLst>
                                          <p:attrName>ppt_x</p:attrName>
                                        </p:attrNameLst>
                                      </p:cBhvr>
                                      <p:tavLst>
                                        <p:tav tm="0">
                                          <p:val>
                                            <p:strVal val="#ppt_x"/>
                                          </p:val>
                                        </p:tav>
                                        <p:tav tm="100000">
                                          <p:val>
                                            <p:strVal val="#ppt_x"/>
                                          </p:val>
                                        </p:tav>
                                      </p:tavLst>
                                    </p:anim>
                                    <p:anim calcmode="lin" valueType="num">
                                      <p:cBhvr>
                                        <p:cTn id="16" dur="500" fill="hold"/>
                                        <p:tgtEl>
                                          <p:spTgt spid="180235"/>
                                        </p:tgtEl>
                                        <p:attrNameLst>
                                          <p:attrName>ppt_y</p:attrName>
                                        </p:attrNameLst>
                                      </p:cBhvr>
                                      <p:tavLst>
                                        <p:tav tm="0">
                                          <p:val>
                                            <p:strVal val="#ppt_y-#ppt_h/2"/>
                                          </p:val>
                                        </p:tav>
                                        <p:tav tm="100000">
                                          <p:val>
                                            <p:strVal val="#ppt_y"/>
                                          </p:val>
                                        </p:tav>
                                      </p:tavLst>
                                    </p:anim>
                                    <p:anim calcmode="lin" valueType="num">
                                      <p:cBhvr>
                                        <p:cTn id="17" dur="500" fill="hold"/>
                                        <p:tgtEl>
                                          <p:spTgt spid="180235"/>
                                        </p:tgtEl>
                                        <p:attrNameLst>
                                          <p:attrName>ppt_w</p:attrName>
                                        </p:attrNameLst>
                                      </p:cBhvr>
                                      <p:tavLst>
                                        <p:tav tm="0">
                                          <p:val>
                                            <p:strVal val="#ppt_w"/>
                                          </p:val>
                                        </p:tav>
                                        <p:tav tm="100000">
                                          <p:val>
                                            <p:strVal val="#ppt_w"/>
                                          </p:val>
                                        </p:tav>
                                      </p:tavLst>
                                    </p:anim>
                                    <p:anim calcmode="lin" valueType="num">
                                      <p:cBhvr>
                                        <p:cTn id="18" dur="500" fill="hold"/>
                                        <p:tgtEl>
                                          <p:spTgt spid="180235"/>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80234"/>
                                        </p:tgtEl>
                                        <p:attrNameLst>
                                          <p:attrName>style.visibility</p:attrName>
                                        </p:attrNameLst>
                                      </p:cBhvr>
                                      <p:to>
                                        <p:strVal val="visible"/>
                                      </p:to>
                                    </p:set>
                                    <p:anim calcmode="lin" valueType="num">
                                      <p:cBhvr additive="base">
                                        <p:cTn id="23" dur="500" fill="hold"/>
                                        <p:tgtEl>
                                          <p:spTgt spid="180234"/>
                                        </p:tgtEl>
                                        <p:attrNameLst>
                                          <p:attrName>ppt_x</p:attrName>
                                        </p:attrNameLst>
                                      </p:cBhvr>
                                      <p:tavLst>
                                        <p:tav tm="0">
                                          <p:val>
                                            <p:strVal val="#ppt_x"/>
                                          </p:val>
                                        </p:tav>
                                        <p:tav tm="100000">
                                          <p:val>
                                            <p:strVal val="#ppt_x"/>
                                          </p:val>
                                        </p:tav>
                                      </p:tavLst>
                                    </p:anim>
                                    <p:anim calcmode="lin" valueType="num">
                                      <p:cBhvr additive="base">
                                        <p:cTn id="24" dur="500" fill="hold"/>
                                        <p:tgtEl>
                                          <p:spTgt spid="18023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4" grpId="0" animBg="1" autoUpdateAnimBg="0"/>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371600" y="836712"/>
            <a:ext cx="3276600" cy="533400"/>
          </a:xfr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p:spPr>
        <p:txBody>
          <a:bodyPr>
            <a:flatTx/>
          </a:bodyPr>
          <a:lstStyle/>
          <a:p>
            <a:pPr algn="l" eaLnBrk="1" hangingPunct="1"/>
            <a:r>
              <a:rPr lang="zh-CN" altLang="en-US" sz="3200" b="1" dirty="0">
                <a:solidFill>
                  <a:srgbClr val="FF0066"/>
                </a:solidFill>
                <a:ea typeface="楷体_GB2312" pitchFamily="49" charset="-122"/>
              </a:rPr>
              <a:t>梯形法</a:t>
            </a:r>
          </a:p>
        </p:txBody>
      </p:sp>
      <p:sp>
        <p:nvSpPr>
          <p:cNvPr id="21507" name="Rectangle 3"/>
          <p:cNvSpPr>
            <a:spLocks noGrp="1" noChangeArrowheads="1"/>
          </p:cNvSpPr>
          <p:nvPr>
            <p:ph type="body" idx="1"/>
          </p:nvPr>
        </p:nvSpPr>
        <p:spPr>
          <a:xfrm>
            <a:off x="609600" y="3068960"/>
            <a:ext cx="8077200" cy="2286000"/>
          </a:xfrm>
        </p:spPr>
        <p:txBody>
          <a:bodyPr/>
          <a:lstStyle/>
          <a:p>
            <a:pPr eaLnBrk="1" hangingPunct="1">
              <a:lnSpc>
                <a:spcPct val="150000"/>
              </a:lnSpc>
              <a:buFontTx/>
              <a:buNone/>
            </a:pPr>
            <a:r>
              <a:rPr lang="en-US" altLang="zh-CN" sz="2800" b="1" dirty="0">
                <a:solidFill>
                  <a:srgbClr val="FF0066"/>
                </a:solidFill>
                <a:latin typeface="Courier New" panose="02070309020205020404" pitchFamily="49" charset="0"/>
              </a:rPr>
              <a:t>1</a:t>
            </a:r>
            <a:r>
              <a:rPr lang="zh-CN" altLang="en-US" sz="2800" b="1" dirty="0">
                <a:solidFill>
                  <a:srgbClr val="FF0066"/>
                </a:solidFill>
                <a:latin typeface="Courier New" panose="02070309020205020404" pitchFamily="49" charset="0"/>
              </a:rPr>
              <a:t>、从欧拉法到梯形法</a:t>
            </a:r>
          </a:p>
          <a:p>
            <a:pPr eaLnBrk="1" hangingPunct="1">
              <a:lnSpc>
                <a:spcPct val="150000"/>
              </a:lnSpc>
              <a:buFontTx/>
              <a:buNone/>
            </a:pPr>
            <a:r>
              <a:rPr lang="en-US" altLang="zh-CN" sz="2800" b="1" dirty="0">
                <a:solidFill>
                  <a:srgbClr val="FF0066"/>
                </a:solidFill>
                <a:latin typeface="Courier New" panose="02070309020205020404" pitchFamily="49" charset="0"/>
              </a:rPr>
              <a:t>2</a:t>
            </a:r>
            <a:r>
              <a:rPr lang="zh-CN" altLang="en-US" sz="2800" b="1" dirty="0">
                <a:solidFill>
                  <a:srgbClr val="FF0066"/>
                </a:solidFill>
                <a:latin typeface="Courier New" panose="02070309020205020404" pitchFamily="49" charset="0"/>
              </a:rPr>
              <a:t>、梯形法的预估－校正公式</a:t>
            </a:r>
          </a:p>
          <a:p>
            <a:pPr eaLnBrk="1" hangingPunct="1">
              <a:lnSpc>
                <a:spcPct val="150000"/>
              </a:lnSpc>
              <a:buFontTx/>
              <a:buNone/>
            </a:pPr>
            <a:r>
              <a:rPr lang="en-US" altLang="zh-CN" sz="2800" b="1" dirty="0">
                <a:solidFill>
                  <a:srgbClr val="FF0066"/>
                </a:solidFill>
                <a:latin typeface="Courier New" panose="02070309020205020404" pitchFamily="49" charset="0"/>
              </a:rPr>
              <a:t>3</a:t>
            </a:r>
            <a:r>
              <a:rPr lang="zh-CN" altLang="en-US" sz="2800" b="1" dirty="0">
                <a:solidFill>
                  <a:srgbClr val="FF0066"/>
                </a:solidFill>
                <a:latin typeface="Courier New" panose="02070309020205020404" pitchFamily="49" charset="0"/>
              </a:rPr>
              <a:t>、梯形法思想的推广</a:t>
            </a:r>
          </a:p>
        </p:txBody>
      </p:sp>
      <p:sp>
        <p:nvSpPr>
          <p:cNvPr id="21508" name="Text Box 4"/>
          <p:cNvSpPr txBox="1">
            <a:spLocks noChangeArrowheads="1"/>
          </p:cNvSpPr>
          <p:nvPr/>
        </p:nvSpPr>
        <p:spPr bwMode="auto">
          <a:xfrm>
            <a:off x="5638800" y="1916832"/>
            <a:ext cx="3095625" cy="1160463"/>
          </a:xfrm>
          <a:prstGeom prst="rect">
            <a:avLst/>
          </a:prstGeom>
          <a:solidFill>
            <a:srgbClr val="FFFF99"/>
          </a:solidFill>
          <a:ln>
            <a:noFill/>
          </a:ln>
          <a:effectLst/>
          <a:extLs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en-US" altLang="zh-CN" sz="2800" baseline="0" dirty="0" err="1">
                <a:solidFill>
                  <a:srgbClr val="FF0066"/>
                </a:solidFill>
                <a:latin typeface="Courier New" panose="02070309020205020404" pitchFamily="49" charset="0"/>
                <a:ea typeface="宋体" panose="02010600030101010101" pitchFamily="2" charset="-122"/>
              </a:rPr>
              <a:t>dy</a:t>
            </a:r>
            <a:r>
              <a:rPr lang="en-US" altLang="zh-CN" sz="2800" baseline="0" dirty="0">
                <a:solidFill>
                  <a:srgbClr val="FF0066"/>
                </a:solidFill>
                <a:latin typeface="Courier New" panose="02070309020205020404" pitchFamily="49" charset="0"/>
                <a:ea typeface="宋体" panose="02010600030101010101" pitchFamily="2" charset="-122"/>
              </a:rPr>
              <a:t>/</a:t>
            </a:r>
            <a:r>
              <a:rPr lang="en-US" altLang="zh-CN" sz="2800" baseline="0" dirty="0" err="1">
                <a:solidFill>
                  <a:srgbClr val="FF0066"/>
                </a:solidFill>
                <a:latin typeface="Courier New" panose="02070309020205020404" pitchFamily="49" charset="0"/>
                <a:ea typeface="宋体" panose="02010600030101010101" pitchFamily="2" charset="-122"/>
              </a:rPr>
              <a:t>dt</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f(</a:t>
            </a:r>
            <a:r>
              <a:rPr lang="en-US" altLang="zh-CN" sz="2800" baseline="0" dirty="0" err="1">
                <a:solidFill>
                  <a:srgbClr val="FF0066"/>
                </a:solidFill>
                <a:latin typeface="Courier New" panose="02070309020205020404" pitchFamily="49" charset="0"/>
                <a:ea typeface="宋体" panose="02010600030101010101" pitchFamily="2" charset="-122"/>
              </a:rPr>
              <a:t>t,y</a:t>
            </a:r>
            <a:r>
              <a:rPr lang="en-US" altLang="zh-CN" sz="2800" baseline="0" dirty="0">
                <a:solidFill>
                  <a:srgbClr val="FF0066"/>
                </a:solidFill>
                <a:latin typeface="Courier New" panose="02070309020205020404" pitchFamily="49" charset="0"/>
                <a:ea typeface="宋体" panose="02010600030101010101" pitchFamily="2" charset="-122"/>
              </a:rPr>
              <a:t>) </a:t>
            </a:r>
          </a:p>
          <a:p>
            <a:pPr algn="l" eaLnBrk="1" hangingPunct="1"/>
            <a:r>
              <a:rPr lang="en-US" altLang="zh-CN" sz="2800" baseline="0" dirty="0">
                <a:solidFill>
                  <a:srgbClr val="FF0066"/>
                </a:solidFill>
                <a:latin typeface="Courier New" panose="02070309020205020404" pitchFamily="49" charset="0"/>
                <a:ea typeface="宋体" panose="02010600030101010101" pitchFamily="2" charset="-122"/>
              </a:rPr>
              <a:t>y(t</a:t>
            </a:r>
            <a:r>
              <a:rPr lang="en-US" altLang="zh-CN" sz="2800" baseline="-25000" dirty="0">
                <a:solidFill>
                  <a:srgbClr val="FF0066"/>
                </a:solidFill>
                <a:latin typeface="Courier New" panose="02070309020205020404" pitchFamily="49" charset="0"/>
                <a:ea typeface="宋体" panose="02010600030101010101" pitchFamily="2" charset="-122"/>
              </a:rPr>
              <a:t>0</a:t>
            </a:r>
            <a:r>
              <a:rPr lang="en-US" altLang="zh-CN" sz="2800" baseline="0" dirty="0">
                <a:solidFill>
                  <a:srgbClr val="FF0066"/>
                </a:solidFill>
                <a:latin typeface="Courier New" panose="02070309020205020404" pitchFamily="49" charset="0"/>
                <a:ea typeface="宋体" panose="02010600030101010101" pitchFamily="2" charset="-122"/>
              </a:rPr>
              <a:t>)</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y</a:t>
            </a:r>
            <a:r>
              <a:rPr lang="en-US" altLang="zh-CN" sz="2800" baseline="-25000" dirty="0">
                <a:solidFill>
                  <a:srgbClr val="FF0066"/>
                </a:solidFill>
                <a:latin typeface="Courier New" panose="02070309020205020404" pitchFamily="49" charset="0"/>
                <a:ea typeface="宋体" panose="02010600030101010101" pitchFamily="2" charset="-122"/>
              </a:rPr>
              <a:t>0</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0A5C49CE-CB4A-472F-BB4A-DF1CA3237CBC}" type="slidenum">
              <a:rPr lang="en-US" altLang="zh-CN" sz="1400" b="0" baseline="0">
                <a:solidFill>
                  <a:schemeClr val="tx1"/>
                </a:solidFill>
                <a:ea typeface="宋体" panose="02010600030101010101" pitchFamily="2" charset="-122"/>
              </a:rPr>
              <a:pPr eaLnBrk="1" hangingPunct="1"/>
              <a:t>60</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219897884"/>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a:xfrm>
            <a:off x="304800" y="609600"/>
            <a:ext cx="4114800" cy="685800"/>
          </a:xfr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p:spPr>
        <p:txBody>
          <a:bodyPr>
            <a:flatTx/>
          </a:bodyPr>
          <a:lstStyle/>
          <a:p>
            <a:pPr algn="l" eaLnBrk="1" hangingPunct="1"/>
            <a:r>
              <a:rPr lang="en-US" altLang="zh-CN" sz="3200" b="1">
                <a:solidFill>
                  <a:srgbClr val="FF0066"/>
                </a:solidFill>
                <a:ea typeface="楷体_GB2312" pitchFamily="49" charset="-122"/>
              </a:rPr>
              <a:t>1</a:t>
            </a:r>
            <a:r>
              <a:rPr lang="zh-CN" altLang="en-US" sz="3200" b="1">
                <a:solidFill>
                  <a:srgbClr val="FF0066"/>
                </a:solidFill>
                <a:ea typeface="楷体_GB2312" pitchFamily="49" charset="-122"/>
              </a:rPr>
              <a:t>、从欧拉法到梯形法</a:t>
            </a:r>
          </a:p>
        </p:txBody>
      </p:sp>
      <p:sp>
        <p:nvSpPr>
          <p:cNvPr id="22531" name="Rectangle 4"/>
          <p:cNvSpPr>
            <a:spLocks noGrp="1" noChangeArrowheads="1"/>
          </p:cNvSpPr>
          <p:nvPr>
            <p:ph type="body" idx="1"/>
          </p:nvPr>
        </p:nvSpPr>
        <p:spPr>
          <a:xfrm>
            <a:off x="5029200" y="533400"/>
            <a:ext cx="3581400" cy="990600"/>
          </a:xfrm>
          <a:solidFill>
            <a:srgbClr val="FFFF99"/>
          </a:solidFill>
        </p:spPr>
        <p:txBody>
          <a:bodyPr/>
          <a:lstStyle/>
          <a:p>
            <a:pPr algn="just" eaLnBrk="1" hangingPunct="1">
              <a:lnSpc>
                <a:spcPct val="90000"/>
              </a:lnSpc>
              <a:buFontTx/>
              <a:buNone/>
            </a:pPr>
            <a:r>
              <a:rPr lang="en-US" altLang="zh-CN">
                <a:latin typeface="Courier New" panose="02070309020205020404" pitchFamily="49" charset="0"/>
              </a:rPr>
              <a:t> </a:t>
            </a:r>
            <a:r>
              <a:rPr lang="en-US" altLang="zh-CN" sz="2800" b="1">
                <a:solidFill>
                  <a:srgbClr val="FF0066"/>
                </a:solidFill>
                <a:latin typeface="Courier New" panose="02070309020205020404" pitchFamily="49" charset="0"/>
              </a:rPr>
              <a:t>dy/dt</a:t>
            </a:r>
            <a:r>
              <a:rPr lang="zh-CN" altLang="en-US" sz="2800" b="1">
                <a:solidFill>
                  <a:srgbClr val="FF0066"/>
                </a:solidFill>
                <a:latin typeface="Courier New" panose="02070309020205020404" pitchFamily="49" charset="0"/>
              </a:rPr>
              <a:t>＝</a:t>
            </a:r>
            <a:r>
              <a:rPr lang="en-US" altLang="zh-CN" sz="2800" b="1">
                <a:solidFill>
                  <a:srgbClr val="FF0066"/>
                </a:solidFill>
                <a:latin typeface="Courier New" panose="02070309020205020404" pitchFamily="49" charset="0"/>
              </a:rPr>
              <a:t>f(t,y)</a:t>
            </a:r>
          </a:p>
          <a:p>
            <a:pPr eaLnBrk="1" hangingPunct="1">
              <a:lnSpc>
                <a:spcPct val="90000"/>
              </a:lnSpc>
              <a:buFontTx/>
              <a:buNone/>
            </a:pPr>
            <a:r>
              <a:rPr lang="en-US" altLang="zh-CN" sz="2800" b="1">
                <a:solidFill>
                  <a:srgbClr val="FF0066"/>
                </a:solidFill>
                <a:latin typeface="Courier New" panose="02070309020205020404" pitchFamily="49" charset="0"/>
              </a:rPr>
              <a:t>  y(t</a:t>
            </a:r>
            <a:r>
              <a:rPr lang="en-US" altLang="zh-CN" sz="2800" b="1" baseline="-25000">
                <a:solidFill>
                  <a:srgbClr val="FF0066"/>
                </a:solidFill>
                <a:latin typeface="Courier New" panose="02070309020205020404" pitchFamily="49" charset="0"/>
              </a:rPr>
              <a:t>0</a:t>
            </a:r>
            <a:r>
              <a:rPr lang="en-US" altLang="zh-CN" sz="2800" b="1">
                <a:solidFill>
                  <a:srgbClr val="FF0066"/>
                </a:solidFill>
                <a:latin typeface="Courier New" panose="02070309020205020404" pitchFamily="49" charset="0"/>
              </a:rPr>
              <a:t>)</a:t>
            </a:r>
            <a:r>
              <a:rPr lang="zh-CN" altLang="en-US" sz="2800" b="1">
                <a:solidFill>
                  <a:srgbClr val="FF0066"/>
                </a:solidFill>
                <a:latin typeface="Courier New" panose="02070309020205020404" pitchFamily="49" charset="0"/>
              </a:rPr>
              <a:t>＝</a:t>
            </a:r>
            <a:r>
              <a:rPr lang="en-US" altLang="zh-CN" sz="2800" b="1">
                <a:solidFill>
                  <a:srgbClr val="FF0066"/>
                </a:solidFill>
                <a:latin typeface="Courier New" panose="02070309020205020404" pitchFamily="49" charset="0"/>
              </a:rPr>
              <a:t>y</a:t>
            </a:r>
            <a:r>
              <a:rPr lang="en-US" altLang="zh-CN" sz="2800" b="1" baseline="-25000">
                <a:solidFill>
                  <a:srgbClr val="FF0066"/>
                </a:solidFill>
                <a:latin typeface="Courier New" panose="02070309020205020404" pitchFamily="49" charset="0"/>
              </a:rPr>
              <a:t>0</a:t>
            </a:r>
            <a:endParaRPr lang="en-US" altLang="zh-CN"/>
          </a:p>
        </p:txBody>
      </p:sp>
      <p:sp>
        <p:nvSpPr>
          <p:cNvPr id="22532" name="Rectangle 2"/>
          <p:cNvSpPr>
            <a:spLocks noChangeArrowheads="1"/>
          </p:cNvSpPr>
          <p:nvPr/>
        </p:nvSpPr>
        <p:spPr bwMode="auto">
          <a:xfrm>
            <a:off x="3505200" y="3886200"/>
            <a:ext cx="1676400" cy="1905000"/>
          </a:xfrm>
          <a:prstGeom prst="rect">
            <a:avLst/>
          </a:prstGeom>
          <a:solidFill>
            <a:schemeClr val="accent1"/>
          </a:solidFill>
          <a:ln w="38100">
            <a:solidFill>
              <a:schemeClr val="accent2"/>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22533" name="Line 5"/>
          <p:cNvSpPr>
            <a:spLocks noChangeShapeType="1"/>
          </p:cNvSpPr>
          <p:nvPr/>
        </p:nvSpPr>
        <p:spPr bwMode="auto">
          <a:xfrm>
            <a:off x="1524000" y="5791200"/>
            <a:ext cx="6096000"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4" name="Line 6"/>
          <p:cNvSpPr>
            <a:spLocks noChangeShapeType="1"/>
          </p:cNvSpPr>
          <p:nvPr/>
        </p:nvSpPr>
        <p:spPr bwMode="auto">
          <a:xfrm flipV="1">
            <a:off x="1600200" y="1828800"/>
            <a:ext cx="0" cy="43434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5" name="Arc 7"/>
          <p:cNvSpPr>
            <a:spLocks/>
          </p:cNvSpPr>
          <p:nvPr/>
        </p:nvSpPr>
        <p:spPr bwMode="auto">
          <a:xfrm rot="-2543936">
            <a:off x="3671888" y="3070225"/>
            <a:ext cx="1905000" cy="1038225"/>
          </a:xfrm>
          <a:custGeom>
            <a:avLst/>
            <a:gdLst>
              <a:gd name="T0" fmla="*/ 0 w 21600"/>
              <a:gd name="T1" fmla="*/ 0 h 28063"/>
              <a:gd name="T2" fmla="*/ 1817688 w 21600"/>
              <a:gd name="T3" fmla="*/ 1038225 h 28063"/>
              <a:gd name="T4" fmla="*/ 0 w 21600"/>
              <a:gd name="T5" fmla="*/ 799118 h 28063"/>
              <a:gd name="T6" fmla="*/ 0 60000 65536"/>
              <a:gd name="T7" fmla="*/ 0 60000 65536"/>
              <a:gd name="T8" fmla="*/ 0 60000 65536"/>
            </a:gdLst>
            <a:ahLst/>
            <a:cxnLst>
              <a:cxn ang="T6">
                <a:pos x="T0" y="T1"/>
              </a:cxn>
              <a:cxn ang="T7">
                <a:pos x="T2" y="T3"/>
              </a:cxn>
              <a:cxn ang="T8">
                <a:pos x="T4" y="T5"/>
              </a:cxn>
            </a:cxnLst>
            <a:rect l="0" t="0" r="r" b="b"/>
            <a:pathLst>
              <a:path w="21600" h="28063" fill="none" extrusionOk="0">
                <a:moveTo>
                  <a:pt x="-1" y="0"/>
                </a:moveTo>
                <a:cubicBezTo>
                  <a:pt x="11929" y="0"/>
                  <a:pt x="21600" y="9670"/>
                  <a:pt x="21600" y="21600"/>
                </a:cubicBezTo>
                <a:cubicBezTo>
                  <a:pt x="21600" y="23792"/>
                  <a:pt x="21266" y="25971"/>
                  <a:pt x="20610" y="28063"/>
                </a:cubicBezTo>
              </a:path>
              <a:path w="21600" h="28063" stroke="0" extrusionOk="0">
                <a:moveTo>
                  <a:pt x="-1" y="0"/>
                </a:moveTo>
                <a:cubicBezTo>
                  <a:pt x="11929" y="0"/>
                  <a:pt x="21600" y="9670"/>
                  <a:pt x="21600" y="21600"/>
                </a:cubicBezTo>
                <a:cubicBezTo>
                  <a:pt x="21600" y="23792"/>
                  <a:pt x="21266" y="25971"/>
                  <a:pt x="20610" y="28063"/>
                </a:cubicBezTo>
                <a:lnTo>
                  <a:pt x="0" y="21600"/>
                </a:lnTo>
                <a:lnTo>
                  <a:pt x="-1" y="0"/>
                </a:lnTo>
                <a:close/>
              </a:path>
            </a:pathLst>
          </a:custGeom>
          <a:noFill/>
          <a:ln w="38100">
            <a:solidFill>
              <a:srgbClr val="FF0066"/>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6" name="Line 8"/>
          <p:cNvSpPr>
            <a:spLocks noChangeShapeType="1"/>
          </p:cNvSpPr>
          <p:nvPr/>
        </p:nvSpPr>
        <p:spPr bwMode="auto">
          <a:xfrm>
            <a:off x="3505200" y="3886200"/>
            <a:ext cx="0" cy="190500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7" name="Line 9"/>
          <p:cNvSpPr>
            <a:spLocks noChangeShapeType="1"/>
          </p:cNvSpPr>
          <p:nvPr/>
        </p:nvSpPr>
        <p:spPr bwMode="auto">
          <a:xfrm flipH="1">
            <a:off x="1600200" y="3886200"/>
            <a:ext cx="1905000" cy="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38" name="Text Box 10"/>
          <p:cNvSpPr txBox="1">
            <a:spLocks noChangeArrowheads="1"/>
          </p:cNvSpPr>
          <p:nvPr/>
        </p:nvSpPr>
        <p:spPr bwMode="auto">
          <a:xfrm>
            <a:off x="3200400" y="5791200"/>
            <a:ext cx="4921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t</a:t>
            </a:r>
            <a:r>
              <a:rPr lang="en-US" altLang="zh-CN" sz="3200" baseline="-25000">
                <a:solidFill>
                  <a:srgbClr val="FF0066"/>
                </a:solidFill>
              </a:rPr>
              <a:t>0</a:t>
            </a:r>
            <a:endParaRPr lang="en-US" altLang="zh-CN" sz="3200" baseline="0">
              <a:solidFill>
                <a:srgbClr val="FF0066"/>
              </a:solidFill>
            </a:endParaRPr>
          </a:p>
        </p:txBody>
      </p:sp>
      <p:sp>
        <p:nvSpPr>
          <p:cNvPr id="22539" name="Text Box 11"/>
          <p:cNvSpPr txBox="1">
            <a:spLocks noChangeArrowheads="1"/>
          </p:cNvSpPr>
          <p:nvPr/>
        </p:nvSpPr>
        <p:spPr bwMode="auto">
          <a:xfrm>
            <a:off x="4953000" y="5791200"/>
            <a:ext cx="4524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t</a:t>
            </a:r>
            <a:r>
              <a:rPr lang="en-US" altLang="zh-CN" sz="3200" baseline="-25000">
                <a:solidFill>
                  <a:srgbClr val="FF0066"/>
                </a:solidFill>
              </a:rPr>
              <a:t>1</a:t>
            </a:r>
            <a:endParaRPr lang="en-US" altLang="zh-CN" sz="3200" baseline="0">
              <a:solidFill>
                <a:srgbClr val="FF0066"/>
              </a:solidFill>
            </a:endParaRPr>
          </a:p>
        </p:txBody>
      </p:sp>
      <p:sp>
        <p:nvSpPr>
          <p:cNvPr id="22540" name="Text Box 13"/>
          <p:cNvSpPr txBox="1">
            <a:spLocks noChangeArrowheads="1"/>
          </p:cNvSpPr>
          <p:nvPr/>
        </p:nvSpPr>
        <p:spPr bwMode="auto">
          <a:xfrm>
            <a:off x="6705600" y="2819400"/>
            <a:ext cx="7937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2000" baseline="0">
                <a:solidFill>
                  <a:srgbClr val="FF0066"/>
                </a:solidFill>
                <a:latin typeface="Courier New" panose="02070309020205020404" pitchFamily="49" charset="0"/>
                <a:ea typeface="宋体" panose="02010600030101010101" pitchFamily="2" charset="-122"/>
              </a:rPr>
              <a:t>f(t)</a:t>
            </a:r>
          </a:p>
        </p:txBody>
      </p:sp>
      <p:sp>
        <p:nvSpPr>
          <p:cNvPr id="22541" name="Line 14"/>
          <p:cNvSpPr>
            <a:spLocks noChangeShapeType="1"/>
          </p:cNvSpPr>
          <p:nvPr/>
        </p:nvSpPr>
        <p:spPr bwMode="auto">
          <a:xfrm flipH="1">
            <a:off x="5715000" y="3048000"/>
            <a:ext cx="990600" cy="152400"/>
          </a:xfrm>
          <a:prstGeom prst="line">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23" name="Text Box 15"/>
          <p:cNvSpPr txBox="1">
            <a:spLocks noChangeArrowheads="1"/>
          </p:cNvSpPr>
          <p:nvPr/>
        </p:nvSpPr>
        <p:spPr bwMode="auto">
          <a:xfrm>
            <a:off x="2514600" y="2011363"/>
            <a:ext cx="6324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baseline="0">
                <a:solidFill>
                  <a:schemeClr val="tx1"/>
                </a:solidFill>
                <a:latin typeface="Courier New" panose="02070309020205020404" pitchFamily="49" charset="0"/>
                <a:ea typeface="宋体" panose="02010600030101010101" pitchFamily="2" charset="-122"/>
              </a:rPr>
              <a:t>∫</a:t>
            </a:r>
            <a:r>
              <a:rPr lang="en-US" altLang="zh-CN">
                <a:solidFill>
                  <a:schemeClr val="tx1"/>
                </a:solidFill>
                <a:latin typeface="Courier New" panose="02070309020205020404" pitchFamily="49" charset="0"/>
                <a:ea typeface="宋体" panose="02010600030101010101" pitchFamily="2" charset="-122"/>
              </a:rPr>
              <a:t>t1</a:t>
            </a:r>
            <a:r>
              <a:rPr lang="en-US" altLang="zh-CN" baseline="-25000">
                <a:solidFill>
                  <a:schemeClr val="tx1"/>
                </a:solidFill>
                <a:latin typeface="Courier New" panose="02070309020205020404" pitchFamily="49" charset="0"/>
                <a:ea typeface="宋体" panose="02010600030101010101" pitchFamily="2" charset="-122"/>
              </a:rPr>
              <a:t>t0</a:t>
            </a:r>
            <a:r>
              <a:rPr lang="en-US" altLang="zh-CN" baseline="0">
                <a:solidFill>
                  <a:schemeClr val="tx1"/>
                </a:solidFill>
                <a:latin typeface="Courier New" panose="02070309020205020404" pitchFamily="49" charset="0"/>
                <a:ea typeface="宋体" panose="02010600030101010101" pitchFamily="2" charset="-122"/>
              </a:rPr>
              <a:t>f</a:t>
            </a:r>
            <a:r>
              <a:rPr lang="zh-CN" altLang="en-US" baseline="0">
                <a:solidFill>
                  <a:schemeClr val="tx1"/>
                </a:solidFill>
                <a:latin typeface="Courier New" panose="02070309020205020404" pitchFamily="49" charset="0"/>
                <a:ea typeface="宋体" panose="02010600030101010101" pitchFamily="2" charset="-122"/>
              </a:rPr>
              <a:t>［</a:t>
            </a:r>
            <a:r>
              <a:rPr lang="en-US" altLang="zh-CN" baseline="0">
                <a:solidFill>
                  <a:schemeClr val="tx1"/>
                </a:solidFill>
                <a:latin typeface="Courier New" panose="02070309020205020404" pitchFamily="49" charset="0"/>
                <a:ea typeface="宋体" panose="02010600030101010101" pitchFamily="2" charset="-122"/>
              </a:rPr>
              <a:t>t,y(t)</a:t>
            </a:r>
            <a:r>
              <a:rPr lang="zh-CN" altLang="en-US" baseline="0">
                <a:solidFill>
                  <a:schemeClr val="tx1"/>
                </a:solidFill>
                <a:latin typeface="Courier New" panose="02070309020205020404" pitchFamily="49" charset="0"/>
                <a:ea typeface="宋体" panose="02010600030101010101" pitchFamily="2" charset="-122"/>
              </a:rPr>
              <a:t>］</a:t>
            </a:r>
            <a:r>
              <a:rPr lang="en-US" altLang="zh-CN" baseline="0">
                <a:solidFill>
                  <a:schemeClr val="tx1"/>
                </a:solidFill>
                <a:latin typeface="Courier New" panose="02070309020205020404" pitchFamily="49" charset="0"/>
                <a:ea typeface="宋体" panose="02010600030101010101" pitchFamily="2" charset="-122"/>
              </a:rPr>
              <a:t>dt </a:t>
            </a:r>
            <a:r>
              <a:rPr lang="en-US" altLang="zh-CN" baseline="0">
                <a:solidFill>
                  <a:schemeClr val="tx1"/>
                </a:solidFill>
                <a:latin typeface="Courier New" panose="02070309020205020404" pitchFamily="49" charset="0"/>
                <a:ea typeface="宋体" panose="02010600030101010101" pitchFamily="2" charset="-122"/>
                <a:sym typeface="Symbol" panose="05050102010706020507" pitchFamily="18" charset="2"/>
              </a:rPr>
              <a:t> </a:t>
            </a:r>
            <a:r>
              <a:rPr lang="en-US" altLang="zh-CN" baseline="0">
                <a:solidFill>
                  <a:schemeClr val="tx1"/>
                </a:solidFill>
                <a:latin typeface="Courier New" panose="02070309020205020404" pitchFamily="49" charset="0"/>
                <a:ea typeface="宋体" panose="02010600030101010101" pitchFamily="2" charset="-122"/>
              </a:rPr>
              <a:t>f(t</a:t>
            </a:r>
            <a:r>
              <a:rPr lang="en-US" altLang="zh-CN" baseline="-25000">
                <a:solidFill>
                  <a:schemeClr val="tx1"/>
                </a:solidFill>
                <a:latin typeface="Courier New" panose="02070309020205020404" pitchFamily="49" charset="0"/>
                <a:ea typeface="宋体" panose="02010600030101010101" pitchFamily="2" charset="-122"/>
              </a:rPr>
              <a:t>0</a:t>
            </a:r>
            <a:r>
              <a:rPr lang="en-US" altLang="zh-CN" baseline="0">
                <a:solidFill>
                  <a:schemeClr val="tx1"/>
                </a:solidFill>
                <a:latin typeface="Courier New" panose="02070309020205020404" pitchFamily="49" charset="0"/>
                <a:ea typeface="宋体" panose="02010600030101010101" pitchFamily="2" charset="-122"/>
              </a:rPr>
              <a:t>,y</a:t>
            </a:r>
            <a:r>
              <a:rPr lang="en-US" altLang="zh-CN" baseline="-25000">
                <a:solidFill>
                  <a:schemeClr val="tx1"/>
                </a:solidFill>
                <a:latin typeface="Courier New" panose="02070309020205020404" pitchFamily="49" charset="0"/>
                <a:ea typeface="宋体" panose="02010600030101010101" pitchFamily="2" charset="-122"/>
              </a:rPr>
              <a:t>0</a:t>
            </a:r>
            <a:r>
              <a:rPr lang="en-US" altLang="zh-CN" baseline="0">
                <a:solidFill>
                  <a:schemeClr val="tx1"/>
                </a:solidFill>
                <a:latin typeface="Courier New" panose="02070309020205020404" pitchFamily="49" charset="0"/>
                <a:ea typeface="宋体" panose="02010600030101010101" pitchFamily="2" charset="-122"/>
              </a:rPr>
              <a:t>)(t</a:t>
            </a:r>
            <a:r>
              <a:rPr lang="en-US" altLang="zh-CN" baseline="-25000">
                <a:solidFill>
                  <a:schemeClr val="tx1"/>
                </a:solidFill>
                <a:latin typeface="Courier New" panose="02070309020205020404" pitchFamily="49" charset="0"/>
                <a:ea typeface="宋体" panose="02010600030101010101" pitchFamily="2" charset="-122"/>
              </a:rPr>
              <a:t>1</a:t>
            </a:r>
            <a:r>
              <a:rPr lang="en-US" altLang="zh-CN" baseline="0">
                <a:solidFill>
                  <a:schemeClr val="tx1"/>
                </a:solidFill>
                <a:latin typeface="Courier New" panose="02070309020205020404" pitchFamily="49" charset="0"/>
                <a:ea typeface="宋体" panose="02010600030101010101" pitchFamily="2" charset="-122"/>
              </a:rPr>
              <a:t>-t</a:t>
            </a:r>
            <a:r>
              <a:rPr lang="en-US" altLang="zh-CN" baseline="-25000">
                <a:solidFill>
                  <a:schemeClr val="tx1"/>
                </a:solidFill>
                <a:latin typeface="Courier New" panose="02070309020205020404" pitchFamily="49" charset="0"/>
                <a:ea typeface="宋体" panose="02010600030101010101" pitchFamily="2" charset="-122"/>
              </a:rPr>
              <a:t>0</a:t>
            </a:r>
            <a:r>
              <a:rPr lang="en-US" altLang="zh-CN" baseline="0">
                <a:solidFill>
                  <a:schemeClr val="tx1"/>
                </a:solidFill>
                <a:latin typeface="Courier New" panose="02070309020205020404" pitchFamily="49" charset="0"/>
                <a:ea typeface="宋体" panose="02010600030101010101" pitchFamily="2" charset="-122"/>
              </a:rPr>
              <a:t>) </a:t>
            </a:r>
          </a:p>
        </p:txBody>
      </p:sp>
      <p:sp>
        <p:nvSpPr>
          <p:cNvPr id="22543" name="Line 16"/>
          <p:cNvSpPr>
            <a:spLocks noChangeShapeType="1"/>
          </p:cNvSpPr>
          <p:nvPr/>
        </p:nvSpPr>
        <p:spPr bwMode="auto">
          <a:xfrm flipH="1">
            <a:off x="1524000" y="3048000"/>
            <a:ext cx="3657600" cy="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4" name="Text Box 17"/>
          <p:cNvSpPr txBox="1">
            <a:spLocks noChangeArrowheads="1"/>
          </p:cNvSpPr>
          <p:nvPr/>
        </p:nvSpPr>
        <p:spPr bwMode="auto">
          <a:xfrm>
            <a:off x="152400" y="2819400"/>
            <a:ext cx="152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baseline="0">
                <a:solidFill>
                  <a:srgbClr val="FF0066"/>
                </a:solidFill>
                <a:latin typeface="Courier New" panose="02070309020205020404" pitchFamily="49" charset="0"/>
                <a:ea typeface="宋体" panose="02010600030101010101" pitchFamily="2" charset="-122"/>
              </a:rPr>
              <a:t>f(t</a:t>
            </a:r>
            <a:r>
              <a:rPr lang="en-US" altLang="zh-CN" baseline="-25000">
                <a:solidFill>
                  <a:srgbClr val="FF0066"/>
                </a:solidFill>
                <a:latin typeface="Courier New" panose="02070309020205020404" pitchFamily="49" charset="0"/>
                <a:ea typeface="宋体" panose="02010600030101010101" pitchFamily="2" charset="-122"/>
              </a:rPr>
              <a:t>1</a:t>
            </a:r>
            <a:r>
              <a:rPr lang="en-US" altLang="zh-CN" baseline="0">
                <a:solidFill>
                  <a:srgbClr val="FF0066"/>
                </a:solidFill>
                <a:latin typeface="Courier New" panose="02070309020205020404" pitchFamily="49" charset="0"/>
                <a:ea typeface="宋体" panose="02010600030101010101" pitchFamily="2" charset="-122"/>
              </a:rPr>
              <a:t>,y</a:t>
            </a:r>
            <a:r>
              <a:rPr lang="en-US" altLang="zh-CN" baseline="-25000">
                <a:solidFill>
                  <a:srgbClr val="FF0066"/>
                </a:solidFill>
                <a:latin typeface="Courier New" panose="02070309020205020404" pitchFamily="49" charset="0"/>
                <a:ea typeface="宋体" panose="02010600030101010101" pitchFamily="2" charset="-122"/>
              </a:rPr>
              <a:t>1</a:t>
            </a:r>
            <a:r>
              <a:rPr lang="en-US" altLang="zh-CN" baseline="0">
                <a:solidFill>
                  <a:srgbClr val="FF0066"/>
                </a:solidFill>
                <a:latin typeface="Courier New" panose="02070309020205020404" pitchFamily="49" charset="0"/>
                <a:ea typeface="宋体" panose="02010600030101010101" pitchFamily="2" charset="-122"/>
              </a:rPr>
              <a:t>)</a:t>
            </a:r>
            <a:endParaRPr lang="en-US" altLang="zh-CN" b="0" baseline="-25000">
              <a:solidFill>
                <a:schemeClr val="tx1"/>
              </a:solidFill>
              <a:latin typeface="Courier New" panose="02070309020205020404" pitchFamily="49" charset="0"/>
              <a:ea typeface="宋体" panose="02010600030101010101" pitchFamily="2" charset="-122"/>
            </a:endParaRPr>
          </a:p>
        </p:txBody>
      </p:sp>
      <p:sp>
        <p:nvSpPr>
          <p:cNvPr id="22545" name="Text Box 18"/>
          <p:cNvSpPr txBox="1">
            <a:spLocks noChangeArrowheads="1"/>
          </p:cNvSpPr>
          <p:nvPr/>
        </p:nvSpPr>
        <p:spPr bwMode="auto">
          <a:xfrm>
            <a:off x="4022725" y="4967288"/>
            <a:ext cx="7016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1800" baseline="0">
                <a:solidFill>
                  <a:srgbClr val="FF0066"/>
                </a:solidFill>
                <a:sym typeface="Symbol" panose="05050102010706020507" pitchFamily="18" charset="2"/>
              </a:rPr>
              <a:t></a:t>
            </a:r>
            <a:r>
              <a:rPr lang="en-US" altLang="zh-CN" baseline="0">
                <a:solidFill>
                  <a:srgbClr val="FF0066"/>
                </a:solidFill>
                <a:sym typeface="MapInfo Weather" pitchFamily="18" charset="2"/>
              </a:rPr>
              <a:t>t</a:t>
            </a:r>
            <a:endParaRPr lang="en-US" altLang="zh-CN" sz="3200" baseline="0">
              <a:solidFill>
                <a:srgbClr val="FF0066"/>
              </a:solidFill>
            </a:endParaRPr>
          </a:p>
        </p:txBody>
      </p:sp>
      <p:sp>
        <p:nvSpPr>
          <p:cNvPr id="22546" name="Line 19"/>
          <p:cNvSpPr>
            <a:spLocks noChangeShapeType="1"/>
          </p:cNvSpPr>
          <p:nvPr/>
        </p:nvSpPr>
        <p:spPr bwMode="auto">
          <a:xfrm flipH="1">
            <a:off x="3505200" y="5257800"/>
            <a:ext cx="609600" cy="0"/>
          </a:xfrm>
          <a:prstGeom prst="line">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7" name="Line 20"/>
          <p:cNvSpPr>
            <a:spLocks noChangeShapeType="1"/>
          </p:cNvSpPr>
          <p:nvPr/>
        </p:nvSpPr>
        <p:spPr bwMode="auto">
          <a:xfrm>
            <a:off x="4648200" y="5257800"/>
            <a:ext cx="457200" cy="0"/>
          </a:xfrm>
          <a:prstGeom prst="line">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8" name="Line 21"/>
          <p:cNvSpPr>
            <a:spLocks noChangeShapeType="1"/>
          </p:cNvSpPr>
          <p:nvPr/>
        </p:nvSpPr>
        <p:spPr bwMode="auto">
          <a:xfrm>
            <a:off x="5181600" y="3048000"/>
            <a:ext cx="0" cy="274320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9" name="Text Box 22"/>
          <p:cNvSpPr txBox="1">
            <a:spLocks noChangeArrowheads="1"/>
          </p:cNvSpPr>
          <p:nvPr/>
        </p:nvSpPr>
        <p:spPr bwMode="auto">
          <a:xfrm>
            <a:off x="7848600" y="5334000"/>
            <a:ext cx="31908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t</a:t>
            </a:r>
          </a:p>
        </p:txBody>
      </p:sp>
      <p:sp>
        <p:nvSpPr>
          <p:cNvPr id="22550" name="Text Box 23"/>
          <p:cNvSpPr txBox="1">
            <a:spLocks noChangeArrowheads="1"/>
          </p:cNvSpPr>
          <p:nvPr/>
        </p:nvSpPr>
        <p:spPr bwMode="auto">
          <a:xfrm>
            <a:off x="152400" y="3581400"/>
            <a:ext cx="152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baseline="0">
                <a:solidFill>
                  <a:srgbClr val="FF0066"/>
                </a:solidFill>
                <a:latin typeface="Courier New" panose="02070309020205020404" pitchFamily="49" charset="0"/>
                <a:ea typeface="宋体" panose="02010600030101010101" pitchFamily="2" charset="-122"/>
              </a:rPr>
              <a:t>f(t</a:t>
            </a:r>
            <a:r>
              <a:rPr lang="en-US" altLang="zh-CN" baseline="-25000">
                <a:solidFill>
                  <a:srgbClr val="FF0066"/>
                </a:solidFill>
                <a:latin typeface="Courier New" panose="02070309020205020404" pitchFamily="49" charset="0"/>
                <a:ea typeface="宋体" panose="02010600030101010101" pitchFamily="2" charset="-122"/>
              </a:rPr>
              <a:t>0</a:t>
            </a:r>
            <a:r>
              <a:rPr lang="en-US" altLang="zh-CN" baseline="0">
                <a:solidFill>
                  <a:srgbClr val="FF0066"/>
                </a:solidFill>
                <a:latin typeface="Courier New" panose="02070309020205020404" pitchFamily="49" charset="0"/>
                <a:ea typeface="宋体" panose="02010600030101010101" pitchFamily="2" charset="-122"/>
              </a:rPr>
              <a:t>,y</a:t>
            </a:r>
            <a:r>
              <a:rPr lang="en-US" altLang="zh-CN" baseline="-25000">
                <a:solidFill>
                  <a:srgbClr val="FF0066"/>
                </a:solidFill>
                <a:latin typeface="Courier New" panose="02070309020205020404" pitchFamily="49" charset="0"/>
                <a:ea typeface="宋体" panose="02010600030101010101" pitchFamily="2" charset="-122"/>
              </a:rPr>
              <a:t>0</a:t>
            </a:r>
            <a:r>
              <a:rPr lang="en-US" altLang="zh-CN" baseline="0">
                <a:solidFill>
                  <a:srgbClr val="FF0066"/>
                </a:solidFill>
                <a:latin typeface="Courier New" panose="02070309020205020404" pitchFamily="49" charset="0"/>
                <a:ea typeface="宋体" panose="02010600030101010101" pitchFamily="2" charset="-122"/>
              </a:rPr>
              <a:t>)</a:t>
            </a:r>
            <a:endParaRPr lang="en-US" altLang="zh-CN" b="0" baseline="-25000">
              <a:solidFill>
                <a:schemeClr val="tx1"/>
              </a:solidFill>
              <a:latin typeface="Courier New" panose="02070309020205020404" pitchFamily="49" charset="0"/>
              <a:ea typeface="宋体" panose="02010600030101010101" pitchFamily="2" charset="-122"/>
            </a:endParaRPr>
          </a:p>
        </p:txBody>
      </p:sp>
      <p:sp>
        <p:nvSpPr>
          <p:cNvPr id="145433" name="AutoShape 25"/>
          <p:cNvSpPr>
            <a:spLocks noChangeArrowheads="1"/>
          </p:cNvSpPr>
          <p:nvPr/>
        </p:nvSpPr>
        <p:spPr bwMode="auto">
          <a:xfrm>
            <a:off x="5410200" y="3962400"/>
            <a:ext cx="3124200" cy="1295400"/>
          </a:xfrm>
          <a:prstGeom prst="cloudCallout">
            <a:avLst>
              <a:gd name="adj1" fmla="val -64125"/>
              <a:gd name="adj2" fmla="val 15440"/>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2800" baseline="0" dirty="0">
                <a:solidFill>
                  <a:srgbClr val="0D17D7"/>
                </a:solidFill>
              </a:rPr>
              <a:t>以矩形面积逼近</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FF32BCEF-C53E-4937-9E62-28389E769DD4}" type="slidenum">
              <a:rPr lang="en-US" altLang="zh-CN" sz="1400" b="0" baseline="0">
                <a:solidFill>
                  <a:schemeClr val="tx1"/>
                </a:solidFill>
                <a:ea typeface="宋体" panose="02010600030101010101" pitchFamily="2" charset="-122"/>
              </a:rPr>
              <a:pPr eaLnBrk="1" hangingPunct="1"/>
              <a:t>61</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5685098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5433"/>
                                        </p:tgtEl>
                                        <p:attrNameLst>
                                          <p:attrName>style.visibility</p:attrName>
                                        </p:attrNameLst>
                                      </p:cBhvr>
                                      <p:to>
                                        <p:strVal val="visible"/>
                                      </p:to>
                                    </p:set>
                                    <p:anim calcmode="lin" valueType="num">
                                      <p:cBhvr additive="base">
                                        <p:cTn id="7" dur="500" fill="hold"/>
                                        <p:tgtEl>
                                          <p:spTgt spid="145433"/>
                                        </p:tgtEl>
                                        <p:attrNameLst>
                                          <p:attrName>ppt_x</p:attrName>
                                        </p:attrNameLst>
                                      </p:cBhvr>
                                      <p:tavLst>
                                        <p:tav tm="0">
                                          <p:val>
                                            <p:strVal val="1+#ppt_w/2"/>
                                          </p:val>
                                        </p:tav>
                                        <p:tav tm="100000">
                                          <p:val>
                                            <p:strVal val="#ppt_x"/>
                                          </p:val>
                                        </p:tav>
                                      </p:tavLst>
                                    </p:anim>
                                    <p:anim calcmode="lin" valueType="num">
                                      <p:cBhvr additive="base">
                                        <p:cTn id="8" dur="500" fill="hold"/>
                                        <p:tgtEl>
                                          <p:spTgt spid="14543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45423"/>
                                        </p:tgtEl>
                                        <p:attrNameLst>
                                          <p:attrName>style.visibility</p:attrName>
                                        </p:attrNameLst>
                                      </p:cBhvr>
                                      <p:to>
                                        <p:strVal val="visible"/>
                                      </p:to>
                                    </p:set>
                                    <p:anim calcmode="lin" valueType="num">
                                      <p:cBhvr additive="base">
                                        <p:cTn id="12" dur="500" fill="hold"/>
                                        <p:tgtEl>
                                          <p:spTgt spid="145423"/>
                                        </p:tgtEl>
                                        <p:attrNameLst>
                                          <p:attrName>ppt_x</p:attrName>
                                        </p:attrNameLst>
                                      </p:cBhvr>
                                      <p:tavLst>
                                        <p:tav tm="0">
                                          <p:val>
                                            <p:strVal val="1+#ppt_w/2"/>
                                          </p:val>
                                        </p:tav>
                                        <p:tav tm="100000">
                                          <p:val>
                                            <p:strVal val="#ppt_x"/>
                                          </p:val>
                                        </p:tav>
                                      </p:tavLst>
                                    </p:anim>
                                    <p:anim calcmode="lin" valueType="num">
                                      <p:cBhvr additive="base">
                                        <p:cTn id="13" dur="500" fill="hold"/>
                                        <p:tgtEl>
                                          <p:spTgt spid="1454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23" grpId="0" autoUpdateAnimBg="0"/>
      <p:bldP spid="145433"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reeform 22"/>
          <p:cNvSpPr>
            <a:spLocks/>
          </p:cNvSpPr>
          <p:nvPr/>
        </p:nvSpPr>
        <p:spPr bwMode="auto">
          <a:xfrm>
            <a:off x="3554413" y="3048000"/>
            <a:ext cx="1703387" cy="2743200"/>
          </a:xfrm>
          <a:custGeom>
            <a:avLst/>
            <a:gdLst>
              <a:gd name="T0" fmla="*/ 1703387 w 1073"/>
              <a:gd name="T1" fmla="*/ 2743200 h 1728"/>
              <a:gd name="T2" fmla="*/ 1703387 w 1073"/>
              <a:gd name="T3" fmla="*/ 0 h 1728"/>
              <a:gd name="T4" fmla="*/ 26987 w 1073"/>
              <a:gd name="T5" fmla="*/ 838200 h 1728"/>
              <a:gd name="T6" fmla="*/ 0 w 1073"/>
              <a:gd name="T7" fmla="*/ 2732088 h 1728"/>
              <a:gd name="T8" fmla="*/ 1703387 w 1073"/>
              <a:gd name="T9" fmla="*/ 2743200 h 17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73" h="1728">
                <a:moveTo>
                  <a:pt x="1073" y="1728"/>
                </a:moveTo>
                <a:lnTo>
                  <a:pt x="1073" y="0"/>
                </a:lnTo>
                <a:lnTo>
                  <a:pt x="17" y="528"/>
                </a:lnTo>
                <a:lnTo>
                  <a:pt x="0" y="1721"/>
                </a:lnTo>
                <a:lnTo>
                  <a:pt x="1073" y="1728"/>
                </a:lnTo>
                <a:close/>
              </a:path>
            </a:pathLst>
          </a:custGeom>
          <a:solidFill>
            <a:schemeClr val="accent1"/>
          </a:solidFill>
          <a:ln w="38100" cap="flat" cmpd="sng">
            <a:solidFill>
              <a:schemeClr val="accent2"/>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5" name="Rectangle 3"/>
          <p:cNvSpPr>
            <a:spLocks noGrp="1" noChangeArrowheads="1"/>
          </p:cNvSpPr>
          <p:nvPr>
            <p:ph type="title"/>
          </p:nvPr>
        </p:nvSpPr>
        <p:spPr>
          <a:xfrm>
            <a:off x="685800" y="609600"/>
            <a:ext cx="2895600" cy="685800"/>
          </a:xfr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p:spPr>
        <p:txBody>
          <a:bodyPr>
            <a:flatTx/>
          </a:bodyPr>
          <a:lstStyle/>
          <a:p>
            <a:pPr algn="l" eaLnBrk="1" hangingPunct="1"/>
            <a:r>
              <a:rPr lang="en-US" altLang="zh-CN" sz="3200" b="1">
                <a:solidFill>
                  <a:srgbClr val="FF0066"/>
                </a:solidFill>
                <a:ea typeface="楷体_GB2312" pitchFamily="49" charset="-122"/>
              </a:rPr>
              <a:t>2</a:t>
            </a:r>
            <a:r>
              <a:rPr lang="zh-CN" altLang="en-US" sz="3200" b="1">
                <a:solidFill>
                  <a:srgbClr val="FF0066"/>
                </a:solidFill>
                <a:ea typeface="楷体_GB2312" pitchFamily="49" charset="-122"/>
              </a:rPr>
              <a:t>、梯形法原理</a:t>
            </a:r>
          </a:p>
        </p:txBody>
      </p:sp>
      <p:sp>
        <p:nvSpPr>
          <p:cNvPr id="23556" name="Rectangle 4"/>
          <p:cNvSpPr>
            <a:spLocks noGrp="1" noChangeArrowheads="1"/>
          </p:cNvSpPr>
          <p:nvPr>
            <p:ph type="body" idx="1"/>
          </p:nvPr>
        </p:nvSpPr>
        <p:spPr>
          <a:xfrm>
            <a:off x="4572000" y="533400"/>
            <a:ext cx="3581400" cy="990600"/>
          </a:xfrm>
          <a:solidFill>
            <a:srgbClr val="FFFF99"/>
          </a:solidFill>
        </p:spPr>
        <p:txBody>
          <a:bodyPr/>
          <a:lstStyle/>
          <a:p>
            <a:pPr algn="just" eaLnBrk="1" hangingPunct="1">
              <a:buFontTx/>
              <a:buNone/>
            </a:pPr>
            <a:r>
              <a:rPr lang="en-US" altLang="zh-CN">
                <a:latin typeface="Courier New" panose="02070309020205020404" pitchFamily="49" charset="0"/>
              </a:rPr>
              <a:t> </a:t>
            </a:r>
            <a:r>
              <a:rPr lang="en-US" altLang="zh-CN" sz="2800" b="1">
                <a:solidFill>
                  <a:srgbClr val="FF0066"/>
                </a:solidFill>
                <a:latin typeface="Courier New" panose="02070309020205020404" pitchFamily="49" charset="0"/>
              </a:rPr>
              <a:t>dy/dt</a:t>
            </a:r>
            <a:r>
              <a:rPr lang="zh-CN" altLang="en-US" sz="2800" b="1">
                <a:solidFill>
                  <a:srgbClr val="FF0066"/>
                </a:solidFill>
                <a:latin typeface="Courier New" panose="02070309020205020404" pitchFamily="49" charset="0"/>
              </a:rPr>
              <a:t>＝</a:t>
            </a:r>
            <a:r>
              <a:rPr lang="en-US" altLang="zh-CN" sz="2800" b="1">
                <a:solidFill>
                  <a:srgbClr val="FF0066"/>
                </a:solidFill>
                <a:latin typeface="Courier New" panose="02070309020205020404" pitchFamily="49" charset="0"/>
              </a:rPr>
              <a:t>f(t,y)</a:t>
            </a:r>
          </a:p>
          <a:p>
            <a:pPr eaLnBrk="1" hangingPunct="1">
              <a:buFontTx/>
              <a:buNone/>
            </a:pPr>
            <a:r>
              <a:rPr lang="en-US" altLang="zh-CN" sz="2800" b="1">
                <a:solidFill>
                  <a:srgbClr val="FF0066"/>
                </a:solidFill>
                <a:latin typeface="Courier New" panose="02070309020205020404" pitchFamily="49" charset="0"/>
              </a:rPr>
              <a:t>  y(t</a:t>
            </a:r>
            <a:r>
              <a:rPr lang="en-US" altLang="zh-CN" sz="2800" b="1" baseline="-25000">
                <a:solidFill>
                  <a:srgbClr val="FF0066"/>
                </a:solidFill>
                <a:latin typeface="Courier New" panose="02070309020205020404" pitchFamily="49" charset="0"/>
              </a:rPr>
              <a:t>0</a:t>
            </a:r>
            <a:r>
              <a:rPr lang="en-US" altLang="zh-CN" sz="2800" b="1">
                <a:solidFill>
                  <a:srgbClr val="FF0066"/>
                </a:solidFill>
                <a:latin typeface="Courier New" panose="02070309020205020404" pitchFamily="49" charset="0"/>
              </a:rPr>
              <a:t>)</a:t>
            </a:r>
            <a:r>
              <a:rPr lang="zh-CN" altLang="en-US" sz="2800" b="1">
                <a:solidFill>
                  <a:srgbClr val="FF0066"/>
                </a:solidFill>
                <a:latin typeface="Courier New" panose="02070309020205020404" pitchFamily="49" charset="0"/>
              </a:rPr>
              <a:t>＝</a:t>
            </a:r>
            <a:r>
              <a:rPr lang="en-US" altLang="zh-CN" sz="2800" b="1">
                <a:solidFill>
                  <a:srgbClr val="FF0066"/>
                </a:solidFill>
                <a:latin typeface="Courier New" panose="02070309020205020404" pitchFamily="49" charset="0"/>
              </a:rPr>
              <a:t>y</a:t>
            </a:r>
            <a:r>
              <a:rPr lang="en-US" altLang="zh-CN" sz="2800" b="1" baseline="-25000">
                <a:solidFill>
                  <a:srgbClr val="FF0066"/>
                </a:solidFill>
                <a:latin typeface="Courier New" panose="02070309020205020404" pitchFamily="49" charset="0"/>
              </a:rPr>
              <a:t>0</a:t>
            </a:r>
            <a:endParaRPr lang="en-US" altLang="zh-CN"/>
          </a:p>
        </p:txBody>
      </p:sp>
      <p:sp>
        <p:nvSpPr>
          <p:cNvPr id="23557" name="Line 5"/>
          <p:cNvSpPr>
            <a:spLocks noChangeShapeType="1"/>
          </p:cNvSpPr>
          <p:nvPr/>
        </p:nvSpPr>
        <p:spPr bwMode="auto">
          <a:xfrm>
            <a:off x="1524000" y="5791200"/>
            <a:ext cx="6096000" cy="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8" name="Line 6"/>
          <p:cNvSpPr>
            <a:spLocks noChangeShapeType="1"/>
          </p:cNvSpPr>
          <p:nvPr/>
        </p:nvSpPr>
        <p:spPr bwMode="auto">
          <a:xfrm flipV="1">
            <a:off x="1600200" y="1828800"/>
            <a:ext cx="0" cy="43434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9" name="Arc 7"/>
          <p:cNvSpPr>
            <a:spLocks/>
          </p:cNvSpPr>
          <p:nvPr/>
        </p:nvSpPr>
        <p:spPr bwMode="auto">
          <a:xfrm rot="-2543936">
            <a:off x="3671888" y="3070225"/>
            <a:ext cx="1905000" cy="1038225"/>
          </a:xfrm>
          <a:custGeom>
            <a:avLst/>
            <a:gdLst>
              <a:gd name="T0" fmla="*/ 0 w 21600"/>
              <a:gd name="T1" fmla="*/ 0 h 28063"/>
              <a:gd name="T2" fmla="*/ 1817688 w 21600"/>
              <a:gd name="T3" fmla="*/ 1038225 h 28063"/>
              <a:gd name="T4" fmla="*/ 0 w 21600"/>
              <a:gd name="T5" fmla="*/ 799118 h 28063"/>
              <a:gd name="T6" fmla="*/ 0 60000 65536"/>
              <a:gd name="T7" fmla="*/ 0 60000 65536"/>
              <a:gd name="T8" fmla="*/ 0 60000 65536"/>
            </a:gdLst>
            <a:ahLst/>
            <a:cxnLst>
              <a:cxn ang="T6">
                <a:pos x="T0" y="T1"/>
              </a:cxn>
              <a:cxn ang="T7">
                <a:pos x="T2" y="T3"/>
              </a:cxn>
              <a:cxn ang="T8">
                <a:pos x="T4" y="T5"/>
              </a:cxn>
            </a:cxnLst>
            <a:rect l="0" t="0" r="r" b="b"/>
            <a:pathLst>
              <a:path w="21600" h="28063" fill="none" extrusionOk="0">
                <a:moveTo>
                  <a:pt x="-1" y="0"/>
                </a:moveTo>
                <a:cubicBezTo>
                  <a:pt x="11929" y="0"/>
                  <a:pt x="21600" y="9670"/>
                  <a:pt x="21600" y="21600"/>
                </a:cubicBezTo>
                <a:cubicBezTo>
                  <a:pt x="21600" y="23792"/>
                  <a:pt x="21266" y="25971"/>
                  <a:pt x="20610" y="28063"/>
                </a:cubicBezTo>
              </a:path>
              <a:path w="21600" h="28063" stroke="0" extrusionOk="0">
                <a:moveTo>
                  <a:pt x="-1" y="0"/>
                </a:moveTo>
                <a:cubicBezTo>
                  <a:pt x="11929" y="0"/>
                  <a:pt x="21600" y="9670"/>
                  <a:pt x="21600" y="21600"/>
                </a:cubicBezTo>
                <a:cubicBezTo>
                  <a:pt x="21600" y="23792"/>
                  <a:pt x="21266" y="25971"/>
                  <a:pt x="20610" y="28063"/>
                </a:cubicBezTo>
                <a:lnTo>
                  <a:pt x="0" y="21600"/>
                </a:lnTo>
                <a:lnTo>
                  <a:pt x="-1" y="0"/>
                </a:lnTo>
                <a:close/>
              </a:path>
            </a:pathLst>
          </a:custGeom>
          <a:noFill/>
          <a:ln w="38100">
            <a:solidFill>
              <a:srgbClr val="FF0066"/>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0" name="Line 9"/>
          <p:cNvSpPr>
            <a:spLocks noChangeShapeType="1"/>
          </p:cNvSpPr>
          <p:nvPr/>
        </p:nvSpPr>
        <p:spPr bwMode="auto">
          <a:xfrm flipH="1">
            <a:off x="1600200" y="3886200"/>
            <a:ext cx="1905000" cy="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1" name="Text Box 10"/>
          <p:cNvSpPr txBox="1">
            <a:spLocks noChangeArrowheads="1"/>
          </p:cNvSpPr>
          <p:nvPr/>
        </p:nvSpPr>
        <p:spPr bwMode="auto">
          <a:xfrm>
            <a:off x="3200400" y="5791200"/>
            <a:ext cx="49212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t</a:t>
            </a:r>
            <a:r>
              <a:rPr lang="en-US" altLang="zh-CN" sz="3200" baseline="-25000">
                <a:solidFill>
                  <a:srgbClr val="FF0066"/>
                </a:solidFill>
              </a:rPr>
              <a:t>0</a:t>
            </a:r>
            <a:endParaRPr lang="en-US" altLang="zh-CN" sz="3200" baseline="0">
              <a:solidFill>
                <a:srgbClr val="FF0066"/>
              </a:solidFill>
            </a:endParaRPr>
          </a:p>
        </p:txBody>
      </p:sp>
      <p:sp>
        <p:nvSpPr>
          <p:cNvPr id="23562" name="Text Box 11"/>
          <p:cNvSpPr txBox="1">
            <a:spLocks noChangeArrowheads="1"/>
          </p:cNvSpPr>
          <p:nvPr/>
        </p:nvSpPr>
        <p:spPr bwMode="auto">
          <a:xfrm>
            <a:off x="4953000" y="5791200"/>
            <a:ext cx="45243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t</a:t>
            </a:r>
            <a:r>
              <a:rPr lang="en-US" altLang="zh-CN" sz="3200" baseline="-25000">
                <a:solidFill>
                  <a:srgbClr val="FF0066"/>
                </a:solidFill>
              </a:rPr>
              <a:t>1</a:t>
            </a:r>
            <a:endParaRPr lang="en-US" altLang="zh-CN" sz="3200" baseline="0">
              <a:solidFill>
                <a:srgbClr val="FF0066"/>
              </a:solidFill>
            </a:endParaRPr>
          </a:p>
        </p:txBody>
      </p:sp>
      <p:sp>
        <p:nvSpPr>
          <p:cNvPr id="23563" name="Text Box 13"/>
          <p:cNvSpPr txBox="1">
            <a:spLocks noChangeArrowheads="1"/>
          </p:cNvSpPr>
          <p:nvPr/>
        </p:nvSpPr>
        <p:spPr bwMode="auto">
          <a:xfrm>
            <a:off x="6705600" y="2819400"/>
            <a:ext cx="79375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2000" baseline="0">
                <a:solidFill>
                  <a:srgbClr val="FF0066"/>
                </a:solidFill>
                <a:latin typeface="Courier New" panose="02070309020205020404" pitchFamily="49" charset="0"/>
                <a:ea typeface="宋体" panose="02010600030101010101" pitchFamily="2" charset="-122"/>
              </a:rPr>
              <a:t>f(t)</a:t>
            </a:r>
          </a:p>
        </p:txBody>
      </p:sp>
      <p:sp>
        <p:nvSpPr>
          <p:cNvPr id="23564" name="Line 14"/>
          <p:cNvSpPr>
            <a:spLocks noChangeShapeType="1"/>
          </p:cNvSpPr>
          <p:nvPr/>
        </p:nvSpPr>
        <p:spPr bwMode="auto">
          <a:xfrm flipH="1">
            <a:off x="5715000" y="3048000"/>
            <a:ext cx="990600" cy="152400"/>
          </a:xfrm>
          <a:prstGeom prst="line">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95" name="Text Box 15"/>
          <p:cNvSpPr txBox="1">
            <a:spLocks noChangeArrowheads="1"/>
          </p:cNvSpPr>
          <p:nvPr/>
        </p:nvSpPr>
        <p:spPr bwMode="auto">
          <a:xfrm>
            <a:off x="2057400" y="1784350"/>
            <a:ext cx="6705600"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en-US" altLang="zh-CN" baseline="0">
                <a:solidFill>
                  <a:srgbClr val="663300"/>
                </a:solidFill>
                <a:latin typeface="Courier New" panose="02070309020205020404" pitchFamily="49" charset="0"/>
                <a:ea typeface="宋体" panose="02010600030101010101" pitchFamily="2" charset="-122"/>
              </a:rPr>
              <a:t>∫</a:t>
            </a:r>
            <a:r>
              <a:rPr lang="en-US" altLang="zh-CN">
                <a:solidFill>
                  <a:srgbClr val="663300"/>
                </a:solidFill>
                <a:latin typeface="Courier New" panose="02070309020205020404" pitchFamily="49" charset="0"/>
                <a:ea typeface="宋体" panose="02010600030101010101" pitchFamily="2" charset="-122"/>
              </a:rPr>
              <a:t>t1</a:t>
            </a:r>
            <a:r>
              <a:rPr lang="en-US" altLang="zh-CN" baseline="-25000">
                <a:solidFill>
                  <a:srgbClr val="663300"/>
                </a:solidFill>
                <a:latin typeface="Courier New" panose="02070309020205020404" pitchFamily="49" charset="0"/>
                <a:ea typeface="宋体" panose="02010600030101010101" pitchFamily="2" charset="-122"/>
              </a:rPr>
              <a:t>t0</a:t>
            </a:r>
            <a:r>
              <a:rPr lang="en-US" altLang="zh-CN" baseline="0">
                <a:solidFill>
                  <a:srgbClr val="663300"/>
                </a:solidFill>
                <a:latin typeface="Courier New" panose="02070309020205020404" pitchFamily="49" charset="0"/>
                <a:ea typeface="宋体" panose="02010600030101010101" pitchFamily="2" charset="-122"/>
              </a:rPr>
              <a:t>f(t)dt</a:t>
            </a:r>
            <a:r>
              <a:rPr lang="en-US" altLang="zh-CN" baseline="-25000">
                <a:solidFill>
                  <a:srgbClr val="663300"/>
                </a:solidFill>
                <a:latin typeface="Courier New" panose="02070309020205020404" pitchFamily="49" charset="0"/>
                <a:ea typeface="宋体" panose="02010600030101010101" pitchFamily="2" charset="-122"/>
              </a:rPr>
              <a:t> </a:t>
            </a:r>
            <a:r>
              <a:rPr lang="en-US" altLang="zh-CN" baseline="0">
                <a:solidFill>
                  <a:srgbClr val="663300"/>
                </a:solidFill>
                <a:latin typeface="Courier New" panose="02070309020205020404" pitchFamily="49" charset="0"/>
                <a:ea typeface="宋体" panose="02010600030101010101" pitchFamily="2" charset="-122"/>
                <a:sym typeface="Symbol" panose="05050102010706020507" pitchFamily="18" charset="2"/>
              </a:rPr>
              <a:t></a:t>
            </a:r>
            <a:r>
              <a:rPr lang="en-US" altLang="zh-CN" baseline="0">
                <a:solidFill>
                  <a:srgbClr val="663300"/>
                </a:solidFill>
                <a:latin typeface="Courier New" panose="02070309020205020404" pitchFamily="49" charset="0"/>
                <a:ea typeface="宋体" panose="02010600030101010101" pitchFamily="2" charset="-122"/>
              </a:rPr>
              <a:t> </a:t>
            </a:r>
          </a:p>
          <a:p>
            <a:pPr algn="l" eaLnBrk="1" hangingPunct="1"/>
            <a:r>
              <a:rPr lang="en-US" altLang="zh-CN" baseline="0">
                <a:solidFill>
                  <a:srgbClr val="663300"/>
                </a:solidFill>
                <a:latin typeface="Courier New" panose="02070309020205020404" pitchFamily="49" charset="0"/>
                <a:ea typeface="宋体" panose="02010600030101010101" pitchFamily="2" charset="-122"/>
              </a:rPr>
              <a:t>      1/2*[f(t</a:t>
            </a:r>
            <a:r>
              <a:rPr lang="en-US" altLang="zh-CN" baseline="-25000">
                <a:solidFill>
                  <a:srgbClr val="663300"/>
                </a:solidFill>
                <a:latin typeface="Courier New" panose="02070309020205020404" pitchFamily="49" charset="0"/>
                <a:ea typeface="宋体" panose="02010600030101010101" pitchFamily="2" charset="-122"/>
              </a:rPr>
              <a:t>0</a:t>
            </a:r>
            <a:r>
              <a:rPr lang="en-US" altLang="zh-CN" baseline="0">
                <a:solidFill>
                  <a:srgbClr val="663300"/>
                </a:solidFill>
                <a:latin typeface="Courier New" panose="02070309020205020404" pitchFamily="49" charset="0"/>
                <a:ea typeface="宋体" panose="02010600030101010101" pitchFamily="2" charset="-122"/>
              </a:rPr>
              <a:t>,y</a:t>
            </a:r>
            <a:r>
              <a:rPr lang="en-US" altLang="zh-CN" baseline="-25000">
                <a:solidFill>
                  <a:srgbClr val="663300"/>
                </a:solidFill>
                <a:latin typeface="Courier New" panose="02070309020205020404" pitchFamily="49" charset="0"/>
                <a:ea typeface="宋体" panose="02010600030101010101" pitchFamily="2" charset="-122"/>
              </a:rPr>
              <a:t>0</a:t>
            </a:r>
            <a:r>
              <a:rPr lang="en-US" altLang="zh-CN" baseline="0">
                <a:solidFill>
                  <a:srgbClr val="663300"/>
                </a:solidFill>
                <a:latin typeface="Courier New" panose="02070309020205020404" pitchFamily="49" charset="0"/>
                <a:ea typeface="宋体" panose="02010600030101010101" pitchFamily="2" charset="-122"/>
              </a:rPr>
              <a:t>)+ f(t</a:t>
            </a:r>
            <a:r>
              <a:rPr lang="en-US" altLang="zh-CN" baseline="-25000">
                <a:solidFill>
                  <a:srgbClr val="663300"/>
                </a:solidFill>
                <a:latin typeface="Courier New" panose="02070309020205020404" pitchFamily="49" charset="0"/>
                <a:ea typeface="宋体" panose="02010600030101010101" pitchFamily="2" charset="-122"/>
              </a:rPr>
              <a:t>1</a:t>
            </a:r>
            <a:r>
              <a:rPr lang="en-US" altLang="zh-CN" baseline="0">
                <a:solidFill>
                  <a:srgbClr val="663300"/>
                </a:solidFill>
                <a:latin typeface="Courier New" panose="02070309020205020404" pitchFamily="49" charset="0"/>
                <a:ea typeface="宋体" panose="02010600030101010101" pitchFamily="2" charset="-122"/>
              </a:rPr>
              <a:t>,y</a:t>
            </a:r>
            <a:r>
              <a:rPr lang="en-US" altLang="zh-CN" baseline="-25000">
                <a:solidFill>
                  <a:srgbClr val="663300"/>
                </a:solidFill>
                <a:latin typeface="Courier New" panose="02070309020205020404" pitchFamily="49" charset="0"/>
                <a:ea typeface="宋体" panose="02010600030101010101" pitchFamily="2" charset="-122"/>
              </a:rPr>
              <a:t>1</a:t>
            </a:r>
            <a:r>
              <a:rPr lang="en-US" altLang="zh-CN" baseline="0">
                <a:solidFill>
                  <a:srgbClr val="663300"/>
                </a:solidFill>
                <a:latin typeface="Courier New" panose="02070309020205020404" pitchFamily="49" charset="0"/>
                <a:ea typeface="宋体" panose="02010600030101010101" pitchFamily="2" charset="-122"/>
              </a:rPr>
              <a:t>)]*(t</a:t>
            </a:r>
            <a:r>
              <a:rPr lang="en-US" altLang="zh-CN" baseline="-25000">
                <a:solidFill>
                  <a:srgbClr val="663300"/>
                </a:solidFill>
                <a:latin typeface="Courier New" panose="02070309020205020404" pitchFamily="49" charset="0"/>
                <a:ea typeface="宋体" panose="02010600030101010101" pitchFamily="2" charset="-122"/>
              </a:rPr>
              <a:t>1</a:t>
            </a:r>
            <a:r>
              <a:rPr lang="en-US" altLang="zh-CN" baseline="0">
                <a:solidFill>
                  <a:srgbClr val="663300"/>
                </a:solidFill>
                <a:latin typeface="Courier New" panose="02070309020205020404" pitchFamily="49" charset="0"/>
                <a:ea typeface="宋体" panose="02010600030101010101" pitchFamily="2" charset="-122"/>
              </a:rPr>
              <a:t>-t</a:t>
            </a:r>
            <a:r>
              <a:rPr lang="en-US" altLang="zh-CN" baseline="-25000">
                <a:solidFill>
                  <a:srgbClr val="663300"/>
                </a:solidFill>
                <a:latin typeface="Courier New" panose="02070309020205020404" pitchFamily="49" charset="0"/>
                <a:ea typeface="宋体" panose="02010600030101010101" pitchFamily="2" charset="-122"/>
              </a:rPr>
              <a:t>0</a:t>
            </a:r>
            <a:r>
              <a:rPr lang="en-US" altLang="zh-CN" baseline="0">
                <a:solidFill>
                  <a:srgbClr val="663300"/>
                </a:solidFill>
                <a:latin typeface="Courier New" panose="02070309020205020404" pitchFamily="49" charset="0"/>
                <a:ea typeface="宋体" panose="02010600030101010101" pitchFamily="2" charset="-122"/>
              </a:rPr>
              <a:t>)</a:t>
            </a:r>
            <a:r>
              <a:rPr lang="en-US" altLang="zh-CN" baseline="0">
                <a:solidFill>
                  <a:srgbClr val="FF0066"/>
                </a:solidFill>
                <a:latin typeface="Courier New" panose="02070309020205020404" pitchFamily="49" charset="0"/>
                <a:ea typeface="宋体" panose="02010600030101010101" pitchFamily="2" charset="-122"/>
              </a:rPr>
              <a:t> </a:t>
            </a:r>
          </a:p>
        </p:txBody>
      </p:sp>
      <p:sp>
        <p:nvSpPr>
          <p:cNvPr id="23566" name="Line 16"/>
          <p:cNvSpPr>
            <a:spLocks noChangeShapeType="1"/>
          </p:cNvSpPr>
          <p:nvPr/>
        </p:nvSpPr>
        <p:spPr bwMode="auto">
          <a:xfrm flipH="1">
            <a:off x="1524000" y="3048000"/>
            <a:ext cx="3657600" cy="0"/>
          </a:xfrm>
          <a:prstGeom prst="line">
            <a:avLst/>
          </a:prstGeom>
          <a:noFill/>
          <a:ln w="38100">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7" name="Text Box 17"/>
          <p:cNvSpPr txBox="1">
            <a:spLocks noChangeArrowheads="1"/>
          </p:cNvSpPr>
          <p:nvPr/>
        </p:nvSpPr>
        <p:spPr bwMode="auto">
          <a:xfrm>
            <a:off x="152400" y="2819400"/>
            <a:ext cx="152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baseline="0">
                <a:solidFill>
                  <a:srgbClr val="FF0066"/>
                </a:solidFill>
                <a:latin typeface="Courier New" panose="02070309020205020404" pitchFamily="49" charset="0"/>
                <a:ea typeface="宋体" panose="02010600030101010101" pitchFamily="2" charset="-122"/>
              </a:rPr>
              <a:t>f(t</a:t>
            </a:r>
            <a:r>
              <a:rPr lang="en-US" altLang="zh-CN" baseline="-25000">
                <a:solidFill>
                  <a:srgbClr val="FF0066"/>
                </a:solidFill>
                <a:latin typeface="Courier New" panose="02070309020205020404" pitchFamily="49" charset="0"/>
                <a:ea typeface="宋体" panose="02010600030101010101" pitchFamily="2" charset="-122"/>
              </a:rPr>
              <a:t>1</a:t>
            </a:r>
            <a:r>
              <a:rPr lang="en-US" altLang="zh-CN" baseline="0">
                <a:solidFill>
                  <a:srgbClr val="FF0066"/>
                </a:solidFill>
                <a:latin typeface="Courier New" panose="02070309020205020404" pitchFamily="49" charset="0"/>
                <a:ea typeface="宋体" panose="02010600030101010101" pitchFamily="2" charset="-122"/>
              </a:rPr>
              <a:t>,y</a:t>
            </a:r>
            <a:r>
              <a:rPr lang="en-US" altLang="zh-CN" baseline="-25000">
                <a:solidFill>
                  <a:srgbClr val="FF0066"/>
                </a:solidFill>
                <a:latin typeface="Courier New" panose="02070309020205020404" pitchFamily="49" charset="0"/>
                <a:ea typeface="宋体" panose="02010600030101010101" pitchFamily="2" charset="-122"/>
              </a:rPr>
              <a:t>1</a:t>
            </a:r>
            <a:r>
              <a:rPr lang="en-US" altLang="zh-CN" baseline="0">
                <a:solidFill>
                  <a:srgbClr val="FF0066"/>
                </a:solidFill>
                <a:latin typeface="Courier New" panose="02070309020205020404" pitchFamily="49" charset="0"/>
                <a:ea typeface="宋体" panose="02010600030101010101" pitchFamily="2" charset="-122"/>
              </a:rPr>
              <a:t>)</a:t>
            </a:r>
            <a:endParaRPr lang="en-US" altLang="zh-CN" b="0" baseline="-25000">
              <a:solidFill>
                <a:schemeClr val="tx1"/>
              </a:solidFill>
              <a:latin typeface="Courier New" panose="02070309020205020404" pitchFamily="49" charset="0"/>
              <a:ea typeface="宋体" panose="02010600030101010101" pitchFamily="2" charset="-122"/>
            </a:endParaRPr>
          </a:p>
        </p:txBody>
      </p:sp>
      <p:sp>
        <p:nvSpPr>
          <p:cNvPr id="23568" name="Text Box 18"/>
          <p:cNvSpPr txBox="1">
            <a:spLocks noChangeArrowheads="1"/>
          </p:cNvSpPr>
          <p:nvPr/>
        </p:nvSpPr>
        <p:spPr bwMode="auto">
          <a:xfrm>
            <a:off x="4022725" y="4967288"/>
            <a:ext cx="7016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1800" baseline="0">
                <a:solidFill>
                  <a:srgbClr val="FF0066"/>
                </a:solidFill>
                <a:sym typeface="Symbol" panose="05050102010706020507" pitchFamily="18" charset="2"/>
              </a:rPr>
              <a:t></a:t>
            </a:r>
            <a:r>
              <a:rPr lang="en-US" altLang="zh-CN" sz="1800" baseline="0">
                <a:solidFill>
                  <a:srgbClr val="FF0066"/>
                </a:solidFill>
                <a:sym typeface="MapInfo Weather" pitchFamily="18" charset="2"/>
              </a:rPr>
              <a:t> </a:t>
            </a:r>
            <a:r>
              <a:rPr lang="en-US" altLang="zh-CN" baseline="0">
                <a:solidFill>
                  <a:srgbClr val="FF0066"/>
                </a:solidFill>
                <a:sym typeface="MapInfo Weather" pitchFamily="18" charset="2"/>
              </a:rPr>
              <a:t>t</a:t>
            </a:r>
          </a:p>
        </p:txBody>
      </p:sp>
      <p:sp>
        <p:nvSpPr>
          <p:cNvPr id="23569" name="Line 19"/>
          <p:cNvSpPr>
            <a:spLocks noChangeShapeType="1"/>
          </p:cNvSpPr>
          <p:nvPr/>
        </p:nvSpPr>
        <p:spPr bwMode="auto">
          <a:xfrm flipH="1">
            <a:off x="3505200" y="5257800"/>
            <a:ext cx="609600" cy="0"/>
          </a:xfrm>
          <a:prstGeom prst="line">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0" name="Line 20"/>
          <p:cNvSpPr>
            <a:spLocks noChangeShapeType="1"/>
          </p:cNvSpPr>
          <p:nvPr/>
        </p:nvSpPr>
        <p:spPr bwMode="auto">
          <a:xfrm>
            <a:off x="4648200" y="5257800"/>
            <a:ext cx="457200" cy="0"/>
          </a:xfrm>
          <a:prstGeom prst="line">
            <a:avLst/>
          </a:prstGeom>
          <a:noFill/>
          <a:ln w="38100">
            <a:solidFill>
              <a:schemeClr val="accent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1" name="Text Box 23"/>
          <p:cNvSpPr txBox="1">
            <a:spLocks noChangeArrowheads="1"/>
          </p:cNvSpPr>
          <p:nvPr/>
        </p:nvSpPr>
        <p:spPr bwMode="auto">
          <a:xfrm>
            <a:off x="7848600" y="5334000"/>
            <a:ext cx="319088"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3200" baseline="0">
                <a:solidFill>
                  <a:srgbClr val="FF0066"/>
                </a:solidFill>
              </a:rPr>
              <a:t>t</a:t>
            </a:r>
          </a:p>
        </p:txBody>
      </p:sp>
      <p:sp>
        <p:nvSpPr>
          <p:cNvPr id="23572" name="Text Box 24"/>
          <p:cNvSpPr txBox="1">
            <a:spLocks noChangeArrowheads="1"/>
          </p:cNvSpPr>
          <p:nvPr/>
        </p:nvSpPr>
        <p:spPr bwMode="auto">
          <a:xfrm>
            <a:off x="152400" y="3581400"/>
            <a:ext cx="152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baseline="0">
                <a:solidFill>
                  <a:srgbClr val="FF0066"/>
                </a:solidFill>
                <a:latin typeface="Courier New" panose="02070309020205020404" pitchFamily="49" charset="0"/>
                <a:ea typeface="宋体" panose="02010600030101010101" pitchFamily="2" charset="-122"/>
              </a:rPr>
              <a:t>f(t</a:t>
            </a:r>
            <a:r>
              <a:rPr lang="en-US" altLang="zh-CN" baseline="-25000">
                <a:solidFill>
                  <a:srgbClr val="FF0066"/>
                </a:solidFill>
                <a:latin typeface="Courier New" panose="02070309020205020404" pitchFamily="49" charset="0"/>
                <a:ea typeface="宋体" panose="02010600030101010101" pitchFamily="2" charset="-122"/>
              </a:rPr>
              <a:t>0</a:t>
            </a:r>
            <a:r>
              <a:rPr lang="en-US" altLang="zh-CN" baseline="0">
                <a:solidFill>
                  <a:srgbClr val="FF0066"/>
                </a:solidFill>
                <a:latin typeface="Courier New" panose="02070309020205020404" pitchFamily="49" charset="0"/>
                <a:ea typeface="宋体" panose="02010600030101010101" pitchFamily="2" charset="-122"/>
              </a:rPr>
              <a:t>,y</a:t>
            </a:r>
            <a:r>
              <a:rPr lang="en-US" altLang="zh-CN" baseline="-25000">
                <a:solidFill>
                  <a:srgbClr val="FF0066"/>
                </a:solidFill>
                <a:latin typeface="Courier New" panose="02070309020205020404" pitchFamily="49" charset="0"/>
                <a:ea typeface="宋体" panose="02010600030101010101" pitchFamily="2" charset="-122"/>
              </a:rPr>
              <a:t>0</a:t>
            </a:r>
            <a:r>
              <a:rPr lang="en-US" altLang="zh-CN" baseline="0">
                <a:solidFill>
                  <a:srgbClr val="FF0066"/>
                </a:solidFill>
                <a:latin typeface="Courier New" panose="02070309020205020404" pitchFamily="49" charset="0"/>
                <a:ea typeface="宋体" panose="02010600030101010101" pitchFamily="2" charset="-122"/>
              </a:rPr>
              <a:t>)</a:t>
            </a:r>
            <a:endParaRPr lang="en-US" altLang="zh-CN" b="0" baseline="-25000">
              <a:solidFill>
                <a:schemeClr val="tx1"/>
              </a:solidFill>
              <a:latin typeface="Courier New" panose="02070309020205020404" pitchFamily="49" charset="0"/>
              <a:ea typeface="宋体" panose="02010600030101010101" pitchFamily="2" charset="-122"/>
            </a:endParaRPr>
          </a:p>
        </p:txBody>
      </p:sp>
      <p:sp>
        <p:nvSpPr>
          <p:cNvPr id="46105" name="AutoShape 25"/>
          <p:cNvSpPr>
            <a:spLocks noChangeArrowheads="1"/>
          </p:cNvSpPr>
          <p:nvPr/>
        </p:nvSpPr>
        <p:spPr bwMode="auto">
          <a:xfrm>
            <a:off x="5410200" y="3352800"/>
            <a:ext cx="2971800" cy="1295400"/>
          </a:xfrm>
          <a:prstGeom prst="cloudCallout">
            <a:avLst>
              <a:gd name="adj1" fmla="val -57157"/>
              <a:gd name="adj2" fmla="val 68384"/>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baseline="0" dirty="0">
                <a:solidFill>
                  <a:srgbClr val="0D17D7"/>
                </a:solidFill>
              </a:rPr>
              <a:t>以梯形面积逼近</a:t>
            </a:r>
          </a:p>
          <a:p>
            <a:pPr eaLnBrk="1" hangingPunct="1"/>
            <a:endParaRPr lang="en-US" altLang="zh-CN" baseline="0" dirty="0">
              <a:solidFill>
                <a:schemeClr val="bg1"/>
              </a:solidFill>
              <a:latin typeface="Courier New" panose="02070309020205020404" pitchFamily="49" charset="0"/>
              <a:ea typeface="宋体" panose="02010600030101010101" pitchFamily="2" charset="-122"/>
            </a:endParaRP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95C4BAB0-8289-41A2-9330-9772860C9485}" type="slidenum">
              <a:rPr lang="en-US" altLang="zh-CN" sz="1400" b="0" baseline="0">
                <a:solidFill>
                  <a:schemeClr val="tx1"/>
                </a:solidFill>
                <a:ea typeface="宋体" panose="02010600030101010101" pitchFamily="2" charset="-122"/>
              </a:rPr>
              <a:pPr eaLnBrk="1" hangingPunct="1"/>
              <a:t>62</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10807012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6105"/>
                                        </p:tgtEl>
                                        <p:attrNameLst>
                                          <p:attrName>style.visibility</p:attrName>
                                        </p:attrNameLst>
                                      </p:cBhvr>
                                      <p:to>
                                        <p:strVal val="visible"/>
                                      </p:to>
                                    </p:set>
                                    <p:anim calcmode="lin" valueType="num">
                                      <p:cBhvr additive="base">
                                        <p:cTn id="7" dur="500" fill="hold"/>
                                        <p:tgtEl>
                                          <p:spTgt spid="46105"/>
                                        </p:tgtEl>
                                        <p:attrNameLst>
                                          <p:attrName>ppt_x</p:attrName>
                                        </p:attrNameLst>
                                      </p:cBhvr>
                                      <p:tavLst>
                                        <p:tav tm="0">
                                          <p:val>
                                            <p:strVal val="1+#ppt_w/2"/>
                                          </p:val>
                                        </p:tav>
                                        <p:tav tm="100000">
                                          <p:val>
                                            <p:strVal val="#ppt_x"/>
                                          </p:val>
                                        </p:tav>
                                      </p:tavLst>
                                    </p:anim>
                                    <p:anim calcmode="lin" valueType="num">
                                      <p:cBhvr additive="base">
                                        <p:cTn id="8" dur="500" fill="hold"/>
                                        <p:tgtEl>
                                          <p:spTgt spid="4610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6095"/>
                                        </p:tgtEl>
                                        <p:attrNameLst>
                                          <p:attrName>style.visibility</p:attrName>
                                        </p:attrNameLst>
                                      </p:cBhvr>
                                      <p:to>
                                        <p:strVal val="visible"/>
                                      </p:to>
                                    </p:set>
                                    <p:anim calcmode="lin" valueType="num">
                                      <p:cBhvr additive="base">
                                        <p:cTn id="12" dur="500" fill="hold"/>
                                        <p:tgtEl>
                                          <p:spTgt spid="46095"/>
                                        </p:tgtEl>
                                        <p:attrNameLst>
                                          <p:attrName>ppt_x</p:attrName>
                                        </p:attrNameLst>
                                      </p:cBhvr>
                                      <p:tavLst>
                                        <p:tav tm="0">
                                          <p:val>
                                            <p:strVal val="1+#ppt_w/2"/>
                                          </p:val>
                                        </p:tav>
                                        <p:tav tm="100000">
                                          <p:val>
                                            <p:strVal val="#ppt_x"/>
                                          </p:val>
                                        </p:tav>
                                      </p:tavLst>
                                    </p:anim>
                                    <p:anim calcmode="lin" valueType="num">
                                      <p:cBhvr additive="base">
                                        <p:cTn id="13" dur="500" fill="hold"/>
                                        <p:tgtEl>
                                          <p:spTgt spid="460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5" grpId="0" autoUpdateAnimBg="0"/>
      <p:bldP spid="46105" grpId="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1040382" y="1061924"/>
            <a:ext cx="8212138" cy="2739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spcBef>
                <a:spcPct val="0"/>
              </a:spcBef>
            </a:pPr>
            <a:r>
              <a:rPr lang="zh-CN" altLang="en-US" sz="3200" baseline="0" dirty="0">
                <a:solidFill>
                  <a:srgbClr val="0D17D7"/>
                </a:solidFill>
                <a:latin typeface="Courier New" panose="02070309020205020404" pitchFamily="49" charset="0"/>
                <a:ea typeface="宋体" panose="02010600030101010101" pitchFamily="2" charset="-122"/>
              </a:rPr>
              <a:t>一般梯形法公式写为</a:t>
            </a:r>
            <a:endParaRPr lang="zh-CN" altLang="en-US" sz="3200" baseline="0" dirty="0">
              <a:solidFill>
                <a:srgbClr val="0D17D7"/>
              </a:solidFill>
              <a:ea typeface="宋体" panose="02010600030101010101" pitchFamily="2" charset="-122"/>
            </a:endParaRPr>
          </a:p>
          <a:p>
            <a:pPr algn="l" eaLnBrk="1" hangingPunct="1">
              <a:spcBef>
                <a:spcPct val="0"/>
              </a:spcBef>
            </a:pPr>
            <a:endParaRPr lang="zh-CN" altLang="en-US" sz="2800" baseline="0" dirty="0">
              <a:ea typeface="宋体" panose="02010600030101010101" pitchFamily="2" charset="-122"/>
            </a:endParaRPr>
          </a:p>
          <a:p>
            <a:pPr algn="l" eaLnBrk="1" hangingPunct="1">
              <a:spcBef>
                <a:spcPct val="0"/>
              </a:spcBef>
            </a:pPr>
            <a:r>
              <a:rPr lang="en-US" altLang="zh-CN" sz="2800" baseline="0" dirty="0">
                <a:solidFill>
                  <a:schemeClr val="tx1"/>
                </a:solidFill>
                <a:latin typeface="Courier New" panose="02070309020205020404" pitchFamily="49" charset="0"/>
                <a:ea typeface="宋体" panose="02010600030101010101" pitchFamily="2" charset="-122"/>
              </a:rPr>
              <a:t>y</a:t>
            </a:r>
            <a:r>
              <a:rPr lang="en-US" altLang="zh-CN" sz="2800" baseline="-25000" dirty="0">
                <a:solidFill>
                  <a:schemeClr val="tx1"/>
                </a:solidFill>
                <a:latin typeface="Courier New" panose="02070309020205020404" pitchFamily="49" charset="0"/>
                <a:ea typeface="宋体" panose="02010600030101010101" pitchFamily="2" charset="-122"/>
              </a:rPr>
              <a:t>k+1</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baseline="0" dirty="0" err="1">
                <a:solidFill>
                  <a:schemeClr val="tx1"/>
                </a:solidFill>
                <a:latin typeface="Courier New" panose="02070309020205020404" pitchFamily="49" charset="0"/>
                <a:ea typeface="宋体" panose="02010600030101010101" pitchFamily="2" charset="-122"/>
              </a:rPr>
              <a:t>y</a:t>
            </a:r>
            <a:r>
              <a:rPr lang="en-US" altLang="zh-CN" sz="2800" baseline="-25000" dirty="0" err="1">
                <a:solidFill>
                  <a:schemeClr val="tx1"/>
                </a:solidFill>
                <a:latin typeface="Courier New" panose="02070309020205020404" pitchFamily="49" charset="0"/>
                <a:ea typeface="宋体" panose="02010600030101010101" pitchFamily="2" charset="-122"/>
              </a:rPr>
              <a:t>k</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baseline="0" dirty="0">
                <a:solidFill>
                  <a:schemeClr val="tx1"/>
                </a:solidFill>
                <a:latin typeface="Courier New" panose="02070309020205020404" pitchFamily="49" charset="0"/>
                <a:ea typeface="宋体" panose="02010600030101010101" pitchFamily="2" charset="-122"/>
              </a:rPr>
              <a:t>h/2</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baseline="0" dirty="0">
                <a:solidFill>
                  <a:schemeClr val="tx1"/>
                </a:solidFill>
                <a:latin typeface="Courier New" panose="02070309020205020404" pitchFamily="49" charset="0"/>
                <a:ea typeface="宋体" panose="02010600030101010101" pitchFamily="2" charset="-122"/>
              </a:rPr>
              <a:t>f(</a:t>
            </a:r>
            <a:r>
              <a:rPr lang="en-US" altLang="zh-CN" sz="2800" baseline="0" dirty="0" err="1">
                <a:solidFill>
                  <a:schemeClr val="tx1"/>
                </a:solidFill>
                <a:latin typeface="Courier New" panose="02070309020205020404" pitchFamily="49" charset="0"/>
                <a:ea typeface="宋体" panose="02010600030101010101" pitchFamily="2" charset="-122"/>
              </a:rPr>
              <a:t>t</a:t>
            </a:r>
            <a:r>
              <a:rPr lang="en-US" altLang="zh-CN" sz="2800" baseline="-25000" dirty="0" err="1">
                <a:solidFill>
                  <a:schemeClr val="tx1"/>
                </a:solidFill>
                <a:latin typeface="Courier New" panose="02070309020205020404" pitchFamily="49" charset="0"/>
                <a:ea typeface="宋体" panose="02010600030101010101" pitchFamily="2" charset="-122"/>
              </a:rPr>
              <a:t>k</a:t>
            </a:r>
            <a:r>
              <a:rPr lang="en-US" altLang="zh-CN" sz="2800" baseline="0" dirty="0" err="1">
                <a:solidFill>
                  <a:schemeClr val="tx1"/>
                </a:solidFill>
                <a:latin typeface="Courier New" panose="02070309020205020404" pitchFamily="49" charset="0"/>
                <a:ea typeface="宋体" panose="02010600030101010101" pitchFamily="2" charset="-122"/>
              </a:rPr>
              <a:t>,y</a:t>
            </a:r>
            <a:r>
              <a:rPr lang="en-US" altLang="zh-CN" sz="2800" baseline="-25000" dirty="0" err="1">
                <a:solidFill>
                  <a:schemeClr val="tx1"/>
                </a:solidFill>
                <a:latin typeface="Courier New" panose="02070309020205020404" pitchFamily="49" charset="0"/>
                <a:ea typeface="宋体" panose="02010600030101010101" pitchFamily="2" charset="-122"/>
              </a:rPr>
              <a:t>k</a:t>
            </a:r>
            <a:r>
              <a:rPr lang="en-US" altLang="zh-CN" sz="2800" baseline="0" dirty="0">
                <a:solidFill>
                  <a:schemeClr val="tx1"/>
                </a:solidFill>
                <a:latin typeface="Courier New" panose="02070309020205020404" pitchFamily="49" charset="0"/>
                <a:ea typeface="宋体" panose="02010600030101010101" pitchFamily="2" charset="-122"/>
              </a:rPr>
              <a:t>)</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baseline="0" dirty="0">
                <a:solidFill>
                  <a:schemeClr val="tx1"/>
                </a:solidFill>
                <a:latin typeface="Courier New" panose="02070309020205020404" pitchFamily="49" charset="0"/>
                <a:ea typeface="宋体" panose="02010600030101010101" pitchFamily="2" charset="-122"/>
              </a:rPr>
              <a:t>f(t</a:t>
            </a:r>
            <a:r>
              <a:rPr lang="en-US" altLang="zh-CN" sz="2800" baseline="-25000" dirty="0">
                <a:solidFill>
                  <a:schemeClr val="tx1"/>
                </a:solidFill>
                <a:latin typeface="Courier New" panose="02070309020205020404" pitchFamily="49" charset="0"/>
                <a:ea typeface="宋体" panose="02010600030101010101" pitchFamily="2" charset="-122"/>
              </a:rPr>
              <a:t>k+1</a:t>
            </a:r>
            <a:r>
              <a:rPr lang="en-US" altLang="zh-CN" sz="2800" baseline="0" dirty="0">
                <a:solidFill>
                  <a:schemeClr val="tx1"/>
                </a:solidFill>
                <a:latin typeface="Courier New" panose="02070309020205020404" pitchFamily="49" charset="0"/>
                <a:ea typeface="宋体" panose="02010600030101010101" pitchFamily="2" charset="-122"/>
              </a:rPr>
              <a:t>,y</a:t>
            </a:r>
            <a:r>
              <a:rPr lang="en-US" altLang="zh-CN" sz="2800" baseline="-25000" dirty="0">
                <a:solidFill>
                  <a:schemeClr val="tx1"/>
                </a:solidFill>
                <a:latin typeface="Courier New" panose="02070309020205020404" pitchFamily="49" charset="0"/>
                <a:ea typeface="宋体" panose="02010600030101010101" pitchFamily="2" charset="-122"/>
              </a:rPr>
              <a:t>k+1</a:t>
            </a:r>
            <a:r>
              <a:rPr lang="en-US" altLang="zh-CN" sz="2800" baseline="0" dirty="0">
                <a:solidFill>
                  <a:schemeClr val="tx1"/>
                </a:solidFill>
                <a:latin typeface="Courier New" panose="02070309020205020404" pitchFamily="49" charset="0"/>
                <a:ea typeface="宋体" panose="02010600030101010101" pitchFamily="2" charset="-122"/>
              </a:rPr>
              <a:t>)</a:t>
            </a:r>
            <a:r>
              <a:rPr lang="zh-CN" altLang="en-US" sz="2800" baseline="0" dirty="0">
                <a:solidFill>
                  <a:schemeClr val="tx1"/>
                </a:solidFill>
                <a:latin typeface="Courier New" panose="02070309020205020404" pitchFamily="49" charset="0"/>
                <a:ea typeface="宋体" panose="02010600030101010101" pitchFamily="2" charset="-122"/>
              </a:rPr>
              <a:t>］</a:t>
            </a:r>
          </a:p>
          <a:p>
            <a:pPr algn="l" eaLnBrk="1" hangingPunct="1">
              <a:spcBef>
                <a:spcPct val="0"/>
              </a:spcBef>
            </a:pPr>
            <a:endParaRPr lang="zh-CN" altLang="en-US" sz="2800" baseline="0" dirty="0">
              <a:solidFill>
                <a:schemeClr val="tx1"/>
              </a:solidFill>
              <a:latin typeface="Courier New" panose="02070309020205020404" pitchFamily="49" charset="0"/>
              <a:ea typeface="宋体" panose="02010600030101010101" pitchFamily="2" charset="-122"/>
            </a:endParaRPr>
          </a:p>
          <a:p>
            <a:pPr algn="l" eaLnBrk="1" hangingPunct="1">
              <a:spcBef>
                <a:spcPct val="0"/>
              </a:spcBef>
            </a:pPr>
            <a:r>
              <a:rPr lang="zh-CN" altLang="en-US" sz="2800" baseline="0" dirty="0">
                <a:solidFill>
                  <a:schemeClr val="tx1"/>
                </a:solidFill>
                <a:latin typeface="Courier New" panose="02070309020205020404" pitchFamily="49" charset="0"/>
                <a:ea typeface="宋体" panose="02010600030101010101" pitchFamily="2" charset="-122"/>
              </a:rPr>
              <a:t>   ＝</a:t>
            </a:r>
            <a:r>
              <a:rPr lang="en-US" altLang="zh-CN" sz="2800" baseline="0" dirty="0" err="1">
                <a:solidFill>
                  <a:schemeClr val="tx1"/>
                </a:solidFill>
                <a:latin typeface="Courier New" panose="02070309020205020404" pitchFamily="49" charset="0"/>
                <a:ea typeface="宋体" panose="02010600030101010101" pitchFamily="2" charset="-122"/>
              </a:rPr>
              <a:t>y</a:t>
            </a:r>
            <a:r>
              <a:rPr lang="en-US" altLang="zh-CN" sz="2800" baseline="-25000" dirty="0" err="1">
                <a:solidFill>
                  <a:schemeClr val="tx1"/>
                </a:solidFill>
                <a:latin typeface="Courier New" panose="02070309020205020404" pitchFamily="49" charset="0"/>
                <a:ea typeface="宋体" panose="02010600030101010101" pitchFamily="2" charset="-122"/>
              </a:rPr>
              <a:t>k</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baseline="0" dirty="0">
                <a:solidFill>
                  <a:schemeClr val="tx1"/>
                </a:solidFill>
                <a:latin typeface="Courier New" panose="02070309020205020404" pitchFamily="49" charset="0"/>
                <a:ea typeface="宋体" panose="02010600030101010101" pitchFamily="2" charset="-122"/>
              </a:rPr>
              <a:t>h/2(f</a:t>
            </a:r>
            <a:r>
              <a:rPr lang="en-US" altLang="zh-CN" sz="2800" baseline="-25000" dirty="0">
                <a:solidFill>
                  <a:schemeClr val="tx1"/>
                </a:solidFill>
                <a:latin typeface="Courier New" panose="02070309020205020404" pitchFamily="49" charset="0"/>
                <a:ea typeface="宋体" panose="02010600030101010101" pitchFamily="2" charset="-122"/>
              </a:rPr>
              <a:t>k</a:t>
            </a:r>
            <a:r>
              <a:rPr lang="en-US" altLang="zh-CN" sz="2800" baseline="0" dirty="0">
                <a:solidFill>
                  <a:schemeClr val="tx1"/>
                </a:solidFill>
                <a:latin typeface="Courier New" panose="02070309020205020404" pitchFamily="49" charset="0"/>
                <a:ea typeface="宋体" panose="02010600030101010101" pitchFamily="2" charset="-122"/>
              </a:rPr>
              <a:t>+f</a:t>
            </a:r>
            <a:r>
              <a:rPr lang="en-US" altLang="zh-CN" sz="2800" baseline="-25000" dirty="0">
                <a:solidFill>
                  <a:schemeClr val="tx1"/>
                </a:solidFill>
                <a:latin typeface="Courier New" panose="02070309020205020404" pitchFamily="49" charset="0"/>
                <a:ea typeface="宋体" panose="02010600030101010101" pitchFamily="2" charset="-122"/>
              </a:rPr>
              <a:t>k+1</a:t>
            </a:r>
            <a:r>
              <a:rPr lang="en-US" altLang="zh-CN" sz="2800" baseline="0" dirty="0">
                <a:solidFill>
                  <a:schemeClr val="tx1"/>
                </a:solidFill>
                <a:latin typeface="Courier New" panose="02070309020205020404" pitchFamily="49" charset="0"/>
                <a:ea typeface="宋体" panose="02010600030101010101" pitchFamily="2" charset="-122"/>
              </a:rPr>
              <a:t>)</a:t>
            </a:r>
            <a:r>
              <a:rPr lang="en-US" altLang="zh-CN" sz="2800" b="0" baseline="0" dirty="0">
                <a:solidFill>
                  <a:schemeClr val="tx1"/>
                </a:solidFill>
                <a:latin typeface="Courier New" panose="02070309020205020404" pitchFamily="49" charset="0"/>
                <a:ea typeface="宋体" panose="02010600030101010101" pitchFamily="2" charset="-122"/>
              </a:rPr>
              <a:t>                      </a:t>
            </a:r>
          </a:p>
          <a:p>
            <a:pPr algn="l" eaLnBrk="1" hangingPunct="1">
              <a:spcBef>
                <a:spcPct val="0"/>
              </a:spcBef>
            </a:pPr>
            <a:r>
              <a:rPr lang="en-US" altLang="zh-CN" sz="2800" b="0" baseline="0" dirty="0">
                <a:solidFill>
                  <a:schemeClr val="tx1"/>
                </a:solidFill>
                <a:latin typeface="Courier New" panose="02070309020205020404" pitchFamily="49" charset="0"/>
                <a:ea typeface="宋体" panose="02010600030101010101" pitchFamily="2" charset="-122"/>
              </a:rPr>
              <a:t>                               </a:t>
            </a:r>
            <a:endParaRPr lang="en-US" altLang="zh-CN" sz="3200" baseline="0" dirty="0">
              <a:solidFill>
                <a:srgbClr val="FF0066"/>
              </a:solidFill>
            </a:endParaRPr>
          </a:p>
        </p:txBody>
      </p:sp>
      <p:grpSp>
        <p:nvGrpSpPr>
          <p:cNvPr id="47113" name="Group 9"/>
          <p:cNvGrpSpPr>
            <a:grpSpLocks/>
          </p:cNvGrpSpPr>
          <p:nvPr/>
        </p:nvGrpSpPr>
        <p:grpSpPr bwMode="auto">
          <a:xfrm>
            <a:off x="4774182" y="1988618"/>
            <a:ext cx="3124200" cy="2376488"/>
            <a:chOff x="2544" y="1143"/>
            <a:chExt cx="1968" cy="1497"/>
          </a:xfrm>
        </p:grpSpPr>
        <p:sp>
          <p:nvSpPr>
            <p:cNvPr id="24581" name="AutoShape 6"/>
            <p:cNvSpPr>
              <a:spLocks noChangeArrowheads="1"/>
            </p:cNvSpPr>
            <p:nvPr/>
          </p:nvSpPr>
          <p:spPr bwMode="auto">
            <a:xfrm>
              <a:off x="2544" y="2160"/>
              <a:ext cx="1536" cy="480"/>
            </a:xfrm>
            <a:prstGeom prst="wedgeRoundRectCallout">
              <a:avLst>
                <a:gd name="adj1" fmla="val 62370"/>
                <a:gd name="adj2" fmla="val -194583"/>
                <a:gd name="adj3" fmla="val 1666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baseline="0">
                  <a:solidFill>
                    <a:schemeClr val="tx1"/>
                  </a:solidFill>
                </a:rPr>
                <a:t>不能自启动</a:t>
              </a:r>
            </a:p>
          </p:txBody>
        </p:sp>
        <p:sp>
          <p:nvSpPr>
            <p:cNvPr id="24582" name="Text Box 7"/>
            <p:cNvSpPr txBox="1">
              <a:spLocks noChangeArrowheads="1"/>
            </p:cNvSpPr>
            <p:nvPr/>
          </p:nvSpPr>
          <p:spPr bwMode="auto">
            <a:xfrm>
              <a:off x="3936" y="1143"/>
              <a:ext cx="576" cy="32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en-US" altLang="zh-CN" sz="2800" baseline="0" dirty="0">
                  <a:solidFill>
                    <a:schemeClr val="tx1"/>
                  </a:solidFill>
                  <a:latin typeface="Courier New" panose="02070309020205020404" pitchFamily="49" charset="0"/>
                  <a:ea typeface="宋体" panose="02010600030101010101" pitchFamily="2" charset="-122"/>
                </a:rPr>
                <a:t>y</a:t>
              </a:r>
              <a:r>
                <a:rPr lang="en-US" altLang="zh-CN" sz="2800" baseline="-25000" dirty="0">
                  <a:solidFill>
                    <a:schemeClr val="tx1"/>
                  </a:solidFill>
                  <a:latin typeface="Courier New" panose="02070309020205020404" pitchFamily="49" charset="0"/>
                  <a:ea typeface="宋体" panose="02010600030101010101" pitchFamily="2" charset="-122"/>
                </a:rPr>
                <a:t>k+1</a:t>
              </a:r>
              <a:r>
                <a:rPr lang="en-US" altLang="zh-CN" sz="2800" baseline="0" dirty="0">
                  <a:solidFill>
                    <a:schemeClr val="tx1"/>
                  </a:solidFill>
                  <a:latin typeface="Courier New" panose="02070309020205020404" pitchFamily="49" charset="0"/>
                  <a:ea typeface="宋体" panose="02010600030101010101" pitchFamily="2" charset="-122"/>
                </a:rPr>
                <a:t>)</a:t>
              </a:r>
            </a:p>
          </p:txBody>
        </p:sp>
      </p:gr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55770464-23D6-4A3A-AB23-81DCA9AC0E5E}" type="slidenum">
              <a:rPr lang="en-US" altLang="zh-CN" sz="1400" b="0" baseline="0">
                <a:solidFill>
                  <a:schemeClr val="tx1"/>
                </a:solidFill>
                <a:ea typeface="宋体" panose="02010600030101010101" pitchFamily="2" charset="-122"/>
              </a:rPr>
              <a:pPr eaLnBrk="1" hangingPunct="1"/>
              <a:t>63</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23630029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47113"/>
                                        </p:tgtEl>
                                        <p:attrNameLst>
                                          <p:attrName>style.visibility</p:attrName>
                                        </p:attrNameLst>
                                      </p:cBhvr>
                                      <p:to>
                                        <p:strVal val="visible"/>
                                      </p:to>
                                    </p:set>
                                    <p:animEffect transition="in" filter="blinds(vertical)">
                                      <p:cBhvr>
                                        <p:cTn id="7" dur="500"/>
                                        <p:tgtEl>
                                          <p:spTgt spid="47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609600"/>
            <a:ext cx="4191000" cy="609600"/>
          </a:xfr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p:spPr>
        <p:txBody>
          <a:bodyPr>
            <a:flatTx/>
          </a:bodyPr>
          <a:lstStyle/>
          <a:p>
            <a:pPr algn="l" eaLnBrk="1" hangingPunct="1"/>
            <a:r>
              <a:rPr lang="zh-CN" altLang="en-US" sz="2800" b="1">
                <a:solidFill>
                  <a:srgbClr val="FF0066"/>
                </a:solidFill>
                <a:ea typeface="楷体_GB2312" pitchFamily="49" charset="-122"/>
              </a:rPr>
              <a:t>梯形法的预估－校正公式</a:t>
            </a:r>
            <a:endParaRPr lang="zh-CN" altLang="en-US" sz="3200" b="1">
              <a:solidFill>
                <a:srgbClr val="FF0066"/>
              </a:solidFill>
              <a:ea typeface="楷体_GB2312" pitchFamily="49" charset="-122"/>
            </a:endParaRPr>
          </a:p>
        </p:txBody>
      </p:sp>
      <p:sp>
        <p:nvSpPr>
          <p:cNvPr id="25603" name="Rectangle 3"/>
          <p:cNvSpPr>
            <a:spLocks noGrp="1" noChangeArrowheads="1"/>
          </p:cNvSpPr>
          <p:nvPr>
            <p:ph type="body" idx="1"/>
          </p:nvPr>
        </p:nvSpPr>
        <p:spPr>
          <a:xfrm>
            <a:off x="1476375" y="1989138"/>
            <a:ext cx="7056438" cy="2667000"/>
          </a:xfrm>
        </p:spPr>
        <p:txBody>
          <a:bodyPr/>
          <a:lstStyle/>
          <a:p>
            <a:pPr eaLnBrk="1" hangingPunct="1">
              <a:lnSpc>
                <a:spcPct val="90000"/>
              </a:lnSpc>
              <a:buFontTx/>
              <a:buNone/>
            </a:pPr>
            <a:r>
              <a:rPr lang="zh-CN" altLang="en-US" sz="2800" b="1" dirty="0">
                <a:solidFill>
                  <a:srgbClr val="800080"/>
                </a:solidFill>
                <a:latin typeface="Courier New" panose="02070309020205020404" pitchFamily="49" charset="0"/>
              </a:rPr>
              <a:t>预估  </a:t>
            </a:r>
            <a:r>
              <a:rPr lang="en-US" altLang="zh-CN" sz="2800" b="1" dirty="0">
                <a:solidFill>
                  <a:srgbClr val="008000"/>
                </a:solidFill>
                <a:latin typeface="Courier New" panose="02070309020205020404" pitchFamily="49" charset="0"/>
              </a:rPr>
              <a:t>y</a:t>
            </a:r>
            <a:r>
              <a:rPr lang="en-US" altLang="zh-CN" sz="2800" b="1" baseline="30000" dirty="0">
                <a:solidFill>
                  <a:srgbClr val="008000"/>
                </a:solidFill>
                <a:latin typeface="Courier New" panose="02070309020205020404" pitchFamily="49" charset="0"/>
              </a:rPr>
              <a:t>P</a:t>
            </a:r>
            <a:r>
              <a:rPr lang="en-US" altLang="zh-CN" sz="2800" b="1" baseline="-25000" dirty="0">
                <a:solidFill>
                  <a:srgbClr val="008000"/>
                </a:solidFill>
                <a:latin typeface="Courier New" panose="02070309020205020404" pitchFamily="49" charset="0"/>
              </a:rPr>
              <a:t>k+1</a:t>
            </a:r>
            <a:r>
              <a:rPr lang="zh-CN" altLang="en-US" sz="2800" b="1" dirty="0">
                <a:solidFill>
                  <a:srgbClr val="800080"/>
                </a:solidFill>
                <a:latin typeface="Courier New" panose="02070309020205020404" pitchFamily="49" charset="0"/>
              </a:rPr>
              <a:t>＝</a:t>
            </a:r>
            <a:r>
              <a:rPr lang="en-US" altLang="zh-CN" sz="2800" b="1" dirty="0" err="1">
                <a:solidFill>
                  <a:srgbClr val="800080"/>
                </a:solidFill>
                <a:latin typeface="Courier New" panose="02070309020205020404" pitchFamily="49" charset="0"/>
              </a:rPr>
              <a:t>y</a:t>
            </a:r>
            <a:r>
              <a:rPr lang="en-US" altLang="zh-CN" sz="2800" b="1" baseline="-25000" dirty="0" err="1">
                <a:solidFill>
                  <a:srgbClr val="800080"/>
                </a:solidFill>
                <a:latin typeface="Courier New" panose="02070309020205020404" pitchFamily="49" charset="0"/>
              </a:rPr>
              <a:t>k</a:t>
            </a:r>
            <a:r>
              <a:rPr lang="zh-CN" altLang="en-US" sz="2800" b="1" dirty="0">
                <a:solidFill>
                  <a:srgbClr val="800080"/>
                </a:solidFill>
                <a:latin typeface="Courier New" panose="02070309020205020404" pitchFamily="49" charset="0"/>
              </a:rPr>
              <a:t>＋</a:t>
            </a:r>
            <a:r>
              <a:rPr lang="en-US" altLang="zh-CN" sz="2800" b="1" dirty="0" err="1">
                <a:solidFill>
                  <a:srgbClr val="800080"/>
                </a:solidFill>
                <a:latin typeface="Courier New" panose="02070309020205020404" pitchFamily="49" charset="0"/>
              </a:rPr>
              <a:t>h·f</a:t>
            </a:r>
            <a:r>
              <a:rPr lang="en-US" altLang="zh-CN" sz="2800" b="1" dirty="0">
                <a:solidFill>
                  <a:srgbClr val="800080"/>
                </a:solidFill>
                <a:latin typeface="Courier New" panose="02070309020205020404" pitchFamily="49" charset="0"/>
              </a:rPr>
              <a:t>(</a:t>
            </a:r>
            <a:r>
              <a:rPr lang="en-US" altLang="zh-CN" sz="2800" b="1" dirty="0" err="1">
                <a:solidFill>
                  <a:srgbClr val="800080"/>
                </a:solidFill>
                <a:latin typeface="Courier New" panose="02070309020205020404" pitchFamily="49" charset="0"/>
              </a:rPr>
              <a:t>t</a:t>
            </a:r>
            <a:r>
              <a:rPr lang="en-US" altLang="zh-CN" sz="2800" b="1" baseline="-25000" dirty="0" err="1">
                <a:solidFill>
                  <a:srgbClr val="800080"/>
                </a:solidFill>
                <a:latin typeface="Courier New" panose="02070309020205020404" pitchFamily="49" charset="0"/>
              </a:rPr>
              <a:t>k</a:t>
            </a:r>
            <a:r>
              <a:rPr lang="en-US" altLang="zh-CN" sz="2800" b="1" dirty="0" err="1">
                <a:solidFill>
                  <a:srgbClr val="800080"/>
                </a:solidFill>
                <a:latin typeface="Courier New" panose="02070309020205020404" pitchFamily="49" charset="0"/>
              </a:rPr>
              <a:t>,y</a:t>
            </a:r>
            <a:r>
              <a:rPr lang="en-US" altLang="zh-CN" sz="2800" b="1" baseline="-25000" dirty="0" err="1">
                <a:solidFill>
                  <a:srgbClr val="800080"/>
                </a:solidFill>
                <a:latin typeface="Courier New" panose="02070309020205020404" pitchFamily="49" charset="0"/>
              </a:rPr>
              <a:t>k</a:t>
            </a:r>
            <a:r>
              <a:rPr lang="en-US" altLang="zh-CN" sz="2800" b="1" dirty="0">
                <a:solidFill>
                  <a:srgbClr val="800080"/>
                </a:solidFill>
                <a:latin typeface="Courier New" panose="02070309020205020404" pitchFamily="49" charset="0"/>
              </a:rPr>
              <a:t>)</a:t>
            </a:r>
          </a:p>
          <a:p>
            <a:pPr eaLnBrk="1" hangingPunct="1">
              <a:lnSpc>
                <a:spcPct val="90000"/>
              </a:lnSpc>
              <a:buFontTx/>
              <a:buNone/>
            </a:pPr>
            <a:r>
              <a:rPr lang="en-US" altLang="zh-CN" sz="2800" b="1" dirty="0">
                <a:solidFill>
                  <a:srgbClr val="800080"/>
                </a:solidFill>
                <a:latin typeface="Courier New" panose="02070309020205020404" pitchFamily="49" charset="0"/>
              </a:rPr>
              <a:t> </a:t>
            </a:r>
          </a:p>
          <a:p>
            <a:pPr eaLnBrk="1" hangingPunct="1">
              <a:lnSpc>
                <a:spcPct val="90000"/>
              </a:lnSpc>
              <a:buFontTx/>
              <a:buNone/>
            </a:pPr>
            <a:r>
              <a:rPr lang="zh-CN" altLang="en-US" sz="2800" b="1" dirty="0">
                <a:solidFill>
                  <a:srgbClr val="800080"/>
                </a:solidFill>
                <a:latin typeface="Courier New" panose="02070309020205020404" pitchFamily="49" charset="0"/>
              </a:rPr>
              <a:t>校正  </a:t>
            </a:r>
            <a:r>
              <a:rPr lang="en-US" altLang="zh-CN" sz="2800" b="1" dirty="0">
                <a:solidFill>
                  <a:srgbClr val="800080"/>
                </a:solidFill>
                <a:latin typeface="Courier New" panose="02070309020205020404" pitchFamily="49" charset="0"/>
              </a:rPr>
              <a:t>y</a:t>
            </a:r>
            <a:r>
              <a:rPr lang="en-US" altLang="zh-CN" sz="2800" b="1" baseline="-25000" dirty="0">
                <a:solidFill>
                  <a:srgbClr val="800080"/>
                </a:solidFill>
                <a:latin typeface="Courier New" panose="02070309020205020404" pitchFamily="49" charset="0"/>
              </a:rPr>
              <a:t>k+1</a:t>
            </a:r>
            <a:r>
              <a:rPr lang="zh-CN" altLang="en-US" sz="2800" b="1" dirty="0">
                <a:solidFill>
                  <a:srgbClr val="800080"/>
                </a:solidFill>
                <a:latin typeface="Courier New" panose="02070309020205020404" pitchFamily="49" charset="0"/>
              </a:rPr>
              <a:t>＝</a:t>
            </a:r>
            <a:r>
              <a:rPr lang="en-US" altLang="zh-CN" sz="2800" b="1" dirty="0" err="1">
                <a:solidFill>
                  <a:srgbClr val="800080"/>
                </a:solidFill>
                <a:latin typeface="Courier New" panose="02070309020205020404" pitchFamily="49" charset="0"/>
              </a:rPr>
              <a:t>y</a:t>
            </a:r>
            <a:r>
              <a:rPr lang="en-US" altLang="zh-CN" sz="2800" b="1" baseline="-25000" dirty="0" err="1">
                <a:solidFill>
                  <a:srgbClr val="800080"/>
                </a:solidFill>
                <a:latin typeface="Courier New" panose="02070309020205020404" pitchFamily="49" charset="0"/>
              </a:rPr>
              <a:t>k</a:t>
            </a:r>
            <a:r>
              <a:rPr lang="zh-CN" altLang="en-US" sz="2800" b="1" dirty="0">
                <a:solidFill>
                  <a:srgbClr val="800080"/>
                </a:solidFill>
                <a:latin typeface="Courier New" panose="02070309020205020404" pitchFamily="49" charset="0"/>
              </a:rPr>
              <a:t>＋</a:t>
            </a:r>
            <a:r>
              <a:rPr lang="en-US" altLang="zh-CN" sz="2800" b="1" dirty="0">
                <a:solidFill>
                  <a:srgbClr val="800080"/>
                </a:solidFill>
                <a:latin typeface="Courier New" panose="02070309020205020404" pitchFamily="49" charset="0"/>
              </a:rPr>
              <a:t>h/2</a:t>
            </a:r>
            <a:r>
              <a:rPr lang="zh-CN" altLang="en-US" sz="2800" b="1" dirty="0">
                <a:solidFill>
                  <a:srgbClr val="800080"/>
                </a:solidFill>
                <a:latin typeface="Courier New" panose="02070309020205020404" pitchFamily="49" charset="0"/>
              </a:rPr>
              <a:t>［</a:t>
            </a:r>
            <a:r>
              <a:rPr lang="en-US" altLang="zh-CN" sz="2800" b="1" dirty="0">
                <a:solidFill>
                  <a:srgbClr val="800080"/>
                </a:solidFill>
                <a:latin typeface="Courier New" panose="02070309020205020404" pitchFamily="49" charset="0"/>
              </a:rPr>
              <a:t>f(</a:t>
            </a:r>
            <a:r>
              <a:rPr lang="en-US" altLang="zh-CN" sz="2800" b="1" dirty="0" err="1">
                <a:solidFill>
                  <a:srgbClr val="800080"/>
                </a:solidFill>
                <a:latin typeface="Courier New" panose="02070309020205020404" pitchFamily="49" charset="0"/>
              </a:rPr>
              <a:t>t</a:t>
            </a:r>
            <a:r>
              <a:rPr lang="en-US" altLang="zh-CN" sz="2800" b="1" baseline="-25000" dirty="0" err="1">
                <a:solidFill>
                  <a:srgbClr val="800080"/>
                </a:solidFill>
                <a:latin typeface="Courier New" panose="02070309020205020404" pitchFamily="49" charset="0"/>
              </a:rPr>
              <a:t>k</a:t>
            </a:r>
            <a:r>
              <a:rPr lang="en-US" altLang="zh-CN" sz="2800" b="1" dirty="0" err="1">
                <a:solidFill>
                  <a:srgbClr val="800080"/>
                </a:solidFill>
                <a:latin typeface="Courier New" panose="02070309020205020404" pitchFamily="49" charset="0"/>
              </a:rPr>
              <a:t>,y</a:t>
            </a:r>
            <a:r>
              <a:rPr lang="en-US" altLang="zh-CN" sz="2800" b="1" baseline="-25000" dirty="0" err="1">
                <a:solidFill>
                  <a:srgbClr val="800080"/>
                </a:solidFill>
                <a:latin typeface="Courier New" panose="02070309020205020404" pitchFamily="49" charset="0"/>
              </a:rPr>
              <a:t>k</a:t>
            </a:r>
            <a:r>
              <a:rPr lang="en-US" altLang="zh-CN" sz="2800" b="1" dirty="0">
                <a:solidFill>
                  <a:srgbClr val="800080"/>
                </a:solidFill>
                <a:latin typeface="Courier New" panose="02070309020205020404" pitchFamily="49" charset="0"/>
              </a:rPr>
              <a:t>)</a:t>
            </a:r>
            <a:r>
              <a:rPr lang="zh-CN" altLang="en-US" sz="2800" b="1" dirty="0">
                <a:solidFill>
                  <a:srgbClr val="800080"/>
                </a:solidFill>
                <a:latin typeface="Courier New" panose="02070309020205020404" pitchFamily="49" charset="0"/>
              </a:rPr>
              <a:t>＋ </a:t>
            </a:r>
          </a:p>
          <a:p>
            <a:pPr eaLnBrk="1" hangingPunct="1">
              <a:lnSpc>
                <a:spcPct val="90000"/>
              </a:lnSpc>
              <a:buFontTx/>
              <a:buNone/>
            </a:pPr>
            <a:r>
              <a:rPr lang="zh-CN" altLang="en-US" sz="2800" b="1" dirty="0">
                <a:solidFill>
                  <a:srgbClr val="800080"/>
                </a:solidFill>
                <a:latin typeface="Courier New" panose="02070309020205020404" pitchFamily="49" charset="0"/>
              </a:rPr>
              <a:t>                                         </a:t>
            </a:r>
            <a:r>
              <a:rPr lang="en-US" altLang="zh-CN" sz="2800" b="1" dirty="0" err="1">
                <a:solidFill>
                  <a:srgbClr val="800080"/>
                </a:solidFill>
                <a:latin typeface="Courier New" panose="02070309020205020404" pitchFamily="49" charset="0"/>
              </a:rPr>
              <a:t>f</a:t>
            </a:r>
            <a:r>
              <a:rPr lang="en-US" altLang="zh-CN" sz="2800" b="1" baseline="30000" dirty="0" err="1">
                <a:solidFill>
                  <a:srgbClr val="800080"/>
                </a:solidFill>
                <a:latin typeface="Courier New" panose="02070309020205020404" pitchFamily="49" charset="0"/>
              </a:rPr>
              <a:t>P</a:t>
            </a:r>
            <a:r>
              <a:rPr lang="en-US" altLang="zh-CN" sz="2800" b="1" dirty="0">
                <a:solidFill>
                  <a:srgbClr val="800080"/>
                </a:solidFill>
                <a:latin typeface="Courier New" panose="02070309020205020404" pitchFamily="49" charset="0"/>
              </a:rPr>
              <a:t>(t</a:t>
            </a:r>
            <a:r>
              <a:rPr lang="en-US" altLang="zh-CN" sz="2800" b="1" baseline="-25000" dirty="0">
                <a:solidFill>
                  <a:srgbClr val="800080"/>
                </a:solidFill>
                <a:latin typeface="Courier New" panose="02070309020205020404" pitchFamily="49" charset="0"/>
              </a:rPr>
              <a:t>k+1</a:t>
            </a:r>
            <a:r>
              <a:rPr lang="en-US" altLang="zh-CN" sz="2800" b="1" dirty="0">
                <a:solidFill>
                  <a:srgbClr val="800080"/>
                </a:solidFill>
                <a:latin typeface="Courier New" panose="02070309020205020404" pitchFamily="49" charset="0"/>
              </a:rPr>
              <a:t>,</a:t>
            </a:r>
            <a:r>
              <a:rPr lang="en-US" altLang="zh-CN" sz="2800" b="1" dirty="0">
                <a:solidFill>
                  <a:srgbClr val="008000"/>
                </a:solidFill>
                <a:latin typeface="Courier New" panose="02070309020205020404" pitchFamily="49" charset="0"/>
              </a:rPr>
              <a:t>y</a:t>
            </a:r>
            <a:r>
              <a:rPr lang="en-US" altLang="zh-CN" sz="2800" b="1" baseline="30000" dirty="0">
                <a:solidFill>
                  <a:srgbClr val="008000"/>
                </a:solidFill>
                <a:latin typeface="Courier New" panose="02070309020205020404" pitchFamily="49" charset="0"/>
              </a:rPr>
              <a:t>P</a:t>
            </a:r>
            <a:r>
              <a:rPr lang="en-US" altLang="zh-CN" sz="2800" b="1" baseline="-25000" dirty="0">
                <a:solidFill>
                  <a:srgbClr val="008000"/>
                </a:solidFill>
                <a:latin typeface="Courier New" panose="02070309020205020404" pitchFamily="49" charset="0"/>
              </a:rPr>
              <a:t>k+1</a:t>
            </a:r>
            <a:r>
              <a:rPr lang="en-US" altLang="zh-CN" sz="2800" b="1" dirty="0">
                <a:solidFill>
                  <a:srgbClr val="800080"/>
                </a:solidFill>
                <a:latin typeface="Courier New" panose="02070309020205020404" pitchFamily="49" charset="0"/>
              </a:rPr>
              <a:t>)</a:t>
            </a:r>
            <a:r>
              <a:rPr lang="zh-CN" altLang="en-US" sz="2800" b="1" dirty="0">
                <a:solidFill>
                  <a:srgbClr val="800080"/>
                </a:solidFill>
                <a:latin typeface="Courier New" panose="02070309020205020404" pitchFamily="49" charset="0"/>
              </a:rPr>
              <a:t>］）｝                                    </a:t>
            </a:r>
          </a:p>
          <a:p>
            <a:pPr eaLnBrk="1" hangingPunct="1">
              <a:lnSpc>
                <a:spcPct val="90000"/>
              </a:lnSpc>
            </a:pPr>
            <a:endParaRPr lang="en-US" altLang="zh-CN" dirty="0"/>
          </a:p>
        </p:txBody>
      </p:sp>
      <p:sp>
        <p:nvSpPr>
          <p:cNvPr id="25604" name="AutoShape 4"/>
          <p:cNvSpPr>
            <a:spLocks noChangeArrowheads="1"/>
          </p:cNvSpPr>
          <p:nvPr/>
        </p:nvSpPr>
        <p:spPr bwMode="auto">
          <a:xfrm>
            <a:off x="6084888" y="836613"/>
            <a:ext cx="2133600" cy="838200"/>
          </a:xfrm>
          <a:prstGeom prst="wedgeRectCallout">
            <a:avLst>
              <a:gd name="adj1" fmla="val -179093"/>
              <a:gd name="adj2" fmla="val 97727"/>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baseline="0">
                <a:solidFill>
                  <a:schemeClr val="tx1"/>
                </a:solidFill>
              </a:rPr>
              <a:t>用欧拉法启动求出初值</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7B2A0A23-CA1B-421D-96C9-5CE0691415F8}" type="slidenum">
              <a:rPr lang="en-US" altLang="zh-CN" sz="1400" b="0" baseline="0">
                <a:solidFill>
                  <a:schemeClr val="tx1"/>
                </a:solidFill>
                <a:ea typeface="宋体" panose="02010600030101010101" pitchFamily="2" charset="-122"/>
              </a:rPr>
              <a:pPr eaLnBrk="1" hangingPunct="1"/>
              <a:t>64</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97275868"/>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207194" y="1010170"/>
            <a:ext cx="4267200" cy="609600"/>
          </a:xfr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p:spPr>
        <p:txBody>
          <a:bodyPr>
            <a:flatTx/>
          </a:bodyPr>
          <a:lstStyle/>
          <a:p>
            <a:pPr algn="l" eaLnBrk="1" hangingPunct="1"/>
            <a:r>
              <a:rPr lang="en-US" altLang="zh-CN" sz="3200" b="1">
                <a:solidFill>
                  <a:srgbClr val="FF0066"/>
                </a:solidFill>
                <a:ea typeface="楷体_GB2312" pitchFamily="49" charset="-122"/>
              </a:rPr>
              <a:t>3</a:t>
            </a:r>
            <a:r>
              <a:rPr lang="zh-CN" altLang="en-US" sz="3200" b="1">
                <a:solidFill>
                  <a:srgbClr val="FF0066"/>
                </a:solidFill>
                <a:ea typeface="楷体_GB2312" pitchFamily="49" charset="-122"/>
              </a:rPr>
              <a:t>、梯形法思想的推广</a:t>
            </a:r>
          </a:p>
        </p:txBody>
      </p:sp>
      <p:sp>
        <p:nvSpPr>
          <p:cNvPr id="26627" name="Rectangle 3"/>
          <p:cNvSpPr>
            <a:spLocks noGrp="1" noChangeArrowheads="1"/>
          </p:cNvSpPr>
          <p:nvPr>
            <p:ph type="body" idx="1"/>
          </p:nvPr>
        </p:nvSpPr>
        <p:spPr>
          <a:xfrm>
            <a:off x="1130994" y="1848370"/>
            <a:ext cx="7772400" cy="1752600"/>
          </a:xfrm>
        </p:spPr>
        <p:txBody>
          <a:bodyPr/>
          <a:lstStyle/>
          <a:p>
            <a:pPr eaLnBrk="1" hangingPunct="1">
              <a:buFontTx/>
              <a:buNone/>
            </a:pPr>
            <a:r>
              <a:rPr lang="en-US" altLang="zh-CN" b="1">
                <a:latin typeface="Courier New" panose="02070309020205020404" pitchFamily="49" charset="0"/>
              </a:rPr>
              <a:t>y</a:t>
            </a:r>
            <a:r>
              <a:rPr lang="en-US" altLang="zh-CN" b="1" baseline="-25000">
                <a:latin typeface="Courier New" panose="02070309020205020404" pitchFamily="49" charset="0"/>
              </a:rPr>
              <a:t>m+1</a:t>
            </a:r>
            <a:r>
              <a:rPr lang="zh-CN" altLang="en-US" b="1">
                <a:latin typeface="Courier New" panose="02070309020205020404" pitchFamily="49" charset="0"/>
              </a:rPr>
              <a:t>＝</a:t>
            </a:r>
            <a:r>
              <a:rPr lang="en-US" altLang="zh-CN" b="1">
                <a:latin typeface="Courier New" panose="02070309020205020404" pitchFamily="49" charset="0"/>
              </a:rPr>
              <a:t>y</a:t>
            </a:r>
            <a:r>
              <a:rPr lang="en-US" altLang="zh-CN" b="1" baseline="-25000">
                <a:latin typeface="Courier New" panose="02070309020205020404" pitchFamily="49" charset="0"/>
              </a:rPr>
              <a:t>m</a:t>
            </a:r>
            <a:r>
              <a:rPr lang="zh-CN" altLang="en-US" b="1">
                <a:latin typeface="Courier New" panose="02070309020205020404" pitchFamily="49" charset="0"/>
              </a:rPr>
              <a:t>＋</a:t>
            </a:r>
            <a:r>
              <a:rPr lang="en-US" altLang="zh-CN" b="1">
                <a:latin typeface="Courier New" panose="02070309020205020404" pitchFamily="49" charset="0"/>
              </a:rPr>
              <a:t>h[(1/2)(k</a:t>
            </a:r>
            <a:r>
              <a:rPr lang="en-US" altLang="zh-CN" b="1" baseline="-25000">
                <a:latin typeface="Courier New" panose="02070309020205020404" pitchFamily="49" charset="0"/>
              </a:rPr>
              <a:t>1</a:t>
            </a:r>
            <a:r>
              <a:rPr lang="en-US" altLang="zh-CN" b="1">
                <a:latin typeface="Courier New" panose="02070309020205020404" pitchFamily="49" charset="0"/>
              </a:rPr>
              <a:t>+k</a:t>
            </a:r>
            <a:r>
              <a:rPr lang="en-US" altLang="zh-CN" b="1" baseline="-25000">
                <a:latin typeface="Courier New" panose="02070309020205020404" pitchFamily="49" charset="0"/>
              </a:rPr>
              <a:t>2</a:t>
            </a:r>
            <a:r>
              <a:rPr lang="en-US" altLang="zh-CN" b="1">
                <a:latin typeface="Courier New" panose="02070309020205020404" pitchFamily="49" charset="0"/>
              </a:rPr>
              <a:t>)]</a:t>
            </a:r>
          </a:p>
          <a:p>
            <a:pPr eaLnBrk="1" hangingPunct="1">
              <a:buFontTx/>
              <a:buNone/>
            </a:pPr>
            <a:r>
              <a:rPr lang="en-US" altLang="zh-CN" b="1">
                <a:latin typeface="Courier New" panose="02070309020205020404" pitchFamily="49" charset="0"/>
              </a:rPr>
              <a:t> k</a:t>
            </a:r>
            <a:r>
              <a:rPr lang="en-US" altLang="zh-CN" b="1" baseline="-25000">
                <a:latin typeface="Courier New" panose="02070309020205020404" pitchFamily="49" charset="0"/>
              </a:rPr>
              <a:t>1</a:t>
            </a:r>
            <a:r>
              <a:rPr lang="zh-CN" altLang="en-US" b="1">
                <a:latin typeface="Courier New" panose="02070309020205020404" pitchFamily="49" charset="0"/>
              </a:rPr>
              <a:t>＝</a:t>
            </a:r>
            <a:r>
              <a:rPr lang="en-US" altLang="zh-CN" b="1">
                <a:latin typeface="Courier New" panose="02070309020205020404" pitchFamily="49" charset="0"/>
              </a:rPr>
              <a:t>f(t</a:t>
            </a:r>
            <a:r>
              <a:rPr lang="en-US" altLang="zh-CN" b="1" baseline="-25000">
                <a:latin typeface="Courier New" panose="02070309020205020404" pitchFamily="49" charset="0"/>
              </a:rPr>
              <a:t>m</a:t>
            </a:r>
            <a:r>
              <a:rPr lang="en-US" altLang="zh-CN" b="1">
                <a:latin typeface="Courier New" panose="02070309020205020404" pitchFamily="49" charset="0"/>
              </a:rPr>
              <a:t>,y</a:t>
            </a:r>
            <a:r>
              <a:rPr lang="en-US" altLang="zh-CN" b="1" baseline="-25000">
                <a:latin typeface="Courier New" panose="02070309020205020404" pitchFamily="49" charset="0"/>
              </a:rPr>
              <a:t>m</a:t>
            </a:r>
            <a:r>
              <a:rPr lang="en-US" altLang="zh-CN" b="1">
                <a:latin typeface="Courier New" panose="02070309020205020404" pitchFamily="49" charset="0"/>
              </a:rPr>
              <a:t>) </a:t>
            </a:r>
          </a:p>
          <a:p>
            <a:pPr eaLnBrk="1" hangingPunct="1">
              <a:buFontTx/>
              <a:buNone/>
            </a:pPr>
            <a:r>
              <a:rPr lang="en-US" altLang="zh-CN" b="1">
                <a:latin typeface="Courier New" panose="02070309020205020404" pitchFamily="49" charset="0"/>
              </a:rPr>
              <a:t> k</a:t>
            </a:r>
            <a:r>
              <a:rPr lang="en-US" altLang="zh-CN" b="1" baseline="-25000">
                <a:latin typeface="Courier New" panose="02070309020205020404" pitchFamily="49" charset="0"/>
              </a:rPr>
              <a:t>2</a:t>
            </a:r>
            <a:r>
              <a:rPr lang="zh-CN" altLang="en-US" b="1">
                <a:latin typeface="Courier New" panose="02070309020205020404" pitchFamily="49" charset="0"/>
              </a:rPr>
              <a:t>＝</a:t>
            </a:r>
            <a:r>
              <a:rPr lang="en-US" altLang="zh-CN" b="1">
                <a:latin typeface="Courier New" panose="02070309020205020404" pitchFamily="49" charset="0"/>
              </a:rPr>
              <a:t>f</a:t>
            </a:r>
            <a:r>
              <a:rPr lang="en-US" altLang="zh-CN" b="1" baseline="30000">
                <a:latin typeface="Courier New" panose="02070309020205020404" pitchFamily="49" charset="0"/>
              </a:rPr>
              <a:t>P</a:t>
            </a:r>
            <a:r>
              <a:rPr lang="en-US" altLang="zh-CN" b="1">
                <a:latin typeface="Courier New" panose="02070309020205020404" pitchFamily="49" charset="0"/>
              </a:rPr>
              <a:t>(t</a:t>
            </a:r>
            <a:r>
              <a:rPr lang="en-US" altLang="zh-CN" b="1" baseline="-25000">
                <a:latin typeface="Courier New" panose="02070309020205020404" pitchFamily="49" charset="0"/>
              </a:rPr>
              <a:t>m+1</a:t>
            </a:r>
            <a:r>
              <a:rPr lang="en-US" altLang="zh-CN" b="1">
                <a:latin typeface="Courier New" panose="02070309020205020404" pitchFamily="49" charset="0"/>
              </a:rPr>
              <a:t>,y</a:t>
            </a:r>
            <a:r>
              <a:rPr lang="en-US" altLang="zh-CN" b="1" baseline="30000">
                <a:latin typeface="Courier New" panose="02070309020205020404" pitchFamily="49" charset="0"/>
              </a:rPr>
              <a:t>P</a:t>
            </a:r>
            <a:r>
              <a:rPr lang="en-US" altLang="zh-CN" b="1" baseline="-25000">
                <a:latin typeface="Courier New" panose="02070309020205020404" pitchFamily="49" charset="0"/>
              </a:rPr>
              <a:t>m+1</a:t>
            </a:r>
            <a:r>
              <a:rPr lang="en-US" altLang="zh-CN" b="1">
                <a:latin typeface="Courier New" panose="02070309020205020404" pitchFamily="49" charset="0"/>
              </a:rPr>
              <a:t>)</a:t>
            </a:r>
            <a:endParaRPr lang="en-US" altLang="zh-CN">
              <a:latin typeface="Courier New" panose="02070309020205020404" pitchFamily="49" charset="0"/>
            </a:endParaRPr>
          </a:p>
        </p:txBody>
      </p:sp>
      <p:grpSp>
        <p:nvGrpSpPr>
          <p:cNvPr id="48138" name="Group 10"/>
          <p:cNvGrpSpPr>
            <a:grpSpLocks/>
          </p:cNvGrpSpPr>
          <p:nvPr/>
        </p:nvGrpSpPr>
        <p:grpSpPr bwMode="auto">
          <a:xfrm>
            <a:off x="611883" y="4277244"/>
            <a:ext cx="8458200" cy="1903413"/>
            <a:chOff x="57" y="2442"/>
            <a:chExt cx="5328" cy="1199"/>
          </a:xfrm>
        </p:grpSpPr>
        <p:sp>
          <p:nvSpPr>
            <p:cNvPr id="26634" name="Text Box 4"/>
            <p:cNvSpPr txBox="1">
              <a:spLocks noChangeArrowheads="1"/>
            </p:cNvSpPr>
            <p:nvPr/>
          </p:nvSpPr>
          <p:spPr bwMode="auto">
            <a:xfrm>
              <a:off x="57" y="2442"/>
              <a:ext cx="5328" cy="8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spcBef>
                  <a:spcPct val="0"/>
                </a:spcBef>
              </a:pPr>
              <a:r>
                <a:rPr lang="zh-CN" altLang="en-US" sz="2800" baseline="0" dirty="0">
                  <a:solidFill>
                    <a:srgbClr val="0D17D7"/>
                  </a:solidFill>
                  <a:latin typeface="Courier New" panose="02070309020205020404" pitchFamily="49" charset="0"/>
                  <a:ea typeface="宋体" panose="02010600030101010101" pitchFamily="2" charset="-122"/>
                </a:rPr>
                <a:t>若在每一步中取</a:t>
              </a:r>
              <a:r>
                <a:rPr lang="en-US" altLang="zh-CN" sz="2800" baseline="0" dirty="0">
                  <a:solidFill>
                    <a:srgbClr val="0D17D7"/>
                  </a:solidFill>
                  <a:latin typeface="Courier New" panose="02070309020205020404" pitchFamily="49" charset="0"/>
                  <a:ea typeface="宋体" panose="02010600030101010101" pitchFamily="2" charset="-122"/>
                </a:rPr>
                <a:t>r</a:t>
              </a:r>
              <a:r>
                <a:rPr lang="zh-CN" altLang="en-US" sz="2800" baseline="0" dirty="0">
                  <a:solidFill>
                    <a:srgbClr val="0D17D7"/>
                  </a:solidFill>
                  <a:latin typeface="Courier New" panose="02070309020205020404" pitchFamily="49" charset="0"/>
                  <a:ea typeface="宋体" panose="02010600030101010101" pitchFamily="2" charset="-122"/>
                </a:rPr>
                <a:t>点，分别找到</a:t>
              </a:r>
              <a:r>
                <a:rPr lang="en-US" altLang="zh-CN" sz="2800" baseline="0" dirty="0">
                  <a:solidFill>
                    <a:srgbClr val="0D17D7"/>
                  </a:solidFill>
                  <a:latin typeface="Courier New" panose="02070309020205020404" pitchFamily="49" charset="0"/>
                  <a:ea typeface="宋体" panose="02010600030101010101" pitchFamily="2" charset="-122"/>
                </a:rPr>
                <a:t>k</a:t>
              </a:r>
              <a:r>
                <a:rPr lang="en-US" altLang="zh-CN" sz="2800" baseline="-25000" dirty="0">
                  <a:solidFill>
                    <a:srgbClr val="0D17D7"/>
                  </a:solidFill>
                  <a:latin typeface="Courier New" panose="02070309020205020404" pitchFamily="49" charset="0"/>
                  <a:ea typeface="宋体" panose="02010600030101010101" pitchFamily="2" charset="-122"/>
                </a:rPr>
                <a:t>1</a:t>
              </a:r>
              <a:r>
                <a:rPr lang="zh-CN" altLang="en-US" sz="2800" baseline="0" dirty="0">
                  <a:solidFill>
                    <a:srgbClr val="0D17D7"/>
                  </a:solidFill>
                  <a:latin typeface="Courier New" panose="02070309020205020404" pitchFamily="49" charset="0"/>
                  <a:ea typeface="宋体" panose="02010600030101010101" pitchFamily="2" charset="-122"/>
                </a:rPr>
                <a:t>，</a:t>
              </a:r>
              <a:r>
                <a:rPr lang="en-US" altLang="zh-CN" sz="2800" baseline="0" dirty="0">
                  <a:solidFill>
                    <a:srgbClr val="0D17D7"/>
                  </a:solidFill>
                  <a:latin typeface="Courier New" panose="02070309020205020404" pitchFamily="49" charset="0"/>
                  <a:ea typeface="宋体" panose="02010600030101010101" pitchFamily="2" charset="-122"/>
                </a:rPr>
                <a:t>k</a:t>
              </a:r>
              <a:r>
                <a:rPr lang="en-US" altLang="zh-CN" sz="2800" baseline="-25000" dirty="0">
                  <a:solidFill>
                    <a:srgbClr val="0D17D7"/>
                  </a:solidFill>
                  <a:latin typeface="Courier New" panose="02070309020205020404" pitchFamily="49" charset="0"/>
                  <a:ea typeface="宋体" panose="02010600030101010101" pitchFamily="2" charset="-122"/>
                </a:rPr>
                <a:t>2</a:t>
              </a:r>
              <a:r>
                <a:rPr lang="zh-CN" altLang="en-US" sz="2800" baseline="0" dirty="0">
                  <a:solidFill>
                    <a:srgbClr val="0D17D7"/>
                  </a:solidFill>
                  <a:latin typeface="Courier New" panose="02070309020205020404" pitchFamily="49" charset="0"/>
                  <a:ea typeface="宋体" panose="02010600030101010101" pitchFamily="2" charset="-122"/>
                </a:rPr>
                <a:t>，</a:t>
              </a:r>
              <a:r>
                <a:rPr lang="en-US" altLang="zh-CN" sz="2800" baseline="0" dirty="0">
                  <a:solidFill>
                    <a:srgbClr val="0D17D7"/>
                  </a:solidFill>
                  <a:latin typeface="Courier New" panose="02070309020205020404" pitchFamily="49" charset="0"/>
                  <a:ea typeface="宋体" panose="02010600030101010101" pitchFamily="2" charset="-122"/>
                </a:rPr>
                <a:t>…</a:t>
              </a:r>
              <a:r>
                <a:rPr lang="zh-CN" altLang="en-US" sz="2800" baseline="0" dirty="0">
                  <a:solidFill>
                    <a:srgbClr val="0D17D7"/>
                  </a:solidFill>
                  <a:latin typeface="Courier New" panose="02070309020205020404" pitchFamily="49" charset="0"/>
                  <a:ea typeface="宋体" panose="02010600030101010101" pitchFamily="2" charset="-122"/>
                </a:rPr>
                <a:t>，</a:t>
              </a:r>
              <a:r>
                <a:rPr lang="en-US" altLang="zh-CN" sz="2800" baseline="0" dirty="0" err="1">
                  <a:solidFill>
                    <a:srgbClr val="0D17D7"/>
                  </a:solidFill>
                  <a:latin typeface="Courier New" panose="02070309020205020404" pitchFamily="49" charset="0"/>
                  <a:ea typeface="宋体" panose="02010600030101010101" pitchFamily="2" charset="-122"/>
                </a:rPr>
                <a:t>k</a:t>
              </a:r>
              <a:r>
                <a:rPr lang="en-US" altLang="zh-CN" sz="2800" baseline="-25000" dirty="0" err="1">
                  <a:solidFill>
                    <a:srgbClr val="0D17D7"/>
                  </a:solidFill>
                  <a:latin typeface="Courier New" panose="02070309020205020404" pitchFamily="49" charset="0"/>
                  <a:ea typeface="宋体" panose="02010600030101010101" pitchFamily="2" charset="-122"/>
                </a:rPr>
                <a:t>r</a:t>
              </a:r>
              <a:r>
                <a:rPr lang="zh-CN" altLang="en-US" sz="2800" baseline="0" dirty="0">
                  <a:solidFill>
                    <a:srgbClr val="0D17D7"/>
                  </a:solidFill>
                  <a:latin typeface="Courier New" panose="02070309020205020404" pitchFamily="49" charset="0"/>
                  <a:ea typeface="宋体" panose="02010600030101010101" pitchFamily="2" charset="-122"/>
                </a:rPr>
                <a:t>，然后取不同的加权，则方法为</a:t>
              </a:r>
              <a:endParaRPr lang="zh-CN" altLang="en-US" sz="2800" baseline="0" dirty="0">
                <a:solidFill>
                  <a:schemeClr val="tx1"/>
                </a:solidFill>
                <a:latin typeface="Courier New" panose="02070309020205020404" pitchFamily="49" charset="0"/>
                <a:ea typeface="宋体" panose="02010600030101010101" pitchFamily="2" charset="-122"/>
              </a:endParaRPr>
            </a:p>
            <a:p>
              <a:pPr algn="l" eaLnBrk="1" hangingPunct="1">
                <a:spcBef>
                  <a:spcPct val="0"/>
                </a:spcBef>
              </a:pPr>
              <a:r>
                <a:rPr lang="en-US" altLang="zh-CN" sz="2800" baseline="0" dirty="0">
                  <a:solidFill>
                    <a:schemeClr val="tx1"/>
                  </a:solidFill>
                  <a:latin typeface="Courier New" panose="02070309020205020404" pitchFamily="49" charset="0"/>
                  <a:ea typeface="宋体" panose="02010600030101010101" pitchFamily="2" charset="-122"/>
                </a:rPr>
                <a:t>k</a:t>
              </a:r>
              <a:r>
                <a:rPr lang="en-US" altLang="zh-CN" sz="2800" baseline="-25000" dirty="0">
                  <a:solidFill>
                    <a:schemeClr val="tx1"/>
                  </a:solidFill>
                  <a:latin typeface="Courier New" panose="02070309020205020404" pitchFamily="49" charset="0"/>
                  <a:ea typeface="宋体" panose="02010600030101010101" pitchFamily="2" charset="-122"/>
                </a:rPr>
                <a:t>w</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baseline="0" dirty="0">
                  <a:solidFill>
                    <a:schemeClr val="tx1"/>
                  </a:solidFill>
                  <a:latin typeface="Courier New" panose="02070309020205020404" pitchFamily="49" charset="0"/>
                  <a:ea typeface="宋体" panose="02010600030101010101" pitchFamily="2" charset="-122"/>
                </a:rPr>
                <a:t>w</a:t>
              </a:r>
              <a:r>
                <a:rPr lang="en-US" altLang="zh-CN" sz="2800" baseline="-25000" dirty="0">
                  <a:solidFill>
                    <a:schemeClr val="tx1"/>
                  </a:solidFill>
                  <a:latin typeface="Courier New" panose="02070309020205020404" pitchFamily="49" charset="0"/>
                  <a:ea typeface="宋体" panose="02010600030101010101" pitchFamily="2" charset="-122"/>
                </a:rPr>
                <a:t>1</a:t>
              </a:r>
              <a:r>
                <a:rPr lang="en-US" altLang="zh-CN" sz="2800" baseline="0" dirty="0">
                  <a:solidFill>
                    <a:schemeClr val="tx1"/>
                  </a:solidFill>
                  <a:latin typeface="Courier New" panose="02070309020205020404" pitchFamily="49" charset="0"/>
                  <a:ea typeface="宋体" panose="02010600030101010101" pitchFamily="2" charset="-122"/>
                </a:rPr>
                <a:t>k</a:t>
              </a:r>
              <a:r>
                <a:rPr lang="en-US" altLang="zh-CN" sz="2800" baseline="-25000" dirty="0">
                  <a:solidFill>
                    <a:schemeClr val="tx1"/>
                  </a:solidFill>
                  <a:latin typeface="Courier New" panose="02070309020205020404" pitchFamily="49" charset="0"/>
                  <a:ea typeface="宋体" panose="02010600030101010101" pitchFamily="2" charset="-122"/>
                </a:rPr>
                <a:t>1</a:t>
              </a:r>
              <a:r>
                <a:rPr lang="en-US" altLang="zh-CN" sz="2800" baseline="0" dirty="0">
                  <a:solidFill>
                    <a:schemeClr val="tx1"/>
                  </a:solidFill>
                  <a:latin typeface="Courier New" panose="02070309020205020404" pitchFamily="49" charset="0"/>
                  <a:ea typeface="宋体" panose="02010600030101010101" pitchFamily="2" charset="-122"/>
                </a:rPr>
                <a:t>+w</a:t>
              </a:r>
              <a:r>
                <a:rPr lang="en-US" altLang="zh-CN" sz="2800" baseline="-25000" dirty="0">
                  <a:solidFill>
                    <a:schemeClr val="tx1"/>
                  </a:solidFill>
                  <a:latin typeface="Courier New" panose="02070309020205020404" pitchFamily="49" charset="0"/>
                  <a:ea typeface="宋体" panose="02010600030101010101" pitchFamily="2" charset="-122"/>
                </a:rPr>
                <a:t>2</a:t>
              </a:r>
              <a:r>
                <a:rPr lang="en-US" altLang="zh-CN" sz="2800" baseline="0" dirty="0">
                  <a:solidFill>
                    <a:schemeClr val="tx1"/>
                  </a:solidFill>
                  <a:latin typeface="Courier New" panose="02070309020205020404" pitchFamily="49" charset="0"/>
                  <a:ea typeface="宋体" panose="02010600030101010101" pitchFamily="2" charset="-122"/>
                </a:rPr>
                <a:t>k</a:t>
              </a:r>
              <a:r>
                <a:rPr lang="en-US" altLang="zh-CN" sz="2800" baseline="-25000" dirty="0">
                  <a:solidFill>
                    <a:schemeClr val="tx1"/>
                  </a:solidFill>
                  <a:latin typeface="Courier New" panose="02070309020205020404" pitchFamily="49" charset="0"/>
                  <a:ea typeface="宋体" panose="02010600030101010101" pitchFamily="2" charset="-122"/>
                </a:rPr>
                <a:t>2</a:t>
              </a:r>
              <a:r>
                <a:rPr lang="en-US" altLang="zh-CN" sz="2800" baseline="0" dirty="0">
                  <a:solidFill>
                    <a:schemeClr val="tx1"/>
                  </a:solidFill>
                  <a:latin typeface="Courier New" panose="02070309020205020404" pitchFamily="49" charset="0"/>
                  <a:ea typeface="宋体" panose="02010600030101010101" pitchFamily="2" charset="-122"/>
                </a:rPr>
                <a:t>+…+</a:t>
              </a:r>
              <a:r>
                <a:rPr lang="en-US" altLang="zh-CN" sz="2800" baseline="0" dirty="0" err="1">
                  <a:solidFill>
                    <a:schemeClr val="tx1"/>
                  </a:solidFill>
                  <a:latin typeface="Courier New" panose="02070309020205020404" pitchFamily="49" charset="0"/>
                  <a:ea typeface="宋体" panose="02010600030101010101" pitchFamily="2" charset="-122"/>
                </a:rPr>
                <a:t>w</a:t>
              </a:r>
              <a:r>
                <a:rPr lang="en-US" altLang="zh-CN" sz="2800" baseline="-25000" dirty="0" err="1">
                  <a:solidFill>
                    <a:schemeClr val="tx1"/>
                  </a:solidFill>
                  <a:latin typeface="Courier New" panose="02070309020205020404" pitchFamily="49" charset="0"/>
                  <a:ea typeface="宋体" panose="02010600030101010101" pitchFamily="2" charset="-122"/>
                </a:rPr>
                <a:t>r</a:t>
              </a:r>
              <a:r>
                <a:rPr lang="en-US" altLang="zh-CN" sz="2800" baseline="0" dirty="0" err="1">
                  <a:solidFill>
                    <a:schemeClr val="tx1"/>
                  </a:solidFill>
                  <a:latin typeface="Courier New" panose="02070309020205020404" pitchFamily="49" charset="0"/>
                  <a:ea typeface="宋体" panose="02010600030101010101" pitchFamily="2" charset="-122"/>
                </a:rPr>
                <a:t>k</a:t>
              </a:r>
              <a:r>
                <a:rPr lang="en-US" altLang="zh-CN" sz="2800" baseline="-25000" dirty="0" err="1">
                  <a:solidFill>
                    <a:schemeClr val="tx1"/>
                  </a:solidFill>
                  <a:latin typeface="Courier New" panose="02070309020205020404" pitchFamily="49" charset="0"/>
                  <a:ea typeface="宋体" panose="02010600030101010101" pitchFamily="2" charset="-122"/>
                </a:rPr>
                <a:t>r</a:t>
              </a:r>
              <a:r>
                <a:rPr lang="en-US" altLang="zh-CN" sz="2800" baseline="0" dirty="0">
                  <a:solidFill>
                    <a:schemeClr val="tx1"/>
                  </a:solidFill>
                  <a:latin typeface="Courier New" panose="02070309020205020404" pitchFamily="49" charset="0"/>
                  <a:ea typeface="宋体" panose="02010600030101010101" pitchFamily="2" charset="-122"/>
                </a:rPr>
                <a:t> </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dirty="0" err="1">
                  <a:solidFill>
                    <a:schemeClr val="tx1"/>
                  </a:solidFill>
                  <a:latin typeface="Courier New" panose="02070309020205020404" pitchFamily="49" charset="0"/>
                  <a:ea typeface="宋体" panose="02010600030101010101" pitchFamily="2" charset="-122"/>
                </a:rPr>
                <a:t>r</a:t>
              </a:r>
              <a:r>
                <a:rPr lang="en-US" altLang="zh-CN" sz="2800" baseline="-25000" dirty="0" err="1">
                  <a:solidFill>
                    <a:schemeClr val="tx1"/>
                  </a:solidFill>
                  <a:latin typeface="Courier New" panose="02070309020205020404" pitchFamily="49" charset="0"/>
                  <a:ea typeface="宋体" panose="02010600030101010101" pitchFamily="2" charset="-122"/>
                </a:rPr>
                <a:t>i</a:t>
              </a:r>
              <a:r>
                <a:rPr lang="en-US" altLang="zh-CN" sz="2800" baseline="-25000" dirty="0">
                  <a:solidFill>
                    <a:schemeClr val="tx1"/>
                  </a:solidFill>
                  <a:latin typeface="Courier New" panose="02070309020205020404" pitchFamily="49" charset="0"/>
                  <a:ea typeface="宋体" panose="02010600030101010101" pitchFamily="2" charset="-122"/>
                </a:rPr>
                <a:t>=1</a:t>
              </a:r>
              <a:r>
                <a:rPr lang="en-US" altLang="zh-CN" sz="2800" baseline="0" dirty="0">
                  <a:solidFill>
                    <a:schemeClr val="tx1"/>
                  </a:solidFill>
                  <a:latin typeface="Courier New" panose="02070309020205020404" pitchFamily="49" charset="0"/>
                  <a:ea typeface="宋体" panose="02010600030101010101" pitchFamily="2" charset="-122"/>
                </a:rPr>
                <a:t>w</a:t>
              </a:r>
              <a:r>
                <a:rPr lang="en-US" altLang="zh-CN" sz="2800" baseline="-25000" dirty="0">
                  <a:solidFill>
                    <a:schemeClr val="tx1"/>
                  </a:solidFill>
                  <a:latin typeface="Courier New" panose="02070309020205020404" pitchFamily="49" charset="0"/>
                  <a:ea typeface="宋体" panose="02010600030101010101" pitchFamily="2" charset="-122"/>
                </a:rPr>
                <a:t>i</a:t>
              </a:r>
              <a:r>
                <a:rPr lang="en-US" altLang="zh-CN" sz="2800" baseline="0" dirty="0">
                  <a:solidFill>
                    <a:schemeClr val="tx1"/>
                  </a:solidFill>
                  <a:latin typeface="Courier New" panose="02070309020205020404" pitchFamily="49" charset="0"/>
                  <a:ea typeface="宋体" panose="02010600030101010101" pitchFamily="2" charset="-122"/>
                </a:rPr>
                <a:t>k</a:t>
              </a:r>
              <a:r>
                <a:rPr lang="en-US" altLang="zh-CN" sz="2800" baseline="-25000" dirty="0">
                  <a:solidFill>
                    <a:schemeClr val="tx1"/>
                  </a:solidFill>
                  <a:latin typeface="Courier New" panose="02070309020205020404" pitchFamily="49" charset="0"/>
                  <a:ea typeface="宋体" panose="02010600030101010101" pitchFamily="2" charset="-122"/>
                </a:rPr>
                <a:t>i</a:t>
              </a:r>
              <a:endParaRPr lang="en-US" altLang="zh-CN" sz="3200" baseline="0" dirty="0">
                <a:solidFill>
                  <a:schemeClr val="tx1"/>
                </a:solidFill>
              </a:endParaRPr>
            </a:p>
          </p:txBody>
        </p:sp>
        <p:sp>
          <p:nvSpPr>
            <p:cNvPr id="26635" name="Text Box 5"/>
            <p:cNvSpPr txBox="1">
              <a:spLocks noChangeArrowheads="1"/>
            </p:cNvSpPr>
            <p:nvPr/>
          </p:nvSpPr>
          <p:spPr bwMode="auto">
            <a:xfrm>
              <a:off x="293" y="3314"/>
              <a:ext cx="426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en-US" altLang="zh-CN" sz="2800" baseline="0" dirty="0">
                  <a:solidFill>
                    <a:schemeClr val="tx1"/>
                  </a:solidFill>
                  <a:latin typeface="Courier New" panose="02070309020205020404" pitchFamily="49" charset="0"/>
                  <a:ea typeface="宋体" panose="02010600030101010101" pitchFamily="2" charset="-122"/>
                </a:rPr>
                <a:t>y</a:t>
              </a:r>
              <a:r>
                <a:rPr lang="en-US" altLang="zh-CN" sz="2800" baseline="-25000" dirty="0">
                  <a:solidFill>
                    <a:schemeClr val="tx1"/>
                  </a:solidFill>
                  <a:latin typeface="Courier New" panose="02070309020205020404" pitchFamily="49" charset="0"/>
                  <a:ea typeface="宋体" panose="02010600030101010101" pitchFamily="2" charset="-122"/>
                </a:rPr>
                <a:t>m+1</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baseline="0" dirty="0" err="1">
                  <a:solidFill>
                    <a:schemeClr val="tx1"/>
                  </a:solidFill>
                  <a:latin typeface="Courier New" panose="02070309020205020404" pitchFamily="49" charset="0"/>
                  <a:ea typeface="宋体" panose="02010600030101010101" pitchFamily="2" charset="-122"/>
                </a:rPr>
                <a:t>y</a:t>
              </a:r>
              <a:r>
                <a:rPr lang="en-US" altLang="zh-CN" sz="2800" baseline="-25000" dirty="0" err="1">
                  <a:solidFill>
                    <a:schemeClr val="tx1"/>
                  </a:solidFill>
                  <a:latin typeface="Courier New" panose="02070309020205020404" pitchFamily="49" charset="0"/>
                  <a:ea typeface="宋体" panose="02010600030101010101" pitchFamily="2" charset="-122"/>
                </a:rPr>
                <a:t>m</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baseline="0" dirty="0" err="1">
                  <a:solidFill>
                    <a:schemeClr val="tx1"/>
                  </a:solidFill>
                  <a:latin typeface="Courier New" panose="02070309020205020404" pitchFamily="49" charset="0"/>
                  <a:ea typeface="宋体" panose="02010600030101010101" pitchFamily="2" charset="-122"/>
                </a:rPr>
                <a:t>hk</a:t>
              </a:r>
              <a:r>
                <a:rPr lang="en-US" altLang="zh-CN" sz="2800" baseline="-25000" dirty="0" err="1">
                  <a:solidFill>
                    <a:schemeClr val="tx1"/>
                  </a:solidFill>
                  <a:latin typeface="Courier New" panose="02070309020205020404" pitchFamily="49" charset="0"/>
                  <a:ea typeface="宋体" panose="02010600030101010101" pitchFamily="2" charset="-122"/>
                </a:rPr>
                <a:t>w</a:t>
              </a:r>
              <a:r>
                <a:rPr lang="en-US" altLang="zh-CN" sz="2800" baseline="-25000" dirty="0">
                  <a:solidFill>
                    <a:srgbClr val="FF0066"/>
                  </a:solidFill>
                  <a:latin typeface="Courier New" panose="02070309020205020404" pitchFamily="49" charset="0"/>
                  <a:ea typeface="宋体" panose="02010600030101010101" pitchFamily="2" charset="-122"/>
                </a:rPr>
                <a:t>       </a:t>
              </a:r>
              <a:r>
                <a:rPr lang="zh-CN" altLang="en-US" sz="2800" baseline="0" dirty="0">
                  <a:solidFill>
                    <a:srgbClr val="0D17D7"/>
                  </a:solidFill>
                  <a:latin typeface="Courier New" panose="02070309020205020404" pitchFamily="49" charset="0"/>
                </a:rPr>
                <a:t>其中：</a:t>
              </a:r>
              <a:r>
                <a:rPr lang="zh-CN" altLang="en-US" sz="2800" baseline="0" dirty="0">
                  <a:latin typeface="Courier New" panose="02070309020205020404" pitchFamily="49" charset="0"/>
                </a:rPr>
                <a:t> </a:t>
              </a:r>
              <a:r>
                <a:rPr lang="zh-CN" altLang="en-US" sz="2800" baseline="-25000" dirty="0">
                  <a:solidFill>
                    <a:srgbClr val="FF0066"/>
                  </a:solidFill>
                  <a:latin typeface="Courier New" panose="02070309020205020404" pitchFamily="49" charset="0"/>
                  <a:ea typeface="宋体" panose="02010600030101010101" pitchFamily="2" charset="-122"/>
                </a:rPr>
                <a:t> </a:t>
              </a:r>
              <a:r>
                <a:rPr lang="zh-CN" altLang="en-US" sz="2800" baseline="0" dirty="0">
                  <a:solidFill>
                    <a:schemeClr val="tx1"/>
                  </a:solidFill>
                  <a:latin typeface="Courier New" panose="02070309020205020404" pitchFamily="49" charset="0"/>
                  <a:ea typeface="宋体" panose="02010600030101010101" pitchFamily="2" charset="-122"/>
                </a:rPr>
                <a:t>∑</a:t>
              </a:r>
              <a:r>
                <a:rPr lang="en-US" altLang="zh-CN" sz="2800" dirty="0" err="1">
                  <a:solidFill>
                    <a:schemeClr val="tx1"/>
                  </a:solidFill>
                  <a:latin typeface="Courier New" panose="02070309020205020404" pitchFamily="49" charset="0"/>
                  <a:ea typeface="宋体" panose="02010600030101010101" pitchFamily="2" charset="-122"/>
                </a:rPr>
                <a:t>r</a:t>
              </a:r>
              <a:r>
                <a:rPr lang="en-US" altLang="zh-CN" sz="2800" baseline="-25000" dirty="0" err="1">
                  <a:solidFill>
                    <a:schemeClr val="tx1"/>
                  </a:solidFill>
                  <a:latin typeface="Courier New" panose="02070309020205020404" pitchFamily="49" charset="0"/>
                  <a:ea typeface="宋体" panose="02010600030101010101" pitchFamily="2" charset="-122"/>
                </a:rPr>
                <a:t>i</a:t>
              </a:r>
              <a:r>
                <a:rPr lang="en-US" altLang="zh-CN" sz="2800" baseline="-25000" dirty="0">
                  <a:solidFill>
                    <a:schemeClr val="tx1"/>
                  </a:solidFill>
                  <a:latin typeface="Courier New" panose="02070309020205020404" pitchFamily="49" charset="0"/>
                  <a:ea typeface="宋体" panose="02010600030101010101" pitchFamily="2" charset="-122"/>
                </a:rPr>
                <a:t>=1</a:t>
              </a:r>
              <a:r>
                <a:rPr lang="en-US" altLang="zh-CN" sz="2800" baseline="0" dirty="0">
                  <a:solidFill>
                    <a:schemeClr val="tx1"/>
                  </a:solidFill>
                  <a:latin typeface="Courier New" panose="02070309020205020404" pitchFamily="49" charset="0"/>
                  <a:ea typeface="宋体" panose="02010600030101010101" pitchFamily="2" charset="-122"/>
                </a:rPr>
                <a:t>w</a:t>
              </a:r>
              <a:r>
                <a:rPr lang="en-US" altLang="zh-CN" sz="2800" baseline="-25000" dirty="0">
                  <a:solidFill>
                    <a:schemeClr val="tx1"/>
                  </a:solidFill>
                  <a:latin typeface="Courier New" panose="02070309020205020404" pitchFamily="49" charset="0"/>
                  <a:ea typeface="宋体" panose="02010600030101010101" pitchFamily="2" charset="-122"/>
                </a:rPr>
                <a:t>i</a:t>
              </a:r>
              <a:r>
                <a:rPr lang="en-US" altLang="zh-CN" sz="2800" baseline="0" dirty="0">
                  <a:solidFill>
                    <a:schemeClr val="tx1"/>
                  </a:solidFill>
                  <a:latin typeface="Courier New" panose="02070309020205020404" pitchFamily="49" charset="0"/>
                  <a:ea typeface="宋体" panose="02010600030101010101" pitchFamily="2" charset="-122"/>
                </a:rPr>
                <a:t>=1</a:t>
              </a:r>
              <a:r>
                <a:rPr lang="en-US" altLang="zh-CN" sz="2800" baseline="-25000" dirty="0">
                  <a:solidFill>
                    <a:schemeClr val="tx1"/>
                  </a:solidFill>
                  <a:latin typeface="Courier New" panose="02070309020205020404" pitchFamily="49" charset="0"/>
                  <a:ea typeface="宋体" panose="02010600030101010101" pitchFamily="2" charset="-122"/>
                </a:rPr>
                <a:t> </a:t>
              </a:r>
            </a:p>
          </p:txBody>
        </p:sp>
      </p:grpSp>
      <p:sp>
        <p:nvSpPr>
          <p:cNvPr id="48139" name="AutoShape 11"/>
          <p:cNvSpPr>
            <a:spLocks noChangeArrowheads="1"/>
          </p:cNvSpPr>
          <p:nvPr/>
        </p:nvSpPr>
        <p:spPr bwMode="auto">
          <a:xfrm>
            <a:off x="6083994" y="3067570"/>
            <a:ext cx="2133600" cy="838200"/>
          </a:xfrm>
          <a:prstGeom prst="wedgeRectCallout">
            <a:avLst>
              <a:gd name="adj1" fmla="val -163245"/>
              <a:gd name="adj2" fmla="val 92616"/>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baseline="0">
                <a:solidFill>
                  <a:schemeClr val="tx1"/>
                </a:solidFill>
              </a:rPr>
              <a:t>龙格</a:t>
            </a:r>
            <a:r>
              <a:rPr lang="en-US" altLang="zh-CN" baseline="0">
                <a:solidFill>
                  <a:schemeClr val="tx1"/>
                </a:solidFill>
              </a:rPr>
              <a:t>—</a:t>
            </a:r>
            <a:r>
              <a:rPr lang="zh-CN" altLang="en-US" baseline="0">
                <a:solidFill>
                  <a:schemeClr val="tx1"/>
                </a:solidFill>
              </a:rPr>
              <a:t>库塔法采用的思路</a:t>
            </a:r>
          </a:p>
        </p:txBody>
      </p:sp>
      <p:grpSp>
        <p:nvGrpSpPr>
          <p:cNvPr id="48140" name="Group 12"/>
          <p:cNvGrpSpPr>
            <a:grpSpLocks/>
          </p:cNvGrpSpPr>
          <p:nvPr/>
        </p:nvGrpSpPr>
        <p:grpSpPr bwMode="auto">
          <a:xfrm>
            <a:off x="3112194" y="1010170"/>
            <a:ext cx="5562600" cy="1417638"/>
            <a:chOff x="1632" y="384"/>
            <a:chExt cx="3504" cy="893"/>
          </a:xfrm>
        </p:grpSpPr>
        <p:sp>
          <p:nvSpPr>
            <p:cNvPr id="26632" name="AutoShape 13"/>
            <p:cNvSpPr>
              <a:spLocks noChangeArrowheads="1"/>
            </p:cNvSpPr>
            <p:nvPr/>
          </p:nvSpPr>
          <p:spPr bwMode="auto">
            <a:xfrm>
              <a:off x="3504" y="384"/>
              <a:ext cx="1632" cy="528"/>
            </a:xfrm>
            <a:prstGeom prst="wedgeRectCallout">
              <a:avLst>
                <a:gd name="adj1" fmla="val -56495"/>
                <a:gd name="adj2" fmla="val 75569"/>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zh-CN" altLang="en-US" baseline="0" dirty="0">
                  <a:solidFill>
                    <a:schemeClr val="tx1"/>
                  </a:solidFill>
                </a:rPr>
                <a:t>连续两点的斜率的平均值</a:t>
              </a:r>
            </a:p>
          </p:txBody>
        </p:sp>
        <p:sp>
          <p:nvSpPr>
            <p:cNvPr id="26633" name="Text Box 14"/>
            <p:cNvSpPr txBox="1">
              <a:spLocks noChangeArrowheads="1"/>
            </p:cNvSpPr>
            <p:nvPr/>
          </p:nvSpPr>
          <p:spPr bwMode="auto">
            <a:xfrm>
              <a:off x="1632" y="912"/>
              <a:ext cx="2256" cy="3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r>
                <a:rPr lang="en-US" altLang="zh-CN" sz="3200" baseline="0">
                  <a:solidFill>
                    <a:srgbClr val="FF0066"/>
                  </a:solidFill>
                  <a:latin typeface="Courier New" panose="02070309020205020404" pitchFamily="49" charset="0"/>
                  <a:ea typeface="宋体" panose="02010600030101010101" pitchFamily="2" charset="-122"/>
                </a:rPr>
                <a:t>h[(1/2)(k</a:t>
              </a:r>
              <a:r>
                <a:rPr lang="en-US" altLang="zh-CN" sz="3200" baseline="-25000">
                  <a:solidFill>
                    <a:srgbClr val="FF0066"/>
                  </a:solidFill>
                  <a:latin typeface="Courier New" panose="02070309020205020404" pitchFamily="49" charset="0"/>
                  <a:ea typeface="宋体" panose="02010600030101010101" pitchFamily="2" charset="-122"/>
                </a:rPr>
                <a:t>1</a:t>
              </a:r>
              <a:r>
                <a:rPr lang="en-US" altLang="zh-CN" sz="3200" baseline="0">
                  <a:solidFill>
                    <a:srgbClr val="FF0066"/>
                  </a:solidFill>
                  <a:latin typeface="Courier New" panose="02070309020205020404" pitchFamily="49" charset="0"/>
                  <a:ea typeface="宋体" panose="02010600030101010101" pitchFamily="2" charset="-122"/>
                </a:rPr>
                <a:t>+k</a:t>
              </a:r>
              <a:r>
                <a:rPr lang="en-US" altLang="zh-CN" sz="3200" baseline="-25000">
                  <a:solidFill>
                    <a:srgbClr val="FF0066"/>
                  </a:solidFill>
                  <a:latin typeface="Courier New" panose="02070309020205020404" pitchFamily="49" charset="0"/>
                  <a:ea typeface="宋体" panose="02010600030101010101" pitchFamily="2" charset="-122"/>
                </a:rPr>
                <a:t>2</a:t>
              </a:r>
              <a:r>
                <a:rPr lang="en-US" altLang="zh-CN" sz="3200" baseline="0">
                  <a:solidFill>
                    <a:srgbClr val="FF0066"/>
                  </a:solidFill>
                  <a:latin typeface="Courier New" panose="02070309020205020404" pitchFamily="49" charset="0"/>
                  <a:ea typeface="宋体" panose="02010600030101010101" pitchFamily="2" charset="-122"/>
                </a:rPr>
                <a:t>)]</a:t>
              </a:r>
            </a:p>
          </p:txBody>
        </p:sp>
      </p:grpSp>
      <p:sp>
        <p:nvSpPr>
          <p:cNvPr id="2" name="灯片编号占位符 1"/>
          <p:cNvSpPr>
            <a:spLocks noGrp="1"/>
          </p:cNvSpPr>
          <p:nvPr>
            <p:ph type="sldNum" sz="quarter" idx="12"/>
          </p:nvPr>
        </p:nvSpPr>
        <p:spPr>
          <a:xfrm>
            <a:off x="7563544" y="6644208"/>
            <a:ext cx="1905000" cy="457200"/>
          </a:xfrm>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EB2EEDDD-7E2B-40E8-A0DF-59A93CFAD5D9}" type="slidenum">
              <a:rPr lang="en-US" altLang="zh-CN" sz="1400" b="0" baseline="0">
                <a:solidFill>
                  <a:schemeClr val="tx1"/>
                </a:solidFill>
                <a:ea typeface="宋体" panose="02010600030101010101" pitchFamily="2" charset="-122"/>
              </a:rPr>
              <a:pPr eaLnBrk="1" hangingPunct="1"/>
              <a:t>65</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17092123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8140"/>
                                        </p:tgtEl>
                                        <p:attrNameLst>
                                          <p:attrName>style.visibility</p:attrName>
                                        </p:attrNameLst>
                                      </p:cBhvr>
                                      <p:to>
                                        <p:strVal val="visible"/>
                                      </p:to>
                                    </p:set>
                                    <p:animEffect transition="in" filter="checkerboard(across)">
                                      <p:cBhvr>
                                        <p:cTn id="7" dur="500"/>
                                        <p:tgtEl>
                                          <p:spTgt spid="48140"/>
                                        </p:tgtEl>
                                      </p:cBhvr>
                                    </p:animEffect>
                                  </p:childTnLst>
                                  <p:subTnLst>
                                    <p:set>
                                      <p:cBhvr override="childStyle">
                                        <p:cTn dur="1" fill="hold" display="0" masterRel="nextClick" afterEffect="1"/>
                                        <p:tgtEl>
                                          <p:spTgt spid="4814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8138"/>
                                        </p:tgtEl>
                                        <p:attrNameLst>
                                          <p:attrName>style.visibility</p:attrName>
                                        </p:attrNameLst>
                                      </p:cBhvr>
                                      <p:to>
                                        <p:strVal val="visible"/>
                                      </p:to>
                                    </p:set>
                                    <p:animEffect transition="in" filter="box(in)">
                                      <p:cBhvr>
                                        <p:cTn id="12" dur="500"/>
                                        <p:tgtEl>
                                          <p:spTgt spid="481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48139"/>
                                        </p:tgtEl>
                                        <p:attrNameLst>
                                          <p:attrName>style.visibility</p:attrName>
                                        </p:attrNameLst>
                                      </p:cBhvr>
                                      <p:to>
                                        <p:strVal val="visible"/>
                                      </p:to>
                                    </p:set>
                                    <p:anim calcmode="lin" valueType="num">
                                      <p:cBhvr additive="base">
                                        <p:cTn id="17" dur="500" fill="hold"/>
                                        <p:tgtEl>
                                          <p:spTgt spid="48139"/>
                                        </p:tgtEl>
                                        <p:attrNameLst>
                                          <p:attrName>ppt_x</p:attrName>
                                        </p:attrNameLst>
                                      </p:cBhvr>
                                      <p:tavLst>
                                        <p:tav tm="0">
                                          <p:val>
                                            <p:strVal val="1+#ppt_w/2"/>
                                          </p:val>
                                        </p:tav>
                                        <p:tav tm="100000">
                                          <p:val>
                                            <p:strVal val="#ppt_x"/>
                                          </p:val>
                                        </p:tav>
                                      </p:tavLst>
                                    </p:anim>
                                    <p:anim calcmode="lin" valueType="num">
                                      <p:cBhvr additive="base">
                                        <p:cTn id="18" dur="500" fill="hold"/>
                                        <p:tgtEl>
                                          <p:spTgt spid="481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9" grpId="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4000" b="1" dirty="0">
                <a:solidFill>
                  <a:srgbClr val="0D17D7"/>
                </a:solidFill>
                <a:ea typeface="楷体_GB2312" pitchFamily="49" charset="-122"/>
              </a:rPr>
              <a:t>龙格－库塔</a:t>
            </a:r>
            <a:r>
              <a:rPr lang="en-US" altLang="zh-CN" sz="4000" b="1" dirty="0">
                <a:solidFill>
                  <a:srgbClr val="0D17D7"/>
                </a:solidFill>
                <a:ea typeface="楷体_GB2312" pitchFamily="49" charset="-122"/>
              </a:rPr>
              <a:t>(</a:t>
            </a:r>
            <a:r>
              <a:rPr lang="en-US" altLang="zh-CN" sz="4000" b="1" dirty="0" err="1">
                <a:solidFill>
                  <a:srgbClr val="0D17D7"/>
                </a:solidFill>
                <a:ea typeface="楷体_GB2312" pitchFamily="49" charset="-122"/>
              </a:rPr>
              <a:t>Runge</a:t>
            </a:r>
            <a:r>
              <a:rPr lang="zh-CN" altLang="en-US" sz="4000" b="1" dirty="0">
                <a:solidFill>
                  <a:srgbClr val="0D17D7"/>
                </a:solidFill>
                <a:ea typeface="楷体_GB2312" pitchFamily="49" charset="-122"/>
              </a:rPr>
              <a:t>－</a:t>
            </a:r>
            <a:r>
              <a:rPr lang="en-US" altLang="zh-CN" sz="4000" b="1" dirty="0" err="1">
                <a:solidFill>
                  <a:srgbClr val="0D17D7"/>
                </a:solidFill>
                <a:ea typeface="楷体_GB2312" pitchFamily="49" charset="-122"/>
              </a:rPr>
              <a:t>Kutta</a:t>
            </a:r>
            <a:r>
              <a:rPr lang="en-US" altLang="zh-CN" sz="4000" b="1" dirty="0">
                <a:solidFill>
                  <a:srgbClr val="0D17D7"/>
                </a:solidFill>
                <a:ea typeface="楷体_GB2312" pitchFamily="49" charset="-122"/>
              </a:rPr>
              <a:t>)</a:t>
            </a:r>
            <a:r>
              <a:rPr lang="zh-CN" altLang="en-US" sz="4000" b="1" dirty="0">
                <a:solidFill>
                  <a:srgbClr val="0D17D7"/>
                </a:solidFill>
                <a:ea typeface="楷体_GB2312" pitchFamily="49" charset="-122"/>
              </a:rPr>
              <a:t>法</a:t>
            </a:r>
            <a:endParaRPr lang="zh-CN" altLang="en-US" sz="4000" dirty="0">
              <a:solidFill>
                <a:srgbClr val="0D17D7"/>
              </a:solidFill>
            </a:endParaRPr>
          </a:p>
        </p:txBody>
      </p:sp>
      <p:sp>
        <p:nvSpPr>
          <p:cNvPr id="27651" name="Rectangle 3"/>
          <p:cNvSpPr>
            <a:spLocks noGrp="1" noChangeArrowheads="1"/>
          </p:cNvSpPr>
          <p:nvPr>
            <p:ph idx="1"/>
          </p:nvPr>
        </p:nvSpPr>
        <p:spPr>
          <a:xfrm>
            <a:off x="827584" y="2128838"/>
            <a:ext cx="7772400" cy="4114800"/>
          </a:xfrm>
        </p:spPr>
        <p:txBody>
          <a:bodyPr/>
          <a:lstStyle/>
          <a:p>
            <a:pPr eaLnBrk="1" hangingPunct="1">
              <a:lnSpc>
                <a:spcPct val="150000"/>
              </a:lnSpc>
              <a:buNone/>
            </a:pPr>
            <a:r>
              <a:rPr lang="zh-CN" altLang="en-US" b="1" dirty="0">
                <a:solidFill>
                  <a:srgbClr val="0D17D7"/>
                </a:solidFill>
                <a:latin typeface="Courier New" panose="02070309020205020404" pitchFamily="49" charset="0"/>
              </a:rPr>
              <a:t>德国数学家</a:t>
            </a:r>
            <a:r>
              <a:rPr lang="en-US" altLang="zh-CN" b="1" dirty="0" err="1">
                <a:solidFill>
                  <a:srgbClr val="0D17D7"/>
                </a:solidFill>
                <a:latin typeface="Courier New" panose="02070309020205020404" pitchFamily="49" charset="0"/>
              </a:rPr>
              <a:t>C.Runge</a:t>
            </a:r>
            <a:r>
              <a:rPr lang="zh-CN" altLang="en-US" b="1" dirty="0">
                <a:solidFill>
                  <a:srgbClr val="0D17D7"/>
                </a:solidFill>
                <a:latin typeface="Courier New" panose="02070309020205020404" pitchFamily="49" charset="0"/>
              </a:rPr>
              <a:t>和</a:t>
            </a:r>
            <a:r>
              <a:rPr lang="en-US" altLang="zh-CN" b="1" dirty="0" err="1">
                <a:solidFill>
                  <a:srgbClr val="0D17D7"/>
                </a:solidFill>
                <a:latin typeface="Courier New" panose="02070309020205020404" pitchFamily="49" charset="0"/>
              </a:rPr>
              <a:t>M.W.Kutta</a:t>
            </a:r>
            <a:endParaRPr lang="en-US" altLang="zh-CN" b="1" dirty="0">
              <a:solidFill>
                <a:srgbClr val="0D17D7"/>
              </a:solidFill>
              <a:latin typeface="Courier New" panose="02070309020205020404" pitchFamily="49" charset="0"/>
            </a:endParaRPr>
          </a:p>
          <a:p>
            <a:pPr eaLnBrk="1" hangingPunct="1">
              <a:lnSpc>
                <a:spcPct val="150000"/>
              </a:lnSpc>
              <a:buFontTx/>
              <a:buNone/>
            </a:pPr>
            <a:r>
              <a:rPr lang="zh-CN" altLang="en-US" b="1" dirty="0">
                <a:solidFill>
                  <a:srgbClr val="0D17D7"/>
                </a:solidFill>
                <a:latin typeface="Courier New" panose="02070309020205020404" pitchFamily="49" charset="0"/>
              </a:rPr>
              <a:t>思路：利用泰勒展开式的方法，用几个点上函数</a:t>
            </a:r>
            <a:r>
              <a:rPr lang="en-US" altLang="zh-CN" b="1" dirty="0">
                <a:solidFill>
                  <a:srgbClr val="0D17D7"/>
                </a:solidFill>
                <a:latin typeface="Courier New" panose="02070309020205020404" pitchFamily="49" charset="0"/>
              </a:rPr>
              <a:t>f</a:t>
            </a:r>
            <a:r>
              <a:rPr lang="zh-CN" altLang="en-US" b="1" dirty="0">
                <a:solidFill>
                  <a:srgbClr val="0D17D7"/>
                </a:solidFill>
                <a:latin typeface="Courier New" panose="02070309020205020404" pitchFamily="49" charset="0"/>
              </a:rPr>
              <a:t>值的线性组合来确定其中的系数，这样既可避免计算高阶导数，又可提高数值积分的精度。</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D3978612-6CC5-45BE-8BF1-C2A1006B9717}" type="slidenum">
              <a:rPr lang="en-US" altLang="zh-CN" sz="1400" b="0" baseline="0">
                <a:solidFill>
                  <a:schemeClr val="tx1"/>
                </a:solidFill>
                <a:ea typeface="宋体" panose="02010600030101010101" pitchFamily="2" charset="-122"/>
              </a:rPr>
              <a:pPr eaLnBrk="1" hangingPunct="1"/>
              <a:t>66</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165061683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50825" y="188913"/>
            <a:ext cx="3600450" cy="515937"/>
          </a:xfrm>
        </p:spPr>
        <p:txBody>
          <a:bodyPr/>
          <a:lstStyle/>
          <a:p>
            <a:pPr algn="l" eaLnBrk="1" hangingPunct="1"/>
            <a:r>
              <a:rPr lang="zh-CN" altLang="en-US" sz="3600" b="1" dirty="0">
                <a:solidFill>
                  <a:srgbClr val="0D17D7"/>
                </a:solidFill>
                <a:latin typeface="Courier New" panose="02070309020205020404" pitchFamily="49" charset="0"/>
                <a:ea typeface="隶书" panose="02010509060101010101" pitchFamily="49" charset="-122"/>
              </a:rPr>
              <a:t>公式的推导：</a:t>
            </a:r>
          </a:p>
        </p:txBody>
      </p:sp>
      <p:graphicFrame>
        <p:nvGraphicFramePr>
          <p:cNvPr id="28675" name="Object 4"/>
          <p:cNvGraphicFramePr>
            <a:graphicFrameLocks noGrp="1" noChangeAspect="1"/>
          </p:cNvGraphicFramePr>
          <p:nvPr>
            <p:ph sz="half" idx="1"/>
          </p:nvPr>
        </p:nvGraphicFramePr>
        <p:xfrm>
          <a:off x="179388" y="765175"/>
          <a:ext cx="8351837" cy="1152525"/>
        </p:xfrm>
        <a:graphic>
          <a:graphicData uri="http://schemas.openxmlformats.org/presentationml/2006/ole">
            <mc:AlternateContent xmlns:mc="http://schemas.openxmlformats.org/markup-compatibility/2006">
              <mc:Choice xmlns:v="urn:schemas-microsoft-com:vml" Requires="v">
                <p:oleObj spid="_x0000_s28896" name="Equation" r:id="rId3" imgW="3035300" imgH="419100" progId="Equation.DSMT4">
                  <p:embed/>
                </p:oleObj>
              </mc:Choice>
              <mc:Fallback>
                <p:oleObj name="Equation" r:id="rId3" imgW="3035300" imgH="419100" progId="Equation.DSMT4">
                  <p:embed/>
                  <p:pic>
                    <p:nvPicPr>
                      <p:cNvPr id="2867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765175"/>
                        <a:ext cx="8351837"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6" name="Object 6"/>
          <p:cNvGraphicFramePr>
            <a:graphicFrameLocks noGrp="1"/>
          </p:cNvGraphicFramePr>
          <p:nvPr>
            <p:ph sz="quarter" idx="2"/>
          </p:nvPr>
        </p:nvGraphicFramePr>
        <p:xfrm>
          <a:off x="179388" y="2636838"/>
          <a:ext cx="8496300" cy="2087562"/>
        </p:xfrm>
        <a:graphic>
          <a:graphicData uri="http://schemas.openxmlformats.org/presentationml/2006/ole">
            <mc:AlternateContent xmlns:mc="http://schemas.openxmlformats.org/markup-compatibility/2006">
              <mc:Choice xmlns:v="urn:schemas-microsoft-com:vml" Requires="v">
                <p:oleObj spid="_x0000_s28897" name="Equation" r:id="rId5" imgW="4216400" imgH="812800" progId="Equation.DSMT4">
                  <p:embed/>
                </p:oleObj>
              </mc:Choice>
              <mc:Fallback>
                <p:oleObj name="Equation" r:id="rId5" imgW="4216400" imgH="812800" progId="Equation.DSMT4">
                  <p:embed/>
                  <p:pic>
                    <p:nvPicPr>
                      <p:cNvPr id="28676"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2636838"/>
                        <a:ext cx="8496300" cy="208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7" name="Object 12"/>
          <p:cNvGraphicFramePr>
            <a:graphicFrameLocks noGrp="1" noChangeAspect="1"/>
          </p:cNvGraphicFramePr>
          <p:nvPr>
            <p:ph sz="quarter" idx="3"/>
          </p:nvPr>
        </p:nvGraphicFramePr>
        <p:xfrm>
          <a:off x="1042988" y="4941888"/>
          <a:ext cx="7529512" cy="1150937"/>
        </p:xfrm>
        <a:graphic>
          <a:graphicData uri="http://schemas.openxmlformats.org/presentationml/2006/ole">
            <mc:AlternateContent xmlns:mc="http://schemas.openxmlformats.org/markup-compatibility/2006">
              <mc:Choice xmlns:v="urn:schemas-microsoft-com:vml" Requires="v">
                <p:oleObj spid="_x0000_s28898" name="Equation" r:id="rId7" imgW="2743200" imgH="419040" progId="Equation.DSMT4">
                  <p:embed/>
                </p:oleObj>
              </mc:Choice>
              <mc:Fallback>
                <p:oleObj name="Equation" r:id="rId7" imgW="2743200" imgH="419040" progId="Equation.DSMT4">
                  <p:embed/>
                  <p:pic>
                    <p:nvPicPr>
                      <p:cNvPr id="28677"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4941888"/>
                        <a:ext cx="7529512" cy="1150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8" name="AutoShape 15"/>
          <p:cNvSpPr>
            <a:spLocks noChangeArrowheads="1"/>
          </p:cNvSpPr>
          <p:nvPr/>
        </p:nvSpPr>
        <p:spPr bwMode="auto">
          <a:xfrm>
            <a:off x="4140200" y="1916113"/>
            <a:ext cx="360363" cy="1008062"/>
          </a:xfrm>
          <a:prstGeom prst="downArrow">
            <a:avLst>
              <a:gd name="adj1" fmla="val 50000"/>
              <a:gd name="adj2" fmla="val 6993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28679" name="AutoShape 16"/>
          <p:cNvSpPr>
            <a:spLocks noChangeArrowheads="1"/>
          </p:cNvSpPr>
          <p:nvPr/>
        </p:nvSpPr>
        <p:spPr bwMode="auto">
          <a:xfrm>
            <a:off x="5076825" y="4581525"/>
            <a:ext cx="360363" cy="576263"/>
          </a:xfrm>
          <a:prstGeom prst="downArrow">
            <a:avLst>
              <a:gd name="adj1" fmla="val 50000"/>
              <a:gd name="adj2" fmla="val 3997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21311DA0-B81C-4A8E-BB13-F2FB08151548}" type="slidenum">
              <a:rPr lang="en-US" altLang="zh-CN" sz="1400" b="0" baseline="0">
                <a:solidFill>
                  <a:schemeClr val="tx1"/>
                </a:solidFill>
                <a:ea typeface="宋体" panose="02010600030101010101" pitchFamily="2" charset="-122"/>
              </a:rPr>
              <a:pPr eaLnBrk="1" hangingPunct="1"/>
              <a:t>67</a:t>
            </a:fld>
            <a:endParaRPr lang="en-US" altLang="zh-CN" sz="1400" b="0" baseline="0">
              <a:solidFill>
                <a:schemeClr val="tx1"/>
              </a:solidFill>
              <a:ea typeface="宋体" panose="02010600030101010101" pitchFamily="2" charset="-122"/>
            </a:endParaRPr>
          </a:p>
        </p:txBody>
      </p:sp>
      <p:sp>
        <p:nvSpPr>
          <p:cNvPr id="3" name="TextBox 2"/>
          <p:cNvSpPr txBox="1"/>
          <p:nvPr/>
        </p:nvSpPr>
        <p:spPr>
          <a:xfrm>
            <a:off x="7380312" y="5991671"/>
            <a:ext cx="1512168" cy="461665"/>
          </a:xfrm>
          <a:prstGeom prst="rect">
            <a:avLst/>
          </a:prstGeom>
          <a:noFill/>
        </p:spPr>
        <p:txBody>
          <a:bodyPr wrap="square" rtlCol="0">
            <a:spAutoFit/>
          </a:bodyPr>
          <a:lstStyle/>
          <a:p>
            <a:r>
              <a:rPr lang="en-US" altLang="zh-CN" sz="2400" dirty="0"/>
              <a:t>(3-5-12)</a:t>
            </a:r>
            <a:endParaRPr lang="zh-CN" altLang="en-US" sz="2400" dirty="0"/>
          </a:p>
        </p:txBody>
      </p:sp>
    </p:spTree>
    <p:extLst>
      <p:ext uri="{BB962C8B-B14F-4D97-AF65-F5344CB8AC3E}">
        <p14:creationId xmlns:p14="http://schemas.microsoft.com/office/powerpoint/2010/main" val="280012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additive="base">
                                        <p:cTn id="7" dur="500" fill="hold"/>
                                        <p:tgtEl>
                                          <p:spTgt spid="28675"/>
                                        </p:tgtEl>
                                        <p:attrNameLst>
                                          <p:attrName>ppt_x</p:attrName>
                                        </p:attrNameLst>
                                      </p:cBhvr>
                                      <p:tavLst>
                                        <p:tav tm="0">
                                          <p:val>
                                            <p:strVal val="#ppt_x"/>
                                          </p:val>
                                        </p:tav>
                                        <p:tav tm="100000">
                                          <p:val>
                                            <p:strVal val="#ppt_x"/>
                                          </p:val>
                                        </p:tav>
                                      </p:tavLst>
                                    </p:anim>
                                    <p:anim calcmode="lin" valueType="num">
                                      <p:cBhvr additive="base">
                                        <p:cTn id="8" dur="500" fill="hold"/>
                                        <p:tgtEl>
                                          <p:spTgt spid="2867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28678"/>
                                        </p:tgtEl>
                                        <p:attrNameLst>
                                          <p:attrName>style.visibility</p:attrName>
                                        </p:attrNameLst>
                                      </p:cBhvr>
                                      <p:to>
                                        <p:strVal val="visible"/>
                                      </p:to>
                                    </p:set>
                                    <p:anim calcmode="lin" valueType="num">
                                      <p:cBhvr additive="base">
                                        <p:cTn id="11" dur="500" fill="hold"/>
                                        <p:tgtEl>
                                          <p:spTgt spid="28678"/>
                                        </p:tgtEl>
                                        <p:attrNameLst>
                                          <p:attrName>ppt_x</p:attrName>
                                        </p:attrNameLst>
                                      </p:cBhvr>
                                      <p:tavLst>
                                        <p:tav tm="0">
                                          <p:val>
                                            <p:strVal val="#ppt_x"/>
                                          </p:val>
                                        </p:tav>
                                        <p:tav tm="100000">
                                          <p:val>
                                            <p:strVal val="#ppt_x"/>
                                          </p:val>
                                        </p:tav>
                                      </p:tavLst>
                                    </p:anim>
                                    <p:anim calcmode="lin" valueType="num">
                                      <p:cBhvr additive="base">
                                        <p:cTn id="12" dur="500" fill="hold"/>
                                        <p:tgtEl>
                                          <p:spTgt spid="28678"/>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28676"/>
                                        </p:tgtEl>
                                        <p:attrNameLst>
                                          <p:attrName>style.visibility</p:attrName>
                                        </p:attrNameLst>
                                      </p:cBhvr>
                                      <p:to>
                                        <p:strVal val="visible"/>
                                      </p:to>
                                    </p:set>
                                    <p:anim calcmode="lin" valueType="num">
                                      <p:cBhvr additive="base">
                                        <p:cTn id="17" dur="500" fill="hold"/>
                                        <p:tgtEl>
                                          <p:spTgt spid="28676"/>
                                        </p:tgtEl>
                                        <p:attrNameLst>
                                          <p:attrName>ppt_x</p:attrName>
                                        </p:attrNameLst>
                                      </p:cBhvr>
                                      <p:tavLst>
                                        <p:tav tm="0">
                                          <p:val>
                                            <p:strVal val="#ppt_x"/>
                                          </p:val>
                                        </p:tav>
                                        <p:tav tm="100000">
                                          <p:val>
                                            <p:strVal val="#ppt_x"/>
                                          </p:val>
                                        </p:tav>
                                      </p:tavLst>
                                    </p:anim>
                                    <p:anim calcmode="lin" valueType="num">
                                      <p:cBhvr additive="base">
                                        <p:cTn id="18" dur="500" fill="hold"/>
                                        <p:tgtEl>
                                          <p:spTgt spid="28676"/>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28679"/>
                                        </p:tgtEl>
                                        <p:attrNameLst>
                                          <p:attrName>style.visibility</p:attrName>
                                        </p:attrNameLst>
                                      </p:cBhvr>
                                      <p:to>
                                        <p:strVal val="visible"/>
                                      </p:to>
                                    </p:set>
                                    <p:anim calcmode="lin" valueType="num">
                                      <p:cBhvr additive="base">
                                        <p:cTn id="21" dur="500" fill="hold"/>
                                        <p:tgtEl>
                                          <p:spTgt spid="28679"/>
                                        </p:tgtEl>
                                        <p:attrNameLst>
                                          <p:attrName>ppt_x</p:attrName>
                                        </p:attrNameLst>
                                      </p:cBhvr>
                                      <p:tavLst>
                                        <p:tav tm="0">
                                          <p:val>
                                            <p:strVal val="#ppt_x"/>
                                          </p:val>
                                        </p:tav>
                                        <p:tav tm="100000">
                                          <p:val>
                                            <p:strVal val="#ppt_x"/>
                                          </p:val>
                                        </p:tav>
                                      </p:tavLst>
                                    </p:anim>
                                    <p:anim calcmode="lin" valueType="num">
                                      <p:cBhvr additive="base">
                                        <p:cTn id="22" dur="500" fill="hold"/>
                                        <p:tgtEl>
                                          <p:spTgt spid="28679"/>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nodeType="clickEffect">
                                  <p:stCondLst>
                                    <p:cond delay="0"/>
                                  </p:stCondLst>
                                  <p:childTnLst>
                                    <p:set>
                                      <p:cBhvr>
                                        <p:cTn id="26" dur="1" fill="hold">
                                          <p:stCondLst>
                                            <p:cond delay="0"/>
                                          </p:stCondLst>
                                        </p:cTn>
                                        <p:tgtEl>
                                          <p:spTgt spid="28677"/>
                                        </p:tgtEl>
                                        <p:attrNameLst>
                                          <p:attrName>style.visibility</p:attrName>
                                        </p:attrNameLst>
                                      </p:cBhvr>
                                      <p:to>
                                        <p:strVal val="visible"/>
                                      </p:to>
                                    </p:set>
                                    <p:anim calcmode="lin" valueType="num">
                                      <p:cBhvr additive="base">
                                        <p:cTn id="27" dur="500" fill="hold"/>
                                        <p:tgtEl>
                                          <p:spTgt spid="28677"/>
                                        </p:tgtEl>
                                        <p:attrNameLst>
                                          <p:attrName>ppt_x</p:attrName>
                                        </p:attrNameLst>
                                      </p:cBhvr>
                                      <p:tavLst>
                                        <p:tav tm="0">
                                          <p:val>
                                            <p:strVal val="#ppt_x"/>
                                          </p:val>
                                        </p:tav>
                                        <p:tav tm="100000">
                                          <p:val>
                                            <p:strVal val="#ppt_x"/>
                                          </p:val>
                                        </p:tav>
                                      </p:tavLst>
                                    </p:anim>
                                    <p:anim calcmode="lin" valueType="num">
                                      <p:cBhvr additive="base">
                                        <p:cTn id="28" dur="500" fill="hold"/>
                                        <p:tgtEl>
                                          <p:spTgt spid="28677"/>
                                        </p:tgtEl>
                                        <p:attrNameLst>
                                          <p:attrName>ppt_y</p:attrName>
                                        </p:attrNameLst>
                                      </p:cBhvr>
                                      <p:tavLst>
                                        <p:tav tm="0">
                                          <p:val>
                                            <p:strVal val="0-#ppt_h/2"/>
                                          </p:val>
                                        </p:tav>
                                        <p:tav tm="100000">
                                          <p:val>
                                            <p:strVal val="#ppt_y"/>
                                          </p:val>
                                        </p:tav>
                                      </p:tavLst>
                                    </p:anim>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animBg="1"/>
      <p:bldP spid="28679" grpId="0" animBg="1"/>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8"/>
          <p:cNvSpPr>
            <a:spLocks noChangeArrowheads="1"/>
          </p:cNvSpPr>
          <p:nvPr/>
        </p:nvSpPr>
        <p:spPr bwMode="auto">
          <a:xfrm>
            <a:off x="1115615" y="251014"/>
            <a:ext cx="784899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spcBef>
                <a:spcPct val="0"/>
              </a:spcBef>
            </a:pPr>
            <a:r>
              <a:rPr lang="zh-CN" altLang="en-US" sz="3200" baseline="0" dirty="0">
                <a:solidFill>
                  <a:srgbClr val="0D17D7"/>
                </a:solidFill>
                <a:latin typeface="宋体" panose="02010600030101010101" pitchFamily="2" charset="-122"/>
                <a:ea typeface="宋体" panose="02010600030101010101" pitchFamily="2" charset="-122"/>
              </a:rPr>
              <a:t>为了避免计算上式中的各阶导数项，可令</a:t>
            </a:r>
            <a:r>
              <a:rPr lang="en-US" altLang="zh-CN" sz="3200" i="1" baseline="0" dirty="0">
                <a:solidFill>
                  <a:srgbClr val="0D17D7"/>
                </a:solidFill>
                <a:latin typeface="宋体" panose="02010600030101010101" pitchFamily="2" charset="-122"/>
                <a:ea typeface="宋体" panose="02010600030101010101" pitchFamily="2" charset="-122"/>
              </a:rPr>
              <a:t>y</a:t>
            </a:r>
            <a:r>
              <a:rPr lang="en-US" altLang="zh-CN" sz="3200" i="1" baseline="-25000" dirty="0">
                <a:solidFill>
                  <a:srgbClr val="0D17D7"/>
                </a:solidFill>
                <a:latin typeface="宋体" panose="02010600030101010101" pitchFamily="2" charset="-122"/>
                <a:ea typeface="宋体" panose="02010600030101010101" pitchFamily="2" charset="-122"/>
              </a:rPr>
              <a:t>k</a:t>
            </a:r>
            <a:r>
              <a:rPr lang="en-US" altLang="zh-CN" sz="3200" baseline="-25000" dirty="0">
                <a:solidFill>
                  <a:srgbClr val="0D17D7"/>
                </a:solidFill>
                <a:latin typeface="宋体" panose="02010600030101010101" pitchFamily="2" charset="-122"/>
                <a:ea typeface="宋体" panose="02010600030101010101" pitchFamily="2" charset="-122"/>
              </a:rPr>
              <a:t>+1</a:t>
            </a:r>
            <a:r>
              <a:rPr lang="zh-CN" altLang="en-US" sz="3200" baseline="0" dirty="0">
                <a:solidFill>
                  <a:srgbClr val="0D17D7"/>
                </a:solidFill>
                <a:latin typeface="宋体" panose="02010600030101010101" pitchFamily="2" charset="-122"/>
                <a:ea typeface="宋体" panose="02010600030101010101" pitchFamily="2" charset="-122"/>
              </a:rPr>
              <a:t>由以下多项式表示（</a:t>
            </a:r>
            <a:r>
              <a:rPr lang="en-US" altLang="zh-CN" sz="3200" i="1" baseline="0" dirty="0">
                <a:solidFill>
                  <a:srgbClr val="0D17D7"/>
                </a:solidFill>
                <a:latin typeface="宋体" panose="02010600030101010101" pitchFamily="2" charset="-122"/>
                <a:ea typeface="宋体" panose="02010600030101010101" pitchFamily="2" charset="-122"/>
              </a:rPr>
              <a:t>y</a:t>
            </a:r>
            <a:r>
              <a:rPr lang="en-US" altLang="zh-CN" sz="3200" i="1" baseline="-25000" dirty="0">
                <a:solidFill>
                  <a:srgbClr val="0D17D7"/>
                </a:solidFill>
                <a:latin typeface="宋体" panose="02010600030101010101" pitchFamily="2" charset="-122"/>
                <a:ea typeface="宋体" panose="02010600030101010101" pitchFamily="2" charset="-122"/>
              </a:rPr>
              <a:t>k</a:t>
            </a:r>
            <a:r>
              <a:rPr lang="en-US" altLang="zh-CN" sz="3200" baseline="-25000" dirty="0">
                <a:solidFill>
                  <a:srgbClr val="0D17D7"/>
                </a:solidFill>
                <a:latin typeface="宋体" panose="02010600030101010101" pitchFamily="2" charset="-122"/>
                <a:ea typeface="宋体" panose="02010600030101010101" pitchFamily="2" charset="-122"/>
              </a:rPr>
              <a:t>+1</a:t>
            </a:r>
            <a:r>
              <a:rPr lang="zh-CN" altLang="en-US" sz="3200" baseline="0" dirty="0">
                <a:solidFill>
                  <a:srgbClr val="0D17D7"/>
                </a:solidFill>
                <a:latin typeface="宋体" panose="02010600030101010101" pitchFamily="2" charset="-122"/>
                <a:ea typeface="宋体" panose="02010600030101010101" pitchFamily="2" charset="-122"/>
              </a:rPr>
              <a:t>由</a:t>
            </a:r>
            <a:r>
              <a:rPr lang="en-US" altLang="zh-CN" sz="3200" i="1" baseline="0" dirty="0" err="1">
                <a:solidFill>
                  <a:srgbClr val="0D17D7"/>
                </a:solidFill>
                <a:latin typeface="宋体" panose="02010600030101010101" pitchFamily="2" charset="-122"/>
                <a:ea typeface="宋体" panose="02010600030101010101" pitchFamily="2" charset="-122"/>
              </a:rPr>
              <a:t>k</a:t>
            </a:r>
            <a:r>
              <a:rPr lang="en-US" altLang="zh-CN" sz="3200" i="1" baseline="-25000" dirty="0" err="1">
                <a:solidFill>
                  <a:srgbClr val="0D17D7"/>
                </a:solidFill>
                <a:latin typeface="宋体" panose="02010600030101010101" pitchFamily="2" charset="-122"/>
                <a:ea typeface="宋体" panose="02010600030101010101" pitchFamily="2" charset="-122"/>
              </a:rPr>
              <a:t>i</a:t>
            </a:r>
            <a:r>
              <a:rPr lang="zh-CN" altLang="en-US" sz="3200" baseline="0" dirty="0">
                <a:solidFill>
                  <a:srgbClr val="0D17D7"/>
                </a:solidFill>
                <a:latin typeface="宋体" panose="02010600030101010101" pitchFamily="2" charset="-122"/>
                <a:ea typeface="宋体" panose="02010600030101010101" pitchFamily="2" charset="-122"/>
              </a:rPr>
              <a:t>的线性组合表示），则 </a:t>
            </a:r>
          </a:p>
        </p:txBody>
      </p:sp>
      <p:graphicFrame>
        <p:nvGraphicFramePr>
          <p:cNvPr id="29699" name="Object 9"/>
          <p:cNvGraphicFramePr>
            <a:graphicFrameLocks noGrp="1"/>
          </p:cNvGraphicFramePr>
          <p:nvPr>
            <p:ph/>
            <p:extLst>
              <p:ext uri="{D42A27DB-BD31-4B8C-83A1-F6EECF244321}">
                <p14:modId xmlns:p14="http://schemas.microsoft.com/office/powerpoint/2010/main" val="1035391026"/>
              </p:ext>
            </p:extLst>
          </p:nvPr>
        </p:nvGraphicFramePr>
        <p:xfrm>
          <a:off x="2771775" y="1699841"/>
          <a:ext cx="3095625" cy="1081087"/>
        </p:xfrm>
        <a:graphic>
          <a:graphicData uri="http://schemas.openxmlformats.org/presentationml/2006/ole">
            <mc:AlternateContent xmlns:mc="http://schemas.openxmlformats.org/markup-compatibility/2006">
              <mc:Choice xmlns:v="urn:schemas-microsoft-com:vml" Requires="v">
                <p:oleObj spid="_x0000_s29850" name="Equation" r:id="rId3" imgW="1193800" imgH="431800" progId="Equation.DSMT4">
                  <p:embed/>
                </p:oleObj>
              </mc:Choice>
              <mc:Fallback>
                <p:oleObj name="Equation" r:id="rId3" imgW="1193800" imgH="431800" progId="Equation.DSMT4">
                  <p:embed/>
                  <p:pic>
                    <p:nvPicPr>
                      <p:cNvPr id="29699" name="Object 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1699841"/>
                        <a:ext cx="3095625" cy="1081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0" name="Rectangle 12"/>
          <p:cNvSpPr>
            <a:spLocks noChangeArrowheads="1"/>
          </p:cNvSpPr>
          <p:nvPr/>
        </p:nvSpPr>
        <p:spPr bwMode="auto">
          <a:xfrm>
            <a:off x="611188" y="3033072"/>
            <a:ext cx="79930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spcBef>
                <a:spcPct val="0"/>
              </a:spcBef>
            </a:pPr>
            <a:r>
              <a:rPr lang="zh-CN" altLang="en-US" baseline="0" dirty="0">
                <a:solidFill>
                  <a:srgbClr val="0D17D7"/>
                </a:solidFill>
                <a:latin typeface="宋体" panose="02010600030101010101" pitchFamily="2" charset="-122"/>
                <a:ea typeface="宋体" panose="02010600030101010101" pitchFamily="2" charset="-122"/>
              </a:rPr>
              <a:t>式中 </a:t>
            </a:r>
            <a:r>
              <a:rPr lang="en-US" altLang="zh-CN" i="1" baseline="0" dirty="0">
                <a:solidFill>
                  <a:srgbClr val="0D17D7"/>
                </a:solidFill>
                <a:latin typeface="宋体" panose="02010600030101010101" pitchFamily="2" charset="-122"/>
                <a:ea typeface="宋体" panose="02010600030101010101" pitchFamily="2" charset="-122"/>
              </a:rPr>
              <a:t>b</a:t>
            </a:r>
            <a:r>
              <a:rPr lang="en-US" altLang="zh-CN" i="1" baseline="-25000" dirty="0">
                <a:solidFill>
                  <a:srgbClr val="0D17D7"/>
                </a:solidFill>
                <a:latin typeface="宋体" panose="02010600030101010101" pitchFamily="2" charset="-122"/>
                <a:ea typeface="宋体" panose="02010600030101010101" pitchFamily="2" charset="-122"/>
              </a:rPr>
              <a:t>i</a:t>
            </a:r>
            <a:r>
              <a:rPr lang="zh-CN" altLang="en-US" baseline="0" dirty="0">
                <a:solidFill>
                  <a:srgbClr val="0D17D7"/>
                </a:solidFill>
                <a:latin typeface="宋体" panose="02010600030101010101" pitchFamily="2" charset="-122"/>
                <a:ea typeface="宋体" panose="02010600030101010101" pitchFamily="2" charset="-122"/>
              </a:rPr>
              <a:t>为待定系数，</a:t>
            </a:r>
            <a:r>
              <a:rPr lang="en-US" altLang="zh-CN" i="1" baseline="0" dirty="0">
                <a:solidFill>
                  <a:srgbClr val="0D17D7"/>
                </a:solidFill>
                <a:latin typeface="宋体" panose="02010600030101010101" pitchFamily="2" charset="-122"/>
                <a:ea typeface="宋体" panose="02010600030101010101" pitchFamily="2" charset="-122"/>
              </a:rPr>
              <a:t>r</a:t>
            </a:r>
            <a:r>
              <a:rPr lang="zh-CN" altLang="en-US" baseline="0" dirty="0">
                <a:solidFill>
                  <a:srgbClr val="0D17D7"/>
                </a:solidFill>
                <a:latin typeface="宋体" panose="02010600030101010101" pitchFamily="2" charset="-122"/>
                <a:ea typeface="宋体" panose="02010600030101010101" pitchFamily="2" charset="-122"/>
              </a:rPr>
              <a:t>为精度阶次，</a:t>
            </a:r>
            <a:r>
              <a:rPr lang="en-US" altLang="zh-CN" i="1" baseline="0" dirty="0" err="1">
                <a:solidFill>
                  <a:srgbClr val="0D17D7"/>
                </a:solidFill>
                <a:latin typeface="宋体" panose="02010600030101010101" pitchFamily="2" charset="-122"/>
                <a:ea typeface="宋体" panose="02010600030101010101" pitchFamily="2" charset="-122"/>
              </a:rPr>
              <a:t>k</a:t>
            </a:r>
            <a:r>
              <a:rPr lang="en-US" altLang="zh-CN" i="1" baseline="-25000" dirty="0" err="1">
                <a:solidFill>
                  <a:srgbClr val="0D17D7"/>
                </a:solidFill>
                <a:latin typeface="宋体" panose="02010600030101010101" pitchFamily="2" charset="-122"/>
                <a:ea typeface="宋体" panose="02010600030101010101" pitchFamily="2" charset="-122"/>
              </a:rPr>
              <a:t>i</a:t>
            </a:r>
            <a:r>
              <a:rPr lang="zh-CN" altLang="en-US" baseline="0" dirty="0">
                <a:solidFill>
                  <a:srgbClr val="0D17D7"/>
                </a:solidFill>
                <a:latin typeface="宋体" panose="02010600030101010101" pitchFamily="2" charset="-122"/>
                <a:ea typeface="宋体" panose="02010600030101010101" pitchFamily="2" charset="-122"/>
              </a:rPr>
              <a:t>满足下列方程</a:t>
            </a:r>
          </a:p>
          <a:p>
            <a:pPr algn="l">
              <a:spcBef>
                <a:spcPct val="0"/>
              </a:spcBef>
            </a:pPr>
            <a:endParaRPr lang="en-US" altLang="zh-CN" baseline="0" dirty="0">
              <a:solidFill>
                <a:srgbClr val="0D17D7"/>
              </a:solidFill>
              <a:latin typeface="宋体" panose="02010600030101010101" pitchFamily="2" charset="-122"/>
              <a:ea typeface="宋体" panose="02010600030101010101" pitchFamily="2" charset="-122"/>
            </a:endParaRPr>
          </a:p>
        </p:txBody>
      </p:sp>
      <p:graphicFrame>
        <p:nvGraphicFramePr>
          <p:cNvPr id="29701" name="Object 11"/>
          <p:cNvGraphicFramePr>
            <a:graphicFrameLocks/>
          </p:cNvGraphicFramePr>
          <p:nvPr>
            <p:extLst>
              <p:ext uri="{D42A27DB-BD31-4B8C-83A1-F6EECF244321}">
                <p14:modId xmlns:p14="http://schemas.microsoft.com/office/powerpoint/2010/main" val="3327652078"/>
              </p:ext>
            </p:extLst>
          </p:nvPr>
        </p:nvGraphicFramePr>
        <p:xfrm>
          <a:off x="1763713" y="3685108"/>
          <a:ext cx="5399087" cy="1368425"/>
        </p:xfrm>
        <a:graphic>
          <a:graphicData uri="http://schemas.openxmlformats.org/presentationml/2006/ole">
            <mc:AlternateContent xmlns:mc="http://schemas.openxmlformats.org/markup-compatibility/2006">
              <mc:Choice xmlns:v="urn:schemas-microsoft-com:vml" Requires="v">
                <p:oleObj spid="_x0000_s29851" name="Equation" r:id="rId5" imgW="1803400" imgH="685800" progId="Equation.DSMT4">
                  <p:embed/>
                </p:oleObj>
              </mc:Choice>
              <mc:Fallback>
                <p:oleObj name="Equation" r:id="rId5" imgW="1803400" imgH="685800" progId="Equation.DSMT4">
                  <p:embed/>
                  <p:pic>
                    <p:nvPicPr>
                      <p:cNvPr id="29701" name="Object 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3685108"/>
                        <a:ext cx="5399087"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2" name="Rectangle 13"/>
          <p:cNvSpPr>
            <a:spLocks noChangeArrowheads="1"/>
          </p:cNvSpPr>
          <p:nvPr/>
        </p:nvSpPr>
        <p:spPr bwMode="auto">
          <a:xfrm>
            <a:off x="250825" y="5157192"/>
            <a:ext cx="88873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spcBef>
                <a:spcPct val="0"/>
              </a:spcBef>
            </a:pPr>
            <a:r>
              <a:rPr lang="en-US" altLang="zh-CN" baseline="0" dirty="0">
                <a:solidFill>
                  <a:srgbClr val="0D17D7"/>
                </a:solidFill>
                <a:ea typeface="宋体" panose="02010600030101010101" pitchFamily="2" charset="-122"/>
              </a:rPr>
              <a:t> </a:t>
            </a:r>
            <a:r>
              <a:rPr lang="zh-CN" altLang="en-US" baseline="0" dirty="0">
                <a:solidFill>
                  <a:srgbClr val="0D17D7"/>
                </a:solidFill>
                <a:ea typeface="宋体" panose="02010600030101010101" pitchFamily="2" charset="-122"/>
              </a:rPr>
              <a:t>式中</a:t>
            </a:r>
            <a:r>
              <a:rPr lang="en-US" altLang="zh-CN" i="1" baseline="0" dirty="0">
                <a:solidFill>
                  <a:srgbClr val="0D17D7"/>
                </a:solidFill>
                <a:ea typeface="宋体" panose="02010600030101010101" pitchFamily="2" charset="-122"/>
              </a:rPr>
              <a:t>c</a:t>
            </a:r>
            <a:r>
              <a:rPr lang="en-US" altLang="zh-CN" i="1" baseline="-25000" dirty="0">
                <a:solidFill>
                  <a:srgbClr val="0D17D7"/>
                </a:solidFill>
                <a:latin typeface="宋体" panose="02010600030101010101" pitchFamily="2" charset="-122"/>
                <a:ea typeface="宋体" panose="02010600030101010101" pitchFamily="2" charset="-122"/>
              </a:rPr>
              <a:t>i</a:t>
            </a:r>
            <a:r>
              <a:rPr lang="zh-CN" altLang="en-US" baseline="0" dirty="0">
                <a:solidFill>
                  <a:srgbClr val="0D17D7"/>
                </a:solidFill>
                <a:ea typeface="宋体" panose="02010600030101010101" pitchFamily="2" charset="-122"/>
              </a:rPr>
              <a:t>、</a:t>
            </a:r>
            <a:r>
              <a:rPr lang="en-US" altLang="zh-CN" i="1" baseline="0" dirty="0" err="1">
                <a:solidFill>
                  <a:srgbClr val="0D17D7"/>
                </a:solidFill>
                <a:ea typeface="宋体" panose="02010600030101010101" pitchFamily="2" charset="-122"/>
              </a:rPr>
              <a:t>a</a:t>
            </a:r>
            <a:r>
              <a:rPr lang="en-US" altLang="zh-CN" i="1" baseline="-25000" dirty="0" err="1">
                <a:solidFill>
                  <a:srgbClr val="0D17D7"/>
                </a:solidFill>
                <a:latin typeface="宋体" panose="02010600030101010101" pitchFamily="2" charset="-122"/>
                <a:ea typeface="宋体" panose="02010600030101010101" pitchFamily="2" charset="-122"/>
              </a:rPr>
              <a:t>j</a:t>
            </a:r>
            <a:r>
              <a:rPr lang="en-US" altLang="zh-CN" i="1" baseline="-25000" dirty="0">
                <a:solidFill>
                  <a:srgbClr val="0D17D7"/>
                </a:solidFill>
                <a:latin typeface="宋体" panose="02010600030101010101" pitchFamily="2" charset="-122"/>
                <a:ea typeface="宋体" panose="02010600030101010101" pitchFamily="2" charset="-122"/>
              </a:rPr>
              <a:t> </a:t>
            </a:r>
            <a:r>
              <a:rPr lang="zh-CN" altLang="en-US" baseline="0" dirty="0">
                <a:solidFill>
                  <a:srgbClr val="0D17D7"/>
                </a:solidFill>
                <a:ea typeface="宋体" panose="02010600030101010101" pitchFamily="2" charset="-122"/>
              </a:rPr>
              <a:t>亦为待定系数，</a:t>
            </a:r>
            <a:r>
              <a:rPr lang="en-US" altLang="zh-CN" i="1" baseline="0" dirty="0">
                <a:solidFill>
                  <a:srgbClr val="0D17D7"/>
                </a:solidFill>
                <a:ea typeface="宋体" panose="02010600030101010101" pitchFamily="2" charset="-122"/>
              </a:rPr>
              <a:t>j=</a:t>
            </a:r>
            <a:r>
              <a:rPr lang="en-US" altLang="zh-CN" baseline="0" dirty="0">
                <a:solidFill>
                  <a:srgbClr val="0D17D7"/>
                </a:solidFill>
                <a:ea typeface="宋体" panose="02010600030101010101" pitchFamily="2" charset="-122"/>
              </a:rPr>
              <a:t>1</a:t>
            </a:r>
            <a:r>
              <a:rPr lang="zh-CN" altLang="en-US" baseline="0" dirty="0">
                <a:solidFill>
                  <a:srgbClr val="0D17D7"/>
                </a:solidFill>
                <a:ea typeface="宋体" panose="02010600030101010101" pitchFamily="2" charset="-122"/>
              </a:rPr>
              <a:t>，</a:t>
            </a:r>
            <a:r>
              <a:rPr lang="en-US" altLang="zh-CN" baseline="0" dirty="0">
                <a:solidFill>
                  <a:srgbClr val="0D17D7"/>
                </a:solidFill>
                <a:ea typeface="宋体" panose="02010600030101010101" pitchFamily="2" charset="-122"/>
              </a:rPr>
              <a:t>2</a:t>
            </a:r>
            <a:r>
              <a:rPr lang="zh-CN" altLang="en-US" baseline="0" dirty="0">
                <a:solidFill>
                  <a:srgbClr val="0D17D7"/>
                </a:solidFill>
                <a:ea typeface="宋体" panose="02010600030101010101" pitchFamily="2" charset="-122"/>
              </a:rPr>
              <a:t>，</a:t>
            </a:r>
            <a:r>
              <a:rPr lang="en-US" altLang="zh-CN" baseline="0" dirty="0">
                <a:solidFill>
                  <a:srgbClr val="0D17D7"/>
                </a:solidFill>
                <a:ea typeface="宋体" panose="02010600030101010101" pitchFamily="2" charset="-122"/>
              </a:rPr>
              <a:t>…</a:t>
            </a:r>
            <a:r>
              <a:rPr lang="zh-CN" altLang="en-US" baseline="0" dirty="0">
                <a:solidFill>
                  <a:srgbClr val="0D17D7"/>
                </a:solidFill>
                <a:ea typeface="宋体" panose="02010600030101010101" pitchFamily="2" charset="-122"/>
              </a:rPr>
              <a:t>，</a:t>
            </a:r>
            <a:r>
              <a:rPr lang="en-US" altLang="zh-CN" i="1" baseline="0" dirty="0">
                <a:solidFill>
                  <a:srgbClr val="0D17D7"/>
                </a:solidFill>
                <a:ea typeface="宋体" panose="02010600030101010101" pitchFamily="2" charset="-122"/>
              </a:rPr>
              <a:t>i</a:t>
            </a:r>
            <a:r>
              <a:rPr lang="en-US" altLang="zh-CN" baseline="0" dirty="0">
                <a:solidFill>
                  <a:srgbClr val="0D17D7"/>
                </a:solidFill>
                <a:ea typeface="宋体" panose="02010600030101010101" pitchFamily="2" charset="-122"/>
              </a:rPr>
              <a:t>-1</a:t>
            </a:r>
            <a:r>
              <a:rPr lang="zh-CN" altLang="en-US" baseline="0" dirty="0">
                <a:solidFill>
                  <a:srgbClr val="0D17D7"/>
                </a:solidFill>
                <a:ea typeface="宋体" panose="02010600030101010101" pitchFamily="2" charset="-122"/>
              </a:rPr>
              <a:t>，其中一般取</a:t>
            </a:r>
            <a:r>
              <a:rPr lang="en-US" altLang="zh-CN" i="1" baseline="0" dirty="0">
                <a:solidFill>
                  <a:srgbClr val="0D17D7"/>
                </a:solidFill>
                <a:ea typeface="宋体" panose="02010600030101010101" pitchFamily="2" charset="-122"/>
              </a:rPr>
              <a:t>c</a:t>
            </a:r>
            <a:r>
              <a:rPr lang="en-US" altLang="zh-CN" baseline="-25000" dirty="0">
                <a:solidFill>
                  <a:srgbClr val="0D17D7"/>
                </a:solidFill>
                <a:latin typeface="宋体" panose="02010600030101010101" pitchFamily="2" charset="-122"/>
                <a:ea typeface="宋体" panose="02010600030101010101" pitchFamily="2" charset="-122"/>
              </a:rPr>
              <a:t>1</a:t>
            </a:r>
            <a:r>
              <a:rPr lang="en-US" altLang="zh-CN" baseline="0" dirty="0">
                <a:solidFill>
                  <a:srgbClr val="0D17D7"/>
                </a:solidFill>
                <a:ea typeface="宋体" panose="02010600030101010101" pitchFamily="2" charset="-122"/>
              </a:rPr>
              <a:t>=0</a:t>
            </a:r>
            <a:r>
              <a:rPr lang="zh-CN" altLang="en-US" baseline="0" dirty="0">
                <a:solidFill>
                  <a:srgbClr val="0D17D7"/>
                </a:solidFill>
                <a:ea typeface="宋体" panose="02010600030101010101" pitchFamily="2" charset="-122"/>
              </a:rPr>
              <a:t>。</a:t>
            </a:r>
          </a:p>
        </p:txBody>
      </p:sp>
      <p:sp>
        <p:nvSpPr>
          <p:cNvPr id="2" name="灯片编号占位符 1"/>
          <p:cNvSpPr>
            <a:spLocks noGrp="1"/>
          </p:cNvSpPr>
          <p:nvPr>
            <p:ph type="sldNum" sz="quarter" idx="12"/>
          </p:nvPr>
        </p:nvSpPr>
        <p:spPr>
          <a:xfrm>
            <a:off x="7042150" y="6309320"/>
            <a:ext cx="1905000" cy="457200"/>
          </a:xfrm>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5DD1D768-B86F-4D0A-BF4D-299401132DEA}" type="slidenum">
              <a:rPr lang="en-US" altLang="zh-CN" sz="1400" b="0" baseline="0">
                <a:solidFill>
                  <a:schemeClr val="tx1"/>
                </a:solidFill>
                <a:ea typeface="宋体" panose="02010600030101010101" pitchFamily="2" charset="-122"/>
              </a:rPr>
              <a:pPr eaLnBrk="1" hangingPunct="1"/>
              <a:t>68</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4491728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0722" name="Object 7"/>
          <p:cNvGraphicFramePr>
            <a:graphicFrameLocks noChangeAspect="1"/>
          </p:cNvGraphicFramePr>
          <p:nvPr>
            <p:extLst>
              <p:ext uri="{D42A27DB-BD31-4B8C-83A1-F6EECF244321}">
                <p14:modId xmlns:p14="http://schemas.microsoft.com/office/powerpoint/2010/main" val="2392144384"/>
              </p:ext>
            </p:extLst>
          </p:nvPr>
        </p:nvGraphicFramePr>
        <p:xfrm>
          <a:off x="3001530" y="1229519"/>
          <a:ext cx="2735262" cy="625475"/>
        </p:xfrm>
        <a:graphic>
          <a:graphicData uri="http://schemas.openxmlformats.org/presentationml/2006/ole">
            <mc:AlternateContent xmlns:mc="http://schemas.openxmlformats.org/markup-compatibility/2006">
              <mc:Choice xmlns:v="urn:schemas-microsoft-com:vml" Requires="v">
                <p:oleObj spid="_x0000_s31026" name="Equation" r:id="rId3" imgW="1002865" imgH="228501" progId="Equation.DSMT4">
                  <p:embed/>
                </p:oleObj>
              </mc:Choice>
              <mc:Fallback>
                <p:oleObj name="Equation" r:id="rId3" imgW="1002865" imgH="228501" progId="Equation.DSMT4">
                  <p:embed/>
                  <p:pic>
                    <p:nvPicPr>
                      <p:cNvPr id="30722"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1530" y="1229519"/>
                        <a:ext cx="27352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3" name="Object 5"/>
          <p:cNvGraphicFramePr>
            <a:graphicFrameLocks noChangeAspect="1"/>
          </p:cNvGraphicFramePr>
          <p:nvPr/>
        </p:nvGraphicFramePr>
        <p:xfrm>
          <a:off x="2987675" y="3570288"/>
          <a:ext cx="2520950" cy="650875"/>
        </p:xfrm>
        <a:graphic>
          <a:graphicData uri="http://schemas.openxmlformats.org/presentationml/2006/ole">
            <mc:AlternateContent xmlns:mc="http://schemas.openxmlformats.org/markup-compatibility/2006">
              <mc:Choice xmlns:v="urn:schemas-microsoft-com:vml" Requires="v">
                <p:oleObj spid="_x0000_s31027" name="Equation" r:id="rId5" imgW="889000" imgH="228600" progId="Equation.DSMT4">
                  <p:embed/>
                </p:oleObj>
              </mc:Choice>
              <mc:Fallback>
                <p:oleObj name="Equation" r:id="rId5" imgW="889000" imgH="228600" progId="Equation.DSMT4">
                  <p:embed/>
                  <p:pic>
                    <p:nvPicPr>
                      <p:cNvPr id="3072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3570288"/>
                        <a:ext cx="25209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4" name="Object 4"/>
          <p:cNvGraphicFramePr>
            <a:graphicFrameLocks noChangeAspect="1"/>
          </p:cNvGraphicFramePr>
          <p:nvPr/>
        </p:nvGraphicFramePr>
        <p:xfrm>
          <a:off x="3059113" y="4221163"/>
          <a:ext cx="2376487" cy="647700"/>
        </p:xfrm>
        <a:graphic>
          <a:graphicData uri="http://schemas.openxmlformats.org/presentationml/2006/ole">
            <mc:AlternateContent xmlns:mc="http://schemas.openxmlformats.org/markup-compatibility/2006">
              <mc:Choice xmlns:v="urn:schemas-microsoft-com:vml" Requires="v">
                <p:oleObj spid="_x0000_s31028" name="Equation" r:id="rId7" imgW="838200" imgH="228600" progId="Equation.DSMT4">
                  <p:embed/>
                </p:oleObj>
              </mc:Choice>
              <mc:Fallback>
                <p:oleObj name="Equation" r:id="rId7" imgW="838200" imgH="228600" progId="Equation.DSMT4">
                  <p:embed/>
                  <p:pic>
                    <p:nvPicPr>
                      <p:cNvPr id="30724"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9113" y="4221163"/>
                        <a:ext cx="23764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5" name="Rectangle 8"/>
          <p:cNvSpPr>
            <a:spLocks noChangeArrowheads="1"/>
          </p:cNvSpPr>
          <p:nvPr/>
        </p:nvSpPr>
        <p:spPr bwMode="auto">
          <a:xfrm>
            <a:off x="468313" y="616735"/>
            <a:ext cx="586282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1414463"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aseline="0" dirty="0">
                <a:latin typeface="宋体" panose="02010600030101010101" pitchFamily="2" charset="-122"/>
              </a:rPr>
              <a:t>当</a:t>
            </a:r>
            <a:r>
              <a:rPr lang="en-US" altLang="zh-CN" sz="2800" baseline="0" dirty="0">
                <a:latin typeface="宋体" panose="02010600030101010101" pitchFamily="2" charset="-122"/>
              </a:rPr>
              <a:t>r=1</a:t>
            </a:r>
            <a:r>
              <a:rPr lang="zh-CN" altLang="en-US" sz="2800" baseline="0" dirty="0">
                <a:latin typeface="宋体" panose="02010600030101010101" pitchFamily="2" charset="-122"/>
              </a:rPr>
              <a:t>时，</a:t>
            </a:r>
            <a:r>
              <a:rPr lang="en-US" altLang="zh-CN" sz="2800" baseline="0" dirty="0">
                <a:latin typeface="宋体" panose="02010600030101010101" pitchFamily="2" charset="-122"/>
              </a:rPr>
              <a:t>k</a:t>
            </a:r>
            <a:r>
              <a:rPr lang="en-US" altLang="zh-CN" sz="2800" baseline="-25000" dirty="0">
                <a:latin typeface="宋体" panose="02010600030101010101" pitchFamily="2" charset="-122"/>
              </a:rPr>
              <a:t>1</a:t>
            </a:r>
            <a:r>
              <a:rPr lang="en-US" altLang="zh-CN" sz="2800" baseline="0" dirty="0">
                <a:latin typeface="宋体" panose="02010600030101010101" pitchFamily="2" charset="-122"/>
              </a:rPr>
              <a:t>=f(</a:t>
            </a:r>
            <a:r>
              <a:rPr lang="en-US" altLang="zh-CN" sz="2800" baseline="0" dirty="0" err="1">
                <a:latin typeface="宋体" panose="02010600030101010101" pitchFamily="2" charset="-122"/>
              </a:rPr>
              <a:t>t</a:t>
            </a:r>
            <a:r>
              <a:rPr lang="en-US" altLang="zh-CN" sz="2800" baseline="-25000" dirty="0" err="1">
                <a:latin typeface="宋体" panose="02010600030101010101" pitchFamily="2" charset="-122"/>
              </a:rPr>
              <a:t>k</a:t>
            </a:r>
            <a:r>
              <a:rPr lang="en-US" altLang="zh-CN" sz="2800" baseline="0" dirty="0" err="1">
                <a:latin typeface="宋体" panose="02010600030101010101" pitchFamily="2" charset="-122"/>
              </a:rPr>
              <a:t>,y</a:t>
            </a:r>
            <a:r>
              <a:rPr lang="en-US" altLang="zh-CN" sz="2800" baseline="-25000" dirty="0" err="1">
                <a:latin typeface="宋体" panose="02010600030101010101" pitchFamily="2" charset="-122"/>
              </a:rPr>
              <a:t>k</a:t>
            </a:r>
            <a:r>
              <a:rPr lang="en-US" altLang="zh-CN" sz="2800" baseline="0" dirty="0">
                <a:latin typeface="宋体" panose="02010600030101010101" pitchFamily="2" charset="-122"/>
              </a:rPr>
              <a:t>)</a:t>
            </a:r>
            <a:r>
              <a:rPr lang="zh-CN" altLang="en-US" sz="2800" baseline="0" dirty="0">
                <a:latin typeface="宋体" panose="02010600030101010101" pitchFamily="2" charset="-122"/>
              </a:rPr>
              <a:t>，则</a:t>
            </a:r>
          </a:p>
          <a:p>
            <a:pPr>
              <a:spcBef>
                <a:spcPct val="0"/>
              </a:spcBef>
              <a:buFontTx/>
              <a:buNone/>
            </a:pPr>
            <a:endParaRPr lang="en-US" altLang="zh-CN" sz="2800" baseline="0" dirty="0">
              <a:latin typeface="宋体" panose="02010600030101010101" pitchFamily="2" charset="-122"/>
            </a:endParaRPr>
          </a:p>
        </p:txBody>
      </p:sp>
      <p:sp>
        <p:nvSpPr>
          <p:cNvPr id="30726" name="Rectangle 9"/>
          <p:cNvSpPr>
            <a:spLocks noChangeArrowheads="1"/>
          </p:cNvSpPr>
          <p:nvPr/>
        </p:nvSpPr>
        <p:spPr bwMode="auto">
          <a:xfrm>
            <a:off x="611188" y="2198380"/>
            <a:ext cx="80645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sz="2800" baseline="0" dirty="0">
                <a:solidFill>
                  <a:schemeClr val="tx1"/>
                </a:solidFill>
                <a:ea typeface="宋体" panose="02010600030101010101" pitchFamily="2" charset="-122"/>
              </a:rPr>
              <a:t>与</a:t>
            </a:r>
            <a:r>
              <a:rPr lang="en-US" altLang="zh-CN" sz="2800" baseline="0" dirty="0">
                <a:solidFill>
                  <a:schemeClr val="tx1"/>
                </a:solidFill>
                <a:ea typeface="宋体" panose="02010600030101010101" pitchFamily="2" charset="-122"/>
              </a:rPr>
              <a:t>(3-5-12)</a:t>
            </a:r>
            <a:r>
              <a:rPr lang="zh-CN" altLang="en-US" sz="2800" baseline="0" dirty="0">
                <a:solidFill>
                  <a:schemeClr val="tx1"/>
                </a:solidFill>
                <a:ea typeface="宋体" panose="02010600030101010101" pitchFamily="2" charset="-122"/>
              </a:rPr>
              <a:t> 一阶近似公式（                             ）</a:t>
            </a:r>
            <a:r>
              <a:rPr lang="zh-CN" altLang="en-US" sz="2800" baseline="0" dirty="0">
                <a:solidFill>
                  <a:schemeClr val="tx1"/>
                </a:solidFill>
              </a:rPr>
              <a:t>相比较，可得</a:t>
            </a:r>
            <a:r>
              <a:rPr lang="en-US" altLang="zh-CN" sz="2800" i="1" baseline="0" dirty="0">
                <a:solidFill>
                  <a:schemeClr val="tx1"/>
                </a:solidFill>
              </a:rPr>
              <a:t>b</a:t>
            </a:r>
            <a:r>
              <a:rPr lang="en-US" altLang="zh-CN" sz="2800" baseline="-25000" dirty="0">
                <a:solidFill>
                  <a:schemeClr val="tx1"/>
                </a:solidFill>
                <a:latin typeface="宋体" panose="02010600030101010101" pitchFamily="2" charset="-122"/>
                <a:ea typeface="宋体" panose="02010600030101010101" pitchFamily="2" charset="-122"/>
              </a:rPr>
              <a:t>1</a:t>
            </a:r>
            <a:r>
              <a:rPr lang="en-US" altLang="zh-CN" sz="2800" baseline="0" dirty="0">
                <a:solidFill>
                  <a:schemeClr val="tx1"/>
                </a:solidFill>
              </a:rPr>
              <a:t>=1</a:t>
            </a:r>
            <a:r>
              <a:rPr lang="zh-CN" altLang="en-US" sz="2800" baseline="0" dirty="0">
                <a:solidFill>
                  <a:schemeClr val="tx1"/>
                </a:solidFill>
              </a:rPr>
              <a:t>，则上式成为</a:t>
            </a:r>
            <a:endParaRPr lang="zh-CN" altLang="en-US" sz="2800" baseline="0" dirty="0">
              <a:solidFill>
                <a:schemeClr val="tx1"/>
              </a:solidFill>
              <a:ea typeface="宋体" panose="02010600030101010101" pitchFamily="2" charset="-122"/>
            </a:endParaRPr>
          </a:p>
        </p:txBody>
      </p:sp>
      <p:sp>
        <p:nvSpPr>
          <p:cNvPr id="30727" name="Rectangle 12"/>
          <p:cNvSpPr>
            <a:spLocks noChangeArrowheads="1"/>
          </p:cNvSpPr>
          <p:nvPr/>
        </p:nvSpPr>
        <p:spPr bwMode="auto">
          <a:xfrm>
            <a:off x="539750" y="5364163"/>
            <a:ext cx="8353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spcBef>
                <a:spcPct val="0"/>
              </a:spcBef>
            </a:pPr>
            <a:r>
              <a:rPr lang="zh-CN" altLang="en-US" sz="2800" baseline="0" dirty="0">
                <a:solidFill>
                  <a:schemeClr val="tx1"/>
                </a:solidFill>
                <a:ea typeface="宋体" panose="02010600030101010101" pitchFamily="2" charset="-122"/>
              </a:rPr>
              <a:t>此即欧拉法递推公式。其中</a:t>
            </a:r>
            <a:r>
              <a:rPr lang="en-US" altLang="zh-CN" sz="2800" i="1" baseline="0" dirty="0">
                <a:solidFill>
                  <a:schemeClr val="tx1"/>
                </a:solidFill>
                <a:ea typeface="宋体" panose="02010600030101010101" pitchFamily="2" charset="-122"/>
              </a:rPr>
              <a:t>k</a:t>
            </a:r>
            <a:r>
              <a:rPr lang="en-US" altLang="zh-CN" sz="2800" baseline="-25000" dirty="0">
                <a:solidFill>
                  <a:schemeClr val="tx1"/>
                </a:solidFill>
                <a:latin typeface="宋体" panose="02010600030101010101" pitchFamily="2" charset="-122"/>
                <a:ea typeface="宋体" panose="02010600030101010101" pitchFamily="2" charset="-122"/>
              </a:rPr>
              <a:t>1</a:t>
            </a:r>
            <a:r>
              <a:rPr lang="zh-CN" altLang="en-US" sz="2800" baseline="0" dirty="0">
                <a:solidFill>
                  <a:schemeClr val="tx1"/>
                </a:solidFill>
                <a:ea typeface="宋体" panose="02010600030101010101" pitchFamily="2" charset="-122"/>
              </a:rPr>
              <a:t>是</a:t>
            </a:r>
            <a:r>
              <a:rPr lang="en-US" altLang="zh-CN" sz="2800" i="1" baseline="0" dirty="0" err="1">
                <a:solidFill>
                  <a:schemeClr val="tx1"/>
                </a:solidFill>
                <a:ea typeface="宋体" panose="02010600030101010101" pitchFamily="2" charset="-122"/>
              </a:rPr>
              <a:t>y</a:t>
            </a:r>
            <a:r>
              <a:rPr lang="en-US" altLang="zh-CN" sz="2800" i="1" baseline="-25000" dirty="0" err="1">
                <a:solidFill>
                  <a:schemeClr val="tx1"/>
                </a:solidFill>
                <a:ea typeface="宋体" panose="02010600030101010101" pitchFamily="2" charset="-122"/>
              </a:rPr>
              <a:t>k</a:t>
            </a:r>
            <a:r>
              <a:rPr lang="zh-CN" altLang="en-US" sz="2800" baseline="0" dirty="0">
                <a:solidFill>
                  <a:schemeClr val="tx1"/>
                </a:solidFill>
                <a:ea typeface="宋体" panose="02010600030101010101" pitchFamily="2" charset="-122"/>
              </a:rPr>
              <a:t>点的切线斜率。</a:t>
            </a:r>
          </a:p>
        </p:txBody>
      </p:sp>
      <p:graphicFrame>
        <p:nvGraphicFramePr>
          <p:cNvPr id="30728" name="Object 13"/>
          <p:cNvGraphicFramePr>
            <a:graphicFrameLocks noGrp="1" noChangeAspect="1"/>
          </p:cNvGraphicFramePr>
          <p:nvPr>
            <p:ph/>
            <p:extLst>
              <p:ext uri="{D42A27DB-BD31-4B8C-83A1-F6EECF244321}">
                <p14:modId xmlns:p14="http://schemas.microsoft.com/office/powerpoint/2010/main" val="1783848722"/>
              </p:ext>
            </p:extLst>
          </p:nvPr>
        </p:nvGraphicFramePr>
        <p:xfrm>
          <a:off x="4860032" y="2163112"/>
          <a:ext cx="2447925" cy="531813"/>
        </p:xfrm>
        <a:graphic>
          <a:graphicData uri="http://schemas.openxmlformats.org/presentationml/2006/ole">
            <mc:AlternateContent xmlns:mc="http://schemas.openxmlformats.org/markup-compatibility/2006">
              <mc:Choice xmlns:v="urn:schemas-microsoft-com:vml" Requires="v">
                <p:oleObj spid="_x0000_s31029" name="Equation" r:id="rId9" imgW="889000" imgH="228600" progId="Equation.DSMT4">
                  <p:embed/>
                </p:oleObj>
              </mc:Choice>
              <mc:Fallback>
                <p:oleObj name="Equation" r:id="rId9" imgW="889000" imgH="228600" progId="Equation.DSMT4">
                  <p:embed/>
                  <p:pic>
                    <p:nvPicPr>
                      <p:cNvPr id="30728"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0032" y="2163112"/>
                        <a:ext cx="2447925"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6588D3DF-E2FD-401E-B5B4-D1339796EC11}" type="slidenum">
              <a:rPr lang="en-US" altLang="zh-CN" sz="1400" b="0" baseline="0">
                <a:solidFill>
                  <a:schemeClr val="tx1"/>
                </a:solidFill>
                <a:ea typeface="宋体" panose="02010600030101010101" pitchFamily="2" charset="-122"/>
              </a:rPr>
              <a:pPr eaLnBrk="1" hangingPunct="1"/>
              <a:t>69</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3727601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Object 9"/>
          <p:cNvGraphicFramePr>
            <a:graphicFrameLocks noChangeAspect="1"/>
          </p:cNvGraphicFramePr>
          <p:nvPr/>
        </p:nvGraphicFramePr>
        <p:xfrm>
          <a:off x="2916238" y="793750"/>
          <a:ext cx="2303462" cy="628650"/>
        </p:xfrm>
        <a:graphic>
          <a:graphicData uri="http://schemas.openxmlformats.org/presentationml/2006/ole">
            <mc:AlternateContent xmlns:mc="http://schemas.openxmlformats.org/markup-compatibility/2006">
              <mc:Choice xmlns:v="urn:schemas-microsoft-com:vml" Requires="v">
                <p:oleObj spid="_x0000_s32196" name="Equation" r:id="rId3" imgW="838200" imgH="228600" progId="Equation.DSMT4">
                  <p:embed/>
                </p:oleObj>
              </mc:Choice>
              <mc:Fallback>
                <p:oleObj name="Equation" r:id="rId3" imgW="838200" imgH="228600" progId="Equation.DSMT4">
                  <p:embed/>
                  <p:pic>
                    <p:nvPicPr>
                      <p:cNvPr id="31746"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793750"/>
                        <a:ext cx="230346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47" name="Object 8"/>
          <p:cNvGraphicFramePr>
            <a:graphicFrameLocks noChangeAspect="1"/>
          </p:cNvGraphicFramePr>
          <p:nvPr/>
        </p:nvGraphicFramePr>
        <p:xfrm>
          <a:off x="2916238" y="1370013"/>
          <a:ext cx="3529012" cy="495300"/>
        </p:xfrm>
        <a:graphic>
          <a:graphicData uri="http://schemas.openxmlformats.org/presentationml/2006/ole">
            <mc:AlternateContent xmlns:mc="http://schemas.openxmlformats.org/markup-compatibility/2006">
              <mc:Choice xmlns:v="urn:schemas-microsoft-com:vml" Requires="v">
                <p:oleObj spid="_x0000_s32197" name="Equation" r:id="rId5" imgW="1625600" imgH="228600" progId="Equation.DSMT4">
                  <p:embed/>
                </p:oleObj>
              </mc:Choice>
              <mc:Fallback>
                <p:oleObj name="Equation" r:id="rId5" imgW="1625600" imgH="228600" progId="Equation.DSMT4">
                  <p:embed/>
                  <p:pic>
                    <p:nvPicPr>
                      <p:cNvPr id="31747"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238" y="1370013"/>
                        <a:ext cx="352901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48" name="Object 7"/>
          <p:cNvGraphicFramePr>
            <a:graphicFrameLocks noChangeAspect="1"/>
          </p:cNvGraphicFramePr>
          <p:nvPr/>
        </p:nvGraphicFramePr>
        <p:xfrm>
          <a:off x="2916238" y="2451100"/>
          <a:ext cx="3598862" cy="514350"/>
        </p:xfrm>
        <a:graphic>
          <a:graphicData uri="http://schemas.openxmlformats.org/presentationml/2006/ole">
            <mc:AlternateContent xmlns:mc="http://schemas.openxmlformats.org/markup-compatibility/2006">
              <mc:Choice xmlns:v="urn:schemas-microsoft-com:vml" Requires="v">
                <p:oleObj spid="_x0000_s32198" name="Equation" r:id="rId7" imgW="1663700" imgH="241300" progId="Equation.DSMT4">
                  <p:embed/>
                </p:oleObj>
              </mc:Choice>
              <mc:Fallback>
                <p:oleObj name="Equation" r:id="rId7" imgW="1663700" imgH="241300" progId="Equation.DSMT4">
                  <p:embed/>
                  <p:pic>
                    <p:nvPicPr>
                      <p:cNvPr id="31748"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238" y="2451100"/>
                        <a:ext cx="359886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49" name="Object 6"/>
          <p:cNvGraphicFramePr>
            <a:graphicFrameLocks noChangeAspect="1"/>
          </p:cNvGraphicFramePr>
          <p:nvPr/>
        </p:nvGraphicFramePr>
        <p:xfrm>
          <a:off x="2339975" y="3027363"/>
          <a:ext cx="5976938" cy="1538287"/>
        </p:xfrm>
        <a:graphic>
          <a:graphicData uri="http://schemas.openxmlformats.org/presentationml/2006/ole">
            <mc:AlternateContent xmlns:mc="http://schemas.openxmlformats.org/markup-compatibility/2006">
              <mc:Choice xmlns:v="urn:schemas-microsoft-com:vml" Requires="v">
                <p:oleObj spid="_x0000_s32199" name="Equation" r:id="rId9" imgW="2921000" imgH="749300" progId="Equation.DSMT4">
                  <p:embed/>
                </p:oleObj>
              </mc:Choice>
              <mc:Fallback>
                <p:oleObj name="Equation" r:id="rId9" imgW="2921000" imgH="749300" progId="Equation.DSMT4">
                  <p:embed/>
                  <p:pic>
                    <p:nvPicPr>
                      <p:cNvPr id="31749"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9975" y="3027363"/>
                        <a:ext cx="5976938"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0" name="Object 5"/>
          <p:cNvGraphicFramePr>
            <a:graphicFrameLocks noChangeAspect="1"/>
          </p:cNvGraphicFramePr>
          <p:nvPr>
            <p:extLst>
              <p:ext uri="{D42A27DB-BD31-4B8C-83A1-F6EECF244321}">
                <p14:modId xmlns:p14="http://schemas.microsoft.com/office/powerpoint/2010/main" val="330434147"/>
              </p:ext>
            </p:extLst>
          </p:nvPr>
        </p:nvGraphicFramePr>
        <p:xfrm>
          <a:off x="2555875" y="4941168"/>
          <a:ext cx="4752975" cy="1031875"/>
        </p:xfrm>
        <a:graphic>
          <a:graphicData uri="http://schemas.openxmlformats.org/presentationml/2006/ole">
            <mc:AlternateContent xmlns:mc="http://schemas.openxmlformats.org/markup-compatibility/2006">
              <mc:Choice xmlns:v="urn:schemas-microsoft-com:vml" Requires="v">
                <p:oleObj spid="_x0000_s32200" name="Equation" r:id="rId11" imgW="1930400" imgH="419100" progId="Equation.DSMT4">
                  <p:embed/>
                </p:oleObj>
              </mc:Choice>
              <mc:Fallback>
                <p:oleObj name="Equation" r:id="rId11" imgW="1930400" imgH="419100" progId="Equation.DSMT4">
                  <p:embed/>
                  <p:pic>
                    <p:nvPicPr>
                      <p:cNvPr id="3175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5875" y="4941168"/>
                        <a:ext cx="4752975"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1" name="Object 4"/>
          <p:cNvGraphicFramePr>
            <a:graphicFrameLocks noChangeAspect="1"/>
          </p:cNvGraphicFramePr>
          <p:nvPr/>
        </p:nvGraphicFramePr>
        <p:xfrm>
          <a:off x="3276600" y="5835650"/>
          <a:ext cx="5472113" cy="977900"/>
        </p:xfrm>
        <a:graphic>
          <a:graphicData uri="http://schemas.openxmlformats.org/presentationml/2006/ole">
            <mc:AlternateContent xmlns:mc="http://schemas.openxmlformats.org/markup-compatibility/2006">
              <mc:Choice xmlns:v="urn:schemas-microsoft-com:vml" Requires="v">
                <p:oleObj spid="_x0000_s32201" name="Equation" r:id="rId13" imgW="2324100" imgH="393700" progId="Equation.DSMT4">
                  <p:embed/>
                </p:oleObj>
              </mc:Choice>
              <mc:Fallback>
                <p:oleObj name="Equation" r:id="rId13" imgW="2324100" imgH="393700" progId="Equation.DSMT4">
                  <p:embed/>
                  <p:pic>
                    <p:nvPicPr>
                      <p:cNvPr id="31751"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6600" y="5835650"/>
                        <a:ext cx="5472113"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2" name="Rectangle 10"/>
          <p:cNvSpPr>
            <a:spLocks noChangeArrowheads="1"/>
          </p:cNvSpPr>
          <p:nvPr/>
        </p:nvSpPr>
        <p:spPr bwMode="auto">
          <a:xfrm>
            <a:off x="-1548680" y="184577"/>
            <a:ext cx="684130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1336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i="1" baseline="0" dirty="0">
                <a:solidFill>
                  <a:srgbClr val="0D17D7"/>
                </a:solidFill>
                <a:latin typeface="宋体" panose="02010600030101010101" pitchFamily="2" charset="-122"/>
              </a:rPr>
              <a:t>r</a:t>
            </a:r>
            <a:r>
              <a:rPr lang="en-US" altLang="zh-CN" sz="2400" baseline="0" dirty="0">
                <a:solidFill>
                  <a:srgbClr val="0D17D7"/>
                </a:solidFill>
                <a:latin typeface="宋体" panose="02010600030101010101" pitchFamily="2" charset="-122"/>
              </a:rPr>
              <a:t>=2</a:t>
            </a:r>
            <a:r>
              <a:rPr lang="zh-CN" altLang="en-US" sz="2400" baseline="0" dirty="0">
                <a:solidFill>
                  <a:srgbClr val="0D17D7"/>
                </a:solidFill>
                <a:latin typeface="宋体" panose="02010600030101010101" pitchFamily="2" charset="-122"/>
              </a:rPr>
              <a:t>时，可以得到</a:t>
            </a:r>
          </a:p>
          <a:p>
            <a:pPr>
              <a:spcBef>
                <a:spcPct val="0"/>
              </a:spcBef>
              <a:buFontTx/>
              <a:buNone/>
            </a:pPr>
            <a:endParaRPr lang="en-US" altLang="zh-CN" sz="2400" baseline="0" dirty="0">
              <a:solidFill>
                <a:srgbClr val="0D17D7"/>
              </a:solidFill>
              <a:latin typeface="宋体" panose="02010600030101010101" pitchFamily="2" charset="-122"/>
            </a:endParaRPr>
          </a:p>
        </p:txBody>
      </p:sp>
      <p:sp>
        <p:nvSpPr>
          <p:cNvPr id="31753" name="Rectangle 12"/>
          <p:cNvSpPr>
            <a:spLocks noChangeArrowheads="1"/>
          </p:cNvSpPr>
          <p:nvPr/>
        </p:nvSpPr>
        <p:spPr bwMode="auto">
          <a:xfrm>
            <a:off x="-1620838" y="2014964"/>
            <a:ext cx="58609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19812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aseline="0" dirty="0">
                <a:solidFill>
                  <a:srgbClr val="0D17D7"/>
                </a:solidFill>
              </a:rPr>
              <a:t>而</a:t>
            </a:r>
            <a:r>
              <a:rPr lang="en-US" altLang="zh-CN" sz="2400" i="1" baseline="0" dirty="0">
                <a:solidFill>
                  <a:srgbClr val="0D17D7"/>
                </a:solidFill>
              </a:rPr>
              <a:t>k</a:t>
            </a:r>
            <a:r>
              <a:rPr lang="en-US" altLang="zh-CN" sz="2400" i="1" baseline="-25000" dirty="0">
                <a:solidFill>
                  <a:srgbClr val="0D17D7"/>
                </a:solidFill>
              </a:rPr>
              <a:t>2</a:t>
            </a:r>
            <a:r>
              <a:rPr lang="zh-CN" altLang="en-US" sz="2400" baseline="0" dirty="0">
                <a:solidFill>
                  <a:srgbClr val="0D17D7"/>
                </a:solidFill>
              </a:rPr>
              <a:t>可按二元函数展开成为</a:t>
            </a:r>
            <a:endParaRPr lang="zh-CN" altLang="en-US" sz="2400" baseline="0" dirty="0">
              <a:solidFill>
                <a:srgbClr val="0D17D7"/>
              </a:solidFill>
              <a:ea typeface="楷体_GB2312" pitchFamily="49" charset="-122"/>
            </a:endParaRPr>
          </a:p>
          <a:p>
            <a:pPr>
              <a:spcBef>
                <a:spcPct val="0"/>
              </a:spcBef>
              <a:buFontTx/>
              <a:buNone/>
            </a:pPr>
            <a:endParaRPr lang="en-US" altLang="zh-CN" sz="2400" baseline="0" dirty="0">
              <a:solidFill>
                <a:srgbClr val="0D17D7"/>
              </a:solidFill>
            </a:endParaRPr>
          </a:p>
        </p:txBody>
      </p:sp>
      <p:sp>
        <p:nvSpPr>
          <p:cNvPr id="31754" name="Rectangle 14"/>
          <p:cNvSpPr>
            <a:spLocks noChangeArrowheads="1"/>
          </p:cNvSpPr>
          <p:nvPr/>
        </p:nvSpPr>
        <p:spPr bwMode="auto">
          <a:xfrm>
            <a:off x="0" y="4666646"/>
            <a:ext cx="55419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r>
              <a:rPr lang="zh-CN" altLang="en-US" baseline="0" dirty="0">
                <a:solidFill>
                  <a:srgbClr val="0D17D7"/>
                </a:solidFill>
                <a:ea typeface="宋体" panose="02010600030101010101" pitchFamily="2" charset="-122"/>
              </a:rPr>
              <a:t>同样与式</a:t>
            </a:r>
            <a:r>
              <a:rPr lang="en-US" altLang="zh-CN" baseline="0" dirty="0">
                <a:solidFill>
                  <a:srgbClr val="0D17D7"/>
                </a:solidFill>
                <a:ea typeface="宋体" panose="02010600030101010101" pitchFamily="2" charset="-122"/>
              </a:rPr>
              <a:t>(3-5-12)</a:t>
            </a:r>
            <a:r>
              <a:rPr lang="zh-CN" altLang="en-US" baseline="0" dirty="0">
                <a:solidFill>
                  <a:srgbClr val="0D17D7"/>
                </a:solidFill>
                <a:ea typeface="宋体" panose="02010600030101010101" pitchFamily="2" charset="-122"/>
              </a:rPr>
              <a:t>比较，取二阶近似公式</a:t>
            </a:r>
          </a:p>
          <a:p>
            <a:pPr algn="l" eaLnBrk="1" hangingPunct="1">
              <a:spcBef>
                <a:spcPct val="0"/>
              </a:spcBef>
            </a:pPr>
            <a:endParaRPr lang="zh-CN" altLang="en-US" baseline="0" dirty="0">
              <a:solidFill>
                <a:srgbClr val="0D17D7"/>
              </a:solidFill>
              <a:ea typeface="宋体" panose="02010600030101010101" pitchFamily="2" charset="-122"/>
            </a:endParaRPr>
          </a:p>
          <a:p>
            <a:pPr algn="l" eaLnBrk="1" hangingPunct="1">
              <a:spcBef>
                <a:spcPct val="0"/>
              </a:spcBef>
            </a:pPr>
            <a:endParaRPr lang="zh-CN" altLang="en-US" baseline="0" dirty="0">
              <a:solidFill>
                <a:srgbClr val="0D17D7"/>
              </a:solidFill>
              <a:ea typeface="宋体" panose="02010600030101010101" pitchFamily="2" charset="-122"/>
            </a:endParaRPr>
          </a:p>
          <a:p>
            <a:pPr algn="l" eaLnBrk="1" hangingPunct="1">
              <a:spcBef>
                <a:spcPct val="0"/>
              </a:spcBef>
            </a:pPr>
            <a:r>
              <a:rPr lang="zh-CN" altLang="en-US" baseline="0" dirty="0">
                <a:solidFill>
                  <a:srgbClr val="0D17D7"/>
                </a:solidFill>
                <a:ea typeface="宋体" panose="02010600030101010101" pitchFamily="2" charset="-122"/>
              </a:rPr>
              <a:t>相比较，即得以下关系式</a:t>
            </a:r>
            <a:r>
              <a:rPr lang="en-US" altLang="zh-CN" baseline="0" dirty="0">
                <a:solidFill>
                  <a:srgbClr val="0D17D7"/>
                </a:solidFill>
                <a:ea typeface="宋体" panose="02010600030101010101" pitchFamily="2" charset="-122"/>
              </a:rPr>
              <a:t>:</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305FF10F-987C-4DA3-9930-27F4EF4E82EA}" type="slidenum">
              <a:rPr lang="en-US" altLang="zh-CN" sz="1400" b="0" baseline="0">
                <a:solidFill>
                  <a:schemeClr val="tx1"/>
                </a:solidFill>
                <a:ea typeface="宋体" panose="02010600030101010101" pitchFamily="2" charset="-122"/>
              </a:rPr>
              <a:pPr eaLnBrk="1" hangingPunct="1"/>
              <a:t>70</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41471516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2770" name="Object 12"/>
          <p:cNvGraphicFramePr>
            <a:graphicFrameLocks noChangeAspect="1"/>
          </p:cNvGraphicFramePr>
          <p:nvPr>
            <p:extLst>
              <p:ext uri="{D42A27DB-BD31-4B8C-83A1-F6EECF244321}">
                <p14:modId xmlns:p14="http://schemas.microsoft.com/office/powerpoint/2010/main" val="453008241"/>
              </p:ext>
            </p:extLst>
          </p:nvPr>
        </p:nvGraphicFramePr>
        <p:xfrm>
          <a:off x="2198166" y="1412875"/>
          <a:ext cx="2733675" cy="684213"/>
        </p:xfrm>
        <a:graphic>
          <a:graphicData uri="http://schemas.openxmlformats.org/presentationml/2006/ole">
            <mc:AlternateContent xmlns:mc="http://schemas.openxmlformats.org/markup-compatibility/2006">
              <mc:Choice xmlns:v="urn:schemas-microsoft-com:vml" Requires="v">
                <p:oleObj spid="_x0000_s33208" name="Equation" r:id="rId3" imgW="914400" imgH="228600" progId="Equation.DSMT4">
                  <p:embed/>
                </p:oleObj>
              </mc:Choice>
              <mc:Fallback>
                <p:oleObj name="Equation" r:id="rId3" imgW="914400" imgH="228600" progId="Equation.DSMT4">
                  <p:embed/>
                  <p:pic>
                    <p:nvPicPr>
                      <p:cNvPr id="3277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166" y="1412875"/>
                        <a:ext cx="273367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1" name="Object 11"/>
          <p:cNvGraphicFramePr>
            <a:graphicFrameLocks noChangeAspect="1"/>
          </p:cNvGraphicFramePr>
          <p:nvPr>
            <p:extLst>
              <p:ext uri="{D42A27DB-BD31-4B8C-83A1-F6EECF244321}">
                <p14:modId xmlns:p14="http://schemas.microsoft.com/office/powerpoint/2010/main" val="3335737645"/>
              </p:ext>
            </p:extLst>
          </p:nvPr>
        </p:nvGraphicFramePr>
        <p:xfrm>
          <a:off x="2268016" y="2133600"/>
          <a:ext cx="2016125" cy="550863"/>
        </p:xfrm>
        <a:graphic>
          <a:graphicData uri="http://schemas.openxmlformats.org/presentationml/2006/ole">
            <mc:AlternateContent xmlns:mc="http://schemas.openxmlformats.org/markup-compatibility/2006">
              <mc:Choice xmlns:v="urn:schemas-microsoft-com:vml" Requires="v">
                <p:oleObj spid="_x0000_s33209" name="Equation" r:id="rId5" imgW="838200" imgH="228600" progId="Equation.DSMT4">
                  <p:embed/>
                </p:oleObj>
              </mc:Choice>
              <mc:Fallback>
                <p:oleObj name="Equation" r:id="rId5" imgW="838200" imgH="228600" progId="Equation.DSMT4">
                  <p:embed/>
                  <p:pic>
                    <p:nvPicPr>
                      <p:cNvPr id="32771"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016" y="2133600"/>
                        <a:ext cx="201612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2" name="Object 10"/>
          <p:cNvGraphicFramePr>
            <a:graphicFrameLocks noChangeAspect="1"/>
          </p:cNvGraphicFramePr>
          <p:nvPr>
            <p:extLst>
              <p:ext uri="{D42A27DB-BD31-4B8C-83A1-F6EECF244321}">
                <p14:modId xmlns:p14="http://schemas.microsoft.com/office/powerpoint/2010/main" val="2279669644"/>
              </p:ext>
            </p:extLst>
          </p:nvPr>
        </p:nvGraphicFramePr>
        <p:xfrm>
          <a:off x="2196579" y="2636838"/>
          <a:ext cx="3311525" cy="868362"/>
        </p:xfrm>
        <a:graphic>
          <a:graphicData uri="http://schemas.openxmlformats.org/presentationml/2006/ole">
            <mc:AlternateContent xmlns:mc="http://schemas.openxmlformats.org/markup-compatibility/2006">
              <mc:Choice xmlns:v="urn:schemas-microsoft-com:vml" Requires="v">
                <p:oleObj spid="_x0000_s33210" name="Equation" r:id="rId7" imgW="1485900" imgH="393700" progId="Equation.DSMT4">
                  <p:embed/>
                </p:oleObj>
              </mc:Choice>
              <mc:Fallback>
                <p:oleObj name="Equation" r:id="rId7" imgW="1485900" imgH="393700" progId="Equation.DSMT4">
                  <p:embed/>
                  <p:pic>
                    <p:nvPicPr>
                      <p:cNvPr id="32772"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6579" y="2636838"/>
                        <a:ext cx="3311525"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3" name="Object 9"/>
          <p:cNvGraphicFramePr>
            <a:graphicFrameLocks noChangeAspect="1"/>
          </p:cNvGraphicFramePr>
          <p:nvPr>
            <p:extLst>
              <p:ext uri="{D42A27DB-BD31-4B8C-83A1-F6EECF244321}">
                <p14:modId xmlns:p14="http://schemas.microsoft.com/office/powerpoint/2010/main" val="3162776748"/>
              </p:ext>
            </p:extLst>
          </p:nvPr>
        </p:nvGraphicFramePr>
        <p:xfrm>
          <a:off x="2195934" y="4005263"/>
          <a:ext cx="3311525" cy="922337"/>
        </p:xfrm>
        <a:graphic>
          <a:graphicData uri="http://schemas.openxmlformats.org/presentationml/2006/ole">
            <mc:AlternateContent xmlns:mc="http://schemas.openxmlformats.org/markup-compatibility/2006">
              <mc:Choice xmlns:v="urn:schemas-microsoft-com:vml" Requires="v">
                <p:oleObj spid="_x0000_s33211" name="Equation" r:id="rId9" imgW="1396394" imgH="393529" progId="Equation.DSMT4">
                  <p:embed/>
                </p:oleObj>
              </mc:Choice>
              <mc:Fallback>
                <p:oleObj name="Equation" r:id="rId9" imgW="1396394" imgH="393529" progId="Equation.DSMT4">
                  <p:embed/>
                  <p:pic>
                    <p:nvPicPr>
                      <p:cNvPr id="32773"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934" y="4005263"/>
                        <a:ext cx="33115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4" name="Object 8"/>
          <p:cNvGraphicFramePr>
            <a:graphicFrameLocks noChangeAspect="1"/>
          </p:cNvGraphicFramePr>
          <p:nvPr>
            <p:extLst>
              <p:ext uri="{D42A27DB-BD31-4B8C-83A1-F6EECF244321}">
                <p14:modId xmlns:p14="http://schemas.microsoft.com/office/powerpoint/2010/main" val="2683389740"/>
              </p:ext>
            </p:extLst>
          </p:nvPr>
        </p:nvGraphicFramePr>
        <p:xfrm>
          <a:off x="2195934" y="4868863"/>
          <a:ext cx="2233612" cy="609600"/>
        </p:xfrm>
        <a:graphic>
          <a:graphicData uri="http://schemas.openxmlformats.org/presentationml/2006/ole">
            <mc:AlternateContent xmlns:mc="http://schemas.openxmlformats.org/markup-compatibility/2006">
              <mc:Choice xmlns:v="urn:schemas-microsoft-com:vml" Requires="v">
                <p:oleObj spid="_x0000_s33212" name="Equation" r:id="rId11" imgW="838200" imgH="228600" progId="Equation.DSMT4">
                  <p:embed/>
                </p:oleObj>
              </mc:Choice>
              <mc:Fallback>
                <p:oleObj name="Equation" r:id="rId11" imgW="838200" imgH="228600" progId="Equation.DSMT4">
                  <p:embed/>
                  <p:pic>
                    <p:nvPicPr>
                      <p:cNvPr id="32774"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95934" y="4868863"/>
                        <a:ext cx="22336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5" name="Object 7"/>
          <p:cNvGraphicFramePr>
            <a:graphicFrameLocks noChangeAspect="1"/>
          </p:cNvGraphicFramePr>
          <p:nvPr>
            <p:extLst>
              <p:ext uri="{D42A27DB-BD31-4B8C-83A1-F6EECF244321}">
                <p14:modId xmlns:p14="http://schemas.microsoft.com/office/powerpoint/2010/main" val="3889875197"/>
              </p:ext>
            </p:extLst>
          </p:nvPr>
        </p:nvGraphicFramePr>
        <p:xfrm>
          <a:off x="2195934" y="5445125"/>
          <a:ext cx="4032250" cy="960438"/>
        </p:xfrm>
        <a:graphic>
          <a:graphicData uri="http://schemas.openxmlformats.org/presentationml/2006/ole">
            <mc:AlternateContent xmlns:mc="http://schemas.openxmlformats.org/markup-compatibility/2006">
              <mc:Choice xmlns:v="urn:schemas-microsoft-com:vml" Requires="v">
                <p:oleObj spid="_x0000_s33213" name="Equation" r:id="rId13" imgW="1637589" imgH="393529" progId="Equation.DSMT4">
                  <p:embed/>
                </p:oleObj>
              </mc:Choice>
              <mc:Fallback>
                <p:oleObj name="Equation" r:id="rId13" imgW="1637589" imgH="393529" progId="Equation.DSMT4">
                  <p:embed/>
                  <p:pic>
                    <p:nvPicPr>
                      <p:cNvPr id="32775"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5934" y="5445125"/>
                        <a:ext cx="4032250"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6" name="Rectangle 13"/>
          <p:cNvSpPr>
            <a:spLocks noChangeArrowheads="1"/>
          </p:cNvSpPr>
          <p:nvPr/>
        </p:nvSpPr>
        <p:spPr bwMode="auto">
          <a:xfrm>
            <a:off x="468313" y="326936"/>
            <a:ext cx="82073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6225"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aseline="0" dirty="0">
                <a:solidFill>
                  <a:srgbClr val="0D17D7"/>
                </a:solidFill>
              </a:rPr>
              <a:t>待定系数个数超过方程个数，必须先设定一个系数，然后即可求得其他系数。一般有以下几种取法：</a:t>
            </a:r>
            <a:endParaRPr lang="zh-CN" altLang="en-US" sz="2400" baseline="0" dirty="0">
              <a:solidFill>
                <a:srgbClr val="0D17D7"/>
              </a:solidFill>
              <a:ea typeface="楷体_GB2312" pitchFamily="49" charset="-122"/>
            </a:endParaRPr>
          </a:p>
          <a:p>
            <a:pPr>
              <a:spcBef>
                <a:spcPct val="0"/>
              </a:spcBef>
              <a:buFontTx/>
              <a:buNone/>
            </a:pPr>
            <a:r>
              <a:rPr lang="en-US" altLang="zh-CN" sz="2400" baseline="0" dirty="0">
                <a:solidFill>
                  <a:srgbClr val="0D17D7"/>
                </a:solidFill>
              </a:rPr>
              <a:t>1</a:t>
            </a:r>
            <a:r>
              <a:rPr lang="zh-CN" altLang="en-US" sz="2400" baseline="0" dirty="0">
                <a:solidFill>
                  <a:srgbClr val="0D17D7"/>
                </a:solidFill>
              </a:rPr>
              <a:t>）</a:t>
            </a:r>
            <a:r>
              <a:rPr lang="en-US" altLang="zh-CN" sz="2400" baseline="0" dirty="0">
                <a:solidFill>
                  <a:srgbClr val="0D17D7"/>
                </a:solidFill>
              </a:rPr>
              <a:t>a1=1/2</a:t>
            </a:r>
            <a:r>
              <a:rPr lang="zh-CN" altLang="en-US" sz="2400" baseline="0" dirty="0">
                <a:solidFill>
                  <a:srgbClr val="0D17D7"/>
                </a:solidFill>
              </a:rPr>
              <a:t>，</a:t>
            </a:r>
            <a:r>
              <a:rPr lang="en-US" altLang="zh-CN" sz="2400" baseline="0" dirty="0">
                <a:solidFill>
                  <a:srgbClr val="0D17D7"/>
                </a:solidFill>
              </a:rPr>
              <a:t>b1=0</a:t>
            </a:r>
            <a:r>
              <a:rPr lang="zh-CN" altLang="en-US" sz="2400" baseline="0" dirty="0">
                <a:solidFill>
                  <a:srgbClr val="0D17D7"/>
                </a:solidFill>
              </a:rPr>
              <a:t>，</a:t>
            </a:r>
            <a:r>
              <a:rPr lang="en-US" altLang="zh-CN" sz="2400" baseline="0" dirty="0">
                <a:solidFill>
                  <a:srgbClr val="0D17D7"/>
                </a:solidFill>
              </a:rPr>
              <a:t>b2=1</a:t>
            </a:r>
            <a:r>
              <a:rPr lang="zh-CN" altLang="en-US" sz="2400" baseline="0" dirty="0">
                <a:solidFill>
                  <a:srgbClr val="0D17D7"/>
                </a:solidFill>
              </a:rPr>
              <a:t>，</a:t>
            </a:r>
            <a:r>
              <a:rPr lang="en-US" altLang="zh-CN" sz="2400" baseline="0" dirty="0">
                <a:solidFill>
                  <a:srgbClr val="0D17D7"/>
                </a:solidFill>
              </a:rPr>
              <a:t>c2=1/2</a:t>
            </a:r>
            <a:r>
              <a:rPr lang="zh-CN" altLang="en-US" sz="2400" baseline="0" dirty="0">
                <a:solidFill>
                  <a:srgbClr val="0D17D7"/>
                </a:solidFill>
              </a:rPr>
              <a:t>时，则                        </a:t>
            </a:r>
          </a:p>
        </p:txBody>
      </p:sp>
      <p:sp>
        <p:nvSpPr>
          <p:cNvPr id="32777" name="Rectangle 16"/>
          <p:cNvSpPr>
            <a:spLocks noChangeArrowheads="1"/>
          </p:cNvSpPr>
          <p:nvPr/>
        </p:nvSpPr>
        <p:spPr bwMode="auto">
          <a:xfrm>
            <a:off x="-822839" y="3502968"/>
            <a:ext cx="80445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1839913"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aseline="0" dirty="0">
                <a:solidFill>
                  <a:srgbClr val="0D17D7"/>
                </a:solidFill>
                <a:latin typeface="宋体" panose="02010600030101010101" pitchFamily="2" charset="-122"/>
              </a:rPr>
              <a:t>2</a:t>
            </a:r>
            <a:r>
              <a:rPr lang="zh-CN" altLang="en-US" sz="2400" baseline="0" dirty="0">
                <a:solidFill>
                  <a:srgbClr val="0D17D7"/>
                </a:solidFill>
                <a:latin typeface="宋体" panose="02010600030101010101" pitchFamily="2" charset="-122"/>
              </a:rPr>
              <a:t>）</a:t>
            </a:r>
            <a:r>
              <a:rPr lang="en-US" altLang="zh-CN" sz="2400" baseline="0" dirty="0">
                <a:solidFill>
                  <a:srgbClr val="0D17D7"/>
                </a:solidFill>
                <a:latin typeface="宋体" panose="02010600030101010101" pitchFamily="2" charset="-122"/>
              </a:rPr>
              <a:t>a1=2/3</a:t>
            </a:r>
            <a:r>
              <a:rPr lang="zh-CN" altLang="en-US" sz="2400" baseline="0" dirty="0">
                <a:solidFill>
                  <a:srgbClr val="0D17D7"/>
                </a:solidFill>
                <a:latin typeface="宋体" panose="02010600030101010101" pitchFamily="2" charset="-122"/>
              </a:rPr>
              <a:t>，</a:t>
            </a:r>
            <a:r>
              <a:rPr lang="en-US" altLang="zh-CN" sz="2400" baseline="0" dirty="0">
                <a:solidFill>
                  <a:srgbClr val="0D17D7"/>
                </a:solidFill>
                <a:latin typeface="宋体" panose="02010600030101010101" pitchFamily="2" charset="-122"/>
              </a:rPr>
              <a:t>b1=1/4</a:t>
            </a:r>
            <a:r>
              <a:rPr lang="zh-CN" altLang="en-US" sz="2400" baseline="0" dirty="0">
                <a:solidFill>
                  <a:srgbClr val="0D17D7"/>
                </a:solidFill>
                <a:latin typeface="宋体" panose="02010600030101010101" pitchFamily="2" charset="-122"/>
              </a:rPr>
              <a:t>，</a:t>
            </a:r>
            <a:r>
              <a:rPr lang="en-US" altLang="zh-CN" sz="2400" baseline="0" dirty="0">
                <a:solidFill>
                  <a:srgbClr val="0D17D7"/>
                </a:solidFill>
                <a:latin typeface="宋体" panose="02010600030101010101" pitchFamily="2" charset="-122"/>
              </a:rPr>
              <a:t>b2=3/4</a:t>
            </a:r>
            <a:r>
              <a:rPr lang="zh-CN" altLang="en-US" sz="2400" baseline="0" dirty="0">
                <a:solidFill>
                  <a:srgbClr val="0D17D7"/>
                </a:solidFill>
                <a:latin typeface="宋体" panose="02010600030101010101" pitchFamily="2" charset="-122"/>
              </a:rPr>
              <a:t>，</a:t>
            </a:r>
            <a:r>
              <a:rPr lang="en-US" altLang="zh-CN" sz="2400" baseline="0" dirty="0">
                <a:solidFill>
                  <a:srgbClr val="0D17D7"/>
                </a:solidFill>
                <a:latin typeface="宋体" panose="02010600030101010101" pitchFamily="2" charset="-122"/>
              </a:rPr>
              <a:t>c2=2/3</a:t>
            </a:r>
            <a:r>
              <a:rPr lang="zh-CN" altLang="en-US" sz="2400" baseline="0" dirty="0">
                <a:solidFill>
                  <a:srgbClr val="0D17D7"/>
                </a:solidFill>
                <a:latin typeface="宋体" panose="02010600030101010101" pitchFamily="2" charset="-122"/>
              </a:rPr>
              <a:t>时，则</a:t>
            </a:r>
          </a:p>
        </p:txBody>
      </p:sp>
      <p:sp>
        <p:nvSpPr>
          <p:cNvPr id="32778" name="Rectangle 17"/>
          <p:cNvSpPr>
            <a:spLocks noChangeArrowheads="1"/>
          </p:cNvSpPr>
          <p:nvPr/>
        </p:nvSpPr>
        <p:spPr bwMode="auto">
          <a:xfrm>
            <a:off x="468313" y="3690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0516971F-3D23-4DD0-9CB7-F0E8A05ADC3B}" type="slidenum">
              <a:rPr lang="en-US" altLang="zh-CN" sz="1400" b="0" baseline="0">
                <a:solidFill>
                  <a:schemeClr val="tx1"/>
                </a:solidFill>
                <a:ea typeface="宋体" panose="02010600030101010101" pitchFamily="2" charset="-122"/>
              </a:rPr>
              <a:pPr eaLnBrk="1" hangingPunct="1"/>
              <a:t>71</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5689901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4"/>
          <p:cNvSpPr>
            <a:spLocks noChangeArrowheads="1"/>
          </p:cNvSpPr>
          <p:nvPr/>
        </p:nvSpPr>
        <p:spPr bwMode="auto">
          <a:xfrm>
            <a:off x="395288" y="908050"/>
            <a:ext cx="58388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18288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aseline="0">
                <a:solidFill>
                  <a:srgbClr val="660066"/>
                </a:solidFill>
                <a:latin typeface="宋体" panose="02010600030101010101" pitchFamily="2" charset="-122"/>
              </a:rPr>
              <a:t>3</a:t>
            </a:r>
            <a:r>
              <a:rPr lang="zh-CN" altLang="en-US" sz="2400" baseline="0">
                <a:solidFill>
                  <a:srgbClr val="660066"/>
                </a:solidFill>
                <a:latin typeface="宋体" panose="02010600030101010101" pitchFamily="2" charset="-122"/>
              </a:rPr>
              <a:t>）</a:t>
            </a:r>
            <a:r>
              <a:rPr lang="en-US" altLang="zh-CN" sz="2400" baseline="0">
                <a:solidFill>
                  <a:srgbClr val="660066"/>
                </a:solidFill>
                <a:latin typeface="宋体" panose="02010600030101010101" pitchFamily="2" charset="-122"/>
              </a:rPr>
              <a:t>a1=1</a:t>
            </a:r>
            <a:r>
              <a:rPr lang="zh-CN" altLang="en-US" sz="2400" baseline="0">
                <a:solidFill>
                  <a:srgbClr val="660066"/>
                </a:solidFill>
                <a:latin typeface="宋体" panose="02010600030101010101" pitchFamily="2" charset="-122"/>
              </a:rPr>
              <a:t>，</a:t>
            </a:r>
            <a:r>
              <a:rPr lang="en-US" altLang="zh-CN" sz="2400" baseline="0">
                <a:solidFill>
                  <a:srgbClr val="660066"/>
                </a:solidFill>
                <a:latin typeface="宋体" panose="02010600030101010101" pitchFamily="2" charset="-122"/>
              </a:rPr>
              <a:t>b1=1/2</a:t>
            </a:r>
            <a:r>
              <a:rPr lang="zh-CN" altLang="en-US" sz="2400" baseline="0">
                <a:solidFill>
                  <a:srgbClr val="660066"/>
                </a:solidFill>
                <a:latin typeface="宋体" panose="02010600030101010101" pitchFamily="2" charset="-122"/>
              </a:rPr>
              <a:t>，</a:t>
            </a:r>
            <a:r>
              <a:rPr lang="en-US" altLang="zh-CN" sz="2400" baseline="0">
                <a:solidFill>
                  <a:srgbClr val="660066"/>
                </a:solidFill>
                <a:latin typeface="宋体" panose="02010600030101010101" pitchFamily="2" charset="-122"/>
              </a:rPr>
              <a:t>b2=1/2</a:t>
            </a:r>
            <a:r>
              <a:rPr lang="zh-CN" altLang="en-US" sz="2400" baseline="0">
                <a:solidFill>
                  <a:srgbClr val="660066"/>
                </a:solidFill>
                <a:latin typeface="宋体" panose="02010600030101010101" pitchFamily="2" charset="-122"/>
              </a:rPr>
              <a:t>，</a:t>
            </a:r>
            <a:r>
              <a:rPr lang="en-US" altLang="zh-CN" sz="2400" baseline="0">
                <a:solidFill>
                  <a:srgbClr val="660066"/>
                </a:solidFill>
                <a:latin typeface="宋体" panose="02010600030101010101" pitchFamily="2" charset="-122"/>
              </a:rPr>
              <a:t>c2=1</a:t>
            </a:r>
            <a:r>
              <a:rPr lang="zh-CN" altLang="en-US" sz="2400" baseline="0">
                <a:solidFill>
                  <a:srgbClr val="660066"/>
                </a:solidFill>
                <a:latin typeface="宋体" panose="02010600030101010101" pitchFamily="2" charset="-122"/>
              </a:rPr>
              <a:t>时，则</a:t>
            </a:r>
          </a:p>
          <a:p>
            <a:pPr>
              <a:spcBef>
                <a:spcPct val="0"/>
              </a:spcBef>
              <a:buFontTx/>
              <a:buNone/>
            </a:pPr>
            <a:endParaRPr lang="en-US" altLang="zh-CN" sz="2400" baseline="0">
              <a:solidFill>
                <a:srgbClr val="660066"/>
              </a:solidFill>
              <a:latin typeface="宋体" panose="02010600030101010101" pitchFamily="2" charset="-122"/>
            </a:endParaRPr>
          </a:p>
        </p:txBody>
      </p:sp>
      <p:graphicFrame>
        <p:nvGraphicFramePr>
          <p:cNvPr id="33795" name="Object 5"/>
          <p:cNvGraphicFramePr>
            <a:graphicFrameLocks noChangeAspect="1"/>
          </p:cNvGraphicFramePr>
          <p:nvPr/>
        </p:nvGraphicFramePr>
        <p:xfrm>
          <a:off x="2627313" y="1557338"/>
          <a:ext cx="3097212" cy="912812"/>
        </p:xfrm>
        <a:graphic>
          <a:graphicData uri="http://schemas.openxmlformats.org/presentationml/2006/ole">
            <mc:AlternateContent xmlns:mc="http://schemas.openxmlformats.org/markup-compatibility/2006">
              <mc:Choice xmlns:v="urn:schemas-microsoft-com:vml" Requires="v">
                <p:oleObj spid="_x0000_s34016" name="Equation" r:id="rId3" imgW="1320227" imgH="393529" progId="Equation.DSMT4">
                  <p:embed/>
                </p:oleObj>
              </mc:Choice>
              <mc:Fallback>
                <p:oleObj name="Equation" r:id="rId3" imgW="1320227" imgH="393529" progId="Equation.DSMT4">
                  <p:embed/>
                  <p:pic>
                    <p:nvPicPr>
                      <p:cNvPr id="3379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1557338"/>
                        <a:ext cx="3097212"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6" name="Object 6"/>
          <p:cNvGraphicFramePr>
            <a:graphicFrameLocks noChangeAspect="1"/>
          </p:cNvGraphicFramePr>
          <p:nvPr/>
        </p:nvGraphicFramePr>
        <p:xfrm>
          <a:off x="2627313" y="2492375"/>
          <a:ext cx="2303462" cy="628650"/>
        </p:xfrm>
        <a:graphic>
          <a:graphicData uri="http://schemas.openxmlformats.org/presentationml/2006/ole">
            <mc:AlternateContent xmlns:mc="http://schemas.openxmlformats.org/markup-compatibility/2006">
              <mc:Choice xmlns:v="urn:schemas-microsoft-com:vml" Requires="v">
                <p:oleObj spid="_x0000_s34017" name="Equation" r:id="rId5" imgW="838200" imgH="228600" progId="Equation.DSMT4">
                  <p:embed/>
                </p:oleObj>
              </mc:Choice>
              <mc:Fallback>
                <p:oleObj name="Equation" r:id="rId5" imgW="838200" imgH="228600" progId="Equation.DSMT4">
                  <p:embed/>
                  <p:pic>
                    <p:nvPicPr>
                      <p:cNvPr id="3379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313" y="2492375"/>
                        <a:ext cx="230346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7" name="Object 7"/>
          <p:cNvGraphicFramePr>
            <a:graphicFrameLocks noChangeAspect="1"/>
          </p:cNvGraphicFramePr>
          <p:nvPr/>
        </p:nvGraphicFramePr>
        <p:xfrm>
          <a:off x="2700338" y="3213100"/>
          <a:ext cx="3240087" cy="850900"/>
        </p:xfrm>
        <a:graphic>
          <a:graphicData uri="http://schemas.openxmlformats.org/presentationml/2006/ole">
            <mc:AlternateContent xmlns:mc="http://schemas.openxmlformats.org/markup-compatibility/2006">
              <mc:Choice xmlns:v="urn:schemas-microsoft-com:vml" Requires="v">
                <p:oleObj spid="_x0000_s34018" name="Equation" r:id="rId7" imgW="1485900" imgH="393700" progId="Equation.DSMT4">
                  <p:embed/>
                </p:oleObj>
              </mc:Choice>
              <mc:Fallback>
                <p:oleObj name="Equation" r:id="rId7" imgW="1485900" imgH="393700" progId="Equation.DSMT4">
                  <p:embed/>
                  <p:pic>
                    <p:nvPicPr>
                      <p:cNvPr id="33797"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0338" y="3213100"/>
                        <a:ext cx="3240087"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8" name="Rectangle 8"/>
          <p:cNvSpPr>
            <a:spLocks noChangeArrowheads="1"/>
          </p:cNvSpPr>
          <p:nvPr/>
        </p:nvSpPr>
        <p:spPr bwMode="auto">
          <a:xfrm>
            <a:off x="250825" y="4362780"/>
            <a:ext cx="8353425" cy="111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304800"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baseline="0" dirty="0">
                <a:solidFill>
                  <a:srgbClr val="0D17D7"/>
                </a:solidFill>
                <a:latin typeface="宋体" panose="02010600030101010101" pitchFamily="2" charset="-122"/>
              </a:rPr>
              <a:t>以上几种递推公式均称为二阶龙格</a:t>
            </a:r>
            <a:r>
              <a:rPr lang="en-US" altLang="zh-CN" sz="2400" baseline="0" dirty="0">
                <a:solidFill>
                  <a:srgbClr val="0D17D7"/>
                </a:solidFill>
                <a:latin typeface="宋体" panose="02010600030101010101" pitchFamily="2" charset="-122"/>
              </a:rPr>
              <a:t>-</a:t>
            </a:r>
            <a:r>
              <a:rPr lang="zh-CN" altLang="en-US" sz="2400" baseline="0" dirty="0">
                <a:solidFill>
                  <a:srgbClr val="0D17D7"/>
                </a:solidFill>
                <a:latin typeface="宋体" panose="02010600030101010101" pitchFamily="2" charset="-122"/>
              </a:rPr>
              <a:t>库塔公式，是较典型的几个常用算法。其中 </a:t>
            </a:r>
            <a:r>
              <a:rPr lang="en-US" altLang="zh-CN" sz="2400" baseline="0" dirty="0">
                <a:solidFill>
                  <a:srgbClr val="0D17D7"/>
                </a:solidFill>
                <a:latin typeface="宋体" panose="02010600030101010101" pitchFamily="2" charset="-122"/>
              </a:rPr>
              <a:t>3</a:t>
            </a:r>
            <a:r>
              <a:rPr lang="zh-CN" altLang="en-US" sz="2400" baseline="0" dirty="0">
                <a:solidFill>
                  <a:srgbClr val="0D17D7"/>
                </a:solidFill>
                <a:latin typeface="宋体" panose="02010600030101010101" pitchFamily="2" charset="-122"/>
              </a:rPr>
              <a:t>）法又称为梯形法。</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F6962E23-C015-4715-8E0F-8F4E4471DEEE}" type="slidenum">
              <a:rPr lang="en-US" altLang="zh-CN" sz="1400" b="0" baseline="0">
                <a:solidFill>
                  <a:schemeClr val="tx1"/>
                </a:solidFill>
                <a:ea typeface="宋体" panose="02010600030101010101" pitchFamily="2" charset="-122"/>
              </a:rPr>
              <a:pPr eaLnBrk="1" hangingPunct="1"/>
              <a:t>72</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15138493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4818" name="Object 5"/>
          <p:cNvGraphicFramePr>
            <a:graphicFrameLocks noChangeAspect="1"/>
          </p:cNvGraphicFramePr>
          <p:nvPr/>
        </p:nvGraphicFramePr>
        <p:xfrm>
          <a:off x="4427538" y="0"/>
          <a:ext cx="3889375" cy="3436938"/>
        </p:xfrm>
        <a:graphic>
          <a:graphicData uri="http://schemas.openxmlformats.org/presentationml/2006/ole">
            <mc:AlternateContent xmlns:mc="http://schemas.openxmlformats.org/markup-compatibility/2006">
              <mc:Choice xmlns:v="urn:schemas-microsoft-com:vml" Requires="v">
                <p:oleObj spid="_x0000_s34964" name="Equation" r:id="rId3" imgW="1638300" imgH="1447800" progId="Equation.DSMT4">
                  <p:embed/>
                </p:oleObj>
              </mc:Choice>
              <mc:Fallback>
                <p:oleObj name="Equation" r:id="rId3" imgW="1638300" imgH="1447800" progId="Equation.DSMT4">
                  <p:embed/>
                  <p:pic>
                    <p:nvPicPr>
                      <p:cNvPr id="3481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538" y="0"/>
                        <a:ext cx="3889375" cy="3436938"/>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19" name="Object 4"/>
          <p:cNvGraphicFramePr>
            <a:graphicFrameLocks noChangeAspect="1"/>
          </p:cNvGraphicFramePr>
          <p:nvPr/>
        </p:nvGraphicFramePr>
        <p:xfrm>
          <a:off x="4427538" y="3357563"/>
          <a:ext cx="4176712" cy="3482975"/>
        </p:xfrm>
        <a:graphic>
          <a:graphicData uri="http://schemas.openxmlformats.org/presentationml/2006/ole">
            <mc:AlternateContent xmlns:mc="http://schemas.openxmlformats.org/markup-compatibility/2006">
              <mc:Choice xmlns:v="urn:schemas-microsoft-com:vml" Requires="v">
                <p:oleObj spid="_x0000_s34965" name="Equation" r:id="rId5" imgW="2006600" imgH="1676400" progId="Equation.DSMT4">
                  <p:embed/>
                </p:oleObj>
              </mc:Choice>
              <mc:Fallback>
                <p:oleObj name="Equation" r:id="rId5" imgW="2006600" imgH="1676400" progId="Equation.DSMT4">
                  <p:embed/>
                  <p:pic>
                    <p:nvPicPr>
                      <p:cNvPr id="3481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7538" y="3357563"/>
                        <a:ext cx="4176712" cy="348297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0" name="Rectangle 6"/>
          <p:cNvSpPr>
            <a:spLocks noChangeArrowheads="1"/>
          </p:cNvSpPr>
          <p:nvPr/>
        </p:nvSpPr>
        <p:spPr bwMode="auto">
          <a:xfrm>
            <a:off x="-1981200" y="476250"/>
            <a:ext cx="6227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144713"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i="1" baseline="0">
                <a:solidFill>
                  <a:srgbClr val="660066"/>
                </a:solidFill>
              </a:rPr>
              <a:t>r</a:t>
            </a:r>
            <a:r>
              <a:rPr lang="en-US" altLang="zh-CN" sz="2400" baseline="0">
                <a:solidFill>
                  <a:srgbClr val="660066"/>
                </a:solidFill>
              </a:rPr>
              <a:t>=3</a:t>
            </a:r>
            <a:r>
              <a:rPr lang="zh-CN" altLang="en-US" sz="2400" baseline="0">
                <a:solidFill>
                  <a:srgbClr val="660066"/>
                </a:solidFill>
              </a:rPr>
              <a:t>时，三阶龙格</a:t>
            </a:r>
            <a:r>
              <a:rPr lang="en-US" altLang="zh-CN" sz="2400" baseline="0">
                <a:solidFill>
                  <a:srgbClr val="660066"/>
                </a:solidFill>
              </a:rPr>
              <a:t>-</a:t>
            </a:r>
            <a:r>
              <a:rPr lang="zh-CN" altLang="en-US" sz="2400" baseline="0">
                <a:solidFill>
                  <a:srgbClr val="660066"/>
                </a:solidFill>
              </a:rPr>
              <a:t>库塔公式：</a:t>
            </a:r>
          </a:p>
        </p:txBody>
      </p:sp>
      <p:sp>
        <p:nvSpPr>
          <p:cNvPr id="34821" name="Rectangle 7"/>
          <p:cNvSpPr>
            <a:spLocks noChangeArrowheads="1"/>
          </p:cNvSpPr>
          <p:nvPr/>
        </p:nvSpPr>
        <p:spPr bwMode="auto">
          <a:xfrm>
            <a:off x="0" y="3357563"/>
            <a:ext cx="6205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lgn="l" eaLnBrk="0" hangingPunct="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i="1" baseline="0">
                <a:solidFill>
                  <a:srgbClr val="660066"/>
                </a:solidFill>
              </a:rPr>
              <a:t>r</a:t>
            </a:r>
            <a:r>
              <a:rPr lang="en-US" altLang="zh-CN" sz="2400" baseline="0">
                <a:solidFill>
                  <a:srgbClr val="660066"/>
                </a:solidFill>
              </a:rPr>
              <a:t>=4</a:t>
            </a:r>
            <a:r>
              <a:rPr lang="zh-CN" altLang="en-US" sz="2400" baseline="0">
                <a:solidFill>
                  <a:srgbClr val="660066"/>
                </a:solidFill>
              </a:rPr>
              <a:t>时，四阶龙格</a:t>
            </a:r>
            <a:r>
              <a:rPr lang="en-US" altLang="zh-CN" sz="2400" baseline="0">
                <a:solidFill>
                  <a:srgbClr val="660066"/>
                </a:solidFill>
              </a:rPr>
              <a:t>-</a:t>
            </a:r>
            <a:r>
              <a:rPr lang="zh-CN" altLang="en-US" sz="2400" baseline="0">
                <a:solidFill>
                  <a:srgbClr val="660066"/>
                </a:solidFill>
              </a:rPr>
              <a:t>库塔公式：                        </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4D72F517-725A-4AEE-8887-69C3A9CD4C7E}" type="slidenum">
              <a:rPr lang="en-US" altLang="zh-CN" sz="1400" b="0" baseline="0">
                <a:solidFill>
                  <a:schemeClr val="tx1"/>
                </a:solidFill>
                <a:ea typeface="宋体" panose="02010600030101010101" pitchFamily="2" charset="-122"/>
              </a:rPr>
              <a:pPr eaLnBrk="1" hangingPunct="1"/>
              <a:t>73</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24895077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381000"/>
            <a:ext cx="3733800" cy="609600"/>
          </a:xfrm>
          <a:gradFill rotWithShape="0">
            <a:gsLst>
              <a:gs pos="0">
                <a:srgbClr val="005CBF"/>
              </a:gs>
              <a:gs pos="12500">
                <a:srgbClr val="0087E6"/>
              </a:gs>
              <a:gs pos="37500">
                <a:srgbClr val="21D6E0"/>
              </a:gs>
              <a:gs pos="50000">
                <a:srgbClr val="03D4A8"/>
              </a:gs>
              <a:gs pos="62500">
                <a:srgbClr val="21D6E0"/>
              </a:gs>
              <a:gs pos="87500">
                <a:srgbClr val="0087E6"/>
              </a:gs>
              <a:gs pos="100000">
                <a:srgbClr val="005CBF"/>
              </a:gs>
            </a:gsLst>
            <a:lin ang="5400000" scaled="1"/>
          </a:gradFill>
          <a:scene3d>
            <a:camera prst="legacyObliqueTopRight"/>
            <a:lightRig rig="legacyFlat3" dir="b"/>
          </a:scene3d>
          <a:sp3d extrusionH="227000" prstMaterial="legacyMatte">
            <a:bevelT w="13500" h="13500" prst="angle"/>
            <a:bevelB w="13500" h="13500" prst="angle"/>
            <a:extrusionClr>
              <a:srgbClr val="03D4A8"/>
            </a:extrusionClr>
            <a:contourClr>
              <a:srgbClr val="005CBF"/>
            </a:contourClr>
          </a:sp3d>
        </p:spPr>
        <p:txBody>
          <a:bodyPr>
            <a:flatTx/>
          </a:bodyPr>
          <a:lstStyle/>
          <a:p>
            <a:pPr algn="l" eaLnBrk="1" hangingPunct="1"/>
            <a:r>
              <a:rPr lang="en-US" altLang="zh-CN" sz="3200" b="1">
                <a:solidFill>
                  <a:srgbClr val="FF0066"/>
                </a:solidFill>
                <a:ea typeface="楷体_GB2312" pitchFamily="49" charset="-122"/>
              </a:rPr>
              <a:t>4</a:t>
            </a:r>
            <a:r>
              <a:rPr lang="zh-CN" altLang="en-US" sz="3200" b="1">
                <a:solidFill>
                  <a:srgbClr val="FF0066"/>
                </a:solidFill>
                <a:ea typeface="楷体_GB2312" pitchFamily="49" charset="-122"/>
              </a:rPr>
              <a:t>阶</a:t>
            </a:r>
            <a:r>
              <a:rPr lang="en-US" altLang="zh-CN" sz="3200" b="1">
                <a:solidFill>
                  <a:srgbClr val="FF0066"/>
                </a:solidFill>
                <a:ea typeface="楷体_GB2312" pitchFamily="49" charset="-122"/>
              </a:rPr>
              <a:t>RK</a:t>
            </a:r>
            <a:r>
              <a:rPr lang="zh-CN" altLang="en-US" sz="3200" b="1">
                <a:solidFill>
                  <a:srgbClr val="FF0066"/>
                </a:solidFill>
                <a:ea typeface="楷体_GB2312" pitchFamily="49" charset="-122"/>
              </a:rPr>
              <a:t>法公式特点</a:t>
            </a:r>
          </a:p>
        </p:txBody>
      </p:sp>
      <p:sp>
        <p:nvSpPr>
          <p:cNvPr id="35843" name="Rectangle 5"/>
          <p:cNvSpPr>
            <a:spLocks noGrp="1" noChangeArrowheads="1"/>
          </p:cNvSpPr>
          <p:nvPr>
            <p:ph type="body" idx="1"/>
          </p:nvPr>
        </p:nvSpPr>
        <p:spPr>
          <a:xfrm>
            <a:off x="685800" y="3733800"/>
            <a:ext cx="7772400" cy="2514600"/>
          </a:xfrm>
          <a:noFill/>
        </p:spPr>
        <p:txBody>
          <a:bodyPr/>
          <a:lstStyle/>
          <a:p>
            <a:pPr eaLnBrk="1" hangingPunct="1">
              <a:buFontTx/>
              <a:buNone/>
            </a:pPr>
            <a:r>
              <a:rPr lang="zh-CN" altLang="en-US" sz="2800" b="1" dirty="0">
                <a:latin typeface="楷体_GB2312" pitchFamily="49" charset="-122"/>
                <a:ea typeface="楷体_GB2312" pitchFamily="49" charset="-122"/>
              </a:rPr>
              <a:t>截断误差为</a:t>
            </a:r>
            <a:r>
              <a:rPr lang="en-US" altLang="zh-CN" sz="2800" b="1" dirty="0">
                <a:latin typeface="楷体_GB2312" pitchFamily="49" charset="-122"/>
                <a:ea typeface="楷体_GB2312" pitchFamily="49" charset="-122"/>
              </a:rPr>
              <a:t>o(h</a:t>
            </a:r>
            <a:r>
              <a:rPr lang="en-US" altLang="zh-CN" sz="2800" b="1" baseline="30000" dirty="0">
                <a:latin typeface="楷体_GB2312" pitchFamily="49" charset="-122"/>
                <a:ea typeface="楷体_GB2312" pitchFamily="49" charset="-122"/>
              </a:rPr>
              <a:t>5</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。此</a:t>
            </a:r>
            <a:r>
              <a:rPr lang="en-US" altLang="zh-CN" sz="2800" b="1" dirty="0">
                <a:latin typeface="楷体_GB2312" pitchFamily="49" charset="-122"/>
                <a:ea typeface="楷体_GB2312" pitchFamily="49" charset="-122"/>
              </a:rPr>
              <a:t>4</a:t>
            </a:r>
            <a:r>
              <a:rPr lang="zh-CN" altLang="en-US" sz="2800" b="1" dirty="0">
                <a:latin typeface="楷体_GB2312" pitchFamily="49" charset="-122"/>
                <a:ea typeface="楷体_GB2312" pitchFamily="49" charset="-122"/>
              </a:rPr>
              <a:t>阶</a:t>
            </a:r>
            <a:r>
              <a:rPr lang="en-US" altLang="zh-CN" sz="2800" b="1" dirty="0">
                <a:latin typeface="楷体_GB2312" pitchFamily="49" charset="-122"/>
                <a:ea typeface="楷体_GB2312" pitchFamily="49" charset="-122"/>
              </a:rPr>
              <a:t>RK</a:t>
            </a:r>
            <a:r>
              <a:rPr lang="zh-CN" altLang="en-US" sz="2800" b="1" dirty="0">
                <a:latin typeface="楷体_GB2312" pitchFamily="49" charset="-122"/>
                <a:ea typeface="楷体_GB2312" pitchFamily="49" charset="-122"/>
              </a:rPr>
              <a:t>法是数值仿真中最常用的一种方法，计算精度较高，但每步需要对</a:t>
            </a:r>
            <a:r>
              <a:rPr lang="en-US" altLang="zh-CN" sz="2800" b="1" dirty="0">
                <a:latin typeface="楷体_GB2312" pitchFamily="49" charset="-122"/>
                <a:ea typeface="楷体_GB2312" pitchFamily="49" charset="-122"/>
              </a:rPr>
              <a:t>f</a:t>
            </a:r>
            <a:r>
              <a:rPr lang="zh-CN" altLang="en-US" sz="2800" b="1" dirty="0">
                <a:latin typeface="楷体_GB2312" pitchFamily="49" charset="-122"/>
                <a:ea typeface="楷体_GB2312" pitchFamily="49" charset="-122"/>
              </a:rPr>
              <a:t>进行</a:t>
            </a:r>
            <a:r>
              <a:rPr lang="en-US" altLang="zh-CN" sz="2800" b="1" dirty="0">
                <a:latin typeface="楷体_GB2312" pitchFamily="49" charset="-122"/>
                <a:ea typeface="楷体_GB2312" pitchFamily="49" charset="-122"/>
              </a:rPr>
              <a:t>4</a:t>
            </a:r>
            <a:r>
              <a:rPr lang="zh-CN" altLang="en-US" sz="2800" b="1" dirty="0">
                <a:latin typeface="楷体_GB2312" pitchFamily="49" charset="-122"/>
                <a:ea typeface="楷体_GB2312" pitchFamily="49" charset="-122"/>
              </a:rPr>
              <a:t>次计算，因而计算量稍大。</a:t>
            </a:r>
          </a:p>
          <a:p>
            <a:pPr eaLnBrk="1" hangingPunct="1">
              <a:buFontTx/>
              <a:buNone/>
            </a:pPr>
            <a:r>
              <a:rPr lang="zh-CN" altLang="en-US" sz="2800" b="1" dirty="0">
                <a:latin typeface="楷体_GB2312" pitchFamily="49" charset="-122"/>
                <a:ea typeface="楷体_GB2312" pitchFamily="49" charset="-122"/>
              </a:rPr>
              <a:t>通常仿真中比较不同算法的计算精度时，常以</a:t>
            </a:r>
            <a:r>
              <a:rPr lang="en-US" altLang="zh-CN" sz="2800" b="1" dirty="0">
                <a:latin typeface="楷体_GB2312" pitchFamily="49" charset="-122"/>
                <a:ea typeface="楷体_GB2312" pitchFamily="49" charset="-122"/>
              </a:rPr>
              <a:t>4</a:t>
            </a:r>
            <a:r>
              <a:rPr lang="zh-CN" altLang="en-US" sz="2800" b="1" dirty="0">
                <a:latin typeface="楷体_GB2312" pitchFamily="49" charset="-122"/>
                <a:ea typeface="楷体_GB2312" pitchFamily="49" charset="-122"/>
              </a:rPr>
              <a:t>阶</a:t>
            </a:r>
            <a:r>
              <a:rPr lang="en-US" altLang="zh-CN" sz="2800" b="1" dirty="0">
                <a:latin typeface="楷体_GB2312" pitchFamily="49" charset="-122"/>
                <a:ea typeface="楷体_GB2312" pitchFamily="49" charset="-122"/>
              </a:rPr>
              <a:t>RK</a:t>
            </a:r>
            <a:r>
              <a:rPr lang="zh-CN" altLang="en-US" sz="2800" b="1" dirty="0">
                <a:latin typeface="楷体_GB2312" pitchFamily="49" charset="-122"/>
                <a:ea typeface="楷体_GB2312" pitchFamily="49" charset="-122"/>
              </a:rPr>
              <a:t>法的计算结果作为标准。</a:t>
            </a:r>
          </a:p>
        </p:txBody>
      </p:sp>
      <p:sp>
        <p:nvSpPr>
          <p:cNvPr id="35844" name="Text Box 6"/>
          <p:cNvSpPr txBox="1">
            <a:spLocks noChangeArrowheads="1"/>
          </p:cNvSpPr>
          <p:nvPr/>
        </p:nvSpPr>
        <p:spPr bwMode="auto">
          <a:xfrm>
            <a:off x="1066800" y="1295400"/>
            <a:ext cx="7369175" cy="2227263"/>
          </a:xfrm>
          <a:prstGeom prst="rect">
            <a:avLst/>
          </a:prstGeom>
          <a:solidFill>
            <a:srgbClr val="FFFFCC"/>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CC"/>
            </a:extrusionClr>
            <a:contourClr>
              <a:srgbClr val="FFFFCC"/>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flatTx/>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eaLnBrk="1" hangingPunct="1">
              <a:spcBef>
                <a:spcPct val="0"/>
              </a:spcBef>
            </a:pPr>
            <a:r>
              <a:rPr lang="en-US" altLang="zh-CN" sz="2800" baseline="0" dirty="0">
                <a:solidFill>
                  <a:srgbClr val="FF0066"/>
                </a:solidFill>
                <a:latin typeface="Courier New" panose="02070309020205020404" pitchFamily="49" charset="0"/>
                <a:ea typeface="宋体" panose="02010600030101010101" pitchFamily="2" charset="-122"/>
              </a:rPr>
              <a:t>y</a:t>
            </a:r>
            <a:r>
              <a:rPr lang="en-US" altLang="zh-CN" sz="2800" baseline="-25000" dirty="0">
                <a:solidFill>
                  <a:srgbClr val="FF0066"/>
                </a:solidFill>
                <a:latin typeface="Courier New" panose="02070309020205020404" pitchFamily="49" charset="0"/>
                <a:ea typeface="宋体" panose="02010600030101010101" pitchFamily="2" charset="-122"/>
              </a:rPr>
              <a:t>m+1</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err="1">
                <a:solidFill>
                  <a:srgbClr val="FF0066"/>
                </a:solidFill>
                <a:latin typeface="Courier New" panose="02070309020205020404" pitchFamily="49" charset="0"/>
                <a:ea typeface="宋体" panose="02010600030101010101" pitchFamily="2" charset="-122"/>
              </a:rPr>
              <a:t>y</a:t>
            </a:r>
            <a:r>
              <a:rPr lang="en-US" altLang="zh-CN" sz="2800" baseline="-25000" dirty="0" err="1">
                <a:solidFill>
                  <a:srgbClr val="FF0066"/>
                </a:solidFill>
                <a:latin typeface="Courier New" panose="02070309020205020404" pitchFamily="49" charset="0"/>
                <a:ea typeface="宋体" panose="02010600030101010101" pitchFamily="2" charset="-122"/>
              </a:rPr>
              <a:t>m</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h/6(k</a:t>
            </a:r>
            <a:r>
              <a:rPr lang="en-US" altLang="zh-CN" sz="2800" baseline="-25000" dirty="0">
                <a:solidFill>
                  <a:srgbClr val="FF0066"/>
                </a:solidFill>
                <a:latin typeface="Courier New" panose="02070309020205020404" pitchFamily="49" charset="0"/>
                <a:ea typeface="宋体" panose="02010600030101010101" pitchFamily="2" charset="-122"/>
              </a:rPr>
              <a:t>1</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2k</a:t>
            </a:r>
            <a:r>
              <a:rPr lang="en-US" altLang="zh-CN" sz="2800" baseline="-25000" dirty="0">
                <a:solidFill>
                  <a:srgbClr val="FF0066"/>
                </a:solidFill>
                <a:latin typeface="Courier New" panose="02070309020205020404" pitchFamily="49" charset="0"/>
                <a:ea typeface="宋体" panose="02010600030101010101" pitchFamily="2" charset="-122"/>
              </a:rPr>
              <a:t>2</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2k</a:t>
            </a:r>
            <a:r>
              <a:rPr lang="en-US" altLang="zh-CN" sz="2800" baseline="-25000" dirty="0">
                <a:solidFill>
                  <a:srgbClr val="FF0066"/>
                </a:solidFill>
                <a:latin typeface="Courier New" panose="02070309020205020404" pitchFamily="49" charset="0"/>
                <a:ea typeface="宋体" panose="02010600030101010101" pitchFamily="2" charset="-122"/>
              </a:rPr>
              <a:t>3</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k</a:t>
            </a:r>
            <a:r>
              <a:rPr lang="en-US" altLang="zh-CN" sz="2800" baseline="-25000" dirty="0">
                <a:solidFill>
                  <a:srgbClr val="FF0066"/>
                </a:solidFill>
                <a:latin typeface="Courier New" panose="02070309020205020404" pitchFamily="49" charset="0"/>
                <a:ea typeface="宋体" panose="02010600030101010101" pitchFamily="2" charset="-122"/>
              </a:rPr>
              <a:t>4</a:t>
            </a:r>
            <a:r>
              <a:rPr lang="en-US" altLang="zh-CN" sz="2800" baseline="0" dirty="0">
                <a:solidFill>
                  <a:srgbClr val="FF0066"/>
                </a:solidFill>
                <a:latin typeface="Courier New" panose="02070309020205020404" pitchFamily="49" charset="0"/>
                <a:ea typeface="宋体" panose="02010600030101010101" pitchFamily="2" charset="-122"/>
              </a:rPr>
              <a:t>)</a:t>
            </a:r>
          </a:p>
          <a:p>
            <a:pPr algn="l" eaLnBrk="1" hangingPunct="1">
              <a:spcBef>
                <a:spcPct val="0"/>
              </a:spcBef>
            </a:pPr>
            <a:r>
              <a:rPr lang="en-US" altLang="zh-CN" sz="2800" baseline="0" dirty="0">
                <a:solidFill>
                  <a:srgbClr val="FF0066"/>
                </a:solidFill>
                <a:latin typeface="Courier New" panose="02070309020205020404" pitchFamily="49" charset="0"/>
                <a:ea typeface="宋体" panose="02010600030101010101" pitchFamily="2" charset="-122"/>
              </a:rPr>
              <a:t>  k</a:t>
            </a:r>
            <a:r>
              <a:rPr lang="en-US" altLang="zh-CN" sz="2800" baseline="-25000" dirty="0">
                <a:solidFill>
                  <a:srgbClr val="FF0066"/>
                </a:solidFill>
                <a:latin typeface="Courier New" panose="02070309020205020404" pitchFamily="49" charset="0"/>
                <a:ea typeface="宋体" panose="02010600030101010101" pitchFamily="2" charset="-122"/>
              </a:rPr>
              <a:t>1</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f(</a:t>
            </a:r>
            <a:r>
              <a:rPr lang="en-US" altLang="zh-CN" sz="2800" baseline="0" dirty="0" err="1">
                <a:solidFill>
                  <a:srgbClr val="FF0066"/>
                </a:solidFill>
                <a:latin typeface="Courier New" panose="02070309020205020404" pitchFamily="49" charset="0"/>
                <a:ea typeface="宋体" panose="02010600030101010101" pitchFamily="2" charset="-122"/>
              </a:rPr>
              <a:t>t</a:t>
            </a:r>
            <a:r>
              <a:rPr lang="en-US" altLang="zh-CN" sz="2800" baseline="-25000" dirty="0" err="1">
                <a:solidFill>
                  <a:srgbClr val="FF0066"/>
                </a:solidFill>
                <a:latin typeface="Courier New" panose="02070309020205020404" pitchFamily="49" charset="0"/>
                <a:ea typeface="宋体" panose="02010600030101010101" pitchFamily="2" charset="-122"/>
              </a:rPr>
              <a:t>m</a:t>
            </a:r>
            <a:r>
              <a:rPr lang="en-US" altLang="zh-CN" sz="2800" baseline="0" dirty="0" err="1">
                <a:solidFill>
                  <a:srgbClr val="FF0066"/>
                </a:solidFill>
                <a:latin typeface="Courier New" panose="02070309020205020404" pitchFamily="49" charset="0"/>
                <a:ea typeface="宋体" panose="02010600030101010101" pitchFamily="2" charset="-122"/>
              </a:rPr>
              <a:t>,y</a:t>
            </a:r>
            <a:r>
              <a:rPr lang="en-US" altLang="zh-CN" sz="2800" baseline="-25000" dirty="0" err="1">
                <a:solidFill>
                  <a:srgbClr val="FF0066"/>
                </a:solidFill>
                <a:latin typeface="Courier New" panose="02070309020205020404" pitchFamily="49" charset="0"/>
                <a:ea typeface="宋体" panose="02010600030101010101" pitchFamily="2" charset="-122"/>
              </a:rPr>
              <a:t>m</a:t>
            </a:r>
            <a:r>
              <a:rPr lang="en-US" altLang="zh-CN" sz="2800" baseline="0" dirty="0">
                <a:solidFill>
                  <a:srgbClr val="FF0066"/>
                </a:solidFill>
                <a:latin typeface="Courier New" panose="02070309020205020404" pitchFamily="49" charset="0"/>
                <a:ea typeface="宋体" panose="02010600030101010101" pitchFamily="2" charset="-122"/>
              </a:rPr>
              <a:t>) </a:t>
            </a:r>
          </a:p>
          <a:p>
            <a:pPr algn="l" eaLnBrk="1" hangingPunct="1">
              <a:spcBef>
                <a:spcPct val="0"/>
              </a:spcBef>
            </a:pPr>
            <a:r>
              <a:rPr lang="en-US" altLang="zh-CN" sz="2800" baseline="0" dirty="0">
                <a:solidFill>
                  <a:srgbClr val="FF0066"/>
                </a:solidFill>
                <a:latin typeface="Courier New" panose="02070309020205020404" pitchFamily="49" charset="0"/>
                <a:ea typeface="宋体" panose="02010600030101010101" pitchFamily="2" charset="-122"/>
              </a:rPr>
              <a:t>  k</a:t>
            </a:r>
            <a:r>
              <a:rPr lang="en-US" altLang="zh-CN" sz="2800" baseline="-25000" dirty="0">
                <a:solidFill>
                  <a:srgbClr val="FF0066"/>
                </a:solidFill>
                <a:latin typeface="Courier New" panose="02070309020205020404" pitchFamily="49" charset="0"/>
                <a:ea typeface="宋体" panose="02010600030101010101" pitchFamily="2" charset="-122"/>
              </a:rPr>
              <a:t>2</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f(t</a:t>
            </a:r>
            <a:r>
              <a:rPr lang="en-US" altLang="zh-CN" sz="2800" baseline="-25000" dirty="0">
                <a:solidFill>
                  <a:srgbClr val="FF0066"/>
                </a:solidFill>
                <a:latin typeface="Courier New" panose="02070309020205020404" pitchFamily="49" charset="0"/>
                <a:ea typeface="宋体" panose="02010600030101010101" pitchFamily="2" charset="-122"/>
              </a:rPr>
              <a:t>m</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h/2</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err="1">
                <a:solidFill>
                  <a:srgbClr val="FF0066"/>
                </a:solidFill>
                <a:latin typeface="Courier New" panose="02070309020205020404" pitchFamily="49" charset="0"/>
                <a:ea typeface="宋体" panose="02010600030101010101" pitchFamily="2" charset="-122"/>
              </a:rPr>
              <a:t>y</a:t>
            </a:r>
            <a:r>
              <a:rPr lang="en-US" altLang="zh-CN" sz="2800" baseline="-25000" dirty="0" err="1">
                <a:solidFill>
                  <a:srgbClr val="FF0066"/>
                </a:solidFill>
                <a:latin typeface="Courier New" panose="02070309020205020404" pitchFamily="49" charset="0"/>
                <a:ea typeface="宋体" panose="02010600030101010101" pitchFamily="2" charset="-122"/>
              </a:rPr>
              <a:t>m</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h/2k</a:t>
            </a:r>
            <a:r>
              <a:rPr lang="en-US" altLang="zh-CN" sz="2800" baseline="-25000" dirty="0">
                <a:solidFill>
                  <a:srgbClr val="FF0066"/>
                </a:solidFill>
                <a:latin typeface="Courier New" panose="02070309020205020404" pitchFamily="49" charset="0"/>
                <a:ea typeface="宋体" panose="02010600030101010101" pitchFamily="2" charset="-122"/>
              </a:rPr>
              <a:t>1</a:t>
            </a:r>
            <a:r>
              <a:rPr lang="en-US" altLang="zh-CN" sz="2800" baseline="0" dirty="0">
                <a:solidFill>
                  <a:srgbClr val="FF0066"/>
                </a:solidFill>
                <a:latin typeface="Courier New" panose="02070309020205020404" pitchFamily="49" charset="0"/>
                <a:ea typeface="宋体" panose="02010600030101010101" pitchFamily="2" charset="-122"/>
              </a:rPr>
              <a:t>)</a:t>
            </a:r>
          </a:p>
          <a:p>
            <a:pPr algn="l" eaLnBrk="1" hangingPunct="1">
              <a:spcBef>
                <a:spcPct val="0"/>
              </a:spcBef>
            </a:pPr>
            <a:r>
              <a:rPr lang="en-US" altLang="zh-CN" sz="2800" baseline="0" dirty="0">
                <a:solidFill>
                  <a:srgbClr val="FF0066"/>
                </a:solidFill>
                <a:latin typeface="Courier New" panose="02070309020205020404" pitchFamily="49" charset="0"/>
                <a:ea typeface="宋体" panose="02010600030101010101" pitchFamily="2" charset="-122"/>
              </a:rPr>
              <a:t>  k</a:t>
            </a:r>
            <a:r>
              <a:rPr lang="en-US" altLang="zh-CN" sz="2800" baseline="-25000" dirty="0">
                <a:solidFill>
                  <a:srgbClr val="FF0066"/>
                </a:solidFill>
                <a:latin typeface="Courier New" panose="02070309020205020404" pitchFamily="49" charset="0"/>
                <a:ea typeface="宋体" panose="02010600030101010101" pitchFamily="2" charset="-122"/>
              </a:rPr>
              <a:t>3</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f(t</a:t>
            </a:r>
            <a:r>
              <a:rPr lang="en-US" altLang="zh-CN" sz="2800" baseline="-25000" dirty="0">
                <a:solidFill>
                  <a:srgbClr val="FF0066"/>
                </a:solidFill>
                <a:latin typeface="Courier New" panose="02070309020205020404" pitchFamily="49" charset="0"/>
                <a:ea typeface="宋体" panose="02010600030101010101" pitchFamily="2" charset="-122"/>
              </a:rPr>
              <a:t>m</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h/2</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err="1">
                <a:solidFill>
                  <a:srgbClr val="FF0066"/>
                </a:solidFill>
                <a:latin typeface="Courier New" panose="02070309020205020404" pitchFamily="49" charset="0"/>
                <a:ea typeface="宋体" panose="02010600030101010101" pitchFamily="2" charset="-122"/>
              </a:rPr>
              <a:t>y</a:t>
            </a:r>
            <a:r>
              <a:rPr lang="en-US" altLang="zh-CN" sz="2800" baseline="-25000" dirty="0" err="1">
                <a:solidFill>
                  <a:srgbClr val="FF0066"/>
                </a:solidFill>
                <a:latin typeface="Courier New" panose="02070309020205020404" pitchFamily="49" charset="0"/>
                <a:ea typeface="宋体" panose="02010600030101010101" pitchFamily="2" charset="-122"/>
              </a:rPr>
              <a:t>m</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h/2k</a:t>
            </a:r>
            <a:r>
              <a:rPr lang="en-US" altLang="zh-CN" sz="2800" baseline="-25000" dirty="0">
                <a:solidFill>
                  <a:srgbClr val="FF0066"/>
                </a:solidFill>
                <a:latin typeface="Courier New" panose="02070309020205020404" pitchFamily="49" charset="0"/>
                <a:ea typeface="宋体" panose="02010600030101010101" pitchFamily="2" charset="-122"/>
              </a:rPr>
              <a:t>2</a:t>
            </a:r>
            <a:r>
              <a:rPr lang="en-US" altLang="zh-CN" sz="2800" baseline="0" dirty="0">
                <a:solidFill>
                  <a:srgbClr val="FF0066"/>
                </a:solidFill>
                <a:latin typeface="Courier New" panose="02070309020205020404" pitchFamily="49" charset="0"/>
                <a:ea typeface="宋体" panose="02010600030101010101" pitchFamily="2" charset="-122"/>
              </a:rPr>
              <a:t>)</a:t>
            </a:r>
          </a:p>
          <a:p>
            <a:pPr algn="l" eaLnBrk="1" hangingPunct="1">
              <a:spcBef>
                <a:spcPct val="0"/>
              </a:spcBef>
            </a:pPr>
            <a:r>
              <a:rPr lang="en-US" altLang="zh-CN" sz="2800" baseline="0" dirty="0">
                <a:solidFill>
                  <a:srgbClr val="FF0066"/>
                </a:solidFill>
                <a:latin typeface="Courier New" panose="02070309020205020404" pitchFamily="49" charset="0"/>
                <a:ea typeface="宋体" panose="02010600030101010101" pitchFamily="2" charset="-122"/>
              </a:rPr>
              <a:t>  k</a:t>
            </a:r>
            <a:r>
              <a:rPr lang="en-US" altLang="zh-CN" sz="2800" baseline="-25000" dirty="0">
                <a:solidFill>
                  <a:srgbClr val="FF0066"/>
                </a:solidFill>
                <a:latin typeface="Courier New" panose="02070309020205020404" pitchFamily="49" charset="0"/>
                <a:ea typeface="宋体" panose="02010600030101010101" pitchFamily="2" charset="-122"/>
              </a:rPr>
              <a:t>4</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f(t</a:t>
            </a:r>
            <a:r>
              <a:rPr lang="en-US" altLang="zh-CN" sz="2800" baseline="-25000" dirty="0">
                <a:solidFill>
                  <a:srgbClr val="FF0066"/>
                </a:solidFill>
                <a:latin typeface="Courier New" panose="02070309020205020404" pitchFamily="49" charset="0"/>
                <a:ea typeface="宋体" panose="02010600030101010101" pitchFamily="2" charset="-122"/>
              </a:rPr>
              <a:t>m</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h</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err="1">
                <a:solidFill>
                  <a:srgbClr val="FF0066"/>
                </a:solidFill>
                <a:latin typeface="Courier New" panose="02070309020205020404" pitchFamily="49" charset="0"/>
                <a:ea typeface="宋体" panose="02010600030101010101" pitchFamily="2" charset="-122"/>
              </a:rPr>
              <a:t>y</a:t>
            </a:r>
            <a:r>
              <a:rPr lang="en-US" altLang="zh-CN" sz="2800" baseline="-25000" dirty="0" err="1">
                <a:solidFill>
                  <a:srgbClr val="FF0066"/>
                </a:solidFill>
                <a:latin typeface="Courier New" panose="02070309020205020404" pitchFamily="49" charset="0"/>
                <a:ea typeface="宋体" panose="02010600030101010101" pitchFamily="2" charset="-122"/>
              </a:rPr>
              <a:t>m</a:t>
            </a:r>
            <a:r>
              <a:rPr lang="zh-CN" altLang="en-US" sz="2800" baseline="0" dirty="0">
                <a:solidFill>
                  <a:srgbClr val="FF0066"/>
                </a:solidFill>
                <a:latin typeface="Courier New" panose="02070309020205020404" pitchFamily="49" charset="0"/>
                <a:ea typeface="宋体" panose="02010600030101010101" pitchFamily="2" charset="-122"/>
              </a:rPr>
              <a:t>＋</a:t>
            </a:r>
            <a:r>
              <a:rPr lang="en-US" altLang="zh-CN" sz="2800" baseline="0" dirty="0">
                <a:solidFill>
                  <a:srgbClr val="FF0066"/>
                </a:solidFill>
                <a:latin typeface="Courier New" panose="02070309020205020404" pitchFamily="49" charset="0"/>
                <a:ea typeface="宋体" panose="02010600030101010101" pitchFamily="2" charset="-122"/>
              </a:rPr>
              <a:t>hk</a:t>
            </a:r>
            <a:r>
              <a:rPr lang="en-US" altLang="zh-CN" sz="2800" baseline="-25000" dirty="0">
                <a:solidFill>
                  <a:srgbClr val="FF0066"/>
                </a:solidFill>
                <a:latin typeface="Courier New" panose="02070309020205020404" pitchFamily="49" charset="0"/>
                <a:ea typeface="宋体" panose="02010600030101010101" pitchFamily="2" charset="-122"/>
              </a:rPr>
              <a:t>3</a:t>
            </a:r>
            <a:r>
              <a:rPr lang="en-US" altLang="zh-CN" sz="2800" baseline="0" dirty="0">
                <a:solidFill>
                  <a:srgbClr val="FF0066"/>
                </a:solidFill>
                <a:latin typeface="Courier New" panose="02070309020205020404" pitchFamily="49" charset="0"/>
                <a:ea typeface="宋体" panose="02010600030101010101" pitchFamily="2" charset="-122"/>
              </a:rPr>
              <a:t>)</a:t>
            </a:r>
            <a:endParaRPr lang="en-US" altLang="zh-CN" sz="3200" baseline="0" dirty="0">
              <a:solidFill>
                <a:srgbClr val="FF0066"/>
              </a:solidFill>
            </a:endParaRP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9410BA89-D0E1-4920-ADE3-14FF256267C4}" type="slidenum">
              <a:rPr lang="en-US" altLang="zh-CN" sz="1400" b="0" baseline="0">
                <a:solidFill>
                  <a:schemeClr val="tx1"/>
                </a:solidFill>
                <a:ea typeface="宋体" panose="02010600030101010101" pitchFamily="2" charset="-122"/>
              </a:rPr>
              <a:pPr eaLnBrk="1" hangingPunct="1"/>
              <a:t>74</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3856034417"/>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990600" y="527362"/>
            <a:ext cx="9144000" cy="1219200"/>
          </a:xfrm>
        </p:spPr>
        <p:txBody>
          <a:bodyPr/>
          <a:lstStyle/>
          <a:p>
            <a:pPr eaLnBrk="1" hangingPunct="1">
              <a:lnSpc>
                <a:spcPct val="80000"/>
              </a:lnSpc>
              <a:defRPr/>
            </a:pPr>
            <a:r>
              <a:rPr lang="en-US" altLang="zh-CN" sz="5400" b="1" i="1" dirty="0">
                <a:solidFill>
                  <a:schemeClr val="tx1"/>
                </a:solidFill>
                <a:effectLst>
                  <a:outerShdw blurRad="38100" dist="38100" dir="2700000" algn="tl">
                    <a:srgbClr val="C0C0C0"/>
                  </a:outerShdw>
                </a:effectLst>
              </a:rPr>
              <a:t>4</a:t>
            </a:r>
            <a:r>
              <a:rPr lang="zh-CN" altLang="en-US" sz="5400" b="1" i="1" dirty="0">
                <a:solidFill>
                  <a:schemeClr val="tx1"/>
                </a:solidFill>
                <a:effectLst>
                  <a:outerShdw blurRad="38100" dist="38100" dir="2700000" algn="tl">
                    <a:srgbClr val="C0C0C0"/>
                  </a:outerShdw>
                </a:effectLst>
              </a:rPr>
              <a:t>阶</a:t>
            </a:r>
            <a:r>
              <a:rPr lang="en-US" altLang="zh-CN" sz="5400" b="1" i="1" dirty="0" err="1">
                <a:solidFill>
                  <a:schemeClr val="tx1"/>
                </a:solidFill>
                <a:effectLst>
                  <a:outerShdw blurRad="38100" dist="38100" dir="2700000" algn="tl">
                    <a:srgbClr val="C0C0C0"/>
                  </a:outerShdw>
                </a:effectLst>
              </a:rPr>
              <a:t>Runge-Kutta</a:t>
            </a:r>
            <a:r>
              <a:rPr lang="en-US" altLang="zh-CN" sz="5400" b="1" i="1" dirty="0">
                <a:solidFill>
                  <a:schemeClr val="tx1"/>
                </a:solidFill>
                <a:effectLst>
                  <a:outerShdw blurRad="38100" dist="38100" dir="2700000" algn="tl">
                    <a:srgbClr val="C0C0C0"/>
                  </a:outerShdw>
                </a:effectLst>
              </a:rPr>
              <a:t> </a:t>
            </a:r>
            <a:r>
              <a:rPr lang="zh-CN" altLang="en-US" sz="5400" b="1" i="1" dirty="0">
                <a:solidFill>
                  <a:schemeClr val="tx1"/>
                </a:solidFill>
                <a:effectLst>
                  <a:outerShdw blurRad="38100" dist="38100" dir="2700000" algn="tl">
                    <a:srgbClr val="C0C0C0"/>
                  </a:outerShdw>
                </a:effectLst>
              </a:rPr>
              <a:t>法</a:t>
            </a:r>
            <a:endParaRPr lang="zh-CN" altLang="en-US" dirty="0"/>
          </a:p>
        </p:txBody>
      </p:sp>
      <p:sp>
        <p:nvSpPr>
          <p:cNvPr id="36867" name="Line 3"/>
          <p:cNvSpPr>
            <a:spLocks noChangeShapeType="1"/>
          </p:cNvSpPr>
          <p:nvPr/>
        </p:nvSpPr>
        <p:spPr bwMode="auto">
          <a:xfrm>
            <a:off x="990600" y="5867400"/>
            <a:ext cx="6934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 name="Line 4"/>
          <p:cNvSpPr>
            <a:spLocks noChangeShapeType="1"/>
          </p:cNvSpPr>
          <p:nvPr/>
        </p:nvSpPr>
        <p:spPr bwMode="auto">
          <a:xfrm flipV="1">
            <a:off x="990600" y="1828800"/>
            <a:ext cx="0" cy="4038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 name="Line 5"/>
          <p:cNvSpPr>
            <a:spLocks noChangeShapeType="1"/>
          </p:cNvSpPr>
          <p:nvPr/>
        </p:nvSpPr>
        <p:spPr bwMode="auto">
          <a:xfrm flipH="1">
            <a:off x="1981200" y="4648200"/>
            <a:ext cx="0" cy="1219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0" name="Line 6"/>
          <p:cNvSpPr>
            <a:spLocks noChangeShapeType="1"/>
          </p:cNvSpPr>
          <p:nvPr/>
        </p:nvSpPr>
        <p:spPr bwMode="auto">
          <a:xfrm>
            <a:off x="4648200" y="2286000"/>
            <a:ext cx="0" cy="3581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1" name="Line 7"/>
          <p:cNvSpPr>
            <a:spLocks noChangeShapeType="1"/>
          </p:cNvSpPr>
          <p:nvPr/>
        </p:nvSpPr>
        <p:spPr bwMode="auto">
          <a:xfrm>
            <a:off x="7162800" y="2971800"/>
            <a:ext cx="0" cy="28956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544" name="Text Box 8"/>
          <p:cNvSpPr txBox="1">
            <a:spLocks noChangeArrowheads="1"/>
          </p:cNvSpPr>
          <p:nvPr/>
        </p:nvSpPr>
        <p:spPr bwMode="auto">
          <a:xfrm>
            <a:off x="1828800" y="5791200"/>
            <a:ext cx="4572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defRPr/>
            </a:pPr>
            <a:r>
              <a:rPr kumimoji="0" lang="en-US" altLang="zh-CN" sz="2500" i="1" baseline="0">
                <a:solidFill>
                  <a:schemeClr val="tx1"/>
                </a:solidFill>
                <a:ea typeface="宋体" pitchFamily="2" charset="-122"/>
              </a:rPr>
              <a:t>t</a:t>
            </a:r>
            <a:r>
              <a:rPr kumimoji="0" lang="en-US" altLang="zh-CN" sz="2500" i="1" baseline="-25000">
                <a:solidFill>
                  <a:schemeClr val="tx1"/>
                </a:solidFill>
                <a:ea typeface="宋体" pitchFamily="2" charset="-122"/>
              </a:rPr>
              <a:t>i</a:t>
            </a:r>
            <a:endParaRPr kumimoji="0" lang="en-US" altLang="zh-CN" sz="2500" b="0" baseline="0">
              <a:solidFill>
                <a:schemeClr val="tx1"/>
              </a:solidFill>
              <a:effectLst>
                <a:outerShdw blurRad="38100" dist="38100" dir="2700000" algn="tl">
                  <a:srgbClr val="C0C0C0"/>
                </a:outerShdw>
              </a:effectLst>
              <a:ea typeface="宋体" pitchFamily="2" charset="-122"/>
            </a:endParaRPr>
          </a:p>
        </p:txBody>
      </p:sp>
      <p:sp>
        <p:nvSpPr>
          <p:cNvPr id="36873" name="Text Box 9"/>
          <p:cNvSpPr txBox="1">
            <a:spLocks noChangeArrowheads="1"/>
          </p:cNvSpPr>
          <p:nvPr/>
        </p:nvSpPr>
        <p:spPr bwMode="auto">
          <a:xfrm>
            <a:off x="4191000" y="5791200"/>
            <a:ext cx="12954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a:r>
              <a:rPr kumimoji="0" lang="en-US" altLang="zh-CN" sz="2500" i="1" baseline="0">
                <a:solidFill>
                  <a:schemeClr val="tx1"/>
                </a:solidFill>
                <a:ea typeface="宋体" panose="02010600030101010101" pitchFamily="2" charset="-122"/>
              </a:rPr>
              <a:t>t</a:t>
            </a:r>
            <a:r>
              <a:rPr kumimoji="0" lang="en-US" altLang="zh-CN" sz="2500" i="1" baseline="-25000">
                <a:solidFill>
                  <a:schemeClr val="tx1"/>
                </a:solidFill>
                <a:ea typeface="宋体" panose="02010600030101010101" pitchFamily="2" charset="-122"/>
              </a:rPr>
              <a:t>i </a:t>
            </a:r>
            <a:r>
              <a:rPr kumimoji="0" lang="en-US" altLang="zh-CN" sz="2500" i="1" baseline="0">
                <a:solidFill>
                  <a:schemeClr val="tx1"/>
                </a:solidFill>
                <a:ea typeface="宋体" panose="02010600030101010101" pitchFamily="2" charset="-122"/>
              </a:rPr>
              <a:t>+ h/2</a:t>
            </a:r>
          </a:p>
        </p:txBody>
      </p:sp>
      <p:sp>
        <p:nvSpPr>
          <p:cNvPr id="36874" name="Text Box 10"/>
          <p:cNvSpPr txBox="1">
            <a:spLocks noChangeArrowheads="1"/>
          </p:cNvSpPr>
          <p:nvPr/>
        </p:nvSpPr>
        <p:spPr bwMode="auto">
          <a:xfrm>
            <a:off x="6705600" y="5791200"/>
            <a:ext cx="12954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a:r>
              <a:rPr kumimoji="0" lang="en-US" altLang="zh-CN" sz="2500" i="1" baseline="0">
                <a:solidFill>
                  <a:schemeClr val="tx1"/>
                </a:solidFill>
                <a:ea typeface="宋体" panose="02010600030101010101" pitchFamily="2" charset="-122"/>
              </a:rPr>
              <a:t>t</a:t>
            </a:r>
            <a:r>
              <a:rPr kumimoji="0" lang="en-US" altLang="zh-CN" sz="2500" i="1" baseline="-25000">
                <a:solidFill>
                  <a:schemeClr val="tx1"/>
                </a:solidFill>
                <a:ea typeface="宋体" panose="02010600030101010101" pitchFamily="2" charset="-122"/>
              </a:rPr>
              <a:t>i </a:t>
            </a:r>
            <a:r>
              <a:rPr kumimoji="0" lang="en-US" altLang="zh-CN" sz="2500" i="1" baseline="0">
                <a:solidFill>
                  <a:schemeClr val="tx1"/>
                </a:solidFill>
                <a:ea typeface="宋体" panose="02010600030101010101" pitchFamily="2" charset="-122"/>
              </a:rPr>
              <a:t>+ h</a:t>
            </a:r>
          </a:p>
        </p:txBody>
      </p:sp>
      <p:sp>
        <p:nvSpPr>
          <p:cNvPr id="193547" name="Line 11"/>
          <p:cNvSpPr>
            <a:spLocks noChangeShapeType="1"/>
          </p:cNvSpPr>
          <p:nvPr/>
        </p:nvSpPr>
        <p:spPr bwMode="auto">
          <a:xfrm flipV="1">
            <a:off x="1981200" y="2286000"/>
            <a:ext cx="2667000" cy="2286000"/>
          </a:xfrm>
          <a:prstGeom prst="line">
            <a:avLst/>
          </a:prstGeom>
          <a:noFill/>
          <a:ln w="28575">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548" name="Line 12"/>
          <p:cNvSpPr>
            <a:spLocks noChangeShapeType="1"/>
          </p:cNvSpPr>
          <p:nvPr/>
        </p:nvSpPr>
        <p:spPr bwMode="auto">
          <a:xfrm flipV="1">
            <a:off x="3962400" y="2057400"/>
            <a:ext cx="1371600" cy="381000"/>
          </a:xfrm>
          <a:prstGeom prst="line">
            <a:avLst/>
          </a:prstGeom>
          <a:noFill/>
          <a:ln w="38100">
            <a:solidFill>
              <a:srgbClr val="D6009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549" name="Line 13"/>
          <p:cNvSpPr>
            <a:spLocks noChangeShapeType="1"/>
          </p:cNvSpPr>
          <p:nvPr/>
        </p:nvSpPr>
        <p:spPr bwMode="auto">
          <a:xfrm flipV="1">
            <a:off x="1981200" y="3429000"/>
            <a:ext cx="2667000" cy="1143000"/>
          </a:xfrm>
          <a:prstGeom prst="line">
            <a:avLst/>
          </a:prstGeom>
          <a:noFill/>
          <a:ln w="28575">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550" name="Line 14"/>
          <p:cNvSpPr>
            <a:spLocks noChangeShapeType="1"/>
          </p:cNvSpPr>
          <p:nvPr/>
        </p:nvSpPr>
        <p:spPr bwMode="auto">
          <a:xfrm flipV="1">
            <a:off x="3962400" y="3276600"/>
            <a:ext cx="1066800" cy="304800"/>
          </a:xfrm>
          <a:prstGeom prst="line">
            <a:avLst/>
          </a:prstGeom>
          <a:noFill/>
          <a:ln w="38100">
            <a:solidFill>
              <a:srgbClr val="D6009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551" name="Line 15"/>
          <p:cNvSpPr>
            <a:spLocks noChangeShapeType="1"/>
          </p:cNvSpPr>
          <p:nvPr/>
        </p:nvSpPr>
        <p:spPr bwMode="auto">
          <a:xfrm flipV="1">
            <a:off x="1981200" y="2971800"/>
            <a:ext cx="5181600" cy="1600200"/>
          </a:xfrm>
          <a:prstGeom prst="line">
            <a:avLst/>
          </a:prstGeom>
          <a:noFill/>
          <a:ln w="28575">
            <a:solidFill>
              <a:srgbClr val="FF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0" name="Freeform 16"/>
          <p:cNvSpPr>
            <a:spLocks/>
          </p:cNvSpPr>
          <p:nvPr/>
        </p:nvSpPr>
        <p:spPr bwMode="auto">
          <a:xfrm>
            <a:off x="1600200" y="2895600"/>
            <a:ext cx="7086600" cy="2057400"/>
          </a:xfrm>
          <a:custGeom>
            <a:avLst/>
            <a:gdLst>
              <a:gd name="T0" fmla="*/ 0 w 4224"/>
              <a:gd name="T1" fmla="*/ 2057400 h 1080"/>
              <a:gd name="T2" fmla="*/ 1127414 w 4224"/>
              <a:gd name="T3" fmla="*/ 1051560 h 1080"/>
              <a:gd name="T4" fmla="*/ 2254827 w 4224"/>
              <a:gd name="T5" fmla="*/ 411480 h 1080"/>
              <a:gd name="T6" fmla="*/ 3382241 w 4224"/>
              <a:gd name="T7" fmla="*/ 45720 h 1080"/>
              <a:gd name="T8" fmla="*/ 4509655 w 4224"/>
              <a:gd name="T9" fmla="*/ 137160 h 1080"/>
              <a:gd name="T10" fmla="*/ 5556539 w 4224"/>
              <a:gd name="T11" fmla="*/ 502920 h 1080"/>
              <a:gd name="T12" fmla="*/ 6361834 w 4224"/>
              <a:gd name="T13" fmla="*/ 685800 h 1080"/>
              <a:gd name="T14" fmla="*/ 7086600 w 4224"/>
              <a:gd name="T15" fmla="*/ 411480 h 10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224" h="1080">
                <a:moveTo>
                  <a:pt x="0" y="1080"/>
                </a:moveTo>
                <a:cubicBezTo>
                  <a:pt x="224" y="888"/>
                  <a:pt x="448" y="696"/>
                  <a:pt x="672" y="552"/>
                </a:cubicBezTo>
                <a:cubicBezTo>
                  <a:pt x="896" y="408"/>
                  <a:pt x="1120" y="304"/>
                  <a:pt x="1344" y="216"/>
                </a:cubicBezTo>
                <a:cubicBezTo>
                  <a:pt x="1568" y="128"/>
                  <a:pt x="1792" y="48"/>
                  <a:pt x="2016" y="24"/>
                </a:cubicBezTo>
                <a:cubicBezTo>
                  <a:pt x="2240" y="0"/>
                  <a:pt x="2472" y="32"/>
                  <a:pt x="2688" y="72"/>
                </a:cubicBezTo>
                <a:cubicBezTo>
                  <a:pt x="2904" y="112"/>
                  <a:pt x="3128" y="216"/>
                  <a:pt x="3312" y="264"/>
                </a:cubicBezTo>
                <a:cubicBezTo>
                  <a:pt x="3496" y="312"/>
                  <a:pt x="3640" y="368"/>
                  <a:pt x="3792" y="360"/>
                </a:cubicBezTo>
                <a:cubicBezTo>
                  <a:pt x="3944" y="352"/>
                  <a:pt x="4084" y="284"/>
                  <a:pt x="4224" y="216"/>
                </a:cubicBezTo>
              </a:path>
            </a:pathLst>
          </a:custGeom>
          <a:noFill/>
          <a:ln w="57150" cmpd="sng">
            <a:solidFill>
              <a:srgbClr val="00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553" name="Line 17"/>
          <p:cNvSpPr>
            <a:spLocks noChangeShapeType="1"/>
          </p:cNvSpPr>
          <p:nvPr/>
        </p:nvSpPr>
        <p:spPr bwMode="auto">
          <a:xfrm>
            <a:off x="6781800" y="2819400"/>
            <a:ext cx="914400" cy="304800"/>
          </a:xfrm>
          <a:prstGeom prst="line">
            <a:avLst/>
          </a:prstGeom>
          <a:noFill/>
          <a:ln w="38100">
            <a:solidFill>
              <a:srgbClr val="D6009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554" name="Text Box 18"/>
          <p:cNvSpPr txBox="1">
            <a:spLocks noChangeArrowheads="1"/>
          </p:cNvSpPr>
          <p:nvPr/>
        </p:nvSpPr>
        <p:spPr bwMode="auto">
          <a:xfrm>
            <a:off x="1600200" y="4038600"/>
            <a:ext cx="5334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a:r>
              <a:rPr kumimoji="0" lang="en-US" altLang="zh-CN" sz="2500" i="1" baseline="0">
                <a:solidFill>
                  <a:srgbClr val="D60093"/>
                </a:solidFill>
                <a:ea typeface="宋体" panose="02010600030101010101" pitchFamily="2" charset="-122"/>
              </a:rPr>
              <a:t>f</a:t>
            </a:r>
            <a:r>
              <a:rPr kumimoji="0" lang="en-US" altLang="zh-CN" sz="2500" i="1" baseline="-25000">
                <a:solidFill>
                  <a:srgbClr val="D60093"/>
                </a:solidFill>
                <a:ea typeface="宋体" panose="02010600030101010101" pitchFamily="2" charset="-122"/>
              </a:rPr>
              <a:t>1</a:t>
            </a:r>
            <a:endParaRPr kumimoji="0" lang="en-US" altLang="zh-CN" sz="2500" i="1" baseline="0">
              <a:solidFill>
                <a:srgbClr val="FF0000"/>
              </a:solidFill>
              <a:ea typeface="宋体" panose="02010600030101010101" pitchFamily="2" charset="-122"/>
            </a:endParaRPr>
          </a:p>
        </p:txBody>
      </p:sp>
      <p:sp>
        <p:nvSpPr>
          <p:cNvPr id="193555" name="Text Box 19"/>
          <p:cNvSpPr txBox="1">
            <a:spLocks noChangeArrowheads="1"/>
          </p:cNvSpPr>
          <p:nvPr/>
        </p:nvSpPr>
        <p:spPr bwMode="auto">
          <a:xfrm>
            <a:off x="4267200" y="1752600"/>
            <a:ext cx="5334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algn="l"/>
            <a:r>
              <a:rPr kumimoji="0" lang="en-US" altLang="zh-CN" sz="2500" i="1" baseline="0">
                <a:solidFill>
                  <a:srgbClr val="D60093"/>
                </a:solidFill>
                <a:ea typeface="宋体" panose="02010600030101010101" pitchFamily="2" charset="-122"/>
              </a:rPr>
              <a:t>f</a:t>
            </a:r>
            <a:r>
              <a:rPr kumimoji="0" lang="en-US" altLang="zh-CN" sz="2500" i="1" baseline="-25000">
                <a:solidFill>
                  <a:srgbClr val="D60093"/>
                </a:solidFill>
                <a:ea typeface="宋体" panose="02010600030101010101" pitchFamily="2" charset="-122"/>
              </a:rPr>
              <a:t>2</a:t>
            </a:r>
            <a:endParaRPr kumimoji="0" lang="en-US" altLang="zh-CN" sz="2500" i="1" baseline="0">
              <a:solidFill>
                <a:srgbClr val="FF0000"/>
              </a:solidFill>
              <a:ea typeface="宋体" panose="02010600030101010101" pitchFamily="2" charset="-122"/>
            </a:endParaRPr>
          </a:p>
        </p:txBody>
      </p:sp>
      <p:sp>
        <p:nvSpPr>
          <p:cNvPr id="193556" name="Text Box 20"/>
          <p:cNvSpPr txBox="1">
            <a:spLocks noChangeArrowheads="1"/>
          </p:cNvSpPr>
          <p:nvPr/>
        </p:nvSpPr>
        <p:spPr bwMode="auto">
          <a:xfrm>
            <a:off x="5029200" y="3048000"/>
            <a:ext cx="5334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defRPr/>
            </a:pPr>
            <a:r>
              <a:rPr kumimoji="0" lang="en-US" altLang="zh-CN" sz="2500" i="1" baseline="0">
                <a:solidFill>
                  <a:srgbClr val="D60093"/>
                </a:solidFill>
                <a:ea typeface="宋体" pitchFamily="2" charset="-122"/>
              </a:rPr>
              <a:t>f</a:t>
            </a:r>
            <a:r>
              <a:rPr kumimoji="0" lang="en-US" altLang="zh-CN" sz="2500" i="1" baseline="-25000">
                <a:solidFill>
                  <a:srgbClr val="D60093"/>
                </a:solidFill>
                <a:ea typeface="宋体" pitchFamily="2" charset="-122"/>
              </a:rPr>
              <a:t>3</a:t>
            </a:r>
            <a:endParaRPr kumimoji="0" lang="en-US" altLang="zh-CN" sz="2500" b="0" baseline="0">
              <a:solidFill>
                <a:schemeClr val="tx1"/>
              </a:solidFill>
              <a:effectLst>
                <a:outerShdw blurRad="38100" dist="38100" dir="2700000" algn="tl">
                  <a:srgbClr val="C0C0C0"/>
                </a:outerShdw>
              </a:effectLst>
              <a:ea typeface="宋体" pitchFamily="2" charset="-122"/>
            </a:endParaRPr>
          </a:p>
        </p:txBody>
      </p:sp>
      <p:sp>
        <p:nvSpPr>
          <p:cNvPr id="193557" name="Text Box 21"/>
          <p:cNvSpPr txBox="1">
            <a:spLocks noChangeArrowheads="1"/>
          </p:cNvSpPr>
          <p:nvPr/>
        </p:nvSpPr>
        <p:spPr bwMode="auto">
          <a:xfrm>
            <a:off x="7086600" y="2362200"/>
            <a:ext cx="762000"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defRPr/>
            </a:pPr>
            <a:r>
              <a:rPr kumimoji="0" lang="en-US" altLang="zh-CN" sz="2500" i="1" baseline="0">
                <a:solidFill>
                  <a:srgbClr val="D60093"/>
                </a:solidFill>
                <a:ea typeface="宋体" pitchFamily="2" charset="-122"/>
              </a:rPr>
              <a:t>f</a:t>
            </a:r>
            <a:r>
              <a:rPr kumimoji="0" lang="en-US" altLang="zh-CN" sz="2500" i="1" baseline="-25000">
                <a:solidFill>
                  <a:srgbClr val="D60093"/>
                </a:solidFill>
                <a:ea typeface="宋体" pitchFamily="2" charset="-122"/>
              </a:rPr>
              <a:t>4</a:t>
            </a:r>
            <a:endParaRPr kumimoji="0" lang="en-US" altLang="zh-CN" sz="2500" b="0" baseline="0">
              <a:solidFill>
                <a:schemeClr val="tx1"/>
              </a:solidFill>
              <a:effectLst>
                <a:outerShdw blurRad="38100" dist="38100" dir="2700000" algn="tl">
                  <a:srgbClr val="C0C0C0"/>
                </a:outerShdw>
              </a:effectLst>
              <a:ea typeface="宋体" pitchFamily="2" charset="-122"/>
            </a:endParaRPr>
          </a:p>
        </p:txBody>
      </p:sp>
      <p:sp>
        <p:nvSpPr>
          <p:cNvPr id="193558" name="Line 22"/>
          <p:cNvSpPr>
            <a:spLocks noChangeShapeType="1"/>
          </p:cNvSpPr>
          <p:nvPr/>
        </p:nvSpPr>
        <p:spPr bwMode="auto">
          <a:xfrm flipV="1">
            <a:off x="1981200" y="3200400"/>
            <a:ext cx="5181600" cy="1371600"/>
          </a:xfrm>
          <a:prstGeom prst="line">
            <a:avLst/>
          </a:prstGeom>
          <a:noFill/>
          <a:ln w="38100"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559" name="Line 23"/>
          <p:cNvSpPr>
            <a:spLocks noChangeShapeType="1"/>
          </p:cNvSpPr>
          <p:nvPr/>
        </p:nvSpPr>
        <p:spPr bwMode="auto">
          <a:xfrm flipV="1">
            <a:off x="1524000" y="3581400"/>
            <a:ext cx="1600200" cy="1371600"/>
          </a:xfrm>
          <a:prstGeom prst="line">
            <a:avLst/>
          </a:prstGeom>
          <a:noFill/>
          <a:ln w="38100">
            <a:solidFill>
              <a:srgbClr val="D6009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8" name="Oval 24"/>
          <p:cNvSpPr>
            <a:spLocks noChangeArrowheads="1"/>
          </p:cNvSpPr>
          <p:nvPr/>
        </p:nvSpPr>
        <p:spPr bwMode="auto">
          <a:xfrm>
            <a:off x="1905000" y="4495800"/>
            <a:ext cx="152400" cy="152400"/>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36889" name="Oval 25"/>
          <p:cNvSpPr>
            <a:spLocks noChangeArrowheads="1"/>
          </p:cNvSpPr>
          <p:nvPr/>
        </p:nvSpPr>
        <p:spPr bwMode="auto">
          <a:xfrm>
            <a:off x="7086600" y="3352800"/>
            <a:ext cx="152400" cy="152400"/>
          </a:xfrm>
          <a:prstGeom prst="ellipse">
            <a:avLst/>
          </a:pr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sp>
        <p:nvSpPr>
          <p:cNvPr id="193562" name="Oval 26"/>
          <p:cNvSpPr>
            <a:spLocks noChangeArrowheads="1"/>
          </p:cNvSpPr>
          <p:nvPr/>
        </p:nvSpPr>
        <p:spPr bwMode="auto">
          <a:xfrm>
            <a:off x="7086600" y="31242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endParaRPr lang="zh-CN" altLang="en-US"/>
          </a:p>
        </p:txBody>
      </p:sp>
      <p:graphicFrame>
        <p:nvGraphicFramePr>
          <p:cNvPr id="193563" name="Object 27"/>
          <p:cNvGraphicFramePr>
            <a:graphicFrameLocks noChangeAspect="1"/>
          </p:cNvGraphicFramePr>
          <p:nvPr/>
        </p:nvGraphicFramePr>
        <p:xfrm>
          <a:off x="5334000" y="4419600"/>
          <a:ext cx="2919413" cy="703263"/>
        </p:xfrm>
        <a:graphic>
          <a:graphicData uri="http://schemas.openxmlformats.org/presentationml/2006/ole">
            <mc:AlternateContent xmlns:mc="http://schemas.openxmlformats.org/markup-compatibility/2006">
              <mc:Choice xmlns:v="urn:schemas-microsoft-com:vml" Requires="v">
                <p:oleObj spid="_x0000_s35990" name="Equation" r:id="rId3" imgW="1625600" imgH="393700" progId="Equation.3">
                  <p:embed/>
                </p:oleObj>
              </mc:Choice>
              <mc:Fallback>
                <p:oleObj name="Equation" r:id="rId3" imgW="1625600" imgH="393700" progId="Equation.3">
                  <p:embed/>
                  <p:pic>
                    <p:nvPicPr>
                      <p:cNvPr id="193563"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419600"/>
                        <a:ext cx="2919413" cy="70326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rgbClr val="66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64" name="Object 28"/>
          <p:cNvGraphicFramePr>
            <a:graphicFrameLocks noChangeAspect="1"/>
          </p:cNvGraphicFramePr>
          <p:nvPr/>
        </p:nvGraphicFramePr>
        <p:xfrm>
          <a:off x="3886200" y="4114800"/>
          <a:ext cx="311150" cy="457200"/>
        </p:xfrm>
        <a:graphic>
          <a:graphicData uri="http://schemas.openxmlformats.org/presentationml/2006/ole">
            <mc:AlternateContent xmlns:mc="http://schemas.openxmlformats.org/markup-compatibility/2006">
              <mc:Choice xmlns:v="urn:schemas-microsoft-com:vml" Requires="v">
                <p:oleObj spid="_x0000_s35991" name="Equation" r:id="rId5" imgW="164957" imgH="241091" progId="Equation.3">
                  <p:embed/>
                </p:oleObj>
              </mc:Choice>
              <mc:Fallback>
                <p:oleObj name="Equation" r:id="rId5" imgW="164957" imgH="241091" progId="Equation.3">
                  <p:embed/>
                  <p:pic>
                    <p:nvPicPr>
                      <p:cNvPr id="193564"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4114800"/>
                        <a:ext cx="311150" cy="457200"/>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2D01A83B-350B-4FFE-90BA-E9CD64663813}" type="slidenum">
              <a:rPr lang="en-US" altLang="zh-CN" sz="1400" b="0" baseline="0">
                <a:solidFill>
                  <a:schemeClr val="tx1"/>
                </a:solidFill>
                <a:ea typeface="宋体" panose="02010600030101010101" pitchFamily="2" charset="-122"/>
              </a:rPr>
              <a:pPr eaLnBrk="1" hangingPunct="1"/>
              <a:t>75</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12601623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3559"/>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93554"/>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nodeType="clickEffect">
                                  <p:stCondLst>
                                    <p:cond delay="0"/>
                                  </p:stCondLst>
                                  <p:childTnLst>
                                    <p:set>
                                      <p:cBhvr>
                                        <p:cTn id="13" dur="1" fill="hold">
                                          <p:stCondLst>
                                            <p:cond delay="0"/>
                                          </p:stCondLst>
                                        </p:cTn>
                                        <p:tgtEl>
                                          <p:spTgt spid="193547"/>
                                        </p:tgtEl>
                                        <p:attrNameLst>
                                          <p:attrName>style.visibility</p:attrName>
                                        </p:attrNameLst>
                                      </p:cBhvr>
                                      <p:to>
                                        <p:strVal val="visible"/>
                                      </p:to>
                                    </p:set>
                                    <p:animEffect transition="in" filter="wipe(left)">
                                      <p:cBhvr>
                                        <p:cTn id="14" dur="500"/>
                                        <p:tgtEl>
                                          <p:spTgt spid="19354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93548"/>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193555">
                                            <p:txEl>
                                              <p:pRg st="0" end="0"/>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93549"/>
                                        </p:tgtEl>
                                        <p:attrNameLst>
                                          <p:attrName>style.visibility</p:attrName>
                                        </p:attrNameLst>
                                      </p:cBhvr>
                                      <p:to>
                                        <p:strVal val="visible"/>
                                      </p:to>
                                    </p:set>
                                    <p:animEffect transition="in" filter="wipe(left)">
                                      <p:cBhvr>
                                        <p:cTn id="26" dur="500"/>
                                        <p:tgtEl>
                                          <p:spTgt spid="19354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93550"/>
                                        </p:tgtEl>
                                        <p:attrNameLst>
                                          <p:attrName>style.visibility</p:attrName>
                                        </p:attrNameLst>
                                      </p:cBhvr>
                                      <p:to>
                                        <p:strVal val="visible"/>
                                      </p:to>
                                    </p:set>
                                  </p:childTnLst>
                                </p:cTn>
                              </p:par>
                            </p:childTnLst>
                          </p:cTn>
                        </p:par>
                        <p:par>
                          <p:cTn id="31" fill="hold" nodeType="afterGroup">
                            <p:stCondLst>
                              <p:cond delay="500"/>
                            </p:stCondLst>
                            <p:childTnLst>
                              <p:par>
                                <p:cTn id="32" presetID="1" presetClass="entr" presetSubtype="0" fill="hold" grpId="0" nodeType="afterEffect">
                                  <p:stCondLst>
                                    <p:cond delay="0"/>
                                  </p:stCondLst>
                                  <p:childTnLst>
                                    <p:set>
                                      <p:cBhvr>
                                        <p:cTn id="33" dur="1" fill="hold">
                                          <p:stCondLst>
                                            <p:cond delay="499"/>
                                          </p:stCondLst>
                                        </p:cTn>
                                        <p:tgtEl>
                                          <p:spTgt spid="193556"/>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93551"/>
                                        </p:tgtEl>
                                        <p:attrNameLst>
                                          <p:attrName>style.visibility</p:attrName>
                                        </p:attrNameLst>
                                      </p:cBhvr>
                                      <p:to>
                                        <p:strVal val="visible"/>
                                      </p:to>
                                    </p:set>
                                    <p:animEffect transition="in" filter="wipe(left)">
                                      <p:cBhvr>
                                        <p:cTn id="38" dur="500"/>
                                        <p:tgtEl>
                                          <p:spTgt spid="19355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193553"/>
                                        </p:tgtEl>
                                        <p:attrNameLst>
                                          <p:attrName>style.visibility</p:attrName>
                                        </p:attrNameLst>
                                      </p:cBhvr>
                                      <p:to>
                                        <p:strVal val="visible"/>
                                      </p:to>
                                    </p:set>
                                  </p:childTnLst>
                                </p:cTn>
                              </p:par>
                            </p:childTnLst>
                          </p:cTn>
                        </p:par>
                        <p:par>
                          <p:cTn id="43" fill="hold" nodeType="afterGroup">
                            <p:stCondLst>
                              <p:cond delay="500"/>
                            </p:stCondLst>
                            <p:childTnLst>
                              <p:par>
                                <p:cTn id="44" presetID="1" presetClass="entr" presetSubtype="0" fill="hold" grpId="0" nodeType="afterEffect">
                                  <p:stCondLst>
                                    <p:cond delay="0"/>
                                  </p:stCondLst>
                                  <p:childTnLst>
                                    <p:set>
                                      <p:cBhvr>
                                        <p:cTn id="45" dur="1" fill="hold">
                                          <p:stCondLst>
                                            <p:cond delay="499"/>
                                          </p:stCondLst>
                                        </p:cTn>
                                        <p:tgtEl>
                                          <p:spTgt spid="193557"/>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nodeType="clickEffect">
                                  <p:stCondLst>
                                    <p:cond delay="0"/>
                                  </p:stCondLst>
                                  <p:childTnLst>
                                    <p:set>
                                      <p:cBhvr>
                                        <p:cTn id="49" dur="1" fill="hold">
                                          <p:stCondLst>
                                            <p:cond delay="0"/>
                                          </p:stCondLst>
                                        </p:cTn>
                                        <p:tgtEl>
                                          <p:spTgt spid="193563"/>
                                        </p:tgtEl>
                                        <p:attrNameLst>
                                          <p:attrName>style.visibility</p:attrName>
                                        </p:attrNameLst>
                                      </p:cBhvr>
                                      <p:to>
                                        <p:strVal val="visible"/>
                                      </p:to>
                                    </p:set>
                                    <p:anim calcmode="lin" valueType="num">
                                      <p:cBhvr additive="base">
                                        <p:cTn id="50" dur="500" fill="hold"/>
                                        <p:tgtEl>
                                          <p:spTgt spid="193563"/>
                                        </p:tgtEl>
                                        <p:attrNameLst>
                                          <p:attrName>ppt_x</p:attrName>
                                        </p:attrNameLst>
                                      </p:cBhvr>
                                      <p:tavLst>
                                        <p:tav tm="0">
                                          <p:val>
                                            <p:strVal val="0-#ppt_w/2"/>
                                          </p:val>
                                        </p:tav>
                                        <p:tav tm="100000">
                                          <p:val>
                                            <p:strVal val="#ppt_x"/>
                                          </p:val>
                                        </p:tav>
                                      </p:tavLst>
                                    </p:anim>
                                    <p:anim calcmode="lin" valueType="num">
                                      <p:cBhvr additive="base">
                                        <p:cTn id="51" dur="500" fill="hold"/>
                                        <p:tgtEl>
                                          <p:spTgt spid="193563"/>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93558"/>
                                        </p:tgtEl>
                                        <p:attrNameLst>
                                          <p:attrName>style.visibility</p:attrName>
                                        </p:attrNameLst>
                                      </p:cBhvr>
                                      <p:to>
                                        <p:strVal val="visible"/>
                                      </p:to>
                                    </p:set>
                                    <p:animEffect transition="in" filter="wipe(left)">
                                      <p:cBhvr>
                                        <p:cTn id="56" dur="500"/>
                                        <p:tgtEl>
                                          <p:spTgt spid="193558"/>
                                        </p:tgtEl>
                                      </p:cBhvr>
                                    </p:animEffect>
                                  </p:childTnLst>
                                </p:cTn>
                              </p:par>
                            </p:childTnLst>
                          </p:cTn>
                        </p:par>
                        <p:par>
                          <p:cTn id="57" fill="hold" nodeType="afterGroup">
                            <p:stCondLst>
                              <p:cond delay="500"/>
                            </p:stCondLst>
                            <p:childTnLst>
                              <p:par>
                                <p:cTn id="58" presetID="1" presetClass="entr" presetSubtype="0" fill="hold" nodeType="afterEffect">
                                  <p:stCondLst>
                                    <p:cond delay="0"/>
                                  </p:stCondLst>
                                  <p:childTnLst>
                                    <p:set>
                                      <p:cBhvr>
                                        <p:cTn id="59" dur="1" fill="hold">
                                          <p:stCondLst>
                                            <p:cond delay="499"/>
                                          </p:stCondLst>
                                        </p:cTn>
                                        <p:tgtEl>
                                          <p:spTgt spid="193564"/>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1935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54" grpId="0" autoUpdateAnimBg="0"/>
      <p:bldP spid="193555" grpId="0" build="p" autoUpdateAnimBg="0" advAuto="0"/>
      <p:bldP spid="193556" grpId="0" autoUpdateAnimBg="0"/>
      <p:bldP spid="193557" grpId="0" autoUpdateAnimBg="0"/>
      <p:bldP spid="19356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b="1" dirty="0">
                <a:solidFill>
                  <a:srgbClr val="0D17D7"/>
                </a:solidFill>
              </a:rPr>
              <a:t>方法小结</a:t>
            </a:r>
          </a:p>
        </p:txBody>
      </p:sp>
      <p:sp>
        <p:nvSpPr>
          <p:cNvPr id="37891" name="Rectangle 3"/>
          <p:cNvSpPr>
            <a:spLocks noGrp="1" noChangeArrowheads="1"/>
          </p:cNvSpPr>
          <p:nvPr>
            <p:ph idx="1"/>
          </p:nvPr>
        </p:nvSpPr>
        <p:spPr>
          <a:xfrm>
            <a:off x="323528" y="1916832"/>
            <a:ext cx="8712968" cy="4798863"/>
          </a:xfrm>
        </p:spPr>
        <p:txBody>
          <a:bodyPr/>
          <a:lstStyle/>
          <a:p>
            <a:pPr eaLnBrk="1" hangingPunct="1">
              <a:lnSpc>
                <a:spcPct val="120000"/>
              </a:lnSpc>
            </a:pPr>
            <a:r>
              <a:rPr lang="zh-CN" altLang="en-US" sz="2400" b="1" dirty="0">
                <a:latin typeface="宋体" panose="02010600030101010101" pitchFamily="2" charset="-122"/>
              </a:rPr>
              <a:t>通过上述龙格</a:t>
            </a:r>
            <a:r>
              <a:rPr lang="en-US" altLang="zh-CN" sz="2400" b="1" dirty="0">
                <a:latin typeface="宋体" panose="02010600030101010101" pitchFamily="2" charset="-122"/>
              </a:rPr>
              <a:t>-</a:t>
            </a:r>
            <a:r>
              <a:rPr lang="zh-CN" altLang="en-US" sz="2400" b="1" dirty="0">
                <a:latin typeface="宋体" panose="02010600030101010101" pitchFamily="2" charset="-122"/>
              </a:rPr>
              <a:t>库塔法的介绍，可以把以上介绍的几种数值积分法统一起来，它们都是基于在初值附近展开成泰勒级数的原理，所不同的是取泰勒级数多少项。</a:t>
            </a:r>
          </a:p>
          <a:p>
            <a:pPr eaLnBrk="1" hangingPunct="1">
              <a:lnSpc>
                <a:spcPct val="120000"/>
              </a:lnSpc>
            </a:pPr>
            <a:r>
              <a:rPr lang="zh-CN" altLang="en-US" sz="2400" b="1" dirty="0">
                <a:solidFill>
                  <a:srgbClr val="660066"/>
                </a:solidFill>
                <a:latin typeface="宋体" panose="02010600030101010101" pitchFamily="2" charset="-122"/>
              </a:rPr>
              <a:t>欧拉公式仅取到</a:t>
            </a:r>
            <a:r>
              <a:rPr lang="en-US" altLang="zh-CN" sz="2400" b="1" i="1" dirty="0">
                <a:solidFill>
                  <a:srgbClr val="660066"/>
                </a:solidFill>
                <a:latin typeface="宋体" panose="02010600030101010101" pitchFamily="2" charset="-122"/>
              </a:rPr>
              <a:t>h</a:t>
            </a:r>
            <a:r>
              <a:rPr lang="zh-CN" altLang="en-US" sz="2400" b="1" dirty="0">
                <a:solidFill>
                  <a:srgbClr val="660066"/>
                </a:solidFill>
                <a:latin typeface="宋体" panose="02010600030101010101" pitchFamily="2" charset="-122"/>
              </a:rPr>
              <a:t>项。</a:t>
            </a:r>
          </a:p>
          <a:p>
            <a:pPr eaLnBrk="1" hangingPunct="1">
              <a:lnSpc>
                <a:spcPct val="120000"/>
              </a:lnSpc>
            </a:pPr>
            <a:r>
              <a:rPr lang="zh-CN" altLang="en-US" sz="2400" b="1" dirty="0">
                <a:solidFill>
                  <a:srgbClr val="660066"/>
                </a:solidFill>
                <a:latin typeface="宋体" panose="02010600030101010101" pitchFamily="2" charset="-122"/>
              </a:rPr>
              <a:t>梯形法与二阶龙格库塔法相同均取到</a:t>
            </a:r>
            <a:r>
              <a:rPr lang="en-US" altLang="zh-CN" sz="2400" b="1" i="1" dirty="0">
                <a:solidFill>
                  <a:srgbClr val="660066"/>
                </a:solidFill>
                <a:latin typeface="宋体" panose="02010600030101010101" pitchFamily="2" charset="-122"/>
              </a:rPr>
              <a:t>h</a:t>
            </a:r>
            <a:r>
              <a:rPr lang="en-US" altLang="zh-CN" sz="2400" b="1" baseline="30000" dirty="0">
                <a:solidFill>
                  <a:srgbClr val="660066"/>
                </a:solidFill>
                <a:latin typeface="宋体" panose="02010600030101010101" pitchFamily="2" charset="-122"/>
              </a:rPr>
              <a:t>2</a:t>
            </a:r>
            <a:r>
              <a:rPr lang="zh-CN" altLang="en-US" sz="2400" b="1" dirty="0">
                <a:solidFill>
                  <a:srgbClr val="660066"/>
                </a:solidFill>
                <a:latin typeface="宋体" panose="02010600030101010101" pitchFamily="2" charset="-122"/>
              </a:rPr>
              <a:t>项。</a:t>
            </a:r>
          </a:p>
          <a:p>
            <a:pPr eaLnBrk="1" hangingPunct="1">
              <a:lnSpc>
                <a:spcPct val="120000"/>
              </a:lnSpc>
            </a:pPr>
            <a:r>
              <a:rPr lang="zh-CN" altLang="en-US" sz="2400" b="1" dirty="0">
                <a:solidFill>
                  <a:srgbClr val="660066"/>
                </a:solidFill>
                <a:latin typeface="宋体" panose="02010600030101010101" pitchFamily="2" charset="-122"/>
              </a:rPr>
              <a:t>四阶龙格库塔法取到</a:t>
            </a:r>
            <a:r>
              <a:rPr lang="en-US" altLang="zh-CN" sz="2400" b="1" i="1" dirty="0">
                <a:solidFill>
                  <a:srgbClr val="660066"/>
                </a:solidFill>
                <a:latin typeface="宋体" panose="02010600030101010101" pitchFamily="2" charset="-122"/>
              </a:rPr>
              <a:t>h</a:t>
            </a:r>
            <a:r>
              <a:rPr lang="en-US" altLang="zh-CN" sz="2400" b="1" baseline="30000" dirty="0">
                <a:solidFill>
                  <a:srgbClr val="660066"/>
                </a:solidFill>
                <a:latin typeface="宋体" panose="02010600030101010101" pitchFamily="2" charset="-122"/>
              </a:rPr>
              <a:t>4</a:t>
            </a:r>
            <a:r>
              <a:rPr lang="zh-CN" altLang="en-US" sz="2400" b="1" dirty="0">
                <a:solidFill>
                  <a:srgbClr val="660066"/>
                </a:solidFill>
                <a:latin typeface="宋体" panose="02010600030101010101" pitchFamily="2" charset="-122"/>
              </a:rPr>
              <a:t>项。</a:t>
            </a:r>
          </a:p>
          <a:p>
            <a:pPr eaLnBrk="1" hangingPunct="1">
              <a:lnSpc>
                <a:spcPct val="120000"/>
              </a:lnSpc>
            </a:pPr>
            <a:r>
              <a:rPr lang="zh-CN" altLang="en-US" sz="2400" b="1" dirty="0">
                <a:latin typeface="宋体" panose="02010600030101010101" pitchFamily="2" charset="-122"/>
              </a:rPr>
              <a:t>从理论上讲，取得的项数愈多，计算精度愈高，但计算量愈大，愈复杂，计算误差也将增加，因此要适当的选择。</a:t>
            </a:r>
          </a:p>
          <a:p>
            <a:pPr eaLnBrk="1" hangingPunct="1">
              <a:lnSpc>
                <a:spcPct val="120000"/>
              </a:lnSpc>
            </a:pPr>
            <a:r>
              <a:rPr lang="zh-CN" altLang="en-US" sz="2400" b="1" dirty="0">
                <a:latin typeface="宋体" panose="02010600030101010101" pitchFamily="2" charset="-122"/>
              </a:rPr>
              <a:t>对于仿真中遇到的大多数工程实际问题，四阶龙格－库塔法的截断误差为</a:t>
            </a:r>
            <a:r>
              <a:rPr lang="en-US" altLang="zh-CN" sz="2400" b="1" dirty="0">
                <a:latin typeface="宋体" panose="02010600030101010101" pitchFamily="2" charset="-122"/>
              </a:rPr>
              <a:t>0(</a:t>
            </a:r>
            <a:r>
              <a:rPr lang="en-US" altLang="zh-CN" sz="2400" b="1" i="1" dirty="0">
                <a:latin typeface="宋体" panose="02010600030101010101" pitchFamily="2" charset="-122"/>
              </a:rPr>
              <a:t>h</a:t>
            </a:r>
            <a:r>
              <a:rPr lang="en-US" altLang="zh-CN" sz="2400" b="1" baseline="30000" dirty="0">
                <a:latin typeface="宋体" panose="02010600030101010101" pitchFamily="2" charset="-122"/>
              </a:rPr>
              <a:t>5</a:t>
            </a:r>
            <a:r>
              <a:rPr lang="en-US" altLang="zh-CN" sz="2400" b="1" dirty="0">
                <a:latin typeface="宋体" panose="02010600030101010101" pitchFamily="2" charset="-122"/>
              </a:rPr>
              <a:t>)</a:t>
            </a:r>
            <a:r>
              <a:rPr lang="zh-CN" altLang="en-US" sz="2400" b="1" dirty="0">
                <a:latin typeface="宋体" panose="02010600030101010101" pitchFamily="2" charset="-122"/>
              </a:rPr>
              <a:t>与</a:t>
            </a:r>
            <a:r>
              <a:rPr lang="en-US" altLang="zh-CN" sz="2400" b="1" i="1" dirty="0">
                <a:latin typeface="宋体" panose="02010600030101010101" pitchFamily="2" charset="-122"/>
              </a:rPr>
              <a:t>h</a:t>
            </a:r>
            <a:r>
              <a:rPr lang="en-US" altLang="zh-CN" sz="2400" b="1" baseline="30000" dirty="0">
                <a:latin typeface="宋体" panose="02010600030101010101" pitchFamily="2" charset="-122"/>
              </a:rPr>
              <a:t>5</a:t>
            </a:r>
            <a:r>
              <a:rPr lang="zh-CN" altLang="en-US" sz="2400" b="1" dirty="0">
                <a:latin typeface="宋体" panose="02010600030101010101" pitchFamily="2" charset="-122"/>
              </a:rPr>
              <a:t>同数量级，精度已经能够满足要求。</a:t>
            </a:r>
          </a:p>
        </p:txBody>
      </p:sp>
      <p:sp>
        <p:nvSpPr>
          <p:cNvPr id="2" name="灯片编号占位符 1"/>
          <p:cNvSpPr>
            <a:spLocks noGrp="1"/>
          </p:cNvSpPr>
          <p:nvPr>
            <p:ph type="sldNum" sz="quarter" idx="12"/>
          </p:nvPr>
        </p:nvSpPr>
        <p:spPr/>
        <p:txBody>
          <a:bodyPr/>
          <a:lstStyle>
            <a:lvl1pPr eaLnBrk="0" hangingPunct="0">
              <a:defRPr kumimoji="1" sz="2400" b="1" baseline="30000">
                <a:solidFill>
                  <a:schemeClr val="accent2"/>
                </a:solidFill>
                <a:latin typeface="Times New Roman" panose="02020603050405020304" pitchFamily="18" charset="0"/>
                <a:ea typeface="楷体_GB2312" pitchFamily="49" charset="-122"/>
              </a:defRPr>
            </a:lvl1pPr>
            <a:lvl2pPr marL="742950" indent="-285750" eaLnBrk="0" hangingPunct="0">
              <a:defRPr kumimoji="1" sz="2400" b="1" baseline="30000">
                <a:solidFill>
                  <a:schemeClr val="accent2"/>
                </a:solidFill>
                <a:latin typeface="Times New Roman" panose="02020603050405020304" pitchFamily="18" charset="0"/>
                <a:ea typeface="楷体_GB2312" pitchFamily="49" charset="-122"/>
              </a:defRPr>
            </a:lvl2pPr>
            <a:lvl3pPr marL="1143000" indent="-228600" eaLnBrk="0" hangingPunct="0">
              <a:defRPr kumimoji="1" sz="2400" b="1" baseline="30000">
                <a:solidFill>
                  <a:schemeClr val="accent2"/>
                </a:solidFill>
                <a:latin typeface="Times New Roman" panose="02020603050405020304" pitchFamily="18" charset="0"/>
                <a:ea typeface="楷体_GB2312" pitchFamily="49" charset="-122"/>
              </a:defRPr>
            </a:lvl3pPr>
            <a:lvl4pPr marL="1600200" indent="-228600" eaLnBrk="0" hangingPunct="0">
              <a:defRPr kumimoji="1" sz="2400" b="1" baseline="30000">
                <a:solidFill>
                  <a:schemeClr val="accent2"/>
                </a:solidFill>
                <a:latin typeface="Times New Roman" panose="02020603050405020304" pitchFamily="18" charset="0"/>
                <a:ea typeface="楷体_GB2312" pitchFamily="49" charset="-122"/>
              </a:defRPr>
            </a:lvl4pPr>
            <a:lvl5pPr marL="2057400" indent="-228600" eaLnBrk="0" hangingPunct="0">
              <a:defRPr kumimoji="1" sz="2400" b="1" baseline="30000">
                <a:solidFill>
                  <a:schemeClr val="accent2"/>
                </a:solidFill>
                <a:latin typeface="Times New Roman" panose="02020603050405020304" pitchFamily="18" charset="0"/>
                <a:ea typeface="楷体_GB2312" pitchFamily="49" charset="-122"/>
              </a:defRPr>
            </a:lvl5pPr>
            <a:lvl6pPr marL="25146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6pPr>
            <a:lvl7pPr marL="29718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7pPr>
            <a:lvl8pPr marL="34290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8pPr>
            <a:lvl9pPr marL="3886200" indent="-228600" algn="ctr" eaLnBrk="0" fontAlgn="base" hangingPunct="0">
              <a:spcBef>
                <a:spcPct val="50000"/>
              </a:spcBef>
              <a:spcAft>
                <a:spcPct val="0"/>
              </a:spcAft>
              <a:defRPr kumimoji="1" sz="2400" b="1" baseline="30000">
                <a:solidFill>
                  <a:schemeClr val="accent2"/>
                </a:solidFill>
                <a:latin typeface="Times New Roman" panose="02020603050405020304" pitchFamily="18" charset="0"/>
                <a:ea typeface="楷体_GB2312" pitchFamily="49" charset="-122"/>
              </a:defRPr>
            </a:lvl9pPr>
          </a:lstStyle>
          <a:p>
            <a:pPr eaLnBrk="1" hangingPunct="1"/>
            <a:fld id="{A55CB7D1-569D-4EE6-8729-C657C59FFFD8}" type="slidenum">
              <a:rPr lang="en-US" altLang="zh-CN" sz="1400" b="0" baseline="0">
                <a:solidFill>
                  <a:schemeClr val="tx1"/>
                </a:solidFill>
                <a:ea typeface="宋体" panose="02010600030101010101" pitchFamily="2" charset="-122"/>
              </a:rPr>
              <a:pPr eaLnBrk="1" hangingPunct="1"/>
              <a:t>76</a:t>
            </a:fld>
            <a:endParaRPr lang="en-US" altLang="zh-CN" sz="1400" b="0" baseline="0">
              <a:solidFill>
                <a:schemeClr val="tx1"/>
              </a:solidFill>
              <a:ea typeface="宋体" panose="02010600030101010101" pitchFamily="2" charset="-122"/>
            </a:endParaRPr>
          </a:p>
        </p:txBody>
      </p:sp>
    </p:spTree>
    <p:extLst>
      <p:ext uri="{BB962C8B-B14F-4D97-AF65-F5344CB8AC3E}">
        <p14:creationId xmlns:p14="http://schemas.microsoft.com/office/powerpoint/2010/main" val="7615839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变步长法</a:t>
            </a:r>
          </a:p>
        </p:txBody>
      </p:sp>
      <p:sp>
        <p:nvSpPr>
          <p:cNvPr id="3" name="内容占位符 2"/>
          <p:cNvSpPr>
            <a:spLocks noGrp="1"/>
          </p:cNvSpPr>
          <p:nvPr>
            <p:ph idx="1"/>
          </p:nvPr>
        </p:nvSpPr>
        <p:spPr>
          <a:xfrm>
            <a:off x="899592" y="2102065"/>
            <a:ext cx="7772400" cy="4114800"/>
          </a:xfrm>
        </p:spPr>
        <p:txBody>
          <a:bodyPr/>
          <a:lstStyle/>
          <a:p>
            <a:r>
              <a:rPr lang="zh-CN" altLang="en-US" dirty="0"/>
              <a:t>在保证仿真过程满足</a:t>
            </a:r>
            <a:r>
              <a:rPr lang="en-US" altLang="zh-CN" dirty="0"/>
              <a:t>—</a:t>
            </a:r>
            <a:r>
              <a:rPr lang="zh-CN" altLang="en-US" dirty="0"/>
              <a:t>定精度的前提下，为使计算量尽可能小，尽量选取适用的较大的步长，这样仿真步长需不断改变。</a:t>
            </a:r>
            <a:endParaRPr lang="en-US" altLang="zh-CN" dirty="0"/>
          </a:p>
          <a:p>
            <a:r>
              <a:rPr lang="zh-CN" altLang="zh-CN" dirty="0"/>
              <a:t>变步长应根据一定的条件，其前提是要有一个好的局部误差估计公式，根据局部误差的大小来改变步长</a:t>
            </a:r>
            <a:r>
              <a:rPr lang="zh-CN" altLang="en-US" dirty="0"/>
              <a:t>。</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77</a:t>
            </a:fld>
            <a:endParaRPr lang="en-US" altLang="zh-CN"/>
          </a:p>
        </p:txBody>
      </p:sp>
    </p:spTree>
    <p:extLst>
      <p:ext uri="{BB962C8B-B14F-4D97-AF65-F5344CB8AC3E}">
        <p14:creationId xmlns:p14="http://schemas.microsoft.com/office/powerpoint/2010/main" val="42351857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对分策略</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55576" y="2017713"/>
                <a:ext cx="8199512" cy="4114800"/>
              </a:xfrm>
            </p:spPr>
            <p:txBody>
              <a:bodyPr/>
              <a:lstStyle/>
              <a:p>
                <a:pPr marL="0" indent="0">
                  <a:buNone/>
                </a:pPr>
                <a:r>
                  <a:rPr lang="en-US" altLang="zh-CN" dirty="0"/>
                  <a:t>(1)	</a:t>
                </a:r>
                <a:r>
                  <a:rPr lang="zh-CN" altLang="en-US" dirty="0"/>
                  <a:t>设定一个最小误差限</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smtClean="0">
                            <a:latin typeface="Cambria Math" panose="02040503050406030204" pitchFamily="18" charset="0"/>
                          </a:rPr>
                          <m:t>𝜀</m:t>
                        </m:r>
                      </m:e>
                      <m:sub>
                        <m:r>
                          <a:rPr lang="en-US" altLang="zh-CN" b="0" i="1" dirty="0" smtClean="0">
                            <a:latin typeface="Cambria Math" panose="02040503050406030204" pitchFamily="18" charset="0"/>
                          </a:rPr>
                          <m:t>𝑚𝑖𝑛</m:t>
                        </m:r>
                      </m:sub>
                    </m:sSub>
                    <m:r>
                      <a:rPr lang="zh-CN" altLang="en-US" i="1" dirty="0" smtClean="0">
                        <a:latin typeface="Cambria Math" panose="02040503050406030204" pitchFamily="18" charset="0"/>
                      </a:rPr>
                      <m:t> </m:t>
                    </m:r>
                  </m:oMath>
                </a14:m>
                <a:r>
                  <a:rPr lang="zh-CN" altLang="en-US" dirty="0"/>
                  <a:t>，一个最大误差限</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𝑚</m:t>
                        </m:r>
                        <m:r>
                          <a:rPr lang="en-US" altLang="zh-CN" b="0" i="1" dirty="0" smtClean="0">
                            <a:latin typeface="Cambria Math" panose="02040503050406030204" pitchFamily="18" charset="0"/>
                          </a:rPr>
                          <m:t>𝑎𝑥</m:t>
                        </m:r>
                      </m:sub>
                    </m:sSub>
                  </m:oMath>
                </a14:m>
                <a:r>
                  <a:rPr lang="zh-CN" altLang="en-US" dirty="0"/>
                  <a:t>，每一步的局部误差取为</a:t>
                </a:r>
              </a:p>
              <a:p>
                <a:pPr marL="0" indent="0">
                  <a:buNone/>
                </a:pPr>
                <a:r>
                  <a:rPr lang="zh-CN" altLang="en-US"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r>
                          <a:rPr lang="en-US" altLang="zh-CN" i="1" dirty="0">
                            <a:latin typeface="Cambria Math" panose="02040503050406030204" pitchFamily="18" charset="0"/>
                          </a:rPr>
                          <m:t>𝑛</m:t>
                        </m:r>
                      </m:sub>
                    </m:sSub>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r>
                              <a:rPr lang="en-US" altLang="zh-CN" i="1" dirty="0">
                                <a:latin typeface="Cambria Math" panose="02040503050406030204" pitchFamily="18" charset="0"/>
                              </a:rPr>
                              <m:t>𝑛</m:t>
                            </m:r>
                          </m:sub>
                        </m:sSub>
                      </m:num>
                      <m:den>
                        <m:r>
                          <a:rPr lang="en-US" altLang="zh-CN" i="1" dirty="0">
                            <a:latin typeface="Cambria Math" panose="02040503050406030204" pitchFamily="18" charset="0"/>
                          </a:rPr>
                          <m:t>(</m:t>
                        </m:r>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i="1" dirty="0">
                                    <a:latin typeface="Cambria Math" panose="02040503050406030204" pitchFamily="18" charset="0"/>
                                  </a:rPr>
                                  <m:t>𝑛</m:t>
                                </m:r>
                              </m:sub>
                            </m:sSub>
                          </m:e>
                        </m:d>
                        <m:r>
                          <a:rPr lang="en-US" altLang="zh-CN" i="1" dirty="0">
                            <a:latin typeface="Cambria Math" panose="02040503050406030204" pitchFamily="18" charset="0"/>
                          </a:rPr>
                          <m:t>+1)</m:t>
                        </m:r>
                      </m:den>
                    </m:f>
                  </m:oMath>
                </a14:m>
                <a:r>
                  <a:rPr lang="zh-CN" altLang="en-US" dirty="0"/>
                  <a:t>                    </a:t>
                </a:r>
                <a:r>
                  <a:rPr lang="en-US" altLang="zh-CN" dirty="0"/>
                  <a:t>(3.5.35)</a:t>
                </a:r>
              </a:p>
              <a:p>
                <a:pPr marL="0" indent="0">
                  <a:buNone/>
                </a:pPr>
                <a:r>
                  <a:rPr lang="zh-CN" altLang="en-US" dirty="0"/>
                  <a:t>其中</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𝐸</m:t>
                        </m:r>
                      </m:e>
                      <m:sub>
                        <m:r>
                          <a:rPr lang="en-US" altLang="zh-CN" b="0" i="1" dirty="0" smtClean="0">
                            <a:latin typeface="Cambria Math" panose="02040503050406030204" pitchFamily="18" charset="0"/>
                          </a:rPr>
                          <m:t>𝑛</m:t>
                        </m:r>
                      </m:sub>
                    </m:sSub>
                  </m:oMath>
                </a14:m>
                <a:r>
                  <a:rPr lang="zh-CN" altLang="en-US" dirty="0"/>
                  <a:t>为变步长各式计算出的误差估计。由式</a:t>
                </a:r>
                <a:r>
                  <a:rPr lang="en-US" altLang="zh-CN" dirty="0"/>
                  <a:t>(3.5.35)</a:t>
                </a:r>
                <a:r>
                  <a:rPr lang="zh-CN" altLang="en-US" dirty="0"/>
                  <a:t>可知，当</a:t>
                </a:r>
                <a14:m>
                  <m:oMath xmlns:m="http://schemas.openxmlformats.org/officeDocument/2006/math">
                    <m:d>
                      <m:dPr>
                        <m:begChr m:val="|"/>
                        <m:endChr m:val="|"/>
                        <m:ctrlPr>
                          <a:rPr lang="en-US" altLang="zh-CN" i="1" dirty="0" smtClean="0">
                            <a:latin typeface="Cambria Math" panose="02040503050406030204" pitchFamily="18" charset="0"/>
                          </a:rPr>
                        </m:ctrlPr>
                      </m:dPr>
                      <m:e>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𝑦</m:t>
                            </m:r>
                          </m:e>
                          <m:sub>
                            <m:r>
                              <a:rPr lang="en-US" altLang="zh-CN" b="0" i="1" dirty="0" smtClean="0">
                                <a:latin typeface="Cambria Math" panose="02040503050406030204" pitchFamily="18" charset="0"/>
                              </a:rPr>
                              <m:t>𝑛</m:t>
                            </m:r>
                          </m:sub>
                        </m:sSub>
                      </m:e>
                    </m:d>
                    <m:r>
                      <a:rPr lang="zh-CN" altLang="en-US" i="1" dirty="0" smtClean="0">
                        <a:latin typeface="Cambria Math" panose="02040503050406030204" pitchFamily="18" charset="0"/>
                      </a:rPr>
                      <m:t> </m:t>
                    </m:r>
                  </m:oMath>
                </a14:m>
                <a:r>
                  <a:rPr lang="zh-CN" altLang="en-US" dirty="0"/>
                  <a:t>较大时，</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𝑒</m:t>
                        </m:r>
                      </m:e>
                      <m:sub>
                        <m:r>
                          <a:rPr lang="en-US" altLang="zh-CN" i="1" dirty="0">
                            <a:latin typeface="Cambria Math" panose="02040503050406030204" pitchFamily="18" charset="0"/>
                          </a:rPr>
                          <m:t>𝑛</m:t>
                        </m:r>
                      </m:sub>
                    </m:sSub>
                  </m:oMath>
                </a14:m>
                <a:r>
                  <a:rPr lang="zh-CN" altLang="en-US" dirty="0"/>
                  <a:t>是相对误差，而当</a:t>
                </a:r>
                <a14:m>
                  <m:oMath xmlns:m="http://schemas.openxmlformats.org/officeDocument/2006/math">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i="1" dirty="0">
                                <a:latin typeface="Cambria Math" panose="02040503050406030204" pitchFamily="18" charset="0"/>
                              </a:rPr>
                              <m:t>𝑛</m:t>
                            </m:r>
                          </m:sub>
                        </m:sSub>
                      </m:e>
                    </m:d>
                  </m:oMath>
                </a14:m>
                <a:r>
                  <a:rPr lang="zh-CN" altLang="en-US" dirty="0"/>
                  <a:t>很小时，</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r>
                          <a:rPr lang="en-US" altLang="zh-CN" i="1" dirty="0">
                            <a:latin typeface="Cambria Math" panose="02040503050406030204" pitchFamily="18" charset="0"/>
                          </a:rPr>
                          <m:t>𝑛</m:t>
                        </m:r>
                      </m:sub>
                    </m:sSub>
                  </m:oMath>
                </a14:m>
                <a:r>
                  <a:rPr lang="zh-CN" altLang="en-US" dirty="0"/>
                  <a:t>就成了绝对误差，这样可避免当</a:t>
                </a:r>
                <a14:m>
                  <m:oMath xmlns:m="http://schemas.openxmlformats.org/officeDocument/2006/math">
                    <m:r>
                      <a:rPr lang="en-US" altLang="zh-CN" i="1" dirty="0" smtClean="0">
                        <a:latin typeface="Cambria Math" panose="02040503050406030204" pitchFamily="18" charset="0"/>
                      </a:rPr>
                      <m:t>𝑦</m:t>
                    </m:r>
                  </m:oMath>
                </a14:m>
                <a:r>
                  <a:rPr lang="zh-CN" altLang="en-US" dirty="0"/>
                  <a:t>值很小时，</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r>
                          <a:rPr lang="en-US" altLang="zh-CN" i="1" dirty="0">
                            <a:latin typeface="Cambria Math" panose="02040503050406030204" pitchFamily="18" charset="0"/>
                          </a:rPr>
                          <m:t>𝑛</m:t>
                        </m:r>
                      </m:sub>
                    </m:sSub>
                  </m:oMath>
                </a14:m>
                <a:r>
                  <a:rPr lang="zh-CN" altLang="en-US" dirty="0"/>
                  <a:t>变得过大。</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55576" y="2017713"/>
                <a:ext cx="8199512" cy="4114800"/>
              </a:xfrm>
              <a:blipFill>
                <a:blip r:embed="rId2"/>
                <a:stretch>
                  <a:fillRect l="-1933" t="-2370" r="-1561" b="-222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78</a:t>
            </a:fld>
            <a:endParaRPr lang="en-US" altLang="zh-CN"/>
          </a:p>
        </p:txBody>
      </p:sp>
    </p:spTree>
    <p:extLst>
      <p:ext uri="{BB962C8B-B14F-4D97-AF65-F5344CB8AC3E}">
        <p14:creationId xmlns:p14="http://schemas.microsoft.com/office/powerpoint/2010/main" val="39677730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其控制策略是：</a:t>
                </a:r>
              </a:p>
              <a:p>
                <a:r>
                  <a:rPr lang="zh-CN" altLang="en-US" dirty="0"/>
                  <a:t>当</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r>
                          <a:rPr lang="en-US" altLang="zh-CN" i="1" dirty="0">
                            <a:latin typeface="Cambria Math" panose="02040503050406030204" pitchFamily="18" charset="0"/>
                          </a:rPr>
                          <m:t>𝑛</m:t>
                        </m:r>
                      </m:sub>
                    </m:sSub>
                  </m:oMath>
                </a14:m>
                <a:r>
                  <a:rPr lang="zh-CN" altLang="en-US" dirty="0"/>
                  <a:t>大于</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𝑚𝑎𝑥</m:t>
                        </m:r>
                      </m:sub>
                    </m:sSub>
                  </m:oMath>
                </a14:m>
                <a:r>
                  <a:rPr lang="zh-CN" altLang="en-US" dirty="0"/>
                  <a:t>时，将步长对分减半，并重新计算该步；当</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r>
                          <a:rPr lang="en-US" altLang="zh-CN" i="1" dirty="0">
                            <a:latin typeface="Cambria Math" panose="02040503050406030204" pitchFamily="18" charset="0"/>
                          </a:rPr>
                          <m:t>𝑛</m:t>
                        </m:r>
                      </m:sub>
                    </m:sSub>
                  </m:oMath>
                </a14:m>
                <a:r>
                  <a:rPr lang="zh-CN" altLang="en-US" dirty="0"/>
                  <a:t>在</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𝑚𝑖𝑛</m:t>
                        </m:r>
                      </m:sub>
                    </m:sSub>
                  </m:oMath>
                </a14:m>
                <a:r>
                  <a:rPr lang="zh-CN" altLang="en-US" dirty="0"/>
                  <a:t>与</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𝑚𝑎𝑥</m:t>
                        </m:r>
                      </m:sub>
                    </m:sSub>
                  </m:oMath>
                </a14:m>
                <a:r>
                  <a:rPr lang="zh-CN" altLang="en-US" dirty="0"/>
                  <a:t>之间时，步长不变，继续计算；当</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r>
                          <a:rPr lang="en-US" altLang="zh-CN" i="1" dirty="0">
                            <a:latin typeface="Cambria Math" panose="02040503050406030204" pitchFamily="18" charset="0"/>
                          </a:rPr>
                          <m:t>𝑛</m:t>
                        </m:r>
                      </m:sub>
                    </m:sSub>
                  </m:oMath>
                </a14:m>
                <a:r>
                  <a:rPr lang="zh-CN" altLang="en-US" dirty="0"/>
                  <a:t>小于</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i="1" dirty="0">
                            <a:latin typeface="Cambria Math" panose="02040503050406030204" pitchFamily="18" charset="0"/>
                          </a:rPr>
                          <m:t>𝑚𝑖𝑛</m:t>
                        </m:r>
                      </m:sub>
                    </m:sSub>
                  </m:oMath>
                </a14:m>
                <a:r>
                  <a:rPr lang="zh-CN" altLang="en-US" dirty="0"/>
                  <a:t>时，将步长加倍，继续计算。</a:t>
                </a:r>
              </a:p>
              <a:p>
                <a:r>
                  <a:rPr lang="zh-CN" altLang="en-US" dirty="0"/>
                  <a:t>这种对分策略，简便易行，每步附加计算量小，但不能达到每步最优。</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49" t="-222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79</a:t>
            </a:fld>
            <a:endParaRPr lang="en-US" altLang="zh-CN"/>
          </a:p>
        </p:txBody>
      </p:sp>
    </p:spTree>
    <p:extLst>
      <p:ext uri="{BB962C8B-B14F-4D97-AF65-F5344CB8AC3E}">
        <p14:creationId xmlns:p14="http://schemas.microsoft.com/office/powerpoint/2010/main" val="2584038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最优步长控制策略</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83568" y="2017713"/>
                <a:ext cx="8271520" cy="4114800"/>
              </a:xfrm>
            </p:spPr>
            <p:txBody>
              <a:bodyPr/>
              <a:lstStyle/>
              <a:p>
                <a:r>
                  <a:rPr lang="zh-CN" altLang="zh-CN" dirty="0"/>
                  <a:t>基本思想是在保证精度的前提下，每个积分步取最大步长</a:t>
                </a:r>
                <a:r>
                  <a:rPr lang="en-US" altLang="zh-CN" dirty="0"/>
                  <a:t>(</a:t>
                </a:r>
                <a:r>
                  <a:rPr lang="zh-CN" altLang="zh-CN" dirty="0"/>
                  <a:t>或称最优步长</a:t>
                </a:r>
                <a:r>
                  <a:rPr lang="en-US" altLang="zh-CN" dirty="0"/>
                  <a:t>)</a:t>
                </a:r>
                <a:r>
                  <a:rPr lang="zh-CN" altLang="zh-CN" dirty="0"/>
                  <a:t>，这样可以减少计算量。具体做法是根据本步误差估计，近似确定下一步可能的最大步长。</a:t>
                </a:r>
                <a:endParaRPr lang="en-US" altLang="zh-CN" dirty="0"/>
              </a:p>
              <a:p>
                <a:r>
                  <a:rPr lang="zh-CN" altLang="en-US" dirty="0"/>
                  <a:t>最优步长控制的基本策略如下：</a:t>
                </a:r>
              </a:p>
              <a:p>
                <a:r>
                  <a:rPr lang="zh-CN" altLang="en-US" dirty="0"/>
                  <a:t>给定相对误差限</a:t>
                </a:r>
                <a14:m>
                  <m:oMath xmlns:m="http://schemas.openxmlformats.org/officeDocument/2006/math">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𝜀</m:t>
                        </m:r>
                      </m:e>
                      <m:sub>
                        <m:r>
                          <a:rPr lang="en-US" altLang="zh-CN" b="0" i="1" dirty="0" smtClean="0">
                            <a:latin typeface="Cambria Math" panose="02040503050406030204" pitchFamily="18" charset="0"/>
                          </a:rPr>
                          <m:t>0</m:t>
                        </m:r>
                      </m:sub>
                    </m:sSub>
                  </m:oMath>
                </a14:m>
                <a:r>
                  <a:rPr lang="zh-CN" altLang="en-US" dirty="0"/>
                  <a:t>，设本步步长为</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h</m:t>
                        </m:r>
                      </m:e>
                      <m:sub>
                        <m:r>
                          <a:rPr lang="en-US" altLang="zh-CN" b="0" i="1" dirty="0" smtClean="0">
                            <a:latin typeface="Cambria Math" panose="02040503050406030204" pitchFamily="18" charset="0"/>
                          </a:rPr>
                          <m:t>𝑛</m:t>
                        </m:r>
                      </m:sub>
                    </m:sSub>
                  </m:oMath>
                </a14:m>
                <a:r>
                  <a:rPr lang="zh-CN" altLang="en-US" dirty="0"/>
                  <a:t>，本步的相对误差估计值为：</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83568" y="2017713"/>
                <a:ext cx="8271520" cy="4114800"/>
              </a:xfrm>
              <a:blipFill>
                <a:blip r:embed="rId2"/>
                <a:stretch>
                  <a:fillRect l="-516" t="-1926" r="-184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80</a:t>
            </a:fld>
            <a:endParaRPr lang="en-US" altLang="zh-CN"/>
          </a:p>
        </p:txBody>
      </p:sp>
    </p:spTree>
    <p:extLst>
      <p:ext uri="{BB962C8B-B14F-4D97-AF65-F5344CB8AC3E}">
        <p14:creationId xmlns:p14="http://schemas.microsoft.com/office/powerpoint/2010/main" val="10846400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82688" y="1853207"/>
                <a:ext cx="7772400" cy="4456113"/>
              </a:xfrm>
            </p:spPr>
            <p:txBody>
              <a:bodyPr/>
              <a:lstStyle/>
              <a:p>
                <a:r>
                  <a:rPr lang="zh-CN" altLang="en-US" dirty="0"/>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𝑒</m:t>
                        </m:r>
                      </m:e>
                      <m:sub>
                        <m:r>
                          <a:rPr lang="en-US" altLang="zh-CN" i="1" dirty="0">
                            <a:latin typeface="Cambria Math" panose="02040503050406030204" pitchFamily="18" charset="0"/>
                          </a:rPr>
                          <m:t>𝑛</m:t>
                        </m:r>
                      </m:sub>
                    </m:sSub>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r>
                              <a:rPr lang="en-US" altLang="zh-CN" i="1" dirty="0">
                                <a:latin typeface="Cambria Math" panose="02040503050406030204" pitchFamily="18" charset="0"/>
                              </a:rPr>
                              <m:t>𝑛</m:t>
                            </m:r>
                          </m:sub>
                        </m:sSub>
                      </m:num>
                      <m:den>
                        <m:r>
                          <a:rPr lang="en-US" altLang="zh-CN" i="1" dirty="0">
                            <a:latin typeface="Cambria Math" panose="02040503050406030204" pitchFamily="18" charset="0"/>
                          </a:rPr>
                          <m:t>(</m:t>
                        </m:r>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i="1" dirty="0">
                                    <a:latin typeface="Cambria Math" panose="02040503050406030204" pitchFamily="18" charset="0"/>
                                  </a:rPr>
                                  <m:t>𝑛</m:t>
                                </m:r>
                              </m:sub>
                            </m:sSub>
                          </m:e>
                        </m:d>
                        <m:r>
                          <a:rPr lang="en-US" altLang="zh-CN" i="1" dirty="0">
                            <a:latin typeface="Cambria Math" panose="02040503050406030204" pitchFamily="18" charset="0"/>
                          </a:rPr>
                          <m:t>+1)</m:t>
                        </m:r>
                      </m:den>
                    </m:f>
                  </m:oMath>
                </a14:m>
                <a:endParaRPr lang="zh-CN" altLang="en-US" dirty="0"/>
              </a:p>
              <a:p>
                <a:r>
                  <a:rPr lang="zh-CN" altLang="en-US" dirty="0"/>
                  <a:t>对于</a:t>
                </a:r>
                <a:r>
                  <a:rPr lang="en-US" altLang="zh-CN" dirty="0"/>
                  <a:t>k</a:t>
                </a:r>
                <a:r>
                  <a:rPr lang="zh-CN" altLang="en-US" dirty="0"/>
                  <a:t>阶积分算法，认为                           </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𝐸</m:t>
                        </m:r>
                      </m:e>
                      <m:sub>
                        <m:r>
                          <a:rPr lang="en-US" altLang="zh-CN" i="1" dirty="0">
                            <a:latin typeface="Cambria Math" panose="02040503050406030204" pitchFamily="18" charset="0"/>
                          </a:rPr>
                          <m:t>𝑛</m:t>
                        </m:r>
                      </m:sub>
                    </m:sSub>
                    <m:r>
                      <a:rPr lang="en-US" altLang="zh-CN" i="1" dirty="0">
                        <a:latin typeface="Cambria Math" panose="02040503050406030204" pitchFamily="18" charset="0"/>
                      </a:rPr>
                      <m:t>=</m:t>
                    </m:r>
                    <m:r>
                      <a:rPr lang="zh-CN" altLang="en-US" i="1" dirty="0" smtClean="0">
                        <a:latin typeface="Cambria Math" panose="02040503050406030204" pitchFamily="18" charset="0"/>
                      </a:rPr>
                      <m:t>𝜑</m:t>
                    </m:r>
                    <m:r>
                      <a:rPr lang="en-US" altLang="zh-CN" b="0" i="1" dirty="0" smtClean="0">
                        <a:latin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𝜂</m:t>
                    </m:r>
                    <m:r>
                      <a:rPr lang="en-US" altLang="zh-CN" b="0" i="1" dirty="0" smtClean="0">
                        <a:latin typeface="Cambria Math" panose="02040503050406030204" pitchFamily="18" charset="0"/>
                      </a:rPr>
                      <m:t>)</m:t>
                    </m:r>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h</m:t>
                        </m:r>
                      </m:e>
                      <m:sub>
                        <m:r>
                          <a:rPr lang="en-US" altLang="zh-CN" b="0" i="1" dirty="0" smtClean="0">
                            <a:latin typeface="Cambria Math" panose="02040503050406030204" pitchFamily="18" charset="0"/>
                          </a:rPr>
                          <m:t>𝑛</m:t>
                        </m:r>
                      </m:sub>
                      <m:sup>
                        <m:r>
                          <a:rPr lang="en-US" altLang="zh-CN" b="0" i="1" dirty="0" smtClean="0">
                            <a:latin typeface="Cambria Math" panose="02040503050406030204" pitchFamily="18" charset="0"/>
                          </a:rPr>
                          <m:t>𝑘</m:t>
                        </m:r>
                      </m:sup>
                    </m:sSubSup>
                    <m:r>
                      <a:rPr lang="en-US" altLang="zh-CN" i="1" dirty="0">
                        <a:latin typeface="Cambria Math" panose="02040503050406030204" pitchFamily="18" charset="0"/>
                      </a:rPr>
                      <m:t> </m:t>
                    </m:r>
                  </m:oMath>
                </a14:m>
                <a:r>
                  <a:rPr lang="en-US" altLang="zh-CN" dirty="0"/>
                  <a:t>                   (3.5.36)</a:t>
                </a:r>
              </a:p>
              <a:p>
                <a:r>
                  <a:rPr lang="zh-CN" altLang="en-US" dirty="0"/>
                  <a:t>其中</a:t>
                </a:r>
                <a14:m>
                  <m:oMath xmlns:m="http://schemas.openxmlformats.org/officeDocument/2006/math">
                    <m:r>
                      <a:rPr lang="zh-CN" altLang="en-US" i="1" dirty="0">
                        <a:latin typeface="Cambria Math" panose="02040503050406030204" pitchFamily="18" charset="0"/>
                      </a:rPr>
                      <m:t>𝜑</m:t>
                    </m:r>
                    <m:r>
                      <a:rPr lang="en-US" altLang="zh-CN" i="1" dirty="0">
                        <a:latin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𝜂</m:t>
                    </m:r>
                    <m:r>
                      <a:rPr lang="en-US" altLang="zh-CN" i="1" dirty="0">
                        <a:latin typeface="Cambria Math" panose="02040503050406030204" pitchFamily="18" charset="0"/>
                      </a:rPr>
                      <m:t>)</m:t>
                    </m:r>
                    <m:r>
                      <a:rPr lang="en-US" altLang="zh-CN" i="1" dirty="0" smtClean="0">
                        <a:latin typeface="Cambria Math" panose="02040503050406030204" pitchFamily="18" charset="0"/>
                      </a:rPr>
                      <m:t> </m:t>
                    </m:r>
                  </m:oMath>
                </a14:m>
                <a:r>
                  <a:rPr lang="zh-CN" altLang="en-US" dirty="0"/>
                  <a:t>是</a:t>
                </a:r>
                <a14:m>
                  <m:oMath xmlns:m="http://schemas.openxmlformats.org/officeDocument/2006/math">
                    <m:r>
                      <a:rPr lang="en-US" altLang="zh-CN" b="0" i="1" dirty="0" smtClean="0">
                        <a:latin typeface="Cambria Math" panose="02040503050406030204" pitchFamily="18" charset="0"/>
                      </a:rPr>
                      <m:t>𝑓</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𝑦</m:t>
                    </m:r>
                    <m:r>
                      <a:rPr lang="en-US" altLang="zh-CN" b="0" i="1" dirty="0" smtClean="0">
                        <a:latin typeface="Cambria Math" panose="02040503050406030204" pitchFamily="18" charset="0"/>
                      </a:rPr>
                      <m:t>)</m:t>
                    </m:r>
                  </m:oMath>
                </a14:m>
                <a:r>
                  <a:rPr lang="zh-CN" altLang="en-US" dirty="0"/>
                  <a:t> 在积分区</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e>
                      <m:sub>
                        <m:r>
                          <a:rPr lang="en-US" altLang="zh-CN" i="1" dirty="0">
                            <a:latin typeface="Cambria Math" panose="02040503050406030204" pitchFamily="18" charset="0"/>
                          </a:rPr>
                          <m:t>𝑛</m:t>
                        </m:r>
                      </m:sub>
                    </m:sSub>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𝑡</m:t>
                        </m:r>
                      </m:e>
                      <m:sub>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oMath>
                </a14:m>
                <a:r>
                  <a:rPr lang="zh-CN" altLang="en-US" dirty="0"/>
                  <a:t> 内一些偏导数的组合，通常可取</a:t>
                </a:r>
                <a14:m>
                  <m:oMath xmlns:m="http://schemas.openxmlformats.org/officeDocument/2006/math">
                    <m:r>
                      <a:rPr lang="en-US" altLang="zh-CN" i="1" dirty="0">
                        <a:latin typeface="Cambria Math" panose="02040503050406030204" pitchFamily="18" charset="0"/>
                        <a:ea typeface="Cambria Math" panose="02040503050406030204" pitchFamily="18" charset="0"/>
                      </a:rPr>
                      <m:t>𝜂</m:t>
                    </m:r>
                    <m:r>
                      <a:rPr lang="en-US" altLang="zh-CN" b="0" i="1" dirty="0" smtClean="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𝑡</m:t>
                        </m:r>
                      </m:e>
                      <m:sub>
                        <m:r>
                          <a:rPr lang="en-US" altLang="zh-CN" b="0" i="1" dirty="0" smtClean="0">
                            <a:latin typeface="Cambria Math" panose="02040503050406030204" pitchFamily="18" charset="0"/>
                            <a:ea typeface="Cambria Math" panose="02040503050406030204" pitchFamily="18" charset="0"/>
                          </a:rPr>
                          <m:t>𝑛</m:t>
                        </m:r>
                      </m:sub>
                    </m:sSub>
                    <m:r>
                      <a:rPr lang="en-US" altLang="zh-CN" i="1" dirty="0">
                        <a:latin typeface="Cambria Math" panose="02040503050406030204" pitchFamily="18" charset="0"/>
                      </a:rPr>
                      <m:t> </m:t>
                    </m:r>
                  </m:oMath>
                </a14:m>
                <a:r>
                  <a:rPr lang="zh-CN" altLang="en-US" dirty="0"/>
                  <a:t>，则有：</a:t>
                </a:r>
                <a:endParaRPr lang="en-US" altLang="zh-CN" dirty="0"/>
              </a:p>
              <a:p>
                <a:pPr marL="0" indent="0">
                  <a:buNone/>
                </a:pP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a:rPr>
                          <m:t>               </m:t>
                        </m:r>
                        <m:r>
                          <a:rPr lang="en-US" altLang="zh-CN" i="1" dirty="0">
                            <a:latin typeface="Cambria Math" panose="02040503050406030204" pitchFamily="18" charset="0"/>
                          </a:rPr>
                          <m:t>𝑒</m:t>
                        </m:r>
                      </m:e>
                      <m:sub>
                        <m:r>
                          <a:rPr lang="en-US" altLang="zh-CN" i="1" dirty="0">
                            <a:latin typeface="Cambria Math" panose="02040503050406030204" pitchFamily="18" charset="0"/>
                          </a:rPr>
                          <m:t>𝑛</m:t>
                        </m:r>
                      </m:sub>
                    </m:sSub>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zh-CN" altLang="en-US" i="1" dirty="0" smtClean="0">
                            <a:latin typeface="Cambria Math" panose="02040503050406030204" pitchFamily="18" charset="0"/>
                          </a:rPr>
                          <m:t>𝜑</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𝑡</m:t>
                            </m:r>
                          </m:e>
                          <m:sub>
                            <m:r>
                              <a:rPr lang="en-US" altLang="zh-CN" b="0" i="1" dirty="0" smtClean="0">
                                <a:latin typeface="Cambria Math" panose="02040503050406030204" pitchFamily="18" charset="0"/>
                              </a:rPr>
                              <m:t>𝑛</m:t>
                            </m:r>
                          </m:sub>
                        </m:sSub>
                        <m:r>
                          <a:rPr lang="en-US" altLang="zh-CN" b="0" i="1" dirty="0" smtClean="0">
                            <a:latin typeface="Cambria Math" panose="02040503050406030204" pitchFamily="18" charset="0"/>
                          </a:rPr>
                          <m:t>)</m:t>
                        </m:r>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h</m:t>
                            </m:r>
                          </m:e>
                          <m:sub>
                            <m:r>
                              <a:rPr lang="en-US" altLang="zh-CN" b="0" i="1" dirty="0" smtClean="0">
                                <a:latin typeface="Cambria Math" panose="02040503050406030204" pitchFamily="18" charset="0"/>
                              </a:rPr>
                              <m:t>𝑛</m:t>
                            </m:r>
                          </m:sub>
                          <m:sup>
                            <m:r>
                              <a:rPr lang="en-US" altLang="zh-CN" b="0" i="1" dirty="0" smtClean="0">
                                <a:latin typeface="Cambria Math" panose="02040503050406030204" pitchFamily="18" charset="0"/>
                              </a:rPr>
                              <m:t>𝑘</m:t>
                            </m:r>
                          </m:sup>
                        </m:sSubSup>
                      </m:num>
                      <m:den>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𝑦</m:t>
                                </m:r>
                              </m:e>
                              <m:sub>
                                <m:r>
                                  <a:rPr lang="en-US" altLang="zh-CN" i="1" dirty="0">
                                    <a:latin typeface="Cambria Math" panose="02040503050406030204" pitchFamily="18" charset="0"/>
                                  </a:rPr>
                                  <m:t>𝑛</m:t>
                                </m:r>
                              </m:sub>
                            </m:sSub>
                          </m:e>
                        </m:d>
                        <m:r>
                          <a:rPr lang="en-US" altLang="zh-CN" i="1" dirty="0">
                            <a:latin typeface="Cambria Math" panose="02040503050406030204" pitchFamily="18" charset="0"/>
                          </a:rPr>
                          <m:t>+1</m:t>
                        </m:r>
                      </m:den>
                    </m:f>
                  </m:oMath>
                </a14:m>
                <a:r>
                  <a:rPr lang="en-US" altLang="zh-CN" dirty="0"/>
                  <a:t>                  (3.5.37)</a:t>
                </a:r>
              </a:p>
              <a:p>
                <a:pPr marL="0" indent="0">
                  <a:buNone/>
                </a:pPr>
                <a:endParaRPr lang="en-US" altLang="zh-CN" dirty="0"/>
              </a:p>
              <a:p>
                <a:pPr marL="0" indent="0">
                  <a:buNone/>
                </a:pPr>
                <a:r>
                  <a:rPr lang="zh-CN" altLang="en-US" dirty="0"/>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82688" y="1853207"/>
                <a:ext cx="7772400" cy="4456113"/>
              </a:xfrm>
              <a:blipFill rotWithShape="1">
                <a:blip r:embed="rId2"/>
                <a:stretch>
                  <a:fillRect l="-549" r="-1176" b="-164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81</a:t>
            </a:fld>
            <a:endParaRPr lang="en-US" altLang="zh-CN"/>
          </a:p>
        </p:txBody>
      </p:sp>
    </p:spTree>
    <p:extLst>
      <p:ext uri="{BB962C8B-B14F-4D97-AF65-F5344CB8AC3E}">
        <p14:creationId xmlns:p14="http://schemas.microsoft.com/office/powerpoint/2010/main" val="7692587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0897F66-1EB4-4078-BFA5-A2CB50494EB5}" type="slidenum">
              <a:rPr kumimoji="0" lang="en-US" altLang="zh-CN" sz="1400"/>
              <a:pPr>
                <a:spcBef>
                  <a:spcPct val="0"/>
                </a:spcBef>
                <a:buClrTx/>
                <a:buSzTx/>
                <a:buFontTx/>
                <a:buNone/>
              </a:pPr>
              <a:t>82</a:t>
            </a:fld>
            <a:endParaRPr kumimoji="0" lang="en-US" altLang="zh-CN" sz="1400"/>
          </a:p>
        </p:txBody>
      </p:sp>
      <p:sp>
        <p:nvSpPr>
          <p:cNvPr id="15363" name="Rectangle 2"/>
          <p:cNvSpPr>
            <a:spLocks noGrp="1" noChangeArrowheads="1"/>
          </p:cNvSpPr>
          <p:nvPr>
            <p:ph type="title"/>
          </p:nvPr>
        </p:nvSpPr>
        <p:spPr/>
        <p:txBody>
          <a:bodyPr/>
          <a:lstStyle/>
          <a:p>
            <a:pPr eaLnBrk="1" hangingPunct="1"/>
            <a:r>
              <a:rPr lang="zh-CN" altLang="en-US" dirty="0"/>
              <a:t>最优步长控制策略</a:t>
            </a:r>
          </a:p>
        </p:txBody>
      </p:sp>
      <mc:AlternateContent xmlns:mc="http://schemas.openxmlformats.org/markup-compatibility/2006" xmlns:a14="http://schemas.microsoft.com/office/drawing/2010/main">
        <mc:Choice Requires="a14">
          <p:sp>
            <p:nvSpPr>
              <p:cNvPr id="15364" name="Rectangle 3"/>
              <p:cNvSpPr>
                <a:spLocks noGrp="1" noChangeArrowheads="1"/>
              </p:cNvSpPr>
              <p:nvPr>
                <p:ph type="body" idx="1"/>
              </p:nvPr>
            </p:nvSpPr>
            <p:spPr/>
            <p:txBody>
              <a:bodyPr/>
              <a:lstStyle/>
              <a:p>
                <a:pPr eaLnBrk="1" hangingPunct="1"/>
                <a:r>
                  <a:rPr lang="zh-CN" altLang="en-US" dirty="0">
                    <a:latin typeface="宋体" panose="02010600030101010101" pitchFamily="2" charset="-122"/>
                  </a:rPr>
                  <a:t>由此作出判断：</a:t>
                </a:r>
                <a:r>
                  <a:rPr lang="zh-CN" altLang="en-US" dirty="0"/>
                  <a:t> </a:t>
                </a:r>
              </a:p>
              <a:p>
                <a:pPr eaLnBrk="1" hangingPunct="1">
                  <a:buNone/>
                </a:pPr>
                <a:r>
                  <a:rPr lang="zh-CN" altLang="en-US" dirty="0">
                    <a:latin typeface="Times New Roman" panose="02020603050405020304" pitchFamily="18" charset="0"/>
                  </a:rPr>
                  <a:t>    </a:t>
                </a:r>
                <a:r>
                  <a:rPr lang="en-US" altLang="zh-CN" dirty="0">
                    <a:latin typeface="Times New Roman" panose="02020603050405020304" pitchFamily="18" charset="0"/>
                  </a:rPr>
                  <a:t>1</a:t>
                </a:r>
                <a:r>
                  <a:rPr lang="zh-CN" altLang="en-US" dirty="0">
                    <a:latin typeface="Times New Roman" panose="02020603050405020304" pitchFamily="18" charset="0"/>
                  </a:rPr>
                  <a:t>、若</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𝑒</m:t>
                        </m:r>
                      </m:e>
                      <m:sub>
                        <m:r>
                          <a:rPr lang="en-US" altLang="zh-CN" b="0" i="1" smtClean="0">
                            <a:latin typeface="Cambria Math" panose="02040503050406030204" pitchFamily="18" charset="0"/>
                          </a:rPr>
                          <m:t>𝑛</m:t>
                        </m:r>
                      </m:sub>
                    </m:sSub>
                    <m:r>
                      <a:rPr lang="en-US" altLang="zh-CN" i="1" smtClean="0">
                        <a:latin typeface="Cambria Math" panose="02040503050406030204" pitchFamily="18" charset="0"/>
                        <a:ea typeface="Cambria Math" panose="02040503050406030204" pitchFamily="18" charset="0"/>
                      </a:rPr>
                      <m:t>≤</m:t>
                    </m:r>
                    <m:sSub>
                      <m:sSubPr>
                        <m:ctrlPr>
                          <a:rPr lang="en-US" altLang="zh-CN" i="1" smtClean="0">
                            <a:latin typeface="Cambria Math" panose="02040503050406030204" pitchFamily="18" charset="0"/>
                            <a:ea typeface="Cambria Math" panose="02040503050406030204" pitchFamily="18" charset="0"/>
                          </a:rPr>
                        </m:ctrlPr>
                      </m:sSubPr>
                      <m:e>
                        <m:r>
                          <a:rPr lang="zh-CN" altLang="en-US" i="1" smtClean="0">
                            <a:latin typeface="Cambria Math" panose="02040503050406030204" pitchFamily="18" charset="0"/>
                            <a:ea typeface="Cambria Math" panose="02040503050406030204" pitchFamily="18" charset="0"/>
                          </a:rPr>
                          <m:t>𝜀</m:t>
                        </m:r>
                      </m:e>
                      <m:sub>
                        <m:r>
                          <a:rPr lang="en-US" altLang="zh-CN" b="0" i="1" smtClean="0">
                            <a:latin typeface="Cambria Math" panose="02040503050406030204" pitchFamily="18" charset="0"/>
                            <a:ea typeface="Cambria Math" panose="02040503050406030204" pitchFamily="18" charset="0"/>
                          </a:rPr>
                          <m:t>0</m:t>
                        </m:r>
                      </m:sub>
                    </m:sSub>
                  </m:oMath>
                </a14:m>
                <a:r>
                  <a:rPr lang="zh-CN" altLang="en-US" dirty="0">
                    <a:latin typeface="Times New Roman" panose="02020603050405020304" pitchFamily="18" charset="0"/>
                  </a:rPr>
                  <a:t>，则本步积分成功，现确定下一步的最大步长</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h</m:t>
                        </m:r>
                      </m:e>
                      <m:sub>
                        <m:r>
                          <a:rPr lang="en-US" altLang="zh-CN" i="1">
                            <a:latin typeface="Cambria Math" panose="02040503050406030204" pitchFamily="18" charset="0"/>
                          </a:rPr>
                          <m:t>𝑛</m:t>
                        </m:r>
                        <m:r>
                          <a:rPr lang="en-US" altLang="zh-CN" b="0" i="1" smtClean="0">
                            <a:latin typeface="Cambria Math" panose="02040503050406030204" pitchFamily="18" charset="0"/>
                          </a:rPr>
                          <m:t>+1</m:t>
                        </m:r>
                      </m:sub>
                    </m:sSub>
                  </m:oMath>
                </a14:m>
                <a:r>
                  <a:rPr lang="zh-CN" altLang="en-US" dirty="0">
                    <a:latin typeface="Times New Roman" panose="02020603050405020304" pitchFamily="18" charset="0"/>
                  </a:rPr>
                  <a:t>。</a:t>
                </a:r>
                <a:endParaRPr lang="zh-CN" altLang="en-US" dirty="0">
                  <a:solidFill>
                    <a:srgbClr val="000000"/>
                  </a:solidFill>
                </a:endParaRPr>
              </a:p>
              <a:p>
                <a:pPr algn="just" eaLnBrk="1" hangingPunct="1">
                  <a:buNone/>
                </a:pPr>
                <a:r>
                  <a:rPr lang="zh-CN" altLang="en-US" dirty="0">
                    <a:latin typeface="Times New Roman" panose="02020603050405020304" pitchFamily="18" charset="0"/>
                  </a:rPr>
                  <a:t>   假定</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𝑛</m:t>
                        </m:r>
                        <m:r>
                          <a:rPr lang="en-US" altLang="zh-CN" i="1">
                            <a:latin typeface="Cambria Math" panose="02040503050406030204" pitchFamily="18" charset="0"/>
                          </a:rPr>
                          <m:t>+1</m:t>
                        </m:r>
                      </m:sub>
                    </m:sSub>
                  </m:oMath>
                </a14:m>
                <a:r>
                  <a:rPr lang="zh-CN" altLang="en-US" dirty="0">
                    <a:latin typeface="Times New Roman" panose="02020603050405020304" pitchFamily="18" charset="0"/>
                  </a:rPr>
                  <a:t>足够小，则</a:t>
                </a:r>
                <a:endParaRPr lang="en-US" altLang="zh-CN" dirty="0">
                  <a:latin typeface="Times New Roman" panose="02020603050405020304" pitchFamily="18" charset="0"/>
                </a:endParaRPr>
              </a:p>
              <a:p>
                <a:pPr algn="just" eaLnBrk="1" hangingPunct="1">
                  <a:buNone/>
                </a:pPr>
                <a:r>
                  <a:rPr lang="en-US" altLang="zh-CN" dirty="0">
                    <a:latin typeface="Times New Roman" panose="02020603050405020304" pitchFamily="18" charset="0"/>
                  </a:rPr>
                  <a:t>    </a:t>
                </a:r>
                <a14:m>
                  <m:oMath xmlns:m="http://schemas.openxmlformats.org/officeDocument/2006/math">
                    <m:sSub>
                      <m:sSubPr>
                        <m:ctrlPr>
                          <a:rPr lang="en-US" altLang="zh-CN" i="1">
                            <a:latin typeface="Cambria Math" panose="02040503050406030204" pitchFamily="18" charset="0"/>
                          </a:rPr>
                        </m:ctrlPr>
                      </m:sSubPr>
                      <m:e>
                        <m:r>
                          <a:rPr lang="zh-CN" altLang="en-US" i="1" smtClean="0">
                            <a:latin typeface="Cambria Math"/>
                            <a:ea typeface="Cambria Math" panose="02040503050406030204" pitchFamily="18" charset="0"/>
                          </a:rPr>
                          <m:t>𝜑</m:t>
                        </m:r>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i="1">
                                    <a:latin typeface="Cambria Math" panose="02040503050406030204" pitchFamily="18" charset="0"/>
                                  </a:rPr>
                                  <m:t>𝑛</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h</m:t>
                            </m:r>
                          </m:e>
                          <m:sub>
                            <m:r>
                              <a:rPr lang="en-US" altLang="zh-CN" i="1">
                                <a:latin typeface="Cambria Math" panose="02040503050406030204" pitchFamily="18" charset="0"/>
                              </a:rPr>
                              <m:t>𝑛</m:t>
                            </m:r>
                            <m:r>
                              <a:rPr lang="en-US" altLang="zh-CN" i="1">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a:ea typeface="Cambria Math" panose="02040503050406030204" pitchFamily="18" charset="0"/>
                          </a:rPr>
                          <m:t>𝜑</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𝑡</m:t>
                        </m:r>
                      </m:e>
                      <m:sub>
                        <m:r>
                          <a:rPr lang="en-US" altLang="zh-CN" i="1">
                            <a:latin typeface="Cambria Math" panose="02040503050406030204" pitchFamily="18" charset="0"/>
                          </a:rPr>
                          <m:t>𝑛</m:t>
                        </m:r>
                      </m:sub>
                    </m:sSub>
                    <m:r>
                      <a:rPr lang="en-US" altLang="zh-CN" b="0" i="1" smtClean="0">
                        <a:latin typeface="Cambria Math" panose="02040503050406030204" pitchFamily="18" charset="0"/>
                      </a:rPr>
                      <m:t>)</m:t>
                    </m:r>
                  </m:oMath>
                </a14:m>
                <a:r>
                  <a:rPr lang="zh-CN" altLang="en-US" dirty="0">
                    <a:latin typeface="Times New Roman" panose="02020603050405020304" pitchFamily="18" charset="0"/>
                  </a:rPr>
                  <a:t> ，下一步误差为：</a:t>
                </a:r>
                <a:endParaRPr lang="zh-CN" altLang="en-US" dirty="0">
                  <a:solidFill>
                    <a:srgbClr val="000000"/>
                  </a:solidFill>
                </a:endParaRPr>
              </a:p>
              <a:p>
                <a:pPr eaLnBrk="1" hangingPunct="1">
                  <a:buFont typeface="Wingdings" panose="05000000000000000000" pitchFamily="2" charset="2"/>
                  <a:buNone/>
                </a:pPr>
                <a:endParaRPr lang="en-US" altLang="zh-CN" dirty="0"/>
              </a:p>
            </p:txBody>
          </p:sp>
        </mc:Choice>
        <mc:Fallback xmlns="">
          <p:sp>
            <p:nvSpPr>
              <p:cNvPr id="15364" name="Rectangle 3"/>
              <p:cNvSpPr>
                <a:spLocks noGrp="1" noRot="1" noChangeAspect="1" noMove="1" noResize="1" noEditPoints="1" noAdjustHandles="1" noChangeArrowheads="1" noChangeShapeType="1" noTextEdit="1"/>
              </p:cNvSpPr>
              <p:nvPr>
                <p:ph type="body" idx="1"/>
              </p:nvPr>
            </p:nvSpPr>
            <p:spPr>
              <a:blipFill rotWithShape="1">
                <a:blip r:embed="rId3"/>
                <a:stretch>
                  <a:fillRect l="-549" t="-2222" r="-1961"/>
                </a:stretch>
              </a:blipFill>
            </p:spPr>
            <p:txBody>
              <a:bodyPr/>
              <a:lstStyle/>
              <a:p>
                <a:r>
                  <a:rPr lang="zh-CN" altLang="en-US">
                    <a:noFill/>
                  </a:rPr>
                  <a:t> </a:t>
                </a:r>
              </a:p>
            </p:txBody>
          </p:sp>
        </mc:Fallback>
      </mc:AlternateContent>
      <p:sp>
        <p:nvSpPr>
          <p:cNvPr id="15365" name="Rectangle 5"/>
          <p:cNvSpPr>
            <a:spLocks noChangeArrowheads="1"/>
          </p:cNvSpPr>
          <p:nvPr/>
        </p:nvSpPr>
        <p:spPr bwMode="auto">
          <a:xfrm>
            <a:off x="4348163"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5367" name="Rectangle 7"/>
          <p:cNvSpPr>
            <a:spLocks noChangeArrowheads="1"/>
          </p:cNvSpPr>
          <p:nvPr/>
        </p:nvSpPr>
        <p:spPr bwMode="auto">
          <a:xfrm>
            <a:off x="4443413"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5369" name="Rectangle 9"/>
          <p:cNvSpPr>
            <a:spLocks noChangeArrowheads="1"/>
          </p:cNvSpPr>
          <p:nvPr/>
        </p:nvSpPr>
        <p:spPr bwMode="auto">
          <a:xfrm>
            <a:off x="4443413"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5371" name="Rectangle 11"/>
          <p:cNvSpPr>
            <a:spLocks noChangeArrowheads="1"/>
          </p:cNvSpPr>
          <p:nvPr/>
        </p:nvSpPr>
        <p:spPr bwMode="auto">
          <a:xfrm>
            <a:off x="3995738"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5373" name="Rectangle 13"/>
          <p:cNvSpPr>
            <a:spLocks noChangeArrowheads="1"/>
          </p:cNvSpPr>
          <p:nvPr/>
        </p:nvSpPr>
        <p:spPr bwMode="auto">
          <a:xfrm>
            <a:off x="3662363"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15374" name="Object 12"/>
          <p:cNvGraphicFramePr>
            <a:graphicFrameLocks noChangeAspect="1"/>
          </p:cNvGraphicFramePr>
          <p:nvPr>
            <p:extLst>
              <p:ext uri="{D42A27DB-BD31-4B8C-83A1-F6EECF244321}">
                <p14:modId xmlns:p14="http://schemas.microsoft.com/office/powerpoint/2010/main" val="2217161188"/>
              </p:ext>
            </p:extLst>
          </p:nvPr>
        </p:nvGraphicFramePr>
        <p:xfrm>
          <a:off x="1557338" y="4868863"/>
          <a:ext cx="4953000" cy="1212850"/>
        </p:xfrm>
        <a:graphic>
          <a:graphicData uri="http://schemas.openxmlformats.org/presentationml/2006/ole">
            <mc:AlternateContent xmlns:mc="http://schemas.openxmlformats.org/markup-compatibility/2006">
              <mc:Choice xmlns:v="urn:schemas-microsoft-com:vml" Requires="v">
                <p:oleObj spid="_x0000_s47209" name="Equation" r:id="rId4" imgW="1904760" imgH="469800" progId="Equation.DSMT4">
                  <p:embed/>
                </p:oleObj>
              </mc:Choice>
              <mc:Fallback>
                <p:oleObj name="Equation" r:id="rId4" imgW="1904760" imgH="469800" progId="Equation.DSMT4">
                  <p:embed/>
                  <p:pic>
                    <p:nvPicPr>
                      <p:cNvPr id="15374" name="Object 12"/>
                      <p:cNvPicPr>
                        <a:picLocks noChangeAspect="1" noChangeArrowheads="1"/>
                      </p:cNvPicPr>
                      <p:nvPr/>
                    </p:nvPicPr>
                    <p:blipFill>
                      <a:blip r:embed="rId5"/>
                      <a:srcRect/>
                      <a:stretch>
                        <a:fillRect/>
                      </a:stretch>
                    </p:blipFill>
                    <p:spPr bwMode="auto">
                      <a:xfrm>
                        <a:off x="1557338" y="4868863"/>
                        <a:ext cx="4953000"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759401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790EAB2-5F61-4556-A6D9-059E2BB86263}" type="slidenum">
              <a:rPr kumimoji="0" lang="en-US" altLang="zh-CN" sz="1400"/>
              <a:pPr>
                <a:spcBef>
                  <a:spcPct val="0"/>
                </a:spcBef>
                <a:buClrTx/>
                <a:buSzTx/>
                <a:buFontTx/>
                <a:buNone/>
              </a:pPr>
              <a:t>83</a:t>
            </a:fld>
            <a:endParaRPr kumimoji="0" lang="en-US" altLang="zh-CN" sz="1400"/>
          </a:p>
        </p:txBody>
      </p:sp>
      <p:sp>
        <p:nvSpPr>
          <p:cNvPr id="16387"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6388" name="Rectangle 3"/>
              <p:cNvSpPr>
                <a:spLocks noGrp="1" noChangeArrowheads="1"/>
              </p:cNvSpPr>
              <p:nvPr>
                <p:ph type="body" idx="1"/>
              </p:nvPr>
            </p:nvSpPr>
            <p:spPr/>
            <p:txBody>
              <a:bodyPr/>
              <a:lstStyle/>
              <a:p>
                <a:pPr algn="just" eaLnBrk="1" hangingPunct="1"/>
                <a:r>
                  <a:rPr lang="zh-CN" altLang="en-US" dirty="0">
                    <a:latin typeface="Times New Roman" panose="02020603050405020304" pitchFamily="18" charset="0"/>
                  </a:rPr>
                  <a:t>为使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zh-CN" altLang="en-US"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ea typeface="Cambria Math" panose="02040503050406030204" pitchFamily="18" charset="0"/>
                          </a:rPr>
                          <m:t>0</m:t>
                        </m:r>
                      </m:sub>
                    </m:sSub>
                  </m:oMath>
                </a14:m>
                <a:r>
                  <a:rPr lang="zh-CN" altLang="en-US" dirty="0">
                    <a:latin typeface="Times New Roman" panose="02020603050405020304" pitchFamily="18" charset="0"/>
                  </a:rPr>
                  <a:t>，即：</a:t>
                </a:r>
              </a:p>
              <a:p>
                <a:pPr algn="just" eaLnBrk="1" hangingPunct="1"/>
                <a:endParaRPr lang="zh-CN" altLang="en-US" dirty="0">
                  <a:latin typeface="Times New Roman" panose="02020603050405020304" pitchFamily="18" charset="0"/>
                </a:endParaRPr>
              </a:p>
              <a:p>
                <a:pPr algn="just" eaLnBrk="1" hangingPunct="1"/>
                <a:endParaRPr lang="zh-CN" altLang="en-US" dirty="0">
                  <a:latin typeface="Times New Roman" panose="02020603050405020304" pitchFamily="18" charset="0"/>
                </a:endParaRPr>
              </a:p>
              <a:p>
                <a:pPr algn="just" eaLnBrk="1" hangingPunct="1"/>
                <a:endParaRPr lang="zh-CN" altLang="en-US" dirty="0">
                  <a:latin typeface="宋体" panose="02010600030101010101" pitchFamily="2" charset="-122"/>
                </a:endParaRPr>
              </a:p>
              <a:p>
                <a:pPr algn="just" eaLnBrk="1" hangingPunct="1"/>
                <a:r>
                  <a:rPr lang="zh-CN" altLang="en-US" dirty="0">
                    <a:latin typeface="宋体" panose="02010600030101010101" pitchFamily="2" charset="-122"/>
                  </a:rPr>
                  <a:t>则有</a:t>
                </a:r>
                <a:r>
                  <a:rPr lang="zh-CN" altLang="en-US" dirty="0">
                    <a:latin typeface="Times New Roman" panose="02020603050405020304" pitchFamily="18" charset="0"/>
                  </a:rPr>
                  <a:t> </a:t>
                </a:r>
                <a:endParaRPr lang="zh-CN" altLang="en-US" dirty="0">
                  <a:solidFill>
                    <a:srgbClr val="000000"/>
                  </a:solidFill>
                </a:endParaRPr>
              </a:p>
              <a:p>
                <a:pPr eaLnBrk="1" hangingPunct="1"/>
                <a:endParaRPr lang="en-US" altLang="zh-CN" dirty="0"/>
              </a:p>
            </p:txBody>
          </p:sp>
        </mc:Choice>
        <mc:Fallback xmlns="">
          <p:sp>
            <p:nvSpPr>
              <p:cNvPr id="16388" name="Rectangle 3"/>
              <p:cNvSpPr>
                <a:spLocks noGrp="1" noRot="1" noChangeAspect="1" noMove="1" noResize="1" noEditPoints="1" noAdjustHandles="1" noChangeArrowheads="1" noChangeShapeType="1" noTextEdit="1"/>
              </p:cNvSpPr>
              <p:nvPr>
                <p:ph type="body" idx="1"/>
              </p:nvPr>
            </p:nvSpPr>
            <p:spPr>
              <a:blipFill>
                <a:blip r:embed="rId3"/>
                <a:stretch>
                  <a:fillRect l="-549" t="-2519"/>
                </a:stretch>
              </a:blipFill>
            </p:spPr>
            <p:txBody>
              <a:bodyPr/>
              <a:lstStyle/>
              <a:p>
                <a:r>
                  <a:rPr lang="zh-CN" altLang="en-US">
                    <a:noFill/>
                  </a:rPr>
                  <a:t> </a:t>
                </a:r>
              </a:p>
            </p:txBody>
          </p:sp>
        </mc:Fallback>
      </mc:AlternateContent>
      <p:sp>
        <p:nvSpPr>
          <p:cNvPr id="16389" name="Rectangle 5"/>
          <p:cNvSpPr>
            <a:spLocks noChangeArrowheads="1"/>
          </p:cNvSpPr>
          <p:nvPr/>
        </p:nvSpPr>
        <p:spPr bwMode="auto">
          <a:xfrm>
            <a:off x="4300538"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6391" name="Rectangle 7"/>
          <p:cNvSpPr>
            <a:spLocks noChangeArrowheads="1"/>
          </p:cNvSpPr>
          <p:nvPr/>
        </p:nvSpPr>
        <p:spPr bwMode="auto">
          <a:xfrm>
            <a:off x="409575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16392" name="Object 6"/>
          <p:cNvGraphicFramePr>
            <a:graphicFrameLocks noChangeAspect="1"/>
          </p:cNvGraphicFramePr>
          <p:nvPr>
            <p:extLst>
              <p:ext uri="{D42A27DB-BD31-4B8C-83A1-F6EECF244321}">
                <p14:modId xmlns:p14="http://schemas.microsoft.com/office/powerpoint/2010/main" val="3102371946"/>
              </p:ext>
            </p:extLst>
          </p:nvPr>
        </p:nvGraphicFramePr>
        <p:xfrm>
          <a:off x="1763688" y="2673072"/>
          <a:ext cx="2671763" cy="1283255"/>
        </p:xfrm>
        <a:graphic>
          <a:graphicData uri="http://schemas.openxmlformats.org/presentationml/2006/ole">
            <mc:AlternateContent xmlns:mc="http://schemas.openxmlformats.org/markup-compatibility/2006">
              <mc:Choice xmlns:v="urn:schemas-microsoft-com:vml" Requires="v">
                <p:oleObj spid="_x0000_s48284" name="Equation" r:id="rId4" imgW="1155600" imgH="558720" progId="Equation.DSMT4">
                  <p:embed/>
                </p:oleObj>
              </mc:Choice>
              <mc:Fallback>
                <p:oleObj name="Equation" r:id="rId4" imgW="1155600" imgH="558720" progId="Equation.DSMT4">
                  <p:embed/>
                  <p:pic>
                    <p:nvPicPr>
                      <p:cNvPr id="16392" name="Object 6"/>
                      <p:cNvPicPr>
                        <a:picLocks noChangeAspect="1" noChangeArrowheads="1"/>
                      </p:cNvPicPr>
                      <p:nvPr/>
                    </p:nvPicPr>
                    <p:blipFill>
                      <a:blip r:embed="rId5"/>
                      <a:srcRect/>
                      <a:stretch>
                        <a:fillRect/>
                      </a:stretch>
                    </p:blipFill>
                    <p:spPr bwMode="auto">
                      <a:xfrm>
                        <a:off x="1763688" y="2673072"/>
                        <a:ext cx="2671763" cy="1283255"/>
                      </a:xfrm>
                      <a:prstGeom prst="rect">
                        <a:avLst/>
                      </a:prstGeom>
                      <a:noFill/>
                      <a:ln>
                        <a:noFill/>
                      </a:ln>
                    </p:spPr>
                  </p:pic>
                </p:oleObj>
              </mc:Fallback>
            </mc:AlternateContent>
          </a:graphicData>
        </a:graphic>
      </p:graphicFrame>
      <p:sp>
        <p:nvSpPr>
          <p:cNvPr id="16393" name="Rectangle 9"/>
          <p:cNvSpPr>
            <a:spLocks noChangeArrowheads="1"/>
          </p:cNvSpPr>
          <p:nvPr/>
        </p:nvSpPr>
        <p:spPr bwMode="auto">
          <a:xfrm>
            <a:off x="3900488" y="3167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16394" name="Object 8"/>
          <p:cNvGraphicFramePr>
            <a:graphicFrameLocks noChangeAspect="1"/>
          </p:cNvGraphicFramePr>
          <p:nvPr>
            <p:extLst>
              <p:ext uri="{D42A27DB-BD31-4B8C-83A1-F6EECF244321}">
                <p14:modId xmlns:p14="http://schemas.microsoft.com/office/powerpoint/2010/main" val="3760342552"/>
              </p:ext>
            </p:extLst>
          </p:nvPr>
        </p:nvGraphicFramePr>
        <p:xfrm>
          <a:off x="2862833" y="4135662"/>
          <a:ext cx="4085431" cy="1597594"/>
        </p:xfrm>
        <a:graphic>
          <a:graphicData uri="http://schemas.openxmlformats.org/presentationml/2006/ole">
            <mc:AlternateContent xmlns:mc="http://schemas.openxmlformats.org/markup-compatibility/2006">
              <mc:Choice xmlns:v="urn:schemas-microsoft-com:vml" Requires="v">
                <p:oleObj spid="_x0000_s48285" name="Equation" r:id="rId6" imgW="1638000" imgH="634680" progId="Equation.DSMT4">
                  <p:embed/>
                </p:oleObj>
              </mc:Choice>
              <mc:Fallback>
                <p:oleObj name="Equation" r:id="rId6" imgW="1638000" imgH="634680" progId="Equation.DSMT4">
                  <p:embed/>
                  <p:pic>
                    <p:nvPicPr>
                      <p:cNvPr id="16394" name="Object 8"/>
                      <p:cNvPicPr>
                        <a:picLocks noChangeAspect="1" noChangeArrowheads="1"/>
                      </p:cNvPicPr>
                      <p:nvPr/>
                    </p:nvPicPr>
                    <p:blipFill>
                      <a:blip r:embed="rId7"/>
                      <a:srcRect/>
                      <a:stretch>
                        <a:fillRect/>
                      </a:stretch>
                    </p:blipFill>
                    <p:spPr bwMode="auto">
                      <a:xfrm>
                        <a:off x="2862833" y="4135662"/>
                        <a:ext cx="4085431" cy="159759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517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B60BE19-B07E-4865-843E-C30891A3AFE5}" type="slidenum">
              <a:rPr kumimoji="0" lang="en-US" altLang="zh-CN" sz="1400"/>
              <a:pPr>
                <a:spcBef>
                  <a:spcPct val="0"/>
                </a:spcBef>
                <a:buClrTx/>
                <a:buSzTx/>
                <a:buFontTx/>
                <a:buNone/>
              </a:pPr>
              <a:t>84</a:t>
            </a:fld>
            <a:endParaRPr kumimoji="0" lang="en-US" altLang="zh-CN" sz="1400"/>
          </a:p>
        </p:txBody>
      </p:sp>
      <p:sp>
        <p:nvSpPr>
          <p:cNvPr id="17411" name="Rectangle 2"/>
          <p:cNvSpPr>
            <a:spLocks noGrp="1" noChangeArrowheads="1"/>
          </p:cNvSpPr>
          <p:nvPr>
            <p:ph type="title"/>
          </p:nvPr>
        </p:nvSpPr>
        <p:spPr/>
        <p:txBody>
          <a:bodyPr/>
          <a:lstStyle/>
          <a:p>
            <a:pPr eaLnBrk="1" hangingPunct="1"/>
            <a:endParaRPr lang="zh-CN" altLang="zh-CN"/>
          </a:p>
        </p:txBody>
      </p:sp>
      <p:sp>
        <p:nvSpPr>
          <p:cNvPr id="17412" name="Rectangle 3"/>
          <p:cNvSpPr>
            <a:spLocks noGrp="1" noChangeArrowheads="1"/>
          </p:cNvSpPr>
          <p:nvPr>
            <p:ph type="body" idx="1"/>
          </p:nvPr>
        </p:nvSpPr>
        <p:spPr/>
        <p:txBody>
          <a:bodyPr/>
          <a:lstStyle/>
          <a:p>
            <a:pPr algn="just" eaLnBrk="1" hangingPunct="1"/>
            <a:r>
              <a:rPr lang="zh-CN" altLang="en-US">
                <a:latin typeface="Times New Roman" panose="02020603050405020304" pitchFamily="18" charset="0"/>
              </a:rPr>
              <a:t>将式</a:t>
            </a:r>
            <a:r>
              <a:rPr lang="en-US" altLang="zh-CN"/>
              <a:t>(3.5.37)</a:t>
            </a:r>
            <a:r>
              <a:rPr lang="zh-CN" altLang="en-US">
                <a:latin typeface="Times New Roman" panose="02020603050405020304" pitchFamily="18" charset="0"/>
              </a:rPr>
              <a:t>代入上式得</a:t>
            </a:r>
            <a:r>
              <a:rPr lang="en-US" altLang="zh-CN"/>
              <a:t>:</a:t>
            </a:r>
            <a:endParaRPr lang="en-US" altLang="zh-CN">
              <a:solidFill>
                <a:srgbClr val="000000"/>
              </a:solidFill>
            </a:endParaRPr>
          </a:p>
          <a:p>
            <a:pPr eaLnBrk="1" hangingPunct="1"/>
            <a:endParaRPr lang="en-US" altLang="zh-CN"/>
          </a:p>
        </p:txBody>
      </p:sp>
      <p:sp>
        <p:nvSpPr>
          <p:cNvPr id="17413" name="Rectangle 6"/>
          <p:cNvSpPr>
            <a:spLocks noChangeArrowheads="1"/>
          </p:cNvSpPr>
          <p:nvPr/>
        </p:nvSpPr>
        <p:spPr bwMode="auto">
          <a:xfrm>
            <a:off x="3600450" y="3176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17414" name="Object 5"/>
          <p:cNvGraphicFramePr>
            <a:graphicFrameLocks noChangeAspect="1"/>
          </p:cNvGraphicFramePr>
          <p:nvPr/>
        </p:nvGraphicFramePr>
        <p:xfrm>
          <a:off x="1600200" y="2743200"/>
          <a:ext cx="5181600" cy="1344613"/>
        </p:xfrm>
        <a:graphic>
          <a:graphicData uri="http://schemas.openxmlformats.org/presentationml/2006/ole">
            <mc:AlternateContent xmlns:mc="http://schemas.openxmlformats.org/markup-compatibility/2006">
              <mc:Choice xmlns:v="urn:schemas-microsoft-com:vml" Requires="v">
                <p:oleObj spid="_x0000_s49226" r:id="rId3" imgW="1943100" imgH="508000" progId="Equation.DSMT4">
                  <p:embed/>
                </p:oleObj>
              </mc:Choice>
              <mc:Fallback>
                <p:oleObj r:id="rId3" imgW="1943100" imgH="508000" progId="Equation.DSMT4">
                  <p:embed/>
                  <p:pic>
                    <p:nvPicPr>
                      <p:cNvPr id="1741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743200"/>
                        <a:ext cx="5181600" cy="134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5" name="Text Box 7"/>
          <p:cNvSpPr txBox="1">
            <a:spLocks noChangeArrowheads="1"/>
          </p:cNvSpPr>
          <p:nvPr/>
        </p:nvSpPr>
        <p:spPr bwMode="auto">
          <a:xfrm>
            <a:off x="7162800" y="2971800"/>
            <a:ext cx="2209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a:t>(3-5-38)</a:t>
            </a:r>
          </a:p>
        </p:txBody>
      </p:sp>
    </p:spTree>
    <p:extLst>
      <p:ext uri="{BB962C8B-B14F-4D97-AF65-F5344CB8AC3E}">
        <p14:creationId xmlns:p14="http://schemas.microsoft.com/office/powerpoint/2010/main" val="5501743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C9F71A1-4B01-4C94-8496-4CA5A8585300}" type="slidenum">
              <a:rPr kumimoji="0" lang="en-US" altLang="zh-CN" sz="1400"/>
              <a:pPr>
                <a:spcBef>
                  <a:spcPct val="0"/>
                </a:spcBef>
                <a:buClrTx/>
                <a:buSzTx/>
                <a:buFontTx/>
                <a:buNone/>
              </a:pPr>
              <a:t>85</a:t>
            </a:fld>
            <a:endParaRPr kumimoji="0" lang="en-US" altLang="zh-CN" sz="1400"/>
          </a:p>
        </p:txBody>
      </p:sp>
      <p:sp>
        <p:nvSpPr>
          <p:cNvPr id="18435"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8436" name="Rectangle 3"/>
              <p:cNvSpPr>
                <a:spLocks noGrp="1" noChangeArrowheads="1"/>
              </p:cNvSpPr>
              <p:nvPr>
                <p:ph type="body" idx="1"/>
              </p:nvPr>
            </p:nvSpPr>
            <p:spPr/>
            <p:txBody>
              <a:bodyPr/>
              <a:lstStyle/>
              <a:p>
                <a:pPr eaLnBrk="1" hangingPunct="1"/>
                <a:r>
                  <a:rPr lang="en-US" altLang="zh-CN" dirty="0"/>
                  <a:t>2</a:t>
                </a:r>
                <a:r>
                  <a:rPr lang="zh-CN" altLang="en-US" dirty="0"/>
                  <a:t>、若</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𝑒</m:t>
                        </m:r>
                      </m:e>
                      <m:sub>
                        <m:r>
                          <a:rPr lang="en-US" altLang="zh-CN" i="1">
                            <a:latin typeface="Cambria Math" panose="02040503050406030204" pitchFamily="18" charset="0"/>
                          </a:rPr>
                          <m:t>𝑛</m:t>
                        </m:r>
                      </m:sub>
                    </m:sSub>
                    <m:r>
                      <a:rPr lang="en-US" altLang="zh-CN" b="0" i="1" smtClean="0">
                        <a:latin typeface="Cambria Math" panose="02040503050406030204" pitchFamily="18" charset="0"/>
                        <a:ea typeface="Cambria Math" panose="02040503050406030204" pitchFamily="18" charset="0"/>
                      </a:rPr>
                      <m:t>&gt;</m:t>
                    </m:r>
                    <m:sSub>
                      <m:sSubPr>
                        <m:ctrlPr>
                          <a:rPr lang="en-US" altLang="zh-CN" i="1">
                            <a:latin typeface="Cambria Math" panose="02040503050406030204" pitchFamily="18" charset="0"/>
                            <a:ea typeface="Cambria Math" panose="02040503050406030204" pitchFamily="18" charset="0"/>
                          </a:rPr>
                        </m:ctrlPr>
                      </m:sSubPr>
                      <m:e>
                        <m:r>
                          <a:rPr lang="zh-CN" altLang="en-US" i="1">
                            <a:latin typeface="Cambria Math" panose="02040503050406030204" pitchFamily="18" charset="0"/>
                            <a:ea typeface="Cambria Math" panose="02040503050406030204" pitchFamily="18" charset="0"/>
                          </a:rPr>
                          <m:t>𝜀</m:t>
                        </m:r>
                      </m:e>
                      <m:sub>
                        <m:r>
                          <a:rPr lang="en-US" altLang="zh-CN" i="1">
                            <a:latin typeface="Cambria Math" panose="02040503050406030204" pitchFamily="18" charset="0"/>
                            <a:ea typeface="Cambria Math" panose="02040503050406030204" pitchFamily="18" charset="0"/>
                          </a:rPr>
                          <m:t>0</m:t>
                        </m:r>
                      </m:sub>
                    </m:sSub>
                  </m:oMath>
                </a14:m>
                <a:r>
                  <a:rPr lang="zh-CN" altLang="en-US" dirty="0"/>
                  <a:t> ，</a:t>
                </a:r>
                <a:r>
                  <a:rPr lang="zh-CN" alt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rPr>
                  <a:t>则本步失败，按式</a:t>
                </a:r>
                <a:r>
                  <a:rPr lang="en-US" altLang="zh-CN" dirty="0"/>
                  <a:t>(3.5.38)</a:t>
                </a:r>
                <a:r>
                  <a:rPr lang="zh-CN" altLang="en-US" dirty="0">
                    <a:latin typeface="Times New Roman" panose="02020603050405020304" pitchFamily="18" charset="0"/>
                  </a:rPr>
                  <a:t>求出一个积分步长，它表示重新积分的本步步长，再算一遍，即：</a:t>
                </a:r>
                <a:endParaRPr lang="zh-CN" altLang="en-US" dirty="0">
                  <a:solidFill>
                    <a:srgbClr val="000000"/>
                  </a:solidFill>
                </a:endParaRPr>
              </a:p>
              <a:p>
                <a:pPr eaLnBrk="1" hangingPunct="1"/>
                <a:endParaRPr lang="en-US" altLang="zh-CN" dirty="0"/>
              </a:p>
            </p:txBody>
          </p:sp>
        </mc:Choice>
        <mc:Fallback xmlns="">
          <p:sp>
            <p:nvSpPr>
              <p:cNvPr id="18436" name="Rectangle 3"/>
              <p:cNvSpPr>
                <a:spLocks noGrp="1" noRot="1" noChangeAspect="1" noMove="1" noResize="1" noEditPoints="1" noAdjustHandles="1" noChangeArrowheads="1" noChangeShapeType="1" noTextEdit="1"/>
              </p:cNvSpPr>
              <p:nvPr>
                <p:ph type="body" idx="1"/>
              </p:nvPr>
            </p:nvSpPr>
            <p:spPr>
              <a:blipFill>
                <a:blip r:embed="rId3"/>
                <a:stretch>
                  <a:fillRect l="-549" t="-2519" r="-863"/>
                </a:stretch>
              </a:blipFill>
            </p:spPr>
            <p:txBody>
              <a:bodyPr/>
              <a:lstStyle/>
              <a:p>
                <a:r>
                  <a:rPr lang="zh-CN" altLang="en-US">
                    <a:noFill/>
                  </a:rPr>
                  <a:t> </a:t>
                </a:r>
              </a:p>
            </p:txBody>
          </p:sp>
        </mc:Fallback>
      </mc:AlternateContent>
      <p:sp>
        <p:nvSpPr>
          <p:cNvPr id="18437" name="Rectangle 5"/>
          <p:cNvSpPr>
            <a:spLocks noChangeArrowheads="1"/>
          </p:cNvSpPr>
          <p:nvPr/>
        </p:nvSpPr>
        <p:spPr bwMode="auto">
          <a:xfrm>
            <a:off x="4348163"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8439" name="Rectangle 7"/>
          <p:cNvSpPr>
            <a:spLocks noChangeArrowheads="1"/>
          </p:cNvSpPr>
          <p:nvPr/>
        </p:nvSpPr>
        <p:spPr bwMode="auto">
          <a:xfrm>
            <a:off x="4000500" y="3176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18440" name="Object 6"/>
          <p:cNvGraphicFramePr>
            <a:graphicFrameLocks noChangeAspect="1"/>
          </p:cNvGraphicFramePr>
          <p:nvPr/>
        </p:nvGraphicFramePr>
        <p:xfrm>
          <a:off x="1824038" y="3657600"/>
          <a:ext cx="2674937" cy="1312863"/>
        </p:xfrm>
        <a:graphic>
          <a:graphicData uri="http://schemas.openxmlformats.org/presentationml/2006/ole">
            <mc:AlternateContent xmlns:mc="http://schemas.openxmlformats.org/markup-compatibility/2006">
              <mc:Choice xmlns:v="urn:schemas-microsoft-com:vml" Requires="v">
                <p:oleObj spid="_x0000_s50258" name="Equation" r:id="rId4" imgW="1028700" imgH="508000" progId="Equation.DSMT4">
                  <p:embed/>
                </p:oleObj>
              </mc:Choice>
              <mc:Fallback>
                <p:oleObj name="Equation" r:id="rId4" imgW="1028700" imgH="508000" progId="Equation.DSMT4">
                  <p:embed/>
                  <p:pic>
                    <p:nvPicPr>
                      <p:cNvPr id="1844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4038" y="3657600"/>
                        <a:ext cx="2674937" cy="131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1" name="Text Box 8"/>
          <p:cNvSpPr txBox="1">
            <a:spLocks noChangeArrowheads="1"/>
          </p:cNvSpPr>
          <p:nvPr/>
        </p:nvSpPr>
        <p:spPr bwMode="auto">
          <a:xfrm>
            <a:off x="6172200" y="4068763"/>
            <a:ext cx="2209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en-US" altLang="zh-CN"/>
              <a:t>(3-5-39)</a:t>
            </a:r>
          </a:p>
        </p:txBody>
      </p:sp>
    </p:spTree>
    <p:extLst>
      <p:ext uri="{BB962C8B-B14F-4D97-AF65-F5344CB8AC3E}">
        <p14:creationId xmlns:p14="http://schemas.microsoft.com/office/powerpoint/2010/main" val="24401165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8540852-F2ED-4539-9522-524722E7FC4F}" type="slidenum">
              <a:rPr kumimoji="0" lang="en-US" altLang="zh-CN" sz="1400"/>
              <a:pPr>
                <a:spcBef>
                  <a:spcPct val="0"/>
                </a:spcBef>
                <a:buClrTx/>
                <a:buSzTx/>
                <a:buFontTx/>
                <a:buNone/>
              </a:pPr>
              <a:t>86</a:t>
            </a:fld>
            <a:endParaRPr kumimoji="0" lang="en-US" altLang="zh-CN" sz="1400"/>
          </a:p>
        </p:txBody>
      </p:sp>
      <p:sp>
        <p:nvSpPr>
          <p:cNvPr id="1945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19460" name="Rectangle 3"/>
              <p:cNvSpPr>
                <a:spLocks noGrp="1" noChangeArrowheads="1"/>
              </p:cNvSpPr>
              <p:nvPr>
                <p:ph type="body" idx="1"/>
              </p:nvPr>
            </p:nvSpPr>
            <p:spPr/>
            <p:txBody>
              <a:bodyPr/>
              <a:lstStyle/>
              <a:p>
                <a:pPr algn="just" eaLnBrk="1" hangingPunct="1"/>
                <a:r>
                  <a:rPr lang="zh-CN" altLang="en-US" dirty="0">
                    <a:latin typeface="Times New Roman" panose="02020603050405020304" pitchFamily="18" charset="0"/>
                  </a:rPr>
                  <a:t>由于假定了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h</m:t>
                        </m:r>
                      </m:e>
                      <m:sub>
                        <m:r>
                          <a:rPr lang="en-US" altLang="zh-CN" i="1">
                            <a:latin typeface="Cambria Math" panose="02040503050406030204" pitchFamily="18" charset="0"/>
                          </a:rPr>
                          <m:t>𝑛</m:t>
                        </m:r>
                        <m:r>
                          <a:rPr lang="en-US" altLang="zh-CN" i="1">
                            <a:latin typeface="Cambria Math" panose="02040503050406030204" pitchFamily="18" charset="0"/>
                          </a:rPr>
                          <m:t>+1</m:t>
                        </m:r>
                      </m:sub>
                    </m:sSub>
                  </m:oMath>
                </a14:m>
                <a:r>
                  <a:rPr lang="zh-CN" altLang="en-US" dirty="0">
                    <a:latin typeface="Times New Roman" panose="02020603050405020304" pitchFamily="18" charset="0"/>
                  </a:rPr>
                  <a:t>足够小，因此</a:t>
                </a:r>
                <a14:m>
                  <m:oMath xmlns:m="http://schemas.openxmlformats.org/officeDocument/2006/math">
                    <m:sSub>
                      <m:sSubPr>
                        <m:ctrlPr>
                          <a:rPr lang="en-US" altLang="zh-CN" i="1">
                            <a:latin typeface="Cambria Math" panose="02040503050406030204" pitchFamily="18" charset="0"/>
                          </a:rPr>
                        </m:ctrlPr>
                      </m:sSubPr>
                      <m:e>
                        <m:r>
                          <a:rPr lang="zh-CN" altLang="en-US" i="1" smtClean="0">
                            <a:latin typeface="Cambria Math"/>
                            <a:ea typeface="Cambria Math" panose="02040503050406030204" pitchFamily="18" charset="0"/>
                          </a:rPr>
                          <m:t>𝜑</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𝑡</m:t>
                        </m:r>
                      </m:e>
                      <m:sub>
                        <m:r>
                          <a:rPr lang="en-US" altLang="zh-CN" i="1">
                            <a:latin typeface="Cambria Math" panose="02040503050406030204" pitchFamily="18" charset="0"/>
                          </a:rPr>
                          <m:t>𝑛</m:t>
                        </m:r>
                      </m:sub>
                    </m:sSub>
                    <m:r>
                      <a:rPr lang="en-US" altLang="zh-CN" i="1">
                        <a:latin typeface="Cambria Math" panose="02040503050406030204" pitchFamily="18" charset="0"/>
                      </a:rPr>
                      <m:t>)</m:t>
                    </m:r>
                  </m:oMath>
                </a14:m>
                <a:r>
                  <a:rPr lang="zh-CN" altLang="en-US" dirty="0">
                    <a:latin typeface="Times New Roman" panose="02020603050405020304" pitchFamily="18" charset="0"/>
                  </a:rPr>
                  <a:t>        基本不变，故必须限制步长的缩小与放大，一般限制的最大放缩系数为</a:t>
                </a:r>
                <a:r>
                  <a:rPr lang="en-US" altLang="zh-CN" dirty="0"/>
                  <a:t>10</a:t>
                </a:r>
                <a:r>
                  <a:rPr lang="zh-CN" altLang="en-US" dirty="0">
                    <a:latin typeface="Times New Roman" panose="02020603050405020304" pitchFamily="18" charset="0"/>
                  </a:rPr>
                  <a:t>，即要求：</a:t>
                </a:r>
                <a:endParaRPr lang="zh-CN" altLang="en-US" dirty="0">
                  <a:solidFill>
                    <a:srgbClr val="000000"/>
                  </a:solidFill>
                </a:endParaRPr>
              </a:p>
              <a:p>
                <a:pPr eaLnBrk="1" hangingPunct="1"/>
                <a:endParaRPr lang="en-US" altLang="zh-CN" dirty="0"/>
              </a:p>
            </p:txBody>
          </p:sp>
        </mc:Choice>
        <mc:Fallback xmlns="">
          <p:sp>
            <p:nvSpPr>
              <p:cNvPr id="19460" name="Rectangle 3"/>
              <p:cNvSpPr>
                <a:spLocks noGrp="1" noRot="1" noChangeAspect="1" noMove="1" noResize="1" noEditPoints="1" noAdjustHandles="1" noChangeArrowheads="1" noChangeShapeType="1" noTextEdit="1"/>
              </p:cNvSpPr>
              <p:nvPr>
                <p:ph type="body" idx="1"/>
              </p:nvPr>
            </p:nvSpPr>
            <p:spPr>
              <a:blipFill rotWithShape="1">
                <a:blip r:embed="rId3"/>
                <a:stretch>
                  <a:fillRect l="-549" t="-2519" r="-2039"/>
                </a:stretch>
              </a:blipFill>
            </p:spPr>
            <p:txBody>
              <a:bodyPr/>
              <a:lstStyle/>
              <a:p>
                <a:r>
                  <a:rPr lang="zh-CN" altLang="en-US">
                    <a:noFill/>
                  </a:rPr>
                  <a:t> </a:t>
                </a:r>
              </a:p>
            </p:txBody>
          </p:sp>
        </mc:Fallback>
      </mc:AlternateContent>
      <p:sp>
        <p:nvSpPr>
          <p:cNvPr id="19463" name="Rectangle 9"/>
          <p:cNvSpPr>
            <a:spLocks noChangeArrowheads="1"/>
          </p:cNvSpPr>
          <p:nvPr/>
        </p:nvSpPr>
        <p:spPr bwMode="auto">
          <a:xfrm>
            <a:off x="40005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19464" name="Object 8"/>
          <p:cNvGraphicFramePr>
            <a:graphicFrameLocks noChangeAspect="1"/>
          </p:cNvGraphicFramePr>
          <p:nvPr>
            <p:extLst>
              <p:ext uri="{D42A27DB-BD31-4B8C-83A1-F6EECF244321}">
                <p14:modId xmlns:p14="http://schemas.microsoft.com/office/powerpoint/2010/main" val="2559572127"/>
              </p:ext>
            </p:extLst>
          </p:nvPr>
        </p:nvGraphicFramePr>
        <p:xfrm>
          <a:off x="2195736" y="4162425"/>
          <a:ext cx="4495800" cy="898525"/>
        </p:xfrm>
        <a:graphic>
          <a:graphicData uri="http://schemas.openxmlformats.org/presentationml/2006/ole">
            <mc:AlternateContent xmlns:mc="http://schemas.openxmlformats.org/markup-compatibility/2006">
              <mc:Choice xmlns:v="urn:schemas-microsoft-com:vml" Requires="v">
                <p:oleObj spid="_x0000_s51288" r:id="rId4" imgW="1143000" imgH="228600" progId="Equation.DSMT4">
                  <p:embed/>
                </p:oleObj>
              </mc:Choice>
              <mc:Fallback>
                <p:oleObj r:id="rId4" imgW="1143000" imgH="228600" progId="Equation.DSMT4">
                  <p:embed/>
                  <p:pic>
                    <p:nvPicPr>
                      <p:cNvPr id="19464"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736" y="4162425"/>
                        <a:ext cx="449580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822951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C703C6B-39B1-4F92-A639-F6EF6C20BDC2}" type="slidenum">
              <a:rPr kumimoji="0" lang="en-US" altLang="zh-CN" sz="1400"/>
              <a:pPr>
                <a:spcBef>
                  <a:spcPct val="0"/>
                </a:spcBef>
                <a:buClrTx/>
                <a:buSzTx/>
                <a:buFontTx/>
                <a:buNone/>
              </a:pPr>
              <a:t>87</a:t>
            </a:fld>
            <a:endParaRPr kumimoji="0" lang="en-US" altLang="zh-CN" sz="1400"/>
          </a:p>
        </p:txBody>
      </p:sp>
      <p:sp>
        <p:nvSpPr>
          <p:cNvPr id="20483" name="Rectangle 2"/>
          <p:cNvSpPr>
            <a:spLocks noGrp="1" noChangeArrowheads="1"/>
          </p:cNvSpPr>
          <p:nvPr>
            <p:ph type="title"/>
          </p:nvPr>
        </p:nvSpPr>
        <p:spPr/>
        <p:txBody>
          <a:bodyPr/>
          <a:lstStyle/>
          <a:p>
            <a:pPr eaLnBrk="1" hangingPunct="1"/>
            <a:endParaRPr lang="zh-CN" altLang="zh-CN"/>
          </a:p>
        </p:txBody>
      </p:sp>
      <p:sp>
        <p:nvSpPr>
          <p:cNvPr id="20484" name="Rectangle 3"/>
          <p:cNvSpPr>
            <a:spLocks noGrp="1" noChangeArrowheads="1"/>
          </p:cNvSpPr>
          <p:nvPr>
            <p:ph type="body" idx="1"/>
          </p:nvPr>
        </p:nvSpPr>
        <p:spPr>
          <a:xfrm>
            <a:off x="971600" y="1988840"/>
            <a:ext cx="7772400" cy="4114800"/>
          </a:xfrm>
        </p:spPr>
        <p:txBody>
          <a:bodyPr/>
          <a:lstStyle/>
          <a:p>
            <a:pPr algn="just" eaLnBrk="1" hangingPunct="1"/>
            <a:r>
              <a:rPr lang="zh-CN" altLang="en-US" sz="2800" dirty="0">
                <a:latin typeface="Times New Roman" panose="02020603050405020304" pitchFamily="18" charset="0"/>
              </a:rPr>
              <a:t>有关最优步长的控制，除此方法之外，还有吉尔</a:t>
            </a:r>
            <a:r>
              <a:rPr lang="en-US" altLang="zh-CN" sz="2800" dirty="0"/>
              <a:t>(Gear)</a:t>
            </a:r>
            <a:r>
              <a:rPr lang="zh-CN" altLang="en-US" sz="2800" dirty="0">
                <a:latin typeface="Times New Roman" panose="02020603050405020304" pitchFamily="18" charset="0"/>
              </a:rPr>
              <a:t>法等。</a:t>
            </a:r>
          </a:p>
          <a:p>
            <a:pPr algn="just" eaLnBrk="1" hangingPunct="1"/>
            <a:r>
              <a:rPr lang="zh-CN" altLang="en-US" sz="2800" dirty="0">
                <a:latin typeface="Times New Roman" panose="02020603050405020304" pitchFamily="18" charset="0"/>
              </a:rPr>
              <a:t>采用最优步长控制后，计算量有明显减少，但上述两种控制方法对于  函数中含有间断特性的情况不适合。</a:t>
            </a:r>
          </a:p>
          <a:p>
            <a:pPr algn="just" eaLnBrk="1" hangingPunct="1"/>
            <a:r>
              <a:rPr lang="zh-CN" altLang="en-US" sz="2800" dirty="0">
                <a:latin typeface="Times New Roman" panose="02020603050405020304" pitchFamily="18" charset="0"/>
              </a:rPr>
              <a:t>因为在间断点附近会出现步长频繁放大、缩小的振荡现象，由于最优步长控制法是以本步误差外推下一步步长，因此振荡现象更为严重。</a:t>
            </a:r>
            <a:endParaRPr lang="zh-CN" altLang="en-US" sz="2800" dirty="0"/>
          </a:p>
        </p:txBody>
      </p:sp>
      <p:sp>
        <p:nvSpPr>
          <p:cNvPr id="20485" name="Rectangle 5"/>
          <p:cNvSpPr>
            <a:spLocks noChangeArrowheads="1"/>
          </p:cNvSpPr>
          <p:nvPr/>
        </p:nvSpPr>
        <p:spPr bwMode="auto">
          <a:xfrm>
            <a:off x="449580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0486" name="Object 4"/>
          <p:cNvGraphicFramePr>
            <a:graphicFrameLocks noChangeAspect="1"/>
          </p:cNvGraphicFramePr>
          <p:nvPr>
            <p:extLst>
              <p:ext uri="{D42A27DB-BD31-4B8C-83A1-F6EECF244321}">
                <p14:modId xmlns:p14="http://schemas.microsoft.com/office/powerpoint/2010/main" val="640690579"/>
              </p:ext>
            </p:extLst>
          </p:nvPr>
        </p:nvGraphicFramePr>
        <p:xfrm>
          <a:off x="5004048" y="3429000"/>
          <a:ext cx="347663" cy="457200"/>
        </p:xfrm>
        <a:graphic>
          <a:graphicData uri="http://schemas.openxmlformats.org/presentationml/2006/ole">
            <mc:AlternateContent xmlns:mc="http://schemas.openxmlformats.org/markup-compatibility/2006">
              <mc:Choice xmlns:v="urn:schemas-microsoft-com:vml" Requires="v">
                <p:oleObj spid="_x0000_s52300" r:id="rId3" imgW="152268" imgH="203024" progId="Equation.DSMT4">
                  <p:embed/>
                </p:oleObj>
              </mc:Choice>
              <mc:Fallback>
                <p:oleObj r:id="rId3" imgW="152268" imgH="203024" progId="Equation.DSMT4">
                  <p:embed/>
                  <p:pic>
                    <p:nvPicPr>
                      <p:cNvPr id="2048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3429000"/>
                        <a:ext cx="347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641949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zh-CN" altLang="en-US" dirty="0"/>
              <a:t>频域建模方法</a:t>
            </a:r>
          </a:p>
        </p:txBody>
      </p:sp>
      <p:sp>
        <p:nvSpPr>
          <p:cNvPr id="3" name="内容占位符 2"/>
          <p:cNvSpPr>
            <a:spLocks noGrp="1"/>
          </p:cNvSpPr>
          <p:nvPr>
            <p:ph idx="1"/>
          </p:nvPr>
        </p:nvSpPr>
        <p:spPr>
          <a:xfrm>
            <a:off x="1043608" y="1916832"/>
            <a:ext cx="7772400" cy="4114800"/>
          </a:xfrm>
        </p:spPr>
        <p:txBody>
          <a:bodyPr/>
          <a:lstStyle/>
          <a:p>
            <a:r>
              <a:rPr lang="zh-CN" altLang="en-US" dirty="0"/>
              <a:t>频域建模方法就是从</a:t>
            </a:r>
            <a:r>
              <a:rPr lang="en-US" altLang="zh-CN" dirty="0"/>
              <a:t>s</a:t>
            </a:r>
            <a:r>
              <a:rPr lang="zh-CN" altLang="en-US" dirty="0"/>
              <a:t>域的传递函数</a:t>
            </a:r>
            <a:r>
              <a:rPr lang="en-US" altLang="zh-CN" dirty="0"/>
              <a:t>G(S)</a:t>
            </a:r>
            <a:r>
              <a:rPr lang="zh-CN" altLang="en-US" dirty="0"/>
              <a:t> ，根据相似原理得到与它匹配的</a:t>
            </a:r>
            <a:r>
              <a:rPr lang="en-US" altLang="zh-CN" dirty="0"/>
              <a:t>z</a:t>
            </a:r>
            <a:r>
              <a:rPr lang="zh-CN" altLang="en-US" dirty="0"/>
              <a:t>域传递函数</a:t>
            </a:r>
            <a:r>
              <a:rPr lang="en-US" altLang="zh-CN" dirty="0"/>
              <a:t>G(Z)</a:t>
            </a:r>
            <a:r>
              <a:rPr lang="zh-CN" altLang="en-US" dirty="0"/>
              <a:t> ，从而导出其差分模型。</a:t>
            </a:r>
            <a:endParaRPr lang="en-US" altLang="zh-CN" dirty="0"/>
          </a:p>
          <a:p>
            <a:r>
              <a:rPr lang="zh-CN" altLang="en-US" dirty="0"/>
              <a:t>这里的“匹配”是指动态性能和稳态性能的匹配，即</a:t>
            </a:r>
            <a:r>
              <a:rPr lang="en-US" altLang="zh-CN" dirty="0"/>
              <a:t>G(S)</a:t>
            </a:r>
            <a:r>
              <a:rPr lang="zh-CN" altLang="en-US" dirty="0"/>
              <a:t>的零点、极点要和相应的</a:t>
            </a:r>
            <a:r>
              <a:rPr lang="en-US" altLang="zh-CN" dirty="0"/>
              <a:t>G(Z)</a:t>
            </a:r>
            <a:r>
              <a:rPr lang="zh-CN" altLang="en-US" dirty="0"/>
              <a:t>的零点、极点相匹配，而且对同一个输入函数，</a:t>
            </a:r>
            <a:r>
              <a:rPr lang="en-US" altLang="zh-CN" dirty="0"/>
              <a:t>G(S)</a:t>
            </a:r>
            <a:r>
              <a:rPr lang="zh-CN" altLang="en-US" dirty="0"/>
              <a:t>和</a:t>
            </a:r>
            <a:r>
              <a:rPr lang="en-US" altLang="zh-CN" dirty="0"/>
              <a:t>G(Z)</a:t>
            </a:r>
            <a:r>
              <a:rPr lang="zh-CN" altLang="en-US" dirty="0"/>
              <a:t>所求出的输出函数应该具有相同的稳态特征。</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88</a:t>
            </a:fld>
            <a:endParaRPr lang="en-US" altLang="zh-CN"/>
          </a:p>
        </p:txBody>
      </p:sp>
    </p:spTree>
    <p:extLst>
      <p:ext uri="{BB962C8B-B14F-4D97-AF65-F5344CB8AC3E}">
        <p14:creationId xmlns:p14="http://schemas.microsoft.com/office/powerpoint/2010/main" val="301166971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89</a:t>
            </a:fld>
            <a:endParaRPr lang="en-US" altLang="zh-CN"/>
          </a:p>
        </p:txBody>
      </p:sp>
      <p:grpSp>
        <p:nvGrpSpPr>
          <p:cNvPr id="23" name="组合 22"/>
          <p:cNvGrpSpPr/>
          <p:nvPr/>
        </p:nvGrpSpPr>
        <p:grpSpPr>
          <a:xfrm>
            <a:off x="539552" y="2492896"/>
            <a:ext cx="8280920" cy="2160241"/>
            <a:chOff x="539552" y="2492896"/>
            <a:chExt cx="8280920" cy="2160241"/>
          </a:xfrm>
        </p:grpSpPr>
        <p:sp>
          <p:nvSpPr>
            <p:cNvPr id="5" name="文本框 4"/>
            <p:cNvSpPr txBox="1"/>
            <p:nvPr/>
          </p:nvSpPr>
          <p:spPr>
            <a:xfrm>
              <a:off x="539552" y="2564904"/>
              <a:ext cx="2952328" cy="461665"/>
            </a:xfrm>
            <a:prstGeom prst="rect">
              <a:avLst/>
            </a:prstGeom>
            <a:noFill/>
            <a:ln w="28575">
              <a:solidFill>
                <a:schemeClr val="tx1"/>
              </a:solidFill>
            </a:ln>
          </p:spPr>
          <p:txBody>
            <a:bodyPr wrap="square" rtlCol="0">
              <a:spAutoFit/>
            </a:bodyPr>
            <a:lstStyle/>
            <a:p>
              <a:pPr algn="ctr"/>
              <a:r>
                <a:rPr lang="zh-CN" altLang="en-US" sz="2400" dirty="0"/>
                <a:t>微分方程</a:t>
              </a:r>
            </a:p>
          </p:txBody>
        </p:sp>
        <p:sp>
          <p:nvSpPr>
            <p:cNvPr id="6" name="文本框 5"/>
            <p:cNvSpPr txBox="1"/>
            <p:nvPr/>
          </p:nvSpPr>
          <p:spPr>
            <a:xfrm>
              <a:off x="611560" y="4069101"/>
              <a:ext cx="2952328" cy="461665"/>
            </a:xfrm>
            <a:prstGeom prst="rect">
              <a:avLst/>
            </a:prstGeom>
            <a:noFill/>
            <a:ln w="28575">
              <a:solidFill>
                <a:schemeClr val="tx1"/>
              </a:solidFill>
            </a:ln>
          </p:spPr>
          <p:txBody>
            <a:bodyPr wrap="square" rtlCol="0">
              <a:spAutoFit/>
            </a:bodyPr>
            <a:lstStyle>
              <a:defPPr>
                <a:defRPr lang="zh-CN"/>
              </a:defPPr>
              <a:lvl1pPr>
                <a:defRPr sz="2400"/>
              </a:lvl1pPr>
            </a:lstStyle>
            <a:p>
              <a:pPr algn="ctr"/>
              <a:r>
                <a:rPr lang="en-US" altLang="zh-CN" dirty="0"/>
                <a:t>S</a:t>
              </a:r>
              <a:r>
                <a:rPr lang="zh-CN" altLang="en-US" dirty="0"/>
                <a:t>域的传递函数</a:t>
              </a:r>
              <a:r>
                <a:rPr lang="en-US" altLang="zh-CN" dirty="0"/>
                <a:t>G(S)</a:t>
              </a:r>
              <a:endParaRPr lang="zh-CN" altLang="en-US" dirty="0"/>
            </a:p>
          </p:txBody>
        </p:sp>
        <p:sp>
          <p:nvSpPr>
            <p:cNvPr id="7" name="文本框 6"/>
            <p:cNvSpPr txBox="1"/>
            <p:nvPr/>
          </p:nvSpPr>
          <p:spPr>
            <a:xfrm>
              <a:off x="5292080" y="2573895"/>
              <a:ext cx="3456384" cy="461665"/>
            </a:xfrm>
            <a:prstGeom prst="rect">
              <a:avLst/>
            </a:prstGeom>
            <a:noFill/>
            <a:ln w="28575">
              <a:solidFill>
                <a:schemeClr val="tx1"/>
              </a:solidFill>
            </a:ln>
          </p:spPr>
          <p:txBody>
            <a:bodyPr wrap="square" rtlCol="0">
              <a:spAutoFit/>
            </a:bodyPr>
            <a:lstStyle>
              <a:defPPr>
                <a:defRPr lang="zh-CN"/>
              </a:defPPr>
              <a:lvl1pPr>
                <a:defRPr sz="2400"/>
              </a:lvl1pPr>
            </a:lstStyle>
            <a:p>
              <a:pPr algn="ctr"/>
              <a:r>
                <a:rPr lang="zh-CN" altLang="en-US" dirty="0"/>
                <a:t>差分方程</a:t>
              </a:r>
            </a:p>
          </p:txBody>
        </p:sp>
        <p:sp>
          <p:nvSpPr>
            <p:cNvPr id="8" name="文本框 7"/>
            <p:cNvSpPr txBox="1"/>
            <p:nvPr/>
          </p:nvSpPr>
          <p:spPr>
            <a:xfrm>
              <a:off x="5364088" y="4088845"/>
              <a:ext cx="3456384" cy="461665"/>
            </a:xfrm>
            <a:prstGeom prst="rect">
              <a:avLst/>
            </a:prstGeom>
            <a:noFill/>
            <a:ln w="28575">
              <a:solidFill>
                <a:schemeClr val="tx1"/>
              </a:solidFill>
            </a:ln>
          </p:spPr>
          <p:txBody>
            <a:bodyPr wrap="square" rtlCol="0">
              <a:spAutoFit/>
            </a:bodyPr>
            <a:lstStyle>
              <a:defPPr>
                <a:defRPr lang="zh-CN"/>
              </a:defPPr>
              <a:lvl1pPr>
                <a:defRPr sz="2400"/>
              </a:lvl1pPr>
            </a:lstStyle>
            <a:p>
              <a:pPr algn="ctr"/>
              <a:r>
                <a:rPr lang="en-US" altLang="zh-CN" dirty="0"/>
                <a:t>Z</a:t>
              </a:r>
              <a:r>
                <a:rPr lang="zh-CN" altLang="en-US" dirty="0"/>
                <a:t>域的传递函数</a:t>
              </a:r>
              <a:r>
                <a:rPr lang="en-US" altLang="zh-CN" dirty="0"/>
                <a:t>G(Z)</a:t>
              </a:r>
              <a:endParaRPr lang="zh-CN" altLang="en-US" dirty="0"/>
            </a:p>
          </p:txBody>
        </p:sp>
        <p:sp>
          <p:nvSpPr>
            <p:cNvPr id="17" name="上下箭头 16"/>
            <p:cNvSpPr/>
            <p:nvPr/>
          </p:nvSpPr>
          <p:spPr>
            <a:xfrm>
              <a:off x="1691680" y="3048275"/>
              <a:ext cx="575262" cy="1020826"/>
            </a:xfrm>
            <a:prstGeom prst="upDownArrow">
              <a:avLst/>
            </a:prstGeom>
            <a:solidFill>
              <a:srgbClr val="0D17D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转化</a:t>
              </a:r>
            </a:p>
          </p:txBody>
        </p:sp>
        <p:sp>
          <p:nvSpPr>
            <p:cNvPr id="19" name="左右箭头 18"/>
            <p:cNvSpPr/>
            <p:nvPr/>
          </p:nvSpPr>
          <p:spPr>
            <a:xfrm>
              <a:off x="3563888" y="4053273"/>
              <a:ext cx="1800200" cy="599864"/>
            </a:xfrm>
            <a:prstGeom prst="leftRightArrow">
              <a:avLst/>
            </a:prstGeom>
            <a:solidFill>
              <a:srgbClr val="0D17D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相似原理</a:t>
              </a:r>
            </a:p>
          </p:txBody>
        </p:sp>
        <p:sp>
          <p:nvSpPr>
            <p:cNvPr id="20" name="上下箭头 19"/>
            <p:cNvSpPr/>
            <p:nvPr/>
          </p:nvSpPr>
          <p:spPr>
            <a:xfrm>
              <a:off x="6877058" y="3079998"/>
              <a:ext cx="575262" cy="1020826"/>
            </a:xfrm>
            <a:prstGeom prst="upDownArrow">
              <a:avLst/>
            </a:prstGeom>
            <a:solidFill>
              <a:srgbClr val="0D17D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转化</a:t>
              </a:r>
            </a:p>
          </p:txBody>
        </p:sp>
        <p:sp>
          <p:nvSpPr>
            <p:cNvPr id="22" name="右箭头 21"/>
            <p:cNvSpPr/>
            <p:nvPr/>
          </p:nvSpPr>
          <p:spPr>
            <a:xfrm>
              <a:off x="3508468" y="2492896"/>
              <a:ext cx="1800200" cy="639081"/>
            </a:xfrm>
            <a:prstGeom prst="rightArrow">
              <a:avLst/>
            </a:prstGeom>
            <a:solidFill>
              <a:srgbClr val="0D17D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数值仿真</a:t>
              </a:r>
            </a:p>
          </p:txBody>
        </p:sp>
      </p:grpSp>
    </p:spTree>
    <p:extLst>
      <p:ext uri="{BB962C8B-B14F-4D97-AF65-F5344CB8AC3E}">
        <p14:creationId xmlns:p14="http://schemas.microsoft.com/office/powerpoint/2010/main" val="40391171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6EF76-481B-48BB-9EEA-26A3124F62EC}"/>
              </a:ext>
            </a:extLst>
          </p:cNvPr>
          <p:cNvSpPr>
            <a:spLocks noGrp="1"/>
          </p:cNvSpPr>
          <p:nvPr>
            <p:ph type="title"/>
          </p:nvPr>
        </p:nvSpPr>
        <p:spPr/>
        <p:txBody>
          <a:bodyPr/>
          <a:lstStyle/>
          <a:p>
            <a:endParaRPr lang="zh-CN" altLang="en-US"/>
          </a:p>
        </p:txBody>
      </p:sp>
      <p:sp>
        <p:nvSpPr>
          <p:cNvPr id="4" name="灯片编号占位符 3">
            <a:extLst>
              <a:ext uri="{FF2B5EF4-FFF2-40B4-BE49-F238E27FC236}">
                <a16:creationId xmlns:a16="http://schemas.microsoft.com/office/drawing/2014/main" id="{3CA4BC8D-D32B-49AE-A4CF-3FA09920EBC2}"/>
              </a:ext>
            </a:extLst>
          </p:cNvPr>
          <p:cNvSpPr>
            <a:spLocks noGrp="1"/>
          </p:cNvSpPr>
          <p:nvPr>
            <p:ph type="sldNum" sz="quarter" idx="12"/>
          </p:nvPr>
        </p:nvSpPr>
        <p:spPr/>
        <p:txBody>
          <a:bodyPr/>
          <a:lstStyle/>
          <a:p>
            <a:pPr>
              <a:defRPr/>
            </a:pPr>
            <a:fld id="{B5E95236-D0C1-4D31-8D61-5EF5DA33B082}" type="slidenum">
              <a:rPr lang="en-US" altLang="zh-CN" smtClean="0"/>
              <a:pPr>
                <a:defRPr/>
              </a:pPr>
              <a:t>90</a:t>
            </a:fld>
            <a:endParaRPr lang="en-US" altLang="zh-CN"/>
          </a:p>
        </p:txBody>
      </p:sp>
      <p:pic>
        <p:nvPicPr>
          <p:cNvPr id="83970" name="Picture 2" descr="rjldI-1701173129546-undefined">
            <a:extLst>
              <a:ext uri="{FF2B5EF4-FFF2-40B4-BE49-F238E27FC236}">
                <a16:creationId xmlns:a16="http://schemas.microsoft.com/office/drawing/2014/main" id="{3B5E2A0B-5487-45A3-9A28-167BA09E60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6375" y="-99392"/>
            <a:ext cx="3857625"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040EA146-A4F2-46F0-8E4E-9918C4ADB289}"/>
              </a:ext>
            </a:extLst>
          </p:cNvPr>
          <p:cNvSpPr>
            <a:spLocks noGrp="1" noChangeArrowheads="1"/>
          </p:cNvSpPr>
          <p:nvPr>
            <p:ph idx="1"/>
          </p:nvPr>
        </p:nvSpPr>
        <p:spPr>
          <a:xfrm>
            <a:off x="107504" y="4402138"/>
            <a:ext cx="5184576" cy="2108064"/>
          </a:xfrm>
        </p:spPr>
        <p:txBody>
          <a:bodyPr/>
          <a:lstStyle/>
          <a:p>
            <a:pPr eaLnBrk="1" hangingPunct="1">
              <a:lnSpc>
                <a:spcPct val="90000"/>
              </a:lnSpc>
              <a:buFontTx/>
              <a:buNone/>
            </a:pPr>
            <a:r>
              <a:rPr lang="zh-CN" altLang="en-US" sz="2400" b="1" dirty="0">
                <a:solidFill>
                  <a:srgbClr val="800080"/>
                </a:solidFill>
                <a:latin typeface="Courier New" panose="02070309020205020404" pitchFamily="49" charset="0"/>
              </a:rPr>
              <a:t>预估  </a:t>
            </a:r>
            <a:r>
              <a:rPr lang="en-US" altLang="zh-CN" sz="2400" b="1" dirty="0">
                <a:solidFill>
                  <a:srgbClr val="008000"/>
                </a:solidFill>
                <a:latin typeface="Courier New" panose="02070309020205020404" pitchFamily="49" charset="0"/>
              </a:rPr>
              <a:t>y</a:t>
            </a:r>
            <a:r>
              <a:rPr lang="en-US" altLang="zh-CN" sz="2400" b="1" baseline="30000" dirty="0">
                <a:solidFill>
                  <a:srgbClr val="008000"/>
                </a:solidFill>
                <a:latin typeface="Courier New" panose="02070309020205020404" pitchFamily="49" charset="0"/>
              </a:rPr>
              <a:t>P</a:t>
            </a:r>
            <a:r>
              <a:rPr lang="en-US" altLang="zh-CN" sz="2400" b="1" baseline="-25000" dirty="0">
                <a:solidFill>
                  <a:srgbClr val="008000"/>
                </a:solidFill>
                <a:latin typeface="Courier New" panose="02070309020205020404" pitchFamily="49" charset="0"/>
              </a:rPr>
              <a:t>k+1</a:t>
            </a:r>
            <a:r>
              <a:rPr lang="zh-CN" altLang="en-US" sz="2400" b="1" dirty="0">
                <a:solidFill>
                  <a:srgbClr val="800080"/>
                </a:solidFill>
                <a:latin typeface="Courier New" panose="02070309020205020404" pitchFamily="49" charset="0"/>
              </a:rPr>
              <a:t>＝</a:t>
            </a:r>
            <a:r>
              <a:rPr lang="en-US" altLang="zh-CN" sz="2400" b="1" dirty="0" err="1">
                <a:solidFill>
                  <a:srgbClr val="800080"/>
                </a:solidFill>
                <a:latin typeface="Courier New" panose="02070309020205020404" pitchFamily="49" charset="0"/>
              </a:rPr>
              <a:t>y</a:t>
            </a:r>
            <a:r>
              <a:rPr lang="en-US" altLang="zh-CN" sz="2400" b="1" baseline="-25000" dirty="0" err="1">
                <a:solidFill>
                  <a:srgbClr val="800080"/>
                </a:solidFill>
                <a:latin typeface="Courier New" panose="02070309020205020404" pitchFamily="49" charset="0"/>
              </a:rPr>
              <a:t>k</a:t>
            </a:r>
            <a:r>
              <a:rPr lang="zh-CN" altLang="en-US" sz="2400" b="1" dirty="0">
                <a:solidFill>
                  <a:srgbClr val="800080"/>
                </a:solidFill>
                <a:latin typeface="Courier New" panose="02070309020205020404" pitchFamily="49" charset="0"/>
              </a:rPr>
              <a:t>＋</a:t>
            </a:r>
            <a:r>
              <a:rPr lang="en-US" altLang="zh-CN" sz="2400" b="1" dirty="0" err="1">
                <a:solidFill>
                  <a:srgbClr val="800080"/>
                </a:solidFill>
                <a:latin typeface="Courier New" panose="02070309020205020404" pitchFamily="49" charset="0"/>
              </a:rPr>
              <a:t>h·f</a:t>
            </a:r>
            <a:r>
              <a:rPr lang="en-US" altLang="zh-CN" sz="2400" b="1" dirty="0">
                <a:solidFill>
                  <a:srgbClr val="800080"/>
                </a:solidFill>
                <a:latin typeface="Courier New" panose="02070309020205020404" pitchFamily="49" charset="0"/>
              </a:rPr>
              <a:t>(</a:t>
            </a:r>
            <a:r>
              <a:rPr lang="en-US" altLang="zh-CN" sz="2400" b="1" dirty="0" err="1">
                <a:solidFill>
                  <a:srgbClr val="800080"/>
                </a:solidFill>
                <a:latin typeface="Courier New" panose="02070309020205020404" pitchFamily="49" charset="0"/>
              </a:rPr>
              <a:t>t</a:t>
            </a:r>
            <a:r>
              <a:rPr lang="en-US" altLang="zh-CN" sz="2400" b="1" baseline="-25000" dirty="0" err="1">
                <a:solidFill>
                  <a:srgbClr val="800080"/>
                </a:solidFill>
                <a:latin typeface="Courier New" panose="02070309020205020404" pitchFamily="49" charset="0"/>
              </a:rPr>
              <a:t>k</a:t>
            </a:r>
            <a:r>
              <a:rPr lang="en-US" altLang="zh-CN" sz="2400" b="1" dirty="0" err="1">
                <a:solidFill>
                  <a:srgbClr val="800080"/>
                </a:solidFill>
                <a:latin typeface="Courier New" panose="02070309020205020404" pitchFamily="49" charset="0"/>
              </a:rPr>
              <a:t>,y</a:t>
            </a:r>
            <a:r>
              <a:rPr lang="en-US" altLang="zh-CN" sz="2400" b="1" baseline="-25000" dirty="0" err="1">
                <a:solidFill>
                  <a:srgbClr val="800080"/>
                </a:solidFill>
                <a:latin typeface="Courier New" panose="02070309020205020404" pitchFamily="49" charset="0"/>
              </a:rPr>
              <a:t>k</a:t>
            </a:r>
            <a:r>
              <a:rPr lang="en-US" altLang="zh-CN" sz="2400" b="1" dirty="0">
                <a:solidFill>
                  <a:srgbClr val="800080"/>
                </a:solidFill>
                <a:latin typeface="Courier New" panose="02070309020205020404" pitchFamily="49" charset="0"/>
              </a:rPr>
              <a:t>) </a:t>
            </a:r>
          </a:p>
          <a:p>
            <a:pPr eaLnBrk="1" hangingPunct="1">
              <a:lnSpc>
                <a:spcPct val="90000"/>
              </a:lnSpc>
              <a:buFontTx/>
              <a:buNone/>
            </a:pPr>
            <a:r>
              <a:rPr lang="zh-CN" altLang="en-US" sz="2400" b="1" dirty="0">
                <a:solidFill>
                  <a:srgbClr val="800080"/>
                </a:solidFill>
                <a:latin typeface="Courier New" panose="02070309020205020404" pitchFamily="49" charset="0"/>
              </a:rPr>
              <a:t>校正  </a:t>
            </a:r>
            <a:r>
              <a:rPr lang="en-US" altLang="zh-CN" sz="2400" b="1" dirty="0">
                <a:solidFill>
                  <a:srgbClr val="800080"/>
                </a:solidFill>
                <a:latin typeface="Courier New" panose="02070309020205020404" pitchFamily="49" charset="0"/>
              </a:rPr>
              <a:t>y</a:t>
            </a:r>
            <a:r>
              <a:rPr lang="en-US" altLang="zh-CN" sz="2400" b="1" baseline="-25000" dirty="0">
                <a:solidFill>
                  <a:srgbClr val="800080"/>
                </a:solidFill>
                <a:latin typeface="Courier New" panose="02070309020205020404" pitchFamily="49" charset="0"/>
              </a:rPr>
              <a:t>k+1</a:t>
            </a:r>
            <a:r>
              <a:rPr lang="zh-CN" altLang="en-US" sz="2400" b="1" dirty="0">
                <a:solidFill>
                  <a:srgbClr val="800080"/>
                </a:solidFill>
                <a:latin typeface="Courier New" panose="02070309020205020404" pitchFamily="49" charset="0"/>
              </a:rPr>
              <a:t>＝</a:t>
            </a:r>
            <a:r>
              <a:rPr lang="en-US" altLang="zh-CN" sz="2400" b="1" dirty="0" err="1">
                <a:solidFill>
                  <a:srgbClr val="800080"/>
                </a:solidFill>
                <a:latin typeface="Courier New" panose="02070309020205020404" pitchFamily="49" charset="0"/>
              </a:rPr>
              <a:t>y</a:t>
            </a:r>
            <a:r>
              <a:rPr lang="en-US" altLang="zh-CN" sz="2400" b="1" baseline="-25000" dirty="0" err="1">
                <a:solidFill>
                  <a:srgbClr val="800080"/>
                </a:solidFill>
                <a:latin typeface="Courier New" panose="02070309020205020404" pitchFamily="49" charset="0"/>
              </a:rPr>
              <a:t>k</a:t>
            </a:r>
            <a:r>
              <a:rPr lang="zh-CN" altLang="en-US" sz="2400" b="1" dirty="0">
                <a:solidFill>
                  <a:srgbClr val="800080"/>
                </a:solidFill>
                <a:latin typeface="Courier New" panose="02070309020205020404" pitchFamily="49" charset="0"/>
              </a:rPr>
              <a:t>＋</a:t>
            </a:r>
            <a:r>
              <a:rPr lang="en-US" altLang="zh-CN" sz="2400" b="1" dirty="0">
                <a:solidFill>
                  <a:srgbClr val="800080"/>
                </a:solidFill>
                <a:latin typeface="Courier New" panose="02070309020205020404" pitchFamily="49" charset="0"/>
              </a:rPr>
              <a:t>h/2</a:t>
            </a:r>
            <a:r>
              <a:rPr lang="zh-CN" altLang="en-US" sz="2400" b="1" dirty="0">
                <a:solidFill>
                  <a:srgbClr val="800080"/>
                </a:solidFill>
                <a:latin typeface="Courier New" panose="02070309020205020404" pitchFamily="49" charset="0"/>
              </a:rPr>
              <a:t>［</a:t>
            </a:r>
            <a:r>
              <a:rPr lang="en-US" altLang="zh-CN" sz="2400" b="1" dirty="0">
                <a:solidFill>
                  <a:srgbClr val="800080"/>
                </a:solidFill>
                <a:latin typeface="Courier New" panose="02070309020205020404" pitchFamily="49" charset="0"/>
              </a:rPr>
              <a:t>f(</a:t>
            </a:r>
            <a:r>
              <a:rPr lang="en-US" altLang="zh-CN" sz="2400" b="1" dirty="0" err="1">
                <a:solidFill>
                  <a:srgbClr val="800080"/>
                </a:solidFill>
                <a:latin typeface="Courier New" panose="02070309020205020404" pitchFamily="49" charset="0"/>
              </a:rPr>
              <a:t>t</a:t>
            </a:r>
            <a:r>
              <a:rPr lang="en-US" altLang="zh-CN" sz="2400" b="1" baseline="-25000" dirty="0" err="1">
                <a:solidFill>
                  <a:srgbClr val="800080"/>
                </a:solidFill>
                <a:latin typeface="Courier New" panose="02070309020205020404" pitchFamily="49" charset="0"/>
              </a:rPr>
              <a:t>k</a:t>
            </a:r>
            <a:r>
              <a:rPr lang="en-US" altLang="zh-CN" sz="2400" b="1" dirty="0" err="1">
                <a:solidFill>
                  <a:srgbClr val="800080"/>
                </a:solidFill>
                <a:latin typeface="Courier New" panose="02070309020205020404" pitchFamily="49" charset="0"/>
              </a:rPr>
              <a:t>,y</a:t>
            </a:r>
            <a:r>
              <a:rPr lang="en-US" altLang="zh-CN" sz="2400" b="1" baseline="-25000" dirty="0" err="1">
                <a:solidFill>
                  <a:srgbClr val="800080"/>
                </a:solidFill>
                <a:latin typeface="Courier New" panose="02070309020205020404" pitchFamily="49" charset="0"/>
              </a:rPr>
              <a:t>k</a:t>
            </a:r>
            <a:r>
              <a:rPr lang="en-US" altLang="zh-CN" sz="2400" b="1" dirty="0">
                <a:solidFill>
                  <a:srgbClr val="800080"/>
                </a:solidFill>
                <a:latin typeface="Courier New" panose="02070309020205020404" pitchFamily="49" charset="0"/>
              </a:rPr>
              <a:t>)</a:t>
            </a:r>
            <a:r>
              <a:rPr lang="zh-CN" altLang="en-US" sz="2400" b="1" dirty="0">
                <a:solidFill>
                  <a:srgbClr val="800080"/>
                </a:solidFill>
                <a:latin typeface="Courier New" panose="02070309020205020404" pitchFamily="49" charset="0"/>
              </a:rPr>
              <a:t>＋                                      </a:t>
            </a:r>
            <a:r>
              <a:rPr lang="en-US" altLang="zh-CN" sz="2400" b="1" dirty="0" err="1">
                <a:solidFill>
                  <a:srgbClr val="800080"/>
                </a:solidFill>
                <a:latin typeface="Courier New" panose="02070309020205020404" pitchFamily="49" charset="0"/>
              </a:rPr>
              <a:t>f</a:t>
            </a:r>
            <a:r>
              <a:rPr lang="en-US" altLang="zh-CN" sz="2400" b="1" baseline="30000" dirty="0" err="1">
                <a:solidFill>
                  <a:srgbClr val="800080"/>
                </a:solidFill>
                <a:latin typeface="Courier New" panose="02070309020205020404" pitchFamily="49" charset="0"/>
              </a:rPr>
              <a:t>P</a:t>
            </a:r>
            <a:r>
              <a:rPr lang="en-US" altLang="zh-CN" sz="2400" b="1" dirty="0">
                <a:solidFill>
                  <a:srgbClr val="800080"/>
                </a:solidFill>
                <a:latin typeface="Courier New" panose="02070309020205020404" pitchFamily="49" charset="0"/>
              </a:rPr>
              <a:t>(t</a:t>
            </a:r>
            <a:r>
              <a:rPr lang="en-US" altLang="zh-CN" sz="2400" b="1" baseline="-25000" dirty="0">
                <a:solidFill>
                  <a:srgbClr val="800080"/>
                </a:solidFill>
                <a:latin typeface="Courier New" panose="02070309020205020404" pitchFamily="49" charset="0"/>
              </a:rPr>
              <a:t>k+1</a:t>
            </a:r>
            <a:r>
              <a:rPr lang="en-US" altLang="zh-CN" sz="2400" b="1" dirty="0">
                <a:solidFill>
                  <a:srgbClr val="800080"/>
                </a:solidFill>
                <a:latin typeface="Courier New" panose="02070309020205020404" pitchFamily="49" charset="0"/>
              </a:rPr>
              <a:t>,</a:t>
            </a:r>
            <a:r>
              <a:rPr lang="en-US" altLang="zh-CN" sz="2400" b="1" dirty="0">
                <a:solidFill>
                  <a:srgbClr val="008000"/>
                </a:solidFill>
                <a:latin typeface="Courier New" panose="02070309020205020404" pitchFamily="49" charset="0"/>
              </a:rPr>
              <a:t>y</a:t>
            </a:r>
            <a:r>
              <a:rPr lang="en-US" altLang="zh-CN" sz="2400" b="1" baseline="30000" dirty="0">
                <a:solidFill>
                  <a:srgbClr val="008000"/>
                </a:solidFill>
                <a:latin typeface="Courier New" panose="02070309020205020404" pitchFamily="49" charset="0"/>
              </a:rPr>
              <a:t>P</a:t>
            </a:r>
            <a:r>
              <a:rPr lang="en-US" altLang="zh-CN" sz="2400" b="1" baseline="-25000" dirty="0">
                <a:solidFill>
                  <a:srgbClr val="008000"/>
                </a:solidFill>
                <a:latin typeface="Courier New" panose="02070309020205020404" pitchFamily="49" charset="0"/>
              </a:rPr>
              <a:t>k+1</a:t>
            </a:r>
            <a:r>
              <a:rPr lang="en-US" altLang="zh-CN" sz="2400" b="1" dirty="0">
                <a:solidFill>
                  <a:srgbClr val="800080"/>
                </a:solidFill>
                <a:latin typeface="Courier New" panose="02070309020205020404" pitchFamily="49" charset="0"/>
              </a:rPr>
              <a:t>)</a:t>
            </a:r>
            <a:r>
              <a:rPr lang="zh-CN" altLang="en-US" sz="2400" b="1" dirty="0">
                <a:solidFill>
                  <a:srgbClr val="800080"/>
                </a:solidFill>
                <a:latin typeface="Courier New" panose="02070309020205020404" pitchFamily="49" charset="0"/>
              </a:rPr>
              <a:t>］）｝</a:t>
            </a:r>
            <a:endParaRPr lang="en-US" altLang="zh-CN" sz="2400" dirty="0"/>
          </a:p>
        </p:txBody>
      </p:sp>
      <p:pic>
        <p:nvPicPr>
          <p:cNvPr id="7" name="图片 6">
            <a:extLst>
              <a:ext uri="{FF2B5EF4-FFF2-40B4-BE49-F238E27FC236}">
                <a16:creationId xmlns:a16="http://schemas.microsoft.com/office/drawing/2014/main" id="{C5FD3152-C445-4076-90AF-0FD28E22E3B4}"/>
              </a:ext>
            </a:extLst>
          </p:cNvPr>
          <p:cNvPicPr>
            <a:picLocks noChangeAspect="1"/>
          </p:cNvPicPr>
          <p:nvPr/>
        </p:nvPicPr>
        <p:blipFill>
          <a:blip r:embed="rId4"/>
          <a:stretch>
            <a:fillRect/>
          </a:stretch>
        </p:blipFill>
        <p:spPr>
          <a:xfrm>
            <a:off x="323528" y="2060848"/>
            <a:ext cx="4157874" cy="2108064"/>
          </a:xfrm>
          <a:prstGeom prst="rect">
            <a:avLst/>
          </a:prstGeom>
        </p:spPr>
      </p:pic>
    </p:spTree>
    <p:extLst>
      <p:ext uri="{BB962C8B-B14F-4D97-AF65-F5344CB8AC3E}">
        <p14:creationId xmlns:p14="http://schemas.microsoft.com/office/powerpoint/2010/main" val="2276647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970"/>
                                        </p:tgtEl>
                                        <p:attrNameLst>
                                          <p:attrName>style.visibility</p:attrName>
                                        </p:attrNameLst>
                                      </p:cBhvr>
                                      <p:to>
                                        <p:strVal val="visible"/>
                                      </p:to>
                                    </p:set>
                                    <p:anim calcmode="lin" valueType="num">
                                      <p:cBhvr additive="base">
                                        <p:cTn id="7" dur="500" fill="hold"/>
                                        <p:tgtEl>
                                          <p:spTgt spid="83970"/>
                                        </p:tgtEl>
                                        <p:attrNameLst>
                                          <p:attrName>ppt_x</p:attrName>
                                        </p:attrNameLst>
                                      </p:cBhvr>
                                      <p:tavLst>
                                        <p:tav tm="0">
                                          <p:val>
                                            <p:strVal val="#ppt_x"/>
                                          </p:val>
                                        </p:tav>
                                        <p:tav tm="100000">
                                          <p:val>
                                            <p:strVal val="#ppt_x"/>
                                          </p:val>
                                        </p:tav>
                                      </p:tavLst>
                                    </p:anim>
                                    <p:anim calcmode="lin" valueType="num">
                                      <p:cBhvr additive="base">
                                        <p:cTn id="8" dur="500" fill="hold"/>
                                        <p:tgtEl>
                                          <p:spTgt spid="839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5D081C-EDF9-4BCB-A6AC-E7C5564C042A}"/>
              </a:ext>
            </a:extLst>
          </p:cNvPr>
          <p:cNvSpPr>
            <a:spLocks noGrp="1"/>
          </p:cNvSpPr>
          <p:nvPr>
            <p:ph type="title"/>
          </p:nvPr>
        </p:nvSpPr>
        <p:spPr/>
        <p:txBody>
          <a:bodyPr/>
          <a:lstStyle/>
          <a:p>
            <a:endParaRPr lang="zh-CN" altLang="en-US"/>
          </a:p>
        </p:txBody>
      </p:sp>
      <p:pic>
        <p:nvPicPr>
          <p:cNvPr id="6" name="内容占位符 5">
            <a:extLst>
              <a:ext uri="{FF2B5EF4-FFF2-40B4-BE49-F238E27FC236}">
                <a16:creationId xmlns:a16="http://schemas.microsoft.com/office/drawing/2014/main" id="{8CB14797-3453-4076-8F7C-A0D665DF9B6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619672" y="1844824"/>
            <a:ext cx="3528392" cy="4704523"/>
          </a:xfrm>
        </p:spPr>
      </p:pic>
      <p:sp>
        <p:nvSpPr>
          <p:cNvPr id="4" name="灯片编号占位符 3">
            <a:extLst>
              <a:ext uri="{FF2B5EF4-FFF2-40B4-BE49-F238E27FC236}">
                <a16:creationId xmlns:a16="http://schemas.microsoft.com/office/drawing/2014/main" id="{1B6D9C08-609C-4EF7-A5DF-748625930E25}"/>
              </a:ext>
            </a:extLst>
          </p:cNvPr>
          <p:cNvSpPr>
            <a:spLocks noGrp="1"/>
          </p:cNvSpPr>
          <p:nvPr>
            <p:ph type="sldNum" sz="quarter" idx="12"/>
          </p:nvPr>
        </p:nvSpPr>
        <p:spPr/>
        <p:txBody>
          <a:bodyPr/>
          <a:lstStyle/>
          <a:p>
            <a:pPr>
              <a:defRPr/>
            </a:pPr>
            <a:fld id="{B5E95236-D0C1-4D31-8D61-5EF5DA33B082}" type="slidenum">
              <a:rPr lang="en-US" altLang="zh-CN" smtClean="0"/>
              <a:pPr>
                <a:defRPr/>
              </a:pPr>
              <a:t>91</a:t>
            </a:fld>
            <a:endParaRPr lang="en-US" altLang="zh-CN"/>
          </a:p>
        </p:txBody>
      </p:sp>
    </p:spTree>
    <p:extLst>
      <p:ext uri="{BB962C8B-B14F-4D97-AF65-F5344CB8AC3E}">
        <p14:creationId xmlns:p14="http://schemas.microsoft.com/office/powerpoint/2010/main" val="328384111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3.4.1 </a:t>
            </a:r>
            <a:r>
              <a:rPr lang="zh-CN" altLang="en-US" dirty="0"/>
              <a:t>替换法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043608" y="1988840"/>
                <a:ext cx="7772400" cy="4114800"/>
              </a:xfrm>
            </p:spPr>
            <p:txBody>
              <a:bodyPr/>
              <a:lstStyle/>
              <a:p>
                <a:r>
                  <a:rPr lang="zh-CN" altLang="en-US" dirty="0"/>
                  <a:t>替换法就是设法找到</a:t>
                </a:r>
                <a:r>
                  <a:rPr lang="en-US" altLang="zh-CN" dirty="0"/>
                  <a:t>s</a:t>
                </a:r>
                <a:r>
                  <a:rPr lang="zh-CN" altLang="en-US" dirty="0"/>
                  <a:t>和</a:t>
                </a:r>
                <a:r>
                  <a:rPr lang="en-US" altLang="zh-CN" dirty="0"/>
                  <a:t>z</a:t>
                </a:r>
                <a:r>
                  <a:rPr lang="zh-CN" altLang="en-US" dirty="0"/>
                  <a:t>的对应公式，然后将</a:t>
                </a:r>
                <a:r>
                  <a:rPr lang="en-US" altLang="zh-CN" dirty="0"/>
                  <a:t>G(s)</a:t>
                </a:r>
                <a:r>
                  <a:rPr lang="zh-CN" altLang="en-US" dirty="0"/>
                  <a:t>中的</a:t>
                </a:r>
                <a:r>
                  <a:rPr lang="en-US" altLang="zh-CN" dirty="0"/>
                  <a:t>s</a:t>
                </a:r>
                <a:r>
                  <a:rPr lang="zh-CN" altLang="en-US" dirty="0"/>
                  <a:t>换成</a:t>
                </a:r>
                <a:r>
                  <a:rPr lang="en-US" altLang="zh-CN" dirty="0"/>
                  <a:t>z</a:t>
                </a:r>
                <a:r>
                  <a:rPr lang="zh-CN" altLang="en-US" dirty="0"/>
                  <a:t>，从而得到</a:t>
                </a:r>
                <a:r>
                  <a:rPr lang="en-US" altLang="zh-CN" dirty="0"/>
                  <a:t>G(z)</a:t>
                </a:r>
                <a:r>
                  <a:rPr lang="zh-CN" altLang="en-US" dirty="0"/>
                  <a:t>。</a:t>
                </a:r>
                <a:r>
                  <a:rPr lang="en-US" altLang="zh-CN" dirty="0"/>
                  <a:t>z</a:t>
                </a:r>
                <a:r>
                  <a:rPr lang="zh-CN" altLang="en-US" dirty="0"/>
                  <a:t>和</a:t>
                </a:r>
                <a:r>
                  <a:rPr lang="en-US" altLang="zh-CN" dirty="0"/>
                  <a:t>s</a:t>
                </a:r>
                <a:r>
                  <a:rPr lang="zh-CN" altLang="en-US" dirty="0"/>
                  <a:t>的关系可以用超越函数</a:t>
                </a:r>
                <a14:m>
                  <m:oMath xmlns:m="http://schemas.openxmlformats.org/officeDocument/2006/math">
                    <m:r>
                      <a:rPr lang="en-US" altLang="zh-CN" b="0" i="1" dirty="0" smtClean="0">
                        <a:latin typeface="Cambria Math" panose="02040503050406030204" pitchFamily="18" charset="0"/>
                      </a:rPr>
                      <m:t>𝑧</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𝑒</m:t>
                        </m:r>
                      </m:e>
                      <m:sup>
                        <m:r>
                          <a:rPr lang="en-US" altLang="zh-CN" b="0" i="1" dirty="0" smtClean="0">
                            <a:latin typeface="Cambria Math" panose="02040503050406030204" pitchFamily="18" charset="0"/>
                          </a:rPr>
                          <m:t>𝑠𝑇</m:t>
                        </m:r>
                      </m:sup>
                    </m:sSup>
                  </m:oMath>
                </a14:m>
                <a:r>
                  <a:rPr lang="zh-CN" altLang="en-US" dirty="0"/>
                  <a:t>来表示，可以用欧拉替换和双线性替换法来进行模型变换。</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043608" y="1988840"/>
                <a:ext cx="7772400" cy="4114800"/>
              </a:xfrm>
              <a:blipFill rotWithShape="1">
                <a:blip r:embed="rId2"/>
                <a:stretch>
                  <a:fillRect l="-549" t="-2222" r="-1333"/>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92</a:t>
            </a:fld>
            <a:endParaRPr lang="en-US" altLang="zh-CN"/>
          </a:p>
        </p:txBody>
      </p:sp>
    </p:spTree>
    <p:extLst>
      <p:ext uri="{BB962C8B-B14F-4D97-AF65-F5344CB8AC3E}">
        <p14:creationId xmlns:p14="http://schemas.microsoft.com/office/powerpoint/2010/main" val="3718863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欧拉替换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微分方程</a:t>
                </a:r>
                <a14:m>
                  <m:oMath xmlns:m="http://schemas.openxmlformats.org/officeDocument/2006/math">
                    <m:f>
                      <m:fPr>
                        <m:ctrlPr>
                          <a:rPr lang="en-US" altLang="zh-CN" i="1" smtClean="0">
                            <a:latin typeface="Cambria Math" panose="02040503050406030204" pitchFamily="18" charset="0"/>
                          </a:rPr>
                        </m:ctrlPr>
                      </m:fPr>
                      <m:num>
                        <m:r>
                          <a:rPr lang="en-US" altLang="zh-CN" i="1" smtClean="0">
                            <a:latin typeface="Cambria Math" panose="02040503050406030204" pitchFamily="18" charset="0"/>
                          </a:rPr>
                          <m:t>𝑑</m:t>
                        </m:r>
                        <m:r>
                          <a:rPr lang="en-US" altLang="zh-CN" b="0" i="1" smtClean="0">
                            <a:latin typeface="Cambria Math" panose="02040503050406030204" pitchFamily="18" charset="0"/>
                          </a:rPr>
                          <m:t>𝑥</m:t>
                        </m:r>
                      </m:num>
                      <m:den>
                        <m:r>
                          <a:rPr lang="en-US" altLang="zh-CN" i="1" smtClean="0">
                            <a:latin typeface="Cambria Math" panose="02040503050406030204" pitchFamily="18" charset="0"/>
                          </a:rPr>
                          <m:t>𝑑</m:t>
                        </m:r>
                        <m:r>
                          <a:rPr lang="en-US" altLang="zh-CN" b="0" i="1" smtClean="0">
                            <a:latin typeface="Cambria Math" panose="02040503050406030204" pitchFamily="18" charset="0"/>
                          </a:rPr>
                          <m:t>𝑡</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endParaRPr lang="en-US" altLang="zh-CN" dirty="0"/>
              </a:p>
              <a:p>
                <a:r>
                  <a:rPr lang="zh-CN" altLang="en-US" dirty="0"/>
                  <a:t>欧拉积分公式</a:t>
                </a:r>
                <a:endParaRPr lang="en-US" altLang="zh-CN" dirty="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𝑇</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𝑢</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𝑘</m:t>
                        </m:r>
                      </m:sub>
                    </m:sSub>
                    <m:r>
                      <a:rPr lang="en-US" altLang="zh-CN" i="1">
                        <a:latin typeface="Cambria Math" panose="02040503050406030204" pitchFamily="18" charset="0"/>
                      </a:rPr>
                      <m:t>+</m:t>
                    </m:r>
                    <m:r>
                      <a:rPr lang="en-US" altLang="zh-CN" i="1">
                        <a:latin typeface="Cambria Math" panose="02040503050406030204" pitchFamily="18" charset="0"/>
                      </a:rPr>
                      <m:t>𝑇</m:t>
                    </m:r>
                    <m:acc>
                      <m:accPr>
                        <m:chr m:val="̇"/>
                        <m:ctrlPr>
                          <a:rPr lang="en-US" altLang="zh-CN"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e>
                    </m:acc>
                  </m:oMath>
                </a14:m>
                <a:endParaRPr lang="en-US" altLang="zh-CN" dirty="0"/>
              </a:p>
              <a:p>
                <a:endParaRPr lang="en-US" altLang="zh-CN" dirty="0"/>
              </a:p>
              <a:p>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𝑧</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oMath>
                </a14:m>
                <a:r>
                  <a:rPr lang="zh-CN" altLang="en-US" dirty="0"/>
                  <a:t>            </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𝑥</m:t>
                        </m:r>
                      </m:num>
                      <m:den>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𝑥</m:t>
                            </m:r>
                          </m:e>
                        </m:acc>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𝑇</m:t>
                        </m:r>
                      </m:num>
                      <m:den>
                        <m:r>
                          <a:rPr lang="en-US" altLang="zh-CN" b="0" i="1" smtClean="0">
                            <a:latin typeface="Cambria Math" panose="02040503050406030204" pitchFamily="18" charset="0"/>
                          </a:rPr>
                          <m:t>𝑧</m:t>
                        </m:r>
                        <m:r>
                          <a:rPr lang="en-US" altLang="zh-CN" b="0" i="1" smtClean="0">
                            <a:latin typeface="Cambria Math" panose="02040503050406030204" pitchFamily="18" charset="0"/>
                          </a:rPr>
                          <m:t>−1</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𝑠</m:t>
                        </m:r>
                      </m:den>
                    </m:f>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49" t="-14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93</a:t>
            </a:fld>
            <a:endParaRPr lang="en-US" altLang="zh-CN"/>
          </a:p>
        </p:txBody>
      </p:sp>
      <p:sp>
        <p:nvSpPr>
          <p:cNvPr id="5" name="下箭头 4"/>
          <p:cNvSpPr/>
          <p:nvPr/>
        </p:nvSpPr>
        <p:spPr>
          <a:xfrm>
            <a:off x="3635896" y="4077072"/>
            <a:ext cx="216024" cy="504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右箭头 5"/>
          <p:cNvSpPr/>
          <p:nvPr/>
        </p:nvSpPr>
        <p:spPr>
          <a:xfrm>
            <a:off x="4355976" y="4869160"/>
            <a:ext cx="1080120"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9460311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由此得到</a:t>
                </a:r>
                <a14:m>
                  <m:oMath xmlns:m="http://schemas.openxmlformats.org/officeDocument/2006/math">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𝑠</m:t>
                        </m:r>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𝑇</m:t>
                        </m:r>
                      </m:num>
                      <m:den>
                        <m:r>
                          <a:rPr lang="en-US" altLang="zh-CN" i="1">
                            <a:latin typeface="Cambria Math" panose="02040503050406030204" pitchFamily="18" charset="0"/>
                          </a:rPr>
                          <m:t>𝑧</m:t>
                        </m:r>
                        <m:r>
                          <a:rPr lang="en-US" altLang="zh-CN" i="1">
                            <a:latin typeface="Cambria Math" panose="02040503050406030204" pitchFamily="18" charset="0"/>
                          </a:rPr>
                          <m:t>−1</m:t>
                        </m:r>
                      </m:den>
                    </m:f>
                  </m:oMath>
                </a14:m>
                <a:endParaRPr lang="zh-CN" altLang="en-US" dirty="0"/>
              </a:p>
              <a:p>
                <a:r>
                  <a:rPr lang="zh-CN" altLang="en-US" dirty="0"/>
                  <a:t> 得到欧拉替换公式  </a:t>
                </a:r>
                <a14:m>
                  <m:oMath xmlns:m="http://schemas.openxmlformats.org/officeDocument/2006/math">
                    <m:r>
                      <m:rPr>
                        <m:sty m:val="p"/>
                      </m:rPr>
                      <a:rPr lang="en-US" altLang="zh-CN" b="0" i="0" smtClean="0">
                        <a:latin typeface="Cambria Math" panose="02040503050406030204" pitchFamily="18" charset="0"/>
                      </a:rPr>
                      <m:t>s</m:t>
                    </m:r>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𝑧</m:t>
                        </m:r>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𝑇</m:t>
                        </m:r>
                      </m:den>
                    </m:f>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49" t="-29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94</a:t>
            </a:fld>
            <a:endParaRPr lang="en-US" altLang="zh-CN"/>
          </a:p>
        </p:txBody>
      </p:sp>
    </p:spTree>
    <p:extLst>
      <p:ext uri="{BB962C8B-B14F-4D97-AF65-F5344CB8AC3E}">
        <p14:creationId xmlns:p14="http://schemas.microsoft.com/office/powerpoint/2010/main" val="166732253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欧拉替换的稳定性分析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600" y="1988840"/>
                <a:ext cx="7772400" cy="4114800"/>
              </a:xfrm>
            </p:spPr>
            <p:txBody>
              <a:bodyPr/>
              <a:lstStyle/>
              <a:p>
                <a:r>
                  <a:rPr lang="zh-CN" altLang="en-US" dirty="0"/>
                  <a:t>主要分析</a:t>
                </a:r>
                <a:r>
                  <a:rPr lang="en-US" altLang="zh-CN" dirty="0"/>
                  <a:t>s</a:t>
                </a:r>
                <a:r>
                  <a:rPr lang="zh-CN" altLang="en-US" dirty="0"/>
                  <a:t>域上任意一点，映射到</a:t>
                </a:r>
                <a:r>
                  <a:rPr lang="en-US" altLang="zh-CN" dirty="0"/>
                  <a:t>z</a:t>
                </a:r>
                <a:r>
                  <a:rPr lang="zh-CN" altLang="en-US" dirty="0"/>
                  <a:t>域的哪里？</a:t>
                </a:r>
                <a:endParaRPr lang="en-US" altLang="zh-CN" dirty="0"/>
              </a:p>
              <a:p>
                <a:r>
                  <a:rPr lang="zh-CN" altLang="en-US" dirty="0"/>
                  <a:t>设</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zh-CN" altLang="en-US" b="0" i="1" smtClean="0">
                        <a:latin typeface="Cambria Math" panose="02040503050406030204" pitchFamily="18" charset="0"/>
                      </a:rPr>
                      <m:t>𝜎</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m:rPr>
                        <m:sty m:val="p"/>
                      </m:rPr>
                      <a:rPr lang="el-GR" altLang="zh-CN" b="0" i="1" smtClean="0">
                        <a:latin typeface="Cambria Math" panose="02040503050406030204" pitchFamily="18" charset="0"/>
                        <a:ea typeface="Cambria Math" panose="02040503050406030204" pitchFamily="18" charset="0"/>
                      </a:rPr>
                      <m:t>Ω</m:t>
                    </m:r>
                  </m:oMath>
                </a14:m>
                <a:endParaRPr lang="en-US" altLang="zh-CN" b="0" dirty="0">
                  <a:ea typeface="Cambria Math" panose="02040503050406030204" pitchFamily="18" charset="0"/>
                </a:endParaRPr>
              </a:p>
              <a:p>
                <a14:m>
                  <m:oMath xmlns:m="http://schemas.openxmlformats.org/officeDocument/2006/math">
                    <m:r>
                      <a:rPr lang="en-US" altLang="zh-CN" b="0" i="1" smtClean="0">
                        <a:latin typeface="Cambria Math" panose="02040503050406030204" pitchFamily="18" charset="0"/>
                      </a:rPr>
                      <m:t>𝑧</m:t>
                    </m:r>
                    <m:r>
                      <a:rPr lang="en-US" altLang="zh-CN" b="0" i="1" smtClean="0">
                        <a:latin typeface="Cambria Math" panose="02040503050406030204" pitchFamily="18" charset="0"/>
                      </a:rPr>
                      <m:t>=</m:t>
                    </m:r>
                    <m:r>
                      <a:rPr lang="en-US" altLang="zh-CN" b="0" i="1" smtClean="0">
                        <a:latin typeface="Cambria Math" panose="02040503050406030204" pitchFamily="18" charset="0"/>
                      </a:rPr>
                      <m:t>𝑇𝑠</m:t>
                    </m:r>
                    <m:r>
                      <a:rPr lang="en-US" altLang="zh-CN" b="0" i="1" smtClean="0">
                        <a:latin typeface="Cambria Math" panose="02040503050406030204" pitchFamily="18" charset="0"/>
                      </a:rPr>
                      <m:t>+1=</m:t>
                    </m:r>
                    <m:r>
                      <a:rPr lang="en-US" altLang="zh-CN" b="0" i="1" smtClean="0">
                        <a:latin typeface="Cambria Math" panose="02040503050406030204" pitchFamily="18" charset="0"/>
                      </a:rPr>
                      <m:t>𝑇</m:t>
                    </m:r>
                    <m:d>
                      <m:dPr>
                        <m:ctrlPr>
                          <a:rPr lang="en-US" altLang="zh-CN" b="0" i="1" smtClean="0">
                            <a:latin typeface="Cambria Math" panose="02040503050406030204" pitchFamily="18" charset="0"/>
                          </a:rPr>
                        </m:ctrlPr>
                      </m:dPr>
                      <m:e>
                        <m:r>
                          <a:rPr lang="zh-CN" altLang="en-US" i="1">
                            <a:latin typeface="Cambria Math" panose="02040503050406030204" pitchFamily="18" charset="0"/>
                          </a:rPr>
                          <m:t>𝜎</m:t>
                        </m:r>
                        <m:r>
                          <a:rPr lang="en-US" altLang="zh-CN" i="1">
                            <a:latin typeface="Cambria Math" panose="02040503050406030204" pitchFamily="18" charset="0"/>
                          </a:rPr>
                          <m:t>+</m:t>
                        </m:r>
                        <m:r>
                          <a:rPr lang="en-US" altLang="zh-CN" i="1">
                            <a:latin typeface="Cambria Math" panose="02040503050406030204" pitchFamily="18" charset="0"/>
                          </a:rPr>
                          <m:t>𝑗</m:t>
                        </m:r>
                        <m:r>
                          <m:rPr>
                            <m:sty m:val="p"/>
                          </m:rPr>
                          <a:rPr lang="el-GR" altLang="zh-CN" i="1">
                            <a:latin typeface="Cambria Math" panose="02040503050406030204" pitchFamily="18" charset="0"/>
                            <a:ea typeface="Cambria Math" panose="02040503050406030204" pitchFamily="18" charset="0"/>
                          </a:rPr>
                          <m:t>Ω</m:t>
                        </m:r>
                      </m:e>
                    </m:d>
                    <m:r>
                      <a:rPr lang="en-US" altLang="zh-CN" b="0" i="1" smtClean="0">
                        <a:latin typeface="Cambria Math" panose="02040503050406030204" pitchFamily="18" charset="0"/>
                      </a:rPr>
                      <m:t>+1</m:t>
                    </m:r>
                  </m:oMath>
                </a14:m>
                <a:endParaRPr lang="en-US" altLang="zh-CN" dirty="0"/>
              </a:p>
              <a:p>
                <a14:m>
                  <m:oMath xmlns:m="http://schemas.openxmlformats.org/officeDocument/2006/math">
                    <m:sSup>
                      <m:sSupPr>
                        <m:ctrlPr>
                          <a:rPr lang="en-US" altLang="zh-CN"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𝑧</m:t>
                            </m:r>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m:t>
                        </m:r>
                        <m:r>
                          <a:rPr lang="en-US" altLang="zh-CN" b="0" i="1" smtClean="0">
                            <a:latin typeface="Cambria Math" panose="02040503050406030204" pitchFamily="18" charset="0"/>
                          </a:rPr>
                          <m:t>𝑇</m:t>
                        </m:r>
                        <m:r>
                          <a:rPr lang="zh-CN" altLang="en-US" b="0" i="1" smtClean="0">
                            <a:latin typeface="Cambria Math" panose="02040503050406030204" pitchFamily="18" charset="0"/>
                          </a:rPr>
                          <m:t>𝜎</m:t>
                        </m:r>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m:rPr>
                            <m:sty m:val="p"/>
                          </m:rPr>
                          <a:rPr lang="el-GR" altLang="zh-CN" b="0" i="1" smtClean="0">
                            <a:latin typeface="Cambria Math" panose="02040503050406030204" pitchFamily="18" charset="0"/>
                            <a:ea typeface="Cambria Math" panose="02040503050406030204" pitchFamily="18" charset="0"/>
                          </a:rPr>
                          <m:t>Ω</m:t>
                        </m:r>
                      </m:e>
                      <m:sup>
                        <m:r>
                          <a:rPr lang="en-US" altLang="zh-CN" b="0" i="1" smtClean="0">
                            <a:latin typeface="Cambria Math" panose="02040503050406030204" pitchFamily="18" charset="0"/>
                          </a:rPr>
                          <m:t>2</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2</m:t>
                        </m:r>
                      </m:sup>
                    </m:sSup>
                  </m:oMath>
                </a14:m>
                <a:endParaRPr lang="en-US" altLang="zh-CN" dirty="0"/>
              </a:p>
              <a:p>
                <a:r>
                  <a:rPr lang="en-US" altLang="zh-CN" dirty="0"/>
                  <a:t>Z</a:t>
                </a:r>
                <a:r>
                  <a:rPr lang="zh-CN" altLang="en-US" dirty="0"/>
                  <a:t>域上单位圆有</a:t>
                </a:r>
                <a14:m>
                  <m:oMath xmlns:m="http://schemas.openxmlformats.org/officeDocument/2006/math">
                    <m:sSup>
                      <m:sSupPr>
                        <m:ctrlPr>
                          <a:rPr lang="en-US" altLang="zh-CN" i="1">
                            <a:latin typeface="Cambria Math" panose="02040503050406030204" pitchFamily="18" charset="0"/>
                          </a:rPr>
                        </m:ctrlPr>
                      </m:sSup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𝑧</m:t>
                            </m:r>
                          </m:e>
                        </m:d>
                      </m:e>
                      <m:sup>
                        <m:r>
                          <a:rPr lang="en-US" altLang="zh-CN" i="1">
                            <a:latin typeface="Cambria Math" panose="02040503050406030204" pitchFamily="18" charset="0"/>
                          </a:rPr>
                          <m:t>2</m:t>
                        </m:r>
                      </m:sup>
                    </m:sSup>
                    <m:r>
                      <a:rPr lang="en-US" altLang="zh-CN" i="1">
                        <a:latin typeface="Cambria Math" panose="02040503050406030204" pitchFamily="18" charset="0"/>
                      </a:rPr>
                      <m:t>=</m:t>
                    </m:r>
                    <m:r>
                      <a:rPr lang="en-US" altLang="zh-CN" b="0" i="1" smtClean="0">
                        <a:latin typeface="Cambria Math" panose="02040503050406030204" pitchFamily="18" charset="0"/>
                      </a:rPr>
                      <m:t>1</m:t>
                    </m:r>
                  </m:oMath>
                </a14:m>
                <a:endParaRPr lang="en-US" altLang="zh-CN" dirty="0"/>
              </a:p>
              <a:p>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i="1">
                            <a:latin typeface="Cambria Math" panose="02040503050406030204" pitchFamily="18" charset="0"/>
                          </a:rPr>
                          <m:t>𝑇</m:t>
                        </m:r>
                        <m:r>
                          <a:rPr lang="zh-CN" altLang="en-US" i="1">
                            <a:latin typeface="Cambria Math" panose="02040503050406030204" pitchFamily="18" charset="0"/>
                          </a:rPr>
                          <m:t>𝜎</m:t>
                        </m:r>
                        <m:r>
                          <a:rPr lang="en-US" altLang="zh-CN"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m:rPr>
                            <m:sty m:val="p"/>
                          </m:rPr>
                          <a:rPr lang="el-GR" altLang="zh-CN" i="1">
                            <a:latin typeface="Cambria Math" panose="02040503050406030204" pitchFamily="18" charset="0"/>
                            <a:ea typeface="Cambria Math" panose="02040503050406030204" pitchFamily="18" charset="0"/>
                          </a:rPr>
                          <m:t>Ω</m:t>
                        </m:r>
                      </m:e>
                      <m:sup>
                        <m:r>
                          <a:rPr lang="en-US" altLang="zh-CN" i="1">
                            <a:latin typeface="Cambria Math" panose="02040503050406030204" pitchFamily="18" charset="0"/>
                          </a:rPr>
                          <m:t>2</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2</m:t>
                        </m:r>
                      </m:sup>
                    </m:sSup>
                    <m:r>
                      <a:rPr lang="en-US" altLang="zh-CN" b="0" i="1" smtClean="0">
                        <a:latin typeface="Cambria Math" panose="02040503050406030204" pitchFamily="18" charset="0"/>
                      </a:rPr>
                      <m:t>=1</m:t>
                    </m:r>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600" y="1988840"/>
                <a:ext cx="7772400" cy="4114800"/>
              </a:xfrm>
              <a:blipFill rotWithShape="1">
                <a:blip r:embed="rId2"/>
                <a:stretch>
                  <a:fillRect l="-549" t="-222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95</a:t>
            </a:fld>
            <a:endParaRPr lang="en-US" altLang="zh-CN"/>
          </a:p>
        </p:txBody>
      </p:sp>
    </p:spTree>
    <p:extLst>
      <p:ext uri="{BB962C8B-B14F-4D97-AF65-F5344CB8AC3E}">
        <p14:creationId xmlns:p14="http://schemas.microsoft.com/office/powerpoint/2010/main" val="3550630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5920" y="3312368"/>
            <a:ext cx="5534392" cy="3284984"/>
          </a:xfrm>
          <a:prstGeom prst="rect">
            <a:avLst/>
          </a:prstGeom>
        </p:spPr>
      </p:pic>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整理得到</a:t>
                </a:r>
                <a14:m>
                  <m:oMath xmlns:m="http://schemas.openxmlformats.org/officeDocument/2006/math">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 </m:t>
                        </m:r>
                        <m:r>
                          <a:rPr lang="en-US" altLang="zh-CN" b="0" i="1" smtClean="0">
                            <a:latin typeface="Cambria Math" panose="02040503050406030204" pitchFamily="18" charset="0"/>
                          </a:rPr>
                          <m:t>𝑇</m:t>
                        </m:r>
                      </m:e>
                      <m:sup>
                        <m:r>
                          <a:rPr lang="en-US" altLang="zh-CN" i="1">
                            <a:latin typeface="Cambria Math" panose="02040503050406030204" pitchFamily="18" charset="0"/>
                          </a:rPr>
                          <m:t>2</m:t>
                        </m:r>
                      </m:sup>
                    </m:sSup>
                    <m:sSup>
                      <m:sSupPr>
                        <m:ctrlPr>
                          <a:rPr lang="en-US" altLang="zh-CN" i="1" smtClean="0">
                            <a:latin typeface="Cambria Math" panose="02040503050406030204" pitchFamily="18" charset="0"/>
                          </a:rPr>
                        </m:ctrlPr>
                      </m:sSupPr>
                      <m:e>
                        <m:r>
                          <a:rPr lang="zh-CN" altLang="en-US" i="1" smtClean="0">
                            <a:latin typeface="Cambria Math" panose="02040503050406030204" pitchFamily="18" charset="0"/>
                          </a:rPr>
                          <m:t>𝜎</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+2</m:t>
                    </m:r>
                    <m:r>
                      <a:rPr lang="en-US" altLang="zh-CN" b="0" i="1" smtClean="0">
                        <a:latin typeface="Cambria Math" panose="02040503050406030204" pitchFamily="18" charset="0"/>
                      </a:rPr>
                      <m:t>𝑇</m:t>
                    </m:r>
                    <m:r>
                      <a:rPr lang="zh-CN" altLang="en-US" b="0" i="1" smtClean="0">
                        <a:latin typeface="Cambria Math" panose="02040503050406030204" pitchFamily="18" charset="0"/>
                      </a:rPr>
                      <m:t>𝜎</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m:rPr>
                            <m:sty m:val="p"/>
                          </m:rPr>
                          <a:rPr lang="el-GR" altLang="zh-CN" i="1">
                            <a:latin typeface="Cambria Math" panose="02040503050406030204" pitchFamily="18" charset="0"/>
                            <a:ea typeface="Cambria Math" panose="02040503050406030204" pitchFamily="18" charset="0"/>
                          </a:rPr>
                          <m:t>Ω</m:t>
                        </m:r>
                      </m:e>
                      <m:sup>
                        <m:r>
                          <a:rPr lang="en-US" altLang="zh-CN" i="1">
                            <a:latin typeface="Cambria Math" panose="02040503050406030204" pitchFamily="18" charset="0"/>
                          </a:rPr>
                          <m:t>2</m:t>
                        </m:r>
                      </m:sup>
                    </m:sSup>
                    <m:sSup>
                      <m:sSupPr>
                        <m:ctrlPr>
                          <a:rPr lang="en-US" altLang="zh-CN" i="1">
                            <a:latin typeface="Cambria Math" panose="02040503050406030204" pitchFamily="18" charset="0"/>
                          </a:rPr>
                        </m:ctrlPr>
                      </m:sSupPr>
                      <m:e>
                        <m:r>
                          <a:rPr lang="en-US" altLang="zh-CN" i="1">
                            <a:latin typeface="Cambria Math" panose="02040503050406030204" pitchFamily="18" charset="0"/>
                          </a:rPr>
                          <m:t>𝑇</m:t>
                        </m:r>
                      </m:e>
                      <m:sup>
                        <m:r>
                          <a:rPr lang="en-US" altLang="zh-CN" i="1">
                            <a:latin typeface="Cambria Math" panose="02040503050406030204" pitchFamily="18" charset="0"/>
                          </a:rPr>
                          <m:t>2</m:t>
                        </m:r>
                      </m:sup>
                    </m:sSup>
                    <m:r>
                      <a:rPr lang="en-US" altLang="zh-CN" b="0" i="1" smtClean="0">
                        <a:latin typeface="Cambria Math" panose="02040503050406030204" pitchFamily="18" charset="0"/>
                      </a:rPr>
                      <m:t>=0</m:t>
                    </m:r>
                  </m:oMath>
                </a14:m>
                <a:endParaRPr lang="en-US" altLang="zh-CN" dirty="0"/>
              </a:p>
              <a:p>
                <a:r>
                  <a:rPr lang="zh-CN" altLang="en-US" dirty="0"/>
                  <a:t>即：</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m:t>
                        </m:r>
                        <m:r>
                          <a:rPr lang="zh-CN" altLang="en-US" i="1">
                            <a:latin typeface="Cambria Math" panose="02040503050406030204" pitchFamily="18" charset="0"/>
                          </a:rPr>
                          <m:t>𝜎</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𝑇</m:t>
                            </m:r>
                          </m:den>
                        </m:f>
                        <m:r>
                          <a:rPr lang="en-US" altLang="zh-CN"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m:rPr>
                            <m:sty m:val="p"/>
                          </m:rPr>
                          <a:rPr lang="el-GR" altLang="zh-CN" i="1">
                            <a:latin typeface="Cambria Math" panose="02040503050406030204" pitchFamily="18" charset="0"/>
                            <a:ea typeface="Cambria Math" panose="02040503050406030204" pitchFamily="18" charset="0"/>
                          </a:rPr>
                          <m:t>Ω</m:t>
                        </m:r>
                      </m:e>
                      <m:sup>
                        <m:r>
                          <a:rPr lang="en-US" altLang="zh-CN" i="1">
                            <a:latin typeface="Cambria Math" panose="02040503050406030204" pitchFamily="18" charset="0"/>
                          </a:rPr>
                          <m:t>2</m:t>
                        </m:r>
                      </m:sup>
                    </m:sSup>
                    <m:r>
                      <a:rPr lang="en-US" altLang="zh-CN" b="0" i="0"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𝑇</m:t>
                            </m:r>
                          </m:den>
                        </m:f>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549" t="-237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96</a:t>
            </a:fld>
            <a:endParaRPr lang="en-US" altLang="zh-CN"/>
          </a:p>
        </p:txBody>
      </p:sp>
      <p:sp>
        <p:nvSpPr>
          <p:cNvPr id="7" name="椭圆 6"/>
          <p:cNvSpPr/>
          <p:nvPr/>
        </p:nvSpPr>
        <p:spPr>
          <a:xfrm flipH="1">
            <a:off x="1979712" y="3861048"/>
            <a:ext cx="504056" cy="5040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flipH="1">
            <a:off x="1979712" y="5445224"/>
            <a:ext cx="504056" cy="5040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文本框 8"/>
              <p:cNvSpPr txBox="1"/>
              <p:nvPr/>
            </p:nvSpPr>
            <p:spPr>
              <a:xfrm>
                <a:off x="6228184" y="5949280"/>
                <a:ext cx="28803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𝑇</m:t>
                      </m:r>
                      <m:r>
                        <a:rPr lang="en-US" altLang="zh-CN" sz="2400" b="0" i="1" smtClean="0">
                          <a:latin typeface="Cambria Math" panose="02040503050406030204" pitchFamily="18" charset="0"/>
                          <a:ea typeface="Cambria Math" panose="02040503050406030204" pitchFamily="18" charset="0"/>
                        </a:rPr>
                        <m:t>→0</m:t>
                      </m:r>
                      <m:r>
                        <a:rPr lang="zh-CN" altLang="en-US" sz="2400" b="0" i="1" smtClean="0">
                          <a:latin typeface="Cambria Math" panose="02040503050406030204" pitchFamily="18" charset="0"/>
                          <a:ea typeface="Cambria Math" panose="02040503050406030204" pitchFamily="18" charset="0"/>
                        </a:rPr>
                        <m:t>时，</m:t>
                      </m:r>
                      <m:r>
                        <a:rPr lang="zh-CN" altLang="en-US" sz="2400" i="1">
                          <a:latin typeface="Cambria Math" panose="02040503050406030204" pitchFamily="18" charset="0"/>
                          <a:ea typeface="Cambria Math" panose="02040503050406030204" pitchFamily="18" charset="0"/>
                        </a:rPr>
                        <m:t>才能</m:t>
                      </m:r>
                      <m:r>
                        <a:rPr lang="zh-CN" altLang="en-US" sz="2400" i="1" smtClean="0">
                          <a:latin typeface="Cambria Math" panose="02040503050406030204" pitchFamily="18" charset="0"/>
                          <a:ea typeface="Cambria Math" panose="02040503050406030204" pitchFamily="18" charset="0"/>
                        </a:rPr>
                        <m:t>稳定</m:t>
                      </m:r>
                    </m:oMath>
                  </m:oMathPara>
                </a14:m>
                <a:endParaRPr lang="zh-CN" altLang="en-US" sz="2400" dirty="0"/>
              </a:p>
            </p:txBody>
          </p:sp>
        </mc:Choice>
        <mc:Fallback xmlns="">
          <p:sp>
            <p:nvSpPr>
              <p:cNvPr id="9" name="文本框 8"/>
              <p:cNvSpPr txBox="1">
                <a:spLocks noRot="1" noChangeAspect="1" noMove="1" noResize="1" noEditPoints="1" noAdjustHandles="1" noChangeArrowheads="1" noChangeShapeType="1" noTextEdit="1"/>
              </p:cNvSpPr>
              <p:nvPr/>
            </p:nvSpPr>
            <p:spPr>
              <a:xfrm>
                <a:off x="6228184" y="5949280"/>
                <a:ext cx="2880321" cy="461665"/>
              </a:xfrm>
              <a:prstGeom prst="rect">
                <a:avLst/>
              </a:prstGeom>
              <a:blipFill>
                <a:blip r:embed="rId4"/>
                <a:stretch>
                  <a:fillRect r="-424" b="-131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600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双线性替换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由梯形积分公式推导而来</a:t>
                </a:r>
                <a:endParaRPr lang="en-US" altLang="zh-CN" dirty="0"/>
              </a:p>
              <a:p>
                <a:r>
                  <a:rPr lang="zh-CN" altLang="en-US" dirty="0"/>
                  <a:t>梯形积分公式</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𝑘</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𝑘</m:t>
                          </m:r>
                        </m:sub>
                      </m:sSub>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𝑇</m:t>
                          </m:r>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m:t>
                      </m:r>
                      <m:acc>
                        <m:accPr>
                          <m:chr m:val="̇"/>
                          <m:ctrlPr>
                            <a:rPr lang="en-US" altLang="zh-CN" i="1">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sub>
                          </m:sSub>
                        </m:e>
                      </m:acc>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e>
                      </m:acc>
                      <m:r>
                        <a:rPr lang="en-US" altLang="zh-CN" b="0" i="1" smtClean="0">
                          <a:latin typeface="Cambria Math" panose="02040503050406030204" pitchFamily="18" charset="0"/>
                        </a:rPr>
                        <m:t>)</m:t>
                      </m:r>
                    </m:oMath>
                  </m:oMathPara>
                </a14:m>
                <a:endParaRPr lang="en-US" altLang="zh-CN" dirty="0"/>
              </a:p>
              <a:p>
                <a:pPr marL="0" indent="0">
                  <a:buNone/>
                </a:pPr>
                <a:r>
                  <a:rPr lang="zh-CN" altLang="en-US" dirty="0"/>
                  <a:t>变形后得到：</a:t>
                </a:r>
                <a:endParaRPr lang="en-US" altLang="zh-CN" dirty="0"/>
              </a:p>
              <a:p>
                <a:pPr marL="0" indent="0">
                  <a:buNone/>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𝑧</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𝑥</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𝑇</m:t>
                          </m:r>
                        </m:num>
                        <m:den>
                          <m:r>
                            <a:rPr lang="en-US" altLang="zh-CN" i="1">
                              <a:latin typeface="Cambria Math" panose="02040503050406030204" pitchFamily="18" charset="0"/>
                            </a:rPr>
                            <m:t>2</m:t>
                          </m:r>
                        </m:den>
                      </m:f>
                      <m:r>
                        <a:rPr lang="en-US" altLang="zh-CN" i="1">
                          <a:latin typeface="Cambria Math" panose="02040503050406030204" pitchFamily="18" charset="0"/>
                        </a:rPr>
                        <m:t>(</m:t>
                      </m:r>
                      <m:r>
                        <a:rPr lang="en-US" altLang="zh-CN" b="0" i="1" smtClean="0">
                          <a:latin typeface="Cambria Math" panose="02040503050406030204" pitchFamily="18" charset="0"/>
                        </a:rPr>
                        <m:t>𝑧</m:t>
                      </m:r>
                      <m:r>
                        <a:rPr lang="en-US" altLang="zh-CN" b="0" i="1" smtClean="0">
                          <a:latin typeface="Cambria Math" panose="02040503050406030204" pitchFamily="18" charset="0"/>
                        </a:rPr>
                        <m:t>+1)</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oMath>
                  </m:oMathPara>
                </a14:m>
                <a:endParaRPr lang="en-US" altLang="zh-CN" dirty="0"/>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961" t="-222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97</a:t>
            </a:fld>
            <a:endParaRPr lang="en-US" altLang="zh-CN"/>
          </a:p>
        </p:txBody>
      </p:sp>
    </p:spTree>
    <p:extLst>
      <p:ext uri="{BB962C8B-B14F-4D97-AF65-F5344CB8AC3E}">
        <p14:creationId xmlns:p14="http://schemas.microsoft.com/office/powerpoint/2010/main" val="3206593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则：</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𝑇</m:t>
                        </m:r>
                      </m:num>
                      <m:den>
                        <m:r>
                          <a:rPr lang="en-US" altLang="zh-CN" b="0" i="1" smtClean="0">
                            <a:latin typeface="Cambria Math" panose="02040503050406030204" pitchFamily="18" charset="0"/>
                          </a:rPr>
                          <m:t>2</m:t>
                        </m:r>
                      </m:den>
                    </m:f>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m:t>
                        </m:r>
                        <m:r>
                          <a:rPr lang="en-US" altLang="zh-CN" b="0" i="1" smtClean="0">
                            <a:latin typeface="Cambria Math" panose="02040503050406030204" pitchFamily="18" charset="0"/>
                          </a:rPr>
                          <m:t>𝑧</m:t>
                        </m:r>
                        <m:r>
                          <a:rPr lang="en-US" altLang="zh-CN" b="0" i="1" smtClean="0">
                            <a:latin typeface="Cambria Math" panose="02040503050406030204" pitchFamily="18" charset="0"/>
                          </a:rPr>
                          <m:t>+1)</m:t>
                        </m:r>
                      </m:num>
                      <m:den>
                        <m:r>
                          <a:rPr lang="en-US" altLang="zh-CN" b="0" i="1" smtClean="0">
                            <a:latin typeface="Cambria Math" panose="02040503050406030204" pitchFamily="18" charset="0"/>
                          </a:rPr>
                          <m:t>(</m:t>
                        </m:r>
                        <m:r>
                          <a:rPr lang="en-US" altLang="zh-CN" b="0" i="1" smtClean="0">
                            <a:latin typeface="Cambria Math" panose="02040503050406030204" pitchFamily="18" charset="0"/>
                          </a:rPr>
                          <m:t>𝑧</m:t>
                        </m:r>
                        <m:r>
                          <a:rPr lang="en-US" altLang="zh-CN" b="0" i="1" smtClean="0">
                            <a:latin typeface="Cambria Math" panose="02040503050406030204" pitchFamily="18" charset="0"/>
                          </a:rPr>
                          <m:t>−1)</m:t>
                        </m:r>
                      </m:den>
                    </m:f>
                  </m:oMath>
                </a14:m>
                <a:endParaRPr lang="en-US" altLang="zh-CN" dirty="0"/>
              </a:p>
              <a:p>
                <a:r>
                  <a:rPr lang="zh-CN" altLang="en-US" dirty="0"/>
                  <a:t>即：</a:t>
                </a:r>
                <a14:m>
                  <m:oMath xmlns:m="http://schemas.openxmlformats.org/officeDocument/2006/math">
                    <m:r>
                      <m:rPr>
                        <m:sty m:val="p"/>
                      </m:rPr>
                      <a:rPr lang="en-US" altLang="zh-CN" dirty="0">
                        <a:latin typeface="Cambria Math" panose="02040503050406030204" pitchFamily="18" charset="0"/>
                      </a:rPr>
                      <m:t>s</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𝑇</m:t>
                        </m:r>
                      </m:den>
                    </m:f>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b="0" i="1" smtClean="0">
                            <a:latin typeface="Cambria Math" panose="02040503050406030204" pitchFamily="18" charset="0"/>
                          </a:rPr>
                          <m:t>−</m:t>
                        </m:r>
                        <m:r>
                          <a:rPr lang="en-US" altLang="zh-CN" i="1">
                            <a:latin typeface="Cambria Math" panose="02040503050406030204" pitchFamily="18" charset="0"/>
                          </a:rPr>
                          <m:t>1)</m:t>
                        </m:r>
                      </m:num>
                      <m:den>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b="0" i="1" smtClean="0">
                            <a:latin typeface="Cambria Math" panose="02040503050406030204" pitchFamily="18" charset="0"/>
                          </a:rPr>
                          <m:t>+</m:t>
                        </m:r>
                        <m:r>
                          <a:rPr lang="en-US" altLang="zh-CN" i="1">
                            <a:latin typeface="Cambria Math" panose="02040503050406030204" pitchFamily="18" charset="0"/>
                          </a:rPr>
                          <m:t>1)</m:t>
                        </m:r>
                      </m:den>
                    </m:f>
                    <m:r>
                      <a:rPr lang="en-US" altLang="zh-CN" b="0" i="1" smtClean="0">
                        <a:latin typeface="Cambria Math" panose="02040503050406030204" pitchFamily="18" charset="0"/>
                      </a:rPr>
                      <m:t>            </m:t>
                    </m:r>
                    <m:r>
                      <a:rPr lang="zh-CN" altLang="en-US" i="1">
                        <a:latin typeface="Cambria Math" panose="02040503050406030204" pitchFamily="18" charset="0"/>
                      </a:rPr>
                      <m:t>双线性</m:t>
                    </m:r>
                    <m:r>
                      <a:rPr lang="zh-CN" altLang="en-US" i="1" smtClean="0">
                        <a:latin typeface="Cambria Math" panose="02040503050406030204" pitchFamily="18" charset="0"/>
                      </a:rPr>
                      <m:t>替换</m:t>
                    </m:r>
                    <m:r>
                      <a:rPr lang="zh-CN" altLang="en-US" i="1">
                        <a:latin typeface="Cambria Math" panose="02040503050406030204" pitchFamily="18" charset="0"/>
                      </a:rPr>
                      <m:t>公式</m:t>
                    </m:r>
                  </m:oMath>
                </a14:m>
                <a:endParaRPr lang="zh-CN" altLang="en-US" dirty="0"/>
              </a:p>
              <a:p>
                <a:r>
                  <a:rPr lang="zh-CN" altLang="en-US" dirty="0"/>
                  <a:t>也可以写成：</a:t>
                </a:r>
                <a14:m>
                  <m:oMath xmlns:m="http://schemas.openxmlformats.org/officeDocument/2006/math">
                    <m:r>
                      <m:rPr>
                        <m:sty m:val="p"/>
                      </m:rPr>
                      <a:rPr lang="en-US" altLang="zh-CN" b="0" i="0" dirty="0" smtClean="0">
                        <a:latin typeface="Cambria Math" panose="02040503050406030204" pitchFamily="18" charset="0"/>
                      </a:rPr>
                      <m:t>z</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1+</m:t>
                        </m:r>
                        <m:f>
                          <m:fPr>
                            <m:type m:val="skw"/>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𝑠𝑇</m:t>
                            </m:r>
                          </m:num>
                          <m:den>
                            <m:r>
                              <a:rPr lang="en-US" altLang="zh-CN" b="0" i="1" smtClean="0">
                                <a:latin typeface="Cambria Math" panose="02040503050406030204" pitchFamily="18" charset="0"/>
                              </a:rPr>
                              <m:t>2</m:t>
                            </m:r>
                          </m:den>
                        </m:f>
                      </m:num>
                      <m:den>
                        <m:r>
                          <a:rPr lang="en-US" altLang="zh-CN" b="0" i="1" smtClean="0">
                            <a:latin typeface="Cambria Math" panose="02040503050406030204" pitchFamily="18" charset="0"/>
                          </a:rPr>
                          <m:t>1−</m:t>
                        </m:r>
                        <m:f>
                          <m:fPr>
                            <m:type m:val="skw"/>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𝑠𝑇</m:t>
                            </m:r>
                          </m:num>
                          <m:den>
                            <m:r>
                              <a:rPr lang="en-US" altLang="zh-CN" b="0" i="1" smtClean="0">
                                <a:latin typeface="Cambria Math" panose="02040503050406030204" pitchFamily="18" charset="0"/>
                              </a:rPr>
                              <m:t>2</m:t>
                            </m:r>
                          </m:den>
                        </m:f>
                      </m:den>
                    </m:f>
                  </m:oMath>
                </a14:m>
                <a:endParaRPr lang="en-US" altLang="zh-CN" dirty="0"/>
              </a:p>
              <a:p>
                <a14:m>
                  <m:oMath xmlns:m="http://schemas.openxmlformats.org/officeDocument/2006/math">
                    <m:sSup>
                      <m:sSupPr>
                        <m:ctrlPr>
                          <a:rPr lang="en-US" altLang="zh-CN" i="1" dirty="0" smtClean="0">
                            <a:latin typeface="Cambria Math" panose="02040503050406030204" pitchFamily="18" charset="0"/>
                          </a:rPr>
                        </m:ctrlPr>
                      </m:sSupPr>
                      <m:e>
                        <m:d>
                          <m:dPr>
                            <m:begChr m:val="|"/>
                            <m:endChr m:val="|"/>
                            <m:ctrlPr>
                              <a:rPr lang="en-US" altLang="zh-CN" i="1" dirty="0" smtClean="0">
                                <a:latin typeface="Cambria Math" panose="02040503050406030204" pitchFamily="18" charset="0"/>
                              </a:rPr>
                            </m:ctrlPr>
                          </m:dPr>
                          <m:e>
                            <m:r>
                              <a:rPr lang="en-US" altLang="zh-CN" b="0" i="1" dirty="0" smtClean="0">
                                <a:latin typeface="Cambria Math" panose="02040503050406030204" pitchFamily="18" charset="0"/>
                              </a:rPr>
                              <m:t>𝑧</m:t>
                            </m:r>
                          </m:e>
                        </m:d>
                      </m:e>
                      <m:sup>
                        <m:r>
                          <a:rPr lang="en-US" altLang="zh-CN" b="0" i="1" dirty="0" smtClean="0">
                            <a:latin typeface="Cambria Math" panose="02040503050406030204" pitchFamily="18" charset="0"/>
                          </a:rPr>
                          <m:t>2</m:t>
                        </m:r>
                      </m:sup>
                    </m:sSup>
                    <m:r>
                      <a:rPr lang="en-US" altLang="zh-CN" i="1">
                        <a:latin typeface="Cambria Math" panose="02040503050406030204" pitchFamily="18" charset="0"/>
                      </a:rPr>
                      <m:t>=</m:t>
                    </m:r>
                    <m:f>
                      <m:fPr>
                        <m:ctrlPr>
                          <a:rPr lang="en-US" altLang="zh-CN" i="1">
                            <a:latin typeface="Cambria Math" panose="02040503050406030204" pitchFamily="18" charset="0"/>
                          </a:rPr>
                        </m:ctrlPr>
                      </m:fPr>
                      <m:num>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(1+</m:t>
                            </m:r>
                            <m:f>
                              <m:fPr>
                                <m:ctrlPr>
                                  <a:rPr lang="en-US" altLang="zh-CN" i="1">
                                    <a:latin typeface="Cambria Math" panose="02040503050406030204" pitchFamily="18" charset="0"/>
                                  </a:rPr>
                                </m:ctrlPr>
                              </m:fPr>
                              <m:num>
                                <m:r>
                                  <a:rPr lang="zh-CN" altLang="en-US" i="1">
                                    <a:latin typeface="Cambria Math" panose="02040503050406030204" pitchFamily="18" charset="0"/>
                                  </a:rPr>
                                  <m:t>𝜎</m:t>
                                </m:r>
                                <m:r>
                                  <a:rPr lang="en-US" altLang="zh-CN" i="1">
                                    <a:latin typeface="Cambria Math" panose="02040503050406030204" pitchFamily="18" charset="0"/>
                                  </a:rPr>
                                  <m:t>𝑇</m:t>
                                </m:r>
                              </m:num>
                              <m:den>
                                <m:r>
                                  <a:rPr lang="en-US" altLang="zh-CN" i="1">
                                    <a:latin typeface="Cambria Math" panose="02040503050406030204" pitchFamily="18" charset="0"/>
                                  </a:rPr>
                                  <m:t>2</m:t>
                                </m:r>
                              </m:den>
                            </m:f>
                            <m:r>
                              <a:rPr lang="en-US" altLang="zh-CN" i="1">
                                <a:latin typeface="Cambria Math" panose="02040503050406030204" pitchFamily="18" charset="0"/>
                              </a:rPr>
                              <m:t>)</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m:rPr>
                                    <m:sty m:val="p"/>
                                  </m:rPr>
                                  <a:rPr lang="el-GR" altLang="zh-CN" i="1" smtClean="0">
                                    <a:latin typeface="Cambria Math" panose="02040503050406030204" pitchFamily="18" charset="0"/>
                                    <a:ea typeface="Cambria Math" panose="02040503050406030204" pitchFamily="18" charset="0"/>
                                  </a:rPr>
                                  <m:t>Ω</m:t>
                                </m:r>
                                <m:r>
                                  <a:rPr lang="en-US" altLang="zh-CN" b="0" i="1" smtClean="0">
                                    <a:latin typeface="Cambria Math" panose="02040503050406030204" pitchFamily="18" charset="0"/>
                                    <a:ea typeface="Cambria Math" panose="02040503050406030204" pitchFamily="18" charset="0"/>
                                  </a:rPr>
                                  <m:t>𝑇</m:t>
                                </m:r>
                              </m:num>
                              <m:den>
                                <m:r>
                                  <a:rPr lang="en-US" altLang="zh-CN" b="0" i="1" smtClean="0">
                                    <a:latin typeface="Cambria Math" panose="02040503050406030204" pitchFamily="18" charset="0"/>
                                  </a:rPr>
                                  <m:t>2</m:t>
                                </m:r>
                              </m:den>
                            </m:f>
                            <m:r>
                              <a:rPr lang="en-US" altLang="zh-CN" i="1">
                                <a:latin typeface="Cambria Math" panose="02040503050406030204" pitchFamily="18" charset="0"/>
                              </a:rPr>
                              <m:t>)</m:t>
                            </m:r>
                          </m:e>
                          <m:sup>
                            <m:r>
                              <a:rPr lang="en-US" altLang="zh-CN" i="1">
                                <a:latin typeface="Cambria Math" panose="02040503050406030204" pitchFamily="18" charset="0"/>
                              </a:rPr>
                              <m:t>2</m:t>
                            </m:r>
                          </m:sup>
                        </m:sSup>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zh-CN" altLang="en-US" i="1">
                                    <a:latin typeface="Cambria Math" panose="02040503050406030204" pitchFamily="18" charset="0"/>
                                  </a:rPr>
                                  <m:t>𝜎</m:t>
                                </m:r>
                                <m:r>
                                  <a:rPr lang="en-US" altLang="zh-CN" i="1">
                                    <a:latin typeface="Cambria Math" panose="02040503050406030204" pitchFamily="18" charset="0"/>
                                  </a:rPr>
                                  <m:t>𝑇</m:t>
                                </m:r>
                              </m:num>
                              <m:den>
                                <m:r>
                                  <a:rPr lang="en-US" altLang="zh-CN" i="1">
                                    <a:latin typeface="Cambria Math" panose="02040503050406030204" pitchFamily="18" charset="0"/>
                                  </a:rPr>
                                  <m:t>2</m:t>
                                </m:r>
                              </m:den>
                            </m:f>
                            <m:r>
                              <a:rPr lang="en-US" altLang="zh-CN"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f>
                              <m:fPr>
                                <m:ctrlPr>
                                  <a:rPr lang="en-US" altLang="zh-CN" i="1">
                                    <a:latin typeface="Cambria Math" panose="02040503050406030204" pitchFamily="18" charset="0"/>
                                  </a:rPr>
                                </m:ctrlPr>
                              </m:fPr>
                              <m:num>
                                <m:r>
                                  <m:rPr>
                                    <m:sty m:val="p"/>
                                  </m:rPr>
                                  <a:rPr lang="el-GR" altLang="zh-CN" i="1">
                                    <a:latin typeface="Cambria Math" panose="02040503050406030204" pitchFamily="18" charset="0"/>
                                    <a:ea typeface="Cambria Math" panose="02040503050406030204" pitchFamily="18" charset="0"/>
                                  </a:rPr>
                                  <m:t>Ω</m:t>
                                </m:r>
                                <m:r>
                                  <a:rPr lang="en-US" altLang="zh-CN" i="1">
                                    <a:latin typeface="Cambria Math" panose="02040503050406030204" pitchFamily="18" charset="0"/>
                                    <a:ea typeface="Cambria Math" panose="02040503050406030204" pitchFamily="18" charset="0"/>
                                  </a:rPr>
                                  <m:t>𝑇</m:t>
                                </m:r>
                              </m:num>
                              <m:den>
                                <m:r>
                                  <a:rPr lang="en-US" altLang="zh-CN" i="1">
                                    <a:latin typeface="Cambria Math" panose="02040503050406030204" pitchFamily="18" charset="0"/>
                                  </a:rPr>
                                  <m:t>2</m:t>
                                </m:r>
                              </m:den>
                            </m:f>
                            <m:r>
                              <a:rPr lang="en-US" altLang="zh-CN" i="1">
                                <a:latin typeface="Cambria Math" panose="02040503050406030204" pitchFamily="18" charset="0"/>
                              </a:rPr>
                              <m:t>)</m:t>
                            </m:r>
                          </m:e>
                          <m:sup>
                            <m:r>
                              <a:rPr lang="en-US" altLang="zh-CN" i="1">
                                <a:latin typeface="Cambria Math" panose="02040503050406030204" pitchFamily="18" charset="0"/>
                              </a:rPr>
                              <m:t>2</m:t>
                            </m:r>
                          </m:sup>
                        </m:sSup>
                      </m:den>
                    </m:f>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4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98</a:t>
            </a:fld>
            <a:endParaRPr lang="en-US" altLang="zh-CN"/>
          </a:p>
        </p:txBody>
      </p:sp>
      <p:sp>
        <p:nvSpPr>
          <p:cNvPr id="5" name="右箭头 4"/>
          <p:cNvSpPr/>
          <p:nvPr/>
        </p:nvSpPr>
        <p:spPr>
          <a:xfrm>
            <a:off x="4520355" y="3212976"/>
            <a:ext cx="576064"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166171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9752" y="2204864"/>
            <a:ext cx="5153025" cy="3076575"/>
          </a:xfrm>
        </p:spPr>
      </p:pic>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99</a:t>
            </a:fld>
            <a:endParaRPr lang="en-US" altLang="zh-CN"/>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403" y="4701756"/>
            <a:ext cx="2295525" cy="476250"/>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1210" y="5550823"/>
            <a:ext cx="2352675" cy="409575"/>
          </a:xfrm>
          <a:prstGeom prst="rect">
            <a:avLst/>
          </a:prstGeom>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6176" y="5624165"/>
            <a:ext cx="2381250" cy="371475"/>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70139" y="1945784"/>
                <a:ext cx="2681824" cy="1013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i="1" dirty="0">
                              <a:latin typeface="Cambria Math" panose="02040503050406030204" pitchFamily="18" charset="0"/>
                            </a:rPr>
                          </m:ctrlPr>
                        </m:sSupPr>
                        <m:e>
                          <m:d>
                            <m:dPr>
                              <m:begChr m:val="|"/>
                              <m:endChr m:val="|"/>
                              <m:ctrlPr>
                                <a:rPr lang="en-US" altLang="zh-CN" i="1" dirty="0">
                                  <a:latin typeface="Cambria Math" panose="02040503050406030204" pitchFamily="18" charset="0"/>
                                </a:rPr>
                              </m:ctrlPr>
                            </m:dPr>
                            <m:e>
                              <m:r>
                                <a:rPr lang="en-US" altLang="zh-CN" i="1" dirty="0">
                                  <a:latin typeface="Cambria Math" panose="02040503050406030204" pitchFamily="18" charset="0"/>
                                </a:rPr>
                                <m:t>𝑧</m:t>
                              </m:r>
                            </m:e>
                          </m:d>
                        </m:e>
                        <m:sup>
                          <m:r>
                            <a:rPr lang="en-US" altLang="zh-CN" i="1" dirty="0">
                              <a:latin typeface="Cambria Math" panose="02040503050406030204" pitchFamily="18" charset="0"/>
                            </a:rPr>
                            <m:t>2</m:t>
                          </m:r>
                        </m:sup>
                      </m:sSup>
                      <m:r>
                        <a:rPr lang="en-US" altLang="zh-CN" i="1">
                          <a:latin typeface="Cambria Math" panose="02040503050406030204" pitchFamily="18" charset="0"/>
                        </a:rPr>
                        <m:t>=</m:t>
                      </m:r>
                      <m:f>
                        <m:fPr>
                          <m:ctrlPr>
                            <a:rPr lang="en-US" altLang="zh-CN" i="1">
                              <a:latin typeface="Cambria Math" panose="02040503050406030204" pitchFamily="18" charset="0"/>
                            </a:rPr>
                          </m:ctrlPr>
                        </m:fPr>
                        <m:num>
                          <m:sSup>
                            <m:sSupPr>
                              <m:ctrlPr>
                                <a:rPr lang="en-US" altLang="zh-CN" i="1">
                                  <a:latin typeface="Cambria Math" panose="02040503050406030204" pitchFamily="18" charset="0"/>
                                </a:rPr>
                              </m:ctrlPr>
                            </m:sSupPr>
                            <m:e>
                              <m:r>
                                <a:rPr lang="en-US" altLang="zh-CN" i="1">
                                  <a:latin typeface="Cambria Math" panose="02040503050406030204" pitchFamily="18" charset="0"/>
                                </a:rPr>
                                <m:t>(1+</m:t>
                              </m:r>
                              <m:f>
                                <m:fPr>
                                  <m:ctrlPr>
                                    <a:rPr lang="en-US" altLang="zh-CN" i="1">
                                      <a:latin typeface="Cambria Math" panose="02040503050406030204" pitchFamily="18" charset="0"/>
                                    </a:rPr>
                                  </m:ctrlPr>
                                </m:fPr>
                                <m:num>
                                  <m:r>
                                    <a:rPr lang="zh-CN" altLang="en-US" i="1">
                                      <a:latin typeface="Cambria Math" panose="02040503050406030204" pitchFamily="18" charset="0"/>
                                    </a:rPr>
                                    <m:t>𝜎</m:t>
                                  </m:r>
                                  <m:r>
                                    <a:rPr lang="en-US" altLang="zh-CN" i="1">
                                      <a:latin typeface="Cambria Math" panose="02040503050406030204" pitchFamily="18" charset="0"/>
                                    </a:rPr>
                                    <m:t>𝑇</m:t>
                                  </m:r>
                                </m:num>
                                <m:den>
                                  <m:r>
                                    <a:rPr lang="en-US" altLang="zh-CN" i="1">
                                      <a:latin typeface="Cambria Math" panose="02040503050406030204" pitchFamily="18" charset="0"/>
                                    </a:rPr>
                                    <m:t>2</m:t>
                                  </m:r>
                                </m:den>
                              </m:f>
                              <m:r>
                                <a:rPr lang="en-US" altLang="zh-CN"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f>
                                <m:fPr>
                                  <m:ctrlPr>
                                    <a:rPr lang="en-US" altLang="zh-CN" i="1">
                                      <a:latin typeface="Cambria Math" panose="02040503050406030204" pitchFamily="18" charset="0"/>
                                    </a:rPr>
                                  </m:ctrlPr>
                                </m:fPr>
                                <m:num>
                                  <m:r>
                                    <m:rPr>
                                      <m:sty m:val="p"/>
                                    </m:rPr>
                                    <a:rPr lang="el-GR" altLang="zh-CN" i="1">
                                      <a:latin typeface="Cambria Math" panose="02040503050406030204" pitchFamily="18" charset="0"/>
                                      <a:ea typeface="Cambria Math" panose="02040503050406030204" pitchFamily="18" charset="0"/>
                                    </a:rPr>
                                    <m:t>Ω</m:t>
                                  </m:r>
                                  <m:r>
                                    <a:rPr lang="en-US" altLang="zh-CN" i="1">
                                      <a:latin typeface="Cambria Math" panose="02040503050406030204" pitchFamily="18" charset="0"/>
                                      <a:ea typeface="Cambria Math" panose="02040503050406030204" pitchFamily="18" charset="0"/>
                                    </a:rPr>
                                    <m:t>𝑇</m:t>
                                  </m:r>
                                </m:num>
                                <m:den>
                                  <m:r>
                                    <a:rPr lang="en-US" altLang="zh-CN" i="1">
                                      <a:latin typeface="Cambria Math" panose="02040503050406030204" pitchFamily="18" charset="0"/>
                                    </a:rPr>
                                    <m:t>2</m:t>
                                  </m:r>
                                </m:den>
                              </m:f>
                              <m:r>
                                <a:rPr lang="en-US" altLang="zh-CN" i="1">
                                  <a:latin typeface="Cambria Math" panose="02040503050406030204" pitchFamily="18" charset="0"/>
                                </a:rPr>
                                <m:t>)</m:t>
                              </m:r>
                            </m:e>
                            <m:sup>
                              <m:r>
                                <a:rPr lang="en-US" altLang="zh-CN" i="1">
                                  <a:latin typeface="Cambria Math" panose="02040503050406030204" pitchFamily="18" charset="0"/>
                                </a:rPr>
                                <m:t>2</m:t>
                              </m:r>
                            </m:sup>
                          </m:sSup>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m:t>
                              </m:r>
                              <m:f>
                                <m:fPr>
                                  <m:ctrlPr>
                                    <a:rPr lang="en-US" altLang="zh-CN" i="1">
                                      <a:latin typeface="Cambria Math" panose="02040503050406030204" pitchFamily="18" charset="0"/>
                                    </a:rPr>
                                  </m:ctrlPr>
                                </m:fPr>
                                <m:num>
                                  <m:r>
                                    <a:rPr lang="zh-CN" altLang="en-US" i="1">
                                      <a:latin typeface="Cambria Math" panose="02040503050406030204" pitchFamily="18" charset="0"/>
                                    </a:rPr>
                                    <m:t>𝜎</m:t>
                                  </m:r>
                                  <m:r>
                                    <a:rPr lang="en-US" altLang="zh-CN" i="1">
                                      <a:latin typeface="Cambria Math" panose="02040503050406030204" pitchFamily="18" charset="0"/>
                                    </a:rPr>
                                    <m:t>𝑇</m:t>
                                  </m:r>
                                </m:num>
                                <m:den>
                                  <m:r>
                                    <a:rPr lang="en-US" altLang="zh-CN" i="1">
                                      <a:latin typeface="Cambria Math" panose="02040503050406030204" pitchFamily="18" charset="0"/>
                                    </a:rPr>
                                    <m:t>2</m:t>
                                  </m:r>
                                </m:den>
                              </m:f>
                              <m:r>
                                <a:rPr lang="en-US" altLang="zh-CN" i="1">
                                  <a:latin typeface="Cambria Math" panose="02040503050406030204" pitchFamily="18" charset="0"/>
                                </a:rPr>
                                <m:t>)</m:t>
                              </m:r>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m:t>
                              </m:r>
                              <m:f>
                                <m:fPr>
                                  <m:ctrlPr>
                                    <a:rPr lang="en-US" altLang="zh-CN" i="1">
                                      <a:latin typeface="Cambria Math" panose="02040503050406030204" pitchFamily="18" charset="0"/>
                                    </a:rPr>
                                  </m:ctrlPr>
                                </m:fPr>
                                <m:num>
                                  <m:r>
                                    <m:rPr>
                                      <m:sty m:val="p"/>
                                    </m:rPr>
                                    <a:rPr lang="el-GR" altLang="zh-CN" i="1">
                                      <a:latin typeface="Cambria Math" panose="02040503050406030204" pitchFamily="18" charset="0"/>
                                      <a:ea typeface="Cambria Math" panose="02040503050406030204" pitchFamily="18" charset="0"/>
                                    </a:rPr>
                                    <m:t>Ω</m:t>
                                  </m:r>
                                  <m:r>
                                    <a:rPr lang="en-US" altLang="zh-CN" i="1">
                                      <a:latin typeface="Cambria Math" panose="02040503050406030204" pitchFamily="18" charset="0"/>
                                      <a:ea typeface="Cambria Math" panose="02040503050406030204" pitchFamily="18" charset="0"/>
                                    </a:rPr>
                                    <m:t>𝑇</m:t>
                                  </m:r>
                                </m:num>
                                <m:den>
                                  <m:r>
                                    <a:rPr lang="en-US" altLang="zh-CN" i="1">
                                      <a:latin typeface="Cambria Math" panose="02040503050406030204" pitchFamily="18" charset="0"/>
                                    </a:rPr>
                                    <m:t>2</m:t>
                                  </m:r>
                                </m:den>
                              </m:f>
                              <m:r>
                                <a:rPr lang="en-US" altLang="zh-CN" i="1">
                                  <a:latin typeface="Cambria Math" panose="02040503050406030204" pitchFamily="18" charset="0"/>
                                </a:rPr>
                                <m:t>)</m:t>
                              </m:r>
                            </m:e>
                            <m:sup>
                              <m:r>
                                <a:rPr lang="en-US" altLang="zh-CN" i="1">
                                  <a:latin typeface="Cambria Math" panose="02040503050406030204" pitchFamily="18" charset="0"/>
                                </a:rPr>
                                <m:t>2</m:t>
                              </m:r>
                            </m:sup>
                          </m:sSup>
                        </m:den>
                      </m:f>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70139" y="1945784"/>
                <a:ext cx="2681824" cy="1013804"/>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6944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908720"/>
            <a:ext cx="4213150" cy="767680"/>
          </a:xfrm>
        </p:spPr>
        <p:txBody>
          <a:bodyPr/>
          <a:lstStyle/>
          <a:p>
            <a:r>
              <a:rPr lang="zh-CN" altLang="en-US" dirty="0"/>
              <a:t>双线性替换例子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71575" y="1885950"/>
                <a:ext cx="7772400" cy="4814887"/>
              </a:xfrm>
            </p:spPr>
            <p:txBody>
              <a:bodyPr/>
              <a:lstStyle/>
              <a:p>
                <a:r>
                  <a:rPr lang="zh-CN" altLang="zh-CN" dirty="0">
                    <a:latin typeface="Times New Roman" panose="02020603050405020304" pitchFamily="18" charset="0"/>
                    <a:ea typeface="宋体" panose="02010600030101010101" pitchFamily="2" charset="-122"/>
                    <a:cs typeface="Times New Roman" panose="02020603050405020304" pitchFamily="18" charset="0"/>
                  </a:rPr>
                  <a:t>假设有传递函数</a:t>
                </a:r>
                <a14:m>
                  <m:oMath xmlns:m="http://schemas.openxmlformats.org/officeDocument/2006/math">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𝐺</m:t>
                    </m:r>
                    <m:d>
                      <m:dPr>
                        <m:ctrlPr>
                          <a:rPr lang="en-US" altLang="zh-CN" b="0"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𝑠</m:t>
                        </m:r>
                      </m:e>
                    </m:d>
                    <m:r>
                      <a:rPr lang="en-US" altLang="zh-CN" b="0" i="1" smtClean="0">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b="0" i="1" smtClean="0">
                            <a:latin typeface="Cambria Math" panose="02040503050406030204" pitchFamily="18" charset="0"/>
                            <a:ea typeface="宋体" panose="02010600030101010101" pitchFamily="2" charset="-122"/>
                            <a:cs typeface="Times New Roman" panose="02020603050405020304" pitchFamily="18" charset="0"/>
                          </a:rPr>
                        </m:ctrlPr>
                      </m:fPr>
                      <m:num>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𝑠</m:t>
                        </m:r>
                      </m:num>
                      <m:den>
                        <m:sSup>
                          <m:sSupPr>
                            <m:ctrlPr>
                              <a:rPr lang="en-US" altLang="zh-CN"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𝑠</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+1)</m:t>
                            </m:r>
                          </m:e>
                          <m:sup>
                            <m:r>
                              <a:rPr lang="en-US" altLang="zh-CN" b="0" i="1" smtClean="0">
                                <a:latin typeface="Cambria Math" panose="02040503050406030204" pitchFamily="18" charset="0"/>
                                <a:ea typeface="宋体" panose="02010600030101010101" pitchFamily="2" charset="-122"/>
                                <a:cs typeface="Times New Roman" panose="02020603050405020304" pitchFamily="18" charset="0"/>
                              </a:rPr>
                              <m:t>2</m:t>
                            </m:r>
                          </m:sup>
                        </m:sSup>
                      </m:den>
                    </m:f>
                    <m:r>
                      <a:rPr lang="en-US" altLang="zh-CN" b="0" i="1" smtClean="0">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b="0" i="1" smtClean="0">
                            <a:latin typeface="Cambria Math" panose="02040503050406030204" pitchFamily="18" charset="0"/>
                            <a:ea typeface="宋体" panose="02010600030101010101" pitchFamily="2" charset="-122"/>
                            <a:cs typeface="Times New Roman" panose="02020603050405020304" pitchFamily="18" charset="0"/>
                          </a:rPr>
                        </m:ctrlPr>
                      </m:fPr>
                      <m:num>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𝑌</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𝑠</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m:t>
                        </m:r>
                      </m:num>
                      <m:den>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𝑈</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𝑠</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m:t>
                        </m:r>
                      </m:den>
                    </m:f>
                  </m:oMath>
                </a14:m>
                <a:endParaRPr lang="en-US" altLang="zh-CN" dirty="0"/>
              </a:p>
              <a:p>
                <a:r>
                  <a:rPr lang="zh-CN" altLang="en-US" dirty="0"/>
                  <a:t>进行替换后得到</a:t>
                </a:r>
                <a:endParaRPr lang="en-US" altLang="zh-CN" dirty="0"/>
              </a:p>
              <a:p>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𝐺</m:t>
                    </m:r>
                    <m:d>
                      <m:d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𝑧</m:t>
                        </m:r>
                      </m:e>
                    </m:d>
                    <m:r>
                      <a:rPr lang="en-US" altLang="zh-CN" i="1">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fPr>
                      <m:num>
                        <m:f>
                          <m:fPr>
                            <m:ctrlPr>
                              <a:rPr lang="en-US" altLang="zh-CN" i="1">
                                <a:latin typeface="Cambria Math" panose="02040503050406030204" pitchFamily="18" charset="0"/>
                              </a:rPr>
                            </m:ctrlPr>
                          </m:fPr>
                          <m:num>
                            <m:r>
                              <a:rPr lang="en-US" altLang="zh-CN" i="1">
                                <a:latin typeface="Cambria Math" panose="02040503050406030204" pitchFamily="18" charset="0"/>
                              </a:rPr>
                              <m:t>2</m:t>
                            </m:r>
                          </m:num>
                          <m:den>
                            <m:r>
                              <a:rPr lang="en-US" altLang="zh-CN" i="1">
                                <a:latin typeface="Cambria Math" panose="02040503050406030204" pitchFamily="18" charset="0"/>
                              </a:rPr>
                              <m:t>𝑇</m:t>
                            </m:r>
                          </m:den>
                        </m:f>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i="1">
                                <a:latin typeface="Cambria Math" panose="02040503050406030204" pitchFamily="18" charset="0"/>
                              </a:rPr>
                              <m:t>−1)</m:t>
                            </m:r>
                          </m:num>
                          <m:den>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i="1">
                                <a:latin typeface="Cambria Math" panose="02040503050406030204" pitchFamily="18" charset="0"/>
                              </a:rPr>
                              <m:t>+1)</m:t>
                            </m:r>
                          </m:den>
                        </m:f>
                      </m:num>
                      <m:den>
                        <m:sSup>
                          <m:sSup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pPr>
                          <m:e>
                            <m:d>
                              <m:dPr>
                                <m:ctrlPr>
                                  <a:rPr lang="en-US" altLang="zh-CN" i="1" smtClean="0">
                                    <a:latin typeface="Cambria Math" panose="02040503050406030204" pitchFamily="18" charset="0"/>
                                    <a:ea typeface="宋体" panose="02010600030101010101" pitchFamily="2" charset="-122"/>
                                    <a:cs typeface="Times New Roman" panose="020206030504050203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2</m:t>
                                    </m:r>
                                  </m:num>
                                  <m:den>
                                    <m:r>
                                      <a:rPr lang="en-US" altLang="zh-CN" i="1">
                                        <a:latin typeface="Cambria Math" panose="02040503050406030204" pitchFamily="18" charset="0"/>
                                      </a:rPr>
                                      <m:t>𝑇</m:t>
                                    </m:r>
                                  </m:den>
                                </m:f>
                                <m:f>
                                  <m:fPr>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i="1">
                                        <a:latin typeface="Cambria Math" panose="02040503050406030204" pitchFamily="18" charset="0"/>
                                      </a:rPr>
                                      <m:t>−1)</m:t>
                                    </m:r>
                                  </m:num>
                                  <m:den>
                                    <m:r>
                                      <a:rPr lang="en-US" altLang="zh-CN" i="1">
                                        <a:latin typeface="Cambria Math" panose="02040503050406030204" pitchFamily="18" charset="0"/>
                                      </a:rPr>
                                      <m:t>(</m:t>
                                    </m:r>
                                    <m:r>
                                      <a:rPr lang="en-US" altLang="zh-CN" i="1">
                                        <a:latin typeface="Cambria Math" panose="02040503050406030204" pitchFamily="18" charset="0"/>
                                      </a:rPr>
                                      <m:t>𝑧</m:t>
                                    </m:r>
                                    <m:r>
                                      <a:rPr lang="en-US" altLang="zh-CN" i="1">
                                        <a:latin typeface="Cambria Math" panose="02040503050406030204" pitchFamily="18" charset="0"/>
                                      </a:rPr>
                                      <m:t>+1)</m:t>
                                    </m:r>
                                  </m:den>
                                </m:f>
                                <m:r>
                                  <a:rPr lang="en-US" altLang="zh-CN" i="1">
                                    <a:latin typeface="Cambria Math" panose="02040503050406030204" pitchFamily="18" charset="0"/>
                                    <a:ea typeface="宋体" panose="02010600030101010101" pitchFamily="2" charset="-122"/>
                                    <a:cs typeface="Times New Roman" panose="02020603050405020304" pitchFamily="18" charset="0"/>
                                  </a:rPr>
                                  <m:t>+1</m:t>
                                </m:r>
                              </m:e>
                            </m:d>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den>
                    </m:f>
                    <m:r>
                      <a:rPr lang="en-US" altLang="zh-CN" i="1">
                        <a:latin typeface="Cambria Math" panose="02040503050406030204" pitchFamily="18" charset="0"/>
                        <a:ea typeface="宋体" panose="02010600030101010101" pitchFamily="2" charset="-122"/>
                        <a:cs typeface="Times New Roman" panose="02020603050405020304" pitchFamily="18" charset="0"/>
                      </a:rPr>
                      <m:t>=</m:t>
                    </m:r>
                    <m:f>
                      <m:fPr>
                        <m:ctrlPr>
                          <a:rPr lang="en-US" altLang="zh-CN" i="1" smtClean="0">
                            <a:latin typeface="Cambria Math" panose="02040503050406030204" pitchFamily="18" charset="0"/>
                            <a:ea typeface="宋体" panose="02010600030101010101" pitchFamily="2" charset="-122"/>
                            <a:cs typeface="Times New Roman" panose="02020603050405020304" pitchFamily="18" charset="0"/>
                          </a:rPr>
                        </m:ctrlPr>
                      </m:fPr>
                      <m:num>
                        <m:r>
                          <a:rPr lang="en-US" altLang="zh-CN" b="0" i="1" smtClean="0">
                            <a:latin typeface="Cambria Math" panose="02040503050406030204" pitchFamily="18" charset="0"/>
                            <a:ea typeface="宋体" panose="02010600030101010101" pitchFamily="2" charset="-122"/>
                            <a:cs typeface="Times New Roman" panose="02020603050405020304" pitchFamily="18" charset="0"/>
                          </a:rPr>
                          <m:t>2</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𝑇</m:t>
                        </m:r>
                        <m:d>
                          <m:dPr>
                            <m:ctrlPr>
                              <a:rPr lang="en-US" altLang="zh-CN" b="0" i="1" smtClean="0">
                                <a:latin typeface="Cambria Math" panose="02040503050406030204" pitchFamily="18" charset="0"/>
                                <a:ea typeface="宋体" panose="02010600030101010101" pitchFamily="2" charset="-122"/>
                                <a:cs typeface="Times New Roman" panose="02020603050405020304" pitchFamily="18" charset="0"/>
                              </a:rPr>
                            </m:ctrlPr>
                          </m:dPr>
                          <m:e>
                            <m:sSup>
                              <m:sSupPr>
                                <m:ctrlPr>
                                  <a:rPr lang="en-US" altLang="zh-CN" b="0" i="1" smtClean="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𝑧</m:t>
                                </m:r>
                              </m:e>
                              <m:sup>
                                <m:r>
                                  <a:rPr lang="en-US" altLang="zh-CN" b="0" i="1" smtClean="0">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b="0" i="1" smtClean="0">
                                <a:latin typeface="Cambria Math" panose="02040503050406030204" pitchFamily="18" charset="0"/>
                                <a:ea typeface="宋体" panose="02010600030101010101" pitchFamily="2" charset="-122"/>
                                <a:cs typeface="Times New Roman" panose="02020603050405020304" pitchFamily="18" charset="0"/>
                              </a:rPr>
                              <m:t>−1</m:t>
                            </m:r>
                          </m:e>
                        </m:d>
                      </m:num>
                      <m:den>
                        <m:sSup>
                          <m:sSupPr>
                            <m:ctrlPr>
                              <a:rPr lang="en-US" altLang="zh-CN" i="1" smtClean="0">
                                <a:latin typeface="Cambria Math" panose="02040503050406030204" pitchFamily="18" charset="0"/>
                                <a:ea typeface="宋体" panose="02010600030101010101" pitchFamily="2" charset="-122"/>
                                <a:cs typeface="Times New Roman" panose="02020603050405020304" pitchFamily="18" charset="0"/>
                              </a:rPr>
                            </m:ctrlPr>
                          </m:sSupPr>
                          <m:e>
                            <m:d>
                              <m:dPr>
                                <m:begChr m:val="["/>
                                <m:endChr m:val="]"/>
                                <m:ctrlPr>
                                  <a:rPr lang="en-US" altLang="zh-CN" i="1" smtClean="0">
                                    <a:latin typeface="Cambria Math" panose="02040503050406030204" pitchFamily="18" charset="0"/>
                                    <a:ea typeface="宋体" panose="02010600030101010101" pitchFamily="2" charset="-122"/>
                                    <a:cs typeface="Times New Roman" panose="02020603050405020304" pitchFamily="18" charset="0"/>
                                  </a:rPr>
                                </m:ctrlPr>
                              </m:dPr>
                              <m:e>
                                <m:d>
                                  <m:dPr>
                                    <m:ctrlPr>
                                      <a:rPr lang="en-US" altLang="zh-CN" i="1" smtClean="0">
                                        <a:latin typeface="Cambria Math" panose="02040503050406030204" pitchFamily="18" charset="0"/>
                                        <a:ea typeface="宋体" panose="02010600030101010101" pitchFamily="2" charset="-122"/>
                                        <a:cs typeface="Times New Roman" panose="02020603050405020304" pitchFamily="18" charset="0"/>
                                      </a:rPr>
                                    </m:ctrlPr>
                                  </m:dPr>
                                  <m:e>
                                    <m:r>
                                      <a:rPr lang="en-US" altLang="zh-CN" b="0" i="1" smtClean="0">
                                        <a:latin typeface="Cambria Math" panose="02040503050406030204" pitchFamily="18" charset="0"/>
                                        <a:ea typeface="宋体" panose="02010600030101010101" pitchFamily="2" charset="-122"/>
                                        <a:cs typeface="Times New Roman" panose="02020603050405020304" pitchFamily="18" charset="0"/>
                                      </a:rPr>
                                      <m:t>2+</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𝑇</m:t>
                                    </m:r>
                                  </m:e>
                                </m:d>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𝑧</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−(2−</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𝑇</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m:t>
                                </m:r>
                              </m:e>
                            </m:d>
                          </m:e>
                          <m:sup>
                            <m:r>
                              <a:rPr lang="en-US" altLang="zh-CN" b="0" i="1" smtClean="0">
                                <a:latin typeface="Cambria Math" panose="02040503050406030204" pitchFamily="18" charset="0"/>
                                <a:ea typeface="宋体" panose="02010600030101010101" pitchFamily="2" charset="-122"/>
                                <a:cs typeface="Times New Roman" panose="02020603050405020304" pitchFamily="18" charset="0"/>
                              </a:rPr>
                              <m:t>2</m:t>
                            </m:r>
                          </m:sup>
                        </m:sSup>
                      </m:den>
                    </m:f>
                  </m:oMath>
                </a14:m>
                <a:endParaRPr lang="en-US" altLang="zh-CN" dirty="0">
                  <a:ea typeface="宋体" panose="02010600030101010101" pitchFamily="2" charset="-122"/>
                  <a:cs typeface="Times New Roman" panose="02020603050405020304" pitchFamily="18" charset="0"/>
                </a:endParaRPr>
              </a:p>
              <a:p>
                <a:pPr marL="0" indent="0">
                  <a:buNone/>
                </a:pPr>
                <a:r>
                  <a:rPr lang="en-US" altLang="zh-CN" dirty="0"/>
                  <a:t>=</a:t>
                </a:r>
                <a14:m>
                  <m:oMath xmlns:m="http://schemas.openxmlformats.org/officeDocument/2006/math">
                    <m:f>
                      <m:f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fPr>
                      <m:num>
                        <m:f>
                          <m:fPr>
                            <m:ctrlPr>
                              <a:rPr lang="en-US" altLang="zh-CN" i="1">
                                <a:latin typeface="Cambria Math" panose="02040503050406030204" pitchFamily="18" charset="0"/>
                              </a:rPr>
                            </m:ctrlPr>
                          </m:fPr>
                          <m:num>
                            <m:r>
                              <a:rPr lang="en-US" altLang="zh-CN" i="1">
                                <a:latin typeface="Cambria Math" panose="02040503050406030204" pitchFamily="18" charset="0"/>
                              </a:rPr>
                              <m:t>2</m:t>
                            </m:r>
                            <m:r>
                              <a:rPr lang="en-US" altLang="zh-CN" b="0" i="1" smtClean="0">
                                <a:latin typeface="Cambria Math" panose="02040503050406030204" pitchFamily="18" charset="0"/>
                              </a:rPr>
                              <m:t>𝑇</m:t>
                            </m:r>
                          </m:num>
                          <m:den>
                            <m:sSup>
                              <m:sSupPr>
                                <m:ctrlPr>
                                  <a:rPr lang="en-US" altLang="zh-CN" i="1" smtClean="0">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𝑇</m:t>
                                    </m:r>
                                  </m:e>
                                </m:d>
                              </m:e>
                              <m:sup>
                                <m:r>
                                  <a:rPr lang="en-US" altLang="zh-CN" b="0" i="1" smtClean="0">
                                    <a:latin typeface="Cambria Math" panose="02040503050406030204" pitchFamily="18" charset="0"/>
                                  </a:rPr>
                                  <m:t>2</m:t>
                                </m:r>
                              </m:sup>
                            </m:sSup>
                          </m:den>
                        </m:f>
                        <m:d>
                          <m:dPr>
                            <m:ctrlPr>
                              <a:rPr lang="en-US" altLang="zh-CN" i="1" smtClean="0">
                                <a:latin typeface="Cambria Math" panose="02040503050406030204" pitchFamily="18" charset="0"/>
                              </a:rPr>
                            </m:ctrlPr>
                          </m:dPr>
                          <m:e>
                            <m:sSup>
                              <m:sSup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i="1">
                                    <a:latin typeface="Cambria Math" panose="02040503050406030204" pitchFamily="18" charset="0"/>
                                    <a:ea typeface="宋体" panose="02010600030101010101" pitchFamily="2" charset="-122"/>
                                    <a:cs typeface="Times New Roman" panose="02020603050405020304" pitchFamily="18" charset="0"/>
                                  </a:rPr>
                                  <m:t>𝑧</m:t>
                                </m:r>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i="1">
                                <a:latin typeface="Cambria Math" panose="02040503050406030204" pitchFamily="18" charset="0"/>
                                <a:ea typeface="宋体" panose="02010600030101010101" pitchFamily="2" charset="-122"/>
                                <a:cs typeface="Times New Roman" panose="02020603050405020304" pitchFamily="18" charset="0"/>
                              </a:rPr>
                              <m:t>−1</m:t>
                            </m:r>
                          </m:e>
                        </m:d>
                      </m:num>
                      <m:den>
                        <m:sSup>
                          <m:sSup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sSupPr>
                          <m:e>
                            <m:d>
                              <m:dPr>
                                <m:ctrlPr>
                                  <a:rPr lang="en-US" altLang="zh-CN" i="1">
                                    <a:latin typeface="Cambria Math" panose="02040503050406030204" pitchFamily="18" charset="0"/>
                                    <a:ea typeface="宋体" panose="02010600030101010101" pitchFamily="2" charset="-122"/>
                                    <a:cs typeface="Times New Roman" panose="02020603050405020304" pitchFamily="18" charset="0"/>
                                  </a:rPr>
                                </m:ctrlPr>
                              </m:dPr>
                              <m:e>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𝑧</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m:t>
                                </m:r>
                                <m:d>
                                  <m:dPr>
                                    <m:ctrlPr>
                                      <a:rPr lang="en-US" altLang="zh-CN" b="0" i="1" smtClean="0">
                                        <a:latin typeface="Cambria Math" panose="02040503050406030204" pitchFamily="18" charset="0"/>
                                        <a:ea typeface="宋体" panose="02010600030101010101" pitchFamily="2" charset="-122"/>
                                        <a:cs typeface="Times New Roman" panose="02020603050405020304" pitchFamily="18" charset="0"/>
                                      </a:rPr>
                                    </m:ctrlPr>
                                  </m:dPr>
                                  <m:e>
                                    <m:f>
                                      <m:fPr>
                                        <m:ctrlPr>
                                          <a:rPr lang="en-US" altLang="zh-CN" b="0" i="1" smtClean="0">
                                            <a:latin typeface="Cambria Math" panose="02040503050406030204" pitchFamily="18" charset="0"/>
                                            <a:ea typeface="宋体" panose="02010600030101010101" pitchFamily="2" charset="-122"/>
                                            <a:cs typeface="Times New Roman" panose="02020603050405020304" pitchFamily="18" charset="0"/>
                                          </a:rPr>
                                        </m:ctrlPr>
                                      </m:fPr>
                                      <m:num>
                                        <m:r>
                                          <a:rPr lang="en-US" altLang="zh-CN" b="0" i="1" smtClean="0">
                                            <a:latin typeface="Cambria Math" panose="02040503050406030204" pitchFamily="18" charset="0"/>
                                            <a:ea typeface="宋体" panose="02010600030101010101" pitchFamily="2" charset="-122"/>
                                            <a:cs typeface="Times New Roman" panose="02020603050405020304" pitchFamily="18" charset="0"/>
                                          </a:rPr>
                                          <m:t>2−</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𝑇</m:t>
                                        </m:r>
                                      </m:num>
                                      <m:den>
                                        <m:r>
                                          <a:rPr lang="en-US" altLang="zh-CN" b="0" i="1" smtClean="0">
                                            <a:latin typeface="Cambria Math" panose="02040503050406030204" pitchFamily="18" charset="0"/>
                                            <a:ea typeface="宋体" panose="02010600030101010101" pitchFamily="2" charset="-122"/>
                                            <a:cs typeface="Times New Roman" panose="02020603050405020304" pitchFamily="18" charset="0"/>
                                          </a:rPr>
                                          <m:t>2+</m:t>
                                        </m:r>
                                        <m:r>
                                          <a:rPr lang="en-US" altLang="zh-CN" b="0" i="1" smtClean="0">
                                            <a:latin typeface="Cambria Math" panose="02040503050406030204" pitchFamily="18" charset="0"/>
                                            <a:ea typeface="宋体" panose="02010600030101010101" pitchFamily="2" charset="-122"/>
                                            <a:cs typeface="Times New Roman" panose="02020603050405020304" pitchFamily="18" charset="0"/>
                                          </a:rPr>
                                          <m:t>𝑇</m:t>
                                        </m:r>
                                      </m:den>
                                    </m:f>
                                  </m:e>
                                </m:d>
                              </m:e>
                            </m:d>
                          </m:e>
                          <m:sup>
                            <m:r>
                              <a:rPr lang="en-US" altLang="zh-CN" i="1">
                                <a:latin typeface="Cambria Math" panose="02040503050406030204" pitchFamily="18" charset="0"/>
                                <a:ea typeface="宋体" panose="02010600030101010101" pitchFamily="2" charset="-122"/>
                                <a:cs typeface="Times New Roman" panose="02020603050405020304" pitchFamily="18" charset="0"/>
                              </a:rPr>
                              <m:t>2</m:t>
                            </m:r>
                          </m:sup>
                        </m:sSup>
                      </m:den>
                    </m:f>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71575" y="1885950"/>
                <a:ext cx="7772400" cy="4814887"/>
              </a:xfrm>
              <a:blipFill>
                <a:blip r:embed="rId2"/>
                <a:stretch>
                  <a:fillRect l="-19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100</a:t>
            </a:fld>
            <a:endParaRPr lang="en-US" altLang="zh-CN"/>
          </a:p>
        </p:txBody>
      </p:sp>
    </p:spTree>
    <p:extLst>
      <p:ext uri="{BB962C8B-B14F-4D97-AF65-F5344CB8AC3E}">
        <p14:creationId xmlns:p14="http://schemas.microsoft.com/office/powerpoint/2010/main" val="26438395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lvl="0"/>
                <a:r>
                  <a:rPr lang="zh-CN" altLang="en-US" dirty="0">
                    <a:latin typeface="Times New Roman" panose="02020603050405020304" pitchFamily="18" charset="0"/>
                    <a:ea typeface="宋体" panose="02010600030101010101" pitchFamily="2" charset="-122"/>
                    <a:cs typeface="Times New Roman" panose="02020603050405020304" pitchFamily="18" charset="0"/>
                  </a:rPr>
                  <a:t>写成差分方程，得</a:t>
                </a:r>
                <a:endParaRPr lang="zh-CN" altLang="en-US" sz="2400" dirty="0"/>
              </a:p>
              <a:p>
                <a:pPr>
                  <a:lnSpc>
                    <a:spcPct val="150000"/>
                  </a:lnSpc>
                </a:pP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=2</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r>
                              <a:rPr lang="en-US" altLang="zh-CN" b="0" i="1" smtClean="0">
                                <a:latin typeface="Cambria Math" panose="02040503050406030204" pitchFamily="18" charset="0"/>
                              </a:rPr>
                              <m:t>𝑇</m:t>
                            </m:r>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𝑇</m:t>
                            </m:r>
                          </m:den>
                        </m:f>
                      </m:e>
                    </m:d>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2−</m:t>
                                </m:r>
                                <m:r>
                                  <a:rPr lang="en-US" altLang="zh-CN" i="1">
                                    <a:latin typeface="Cambria Math" panose="02040503050406030204" pitchFamily="18" charset="0"/>
                                  </a:rPr>
                                  <m:t>𝑇</m:t>
                                </m:r>
                              </m:num>
                              <m:den>
                                <m:r>
                                  <a:rPr lang="en-US" altLang="zh-CN" i="1">
                                    <a:latin typeface="Cambria Math" panose="02040503050406030204" pitchFamily="18" charset="0"/>
                                  </a:rPr>
                                  <m:t>2+</m:t>
                                </m:r>
                                <m:r>
                                  <a:rPr lang="en-US" altLang="zh-CN" i="1">
                                    <a:latin typeface="Cambria Math" panose="02040503050406030204" pitchFamily="18" charset="0"/>
                                  </a:rPr>
                                  <m:t>𝑇</m:t>
                                </m:r>
                              </m:den>
                            </m:f>
                          </m:e>
                        </m:d>
                      </m:e>
                      <m:sup>
                        <m:r>
                          <a:rPr lang="en-US" altLang="zh-CN" b="0" i="1" smtClean="0">
                            <a:latin typeface="Cambria Math" panose="02040503050406030204" pitchFamily="18" charset="0"/>
                          </a:rPr>
                          <m:t>2</m:t>
                        </m:r>
                      </m:sup>
                    </m:sSup>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𝑘</m:t>
                        </m:r>
                        <m:r>
                          <a:rPr lang="en-US" altLang="zh-CN" i="1">
                            <a:latin typeface="Cambria Math" panose="02040503050406030204" pitchFamily="18" charset="0"/>
                          </a:rPr>
                          <m:t>−2</m:t>
                        </m:r>
                      </m:sub>
                    </m:sSub>
                  </m:oMath>
                </a14:m>
                <a:r>
                  <a:rPr lang="en-US" altLang="zh-CN" dirty="0"/>
                  <a:t>+</a:t>
                </a:r>
              </a:p>
              <a:p>
                <a:pPr marL="0" indent="0">
                  <a:lnSpc>
                    <a:spcPct val="150000"/>
                  </a:lnSpc>
                  <a:buNone/>
                </a:pPr>
                <a:r>
                  <a:rPr lang="en-US" altLang="zh-CN" dirty="0"/>
                  <a:t>         </a:t>
                </a:r>
                <a14:m>
                  <m:oMath xmlns:m="http://schemas.openxmlformats.org/officeDocument/2006/math">
                    <m:sSup>
                      <m:sSupPr>
                        <m:ctrlPr>
                          <a:rPr lang="en-US" altLang="zh-CN" i="1">
                            <a:latin typeface="Cambria Math" panose="02040503050406030204" pitchFamily="18" charset="0"/>
                          </a:rPr>
                        </m:ctrlPr>
                      </m:sSupPr>
                      <m:e>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2</m:t>
                            </m:r>
                            <m:r>
                              <a:rPr lang="en-US" altLang="zh-CN" b="0" i="1" smtClean="0">
                                <a:latin typeface="Cambria Math" panose="02040503050406030204" pitchFamily="18" charset="0"/>
                              </a:rPr>
                              <m:t>𝑇</m:t>
                            </m:r>
                          </m:num>
                          <m:den>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den>
                        </m:f>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𝑢</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𝑢</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−2</m:t>
                                </m:r>
                              </m:sub>
                            </m:sSub>
                          </m:e>
                        </m:d>
                      </m:e>
                      <m:sup/>
                    </m:sSup>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49" t="-222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101</a:t>
            </a:fld>
            <a:endParaRPr lang="en-US" altLang="zh-CN"/>
          </a:p>
        </p:txBody>
      </p:sp>
    </p:spTree>
    <p:extLst>
      <p:ext uri="{BB962C8B-B14F-4D97-AF65-F5344CB8AC3E}">
        <p14:creationId xmlns:p14="http://schemas.microsoft.com/office/powerpoint/2010/main" val="331647117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r>
              <a:rPr lang="en-US" altLang="zh-CN" b="1" dirty="0">
                <a:latin typeface="黑体" panose="02010609060101010101" pitchFamily="49" charset="-122"/>
                <a:ea typeface="黑体" panose="02010609060101010101" pitchFamily="49" charset="-122"/>
              </a:rPr>
              <a:t>3.4.2 </a:t>
            </a:r>
            <a:r>
              <a:rPr lang="zh-CN" altLang="en-US" b="1" dirty="0">
                <a:latin typeface="黑体" panose="02010609060101010101" pitchFamily="49" charset="-122"/>
                <a:ea typeface="黑体" panose="02010609060101010101" pitchFamily="49" charset="-122"/>
              </a:rPr>
              <a:t>根匹配法</a:t>
            </a:r>
            <a:r>
              <a:rPr lang="zh-CN" altLang="en-US" dirty="0"/>
              <a:t> </a:t>
            </a:r>
          </a:p>
        </p:txBody>
      </p:sp>
      <p:sp>
        <p:nvSpPr>
          <p:cNvPr id="2051" name="Rectangle 3"/>
          <p:cNvSpPr>
            <a:spLocks noGrp="1" noChangeArrowheads="1"/>
          </p:cNvSpPr>
          <p:nvPr>
            <p:ph idx="1"/>
          </p:nvPr>
        </p:nvSpPr>
        <p:spPr>
          <a:xfrm>
            <a:off x="755576" y="2060848"/>
            <a:ext cx="7772400" cy="4114800"/>
          </a:xfrm>
        </p:spPr>
        <p:txBody>
          <a:bodyPr/>
          <a:lstStyle/>
          <a:p>
            <a:pPr marL="0" indent="0" eaLnBrk="1" hangingPunct="1">
              <a:buFontTx/>
              <a:buNone/>
            </a:pPr>
            <a:r>
              <a:rPr lang="en-US" altLang="zh-CN" sz="3600" b="1" dirty="0">
                <a:latin typeface="黑体" panose="02010609060101010101" pitchFamily="49" charset="-122"/>
                <a:ea typeface="黑体" panose="02010609060101010101" pitchFamily="49" charset="-122"/>
              </a:rPr>
              <a:t>1</a:t>
            </a:r>
            <a:r>
              <a:rPr lang="zh-CN" altLang="en-US" sz="3600" b="1" dirty="0">
                <a:latin typeface="黑体" panose="02010609060101010101" pitchFamily="49" charset="-122"/>
                <a:ea typeface="黑体" panose="02010609060101010101" pitchFamily="49" charset="-122"/>
              </a:rPr>
              <a:t>、根匹配法的基本思想</a:t>
            </a:r>
          </a:p>
          <a:p>
            <a:pPr marL="0" indent="0" eaLnBrk="1" hangingPunct="1">
              <a:lnSpc>
                <a:spcPct val="150000"/>
              </a:lnSpc>
              <a:buFontTx/>
              <a:buNone/>
            </a:pPr>
            <a:r>
              <a:rPr lang="zh-CN" altLang="en-US" b="1" dirty="0">
                <a:solidFill>
                  <a:srgbClr val="CC3300"/>
                </a:solidFill>
                <a:latin typeface="黑体" panose="02010609060101010101" pitchFamily="49" charset="-122"/>
                <a:ea typeface="黑体" panose="02010609060101010101" pitchFamily="49" charset="-122"/>
              </a:rPr>
              <a:t>    根匹配法的思想：用根匹配法所构造的离散传递函数</a:t>
            </a:r>
            <a:r>
              <a:rPr lang="en-US" altLang="zh-CN" b="1" dirty="0">
                <a:solidFill>
                  <a:srgbClr val="CC3300"/>
                </a:solidFill>
                <a:latin typeface="黑体" panose="02010609060101010101" pitchFamily="49" charset="-122"/>
                <a:ea typeface="黑体" panose="02010609060101010101" pitchFamily="49" charset="-122"/>
              </a:rPr>
              <a:t>G(Z),</a:t>
            </a:r>
            <a:r>
              <a:rPr lang="zh-CN" altLang="en-US" b="1" dirty="0">
                <a:solidFill>
                  <a:srgbClr val="CC3300"/>
                </a:solidFill>
                <a:latin typeface="黑体" panose="02010609060101010101" pitchFamily="49" charset="-122"/>
                <a:ea typeface="黑体" panose="02010609060101010101" pitchFamily="49" charset="-122"/>
              </a:rPr>
              <a:t>其零点、极点同</a:t>
            </a:r>
            <a:r>
              <a:rPr lang="en-US" altLang="zh-CN" b="1" i="1" dirty="0">
                <a:solidFill>
                  <a:srgbClr val="CC3300"/>
                </a:solidFill>
                <a:latin typeface="黑体" panose="02010609060101010101" pitchFamily="49" charset="-122"/>
                <a:ea typeface="黑体" panose="02010609060101010101" pitchFamily="49" charset="-122"/>
              </a:rPr>
              <a:t>G</a:t>
            </a:r>
            <a:r>
              <a:rPr lang="en-US" altLang="zh-CN" b="1" dirty="0">
                <a:solidFill>
                  <a:srgbClr val="CC3300"/>
                </a:solidFill>
                <a:latin typeface="黑体" panose="02010609060101010101" pitchFamily="49" charset="-122"/>
                <a:ea typeface="黑体" panose="02010609060101010101" pitchFamily="49" charset="-122"/>
              </a:rPr>
              <a:t>(</a:t>
            </a:r>
            <a:r>
              <a:rPr lang="en-US" altLang="zh-CN" b="1" i="1" dirty="0">
                <a:solidFill>
                  <a:srgbClr val="CC3300"/>
                </a:solidFill>
                <a:latin typeface="黑体" panose="02010609060101010101" pitchFamily="49" charset="-122"/>
                <a:ea typeface="黑体" panose="02010609060101010101" pitchFamily="49" charset="-122"/>
              </a:rPr>
              <a:t>s</a:t>
            </a:r>
            <a:r>
              <a:rPr lang="en-US" altLang="zh-CN" b="1" dirty="0">
                <a:solidFill>
                  <a:srgbClr val="CC3300"/>
                </a:solidFill>
                <a:latin typeface="黑体" panose="02010609060101010101" pitchFamily="49" charset="-122"/>
                <a:ea typeface="黑体" panose="02010609060101010101" pitchFamily="49" charset="-122"/>
              </a:rPr>
              <a:t>)</a:t>
            </a:r>
            <a:r>
              <a:rPr lang="zh-CN" altLang="en-US" b="1" dirty="0">
                <a:solidFill>
                  <a:srgbClr val="CC3300"/>
                </a:solidFill>
                <a:latin typeface="黑体" panose="02010609060101010101" pitchFamily="49" charset="-122"/>
                <a:ea typeface="黑体" panose="02010609060101010101" pitchFamily="49" charset="-122"/>
              </a:rPr>
              <a:t>相匹配，并且二者具有相同的稳态响应值。</a:t>
            </a:r>
          </a:p>
          <a:p>
            <a:pPr marL="0" indent="0" eaLnBrk="1" hangingPunct="1">
              <a:buFontTx/>
              <a:buNone/>
            </a:pPr>
            <a:endParaRPr lang="zh-CN" altLang="en-US" b="1" dirty="0">
              <a:solidFill>
                <a:srgbClr val="CC3300"/>
              </a:solidFill>
              <a:latin typeface="黑体" panose="02010609060101010101" pitchFamily="49" charset="-122"/>
              <a:ea typeface="黑体" panose="02010609060101010101" pitchFamily="49" charset="-122"/>
            </a:endParaRPr>
          </a:p>
          <a:p>
            <a:pPr marL="0" indent="0" eaLnBrk="1" hangingPunct="1">
              <a:buFontTx/>
              <a:buNone/>
            </a:pPr>
            <a:r>
              <a:rPr lang="zh-CN" altLang="en-US" dirty="0"/>
              <a:t> </a:t>
            </a:r>
          </a:p>
        </p:txBody>
      </p:sp>
    </p:spTree>
    <p:extLst>
      <p:ext uri="{BB962C8B-B14F-4D97-AF65-F5344CB8AC3E}">
        <p14:creationId xmlns:p14="http://schemas.microsoft.com/office/powerpoint/2010/main" val="13403135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539750" y="2112342"/>
            <a:ext cx="8280400" cy="3620914"/>
          </a:xfrm>
        </p:spPr>
        <p:txBody>
          <a:bodyPr/>
          <a:lstStyle/>
          <a:p>
            <a:pPr marL="0" indent="0" eaLnBrk="1" hangingPunct="1">
              <a:buFontTx/>
              <a:buNone/>
            </a:pPr>
            <a:r>
              <a:rPr lang="zh-CN" altLang="en-US" b="1" dirty="0">
                <a:latin typeface="Times New Roman" panose="02020603050405020304" pitchFamily="18" charset="0"/>
                <a:ea typeface="方正舒体" panose="02010601030101010101" pitchFamily="2" charset="-122"/>
                <a:cs typeface="Times New Roman" panose="02020603050405020304" pitchFamily="18" charset="0"/>
              </a:rPr>
              <a:t>（</a:t>
            </a:r>
            <a:r>
              <a:rPr lang="en-US" altLang="zh-CN" b="1" dirty="0">
                <a:latin typeface="Times New Roman" panose="02020603050405020304" pitchFamily="18" charset="0"/>
                <a:ea typeface="方正舒体" panose="02010601030101010101" pitchFamily="2" charset="-122"/>
                <a:cs typeface="Times New Roman" panose="02020603050405020304" pitchFamily="18" charset="0"/>
              </a:rPr>
              <a:t>1</a:t>
            </a:r>
            <a:r>
              <a:rPr lang="zh-CN" altLang="en-US" b="1" dirty="0">
                <a:latin typeface="Times New Roman" panose="02020603050405020304" pitchFamily="18" charset="0"/>
                <a:ea typeface="方正舒体" panose="02010601030101010101" pitchFamily="2" charset="-122"/>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Z</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与</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具有相同数目的零点、极点</a:t>
            </a:r>
          </a:p>
          <a:p>
            <a:pPr marL="0" indent="0" eaLnBrk="1" hangingPunct="1">
              <a:buFontTx/>
              <a:buNone/>
            </a:pPr>
            <a:r>
              <a:rPr lang="zh-CN" altLang="en-US" b="1" dirty="0">
                <a:latin typeface="Times New Roman" panose="02020603050405020304" pitchFamily="18" charset="0"/>
                <a:ea typeface="方正舒体" panose="02010601030101010101" pitchFamily="2" charset="-122"/>
                <a:cs typeface="Times New Roman" panose="02020603050405020304" pitchFamily="18" charset="0"/>
              </a:rPr>
              <a:t>（</a:t>
            </a:r>
            <a:r>
              <a:rPr lang="en-US" altLang="zh-CN" b="1" dirty="0">
                <a:latin typeface="Times New Roman" panose="02020603050405020304" pitchFamily="18" charset="0"/>
                <a:ea typeface="方正舒体" panose="02010601030101010101" pitchFamily="2" charset="-122"/>
                <a:cs typeface="Times New Roman" panose="02020603050405020304" pitchFamily="18" charset="0"/>
              </a:rPr>
              <a:t>2</a:t>
            </a:r>
            <a:r>
              <a:rPr lang="zh-CN" altLang="en-US" b="1" dirty="0">
                <a:latin typeface="Times New Roman" panose="02020603050405020304" pitchFamily="18" charset="0"/>
                <a:ea typeface="方正舒体" panose="02010601030101010101" pitchFamily="2" charset="-122"/>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Z</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具有同</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的零点、极点相匹配的零点和极点；</a:t>
            </a:r>
          </a:p>
          <a:p>
            <a:pPr marL="0" indent="0" eaLnBrk="1" hangingPunct="1">
              <a:buFontTx/>
              <a:buNone/>
            </a:pPr>
            <a:r>
              <a:rPr lang="zh-CN" altLang="en-US" b="1" dirty="0">
                <a:latin typeface="Times New Roman" panose="02020603050405020304" pitchFamily="18" charset="0"/>
                <a:ea typeface="方正舒体" panose="02010601030101010101" pitchFamily="2" charset="-122"/>
                <a:cs typeface="Times New Roman" panose="02020603050405020304" pitchFamily="18" charset="0"/>
              </a:rPr>
              <a:t>（</a:t>
            </a:r>
            <a:r>
              <a:rPr lang="en-US" altLang="zh-CN" b="1" dirty="0">
                <a:latin typeface="Times New Roman" panose="02020603050405020304" pitchFamily="18" charset="0"/>
                <a:ea typeface="方正舒体" panose="02010601030101010101" pitchFamily="2" charset="-122"/>
                <a:cs typeface="Times New Roman" panose="02020603050405020304" pitchFamily="18" charset="0"/>
              </a:rPr>
              <a:t>3</a:t>
            </a:r>
            <a:r>
              <a:rPr lang="zh-CN" altLang="en-US" b="1" dirty="0">
                <a:latin typeface="Times New Roman" panose="02020603050405020304" pitchFamily="18" charset="0"/>
                <a:ea typeface="方正舒体" panose="02010601030101010101" pitchFamily="2" charset="-122"/>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Z</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具有与</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的终值相匹配的终值；</a:t>
            </a:r>
          </a:p>
          <a:p>
            <a:pPr marL="0" indent="0" eaLnBrk="1" hangingPunct="1">
              <a:buFontTx/>
              <a:buNone/>
            </a:pPr>
            <a:r>
              <a:rPr lang="zh-CN" altLang="en-US" b="1" dirty="0">
                <a:latin typeface="Times New Roman" panose="02020603050405020304" pitchFamily="18" charset="0"/>
                <a:ea typeface="方正舒体" panose="02010601030101010101" pitchFamily="2" charset="-122"/>
                <a:cs typeface="Times New Roman" panose="02020603050405020304" pitchFamily="18" charset="0"/>
              </a:rPr>
              <a:t>（</a:t>
            </a:r>
            <a:r>
              <a:rPr lang="en-US" altLang="zh-CN" b="1" dirty="0">
                <a:latin typeface="Times New Roman" panose="02020603050405020304" pitchFamily="18" charset="0"/>
                <a:ea typeface="方正舒体" panose="02010601030101010101" pitchFamily="2" charset="-122"/>
                <a:cs typeface="Times New Roman" panose="02020603050405020304" pitchFamily="18" charset="0"/>
              </a:rPr>
              <a:t>4</a:t>
            </a:r>
            <a:r>
              <a:rPr lang="zh-CN" altLang="en-US" b="1" dirty="0">
                <a:latin typeface="Times New Roman" panose="02020603050405020304" pitchFamily="18" charset="0"/>
                <a:ea typeface="方正舒体" panose="02010601030101010101" pitchFamily="2" charset="-122"/>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调节相位，使</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Z</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和</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动态响应达到最佳匹配。 </a:t>
            </a:r>
            <a:r>
              <a:rPr lang="zh-CN" altLang="en-US" sz="3600" dirty="0">
                <a:latin typeface="Times New Roman" panose="02020603050405020304" pitchFamily="18" charset="0"/>
                <a:ea typeface="方正舒体" panose="02010601030101010101" pitchFamily="2" charset="-122"/>
                <a:cs typeface="Times New Roman" panose="02020603050405020304" pitchFamily="18" charset="0"/>
              </a:rPr>
              <a:t> </a:t>
            </a:r>
          </a:p>
        </p:txBody>
      </p:sp>
      <p:sp>
        <p:nvSpPr>
          <p:cNvPr id="2" name="标题 1"/>
          <p:cNvSpPr>
            <a:spLocks noGrp="1"/>
          </p:cNvSpPr>
          <p:nvPr>
            <p:ph type="title"/>
          </p:nvPr>
        </p:nvSpPr>
        <p:spPr/>
        <p:txBody>
          <a:bodyPr/>
          <a:lstStyle/>
          <a:p>
            <a:r>
              <a:rPr lang="zh-CN" altLang="en-US" b="1" dirty="0">
                <a:ea typeface="黑体" panose="02010609060101010101" pitchFamily="49" charset="-122"/>
              </a:rPr>
              <a:t>根匹配法的目标</a:t>
            </a:r>
            <a:endParaRPr lang="zh-CN" altLang="en-US" dirty="0"/>
          </a:p>
        </p:txBody>
      </p:sp>
    </p:spTree>
    <p:extLst>
      <p:ext uri="{BB962C8B-B14F-4D97-AF65-F5344CB8AC3E}">
        <p14:creationId xmlns:p14="http://schemas.microsoft.com/office/powerpoint/2010/main" val="1445400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l" eaLnBrk="1" hangingPunct="1"/>
            <a:r>
              <a:rPr lang="zh-CN" altLang="en-US" sz="3600" b="1">
                <a:solidFill>
                  <a:srgbClr val="CC3300"/>
                </a:solidFill>
                <a:ea typeface="黑体" panose="02010609060101010101" pitchFamily="49" charset="-122"/>
              </a:rPr>
              <a:t>根匹配法的步骤：</a:t>
            </a:r>
            <a:r>
              <a:rPr lang="zh-CN" altLang="en-US"/>
              <a:t> </a:t>
            </a:r>
          </a:p>
        </p:txBody>
      </p:sp>
      <mc:AlternateContent xmlns:mc="http://schemas.openxmlformats.org/markup-compatibility/2006">
        <mc:Choice xmlns:a14="http://schemas.microsoft.com/office/drawing/2010/main" Requires="a14">
          <p:sp>
            <p:nvSpPr>
              <p:cNvPr id="7171" name="Rectangle 3"/>
              <p:cNvSpPr>
                <a:spLocks noGrp="1" noChangeArrowheads="1"/>
              </p:cNvSpPr>
              <p:nvPr>
                <p:ph idx="1"/>
              </p:nvPr>
            </p:nvSpPr>
            <p:spPr>
              <a:xfrm>
                <a:off x="683568" y="2017713"/>
                <a:ext cx="8271520" cy="4114800"/>
              </a:xfrm>
            </p:spPr>
            <p:txBody>
              <a:bodyPr/>
              <a:lstStyle/>
              <a:p>
                <a:pPr marL="0" indent="0" eaLnBrk="1" hangingPunct="1">
                  <a:lnSpc>
                    <a:spcPct val="120000"/>
                  </a:lnSpc>
                  <a:buFontTx/>
                  <a:buNone/>
                </a:pPr>
                <a:r>
                  <a:rPr lang="en-US" altLang="zh-CN" sz="2400" b="1" dirty="0">
                    <a:latin typeface="方正舒体" panose="02010601030101010101" pitchFamily="2" charset="-122"/>
                    <a:ea typeface="方正舒体" panose="02010601030101010101" pitchFamily="2" charset="-122"/>
                  </a:rPr>
                  <a:t>1</a:t>
                </a:r>
                <a:r>
                  <a:rPr lang="zh-CN" altLang="en-US" sz="2400" b="1" dirty="0">
                    <a:latin typeface="方正舒体" panose="02010601030101010101" pitchFamily="2" charset="-122"/>
                    <a:ea typeface="方正舒体" panose="02010601030101010101" pitchFamily="2" charset="-122"/>
                  </a:rPr>
                  <a:t>、</a:t>
                </a:r>
                <a:r>
                  <a:rPr lang="zh-CN" altLang="en-US" sz="2400" dirty="0"/>
                  <a:t>确定连续系统的传递函数</a:t>
                </a:r>
                <a:r>
                  <a:rPr lang="en-US" altLang="zh-CN" sz="2400" i="1" dirty="0"/>
                  <a:t>G</a:t>
                </a:r>
                <a:r>
                  <a:rPr lang="en-US" altLang="zh-CN" sz="2400" dirty="0"/>
                  <a:t>(</a:t>
                </a:r>
                <a:r>
                  <a:rPr lang="en-US" altLang="zh-CN" sz="2400" i="1" dirty="0"/>
                  <a:t>S</a:t>
                </a:r>
                <a:r>
                  <a:rPr lang="en-US" altLang="zh-CN" sz="2400" dirty="0"/>
                  <a:t>)</a:t>
                </a:r>
                <a:r>
                  <a:rPr lang="zh-CN" altLang="en-US" sz="2400" i="1" dirty="0"/>
                  <a:t>；</a:t>
                </a:r>
                <a:endParaRPr lang="en-US" altLang="zh-CN" sz="2400" i="1" dirty="0"/>
              </a:p>
              <a:p>
                <a:pPr marL="0" indent="0" eaLnBrk="1" hangingPunct="1">
                  <a:lnSpc>
                    <a:spcPct val="120000"/>
                  </a:lnSpc>
                  <a:buFontTx/>
                  <a:buNone/>
                </a:pPr>
                <a:r>
                  <a:rPr lang="en-US" altLang="zh-CN" sz="2400" b="1" dirty="0">
                    <a:latin typeface="方正舒体" panose="02010601030101010101" pitchFamily="2" charset="-122"/>
                    <a:ea typeface="方正舒体" panose="02010601030101010101" pitchFamily="2" charset="-122"/>
                  </a:rPr>
                  <a:t>2</a:t>
                </a:r>
                <a:r>
                  <a:rPr lang="zh-CN" altLang="en-US" sz="2400" b="1" dirty="0">
                    <a:latin typeface="方正舒体" panose="02010601030101010101" pitchFamily="2" charset="-122"/>
                    <a:ea typeface="方正舒体" panose="02010601030101010101" pitchFamily="2" charset="-122"/>
                  </a:rPr>
                  <a:t>、</a:t>
                </a:r>
                <a:r>
                  <a:rPr lang="zh-CN" altLang="en-US" sz="2400" dirty="0"/>
                  <a:t>确定</a:t>
                </a:r>
                <a:r>
                  <a:rPr lang="en-US" altLang="zh-CN" sz="2400" i="1" dirty="0"/>
                  <a:t>G</a:t>
                </a:r>
                <a:r>
                  <a:rPr lang="en-US" altLang="zh-CN" sz="2400" dirty="0"/>
                  <a:t>(</a:t>
                </a:r>
                <a:r>
                  <a:rPr lang="en-US" altLang="zh-CN" sz="2400" i="1" dirty="0"/>
                  <a:t>S</a:t>
                </a:r>
                <a:r>
                  <a:rPr lang="en-US" altLang="zh-CN" sz="2400" dirty="0"/>
                  <a:t>)</a:t>
                </a:r>
                <a:r>
                  <a:rPr lang="zh-CN" altLang="en-US" sz="2400" dirty="0"/>
                  <a:t>的零、极点，即</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𝑝</m:t>
                        </m:r>
                      </m:e>
                      <m:sub>
                        <m:r>
                          <a:rPr lang="en-US" altLang="zh-CN" sz="2400" i="1" dirty="0">
                            <a:latin typeface="Cambria Math" panose="02040503050406030204" pitchFamily="18" charset="0"/>
                          </a:rPr>
                          <m:t>𝑖</m:t>
                        </m:r>
                      </m:sub>
                    </m:sSub>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𝑖</m:t>
                        </m:r>
                        <m:r>
                          <a:rPr lang="en-US" altLang="zh-CN" sz="2400" i="1" dirty="0">
                            <a:latin typeface="Cambria Math" panose="02040503050406030204" pitchFamily="18" charset="0"/>
                          </a:rPr>
                          <m:t>=1,2,⋯, </m:t>
                        </m:r>
                        <m:r>
                          <a:rPr lang="en-US" altLang="zh-CN" sz="2400" i="1" dirty="0">
                            <a:latin typeface="Cambria Math" panose="02040503050406030204" pitchFamily="18" charset="0"/>
                            <a:ea typeface="Cambria Math" panose="02040503050406030204" pitchFamily="18" charset="0"/>
                          </a:rPr>
                          <m:t>𝑛</m:t>
                        </m:r>
                      </m:e>
                    </m:d>
                  </m:oMath>
                </a14:m>
                <a:r>
                  <a:rPr lang="zh-CN" altLang="en-US" sz="2400" dirty="0"/>
                  <a:t>与</a:t>
                </a:r>
                <a14:m>
                  <m:oMath xmlns:m="http://schemas.openxmlformats.org/officeDocument/2006/math">
                    <m:sSub>
                      <m:sSubPr>
                        <m:ctrlPr>
                          <a:rPr lang="en-US" altLang="zh-CN" sz="2400" i="1" dirty="0">
                            <a:latin typeface="Cambria Math" panose="02040503050406030204" pitchFamily="18" charset="0"/>
                          </a:rPr>
                        </m:ctrlPr>
                      </m:sSubPr>
                      <m:e>
                        <m:r>
                          <a:rPr lang="en-US" altLang="zh-CN" sz="2400" b="0" i="1" dirty="0" smtClean="0">
                            <a:latin typeface="Cambria Math"/>
                          </a:rPr>
                          <m:t>    </m:t>
                        </m:r>
                        <m:r>
                          <a:rPr lang="en-US" altLang="zh-CN" sz="2400" i="1" dirty="0">
                            <a:latin typeface="Cambria Math" panose="02040503050406030204" pitchFamily="18" charset="0"/>
                          </a:rPr>
                          <m:t>𝑞</m:t>
                        </m:r>
                      </m:e>
                      <m:sub>
                        <m:r>
                          <a:rPr lang="en-US" altLang="zh-CN" sz="2400" i="1" dirty="0">
                            <a:latin typeface="Cambria Math" panose="02040503050406030204" pitchFamily="18" charset="0"/>
                          </a:rPr>
                          <m:t>𝑗</m:t>
                        </m:r>
                      </m:sub>
                    </m:sSub>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𝑗</m:t>
                        </m:r>
                        <m:r>
                          <a:rPr lang="en-US" altLang="zh-CN" sz="2400" i="1" dirty="0">
                            <a:latin typeface="Cambria Math" panose="02040503050406030204" pitchFamily="18" charset="0"/>
                          </a:rPr>
                          <m:t>=1,2,⋯, </m:t>
                        </m:r>
                        <m:r>
                          <a:rPr lang="en-US" altLang="zh-CN" sz="2400" i="1" dirty="0">
                            <a:latin typeface="Cambria Math" panose="02040503050406030204" pitchFamily="18" charset="0"/>
                            <a:ea typeface="Cambria Math" panose="02040503050406030204" pitchFamily="18" charset="0"/>
                          </a:rPr>
                          <m:t>𝑚</m:t>
                        </m:r>
                      </m:e>
                    </m:d>
                  </m:oMath>
                </a14:m>
                <a:r>
                  <a:rPr lang="zh-CN" altLang="en-US" sz="2400" dirty="0"/>
                  <a:t> ；</a:t>
                </a:r>
              </a:p>
              <a:p>
                <a:pPr marL="0" indent="0" eaLnBrk="1" hangingPunct="1">
                  <a:lnSpc>
                    <a:spcPct val="120000"/>
                  </a:lnSpc>
                  <a:buFontTx/>
                  <a:buNone/>
                </a:pPr>
                <a:r>
                  <a:rPr lang="en-US" altLang="zh-CN" sz="2400" b="1" dirty="0">
                    <a:latin typeface="方正舒体" panose="02010601030101010101" pitchFamily="2" charset="-122"/>
                    <a:ea typeface="方正舒体" panose="02010601030101010101" pitchFamily="2" charset="-122"/>
                  </a:rPr>
                  <a:t>3</a:t>
                </a:r>
                <a:r>
                  <a:rPr lang="zh-CN" altLang="en-US" sz="2400" b="1" dirty="0">
                    <a:latin typeface="方正舒体" panose="02010601030101010101" pitchFamily="2" charset="-122"/>
                    <a:ea typeface="方正舒体" panose="02010601030101010101" pitchFamily="2" charset="-122"/>
                  </a:rPr>
                  <a:t>、</a:t>
                </a:r>
                <a:r>
                  <a:rPr lang="zh-CN" altLang="en-US" sz="2400" dirty="0"/>
                  <a:t>利用关系式</a:t>
                </a:r>
                <a14:m>
                  <m:oMath xmlns:m="http://schemas.openxmlformats.org/officeDocument/2006/math">
                    <m:r>
                      <a:rPr lang="en-US" altLang="zh-CN" sz="2400" b="0" i="1" smtClean="0">
                        <a:latin typeface="Cambria Math" panose="02040503050406030204" pitchFamily="18" charset="0"/>
                      </a:rPr>
                      <m:t>𝑍</m:t>
                    </m:r>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𝑠𝑇</m:t>
                        </m:r>
                      </m:sup>
                    </m:sSup>
                  </m:oMath>
                </a14:m>
                <a:r>
                  <a:rPr lang="zh-CN" altLang="en-US" sz="2400" dirty="0"/>
                  <a:t> 将</a:t>
                </a:r>
                <a:r>
                  <a:rPr lang="en-US" altLang="zh-CN" sz="2400" i="1" dirty="0"/>
                  <a:t>S</a:t>
                </a:r>
                <a:r>
                  <a:rPr lang="zh-CN" altLang="en-US" sz="2400" dirty="0"/>
                  <a:t>平面上的零、极点映射到</a:t>
                </a:r>
                <a:r>
                  <a:rPr lang="en-US" altLang="zh-CN" sz="2400" i="1" dirty="0"/>
                  <a:t>Z</a:t>
                </a:r>
                <a:r>
                  <a:rPr lang="zh-CN" altLang="en-US" sz="2400" dirty="0"/>
                  <a:t>平面上；</a:t>
                </a:r>
              </a:p>
              <a:p>
                <a:pPr marL="0" indent="0" eaLnBrk="1" hangingPunct="1">
                  <a:lnSpc>
                    <a:spcPct val="120000"/>
                  </a:lnSpc>
                  <a:buFontTx/>
                  <a:buNone/>
                </a:pPr>
                <a:r>
                  <a:rPr lang="en-US" altLang="zh-CN" sz="2400" b="1" dirty="0">
                    <a:latin typeface="方正舒体" panose="02010601030101010101" pitchFamily="2" charset="-122"/>
                    <a:ea typeface="方正舒体" panose="02010601030101010101" pitchFamily="2" charset="-122"/>
                  </a:rPr>
                  <a:t>4</a:t>
                </a:r>
                <a:r>
                  <a:rPr lang="zh-CN" altLang="en-US" sz="2400" b="1" dirty="0">
                    <a:latin typeface="方正舒体" panose="02010601030101010101" pitchFamily="2" charset="-122"/>
                    <a:ea typeface="方正舒体" panose="02010601030101010101" pitchFamily="2" charset="-122"/>
                  </a:rPr>
                  <a:t>、</a:t>
                </a:r>
                <a:r>
                  <a:rPr lang="zh-CN" altLang="en-US" sz="2400" dirty="0"/>
                  <a:t>利用上一步求得</a:t>
                </a:r>
                <a:r>
                  <a:rPr lang="en-US" altLang="zh-CN" sz="2400" i="1" dirty="0"/>
                  <a:t>Z</a:t>
                </a:r>
                <a:r>
                  <a:rPr lang="zh-CN" altLang="en-US" sz="2400" dirty="0"/>
                  <a:t>平面上的零、极点，写出离散传递函数   </a:t>
                </a:r>
                <a:r>
                  <a:rPr lang="en-US" altLang="zh-CN" sz="2400" i="1" dirty="0"/>
                  <a:t>G</a:t>
                </a:r>
                <a:r>
                  <a:rPr lang="en-US" altLang="zh-CN" sz="2400" dirty="0"/>
                  <a:t>(</a:t>
                </a:r>
                <a:r>
                  <a:rPr lang="en-US" altLang="zh-CN" sz="2400" i="1" dirty="0"/>
                  <a:t>Z</a:t>
                </a:r>
                <a:r>
                  <a:rPr lang="en-US" altLang="zh-CN" sz="2400" dirty="0"/>
                  <a:t>),</a:t>
                </a:r>
                <a:r>
                  <a:rPr lang="zh-CN" altLang="en-US" sz="2400" dirty="0"/>
                  <a:t>暂不考虑附加零点</a:t>
                </a:r>
                <a:r>
                  <a:rPr lang="en-US" altLang="zh-CN" sz="2400" dirty="0"/>
                  <a:t>,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𝐾</m:t>
                        </m:r>
                      </m:e>
                      <m:sub>
                        <m:r>
                          <a:rPr lang="en-US" altLang="zh-CN" sz="2400" i="1" dirty="0">
                            <a:latin typeface="Cambria Math" panose="02040503050406030204" pitchFamily="18" charset="0"/>
                          </a:rPr>
                          <m:t>𝑧</m:t>
                        </m:r>
                      </m:sub>
                    </m:sSub>
                  </m:oMath>
                </a14:m>
                <a:r>
                  <a:rPr lang="zh-CN" altLang="en-US" sz="2400" dirty="0"/>
                  <a:t>待定。</a:t>
                </a:r>
              </a:p>
              <a:p>
                <a:pPr marL="0" indent="0" eaLnBrk="1" hangingPunct="1">
                  <a:lnSpc>
                    <a:spcPct val="120000"/>
                  </a:lnSpc>
                  <a:buFontTx/>
                  <a:buNone/>
                </a:pPr>
                <a:r>
                  <a:rPr lang="en-US" altLang="zh-CN" sz="2400" b="1" dirty="0">
                    <a:latin typeface="方正舒体" panose="02010601030101010101" pitchFamily="2" charset="-122"/>
                    <a:ea typeface="方正舒体" panose="02010601030101010101" pitchFamily="2" charset="-122"/>
                  </a:rPr>
                  <a:t>5</a:t>
                </a:r>
                <a:r>
                  <a:rPr lang="zh-CN" altLang="en-US" sz="2400" b="1" dirty="0">
                    <a:latin typeface="方正舒体" panose="02010601030101010101" pitchFamily="2" charset="-122"/>
                    <a:ea typeface="方正舒体" panose="02010601030101010101" pitchFamily="2" charset="-122"/>
                  </a:rPr>
                  <a:t>、</a:t>
                </a:r>
                <a:r>
                  <a:rPr lang="zh-CN" altLang="en-US" sz="2400" dirty="0"/>
                  <a:t>确定连续系统</a:t>
                </a:r>
                <a:r>
                  <a:rPr lang="zh-CN" altLang="en-US" sz="2400" b="1" dirty="0">
                    <a:solidFill>
                      <a:srgbClr val="CC3300"/>
                    </a:solidFill>
                  </a:rPr>
                  <a:t>在单位阶跃作用下</a:t>
                </a:r>
                <a:r>
                  <a:rPr lang="zh-CN" altLang="en-US" sz="2400" dirty="0"/>
                  <a:t>的终值</a:t>
                </a:r>
                <a:r>
                  <a:rPr lang="en-US" altLang="zh-CN" sz="2400" dirty="0"/>
                  <a:t>,</a:t>
                </a:r>
                <a:r>
                  <a:rPr lang="zh-CN" altLang="en-US" sz="2400" dirty="0"/>
                  <a:t>（若对单位阶跃信号的响应终值为零，则考虑其它形式的典型输入函数）；</a:t>
                </a:r>
              </a:p>
            </p:txBody>
          </p:sp>
        </mc:Choice>
        <mc:Fallback>
          <p:sp>
            <p:nvSpPr>
              <p:cNvPr id="7171" name="Rectangle 3"/>
              <p:cNvSpPr>
                <a:spLocks noGrp="1" noRot="1" noChangeAspect="1" noMove="1" noResize="1" noEditPoints="1" noAdjustHandles="1" noChangeArrowheads="1" noChangeShapeType="1" noTextEdit="1"/>
              </p:cNvSpPr>
              <p:nvPr>
                <p:ph idx="1"/>
              </p:nvPr>
            </p:nvSpPr>
            <p:spPr>
              <a:xfrm>
                <a:off x="683568" y="2017713"/>
                <a:ext cx="8271520" cy="4114800"/>
              </a:xfrm>
              <a:blipFill>
                <a:blip r:embed="rId2"/>
                <a:stretch>
                  <a:fillRect l="-1105" t="-889" r="-48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032895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8194" name="Rectangle 3"/>
              <p:cNvSpPr>
                <a:spLocks noGrp="1" noChangeArrowheads="1"/>
              </p:cNvSpPr>
              <p:nvPr>
                <p:ph idx="1"/>
              </p:nvPr>
            </p:nvSpPr>
            <p:spPr>
              <a:xfrm>
                <a:off x="827584" y="2035177"/>
                <a:ext cx="7772400" cy="3986112"/>
              </a:xfrm>
            </p:spPr>
            <p:txBody>
              <a:bodyPr/>
              <a:lstStyle/>
              <a:p>
                <a:pPr eaLnBrk="1" hangingPunct="1">
                  <a:lnSpc>
                    <a:spcPct val="120000"/>
                  </a:lnSpc>
                  <a:buFontTx/>
                  <a:buNone/>
                </a:pPr>
                <a:r>
                  <a:rPr lang="en-US" altLang="zh-CN" sz="2400" dirty="0"/>
                  <a:t>6</a:t>
                </a:r>
                <a:r>
                  <a:rPr lang="zh-CN" altLang="en-US" sz="2400" dirty="0"/>
                  <a:t>、确定离散系统典型信号（与第5步中使用的信号形式完全相同）作用下的终值；</a:t>
                </a:r>
              </a:p>
              <a:p>
                <a:pPr eaLnBrk="1" hangingPunct="1">
                  <a:lnSpc>
                    <a:spcPct val="120000"/>
                  </a:lnSpc>
                  <a:buFontTx/>
                  <a:buNone/>
                </a:pPr>
                <a:r>
                  <a:rPr lang="en-US" altLang="zh-CN" sz="2400" dirty="0"/>
                  <a:t>7</a:t>
                </a:r>
                <a:r>
                  <a:rPr lang="zh-CN" altLang="en-US" sz="2400" dirty="0"/>
                  <a:t>、根据终值不变的原则，由</a:t>
                </a:r>
                <a:r>
                  <a:rPr lang="en-US" altLang="zh-CN" sz="2400" dirty="0"/>
                  <a:t>5,6</a:t>
                </a:r>
                <a:r>
                  <a:rPr lang="zh-CN" altLang="en-US" sz="2400" dirty="0"/>
                  <a:t>两步的计算结果确定第四步中的增益</a:t>
                </a:r>
                <a14:m>
                  <m:oMath xmlns:m="http://schemas.openxmlformats.org/officeDocument/2006/math">
                    <m:sSub>
                      <m:sSubPr>
                        <m:ctrlPr>
                          <a:rPr lang="en-US" altLang="zh-CN" sz="2400" i="1" dirty="0">
                            <a:latin typeface="Cambria Math" panose="02040503050406030204" pitchFamily="18" charset="0"/>
                          </a:rPr>
                        </m:ctrlPr>
                      </m:sSubPr>
                      <m:e>
                        <m:r>
                          <a:rPr lang="en-US" altLang="zh-CN" sz="2400" dirty="0">
                            <a:latin typeface="Cambria Math" panose="02040503050406030204" pitchFamily="18" charset="0"/>
                          </a:rPr>
                          <m:t>𝐾</m:t>
                        </m:r>
                      </m:e>
                      <m:sub>
                        <m:r>
                          <a:rPr lang="en-US" altLang="zh-CN" sz="2400" dirty="0">
                            <a:latin typeface="Cambria Math" panose="02040503050406030204" pitchFamily="18" charset="0"/>
                          </a:rPr>
                          <m:t>𝑧</m:t>
                        </m:r>
                      </m:sub>
                    </m:sSub>
                  </m:oMath>
                </a14:m>
                <a:r>
                  <a:rPr lang="zh-CN" altLang="en-US" sz="2400" dirty="0"/>
                  <a:t>；</a:t>
                </a:r>
              </a:p>
              <a:p>
                <a:pPr eaLnBrk="1" hangingPunct="1">
                  <a:lnSpc>
                    <a:spcPct val="120000"/>
                  </a:lnSpc>
                  <a:buFontTx/>
                  <a:buNone/>
                </a:pPr>
                <a:r>
                  <a:rPr lang="en-US" altLang="zh-CN" sz="2400" dirty="0"/>
                  <a:t>8</a:t>
                </a:r>
                <a:r>
                  <a:rPr lang="zh-CN" altLang="en-US" sz="2400" dirty="0"/>
                  <a:t>、确定离散传递函数</a:t>
                </a:r>
                <a:r>
                  <a:rPr lang="en-US" altLang="zh-CN" sz="2400" dirty="0"/>
                  <a:t>G(Z)</a:t>
                </a:r>
                <a:r>
                  <a:rPr lang="zh-CN" altLang="en-US" sz="2400" dirty="0"/>
                  <a:t>的附加零点，使得</a:t>
                </a:r>
                <a:r>
                  <a:rPr lang="en-US" altLang="zh-CN" sz="2400" dirty="0"/>
                  <a:t>G(Z)</a:t>
                </a:r>
                <a:r>
                  <a:rPr lang="zh-CN" altLang="en-US" sz="2400" dirty="0"/>
                  <a:t>分子分母阶次相匹配，并尽量保证</a:t>
                </a:r>
                <a:r>
                  <a:rPr lang="en-US" altLang="zh-CN" sz="2400" dirty="0"/>
                  <a:t>G(Z)</a:t>
                </a:r>
                <a:r>
                  <a:rPr lang="zh-CN" altLang="en-US" sz="2400" dirty="0"/>
                  <a:t>和</a:t>
                </a:r>
                <a:r>
                  <a:rPr lang="en-US" altLang="zh-CN" sz="2400" dirty="0"/>
                  <a:t>G(S)</a:t>
                </a:r>
                <a:r>
                  <a:rPr lang="zh-CN" altLang="en-US" sz="2400" dirty="0"/>
                  <a:t>达到最佳匹配（附加零点后应重新确定增益 </a:t>
                </a:r>
                <a14:m>
                  <m:oMath xmlns:m="http://schemas.openxmlformats.org/officeDocument/2006/math">
                    <m:sSub>
                      <m:sSubPr>
                        <m:ctrlPr>
                          <a:rPr lang="en-US" altLang="zh-CN" sz="2400" i="1" dirty="0">
                            <a:latin typeface="Cambria Math" panose="02040503050406030204" pitchFamily="18" charset="0"/>
                          </a:rPr>
                        </m:ctrlPr>
                      </m:sSubPr>
                      <m:e>
                        <m:r>
                          <a:rPr lang="en-US" altLang="zh-CN" sz="2400" dirty="0">
                            <a:latin typeface="Cambria Math" panose="02040503050406030204" pitchFamily="18" charset="0"/>
                          </a:rPr>
                          <m:t>𝐾</m:t>
                        </m:r>
                      </m:e>
                      <m:sub>
                        <m:r>
                          <a:rPr lang="en-US" altLang="zh-CN" sz="2400" dirty="0">
                            <a:latin typeface="Cambria Math" panose="02040503050406030204" pitchFamily="18" charset="0"/>
                          </a:rPr>
                          <m:t>𝑧</m:t>
                        </m:r>
                      </m:sub>
                    </m:sSub>
                  </m:oMath>
                </a14:m>
                <a:r>
                  <a:rPr lang="zh-CN" altLang="en-US" sz="2400" dirty="0"/>
                  <a:t>）。</a:t>
                </a:r>
              </a:p>
              <a:p>
                <a:pPr eaLnBrk="1" hangingPunct="1">
                  <a:lnSpc>
                    <a:spcPct val="120000"/>
                  </a:lnSpc>
                  <a:buFontTx/>
                  <a:buNone/>
                </a:pPr>
                <a:r>
                  <a:rPr lang="en-US" altLang="zh-CN" sz="2400" dirty="0"/>
                  <a:t>9</a:t>
                </a:r>
                <a:r>
                  <a:rPr lang="zh-CN" altLang="en-US" sz="2400" dirty="0"/>
                  <a:t>、对</a:t>
                </a:r>
                <a:r>
                  <a:rPr lang="en-US" altLang="zh-CN" sz="2400" dirty="0"/>
                  <a:t>8</a:t>
                </a:r>
                <a:r>
                  <a:rPr lang="zh-CN" altLang="en-US" sz="2400" dirty="0"/>
                  <a:t>中的</a:t>
                </a:r>
                <a:r>
                  <a:rPr lang="en-US" altLang="zh-CN" sz="2400" dirty="0"/>
                  <a:t>G(Z)</a:t>
                </a:r>
                <a:r>
                  <a:rPr lang="zh-CN" altLang="en-US" sz="2400" dirty="0"/>
                  <a:t>进行</a:t>
                </a:r>
                <a:r>
                  <a:rPr lang="en-US" altLang="zh-CN" sz="2400" dirty="0"/>
                  <a:t>Z</a:t>
                </a:r>
                <a:r>
                  <a:rPr lang="zh-CN" altLang="en-US" sz="2400" dirty="0"/>
                  <a:t>逆变换，求得仿真用的差分方程。</a:t>
                </a:r>
              </a:p>
            </p:txBody>
          </p:sp>
        </mc:Choice>
        <mc:Fallback>
          <p:sp>
            <p:nvSpPr>
              <p:cNvPr id="8194" name="Rectangle 3"/>
              <p:cNvSpPr>
                <a:spLocks noGrp="1" noRot="1" noChangeAspect="1" noMove="1" noResize="1" noEditPoints="1" noAdjustHandles="1" noChangeArrowheads="1" noChangeShapeType="1" noTextEdit="1"/>
              </p:cNvSpPr>
              <p:nvPr>
                <p:ph idx="1"/>
              </p:nvPr>
            </p:nvSpPr>
            <p:spPr>
              <a:xfrm>
                <a:off x="827584" y="2035177"/>
                <a:ext cx="7772400" cy="3986112"/>
              </a:xfrm>
              <a:blipFill>
                <a:blip r:embed="rId2"/>
                <a:stretch>
                  <a:fillRect l="-1255" t="-917" r="-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1726540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C9D5962-9FC4-41E9-832D-5773A4FD3B5A}" type="slidenum">
              <a:rPr kumimoji="0" lang="en-US" altLang="zh-CN" sz="1400"/>
              <a:pPr>
                <a:spcBef>
                  <a:spcPct val="0"/>
                </a:spcBef>
                <a:buClrTx/>
                <a:buSzTx/>
                <a:buFontTx/>
                <a:buNone/>
              </a:pPr>
              <a:t>106</a:t>
            </a:fld>
            <a:endParaRPr kumimoji="0" lang="en-US" altLang="zh-CN" sz="1400"/>
          </a:p>
        </p:txBody>
      </p:sp>
      <p:sp>
        <p:nvSpPr>
          <p:cNvPr id="21507" name="Rectangle 2"/>
          <p:cNvSpPr>
            <a:spLocks noGrp="1" noChangeArrowheads="1"/>
          </p:cNvSpPr>
          <p:nvPr>
            <p:ph type="title"/>
          </p:nvPr>
        </p:nvSpPr>
        <p:spPr/>
        <p:txBody>
          <a:bodyPr/>
          <a:lstStyle/>
          <a:p>
            <a:pPr eaLnBrk="1" hangingPunct="1"/>
            <a:r>
              <a:rPr lang="zh-CN" altLang="en-US" dirty="0"/>
              <a:t>关于附加零点的说明</a:t>
            </a:r>
          </a:p>
        </p:txBody>
      </p:sp>
      <mc:AlternateContent xmlns:mc="http://schemas.openxmlformats.org/markup-compatibility/2006" xmlns:a14="http://schemas.microsoft.com/office/drawing/2010/main">
        <mc:Choice Requires="a14">
          <p:sp>
            <p:nvSpPr>
              <p:cNvPr id="21508" name="Rectangle 3"/>
              <p:cNvSpPr>
                <a:spLocks noGrp="1" noChangeArrowheads="1"/>
              </p:cNvSpPr>
              <p:nvPr>
                <p:ph type="body" idx="1"/>
              </p:nvPr>
            </p:nvSpPr>
            <p:spPr>
              <a:xfrm>
                <a:off x="1043608" y="1949623"/>
                <a:ext cx="7772400" cy="4287689"/>
              </a:xfrm>
            </p:spPr>
            <p:txBody>
              <a:bodyPr/>
              <a:lstStyle/>
              <a:p>
                <a:pPr eaLnBrk="1" hangingPunct="1">
                  <a:lnSpc>
                    <a:spcPct val="140000"/>
                  </a:lnSpc>
                </a:pPr>
                <a:r>
                  <a:rPr lang="zh-CN" altLang="en-US" dirty="0"/>
                  <a:t>因为一般的传递函数模型有：</a:t>
                </a:r>
                <a14:m>
                  <m:oMath xmlns:m="http://schemas.openxmlformats.org/officeDocument/2006/math">
                    <m:r>
                      <a:rPr lang="en-US" altLang="zh-CN" b="0" i="1" smtClean="0">
                        <a:latin typeface="Cambria Math" panose="02040503050406030204" pitchFamily="18" charset="0"/>
                      </a:rPr>
                      <m:t>𝑚</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oMath>
                </a14:m>
                <a:endParaRPr lang="zh-CN" altLang="en-US" dirty="0"/>
              </a:p>
              <a:p>
                <a:pPr eaLnBrk="1" hangingPunct="1">
                  <a:lnSpc>
                    <a:spcPct val="140000"/>
                  </a:lnSpc>
                </a:pPr>
                <a:r>
                  <a:rPr lang="zh-CN" altLang="en-US" dirty="0"/>
                  <a:t>因此在</a:t>
                </a:r>
                <a:r>
                  <a:rPr lang="en-US" altLang="zh-CN" dirty="0"/>
                  <a:t>s</a:t>
                </a:r>
                <a:r>
                  <a:rPr lang="zh-CN" altLang="en-US" dirty="0"/>
                  <a:t>平面上有</a:t>
                </a:r>
                <a:r>
                  <a:rPr lang="en-US" altLang="zh-CN" dirty="0"/>
                  <a:t>n-m</a:t>
                </a:r>
                <a:r>
                  <a:rPr lang="zh-CN" altLang="en-US" dirty="0"/>
                  <a:t>个零点在负无穷远处。不妨假设均在</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oMath>
                </a14:m>
                <a:r>
                  <a:rPr lang="zh-CN" altLang="en-US" dirty="0"/>
                  <a:t>处，由此可见，在</a:t>
                </a:r>
                <a:r>
                  <a:rPr lang="en-US" altLang="zh-CN" dirty="0"/>
                  <a:t>z</a:t>
                </a:r>
                <a:r>
                  <a:rPr lang="zh-CN" altLang="en-US" dirty="0"/>
                  <a:t>平面上尚有</a:t>
                </a:r>
                <a:r>
                  <a:rPr lang="en-US" altLang="zh-CN" dirty="0"/>
                  <a:t>n-m</a:t>
                </a:r>
                <a:r>
                  <a:rPr lang="zh-CN" altLang="en-US" dirty="0"/>
                  <a:t>个零点在 </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𝑇</m:t>
                        </m:r>
                      </m:sup>
                    </m:sSup>
                    <m:r>
                      <a:rPr lang="en-US" altLang="zh-CN" b="0" i="1" smtClean="0">
                        <a:latin typeface="Cambria Math" panose="02040503050406030204" pitchFamily="18" charset="0"/>
                      </a:rPr>
                      <m:t>=0</m:t>
                    </m:r>
                  </m:oMath>
                </a14:m>
                <a:r>
                  <a:rPr lang="zh-CN" altLang="en-US" dirty="0"/>
                  <a:t>处，即尚有</a:t>
                </a:r>
                <a:r>
                  <a:rPr lang="en-US" altLang="zh-CN" dirty="0"/>
                  <a:t>n-m</a:t>
                </a:r>
                <a:r>
                  <a:rPr lang="zh-CN" altLang="en-US" dirty="0"/>
                  <a:t>个零点在</a:t>
                </a:r>
                <a:r>
                  <a:rPr lang="en-US" altLang="zh-CN" dirty="0"/>
                  <a:t>z</a:t>
                </a:r>
                <a:r>
                  <a:rPr lang="zh-CN" altLang="en-US" dirty="0"/>
                  <a:t>平面的原点。</a:t>
                </a:r>
              </a:p>
            </p:txBody>
          </p:sp>
        </mc:Choice>
        <mc:Fallback xmlns="">
          <p:sp>
            <p:nvSpPr>
              <p:cNvPr id="21508" name="Rectangle 3"/>
              <p:cNvSpPr>
                <a:spLocks noGrp="1" noRot="1" noChangeAspect="1" noMove="1" noResize="1" noEditPoints="1" noAdjustHandles="1" noChangeArrowheads="1" noChangeShapeType="1" noTextEdit="1"/>
              </p:cNvSpPr>
              <p:nvPr>
                <p:ph type="body" idx="1"/>
              </p:nvPr>
            </p:nvSpPr>
            <p:spPr>
              <a:xfrm>
                <a:off x="1043608" y="1949623"/>
                <a:ext cx="7772400" cy="4287689"/>
              </a:xfrm>
              <a:blipFill>
                <a:blip r:embed="rId2"/>
                <a:stretch>
                  <a:fillRect l="-549" r="-10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8021452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074" name="Rectangle 3"/>
          <p:cNvSpPr>
            <a:spLocks noGrp="1" noChangeArrowheads="1"/>
          </p:cNvSpPr>
          <p:nvPr>
            <p:ph idx="1"/>
          </p:nvPr>
        </p:nvSpPr>
        <p:spPr/>
        <p:txBody>
          <a:bodyPr/>
          <a:lstStyle/>
          <a:p>
            <a:pPr eaLnBrk="1" hangingPunct="1">
              <a:buFontTx/>
              <a:buNone/>
            </a:pPr>
            <a:r>
              <a:rPr lang="zh-CN" altLang="en-US" dirty="0">
                <a:latin typeface="黑体" panose="02010609060101010101" pitchFamily="49" charset="-122"/>
                <a:ea typeface="黑体" panose="02010609060101010101" pitchFamily="49" charset="-122"/>
              </a:rPr>
              <a:t>假定线性系统的传递函数为 </a:t>
            </a:r>
          </a:p>
          <a:p>
            <a:pPr eaLnBrk="1" hangingPunct="1">
              <a:buFontTx/>
              <a:buNone/>
            </a:pPr>
            <a:r>
              <a:rPr lang="zh-CN" altLang="en-US" dirty="0">
                <a:latin typeface="黑体" panose="02010609060101010101" pitchFamily="49" charset="-122"/>
                <a:ea typeface="黑体" panose="02010609060101010101" pitchFamily="49" charset="-122"/>
              </a:rPr>
              <a:t>  </a:t>
            </a:r>
          </a:p>
          <a:p>
            <a:pPr eaLnBrk="1" hangingPunct="1">
              <a:buFontTx/>
              <a:buNone/>
            </a:pPr>
            <a:endParaRPr lang="zh-CN" altLang="en-US" dirty="0">
              <a:latin typeface="黑体" panose="02010609060101010101" pitchFamily="49" charset="-122"/>
              <a:ea typeface="黑体" panose="02010609060101010101" pitchFamily="49" charset="-122"/>
            </a:endParaRPr>
          </a:p>
          <a:p>
            <a:pPr eaLnBrk="1" hangingPunct="1">
              <a:buFontTx/>
              <a:buNone/>
            </a:pPr>
            <a:r>
              <a:rPr lang="zh-CN" altLang="en-US" dirty="0">
                <a:latin typeface="黑体" panose="02010609060101010101" pitchFamily="49" charset="-122"/>
                <a:ea typeface="黑体" panose="02010609060101010101" pitchFamily="49" charset="-122"/>
              </a:rPr>
              <a:t>构造如下的</a:t>
            </a:r>
            <a:r>
              <a:rPr lang="en-US" altLang="zh-CN" i="1" dirty="0">
                <a:latin typeface="黑体" panose="02010609060101010101" pitchFamily="49" charset="-122"/>
                <a:ea typeface="黑体" panose="02010609060101010101" pitchFamily="49" charset="-122"/>
              </a:rPr>
              <a:t>G(Z)</a:t>
            </a:r>
            <a:r>
              <a:rPr lang="en-US" altLang="zh-CN" dirty="0">
                <a:latin typeface="黑体" panose="02010609060101010101" pitchFamily="49" charset="-122"/>
                <a:ea typeface="黑体" panose="02010609060101010101" pitchFamily="49" charset="-122"/>
              </a:rPr>
              <a:t>: </a:t>
            </a:r>
            <a:endParaRPr lang="zh-CN" altLang="en-US" b="1" dirty="0">
              <a:solidFill>
                <a:srgbClr val="CC3300"/>
              </a:solidFill>
              <a:latin typeface="黑体" panose="02010609060101010101" pitchFamily="49" charset="-122"/>
              <a:ea typeface="黑体" panose="02010609060101010101" pitchFamily="49" charset="-122"/>
            </a:endParaRPr>
          </a:p>
          <a:p>
            <a:pPr eaLnBrk="1" hangingPunct="1"/>
            <a:endParaRPr lang="zh-CN" altLang="en-US" dirty="0">
              <a:latin typeface="黑体" panose="02010609060101010101" pitchFamily="49" charset="-122"/>
              <a:ea typeface="黑体" panose="02010609060101010101" pitchFamily="49" charset="-122"/>
            </a:endParaRPr>
          </a:p>
        </p:txBody>
      </p:sp>
      <p:graphicFrame>
        <p:nvGraphicFramePr>
          <p:cNvPr id="3075" name="Object 4"/>
          <p:cNvGraphicFramePr>
            <a:graphicFrameLocks noChangeAspect="1"/>
          </p:cNvGraphicFramePr>
          <p:nvPr>
            <p:extLst>
              <p:ext uri="{D42A27DB-BD31-4B8C-83A1-F6EECF244321}">
                <p14:modId xmlns:p14="http://schemas.microsoft.com/office/powerpoint/2010/main" val="1721079130"/>
              </p:ext>
            </p:extLst>
          </p:nvPr>
        </p:nvGraphicFramePr>
        <p:xfrm>
          <a:off x="1043608" y="2637656"/>
          <a:ext cx="6912768" cy="1079376"/>
        </p:xfrm>
        <a:graphic>
          <a:graphicData uri="http://schemas.openxmlformats.org/presentationml/2006/ole">
            <mc:AlternateContent xmlns:mc="http://schemas.openxmlformats.org/markup-compatibility/2006">
              <mc:Choice xmlns:v="urn:schemas-microsoft-com:vml" Requires="v">
                <p:oleObj spid="_x0000_s75870" name="公式" r:id="rId3" imgW="2552700" imgH="431800" progId="Equation.3">
                  <p:embed/>
                </p:oleObj>
              </mc:Choice>
              <mc:Fallback>
                <p:oleObj name="公式" r:id="rId3" imgW="25527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2637656"/>
                        <a:ext cx="6912768" cy="1079376"/>
                      </a:xfrm>
                      <a:prstGeom prst="rect">
                        <a:avLst/>
                      </a:prstGeom>
                      <a:noFill/>
                      <a:ln>
                        <a:noFill/>
                      </a:ln>
                      <a:effectLst/>
                    </p:spPr>
                  </p:pic>
                </p:oleObj>
              </mc:Fallback>
            </mc:AlternateContent>
          </a:graphicData>
        </a:graphic>
      </p:graphicFrame>
      <p:graphicFrame>
        <p:nvGraphicFramePr>
          <p:cNvPr id="3076" name="Object 5"/>
          <p:cNvGraphicFramePr>
            <a:graphicFrameLocks noChangeAspect="1"/>
          </p:cNvGraphicFramePr>
          <p:nvPr>
            <p:extLst>
              <p:ext uri="{D42A27DB-BD31-4B8C-83A1-F6EECF244321}">
                <p14:modId xmlns:p14="http://schemas.microsoft.com/office/powerpoint/2010/main" val="1334950886"/>
              </p:ext>
            </p:extLst>
          </p:nvPr>
        </p:nvGraphicFramePr>
        <p:xfrm>
          <a:off x="611560" y="4573488"/>
          <a:ext cx="8013948" cy="1231776"/>
        </p:xfrm>
        <a:graphic>
          <a:graphicData uri="http://schemas.openxmlformats.org/presentationml/2006/ole">
            <mc:AlternateContent xmlns:mc="http://schemas.openxmlformats.org/markup-compatibility/2006">
              <mc:Choice xmlns:v="urn:schemas-microsoft-com:vml" Requires="v">
                <p:oleObj spid="_x0000_s75871" name="公式" r:id="rId5" imgW="3302000" imgH="457200" progId="Equation.3">
                  <p:embed/>
                </p:oleObj>
              </mc:Choice>
              <mc:Fallback>
                <p:oleObj name="公式" r:id="rId5" imgW="33020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60" y="4573488"/>
                        <a:ext cx="8013948" cy="123177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61496291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4098" name="Rectangle 3"/>
              <p:cNvSpPr>
                <a:spLocks noGrp="1" noChangeArrowheads="1"/>
              </p:cNvSpPr>
              <p:nvPr>
                <p:ph idx="1"/>
              </p:nvPr>
            </p:nvSpPr>
            <p:spPr>
              <a:xfrm>
                <a:off x="683568" y="1628800"/>
                <a:ext cx="8199512" cy="4752528"/>
              </a:xfrm>
            </p:spPr>
            <p:txBody>
              <a:bodyPr/>
              <a:lstStyle/>
              <a:p>
                <a:pPr marL="0" indent="0" eaLnBrk="1" hangingPunct="1">
                  <a:lnSpc>
                    <a:spcPct val="150000"/>
                  </a:lnSpc>
                  <a:buFontTx/>
                  <a:buNone/>
                </a:pPr>
                <a:r>
                  <a:rPr lang="zh-CN" altLang="en-US" dirty="0"/>
                  <a:t>1、</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m:t>
                        </m:r>
                      </m:sup>
                    </m:sSubSup>
                  </m:oMath>
                </a14:m>
                <a:r>
                  <a:rPr lang="zh-CN" altLang="en-US" dirty="0"/>
                  <a:t>与</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𝑖</m:t>
                        </m:r>
                      </m:sub>
                    </m:sSub>
                    <m:d>
                      <m:dPr>
                        <m:ctrlPr>
                          <a:rPr lang="en-US" altLang="zh-CN" i="1" dirty="0" smtClean="0">
                            <a:latin typeface="Cambria Math" panose="02040503050406030204" pitchFamily="18" charset="0"/>
                          </a:rPr>
                        </m:ctrlPr>
                      </m:dPr>
                      <m:e>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=1,2,⋯, </m:t>
                        </m:r>
                        <m:r>
                          <a:rPr lang="en-US" altLang="zh-CN" b="0" i="1" dirty="0" smtClean="0">
                            <a:latin typeface="Cambria Math" panose="02040503050406030204" pitchFamily="18" charset="0"/>
                            <a:ea typeface="Cambria Math" panose="02040503050406030204" pitchFamily="18" charset="0"/>
                          </a:rPr>
                          <m:t>𝑛</m:t>
                        </m:r>
                      </m:e>
                    </m:d>
                  </m:oMath>
                </a14:m>
                <a:r>
                  <a:rPr lang="zh-CN" altLang="en-US" dirty="0"/>
                  <a:t>，</a:t>
                </a:r>
                <a14:m>
                  <m:oMath xmlns:m="http://schemas.openxmlformats.org/officeDocument/2006/math">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𝑗</m:t>
                        </m:r>
                      </m:sub>
                      <m:sup>
                        <m:r>
                          <a:rPr lang="en-US" altLang="zh-CN" i="1">
                            <a:latin typeface="Cambria Math" panose="02040503050406030204" pitchFamily="18" charset="0"/>
                          </a:rPr>
                          <m:t>′</m:t>
                        </m:r>
                      </m:sup>
                    </m:sSubSup>
                  </m:oMath>
                </a14:m>
                <a:r>
                  <a:rPr lang="zh-CN" altLang="en-US" dirty="0"/>
                  <a:t>与</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𝑞</m:t>
                        </m:r>
                      </m:e>
                      <m:sub>
                        <m:r>
                          <a:rPr lang="en-US" altLang="zh-CN" b="0" i="1" dirty="0" smtClean="0">
                            <a:latin typeface="Cambria Math" panose="02040503050406030204" pitchFamily="18" charset="0"/>
                          </a:rPr>
                          <m:t>𝑗</m:t>
                        </m:r>
                      </m:sub>
                    </m:sSub>
                    <m:d>
                      <m:dPr>
                        <m:ctrlPr>
                          <a:rPr lang="en-US" altLang="zh-CN" i="1" dirty="0">
                            <a:latin typeface="Cambria Math" panose="02040503050406030204" pitchFamily="18" charset="0"/>
                          </a:rPr>
                        </m:ctrlPr>
                      </m:dPr>
                      <m:e>
                        <m:r>
                          <a:rPr lang="en-US" altLang="zh-CN" b="0" i="1" dirty="0" smtClean="0">
                            <a:latin typeface="Cambria Math" panose="02040503050406030204" pitchFamily="18" charset="0"/>
                          </a:rPr>
                          <m:t>𝑗</m:t>
                        </m:r>
                        <m:r>
                          <a:rPr lang="en-US" altLang="zh-CN" i="1" dirty="0">
                            <a:latin typeface="Cambria Math" panose="02040503050406030204" pitchFamily="18" charset="0"/>
                          </a:rPr>
                          <m:t>=1,2,⋯, </m:t>
                        </m:r>
                        <m:r>
                          <a:rPr lang="en-US" altLang="zh-CN" b="0" i="1" dirty="0" smtClean="0">
                            <a:latin typeface="Cambria Math" panose="02040503050406030204" pitchFamily="18" charset="0"/>
                            <a:ea typeface="Cambria Math" panose="02040503050406030204" pitchFamily="18" charset="0"/>
                          </a:rPr>
                          <m:t>𝑚</m:t>
                        </m:r>
                      </m:e>
                    </m:d>
                  </m:oMath>
                </a14:m>
                <a:r>
                  <a:rPr lang="en-US" altLang="zh-CN" dirty="0"/>
                  <a:t>  </a:t>
                </a:r>
                <a:r>
                  <a:rPr lang="zh-CN" altLang="en-US" dirty="0"/>
                  <a:t>满足某种匹配关系                        </a:t>
                </a:r>
              </a:p>
              <a:p>
                <a:pPr marL="0" indent="0" eaLnBrk="1" hangingPunct="1">
                  <a:lnSpc>
                    <a:spcPct val="150000"/>
                  </a:lnSpc>
                  <a:buFontTx/>
                  <a:buNone/>
                </a:pPr>
                <a:r>
                  <a:rPr lang="zh-CN" altLang="en-US" dirty="0"/>
                  <a:t>2、</a:t>
                </a:r>
                <a14:m>
                  <m:oMath xmlns:m="http://schemas.openxmlformats.org/officeDocument/2006/math">
                    <m:sSub>
                      <m:sSubPr>
                        <m:ctrlPr>
                          <a:rPr lang="en-US" altLang="zh-CN" i="1" dirty="0" smtClean="0">
                            <a:latin typeface="Cambria Math" panose="02040503050406030204" pitchFamily="18" charset="0"/>
                          </a:rPr>
                        </m:ctrlPr>
                      </m:sSubPr>
                      <m:e>
                        <m:r>
                          <a:rPr lang="zh-CN" altLang="en-US" i="1" dirty="0">
                            <a:latin typeface="Cambria Math" panose="02040503050406030204" pitchFamily="18" charset="0"/>
                          </a:rPr>
                          <m:t>𝛿</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𝛿</m:t>
                        </m:r>
                      </m:e>
                      <m:sub>
                        <m:r>
                          <a:rPr lang="en-US" altLang="zh-CN" b="0" i="1" dirty="0" smtClean="0">
                            <a:latin typeface="Cambria Math" panose="02040503050406030204" pitchFamily="18" charset="0"/>
                          </a:rPr>
                          <m:t>2</m:t>
                        </m:r>
                      </m:sub>
                    </m:sSub>
                    <m:r>
                      <a:rPr lang="en-US" altLang="zh-CN" i="1" dirty="0">
                        <a:latin typeface="Cambria Math" panose="02040503050406030204" pitchFamily="18" charset="0"/>
                      </a:rPr>
                      <m:t>,</m:t>
                    </m:r>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zh-CN" altLang="en-US" i="1" dirty="0">
                            <a:latin typeface="Cambria Math" panose="02040503050406030204" pitchFamily="18" charset="0"/>
                          </a:rPr>
                          <m:t>𝛿</m:t>
                        </m:r>
                      </m:e>
                      <m:sub>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𝑚</m:t>
                        </m:r>
                      </m:sub>
                    </m:sSub>
                    <m:r>
                      <a:rPr lang="en-US" altLang="zh-CN" i="1" dirty="0">
                        <a:latin typeface="Cambria Math" panose="02040503050406030204" pitchFamily="18" charset="0"/>
                      </a:rPr>
                      <m:t>,</m:t>
                    </m:r>
                  </m:oMath>
                </a14:m>
                <a:r>
                  <a:rPr lang="zh-CN" altLang="en-US" dirty="0"/>
                  <a:t>是为了实现</a:t>
                </a:r>
                <a:r>
                  <a:rPr lang="en-US" altLang="zh-CN" i="1" dirty="0"/>
                  <a:t>G</a:t>
                </a:r>
                <a:r>
                  <a:rPr lang="en-US" altLang="zh-CN" dirty="0"/>
                  <a:t>(</a:t>
                </a:r>
                <a:r>
                  <a:rPr lang="en-US" altLang="zh-CN" i="1" dirty="0"/>
                  <a:t>Z </a:t>
                </a:r>
                <a:r>
                  <a:rPr lang="en-US" altLang="zh-CN" dirty="0"/>
                  <a:t>)</a:t>
                </a:r>
                <a:r>
                  <a:rPr lang="zh-CN" altLang="en-US" dirty="0"/>
                  <a:t>的分子分母阶次匹配而设置的附加零点</a:t>
                </a:r>
              </a:p>
              <a:p>
                <a:pPr marL="0" indent="0" eaLnBrk="1" hangingPunct="1">
                  <a:lnSpc>
                    <a:spcPct val="150000"/>
                  </a:lnSpc>
                  <a:buFontTx/>
                  <a:buNone/>
                </a:pPr>
                <a:r>
                  <a:rPr lang="zh-CN" altLang="en-US" dirty="0"/>
                  <a:t>3、</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𝐾</m:t>
                        </m:r>
                      </m:e>
                      <m:sub>
                        <m:r>
                          <a:rPr lang="en-US" altLang="zh-CN" b="0" i="1" dirty="0" smtClean="0">
                            <a:latin typeface="Cambria Math" panose="02040503050406030204" pitchFamily="18" charset="0"/>
                          </a:rPr>
                          <m:t>𝑧</m:t>
                        </m:r>
                      </m:sub>
                    </m:sSub>
                  </m:oMath>
                </a14:m>
                <a:r>
                  <a:rPr lang="zh-CN" altLang="en-US" dirty="0"/>
                  <a:t>是根据</a:t>
                </a:r>
                <a:r>
                  <a:rPr lang="en-US" altLang="zh-CN" i="1" dirty="0"/>
                  <a:t>G</a:t>
                </a:r>
                <a:r>
                  <a:rPr lang="en-US" altLang="zh-CN" dirty="0"/>
                  <a:t>(</a:t>
                </a:r>
                <a:r>
                  <a:rPr lang="en-US" altLang="zh-CN" i="1" dirty="0"/>
                  <a:t>S</a:t>
                </a:r>
                <a:r>
                  <a:rPr lang="en-US" altLang="zh-CN" dirty="0"/>
                  <a:t>)</a:t>
                </a:r>
                <a:r>
                  <a:rPr lang="zh-CN" altLang="en-US" dirty="0"/>
                  <a:t>和</a:t>
                </a:r>
                <a:r>
                  <a:rPr lang="en-US" altLang="zh-CN" i="1" dirty="0"/>
                  <a:t>G</a:t>
                </a:r>
                <a:r>
                  <a:rPr lang="en-US" altLang="zh-CN" dirty="0"/>
                  <a:t>(</a:t>
                </a:r>
                <a:r>
                  <a:rPr lang="en-US" altLang="zh-CN" i="1" dirty="0"/>
                  <a:t>Z</a:t>
                </a:r>
                <a:r>
                  <a:rPr lang="en-US" altLang="zh-CN" dirty="0"/>
                  <a:t>)</a:t>
                </a:r>
                <a:r>
                  <a:rPr lang="zh-CN" altLang="en-US" dirty="0"/>
                  <a:t>的终值相同的条件而确定的增益。 </a:t>
                </a:r>
              </a:p>
              <a:p>
                <a:pPr marL="0" indent="0" eaLnBrk="1" hangingPunct="1">
                  <a:buFontTx/>
                  <a:buNone/>
                </a:pPr>
                <a:endParaRPr lang="zh-CN" altLang="en-US" dirty="0"/>
              </a:p>
              <a:p>
                <a:pPr marL="0" indent="0" eaLnBrk="1" hangingPunct="1">
                  <a:buFontTx/>
                  <a:buNone/>
                </a:pPr>
                <a:r>
                  <a:rPr lang="zh-CN" altLang="en-US" sz="3600" b="1" dirty="0">
                    <a:ea typeface="黑体" panose="02010609060101010101" pitchFamily="49" charset="-122"/>
                  </a:rPr>
                  <a:t>  </a:t>
                </a:r>
                <a:endParaRPr lang="zh-CN" altLang="en-US" dirty="0"/>
              </a:p>
            </p:txBody>
          </p:sp>
        </mc:Choice>
        <mc:Fallback>
          <p:sp>
            <p:nvSpPr>
              <p:cNvPr id="4098" name="Rectangle 3"/>
              <p:cNvSpPr>
                <a:spLocks noGrp="1" noRot="1" noChangeAspect="1" noMove="1" noResize="1" noEditPoints="1" noAdjustHandles="1" noChangeArrowheads="1" noChangeShapeType="1" noTextEdit="1"/>
              </p:cNvSpPr>
              <p:nvPr>
                <p:ph idx="1"/>
              </p:nvPr>
            </p:nvSpPr>
            <p:spPr>
              <a:xfrm>
                <a:off x="683568" y="1628800"/>
                <a:ext cx="8199512" cy="4752528"/>
              </a:xfrm>
              <a:blipFill>
                <a:blip r:embed="rId2"/>
                <a:stretch>
                  <a:fillRect l="-1859" r="-1487" b="-192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144277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ea typeface="黑体" panose="02010609060101010101" pitchFamily="49" charset="-122"/>
              </a:rPr>
              <a:t>根匹配法的特点</a:t>
            </a:r>
            <a:endParaRPr lang="zh-CN" altLang="en-US" dirty="0"/>
          </a:p>
        </p:txBody>
      </p:sp>
      <p:sp>
        <p:nvSpPr>
          <p:cNvPr id="5122" name="Rectangle 3"/>
          <p:cNvSpPr>
            <a:spLocks noGrp="1" noChangeArrowheads="1"/>
          </p:cNvSpPr>
          <p:nvPr>
            <p:ph idx="1"/>
          </p:nvPr>
        </p:nvSpPr>
        <p:spPr>
          <a:xfrm>
            <a:off x="467544" y="1916832"/>
            <a:ext cx="8199512" cy="4287689"/>
          </a:xfrm>
        </p:spPr>
        <p:txBody>
          <a:bodyPr/>
          <a:lstStyle/>
          <a:p>
            <a:pPr eaLnBrk="1" hangingPunct="1">
              <a:lnSpc>
                <a:spcPct val="150000"/>
              </a:lnSpc>
              <a:buFontTx/>
              <a:buNone/>
            </a:pPr>
            <a:r>
              <a:rPr lang="zh-CN" altLang="en-US" sz="3600" dirty="0">
                <a:latin typeface="黑体" panose="02010609060101010101" pitchFamily="49" charset="-122"/>
                <a:ea typeface="黑体" panose="02010609060101010101" pitchFamily="49" charset="-122"/>
              </a:rPr>
              <a:t>     </a:t>
            </a:r>
            <a:r>
              <a:rPr lang="zh-CN" altLang="en-US" sz="3600" dirty="0">
                <a:latin typeface="宋体" panose="02010600030101010101" pitchFamily="2" charset="-122"/>
                <a:ea typeface="宋体" panose="02010600030101010101" pitchFamily="2" charset="-122"/>
              </a:rPr>
              <a:t>所构造的离散模型不仅具有良好的稳定性，而且保持了原连续模型的动态特性，精度较高。</a:t>
            </a:r>
          </a:p>
          <a:p>
            <a:pPr eaLnBrk="1" hangingPunct="1">
              <a:lnSpc>
                <a:spcPct val="150000"/>
              </a:lnSpc>
              <a:buFontTx/>
              <a:buNone/>
            </a:pPr>
            <a:r>
              <a:rPr lang="zh-CN" altLang="en-US" sz="3600" dirty="0">
                <a:latin typeface="宋体" panose="02010600030101010101" pitchFamily="2" charset="-122"/>
                <a:ea typeface="宋体" panose="02010600030101010101" pitchFamily="2" charset="-122"/>
              </a:rPr>
              <a:t>     根匹配法为恒稳定算法，仅适合于线性系统。</a:t>
            </a:r>
          </a:p>
          <a:p>
            <a:pPr eaLnBrk="1" hangingPunct="1">
              <a:lnSpc>
                <a:spcPct val="90000"/>
              </a:lnSpc>
            </a:pPr>
            <a:endParaRPr lang="zh-CN" altLang="en-US" sz="36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5517841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lgn="l" eaLnBrk="1" hangingPunct="1"/>
            <a:r>
              <a:rPr lang="zh-CN" altLang="en-US" sz="3200" b="1">
                <a:ea typeface="黑体" panose="02010609060101010101" pitchFamily="49" charset="-122"/>
              </a:rPr>
              <a:t>用根匹配法的原连续系统满足以下条件：</a:t>
            </a:r>
            <a:r>
              <a:rPr lang="zh-CN" altLang="en-US" sz="4000"/>
              <a:t> </a:t>
            </a:r>
          </a:p>
        </p:txBody>
      </p:sp>
      <mc:AlternateContent xmlns:mc="http://schemas.openxmlformats.org/markup-compatibility/2006">
        <mc:Choice xmlns:a14="http://schemas.microsoft.com/office/drawing/2010/main" Requires="a14">
          <p:sp>
            <p:nvSpPr>
              <p:cNvPr id="9219" name="Rectangle 3"/>
              <p:cNvSpPr>
                <a:spLocks noGrp="1" noChangeArrowheads="1"/>
              </p:cNvSpPr>
              <p:nvPr>
                <p:ph idx="1"/>
              </p:nvPr>
            </p:nvSpPr>
            <p:spPr>
              <a:xfrm>
                <a:off x="971600" y="1988840"/>
                <a:ext cx="7772400" cy="4114800"/>
              </a:xfrm>
            </p:spPr>
            <p:txBody>
              <a:bodyPr/>
              <a:lstStyle/>
              <a:p>
                <a:pPr marL="0" indent="0" eaLnBrk="1" hangingPunct="1">
                  <a:buFontTx/>
                  <a:buNone/>
                </a:pP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）系统是线性的；</a:t>
                </a:r>
              </a:p>
              <a:p>
                <a:pPr marL="0" indent="0" eaLnBrk="1" hangingPunct="1">
                  <a:buFontTx/>
                  <a:buNone/>
                </a:pP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）系统必须是可以</a:t>
                </a:r>
                <a:r>
                  <a:rPr lang="en-US" altLang="zh-CN" sz="2600" b="1" dirty="0" err="1">
                    <a:latin typeface="Times New Roman" panose="02020603050405020304" pitchFamily="18" charset="0"/>
                    <a:ea typeface="宋体" panose="02010600030101010101" pitchFamily="2" charset="-122"/>
                    <a:cs typeface="Times New Roman" panose="02020603050405020304" pitchFamily="18" charset="0"/>
                  </a:rPr>
                  <a:t>LapLace</a:t>
                </a: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变换的；</a:t>
                </a:r>
              </a:p>
              <a:p>
                <a:pPr marL="0" indent="0" eaLnBrk="1" hangingPunct="1">
                  <a:buFontTx/>
                  <a:buNone/>
                </a:pP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b="1"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）系统必须是渐近稳定的，并满足终值定理。</a:t>
                </a:r>
              </a:p>
              <a:p>
                <a:pPr marL="0" indent="0" eaLnBrk="1" hangingPunct="1">
                  <a:buFontTx/>
                  <a:buNone/>
                </a:pP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600" b="1"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）终值必须是非零的。</a:t>
                </a:r>
              </a:p>
              <a:p>
                <a:pPr marL="0" indent="0" eaLnBrk="1" hangingPunct="1">
                  <a:buFontTx/>
                  <a:buNone/>
                </a:pPr>
                <a:endParaRPr lang="zh-CN" altLang="en-US" sz="2600" b="1" dirty="0">
                  <a:latin typeface="Times New Roman" panose="02020603050405020304" pitchFamily="18" charset="0"/>
                  <a:ea typeface="宋体" panose="02010600030101010101" pitchFamily="2" charset="-122"/>
                  <a:cs typeface="Times New Roman" panose="02020603050405020304" pitchFamily="18" charset="0"/>
                </a:endParaRPr>
              </a:p>
              <a:p>
                <a:pPr marL="0" indent="0" eaLnBrk="1" hangingPunct="1">
                  <a:buFontTx/>
                  <a:buNone/>
                </a:pPr>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     注意：在利用差分模型进行仿真时，仿真模型的输入信号应同求解</a:t>
                </a:r>
                <a14:m>
                  <m:oMath xmlns:m="http://schemas.openxmlformats.org/officeDocument/2006/math">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𝐾</m:t>
                        </m:r>
                      </m:e>
                      <m:sub>
                        <m:r>
                          <a:rPr lang="en-US" altLang="zh-CN" sz="2800" i="1" dirty="0">
                            <a:latin typeface="Cambria Math" panose="02040503050406030204" pitchFamily="18" charset="0"/>
                          </a:rPr>
                          <m:t>𝑧</m:t>
                        </m:r>
                      </m:sub>
                    </m:sSub>
                  </m:oMath>
                </a14:m>
                <a:r>
                  <a:rPr lang="zh-CN" altLang="en-US" sz="2600" b="1" dirty="0">
                    <a:latin typeface="Times New Roman" panose="02020603050405020304" pitchFamily="18" charset="0"/>
                    <a:ea typeface="宋体" panose="02010600030101010101" pitchFamily="2" charset="-122"/>
                    <a:cs typeface="Times New Roman" panose="02020603050405020304" pitchFamily="18" charset="0"/>
                  </a:rPr>
                  <a:t>时的输入函数保持匹配，否则有可能使仿真结果产生较大误差。 </a:t>
                </a:r>
              </a:p>
            </p:txBody>
          </p:sp>
        </mc:Choice>
        <mc:Fallback>
          <p:sp>
            <p:nvSpPr>
              <p:cNvPr id="9219" name="Rectangle 3"/>
              <p:cNvSpPr>
                <a:spLocks noGrp="1" noRot="1" noChangeAspect="1" noMove="1" noResize="1" noEditPoints="1" noAdjustHandles="1" noChangeArrowheads="1" noChangeShapeType="1" noTextEdit="1"/>
              </p:cNvSpPr>
              <p:nvPr>
                <p:ph idx="1"/>
              </p:nvPr>
            </p:nvSpPr>
            <p:spPr>
              <a:xfrm>
                <a:off x="971600" y="1988840"/>
                <a:ext cx="7772400" cy="4114800"/>
              </a:xfrm>
              <a:blipFill>
                <a:blip r:embed="rId2"/>
                <a:stretch>
                  <a:fillRect l="-1412" t="-16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8858720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lgn="l" eaLnBrk="1" hangingPunct="1"/>
            <a:r>
              <a:rPr lang="zh-CN" altLang="en-US" sz="3600" b="1" dirty="0">
                <a:ea typeface="黑体" panose="02010609060101010101" pitchFamily="49" charset="-122"/>
              </a:rPr>
              <a:t>对采样频率的要求</a:t>
            </a:r>
            <a:endParaRPr lang="zh-CN" altLang="en-US" dirty="0"/>
          </a:p>
        </p:txBody>
      </p:sp>
      <p:sp>
        <p:nvSpPr>
          <p:cNvPr id="10243" name="Rectangle 3"/>
          <p:cNvSpPr>
            <a:spLocks noGrp="1" noChangeArrowheads="1"/>
          </p:cNvSpPr>
          <p:nvPr>
            <p:ph idx="1"/>
          </p:nvPr>
        </p:nvSpPr>
        <p:spPr/>
        <p:txBody>
          <a:bodyPr/>
          <a:lstStyle/>
          <a:p>
            <a:pPr marL="0" indent="0" eaLnBrk="1" hangingPunct="1">
              <a:lnSpc>
                <a:spcPct val="150000"/>
              </a:lnSpc>
              <a:buFontTx/>
              <a:buNone/>
            </a:pPr>
            <a:r>
              <a:rPr lang="zh-CN" altLang="en-US" dirty="0"/>
              <a:t>     </a:t>
            </a:r>
            <a:r>
              <a:rPr lang="zh-CN" altLang="en-US" b="1" dirty="0"/>
              <a:t>一般地，只要函数值的采样频率超出</a:t>
            </a:r>
            <a:r>
              <a:rPr lang="zh-CN" altLang="en-US" b="1" dirty="0">
                <a:solidFill>
                  <a:srgbClr val="CC3300"/>
                </a:solidFill>
              </a:rPr>
              <a:t>强制函数</a:t>
            </a:r>
            <a:r>
              <a:rPr lang="zh-CN" altLang="en-US" b="1" dirty="0"/>
              <a:t>的最高频率足够多的倍数（比如</a:t>
            </a:r>
            <a:r>
              <a:rPr lang="en-US" altLang="zh-CN" b="1" dirty="0"/>
              <a:t>5</a:t>
            </a:r>
            <a:r>
              <a:rPr lang="zh-CN" altLang="en-US" b="1" dirty="0"/>
              <a:t>～</a:t>
            </a:r>
            <a:r>
              <a:rPr lang="en-US" altLang="zh-CN" b="1" dirty="0"/>
              <a:t>10</a:t>
            </a:r>
            <a:r>
              <a:rPr lang="zh-CN" altLang="en-US" b="1" dirty="0"/>
              <a:t>倍），则差分方程就可用于仿真连续系统对任意强制函数的响应。 </a:t>
            </a:r>
          </a:p>
        </p:txBody>
      </p:sp>
    </p:spTree>
    <p:extLst>
      <p:ext uri="{BB962C8B-B14F-4D97-AF65-F5344CB8AC3E}">
        <p14:creationId xmlns:p14="http://schemas.microsoft.com/office/powerpoint/2010/main" val="25245908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11188" y="0"/>
            <a:ext cx="7772400" cy="1143000"/>
          </a:xfrm>
        </p:spPr>
        <p:txBody>
          <a:bodyPr/>
          <a:lstStyle/>
          <a:p>
            <a:pPr algn="l" eaLnBrk="1" hangingPunct="1"/>
            <a:r>
              <a:rPr lang="zh-CN" altLang="en-US" sz="3600" b="1">
                <a:ea typeface="黑体" panose="02010609060101010101" pitchFamily="49" charset="-122"/>
              </a:rPr>
              <a:t>根匹配法例题</a:t>
            </a:r>
            <a:r>
              <a:rPr lang="zh-CN" altLang="en-US"/>
              <a:t> </a:t>
            </a:r>
          </a:p>
        </p:txBody>
      </p:sp>
      <p:sp>
        <p:nvSpPr>
          <p:cNvPr id="11267" name="Rectangle 3"/>
          <p:cNvSpPr>
            <a:spLocks noGrp="1" noChangeArrowheads="1"/>
          </p:cNvSpPr>
          <p:nvPr>
            <p:ph type="body" idx="1"/>
          </p:nvPr>
        </p:nvSpPr>
        <p:spPr>
          <a:xfrm>
            <a:off x="611188" y="984982"/>
            <a:ext cx="8208962" cy="5616575"/>
          </a:xfrm>
        </p:spPr>
        <p:txBody>
          <a:bodyPr/>
          <a:lstStyle/>
          <a:p>
            <a:pPr marL="0" indent="0" eaLnBrk="1" hangingPunct="1">
              <a:buFontTx/>
              <a:buNone/>
            </a:pPr>
            <a:r>
              <a:rPr lang="zh-CN" altLang="en-US" b="1" dirty="0">
                <a:solidFill>
                  <a:srgbClr val="CC3300"/>
                </a:solidFill>
                <a:latin typeface="黑体" panose="02010609060101010101" pitchFamily="49" charset="-122"/>
                <a:ea typeface="黑体" panose="02010609060101010101" pitchFamily="49" charset="-122"/>
              </a:rPr>
              <a:t>例</a:t>
            </a:r>
            <a:r>
              <a:rPr lang="en-US" altLang="zh-CN" b="1" dirty="0">
                <a:solidFill>
                  <a:srgbClr val="CC3300"/>
                </a:solidFill>
                <a:latin typeface="黑体" panose="02010609060101010101" pitchFamily="49" charset="-122"/>
                <a:ea typeface="黑体" panose="02010609060101010101" pitchFamily="49" charset="-122"/>
              </a:rPr>
              <a:t>1</a:t>
            </a:r>
            <a:r>
              <a:rPr lang="zh-CN" altLang="en-US" sz="2800" dirty="0"/>
              <a:t>已知一阶系统 </a:t>
            </a:r>
          </a:p>
          <a:p>
            <a:pPr marL="0" indent="0" eaLnBrk="1" hangingPunct="1">
              <a:buFontTx/>
              <a:buNone/>
            </a:pPr>
            <a:r>
              <a:rPr lang="zh-CN" altLang="en-US" sz="2800" dirty="0"/>
              <a:t>  </a:t>
            </a:r>
          </a:p>
          <a:p>
            <a:pPr marL="0" indent="0" eaLnBrk="1" hangingPunct="1">
              <a:buFontTx/>
              <a:buNone/>
            </a:pPr>
            <a:r>
              <a:rPr lang="zh-CN" altLang="en-US" sz="2800" dirty="0"/>
              <a:t>试求其仿真差分方程模型。</a:t>
            </a:r>
          </a:p>
          <a:p>
            <a:pPr marL="0" indent="0" eaLnBrk="1" hangingPunct="1">
              <a:buFontTx/>
              <a:buNone/>
            </a:pPr>
            <a:r>
              <a:rPr lang="zh-CN" altLang="en-US" sz="2800" dirty="0"/>
              <a:t>（</a:t>
            </a:r>
            <a:r>
              <a:rPr lang="en-US" altLang="zh-CN" sz="2800" dirty="0"/>
              <a:t>1</a:t>
            </a:r>
            <a:r>
              <a:rPr lang="zh-CN" altLang="en-US" sz="2800" dirty="0"/>
              <a:t>）传递函数      </a:t>
            </a:r>
          </a:p>
          <a:p>
            <a:pPr marL="0" indent="0" eaLnBrk="1" hangingPunct="1">
              <a:buFontTx/>
              <a:buNone/>
            </a:pPr>
            <a:endParaRPr lang="zh-CN" altLang="en-US" sz="2800" dirty="0"/>
          </a:p>
          <a:p>
            <a:pPr marL="0" indent="0" eaLnBrk="1" hangingPunct="1">
              <a:buFontTx/>
              <a:buNone/>
            </a:pPr>
            <a:r>
              <a:rPr lang="zh-CN" altLang="en-US" sz="2800" dirty="0"/>
              <a:t>（</a:t>
            </a:r>
            <a:r>
              <a:rPr lang="en-US" altLang="zh-CN" sz="2800" dirty="0"/>
              <a:t>2</a:t>
            </a:r>
            <a:r>
              <a:rPr lang="zh-CN" altLang="en-US" sz="2800" dirty="0"/>
              <a:t>）</a:t>
            </a:r>
            <a:r>
              <a:rPr lang="en-US" altLang="zh-CN" sz="2800" i="1" dirty="0"/>
              <a:t>G</a:t>
            </a:r>
            <a:r>
              <a:rPr lang="en-US" altLang="zh-CN" sz="2800" dirty="0"/>
              <a:t>(</a:t>
            </a:r>
            <a:r>
              <a:rPr lang="en-US" altLang="zh-CN" sz="2800" i="1" dirty="0"/>
              <a:t>S</a:t>
            </a:r>
            <a:r>
              <a:rPr lang="en-US" altLang="zh-CN" sz="2800" dirty="0"/>
              <a:t>)</a:t>
            </a:r>
            <a:r>
              <a:rPr lang="zh-CN" altLang="en-US" sz="2800" dirty="0"/>
              <a:t>有一个极点   </a:t>
            </a:r>
          </a:p>
          <a:p>
            <a:pPr marL="0" indent="0" eaLnBrk="1" hangingPunct="1">
              <a:buFontTx/>
              <a:buNone/>
            </a:pPr>
            <a:r>
              <a:rPr lang="zh-CN" altLang="en-US" sz="2800" dirty="0"/>
              <a:t>（</a:t>
            </a:r>
            <a:r>
              <a:rPr lang="en-US" altLang="zh-CN" sz="2800" dirty="0"/>
              <a:t>3</a:t>
            </a:r>
            <a:r>
              <a:rPr lang="zh-CN" altLang="en-US" sz="2800" dirty="0"/>
              <a:t>）将    映射到</a:t>
            </a:r>
            <a:r>
              <a:rPr lang="en-US" altLang="zh-CN" sz="2800" i="1" dirty="0"/>
              <a:t>Z</a:t>
            </a:r>
            <a:r>
              <a:rPr lang="zh-CN" altLang="en-US" sz="2800" dirty="0"/>
              <a:t>平面上，得  </a:t>
            </a:r>
          </a:p>
          <a:p>
            <a:pPr marL="0" indent="0" eaLnBrk="1" hangingPunct="1">
              <a:buFontTx/>
              <a:buNone/>
            </a:pPr>
            <a:r>
              <a:rPr lang="zh-CN" altLang="en-US" sz="2800" dirty="0"/>
              <a:t>（</a:t>
            </a:r>
            <a:r>
              <a:rPr lang="en-US" altLang="zh-CN" sz="2800" dirty="0"/>
              <a:t>4</a:t>
            </a:r>
            <a:r>
              <a:rPr lang="zh-CN" altLang="en-US" sz="2800" dirty="0"/>
              <a:t>）写出离散传递函数：</a:t>
            </a:r>
          </a:p>
        </p:txBody>
      </p:sp>
      <p:graphicFrame>
        <p:nvGraphicFramePr>
          <p:cNvPr id="11268" name="Object 4"/>
          <p:cNvGraphicFramePr>
            <a:graphicFrameLocks noChangeAspect="1"/>
          </p:cNvGraphicFramePr>
          <p:nvPr>
            <p:extLst>
              <p:ext uri="{D42A27DB-BD31-4B8C-83A1-F6EECF244321}">
                <p14:modId xmlns:p14="http://schemas.microsoft.com/office/powerpoint/2010/main" val="2285124528"/>
              </p:ext>
            </p:extLst>
          </p:nvPr>
        </p:nvGraphicFramePr>
        <p:xfrm>
          <a:off x="811213" y="1558925"/>
          <a:ext cx="6691312" cy="547688"/>
        </p:xfrm>
        <a:graphic>
          <a:graphicData uri="http://schemas.openxmlformats.org/presentationml/2006/ole">
            <mc:AlternateContent xmlns:mc="http://schemas.openxmlformats.org/markup-compatibility/2006">
              <mc:Choice xmlns:v="urn:schemas-microsoft-com:vml" Requires="v">
                <p:oleObj spid="_x0000_s77084" name="Equation" r:id="rId3" imgW="1485720" imgH="203040" progId="Equation.DSMT4">
                  <p:embed/>
                </p:oleObj>
              </mc:Choice>
              <mc:Fallback>
                <p:oleObj name="Equation" r:id="rId3" imgW="1485720" imgH="203040" progId="Equation.DSMT4">
                  <p:embed/>
                  <p:pic>
                    <p:nvPicPr>
                      <p:cNvPr id="0" name=""/>
                      <p:cNvPicPr>
                        <a:picLocks noChangeAspect="1" noChangeArrowheads="1"/>
                      </p:cNvPicPr>
                      <p:nvPr/>
                    </p:nvPicPr>
                    <p:blipFill>
                      <a:blip r:embed="rId4"/>
                      <a:srcRect/>
                      <a:stretch>
                        <a:fillRect/>
                      </a:stretch>
                    </p:blipFill>
                    <p:spPr bwMode="auto">
                      <a:xfrm>
                        <a:off x="811213" y="1558925"/>
                        <a:ext cx="6691312" cy="547688"/>
                      </a:xfrm>
                      <a:prstGeom prst="rect">
                        <a:avLst/>
                      </a:prstGeom>
                      <a:solidFill>
                        <a:srgbClr val="33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9" name="Object 5"/>
          <p:cNvGraphicFramePr>
            <a:graphicFrameLocks noChangeAspect="1"/>
          </p:cNvGraphicFramePr>
          <p:nvPr/>
        </p:nvGraphicFramePr>
        <p:xfrm>
          <a:off x="3305175" y="2743200"/>
          <a:ext cx="3168650" cy="779463"/>
        </p:xfrm>
        <a:graphic>
          <a:graphicData uri="http://schemas.openxmlformats.org/presentationml/2006/ole">
            <mc:AlternateContent xmlns:mc="http://schemas.openxmlformats.org/markup-compatibility/2006">
              <mc:Choice xmlns:v="urn:schemas-microsoft-com:vml" Requires="v">
                <p:oleObj spid="_x0000_s77085" name="公式" r:id="rId5" imgW="1600200" imgH="393700" progId="Equation.3">
                  <p:embed/>
                </p:oleObj>
              </mc:Choice>
              <mc:Fallback>
                <p:oleObj name="公式" r:id="rId5" imgW="16002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5175" y="2743200"/>
                        <a:ext cx="3168650" cy="779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0" name="Object 6"/>
          <p:cNvGraphicFramePr>
            <a:graphicFrameLocks noChangeAspect="1"/>
          </p:cNvGraphicFramePr>
          <p:nvPr/>
        </p:nvGraphicFramePr>
        <p:xfrm>
          <a:off x="4156075" y="3394075"/>
          <a:ext cx="1181100" cy="852488"/>
        </p:xfrm>
        <a:graphic>
          <a:graphicData uri="http://schemas.openxmlformats.org/presentationml/2006/ole">
            <mc:AlternateContent xmlns:mc="http://schemas.openxmlformats.org/markup-compatibility/2006">
              <mc:Choice xmlns:v="urn:schemas-microsoft-com:vml" Requires="v">
                <p:oleObj spid="_x0000_s77086" name="公式" r:id="rId7" imgW="545863" imgH="393529" progId="Equation.3">
                  <p:embed/>
                </p:oleObj>
              </mc:Choice>
              <mc:Fallback>
                <p:oleObj name="公式" r:id="rId7" imgW="545863"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56075" y="3394075"/>
                        <a:ext cx="1181100"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1" name="Object 7"/>
          <p:cNvGraphicFramePr>
            <a:graphicFrameLocks noChangeAspect="1"/>
          </p:cNvGraphicFramePr>
          <p:nvPr/>
        </p:nvGraphicFramePr>
        <p:xfrm>
          <a:off x="1965325" y="4048125"/>
          <a:ext cx="415925" cy="504825"/>
        </p:xfrm>
        <a:graphic>
          <a:graphicData uri="http://schemas.openxmlformats.org/presentationml/2006/ole">
            <mc:AlternateContent xmlns:mc="http://schemas.openxmlformats.org/markup-compatibility/2006">
              <mc:Choice xmlns:v="urn:schemas-microsoft-com:vml" Requires="v">
                <p:oleObj spid="_x0000_s77087" name="公式" r:id="rId9" imgW="177569" imgH="215619" progId="Equation.3">
                  <p:embed/>
                </p:oleObj>
              </mc:Choice>
              <mc:Fallback>
                <p:oleObj name="公式" r:id="rId9" imgW="177569" imgH="21561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5325" y="4048125"/>
                        <a:ext cx="41592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8"/>
          <p:cNvGraphicFramePr>
            <a:graphicFrameLocks noChangeAspect="1"/>
          </p:cNvGraphicFramePr>
          <p:nvPr/>
        </p:nvGraphicFramePr>
        <p:xfrm>
          <a:off x="5435600" y="4033838"/>
          <a:ext cx="1657350" cy="557212"/>
        </p:xfrm>
        <a:graphic>
          <a:graphicData uri="http://schemas.openxmlformats.org/presentationml/2006/ole">
            <mc:AlternateContent xmlns:mc="http://schemas.openxmlformats.org/markup-compatibility/2006">
              <mc:Choice xmlns:v="urn:schemas-microsoft-com:vml" Requires="v">
                <p:oleObj spid="_x0000_s77088" name="公式" r:id="rId11" imgW="596900" imgH="228600" progId="Equation.3">
                  <p:embed/>
                </p:oleObj>
              </mc:Choice>
              <mc:Fallback>
                <p:oleObj name="公式" r:id="rId11" imgW="59690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35600" y="4033838"/>
                        <a:ext cx="1657350" cy="557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3" name="Object 9"/>
          <p:cNvGraphicFramePr>
            <a:graphicFrameLocks noChangeAspect="1"/>
          </p:cNvGraphicFramePr>
          <p:nvPr/>
        </p:nvGraphicFramePr>
        <p:xfrm>
          <a:off x="2124075" y="5300663"/>
          <a:ext cx="5634038" cy="1246187"/>
        </p:xfrm>
        <a:graphic>
          <a:graphicData uri="http://schemas.openxmlformats.org/presentationml/2006/ole">
            <mc:AlternateContent xmlns:mc="http://schemas.openxmlformats.org/markup-compatibility/2006">
              <mc:Choice xmlns:v="urn:schemas-microsoft-com:vml" Requires="v">
                <p:oleObj spid="_x0000_s77089" name="公式" r:id="rId13" imgW="1777229" imgH="393529" progId="Equation.3">
                  <p:embed/>
                </p:oleObj>
              </mc:Choice>
              <mc:Fallback>
                <p:oleObj name="公式" r:id="rId13" imgW="1777229" imgH="393529"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24075" y="5300663"/>
                        <a:ext cx="5634038" cy="1246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377897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468313" y="404813"/>
            <a:ext cx="8351837" cy="6192837"/>
          </a:xfrm>
        </p:spPr>
        <p:txBody>
          <a:bodyPr/>
          <a:lstStyle/>
          <a:p>
            <a:pPr marL="0" indent="0" eaLnBrk="1" hangingPunct="1">
              <a:buFontTx/>
              <a:buNone/>
            </a:pPr>
            <a:r>
              <a:rPr lang="zh-CN" altLang="en-US" sz="2800"/>
              <a:t>（</a:t>
            </a:r>
            <a:r>
              <a:rPr lang="en-US" altLang="zh-CN" sz="2800"/>
              <a:t>5</a:t>
            </a:r>
            <a:r>
              <a:rPr lang="zh-CN" altLang="en-US" sz="2800"/>
              <a:t>）求连续系统单位阶跃响应的终值： </a:t>
            </a:r>
          </a:p>
          <a:p>
            <a:pPr marL="0" indent="0" eaLnBrk="1" hangingPunct="1">
              <a:buFontTx/>
              <a:buNone/>
            </a:pPr>
            <a:r>
              <a:rPr lang="zh-CN" altLang="en-US" sz="2800"/>
              <a:t>    </a:t>
            </a:r>
          </a:p>
          <a:p>
            <a:pPr marL="0" indent="0" eaLnBrk="1" hangingPunct="1">
              <a:buFontTx/>
              <a:buNone/>
            </a:pPr>
            <a:endParaRPr lang="zh-CN" altLang="en-US" sz="2800"/>
          </a:p>
          <a:p>
            <a:pPr marL="0" indent="0" eaLnBrk="1" hangingPunct="1">
              <a:buFontTx/>
              <a:buNone/>
            </a:pPr>
            <a:r>
              <a:rPr lang="zh-CN" altLang="en-US" sz="2800"/>
              <a:t>（</a:t>
            </a:r>
            <a:r>
              <a:rPr lang="en-US" altLang="zh-CN" sz="2800"/>
              <a:t>6</a:t>
            </a:r>
            <a:r>
              <a:rPr lang="zh-CN" altLang="en-US" sz="2800"/>
              <a:t>）确定离散系统单位阶跃响应终值： </a:t>
            </a:r>
          </a:p>
          <a:p>
            <a:pPr marL="0" indent="0" eaLnBrk="1" hangingPunct="1">
              <a:buFontTx/>
              <a:buNone/>
            </a:pPr>
            <a:r>
              <a:rPr lang="zh-CN" altLang="en-US" sz="2800"/>
              <a:t>    </a:t>
            </a:r>
          </a:p>
          <a:p>
            <a:pPr marL="0" indent="0" eaLnBrk="1" hangingPunct="1">
              <a:buFontTx/>
              <a:buNone/>
            </a:pPr>
            <a:endParaRPr lang="zh-CN" altLang="en-US" sz="2800"/>
          </a:p>
          <a:p>
            <a:pPr marL="0" indent="0" eaLnBrk="1" hangingPunct="1">
              <a:buFontTx/>
              <a:buNone/>
            </a:pPr>
            <a:endParaRPr lang="zh-CN" altLang="en-US" sz="2800"/>
          </a:p>
          <a:p>
            <a:pPr marL="0" indent="0" eaLnBrk="1" hangingPunct="1">
              <a:buFontTx/>
              <a:buNone/>
            </a:pPr>
            <a:r>
              <a:rPr lang="zh-CN" altLang="en-US" sz="2800"/>
              <a:t>（</a:t>
            </a:r>
            <a:r>
              <a:rPr lang="en-US" altLang="zh-CN" sz="2800"/>
              <a:t>7</a:t>
            </a:r>
            <a:r>
              <a:rPr lang="zh-CN" altLang="en-US" sz="2800"/>
              <a:t>）根据终值相等原则，得 </a:t>
            </a:r>
          </a:p>
          <a:p>
            <a:pPr marL="0" indent="0" eaLnBrk="1" hangingPunct="1">
              <a:buFontTx/>
              <a:buNone/>
            </a:pPr>
            <a:r>
              <a:rPr lang="zh-CN" altLang="en-US" sz="2800"/>
              <a:t>                         </a:t>
            </a:r>
            <a:r>
              <a:rPr lang="en-US" altLang="zh-CN" sz="2800"/>
              <a:t>,    </a:t>
            </a:r>
            <a:r>
              <a:rPr lang="zh-CN" altLang="en-US" sz="2800"/>
              <a:t>得   </a:t>
            </a:r>
          </a:p>
          <a:p>
            <a:pPr marL="0" indent="0" eaLnBrk="1" hangingPunct="1">
              <a:buFontTx/>
              <a:buNone/>
            </a:pPr>
            <a:r>
              <a:rPr lang="zh-CN" altLang="en-US" sz="2800"/>
              <a:t>（</a:t>
            </a:r>
            <a:r>
              <a:rPr lang="en-US" altLang="zh-CN" sz="2800"/>
              <a:t>8</a:t>
            </a:r>
            <a:r>
              <a:rPr lang="zh-CN" altLang="en-US" sz="2800"/>
              <a:t>）附加零点，不妨设附加零点在原点，则</a:t>
            </a:r>
            <a:r>
              <a:rPr lang="zh-CN" altLang="en-US"/>
              <a:t> </a:t>
            </a:r>
          </a:p>
        </p:txBody>
      </p:sp>
      <p:graphicFrame>
        <p:nvGraphicFramePr>
          <p:cNvPr id="12291" name="Object 0"/>
          <p:cNvGraphicFramePr>
            <a:graphicFrameLocks noChangeAspect="1"/>
          </p:cNvGraphicFramePr>
          <p:nvPr/>
        </p:nvGraphicFramePr>
        <p:xfrm>
          <a:off x="395288" y="946150"/>
          <a:ext cx="8293100" cy="835025"/>
        </p:xfrm>
        <a:graphic>
          <a:graphicData uri="http://schemas.openxmlformats.org/presentationml/2006/ole">
            <mc:AlternateContent xmlns:mc="http://schemas.openxmlformats.org/markup-compatibility/2006">
              <mc:Choice xmlns:v="urn:schemas-microsoft-com:vml" Requires="v">
                <p:oleObj spid="_x0000_s78102" name="Equation" r:id="rId3" imgW="3606800" imgH="431800" progId="Equation.DSMT4">
                  <p:embed/>
                </p:oleObj>
              </mc:Choice>
              <mc:Fallback>
                <p:oleObj name="Equation" r:id="rId3" imgW="36068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946150"/>
                        <a:ext cx="8293100" cy="835025"/>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2" name="Object 1"/>
          <p:cNvGraphicFramePr>
            <a:graphicFrameLocks noChangeAspect="1"/>
          </p:cNvGraphicFramePr>
          <p:nvPr/>
        </p:nvGraphicFramePr>
        <p:xfrm>
          <a:off x="1258888" y="4365625"/>
          <a:ext cx="1397000" cy="768350"/>
        </p:xfrm>
        <a:graphic>
          <a:graphicData uri="http://schemas.openxmlformats.org/presentationml/2006/ole">
            <mc:AlternateContent xmlns:mc="http://schemas.openxmlformats.org/markup-compatibility/2006">
              <mc:Choice xmlns:v="urn:schemas-microsoft-com:vml" Requires="v">
                <p:oleObj spid="_x0000_s78103" name="公式" r:id="rId5" imgW="723586" imgH="393529" progId="Equation.3">
                  <p:embed/>
                </p:oleObj>
              </mc:Choice>
              <mc:Fallback>
                <p:oleObj name="公式" r:id="rId5" imgW="723586" imgH="39352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4365625"/>
                        <a:ext cx="1397000"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3" name="Object 2"/>
          <p:cNvGraphicFramePr>
            <a:graphicFrameLocks noChangeAspect="1"/>
          </p:cNvGraphicFramePr>
          <p:nvPr>
            <p:extLst>
              <p:ext uri="{D42A27DB-BD31-4B8C-83A1-F6EECF244321}">
                <p14:modId xmlns:p14="http://schemas.microsoft.com/office/powerpoint/2010/main" val="2607246727"/>
              </p:ext>
            </p:extLst>
          </p:nvPr>
        </p:nvGraphicFramePr>
        <p:xfrm>
          <a:off x="4554166" y="4496593"/>
          <a:ext cx="1800225" cy="506413"/>
        </p:xfrm>
        <a:graphic>
          <a:graphicData uri="http://schemas.openxmlformats.org/presentationml/2006/ole">
            <mc:AlternateContent xmlns:mc="http://schemas.openxmlformats.org/markup-compatibility/2006">
              <mc:Choice xmlns:v="urn:schemas-microsoft-com:vml" Requires="v">
                <p:oleObj spid="_x0000_s78104" name="公式" r:id="rId7" imgW="812447" imgH="228501" progId="Equation.3">
                  <p:embed/>
                </p:oleObj>
              </mc:Choice>
              <mc:Fallback>
                <p:oleObj name="公式" r:id="rId7" imgW="812447" imgH="22850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4166" y="4496593"/>
                        <a:ext cx="180022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4" name="Object 3"/>
          <p:cNvGraphicFramePr>
            <a:graphicFrameLocks noChangeAspect="1"/>
          </p:cNvGraphicFramePr>
          <p:nvPr/>
        </p:nvGraphicFramePr>
        <p:xfrm>
          <a:off x="1692275" y="5648325"/>
          <a:ext cx="6767513" cy="1209675"/>
        </p:xfrm>
        <a:graphic>
          <a:graphicData uri="http://schemas.openxmlformats.org/presentationml/2006/ole">
            <mc:AlternateContent xmlns:mc="http://schemas.openxmlformats.org/markup-compatibility/2006">
              <mc:Choice xmlns:v="urn:schemas-microsoft-com:vml" Requires="v">
                <p:oleObj spid="_x0000_s78105" name="公式" r:id="rId9" imgW="1917700" imgH="419100" progId="Equation.3">
                  <p:embed/>
                </p:oleObj>
              </mc:Choice>
              <mc:Fallback>
                <p:oleObj name="公式" r:id="rId9" imgW="1917700" imgH="4191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5648325"/>
                        <a:ext cx="6767513" cy="1209675"/>
                      </a:xfrm>
                      <a:prstGeom prst="rect">
                        <a:avLst/>
                      </a:prstGeom>
                      <a:solidFill>
                        <a:srgbClr val="33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295" name="Group 10"/>
          <p:cNvGrpSpPr>
            <a:grpSpLocks/>
          </p:cNvGrpSpPr>
          <p:nvPr/>
        </p:nvGrpSpPr>
        <p:grpSpPr bwMode="auto">
          <a:xfrm>
            <a:off x="1676400" y="2438400"/>
            <a:ext cx="5562600" cy="1598613"/>
            <a:chOff x="1056" y="1536"/>
            <a:chExt cx="3504" cy="1007"/>
          </a:xfrm>
        </p:grpSpPr>
        <p:graphicFrame>
          <p:nvGraphicFramePr>
            <p:cNvPr id="12296" name="Object 4"/>
            <p:cNvGraphicFramePr>
              <a:graphicFrameLocks noChangeAspect="1"/>
            </p:cNvGraphicFramePr>
            <p:nvPr/>
          </p:nvGraphicFramePr>
          <p:xfrm>
            <a:off x="1056" y="1536"/>
            <a:ext cx="3439" cy="480"/>
          </p:xfrm>
          <a:graphic>
            <a:graphicData uri="http://schemas.openxmlformats.org/presentationml/2006/ole">
              <mc:AlternateContent xmlns:mc="http://schemas.openxmlformats.org/markup-compatibility/2006">
                <mc:Choice xmlns:v="urn:schemas-microsoft-com:vml" Requires="v">
                  <p:oleObj spid="_x0000_s78106" name="Equation" r:id="rId11" imgW="2641600" imgH="393700" progId="Equation.3">
                    <p:embed/>
                  </p:oleObj>
                </mc:Choice>
                <mc:Fallback>
                  <p:oleObj name="Equation" r:id="rId11" imgW="2641600" imgH="3937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56" y="1536"/>
                          <a:ext cx="3439"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7" name="Object 5"/>
            <p:cNvGraphicFramePr>
              <a:graphicFrameLocks noChangeAspect="1"/>
            </p:cNvGraphicFramePr>
            <p:nvPr/>
          </p:nvGraphicFramePr>
          <p:xfrm>
            <a:off x="1551" y="1989"/>
            <a:ext cx="3009" cy="554"/>
          </p:xfrm>
          <a:graphic>
            <a:graphicData uri="http://schemas.openxmlformats.org/presentationml/2006/ole">
              <mc:AlternateContent xmlns:mc="http://schemas.openxmlformats.org/markup-compatibility/2006">
                <mc:Choice xmlns:v="urn:schemas-microsoft-com:vml" Requires="v">
                  <p:oleObj spid="_x0000_s78107" name="Equation" r:id="rId13" imgW="2400300" imgH="431800" progId="Equation.3">
                    <p:embed/>
                  </p:oleObj>
                </mc:Choice>
                <mc:Fallback>
                  <p:oleObj name="Equation" r:id="rId13" imgW="2400300" imgH="4318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51" y="1989"/>
                          <a:ext cx="3009" cy="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58774707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314" name="Rectangle 3"/>
              <p:cNvSpPr>
                <a:spLocks noGrp="1" noChangeArrowheads="1"/>
              </p:cNvSpPr>
              <p:nvPr>
                <p:ph type="body" idx="1"/>
              </p:nvPr>
            </p:nvSpPr>
            <p:spPr>
              <a:xfrm>
                <a:off x="468313" y="404813"/>
                <a:ext cx="8424862" cy="6191250"/>
              </a:xfrm>
            </p:spPr>
            <p:txBody>
              <a:bodyPr/>
              <a:lstStyle/>
              <a:p>
                <a:pPr marL="0" indent="0" eaLnBrk="1" hangingPunct="1">
                  <a:lnSpc>
                    <a:spcPct val="120000"/>
                  </a:lnSpc>
                  <a:buFontTx/>
                  <a:buNone/>
                </a:pPr>
                <a:r>
                  <a:rPr lang="zh-CN" altLang="en-US" dirty="0"/>
                  <a:t>    </a:t>
                </a:r>
                <a:r>
                  <a:rPr lang="zh-CN" altLang="en-US" sz="2800" dirty="0"/>
                  <a:t>因为</a:t>
                </a:r>
                <a:r>
                  <a:rPr lang="zh-CN" altLang="en-US" sz="2800" b="1" dirty="0">
                    <a:solidFill>
                      <a:srgbClr val="CC3300"/>
                    </a:solidFill>
                  </a:rPr>
                  <a:t>附加零点在原点</a:t>
                </a:r>
                <a:r>
                  <a:rPr lang="zh-CN" altLang="en-US" sz="2800" dirty="0"/>
                  <a:t>，</a:t>
                </a:r>
                <a:r>
                  <a:rPr lang="zh-CN" altLang="en-US" sz="2800" b="1" dirty="0">
                    <a:solidFill>
                      <a:srgbClr val="CC3300"/>
                    </a:solidFill>
                  </a:rPr>
                  <a:t>不影响终值</a:t>
                </a:r>
                <a:r>
                  <a:rPr lang="zh-CN" altLang="en-US" sz="2800" dirty="0"/>
                  <a:t>，从而无需重新确定    。</a:t>
                </a:r>
              </a:p>
              <a:p>
                <a:pPr marL="0" indent="0" eaLnBrk="1" hangingPunct="1">
                  <a:lnSpc>
                    <a:spcPct val="120000"/>
                  </a:lnSpc>
                  <a:buFontTx/>
                  <a:buNone/>
                </a:pPr>
                <a:r>
                  <a:rPr lang="zh-CN" altLang="en-US" sz="2800" dirty="0"/>
                  <a:t>    一般情况下，附加零点设置在            之间，</a:t>
                </a:r>
              </a:p>
              <a:p>
                <a:pPr marL="0" indent="0" eaLnBrk="1" hangingPunct="1">
                  <a:lnSpc>
                    <a:spcPct val="120000"/>
                  </a:lnSpc>
                  <a:buFontTx/>
                  <a:buNone/>
                </a:pPr>
                <a:r>
                  <a:rPr lang="zh-CN" altLang="en-US" sz="2800" b="1" dirty="0">
                    <a:ea typeface="黑体" panose="02010609060101010101" pitchFamily="49" charset="-122"/>
                  </a:rPr>
                  <a:t>   附加零点的选取方法：</a:t>
                </a:r>
                <a:r>
                  <a:rPr lang="zh-CN" altLang="en-US" sz="2800" dirty="0"/>
                  <a:t>附加零点的具体数值可利用频率特性拟合或时域特性拟合的方法选取。通常，为方便起见，就把附加零点设置在原点。</a:t>
                </a:r>
              </a:p>
              <a:p>
                <a:pPr marL="0" indent="0" eaLnBrk="1" hangingPunct="1">
                  <a:lnSpc>
                    <a:spcPct val="120000"/>
                  </a:lnSpc>
                  <a:buFontTx/>
                  <a:buNone/>
                </a:pPr>
                <a:r>
                  <a:rPr lang="zh-CN" altLang="en-US" dirty="0"/>
                  <a:t>（</a:t>
                </a:r>
                <a:r>
                  <a:rPr lang="en-US" altLang="zh-CN" dirty="0"/>
                  <a:t>9</a:t>
                </a:r>
                <a:r>
                  <a:rPr lang="zh-CN" altLang="en-US" dirty="0"/>
                  <a:t>）确定差分模型 </a:t>
                </a:r>
              </a:p>
              <a:p>
                <a:pPr marL="0" indent="0" eaLnBrk="1" hangingPunct="1">
                  <a:lnSpc>
                    <a:spcPct val="120000"/>
                  </a:lnSpc>
                  <a:buFontTx/>
                  <a:buNone/>
                </a:pPr>
                <a14:m>
                  <m:oMathPara xmlns:m="http://schemas.openxmlformats.org/officeDocument/2006/math">
                    <m:oMathParaPr>
                      <m:jc m:val="centerGroup"/>
                    </m:oMathParaPr>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𝑧</m:t>
                          </m:r>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f>
                                <m:fPr>
                                  <m:type m:val="lin"/>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𝑇</m:t>
                                  </m:r>
                                </m:num>
                                <m:den>
                                  <m:r>
                                    <a:rPr lang="zh-CN" altLang="en-US" i="1">
                                      <a:latin typeface="Cambria Math" panose="02040503050406030204" pitchFamily="18" charset="0"/>
                                    </a:rPr>
                                    <m:t>𝜏</m:t>
                                  </m:r>
                                </m:den>
                              </m:f>
                            </m:sup>
                          </m:sSup>
                        </m:e>
                      </m:d>
                      <m:r>
                        <a:rPr lang="en-US" altLang="zh-CN" b="0" i="1" smtClean="0">
                          <a:latin typeface="Cambria Math" panose="02040503050406030204" pitchFamily="18" charset="0"/>
                        </a:rPr>
                        <m:t>𝑋</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𝑧</m:t>
                          </m:r>
                        </m:e>
                      </m:d>
                      <m:r>
                        <a:rPr lang="en-US" altLang="zh-CN" b="0" i="1" smtClean="0">
                          <a:latin typeface="Cambria Math" panose="02040503050406030204" pitchFamily="18" charset="0"/>
                        </a:rPr>
                        <m:t>=</m:t>
                      </m:r>
                      <m:d>
                        <m:dPr>
                          <m:ctrlPr>
                            <a:rPr lang="en-US" altLang="zh-CN" i="1">
                              <a:latin typeface="Cambria Math" panose="02040503050406030204" pitchFamily="18" charset="0"/>
                            </a:rPr>
                          </m:ctrlPr>
                        </m:dPr>
                        <m:e>
                          <m:r>
                            <a:rPr lang="en-US" altLang="zh-CN" i="1">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f>
                                <m:fPr>
                                  <m:type m:val="lin"/>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𝑇</m:t>
                                  </m:r>
                                </m:num>
                                <m:den>
                                  <m:r>
                                    <a:rPr lang="zh-CN" altLang="en-US" i="1">
                                      <a:latin typeface="Cambria Math" panose="02040503050406030204" pitchFamily="18" charset="0"/>
                                    </a:rPr>
                                    <m:t>𝜏</m:t>
                                  </m:r>
                                </m:den>
                              </m:f>
                            </m:sup>
                          </m:sSup>
                        </m:e>
                      </m:d>
                      <m:r>
                        <a:rPr lang="en-US" altLang="zh-CN" b="0" i="1" smtClean="0">
                          <a:latin typeface="Cambria Math" panose="02040503050406030204" pitchFamily="18" charset="0"/>
                        </a:rPr>
                        <m:t>𝑧𝑈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𝑧</m:t>
                          </m:r>
                        </m:e>
                      </m:d>
                    </m:oMath>
                  </m:oMathPara>
                </a14:m>
                <a:endParaRPr lang="zh-CN" altLang="en-US" dirty="0"/>
              </a:p>
              <a:p>
                <a:pPr marL="0" indent="0" eaLnBrk="1" hangingPunct="1">
                  <a:lnSpc>
                    <a:spcPct val="120000"/>
                  </a:lnSpc>
                  <a:buFontTx/>
                  <a:buNone/>
                </a:pPr>
                <a:r>
                  <a:rPr lang="zh-CN" altLang="en-US" dirty="0"/>
                  <a:t>进行</a:t>
                </a:r>
                <a:r>
                  <a:rPr lang="en-US" altLang="zh-CN" i="1" dirty="0"/>
                  <a:t>Z </a:t>
                </a:r>
                <a:r>
                  <a:rPr lang="zh-CN" altLang="en-US" dirty="0"/>
                  <a:t>逆变换，得</a:t>
                </a:r>
                <a:endParaRPr lang="en-US" altLang="zh-CN" dirty="0"/>
              </a:p>
              <a:p>
                <a:pPr marL="0" indent="0" eaLnBrk="1" hangingPunct="1">
                  <a:lnSpc>
                    <a:spcPct val="120000"/>
                  </a:lnSpc>
                  <a:buFontTx/>
                  <a:buNone/>
                </a:pPr>
                <a:r>
                  <a:rPr lang="en-US" altLang="zh-CN"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f>
                          <m:fPr>
                            <m:type m:val="lin"/>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m:t>
                            </m:r>
                            <m:r>
                              <a:rPr lang="en-US" altLang="zh-CN" b="0" i="1" smtClean="0">
                                <a:latin typeface="Cambria Math" panose="02040503050406030204" pitchFamily="18" charset="0"/>
                              </a:rPr>
                              <m:t>𝑇</m:t>
                            </m:r>
                          </m:num>
                          <m:den>
                            <m:r>
                              <a:rPr lang="zh-CN" altLang="en-US" b="0" i="1" smtClean="0">
                                <a:latin typeface="Cambria Math" panose="02040503050406030204" pitchFamily="18" charset="0"/>
                              </a:rPr>
                              <m:t>𝜏</m:t>
                            </m:r>
                          </m:den>
                        </m:f>
                      </m:sup>
                    </m:s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f>
                              <m:fPr>
                                <m:type m:val="lin"/>
                                <m:ctrlPr>
                                  <a:rPr lang="en-US" altLang="zh-CN" i="1">
                                    <a:latin typeface="Cambria Math" panose="02040503050406030204" pitchFamily="18" charset="0"/>
                                  </a:rPr>
                                </m:ctrlPr>
                              </m:fPr>
                              <m:num>
                                <m:r>
                                  <a:rPr lang="en-US" altLang="zh-CN" i="1">
                                    <a:latin typeface="Cambria Math" panose="02040503050406030204" pitchFamily="18" charset="0"/>
                                  </a:rPr>
                                  <m:t>−</m:t>
                                </m:r>
                                <m:r>
                                  <a:rPr lang="en-US" altLang="zh-CN" i="1">
                                    <a:latin typeface="Cambria Math" panose="02040503050406030204" pitchFamily="18" charset="0"/>
                                  </a:rPr>
                                  <m:t>𝑇</m:t>
                                </m:r>
                              </m:num>
                              <m:den>
                                <m:r>
                                  <a:rPr lang="zh-CN" altLang="en-US" i="1">
                                    <a:latin typeface="Cambria Math" panose="02040503050406030204" pitchFamily="18" charset="0"/>
                                  </a:rPr>
                                  <m:t>𝜏</m:t>
                                </m:r>
                              </m:den>
                            </m:f>
                          </m:sup>
                        </m:sSup>
                      </m:e>
                    </m:d>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𝑢</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oMath>
                </a14:m>
                <a:r>
                  <a:rPr lang="zh-CN" altLang="en-US" dirty="0"/>
                  <a:t>  </a:t>
                </a:r>
              </a:p>
            </p:txBody>
          </p:sp>
        </mc:Choice>
        <mc:Fallback xmlns="">
          <p:sp>
            <p:nvSpPr>
              <p:cNvPr id="13314" name="Rectangle 3"/>
              <p:cNvSpPr>
                <a:spLocks noGrp="1" noRot="1" noChangeAspect="1" noMove="1" noResize="1" noEditPoints="1" noAdjustHandles="1" noChangeArrowheads="1" noChangeShapeType="1" noTextEdit="1"/>
              </p:cNvSpPr>
              <p:nvPr>
                <p:ph type="body" idx="1"/>
              </p:nvPr>
            </p:nvSpPr>
            <p:spPr>
              <a:xfrm>
                <a:off x="468313" y="404813"/>
                <a:ext cx="8424862" cy="6191250"/>
              </a:xfrm>
              <a:blipFill>
                <a:blip r:embed="rId3"/>
                <a:stretch>
                  <a:fillRect l="-1881" r="-362"/>
                </a:stretch>
              </a:blipFill>
            </p:spPr>
            <p:txBody>
              <a:bodyPr/>
              <a:lstStyle/>
              <a:p>
                <a:r>
                  <a:rPr lang="zh-CN" altLang="en-US">
                    <a:noFill/>
                  </a:rPr>
                  <a:t> </a:t>
                </a:r>
              </a:p>
            </p:txBody>
          </p:sp>
        </mc:Fallback>
      </mc:AlternateContent>
      <p:graphicFrame>
        <p:nvGraphicFramePr>
          <p:cNvPr id="13315" name="Object 4"/>
          <p:cNvGraphicFramePr>
            <a:graphicFrameLocks noChangeAspect="1"/>
          </p:cNvGraphicFramePr>
          <p:nvPr>
            <p:extLst>
              <p:ext uri="{D42A27DB-BD31-4B8C-83A1-F6EECF244321}">
                <p14:modId xmlns:p14="http://schemas.microsoft.com/office/powerpoint/2010/main" val="3551894629"/>
              </p:ext>
            </p:extLst>
          </p:nvPr>
        </p:nvGraphicFramePr>
        <p:xfrm>
          <a:off x="1619250" y="1124992"/>
          <a:ext cx="431800" cy="431800"/>
        </p:xfrm>
        <a:graphic>
          <a:graphicData uri="http://schemas.openxmlformats.org/presentationml/2006/ole">
            <mc:AlternateContent xmlns:mc="http://schemas.openxmlformats.org/markup-compatibility/2006">
              <mc:Choice xmlns:v="urn:schemas-microsoft-com:vml" Requires="v">
                <p:oleObj spid="_x0000_s78944" name="公式" r:id="rId4" imgW="215619" imgH="215619" progId="Equation.3">
                  <p:embed/>
                </p:oleObj>
              </mc:Choice>
              <mc:Fallback>
                <p:oleObj name="公式" r:id="rId4" imgW="215619" imgH="21561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1124992"/>
                        <a:ext cx="431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6" name="Object 7"/>
          <p:cNvGraphicFramePr>
            <a:graphicFrameLocks noChangeAspect="1"/>
          </p:cNvGraphicFramePr>
          <p:nvPr>
            <p:extLst>
              <p:ext uri="{D42A27DB-BD31-4B8C-83A1-F6EECF244321}">
                <p14:modId xmlns:p14="http://schemas.microsoft.com/office/powerpoint/2010/main" val="3109855887"/>
              </p:ext>
            </p:extLst>
          </p:nvPr>
        </p:nvGraphicFramePr>
        <p:xfrm>
          <a:off x="5724128" y="1700808"/>
          <a:ext cx="936625" cy="438150"/>
        </p:xfrm>
        <a:graphic>
          <a:graphicData uri="http://schemas.openxmlformats.org/presentationml/2006/ole">
            <mc:AlternateContent xmlns:mc="http://schemas.openxmlformats.org/markup-compatibility/2006">
              <mc:Choice xmlns:v="urn:schemas-microsoft-com:vml" Requires="v">
                <p:oleObj spid="_x0000_s78945" name="公式" r:id="rId6" imgW="380835" imgH="215806" progId="Equation.3">
                  <p:embed/>
                </p:oleObj>
              </mc:Choice>
              <mc:Fallback>
                <p:oleObj name="公式" r:id="rId6" imgW="380835" imgH="215806"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4128" y="1700808"/>
                        <a:ext cx="93662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8952014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97D1ACD-3023-4C46-A94A-C5F3701E9228}" type="slidenum">
              <a:rPr kumimoji="0" lang="en-US" altLang="zh-CN" sz="1400"/>
              <a:pPr>
                <a:spcBef>
                  <a:spcPct val="0"/>
                </a:spcBef>
                <a:buClrTx/>
                <a:buSzTx/>
                <a:buFontTx/>
                <a:buNone/>
              </a:pPr>
              <a:t>115</a:t>
            </a:fld>
            <a:endParaRPr kumimoji="0" lang="en-US" altLang="zh-CN" sz="1400"/>
          </a:p>
        </p:txBody>
      </p:sp>
      <p:sp>
        <p:nvSpPr>
          <p:cNvPr id="22531" name="Rectangle 2"/>
          <p:cNvSpPr>
            <a:spLocks noGrp="1" noChangeArrowheads="1"/>
          </p:cNvSpPr>
          <p:nvPr>
            <p:ph type="title"/>
          </p:nvPr>
        </p:nvSpPr>
        <p:spPr/>
        <p:txBody>
          <a:bodyPr/>
          <a:lstStyle/>
          <a:p>
            <a:pPr eaLnBrk="1" hangingPunct="1"/>
            <a:r>
              <a:rPr lang="zh-CN" altLang="en-US" dirty="0"/>
              <a:t>例</a:t>
            </a:r>
            <a:r>
              <a:rPr lang="en-US" altLang="zh-CN" dirty="0"/>
              <a:t>2</a:t>
            </a:r>
            <a:endParaRPr lang="zh-CN" altLang="en-US" dirty="0"/>
          </a:p>
        </p:txBody>
      </p:sp>
      <p:sp>
        <p:nvSpPr>
          <p:cNvPr id="22532" name="Rectangle 3"/>
          <p:cNvSpPr>
            <a:spLocks noGrp="1" noChangeArrowheads="1"/>
          </p:cNvSpPr>
          <p:nvPr>
            <p:ph type="body" idx="1"/>
          </p:nvPr>
        </p:nvSpPr>
        <p:spPr/>
        <p:txBody>
          <a:bodyPr/>
          <a:lstStyle/>
          <a:p>
            <a:pPr eaLnBrk="1" hangingPunct="1"/>
            <a:r>
              <a:rPr lang="zh-CN" altLang="en-US"/>
              <a:t>设                       ，试利用根匹配法，求与之相匹配的离散化模型，步骤如下：</a:t>
            </a:r>
          </a:p>
          <a:p>
            <a:pPr eaLnBrk="1" hangingPunct="1">
              <a:buFont typeface="Wingdings" panose="05000000000000000000" pitchFamily="2" charset="2"/>
              <a:buNone/>
            </a:pPr>
            <a:r>
              <a:rPr lang="zh-CN" altLang="en-US">
                <a:latin typeface="宋体" panose="02010600030101010101" pitchFamily="2" charset="-122"/>
              </a:rPr>
              <a:t>（</a:t>
            </a:r>
            <a:r>
              <a:rPr lang="en-US" altLang="zh-CN"/>
              <a:t>1</a:t>
            </a:r>
            <a:r>
              <a:rPr lang="zh-CN" altLang="en-US">
                <a:latin typeface="宋体" panose="02010600030101010101" pitchFamily="2" charset="-122"/>
              </a:rPr>
              <a:t>）            ，求得</a:t>
            </a:r>
            <a:r>
              <a:rPr lang="zh-CN" altLang="en-US"/>
              <a:t> </a:t>
            </a:r>
          </a:p>
          <a:p>
            <a:pPr eaLnBrk="1" hangingPunct="1"/>
            <a:endParaRPr lang="zh-CN" altLang="en-US"/>
          </a:p>
          <a:p>
            <a:pPr eaLnBrk="1" hangingPunct="1"/>
            <a:endParaRPr lang="zh-CN" altLang="en-US"/>
          </a:p>
          <a:p>
            <a:pPr eaLnBrk="1" hangingPunct="1">
              <a:buFont typeface="Wingdings" panose="05000000000000000000" pitchFamily="2" charset="2"/>
              <a:buNone/>
            </a:pPr>
            <a:r>
              <a:rPr lang="zh-CN" altLang="en-US"/>
              <a:t>（</a:t>
            </a:r>
            <a:r>
              <a:rPr lang="en-US" altLang="zh-CN"/>
              <a:t>2</a:t>
            </a:r>
            <a:r>
              <a:rPr lang="zh-CN" altLang="en-US"/>
              <a:t>）</a:t>
            </a:r>
          </a:p>
          <a:p>
            <a:pPr eaLnBrk="1" hangingPunct="1"/>
            <a:endParaRPr lang="en-US" altLang="zh-CN"/>
          </a:p>
        </p:txBody>
      </p:sp>
      <p:sp>
        <p:nvSpPr>
          <p:cNvPr id="22533" name="Rectangle 5"/>
          <p:cNvSpPr>
            <a:spLocks noChangeArrowheads="1"/>
          </p:cNvSpPr>
          <p:nvPr/>
        </p:nvSpPr>
        <p:spPr bwMode="auto">
          <a:xfrm>
            <a:off x="4014788"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2534" name="Object 4"/>
          <p:cNvGraphicFramePr>
            <a:graphicFrameLocks noChangeAspect="1"/>
          </p:cNvGraphicFramePr>
          <p:nvPr>
            <p:extLst>
              <p:ext uri="{D42A27DB-BD31-4B8C-83A1-F6EECF244321}">
                <p14:modId xmlns:p14="http://schemas.microsoft.com/office/powerpoint/2010/main" val="3251780248"/>
              </p:ext>
            </p:extLst>
          </p:nvPr>
        </p:nvGraphicFramePr>
        <p:xfrm>
          <a:off x="2205608" y="1764506"/>
          <a:ext cx="2438400" cy="854075"/>
        </p:xfrm>
        <a:graphic>
          <a:graphicData uri="http://schemas.openxmlformats.org/presentationml/2006/ole">
            <mc:AlternateContent xmlns:mc="http://schemas.openxmlformats.org/markup-compatibility/2006">
              <mc:Choice xmlns:v="urn:schemas-microsoft-com:vml" Requires="v">
                <p:oleObj spid="_x0000_s80062" r:id="rId3" imgW="1117115" imgH="393529" progId="Equation.DSMT4">
                  <p:embed/>
                </p:oleObj>
              </mc:Choice>
              <mc:Fallback>
                <p:oleObj r:id="rId3" imgW="1117115" imgH="39352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5608" y="1764506"/>
                        <a:ext cx="24384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5" name="Rectangle 7"/>
          <p:cNvSpPr>
            <a:spLocks noChangeArrowheads="1"/>
          </p:cNvSpPr>
          <p:nvPr/>
        </p:nvSpPr>
        <p:spPr bwMode="auto">
          <a:xfrm>
            <a:off x="4100513"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2536" name="Object 6"/>
          <p:cNvGraphicFramePr>
            <a:graphicFrameLocks noChangeAspect="1"/>
          </p:cNvGraphicFramePr>
          <p:nvPr/>
        </p:nvGraphicFramePr>
        <p:xfrm>
          <a:off x="2257946" y="3053555"/>
          <a:ext cx="1905000" cy="846137"/>
        </p:xfrm>
        <a:graphic>
          <a:graphicData uri="http://schemas.openxmlformats.org/presentationml/2006/ole">
            <mc:AlternateContent xmlns:mc="http://schemas.openxmlformats.org/markup-compatibility/2006">
              <mc:Choice xmlns:v="urn:schemas-microsoft-com:vml" Requires="v">
                <p:oleObj spid="_x0000_s80063" r:id="rId5" imgW="939800" imgH="419100" progId="Equation.DSMT4">
                  <p:embed/>
                </p:oleObj>
              </mc:Choice>
              <mc:Fallback>
                <p:oleObj r:id="rId5" imgW="939800" imgH="4191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7946" y="3053555"/>
                        <a:ext cx="1905000"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7" name="Object 8"/>
          <p:cNvGraphicFramePr>
            <a:graphicFrameLocks noChangeAspect="1"/>
          </p:cNvGraphicFramePr>
          <p:nvPr/>
        </p:nvGraphicFramePr>
        <p:xfrm>
          <a:off x="2279650" y="4070349"/>
          <a:ext cx="5715000" cy="588963"/>
        </p:xfrm>
        <a:graphic>
          <a:graphicData uri="http://schemas.openxmlformats.org/presentationml/2006/ole">
            <mc:AlternateContent xmlns:mc="http://schemas.openxmlformats.org/markup-compatibility/2006">
              <mc:Choice xmlns:v="urn:schemas-microsoft-com:vml" Requires="v">
                <p:oleObj spid="_x0000_s80064" r:id="rId7" imgW="2120900" imgH="215900" progId="Equation.DSMT4">
                  <p:embed/>
                </p:oleObj>
              </mc:Choice>
              <mc:Fallback>
                <p:oleObj r:id="rId7" imgW="2120900" imgH="2159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650" y="4070349"/>
                        <a:ext cx="5715000"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8" name="Object 10"/>
          <p:cNvGraphicFramePr>
            <a:graphicFrameLocks noChangeAspect="1"/>
          </p:cNvGraphicFramePr>
          <p:nvPr/>
        </p:nvGraphicFramePr>
        <p:xfrm>
          <a:off x="2283402" y="5075236"/>
          <a:ext cx="3810000" cy="585787"/>
        </p:xfrm>
        <a:graphic>
          <a:graphicData uri="http://schemas.openxmlformats.org/presentationml/2006/ole">
            <mc:AlternateContent xmlns:mc="http://schemas.openxmlformats.org/markup-compatibility/2006">
              <mc:Choice xmlns:v="urn:schemas-microsoft-com:vml" Requires="v">
                <p:oleObj spid="_x0000_s80065" r:id="rId9" imgW="1485900" imgH="228600" progId="Equation.DSMT4">
                  <p:embed/>
                </p:oleObj>
              </mc:Choice>
              <mc:Fallback>
                <p:oleObj r:id="rId9" imgW="1485900" imgH="2286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3402" y="5075236"/>
                        <a:ext cx="3810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5148143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7363156-590E-4759-8ED4-75321D098BC1}" type="slidenum">
              <a:rPr kumimoji="0" lang="en-US" altLang="zh-CN" sz="1400"/>
              <a:pPr>
                <a:spcBef>
                  <a:spcPct val="0"/>
                </a:spcBef>
                <a:buClrTx/>
                <a:buSzTx/>
                <a:buFontTx/>
                <a:buNone/>
              </a:pPr>
              <a:t>116</a:t>
            </a:fld>
            <a:endParaRPr kumimoji="0" lang="en-US" altLang="zh-CN" sz="1400"/>
          </a:p>
        </p:txBody>
      </p:sp>
      <p:sp>
        <p:nvSpPr>
          <p:cNvPr id="23555"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23556"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dirty="0"/>
                  <a:t>（</a:t>
                </a:r>
                <a:r>
                  <a:rPr lang="en-US" altLang="zh-CN" dirty="0"/>
                  <a:t>3</a:t>
                </a:r>
                <a:r>
                  <a:rPr lang="zh-CN" altLang="en-US" dirty="0"/>
                  <a:t>）</a:t>
                </a:r>
              </a:p>
              <a:p>
                <a:pPr eaLnBrk="1" hangingPunct="1">
                  <a:buFont typeface="Wingdings" panose="05000000000000000000" pitchFamily="2" charset="2"/>
                  <a:buNone/>
                </a:pPr>
                <a:endParaRPr lang="zh-CN" altLang="en-US" dirty="0"/>
              </a:p>
              <a:p>
                <a:pPr eaLnBrk="1" hangingPunct="1">
                  <a:buNone/>
                </a:pPr>
                <a:r>
                  <a:rPr lang="zh-CN" altLang="en-US" dirty="0"/>
                  <a:t>（</a:t>
                </a:r>
                <a:r>
                  <a:rPr lang="en-US" altLang="zh-CN" dirty="0"/>
                  <a:t>4</a:t>
                </a:r>
                <a:r>
                  <a:rPr lang="zh-CN" altLang="en-US" dirty="0"/>
                  <a:t>）</a:t>
                </a:r>
                <a:r>
                  <a:rPr lang="zh-CN" altLang="en-US" dirty="0">
                    <a:latin typeface="宋体" panose="02010600030101010101" pitchFamily="2" charset="-122"/>
                  </a:rPr>
                  <a:t>对斜坡函数</a:t>
                </a:r>
                <a14:m>
                  <m:oMath xmlns:m="http://schemas.openxmlformats.org/officeDocument/2006/math">
                    <m:r>
                      <a:rPr lang="en-US" altLang="zh-CN" b="0" i="1" smtClean="0">
                        <a:latin typeface="Cambria Math" panose="02040503050406030204" pitchFamily="18" charset="0"/>
                      </a:rPr>
                      <m:t>𝑢</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 </m:t>
                    </m:r>
                    <m:r>
                      <a:rPr lang="en-US" altLang="zh-CN" b="0" i="1" smtClean="0">
                        <a:latin typeface="Cambria Math" panose="02040503050406030204" pitchFamily="18" charset="0"/>
                      </a:rPr>
                      <m:t>𝐺</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 </m:t>
                    </m:r>
                  </m:oMath>
                </a14:m>
                <a:r>
                  <a:rPr lang="zh-CN" altLang="en-US" dirty="0">
                    <a:latin typeface="宋体" panose="02010600030101010101" pitchFamily="2" charset="-122"/>
                  </a:rPr>
                  <a:t>具有非零且有限的稳态值：</a:t>
                </a:r>
                <a:r>
                  <a:rPr lang="zh-CN" altLang="en-US" dirty="0"/>
                  <a:t> </a:t>
                </a:r>
              </a:p>
            </p:txBody>
          </p:sp>
        </mc:Choice>
        <mc:Fallback xmlns="">
          <p:sp>
            <p:nvSpPr>
              <p:cNvPr id="23556" name="Rectangle 3"/>
              <p:cNvSpPr>
                <a:spLocks noGrp="1" noRot="1" noChangeAspect="1" noMove="1" noResize="1" noEditPoints="1" noAdjustHandles="1" noChangeArrowheads="1" noChangeShapeType="1" noTextEdit="1"/>
              </p:cNvSpPr>
              <p:nvPr>
                <p:ph type="body" idx="1"/>
              </p:nvPr>
            </p:nvSpPr>
            <p:spPr>
              <a:blipFill>
                <a:blip r:embed="rId3"/>
                <a:stretch>
                  <a:fillRect l="-1961" t="-2222"/>
                </a:stretch>
              </a:blipFill>
            </p:spPr>
            <p:txBody>
              <a:bodyPr/>
              <a:lstStyle/>
              <a:p>
                <a:r>
                  <a:rPr lang="zh-CN" altLang="en-US">
                    <a:noFill/>
                  </a:rPr>
                  <a:t> </a:t>
                </a:r>
              </a:p>
            </p:txBody>
          </p:sp>
        </mc:Fallback>
      </mc:AlternateContent>
      <p:sp>
        <p:nvSpPr>
          <p:cNvPr id="23557" name="Rectangle 5"/>
          <p:cNvSpPr>
            <a:spLocks noChangeArrowheads="1"/>
          </p:cNvSpPr>
          <p:nvPr/>
        </p:nvSpPr>
        <p:spPr bwMode="auto">
          <a:xfrm>
            <a:off x="401955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3558" name="Object 4"/>
          <p:cNvGraphicFramePr>
            <a:graphicFrameLocks noChangeAspect="1"/>
          </p:cNvGraphicFramePr>
          <p:nvPr/>
        </p:nvGraphicFramePr>
        <p:xfrm>
          <a:off x="2286000" y="1854200"/>
          <a:ext cx="2743200" cy="1041400"/>
        </p:xfrm>
        <a:graphic>
          <a:graphicData uri="http://schemas.openxmlformats.org/presentationml/2006/ole">
            <mc:AlternateContent xmlns:mc="http://schemas.openxmlformats.org/markup-compatibility/2006">
              <mc:Choice xmlns:v="urn:schemas-microsoft-com:vml" Requires="v">
                <p:oleObj spid="_x0000_s80993" r:id="rId4" imgW="1104900" imgH="419100" progId="Equation.DSMT4">
                  <p:embed/>
                </p:oleObj>
              </mc:Choice>
              <mc:Fallback>
                <p:oleObj r:id="rId4" imgW="11049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1854200"/>
                        <a:ext cx="27432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9" name="Rectangle 7"/>
          <p:cNvSpPr>
            <a:spLocks noChangeArrowheads="1"/>
          </p:cNvSpPr>
          <p:nvPr/>
        </p:nvSpPr>
        <p:spPr bwMode="auto">
          <a:xfrm>
            <a:off x="4167188"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561" name="Rectangle 9"/>
          <p:cNvSpPr>
            <a:spLocks noChangeArrowheads="1"/>
          </p:cNvSpPr>
          <p:nvPr/>
        </p:nvSpPr>
        <p:spPr bwMode="auto">
          <a:xfrm>
            <a:off x="316230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3562" name="Object 8"/>
          <p:cNvGraphicFramePr>
            <a:graphicFrameLocks noChangeAspect="1"/>
          </p:cNvGraphicFramePr>
          <p:nvPr/>
        </p:nvGraphicFramePr>
        <p:xfrm>
          <a:off x="1295400" y="4191000"/>
          <a:ext cx="7010400" cy="1136650"/>
        </p:xfrm>
        <a:graphic>
          <a:graphicData uri="http://schemas.openxmlformats.org/presentationml/2006/ole">
            <mc:AlternateContent xmlns:mc="http://schemas.openxmlformats.org/markup-compatibility/2006">
              <mc:Choice xmlns:v="urn:schemas-microsoft-com:vml" Requires="v">
                <p:oleObj spid="_x0000_s80994" r:id="rId6" imgW="2819400" imgH="457200" progId="Equation.DSMT4">
                  <p:embed/>
                </p:oleObj>
              </mc:Choice>
              <mc:Fallback>
                <p:oleObj r:id="rId6" imgW="2819400" imgH="457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4191000"/>
                        <a:ext cx="70104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0354101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E9A5BF6-45F2-4D12-B535-B658F1B00014}" type="slidenum">
              <a:rPr kumimoji="0" lang="en-US" altLang="zh-CN" sz="1400"/>
              <a:pPr>
                <a:spcBef>
                  <a:spcPct val="0"/>
                </a:spcBef>
                <a:buClrTx/>
                <a:buSzTx/>
                <a:buFontTx/>
                <a:buNone/>
              </a:pPr>
              <a:t>117</a:t>
            </a:fld>
            <a:endParaRPr kumimoji="0" lang="en-US" altLang="zh-CN" sz="1400"/>
          </a:p>
        </p:txBody>
      </p:sp>
      <p:sp>
        <p:nvSpPr>
          <p:cNvPr id="24579"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24580" name="Rectangle 3"/>
              <p:cNvSpPr>
                <a:spLocks noGrp="1" noChangeArrowheads="1"/>
              </p:cNvSpPr>
              <p:nvPr>
                <p:ph type="body" idx="1"/>
              </p:nvPr>
            </p:nvSpPr>
            <p:spPr/>
            <p:txBody>
              <a:bodyPr/>
              <a:lstStyle/>
              <a:p>
                <a:pPr eaLnBrk="1" hangingPunct="1"/>
                <a:r>
                  <a:rPr lang="zh-CN" altLang="en-US" dirty="0"/>
                  <a:t>由</a:t>
                </a:r>
                <a14:m>
                  <m:oMath xmlns:m="http://schemas.openxmlformats.org/officeDocument/2006/math">
                    <m:r>
                      <a:rPr lang="en-US" altLang="zh-CN" b="0" i="1" smtClean="0">
                        <a:latin typeface="Cambria Math" panose="02040503050406030204" pitchFamily="18" charset="0"/>
                      </a:rPr>
                      <m:t>𝐺</m:t>
                    </m:r>
                    <m:r>
                      <a:rPr lang="en-US" altLang="zh-CN" b="0" i="1" smtClean="0">
                        <a:latin typeface="Cambria Math" panose="02040503050406030204" pitchFamily="18" charset="0"/>
                      </a:rPr>
                      <m:t>(</m:t>
                    </m:r>
                    <m:r>
                      <a:rPr lang="en-US" altLang="zh-CN" b="0" i="1" smtClean="0">
                        <a:latin typeface="Cambria Math" panose="02040503050406030204" pitchFamily="18" charset="0"/>
                      </a:rPr>
                      <m:t>𝑧</m:t>
                    </m:r>
                    <m:r>
                      <a:rPr lang="en-US" altLang="zh-CN" b="0" i="1" smtClean="0">
                        <a:latin typeface="Cambria Math" panose="02040503050406030204" pitchFamily="18" charset="0"/>
                      </a:rPr>
                      <m:t>)</m:t>
                    </m:r>
                  </m:oMath>
                </a14:m>
                <a:r>
                  <a:rPr lang="zh-CN" altLang="en-US" dirty="0"/>
                  <a:t>可得：</a:t>
                </a:r>
              </a:p>
            </p:txBody>
          </p:sp>
        </mc:Choice>
        <mc:Fallback xmlns="">
          <p:sp>
            <p:nvSpPr>
              <p:cNvPr id="24580" name="Rectangle 3"/>
              <p:cNvSpPr>
                <a:spLocks noGrp="1" noRot="1" noChangeAspect="1" noMove="1" noResize="1" noEditPoints="1" noAdjustHandles="1" noChangeArrowheads="1" noChangeShapeType="1" noTextEdit="1"/>
              </p:cNvSpPr>
              <p:nvPr>
                <p:ph type="body" idx="1"/>
              </p:nvPr>
            </p:nvSpPr>
            <p:spPr>
              <a:blipFill>
                <a:blip r:embed="rId3"/>
                <a:stretch>
                  <a:fillRect l="-549" t="-2370"/>
                </a:stretch>
              </a:blipFill>
            </p:spPr>
            <p:txBody>
              <a:bodyPr/>
              <a:lstStyle/>
              <a:p>
                <a:r>
                  <a:rPr lang="zh-CN" altLang="en-US">
                    <a:noFill/>
                  </a:rPr>
                  <a:t> </a:t>
                </a:r>
              </a:p>
            </p:txBody>
          </p:sp>
        </mc:Fallback>
      </mc:AlternateContent>
      <p:sp>
        <p:nvSpPr>
          <p:cNvPr id="24581" name="Rectangle 5"/>
          <p:cNvSpPr>
            <a:spLocks noChangeArrowheads="1"/>
          </p:cNvSpPr>
          <p:nvPr/>
        </p:nvSpPr>
        <p:spPr bwMode="auto">
          <a:xfrm>
            <a:off x="440055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4583" name="Rectangle 7"/>
          <p:cNvSpPr>
            <a:spLocks noChangeArrowheads="1"/>
          </p:cNvSpPr>
          <p:nvPr/>
        </p:nvSpPr>
        <p:spPr bwMode="auto">
          <a:xfrm>
            <a:off x="3481388" y="2747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4584" name="Object 6"/>
          <p:cNvGraphicFramePr>
            <a:graphicFrameLocks noChangeAspect="1"/>
          </p:cNvGraphicFramePr>
          <p:nvPr/>
        </p:nvGraphicFramePr>
        <p:xfrm>
          <a:off x="1604963" y="2546350"/>
          <a:ext cx="5095875" cy="3092450"/>
        </p:xfrm>
        <a:graphic>
          <a:graphicData uri="http://schemas.openxmlformats.org/presentationml/2006/ole">
            <mc:AlternateContent xmlns:mc="http://schemas.openxmlformats.org/markup-compatibility/2006">
              <mc:Choice xmlns:v="urn:schemas-microsoft-com:vml" Requires="v">
                <p:oleObj spid="_x0000_s81968" name="Equation" r:id="rId4" imgW="2247900" imgH="1358900" progId="Equation.DSMT4">
                  <p:embed/>
                </p:oleObj>
              </mc:Choice>
              <mc:Fallback>
                <p:oleObj name="Equation" r:id="rId4" imgW="2247900" imgH="13589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4963" y="2546350"/>
                        <a:ext cx="5095875"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3445355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69687DA-DD3C-404F-BFF6-97ADC4A5B006}" type="slidenum">
              <a:rPr kumimoji="0" lang="en-US" altLang="zh-CN" sz="1400"/>
              <a:pPr>
                <a:spcBef>
                  <a:spcPct val="0"/>
                </a:spcBef>
                <a:buClrTx/>
                <a:buSzTx/>
                <a:buFontTx/>
                <a:buNone/>
              </a:pPr>
              <a:t>118</a:t>
            </a:fld>
            <a:endParaRPr kumimoji="0" lang="en-US" altLang="zh-CN" sz="1400"/>
          </a:p>
        </p:txBody>
      </p:sp>
      <p:sp>
        <p:nvSpPr>
          <p:cNvPr id="25603" name="Rectangle 2"/>
          <p:cNvSpPr>
            <a:spLocks noGrp="1" noChangeArrowheads="1"/>
          </p:cNvSpPr>
          <p:nvPr>
            <p:ph type="title"/>
          </p:nvPr>
        </p:nvSpPr>
        <p:spPr/>
        <p:txBody>
          <a:bodyPr/>
          <a:lstStyle/>
          <a:p>
            <a:pPr eaLnBrk="1" hangingPunct="1"/>
            <a:endParaRPr lang="zh-CN" altLang="zh-CN"/>
          </a:p>
        </p:txBody>
      </p:sp>
      <mc:AlternateContent xmlns:mc="http://schemas.openxmlformats.org/markup-compatibility/2006" xmlns:a14="http://schemas.microsoft.com/office/drawing/2010/main">
        <mc:Choice Requires="a14">
          <p:sp>
            <p:nvSpPr>
              <p:cNvPr id="25604" name="Rectangle 3"/>
              <p:cNvSpPr>
                <a:spLocks noGrp="1" noChangeArrowheads="1"/>
              </p:cNvSpPr>
              <p:nvPr>
                <p:ph type="body" idx="1"/>
              </p:nvPr>
            </p:nvSpPr>
            <p:spPr>
              <a:xfrm>
                <a:off x="611560" y="2017713"/>
                <a:ext cx="8343528" cy="4114800"/>
              </a:xfrm>
            </p:spPr>
            <p:txBody>
              <a:bodyPr/>
              <a:lstStyle/>
              <a:p>
                <a:pPr eaLnBrk="1" hangingPunct="1">
                  <a:buFont typeface="Wingdings" panose="05000000000000000000" pitchFamily="2" charset="2"/>
                  <a:buNone/>
                </a:pPr>
                <a:r>
                  <a:rPr lang="zh-CN" altLang="en-US" dirty="0"/>
                  <a:t>（</a:t>
                </a:r>
                <a:r>
                  <a:rPr lang="en-US" altLang="zh-CN" dirty="0"/>
                  <a:t>5</a:t>
                </a:r>
                <a:r>
                  <a:rPr lang="zh-CN" altLang="en-US" dirty="0"/>
                  <a:t>） 确定</a:t>
                </a:r>
              </a:p>
              <a:p>
                <a:pPr eaLnBrk="1" hangingPunct="1">
                  <a:buFont typeface="Wingdings" panose="05000000000000000000" pitchFamily="2" charset="2"/>
                  <a:buNone/>
                </a:pPr>
                <a:endParaRPr lang="zh-CN" altLang="en-US" dirty="0"/>
              </a:p>
              <a:p>
                <a:pPr eaLnBrk="1" hangingPunct="1">
                  <a:buNone/>
                </a:pPr>
                <a:r>
                  <a:rPr lang="zh-CN" altLang="en-US" dirty="0"/>
                  <a:t>（</a:t>
                </a:r>
                <a:r>
                  <a:rPr lang="en-US" altLang="zh-CN" dirty="0"/>
                  <a:t>6</a:t>
                </a:r>
                <a:r>
                  <a:rPr lang="zh-CN" altLang="en-US" dirty="0"/>
                  <a:t>）附加一个零点，为简单起见，令</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𝑞</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=0</m:t>
                    </m:r>
                  </m:oMath>
                </a14:m>
                <a:endParaRPr lang="zh-CN" altLang="en-US" dirty="0"/>
              </a:p>
              <a:p>
                <a:pPr eaLnBrk="1" hangingPunct="1">
                  <a:buFont typeface="Wingdings" panose="05000000000000000000" pitchFamily="2" charset="2"/>
                  <a:buNone/>
                </a:pPr>
                <a:r>
                  <a:rPr lang="zh-CN" altLang="en-US" dirty="0"/>
                  <a:t>        即零点匹配在</a:t>
                </a:r>
                <a:r>
                  <a:rPr lang="en-US" altLang="zh-CN" dirty="0"/>
                  <a:t>z</a:t>
                </a:r>
                <a:r>
                  <a:rPr lang="zh-CN" altLang="en-US" dirty="0"/>
                  <a:t>平面的原点。故有：</a:t>
                </a:r>
              </a:p>
              <a:p>
                <a:pPr eaLnBrk="1" hangingPunct="1">
                  <a:buFont typeface="Wingdings" panose="05000000000000000000" pitchFamily="2" charset="2"/>
                  <a:buNone/>
                </a:pPr>
                <a:endParaRPr lang="zh-CN" altLang="en-US" dirty="0"/>
              </a:p>
              <a:p>
                <a:pPr eaLnBrk="1" hangingPunct="1">
                  <a:buFont typeface="Wingdings" panose="05000000000000000000" pitchFamily="2" charset="2"/>
                  <a:buNone/>
                </a:pPr>
                <a:endParaRPr lang="zh-CN" altLang="en-US" dirty="0"/>
              </a:p>
              <a:p>
                <a:pPr eaLnBrk="1" hangingPunct="1">
                  <a:buNone/>
                </a:pPr>
                <a:r>
                  <a:rPr lang="zh-CN" altLang="en-US" dirty="0"/>
                  <a:t>        附加这个零点不影响</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𝑧</m:t>
                        </m:r>
                      </m:sub>
                    </m:sSub>
                  </m:oMath>
                </a14:m>
                <a:endParaRPr lang="zh-CN" altLang="en-US" dirty="0"/>
              </a:p>
            </p:txBody>
          </p:sp>
        </mc:Choice>
        <mc:Fallback xmlns="">
          <p:sp>
            <p:nvSpPr>
              <p:cNvPr id="25604" name="Rectangle 3"/>
              <p:cNvSpPr>
                <a:spLocks noGrp="1" noRot="1" noChangeAspect="1" noMove="1" noResize="1" noEditPoints="1" noAdjustHandles="1" noChangeArrowheads="1" noChangeShapeType="1" noTextEdit="1"/>
              </p:cNvSpPr>
              <p:nvPr>
                <p:ph type="body" idx="1"/>
              </p:nvPr>
            </p:nvSpPr>
            <p:spPr>
              <a:xfrm>
                <a:off x="611560" y="2017713"/>
                <a:ext cx="8343528" cy="4114800"/>
              </a:xfrm>
              <a:blipFill>
                <a:blip r:embed="rId3"/>
                <a:stretch>
                  <a:fillRect l="-1826" t="-2222" b="-3852"/>
                </a:stretch>
              </a:blipFill>
            </p:spPr>
            <p:txBody>
              <a:bodyPr/>
              <a:lstStyle/>
              <a:p>
                <a:r>
                  <a:rPr lang="zh-CN" altLang="en-US">
                    <a:noFill/>
                  </a:rPr>
                  <a:t> </a:t>
                </a:r>
              </a:p>
            </p:txBody>
          </p:sp>
        </mc:Fallback>
      </mc:AlternateContent>
      <p:sp>
        <p:nvSpPr>
          <p:cNvPr id="25605" name="Rectangle 5"/>
          <p:cNvSpPr>
            <a:spLocks noChangeArrowheads="1"/>
          </p:cNvSpPr>
          <p:nvPr/>
        </p:nvSpPr>
        <p:spPr bwMode="auto">
          <a:xfrm>
            <a:off x="409098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5606" name="Object 4"/>
          <p:cNvGraphicFramePr>
            <a:graphicFrameLocks noChangeAspect="1"/>
          </p:cNvGraphicFramePr>
          <p:nvPr/>
        </p:nvGraphicFramePr>
        <p:xfrm>
          <a:off x="3513931" y="1817579"/>
          <a:ext cx="2286000" cy="996950"/>
        </p:xfrm>
        <a:graphic>
          <a:graphicData uri="http://schemas.openxmlformats.org/presentationml/2006/ole">
            <mc:AlternateContent xmlns:mc="http://schemas.openxmlformats.org/markup-compatibility/2006">
              <mc:Choice xmlns:v="urn:schemas-microsoft-com:vml" Requires="v">
                <p:oleObj spid="_x0000_s83038" r:id="rId4" imgW="965200" imgH="419100" progId="Equation.DSMT4">
                  <p:embed/>
                </p:oleObj>
              </mc:Choice>
              <mc:Fallback>
                <p:oleObj r:id="rId4" imgW="9652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3931" y="1817579"/>
                        <a:ext cx="22860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8" name="Rectangle 8"/>
          <p:cNvSpPr>
            <a:spLocks noChangeArrowheads="1"/>
          </p:cNvSpPr>
          <p:nvPr/>
        </p:nvSpPr>
        <p:spPr bwMode="auto">
          <a:xfrm>
            <a:off x="3719513"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5609" name="Object 7"/>
          <p:cNvGraphicFramePr>
            <a:graphicFrameLocks noChangeAspect="1"/>
          </p:cNvGraphicFramePr>
          <p:nvPr/>
        </p:nvGraphicFramePr>
        <p:xfrm>
          <a:off x="2286000" y="4419600"/>
          <a:ext cx="3810000" cy="1000125"/>
        </p:xfrm>
        <a:graphic>
          <a:graphicData uri="http://schemas.openxmlformats.org/presentationml/2006/ole">
            <mc:AlternateContent xmlns:mc="http://schemas.openxmlformats.org/markup-compatibility/2006">
              <mc:Choice xmlns:v="urn:schemas-microsoft-com:vml" Requires="v">
                <p:oleObj spid="_x0000_s83039" r:id="rId6" imgW="1701800" imgH="444500" progId="Equation.DSMT4">
                  <p:embed/>
                </p:oleObj>
              </mc:Choice>
              <mc:Fallback>
                <p:oleObj r:id="rId6" imgW="1701800" imgH="4445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4419600"/>
                        <a:ext cx="3810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929290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 数值积分法的稳定性分析</a:t>
            </a:r>
            <a:endParaRPr lang="zh-CN" altLang="en-US" dirty="0"/>
          </a:p>
        </p:txBody>
      </p:sp>
      <p:sp>
        <p:nvSpPr>
          <p:cNvPr id="3" name="内容占位符 2"/>
          <p:cNvSpPr>
            <a:spLocks noGrp="1"/>
          </p:cNvSpPr>
          <p:nvPr>
            <p:ph idx="1"/>
          </p:nvPr>
        </p:nvSpPr>
        <p:spPr>
          <a:xfrm>
            <a:off x="899592" y="1949623"/>
            <a:ext cx="7983488" cy="4287689"/>
          </a:xfrm>
        </p:spPr>
        <p:txBody>
          <a:bodyPr/>
          <a:lstStyle/>
          <a:p>
            <a:r>
              <a:rPr lang="zh-CN" altLang="en-US" sz="2400" dirty="0"/>
              <a:t>数值积分法可能不稳定，可能原因：字长太长、步长太大等。</a:t>
            </a:r>
            <a:endParaRPr lang="en-US" altLang="zh-CN" sz="2400" dirty="0"/>
          </a:p>
          <a:p>
            <a:r>
              <a:rPr lang="zh-CN" altLang="en-US" sz="2400" dirty="0"/>
              <a:t>误差的来源一般有：</a:t>
            </a:r>
            <a:r>
              <a:rPr lang="zh-CN" altLang="en-US" sz="2400" b="1" dirty="0">
                <a:solidFill>
                  <a:srgbClr val="FF0000"/>
                </a:solidFill>
              </a:rPr>
              <a:t>初始误差</a:t>
            </a:r>
            <a:r>
              <a:rPr lang="zh-CN" altLang="en-US" sz="2400" dirty="0"/>
              <a:t>，即初值</a:t>
            </a:r>
            <a:r>
              <a:rPr lang="en-US" altLang="zh-CN" sz="2400" dirty="0"/>
              <a:t>y</a:t>
            </a:r>
            <a:r>
              <a:rPr lang="en-US" altLang="zh-CN" sz="2400" baseline="-25000" dirty="0"/>
              <a:t>0</a:t>
            </a:r>
            <a:r>
              <a:rPr lang="zh-CN" altLang="en-US" sz="2400" dirty="0"/>
              <a:t>通常会不太准确；由于计算机字长限制造成的</a:t>
            </a:r>
            <a:r>
              <a:rPr lang="zh-CN" altLang="en-US" sz="2400" b="1" dirty="0">
                <a:solidFill>
                  <a:srgbClr val="FF0000"/>
                </a:solidFill>
              </a:rPr>
              <a:t>舍入误差</a:t>
            </a:r>
            <a:r>
              <a:rPr lang="zh-CN" altLang="en-US" sz="2400" dirty="0"/>
              <a:t>；在某一步长</a:t>
            </a:r>
            <a:r>
              <a:rPr lang="en-US" altLang="zh-CN" sz="2400" dirty="0"/>
              <a:t>h</a:t>
            </a:r>
            <a:r>
              <a:rPr lang="zh-CN" altLang="en-US" sz="2400" dirty="0"/>
              <a:t>下产生的</a:t>
            </a:r>
            <a:r>
              <a:rPr lang="zh-CN" altLang="en-US" sz="2400" b="1" dirty="0">
                <a:solidFill>
                  <a:srgbClr val="FF0000"/>
                </a:solidFill>
              </a:rPr>
              <a:t>截断误差</a:t>
            </a:r>
            <a:r>
              <a:rPr lang="zh-CN" altLang="en-US" sz="2400" dirty="0"/>
              <a:t>，而这些误差都可能在计算中向下传播。</a:t>
            </a:r>
          </a:p>
          <a:p>
            <a:r>
              <a:rPr lang="zh-CN" altLang="en-US" sz="2400" b="1" dirty="0">
                <a:solidFill>
                  <a:srgbClr val="FF0000"/>
                </a:solidFill>
              </a:rPr>
              <a:t>数值解的稳定性</a:t>
            </a:r>
            <a:r>
              <a:rPr lang="zh-CN" altLang="en-US" sz="2400" dirty="0"/>
              <a:t>，是指在扰动</a:t>
            </a:r>
            <a:r>
              <a:rPr lang="en-US" altLang="zh-CN" sz="2400" dirty="0"/>
              <a:t>(</a:t>
            </a:r>
            <a:r>
              <a:rPr lang="zh-CN" altLang="en-US" sz="2400" dirty="0"/>
              <a:t>初始误差、舍入误差、截断误差等</a:t>
            </a:r>
            <a:r>
              <a:rPr lang="en-US" altLang="zh-CN" sz="2400" dirty="0"/>
              <a:t>)</a:t>
            </a:r>
            <a:r>
              <a:rPr lang="zh-CN" altLang="en-US" sz="2400" dirty="0"/>
              <a:t>影响下，其计算过程中的累积误差不会随计算步数的增加而无限增长。</a:t>
            </a:r>
            <a:endParaRPr lang="en-US" altLang="zh-CN" sz="2400" dirty="0"/>
          </a:p>
          <a:p>
            <a:r>
              <a:rPr lang="zh-CN" altLang="zh-CN" sz="2400" dirty="0"/>
              <a:t>一个数值法是否稳定取决于该差分方程的特征根是否满足稳定性要求</a:t>
            </a:r>
            <a:r>
              <a:rPr lang="zh-CN" altLang="en-US" sz="2400" dirty="0"/>
              <a:t>。</a:t>
            </a:r>
          </a:p>
        </p:txBody>
      </p:sp>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119</a:t>
            </a:fld>
            <a:endParaRPr lang="en-US" altLang="zh-CN"/>
          </a:p>
        </p:txBody>
      </p:sp>
    </p:spTree>
    <p:extLst>
      <p:ext uri="{BB962C8B-B14F-4D97-AF65-F5344CB8AC3E}">
        <p14:creationId xmlns:p14="http://schemas.microsoft.com/office/powerpoint/2010/main" val="305829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a:t>举例：</a:t>
            </a:r>
            <a:r>
              <a:rPr lang="en-US" altLang="zh-CN" sz="3200" dirty="0"/>
              <a:t>1</a:t>
            </a:r>
            <a:r>
              <a:rPr lang="zh-CN" altLang="zh-CN" sz="3200" dirty="0"/>
              <a:t>阶显式亚当姆斯方法</a:t>
            </a:r>
            <a:r>
              <a:rPr lang="zh-CN" altLang="en-US" sz="3200" dirty="0"/>
              <a:t>的稳定性分析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11560" y="2017713"/>
                <a:ext cx="8343528" cy="4114800"/>
              </a:xfrm>
            </p:spPr>
            <p:txBody>
              <a:bodyPr/>
              <a:lstStyle/>
              <a:p>
                <a:pPr marL="0" indent="0">
                  <a:buNone/>
                </a:pPr>
                <a:r>
                  <a:rPr lang="zh-CN" altLang="en-US" sz="2800" dirty="0"/>
                  <a:t>假定系统的微分方程为</a:t>
                </a:r>
              </a:p>
              <a:p>
                <a:pPr marL="0" indent="0">
                  <a:buNone/>
                </a:pPr>
                <a14:m>
                  <m:oMath xmlns:m="http://schemas.openxmlformats.org/officeDocument/2006/math">
                    <m:f>
                      <m:fPr>
                        <m:ctrlPr>
                          <a:rPr lang="en-US" altLang="zh-CN" sz="2800" i="1" dirty="0">
                            <a:latin typeface="Cambria Math" panose="02040503050406030204" pitchFamily="18" charset="0"/>
                          </a:rPr>
                        </m:ctrlPr>
                      </m:fPr>
                      <m:num>
                        <m:r>
                          <a:rPr lang="en-US" altLang="zh-CN" sz="2800" b="0" i="1" dirty="0" smtClean="0">
                            <a:latin typeface="Cambria Math" panose="02040503050406030204" pitchFamily="18" charset="0"/>
                          </a:rPr>
                          <m:t>𝑑</m:t>
                        </m:r>
                        <m:r>
                          <a:rPr lang="en-US" altLang="zh-CN" sz="2800" b="0" i="1" dirty="0" smtClean="0">
                            <a:latin typeface="Cambria Math" panose="02040503050406030204" pitchFamily="18" charset="0"/>
                          </a:rPr>
                          <m:t> </m:t>
                        </m:r>
                        <m:r>
                          <a:rPr lang="en-US" altLang="zh-CN" sz="2800" b="0" i="1" dirty="0" smtClean="0">
                            <a:latin typeface="Cambria Math" panose="02040503050406030204" pitchFamily="18" charset="0"/>
                          </a:rPr>
                          <m:t>𝑦</m:t>
                        </m:r>
                      </m:num>
                      <m:den>
                        <m:r>
                          <a:rPr lang="en-US" altLang="zh-CN" sz="2800" b="0" i="1" dirty="0" smtClean="0">
                            <a:latin typeface="Cambria Math" panose="02040503050406030204" pitchFamily="18" charset="0"/>
                          </a:rPr>
                          <m:t>𝑑</m:t>
                        </m:r>
                        <m:r>
                          <a:rPr lang="en-US" altLang="zh-CN" sz="2800" b="0" i="1" dirty="0" smtClean="0">
                            <a:latin typeface="Cambria Math" panose="02040503050406030204" pitchFamily="18" charset="0"/>
                          </a:rPr>
                          <m:t> </m:t>
                        </m:r>
                        <m:r>
                          <a:rPr lang="en-US" altLang="zh-CN" sz="2800" b="0" i="1" dirty="0" smtClean="0">
                            <a:latin typeface="Cambria Math" panose="02040503050406030204" pitchFamily="18" charset="0"/>
                          </a:rPr>
                          <m:t>𝑡</m:t>
                        </m:r>
                      </m:den>
                    </m:f>
                    <m:r>
                      <a:rPr lang="en-US" altLang="zh-CN" sz="2800" b="0" i="1" dirty="0" smtClean="0">
                        <a:latin typeface="Cambria Math" panose="02040503050406030204" pitchFamily="18" charset="0"/>
                      </a:rPr>
                      <m:t>=</m:t>
                    </m:r>
                    <m:r>
                      <a:rPr lang="zh-CN" altLang="en-US" sz="2800" b="0" i="1" dirty="0" smtClean="0">
                        <a:latin typeface="Cambria Math" panose="02040503050406030204" pitchFamily="18" charset="0"/>
                      </a:rPr>
                      <m:t>𝜆</m:t>
                    </m:r>
                    <m:r>
                      <a:rPr lang="en-US" altLang="zh-CN" sz="2800" b="0" i="1" dirty="0" smtClean="0">
                        <a:latin typeface="Cambria Math" panose="02040503050406030204" pitchFamily="18" charset="0"/>
                      </a:rPr>
                      <m:t>𝑦</m:t>
                    </m:r>
                    <m:r>
                      <a:rPr lang="en-US" altLang="zh-CN" sz="2800" b="0" i="1" dirty="0" smtClean="0">
                        <a:latin typeface="Cambria Math" panose="02040503050406030204" pitchFamily="18" charset="0"/>
                      </a:rPr>
                      <m:t>,  </m:t>
                    </m:r>
                    <m:r>
                      <a:rPr lang="zh-CN" altLang="en-US" sz="2800" b="0" i="1" dirty="0" smtClean="0">
                        <a:latin typeface="Cambria Math" panose="02040503050406030204" pitchFamily="18" charset="0"/>
                      </a:rPr>
                      <m:t>𝜆</m:t>
                    </m:r>
                    <m:r>
                      <a:rPr lang="en-US" altLang="zh-CN" sz="2800" b="0" i="1" dirty="0" smtClean="0">
                        <a:latin typeface="Cambria Math" panose="02040503050406030204" pitchFamily="18" charset="0"/>
                      </a:rPr>
                      <m:t>=</m:t>
                    </m:r>
                    <m:r>
                      <a:rPr lang="zh-CN" altLang="en-US" sz="2800" b="0" i="1" dirty="0" smtClean="0">
                        <a:latin typeface="Cambria Math" panose="02040503050406030204" pitchFamily="18" charset="0"/>
                      </a:rPr>
                      <m:t>𝛼</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𝑖</m:t>
                    </m:r>
                    <m:r>
                      <a:rPr lang="zh-CN" altLang="en-US" sz="2800" b="0" i="1" dirty="0" smtClean="0">
                        <a:latin typeface="Cambria Math" panose="02040503050406030204" pitchFamily="18" charset="0"/>
                      </a:rPr>
                      <m:t>𝛽</m:t>
                    </m:r>
                    <m:r>
                      <a:rPr lang="en-US" altLang="zh-CN" sz="2800" b="0" i="1" dirty="0" smtClean="0">
                        <a:latin typeface="Cambria Math" panose="02040503050406030204" pitchFamily="18" charset="0"/>
                      </a:rPr>
                      <m:t>,   </m:t>
                    </m:r>
                    <m:r>
                      <a:rPr lang="zh-CN" altLang="en-US" sz="2800" b="0" i="1" dirty="0" smtClean="0">
                        <a:latin typeface="Cambria Math" panose="02040503050406030204" pitchFamily="18" charset="0"/>
                      </a:rPr>
                      <m:t>𝛼</m:t>
                    </m:r>
                    <m:r>
                      <a:rPr lang="en-US" altLang="zh-CN" sz="2800" b="0" i="1" dirty="0" smtClean="0">
                        <a:latin typeface="Cambria Math" panose="02040503050406030204" pitchFamily="18" charset="0"/>
                      </a:rPr>
                      <m:t>&lt;0</m:t>
                    </m:r>
                  </m:oMath>
                </a14:m>
                <a:r>
                  <a:rPr lang="zh-CN" altLang="en-US" sz="2800" dirty="0"/>
                  <a:t>    </a:t>
                </a:r>
                <a:r>
                  <a:rPr lang="en-US" altLang="zh-CN" sz="2800" dirty="0"/>
                  <a:t>(3.5.42)</a:t>
                </a:r>
              </a:p>
              <a:p>
                <a:pPr marL="0" indent="0">
                  <a:buNone/>
                </a:pPr>
                <a:r>
                  <a:rPr lang="zh-CN" altLang="en-US" sz="2800" dirty="0"/>
                  <a:t>其递推公式为：</a:t>
                </a:r>
              </a:p>
              <a:p>
                <a:pPr marL="0" indent="0">
                  <a:buNone/>
                </a:pPr>
                <a:r>
                  <a:rPr lang="zh-CN" altLang="en-US" sz="2800" dirty="0"/>
                  <a:t>   </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b="0" i="1" smtClean="0">
                            <a:latin typeface="Cambria Math" panose="02040503050406030204" pitchFamily="18" charset="0"/>
                          </a:rPr>
                          <m:t>𝑛</m:t>
                        </m:r>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b="0" i="1" smtClean="0">
                            <a:latin typeface="Cambria Math" panose="02040503050406030204" pitchFamily="18" charset="0"/>
                          </a:rPr>
                          <m:t>𝑛</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h</m:t>
                    </m:r>
                    <m:r>
                      <a:rPr lang="zh-CN" altLang="en-US" sz="2800" b="0" i="1" smtClean="0">
                        <a:latin typeface="Cambria Math" panose="02040503050406030204" pitchFamily="18" charset="0"/>
                      </a:rPr>
                      <m:t>𝜆</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b="0" i="1" smtClean="0">
                            <a:latin typeface="Cambria Math" panose="02040503050406030204" pitchFamily="18" charset="0"/>
                          </a:rPr>
                          <m:t>𝑛</m:t>
                        </m:r>
                      </m:sub>
                    </m:sSub>
                  </m:oMath>
                </a14:m>
                <a:r>
                  <a:rPr lang="zh-CN" altLang="en-US" sz="2800" dirty="0"/>
                  <a:t>                 </a:t>
                </a:r>
                <a:r>
                  <a:rPr lang="en-US" altLang="zh-CN" sz="2800" dirty="0"/>
                  <a:t>(3.5.43)</a:t>
                </a:r>
              </a:p>
              <a:p>
                <a:pPr marL="0" indent="0">
                  <a:buNone/>
                </a:pPr>
                <a:r>
                  <a:rPr lang="zh-CN" altLang="en-US" sz="2800" dirty="0"/>
                  <a:t>假定</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b="0" i="1" smtClean="0">
                            <a:latin typeface="Cambria Math" panose="02040503050406030204" pitchFamily="18" charset="0"/>
                          </a:rPr>
                          <m:t>𝑘</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𝑘</m:t>
                    </m:r>
                    <m:r>
                      <a:rPr lang="en-US" altLang="zh-CN" sz="2800" b="0" i="1" smtClean="0">
                        <a:latin typeface="Cambria Math" panose="02040503050406030204" pitchFamily="18" charset="0"/>
                      </a:rPr>
                      <m:t>=0,1,2,⋯</m:t>
                    </m:r>
                    <m:r>
                      <a:rPr lang="en-US" altLang="zh-CN" sz="2800" b="0" i="0" smtClean="0">
                        <a:latin typeface="Cambria Math" panose="02040503050406030204" pitchFamily="18" charset="0"/>
                        <a:ea typeface="Cambria Math" panose="02040503050406030204" pitchFamily="18" charset="0"/>
                      </a:rPr>
                      <m:t>)</m:t>
                    </m:r>
                  </m:oMath>
                </a14:m>
                <a:r>
                  <a:rPr lang="zh-CN" altLang="en-US" sz="2800" dirty="0"/>
                  <a:t> 为它的一个仿真解，另外设</a:t>
                </a:r>
                <a14:m>
                  <m:oMath xmlns:m="http://schemas.openxmlformats.org/officeDocument/2006/math">
                    <m:sSub>
                      <m:sSubPr>
                        <m:ctrlPr>
                          <a:rPr lang="en-US" altLang="zh-CN" sz="2800" i="1">
                            <a:latin typeface="Cambria Math" panose="02040503050406030204" pitchFamily="18" charset="0"/>
                          </a:rPr>
                        </m:ctrlPr>
                      </m:sSubPr>
                      <m:e>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b="0" i="1" smtClean="0">
                                <a:latin typeface="Cambria Math" panose="02040503050406030204" pitchFamily="18" charset="0"/>
                              </a:rPr>
                              <m:t>𝑘</m:t>
                            </m:r>
                          </m:sub>
                        </m:sSub>
                        <m:r>
                          <a:rPr lang="en-US" altLang="zh-CN" sz="2800" b="0" i="1" smtClean="0">
                            <a:latin typeface="Cambria Math" panose="02040503050406030204" pitchFamily="18" charset="0"/>
                          </a:rPr>
                          <m:t>+</m:t>
                        </m:r>
                        <m:r>
                          <a:rPr lang="zh-CN" altLang="en-US" sz="2800" b="0" i="1" smtClean="0">
                            <a:latin typeface="Cambria Math" panose="02040503050406030204" pitchFamily="18" charset="0"/>
                          </a:rPr>
                          <m:t>𝜀</m:t>
                        </m:r>
                      </m:e>
                      <m:sub>
                        <m:r>
                          <a:rPr lang="en-US" altLang="zh-CN" sz="2800" b="0" i="1" smtClean="0">
                            <a:latin typeface="Cambria Math" panose="02040503050406030204" pitchFamily="18" charset="0"/>
                          </a:rPr>
                          <m:t>𝑘</m:t>
                        </m:r>
                      </m:sub>
                    </m:sSub>
                    <m:r>
                      <a:rPr lang="en-US" altLang="zh-CN" sz="2800" b="0" i="1" smtClean="0">
                        <a:latin typeface="Cambria Math" panose="02040503050406030204" pitchFamily="18" charset="0"/>
                      </a:rPr>
                      <m:t>)</m:t>
                    </m:r>
                  </m:oMath>
                </a14:m>
                <a:r>
                  <a:rPr lang="zh-CN" altLang="en-US" sz="2800" dirty="0"/>
                  <a:t>为其准确解，则有</a:t>
                </a:r>
                <a:endParaRPr lang="en-US" altLang="zh-CN" sz="2800" dirty="0"/>
              </a:p>
              <a:p>
                <a:pPr marL="0" indent="0">
                  <a:buNone/>
                </a:pPr>
                <a14:m>
                  <m:oMath xmlns:m="http://schemas.openxmlformats.org/officeDocument/2006/math">
                    <m:d>
                      <m:dPr>
                        <m:ctrlPr>
                          <a:rPr lang="en-US" altLang="zh-CN" sz="2800" b="0" i="1" smtClean="0">
                            <a:latin typeface="Cambria Math" panose="02040503050406030204" pitchFamily="18" charset="0"/>
                          </a:rPr>
                        </m:ctrlPr>
                      </m:dPr>
                      <m:e>
                        <m:sSub>
                          <m:sSubPr>
                            <m:ctrlPr>
                              <a:rPr lang="en-US" altLang="zh-CN" sz="2800" i="1">
                                <a:latin typeface="Cambria Math" panose="02040503050406030204" pitchFamily="18" charset="0"/>
                              </a:rPr>
                            </m:ctrlPr>
                          </m:sSub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b="0" i="1" smtClean="0">
                                    <a:latin typeface="Cambria Math" panose="02040503050406030204" pitchFamily="18" charset="0"/>
                                  </a:rPr>
                                  <m:t>𝑛</m:t>
                                </m:r>
                                <m:r>
                                  <a:rPr lang="en-US" altLang="zh-CN" sz="2800" b="0" i="1" smtClean="0">
                                    <a:latin typeface="Cambria Math" panose="02040503050406030204" pitchFamily="18" charset="0"/>
                                  </a:rPr>
                                  <m:t>+1</m:t>
                                </m:r>
                              </m:sub>
                            </m:sSub>
                            <m:r>
                              <a:rPr lang="en-US" altLang="zh-CN" sz="2800" i="1">
                                <a:latin typeface="Cambria Math" panose="02040503050406030204" pitchFamily="18" charset="0"/>
                              </a:rPr>
                              <m:t>+</m:t>
                            </m:r>
                            <m:r>
                              <a:rPr lang="zh-CN" altLang="en-US" sz="2800" i="1">
                                <a:latin typeface="Cambria Math" panose="02040503050406030204" pitchFamily="18" charset="0"/>
                              </a:rPr>
                              <m:t>𝜀</m:t>
                            </m:r>
                          </m:e>
                          <m:sub>
                            <m:r>
                              <a:rPr lang="en-US" altLang="zh-CN" sz="2800" b="0" i="1" smtClean="0">
                                <a:latin typeface="Cambria Math" panose="02040503050406030204" pitchFamily="18" charset="0"/>
                              </a:rPr>
                              <m:t>𝑛</m:t>
                            </m:r>
                            <m:r>
                              <a:rPr lang="en-US" altLang="zh-CN" sz="2800" b="0" i="1" smtClean="0">
                                <a:latin typeface="Cambria Math" panose="02040503050406030204" pitchFamily="18" charset="0"/>
                              </a:rPr>
                              <m:t>+1</m:t>
                            </m:r>
                          </m:sub>
                        </m:sSub>
                      </m:e>
                    </m:d>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b="0" i="1" smtClean="0">
                                <a:latin typeface="Cambria Math" panose="02040503050406030204" pitchFamily="18" charset="0"/>
                              </a:rPr>
                              <m:t>𝑛</m:t>
                            </m:r>
                          </m:sub>
                        </m:sSub>
                        <m:r>
                          <a:rPr lang="en-US" altLang="zh-CN" sz="2800" i="1">
                            <a:latin typeface="Cambria Math" panose="02040503050406030204" pitchFamily="18" charset="0"/>
                          </a:rPr>
                          <m:t>+</m:t>
                        </m:r>
                        <m:r>
                          <a:rPr lang="zh-CN" altLang="en-US" sz="2800" i="1">
                            <a:latin typeface="Cambria Math" panose="02040503050406030204" pitchFamily="18" charset="0"/>
                          </a:rPr>
                          <m:t>𝜀</m:t>
                        </m:r>
                      </m:e>
                      <m:sub>
                        <m:r>
                          <a:rPr lang="en-US" altLang="zh-CN" sz="2800" b="0" i="1" smtClean="0">
                            <a:latin typeface="Cambria Math" panose="02040503050406030204" pitchFamily="18" charset="0"/>
                          </a:rPr>
                          <m:t>𝑛</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h</m:t>
                    </m:r>
                    <m:r>
                      <a:rPr lang="zh-CN" altLang="en-US" sz="2800" b="0" i="1" smtClean="0">
                        <a:latin typeface="Cambria Math" panose="02040503050406030204" pitchFamily="18" charset="0"/>
                      </a:rPr>
                      <m:t>𝜆</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𝑦</m:t>
                            </m:r>
                          </m:e>
                          <m:sub>
                            <m:r>
                              <a:rPr lang="en-US" altLang="zh-CN" sz="2800" b="0" i="1" smtClean="0">
                                <a:latin typeface="Cambria Math" panose="02040503050406030204" pitchFamily="18" charset="0"/>
                              </a:rPr>
                              <m:t>𝑛</m:t>
                            </m:r>
                          </m:sub>
                        </m:sSub>
                        <m:r>
                          <a:rPr lang="en-US" altLang="zh-CN" sz="2800" i="1">
                            <a:latin typeface="Cambria Math" panose="02040503050406030204" pitchFamily="18" charset="0"/>
                          </a:rPr>
                          <m:t>+</m:t>
                        </m:r>
                        <m:r>
                          <a:rPr lang="zh-CN" altLang="en-US" sz="2800" i="1">
                            <a:latin typeface="Cambria Math" panose="02040503050406030204" pitchFamily="18" charset="0"/>
                          </a:rPr>
                          <m:t>𝜀</m:t>
                        </m:r>
                      </m:e>
                      <m:sub>
                        <m:r>
                          <a:rPr lang="en-US" altLang="zh-CN" sz="2800" b="0" i="1" smtClean="0">
                            <a:latin typeface="Cambria Math" panose="02040503050406030204" pitchFamily="18" charset="0"/>
                          </a:rPr>
                          <m:t>𝑛</m:t>
                        </m:r>
                      </m:sub>
                    </m:sSub>
                    <m:r>
                      <a:rPr lang="en-US" altLang="zh-CN" sz="2800" b="0" i="1" smtClean="0">
                        <a:latin typeface="Cambria Math" panose="02040503050406030204" pitchFamily="18" charset="0"/>
                      </a:rPr>
                      <m:t>) </m:t>
                    </m:r>
                  </m:oMath>
                </a14:m>
                <a:r>
                  <a:rPr lang="en-US" altLang="zh-CN" sz="2800" dirty="0"/>
                  <a:t>     (3.5.44)</a:t>
                </a:r>
              </a:p>
              <a:p>
                <a:pPr marL="0" indent="0">
                  <a:buNone/>
                </a:pPr>
                <a:endParaRPr lang="zh-CN" altLang="en-US" dirty="0"/>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11560" y="2017713"/>
                <a:ext cx="8343528" cy="4114800"/>
              </a:xfrm>
              <a:blipFill>
                <a:blip r:embed="rId2"/>
                <a:stretch>
                  <a:fillRect l="-1461" t="-1926" r="-1023"/>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120</a:t>
            </a:fld>
            <a:endParaRPr lang="en-US" altLang="zh-CN"/>
          </a:p>
        </p:txBody>
      </p:sp>
    </p:spTree>
    <p:extLst>
      <p:ext uri="{BB962C8B-B14F-4D97-AF65-F5344CB8AC3E}">
        <p14:creationId xmlns:p14="http://schemas.microsoft.com/office/powerpoint/2010/main" val="175539422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82688" y="1772816"/>
                <a:ext cx="7772400" cy="4359697"/>
              </a:xfrm>
            </p:spPr>
            <p:txBody>
              <a:bodyPr/>
              <a:lstStyle/>
              <a:p>
                <a:r>
                  <a:rPr lang="zh-CN" altLang="en-US" sz="2600" dirty="0"/>
                  <a:t>式</a:t>
                </a:r>
                <a:r>
                  <a:rPr lang="en-US" altLang="zh-CN" sz="2600" dirty="0"/>
                  <a:t>(3.5.44)</a:t>
                </a:r>
                <a:r>
                  <a:rPr lang="zh-CN" altLang="en-US" sz="2600" dirty="0"/>
                  <a:t>减去式</a:t>
                </a:r>
                <a:r>
                  <a:rPr lang="en-US" altLang="zh-CN" sz="2600" dirty="0"/>
                  <a:t>(3.5.43)</a:t>
                </a:r>
                <a:r>
                  <a:rPr lang="zh-CN" altLang="en-US" sz="2600" dirty="0"/>
                  <a:t>，可得</a:t>
                </a:r>
                <a:endParaRPr lang="en-US" altLang="zh-CN" sz="2600" dirty="0"/>
              </a:p>
              <a:p>
                <a:pPr marL="0" indent="0">
                  <a:buNone/>
                </a:pPr>
                <a14:m>
                  <m:oMathPara xmlns:m="http://schemas.openxmlformats.org/officeDocument/2006/math">
                    <m:oMathParaPr>
                      <m:jc m:val="centerGroup"/>
                    </m:oMathParaPr>
                    <m:oMath xmlns:m="http://schemas.openxmlformats.org/officeDocument/2006/math">
                      <m:sSub>
                        <m:sSubPr>
                          <m:ctrlPr>
                            <a:rPr lang="en-US" altLang="zh-CN" sz="2600" i="1">
                              <a:latin typeface="Cambria Math" panose="02040503050406030204" pitchFamily="18" charset="0"/>
                            </a:rPr>
                          </m:ctrlPr>
                        </m:sSubPr>
                        <m:e>
                          <m:r>
                            <a:rPr lang="zh-CN" altLang="en-US" sz="2600" i="1">
                              <a:latin typeface="Cambria Math" panose="02040503050406030204" pitchFamily="18" charset="0"/>
                            </a:rPr>
                            <m:t>𝜀</m:t>
                          </m:r>
                        </m:e>
                        <m:sub>
                          <m:r>
                            <a:rPr lang="en-US" altLang="zh-CN" sz="2600" i="1">
                              <a:latin typeface="Cambria Math" panose="02040503050406030204" pitchFamily="18" charset="0"/>
                            </a:rPr>
                            <m:t>𝑛</m:t>
                          </m:r>
                          <m:r>
                            <a:rPr lang="en-US" altLang="zh-CN" sz="2600" i="1">
                              <a:latin typeface="Cambria Math" panose="02040503050406030204" pitchFamily="18" charset="0"/>
                            </a:rPr>
                            <m:t>+1</m:t>
                          </m:r>
                        </m:sub>
                      </m:sSub>
                      <m:r>
                        <a:rPr lang="en-US" altLang="zh-CN" sz="2600" i="1">
                          <a:latin typeface="Cambria Math" panose="02040503050406030204" pitchFamily="18" charset="0"/>
                        </a:rPr>
                        <m:t>=</m:t>
                      </m:r>
                      <m:sSub>
                        <m:sSubPr>
                          <m:ctrlPr>
                            <a:rPr lang="en-US" altLang="zh-CN" sz="2600" i="1">
                              <a:latin typeface="Cambria Math" panose="02040503050406030204" pitchFamily="18" charset="0"/>
                            </a:rPr>
                          </m:ctrlPr>
                        </m:sSubPr>
                        <m:e>
                          <m:r>
                            <a:rPr lang="zh-CN" altLang="en-US" sz="2600" i="1">
                              <a:latin typeface="Cambria Math" panose="02040503050406030204" pitchFamily="18" charset="0"/>
                            </a:rPr>
                            <m:t>𝜀</m:t>
                          </m:r>
                        </m:e>
                        <m:sub>
                          <m:r>
                            <a:rPr lang="en-US" altLang="zh-CN" sz="2600" i="1">
                              <a:latin typeface="Cambria Math" panose="02040503050406030204" pitchFamily="18" charset="0"/>
                            </a:rPr>
                            <m:t>𝑛</m:t>
                          </m:r>
                        </m:sub>
                      </m:sSub>
                      <m:r>
                        <a:rPr lang="en-US" altLang="zh-CN" sz="2600" i="1">
                          <a:latin typeface="Cambria Math" panose="02040503050406030204" pitchFamily="18" charset="0"/>
                        </a:rPr>
                        <m:t>+</m:t>
                      </m:r>
                      <m:r>
                        <a:rPr lang="en-US" altLang="zh-CN" sz="2600" i="1">
                          <a:latin typeface="Cambria Math" panose="02040503050406030204" pitchFamily="18" charset="0"/>
                        </a:rPr>
                        <m:t>h</m:t>
                      </m:r>
                      <m:r>
                        <a:rPr lang="zh-CN" altLang="en-US" sz="2600" i="1">
                          <a:latin typeface="Cambria Math" panose="02040503050406030204" pitchFamily="18" charset="0"/>
                        </a:rPr>
                        <m:t>𝜆</m:t>
                      </m:r>
                      <m:sSub>
                        <m:sSubPr>
                          <m:ctrlPr>
                            <a:rPr lang="en-US" altLang="zh-CN" sz="2600" i="1">
                              <a:latin typeface="Cambria Math" panose="02040503050406030204" pitchFamily="18" charset="0"/>
                            </a:rPr>
                          </m:ctrlPr>
                        </m:sSubPr>
                        <m:e>
                          <m:r>
                            <a:rPr lang="zh-CN" altLang="en-US" sz="2600" i="1">
                              <a:latin typeface="Cambria Math" panose="02040503050406030204" pitchFamily="18" charset="0"/>
                            </a:rPr>
                            <m:t>𝜀</m:t>
                          </m:r>
                        </m:e>
                        <m:sub>
                          <m:r>
                            <a:rPr lang="en-US" altLang="zh-CN" sz="2600" i="1">
                              <a:latin typeface="Cambria Math" panose="02040503050406030204" pitchFamily="18" charset="0"/>
                            </a:rPr>
                            <m:t>𝑛</m:t>
                          </m:r>
                        </m:sub>
                      </m:sSub>
                    </m:oMath>
                  </m:oMathPara>
                </a14:m>
                <a:endParaRPr lang="zh-CN" altLang="en-US" sz="2600" dirty="0"/>
              </a:p>
              <a:p>
                <a:r>
                  <a:rPr lang="zh-CN" altLang="en-US" sz="2600" dirty="0"/>
                  <a:t> 整理后为</a:t>
                </a:r>
                <a:endParaRPr lang="en-US" altLang="zh-CN" sz="2600" dirty="0"/>
              </a:p>
              <a:p>
                <a:pPr marL="0" indent="0">
                  <a:buNone/>
                </a:pPr>
                <a:r>
                  <a:rPr lang="en-US" altLang="zh-CN" sz="2600" dirty="0"/>
                  <a:t>   </a:t>
                </a:r>
                <a:r>
                  <a:rPr lang="zh-CN" altLang="en-US" sz="2600" dirty="0"/>
                  <a:t> </a:t>
                </a:r>
                <a14:m>
                  <m:oMath xmlns:m="http://schemas.openxmlformats.org/officeDocument/2006/math">
                    <m:sSub>
                      <m:sSubPr>
                        <m:ctrlPr>
                          <a:rPr lang="en-US" altLang="zh-CN" sz="2600" i="1">
                            <a:latin typeface="Cambria Math" panose="02040503050406030204" pitchFamily="18" charset="0"/>
                          </a:rPr>
                        </m:ctrlPr>
                      </m:sSubPr>
                      <m:e>
                        <m:r>
                          <a:rPr lang="zh-CN" altLang="en-US" sz="2600" i="1">
                            <a:latin typeface="Cambria Math" panose="02040503050406030204" pitchFamily="18" charset="0"/>
                          </a:rPr>
                          <m:t>𝜀</m:t>
                        </m:r>
                      </m:e>
                      <m:sub>
                        <m:r>
                          <a:rPr lang="en-US" altLang="zh-CN" sz="2600" i="1">
                            <a:latin typeface="Cambria Math" panose="02040503050406030204" pitchFamily="18" charset="0"/>
                          </a:rPr>
                          <m:t>𝑛</m:t>
                        </m:r>
                        <m:r>
                          <a:rPr lang="en-US" altLang="zh-CN" sz="2600" i="1">
                            <a:latin typeface="Cambria Math" panose="02040503050406030204" pitchFamily="18" charset="0"/>
                          </a:rPr>
                          <m:t>+1</m:t>
                        </m:r>
                      </m:sub>
                    </m:sSub>
                    <m:r>
                      <a:rPr lang="en-US" altLang="zh-CN" sz="2600" b="0" i="1" smtClean="0">
                        <a:latin typeface="Cambria Math" panose="02040503050406030204" pitchFamily="18" charset="0"/>
                      </a:rPr>
                      <m:t>−(1</m:t>
                    </m:r>
                    <m:r>
                      <a:rPr lang="en-US" altLang="zh-CN" sz="2600" i="1">
                        <a:latin typeface="Cambria Math" panose="02040503050406030204" pitchFamily="18" charset="0"/>
                      </a:rPr>
                      <m:t>+</m:t>
                    </m:r>
                    <m:r>
                      <a:rPr lang="en-US" altLang="zh-CN" sz="2600" i="1">
                        <a:latin typeface="Cambria Math" panose="02040503050406030204" pitchFamily="18" charset="0"/>
                      </a:rPr>
                      <m:t>h</m:t>
                    </m:r>
                    <m:r>
                      <a:rPr lang="zh-CN" altLang="en-US" sz="2600" i="1">
                        <a:latin typeface="Cambria Math" panose="02040503050406030204" pitchFamily="18" charset="0"/>
                      </a:rPr>
                      <m:t>𝜆</m:t>
                    </m:r>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m:t>
                        </m:r>
                        <m:r>
                          <a:rPr lang="zh-CN" altLang="en-US" sz="2600" i="1">
                            <a:latin typeface="Cambria Math" panose="02040503050406030204" pitchFamily="18" charset="0"/>
                          </a:rPr>
                          <m:t>𝜀</m:t>
                        </m:r>
                      </m:e>
                      <m:sub>
                        <m:r>
                          <a:rPr lang="en-US" altLang="zh-CN" sz="2600" i="1">
                            <a:latin typeface="Cambria Math" panose="02040503050406030204" pitchFamily="18" charset="0"/>
                          </a:rPr>
                          <m:t>𝑛</m:t>
                        </m:r>
                      </m:sub>
                    </m:sSub>
                    <m:r>
                      <a:rPr lang="en-US" altLang="zh-CN" sz="2600" b="0" i="1" smtClean="0">
                        <a:latin typeface="Cambria Math" panose="02040503050406030204" pitchFamily="18" charset="0"/>
                      </a:rPr>
                      <m:t>=0</m:t>
                    </m:r>
                  </m:oMath>
                </a14:m>
                <a:r>
                  <a:rPr lang="zh-CN" altLang="en-US" sz="2600" dirty="0"/>
                  <a:t>      </a:t>
                </a:r>
                <a:r>
                  <a:rPr lang="en-US" altLang="zh-CN" sz="2600" dirty="0"/>
                  <a:t>(3.5.45) </a:t>
                </a:r>
              </a:p>
              <a:p>
                <a:r>
                  <a:rPr lang="zh-CN" altLang="en-US" sz="2600" dirty="0"/>
                  <a:t>其特征方程为</a:t>
                </a:r>
              </a:p>
              <a:p>
                <a:pPr marL="0" indent="0">
                  <a:buNone/>
                </a:pPr>
                <a:r>
                  <a:rPr lang="zh-CN" altLang="en-US" sz="2600" dirty="0"/>
                  <a:t>      </a:t>
                </a:r>
                <a14:m>
                  <m:oMath xmlns:m="http://schemas.openxmlformats.org/officeDocument/2006/math">
                    <m:r>
                      <m:rPr>
                        <m:sty m:val="p"/>
                      </m:rPr>
                      <a:rPr lang="en-US" altLang="zh-CN" sz="2600" b="0" i="0" smtClean="0">
                        <a:latin typeface="Cambria Math" panose="02040503050406030204" pitchFamily="18" charset="0"/>
                      </a:rPr>
                      <m:t>z</m:t>
                    </m:r>
                    <m:r>
                      <a:rPr lang="en-US" altLang="zh-CN" sz="2600" i="1">
                        <a:latin typeface="Cambria Math" panose="02040503050406030204" pitchFamily="18" charset="0"/>
                      </a:rPr>
                      <m:t>−(1+</m:t>
                    </m:r>
                    <m:r>
                      <a:rPr lang="en-US" altLang="zh-CN" sz="2600" i="1">
                        <a:latin typeface="Cambria Math" panose="02040503050406030204" pitchFamily="18" charset="0"/>
                      </a:rPr>
                      <m:t>h</m:t>
                    </m:r>
                    <m:r>
                      <a:rPr lang="zh-CN" altLang="en-US" sz="2600" i="1">
                        <a:latin typeface="Cambria Math" panose="02040503050406030204" pitchFamily="18" charset="0"/>
                      </a:rPr>
                      <m:t>𝜆</m:t>
                    </m:r>
                    <m:r>
                      <a:rPr lang="en-US" altLang="zh-CN" sz="2600" b="0" i="1" smtClean="0">
                        <a:latin typeface="Cambria Math" panose="02040503050406030204" pitchFamily="18" charset="0"/>
                      </a:rPr>
                      <m:t>)</m:t>
                    </m:r>
                    <m:r>
                      <a:rPr lang="en-US" altLang="zh-CN" sz="2600" i="1">
                        <a:latin typeface="Cambria Math" panose="02040503050406030204" pitchFamily="18" charset="0"/>
                      </a:rPr>
                      <m:t>=0</m:t>
                    </m:r>
                  </m:oMath>
                </a14:m>
                <a:r>
                  <a:rPr lang="zh-CN" altLang="en-US" sz="2600" dirty="0"/>
                  <a:t>             </a:t>
                </a:r>
                <a:r>
                  <a:rPr lang="en-US" altLang="zh-CN" sz="2600" dirty="0"/>
                  <a:t>(3.5.46)</a:t>
                </a:r>
              </a:p>
              <a:p>
                <a:r>
                  <a:rPr lang="zh-CN" altLang="en-US" sz="2600" dirty="0"/>
                  <a:t>为了使误差序列</a:t>
                </a:r>
                <a14:m>
                  <m:oMath xmlns:m="http://schemas.openxmlformats.org/officeDocument/2006/math">
                    <m:sSub>
                      <m:sSubPr>
                        <m:ctrlPr>
                          <a:rPr lang="en-US" altLang="zh-CN" sz="2600" i="1">
                            <a:latin typeface="Cambria Math" panose="02040503050406030204" pitchFamily="18" charset="0"/>
                          </a:rPr>
                        </m:ctrlPr>
                      </m:sSubPr>
                      <m:e>
                        <m:r>
                          <a:rPr lang="zh-CN" altLang="en-US" sz="2600" i="1">
                            <a:latin typeface="Cambria Math" panose="02040503050406030204" pitchFamily="18" charset="0"/>
                          </a:rPr>
                          <m:t>𝜀</m:t>
                        </m:r>
                      </m:e>
                      <m:sub>
                        <m:r>
                          <a:rPr lang="en-US" altLang="zh-CN" sz="2600" b="0" i="1" smtClean="0">
                            <a:latin typeface="Cambria Math" panose="02040503050406030204" pitchFamily="18" charset="0"/>
                          </a:rPr>
                          <m:t>𝑘</m:t>
                        </m:r>
                      </m:sub>
                    </m:sSub>
                  </m:oMath>
                </a14:m>
                <a:r>
                  <a:rPr lang="zh-CN" altLang="en-US" sz="2600" dirty="0"/>
                  <a:t>不随</a:t>
                </a:r>
                <a:r>
                  <a:rPr lang="en-US" altLang="zh-CN" sz="2600" dirty="0"/>
                  <a:t>k</a:t>
                </a:r>
                <a:r>
                  <a:rPr lang="zh-CN" altLang="en-US" sz="2600" dirty="0"/>
                  <a:t>的增加而增加，必须要求其特征根</a:t>
                </a:r>
                <a14:m>
                  <m:oMath xmlns:m="http://schemas.openxmlformats.org/officeDocument/2006/math">
                    <m:r>
                      <m:rPr>
                        <m:sty m:val="p"/>
                      </m:rPr>
                      <a:rPr lang="en-US" altLang="zh-CN" sz="2600">
                        <a:latin typeface="Cambria Math" panose="02040503050406030204" pitchFamily="18" charset="0"/>
                      </a:rPr>
                      <m:t>z</m:t>
                    </m:r>
                    <m:r>
                      <a:rPr lang="en-US" altLang="zh-CN" sz="2600" b="0" i="1" smtClean="0">
                        <a:latin typeface="Cambria Math" panose="02040503050406030204" pitchFamily="18" charset="0"/>
                      </a:rPr>
                      <m:t>=</m:t>
                    </m:r>
                    <m:r>
                      <a:rPr lang="en-US" altLang="zh-CN" sz="2600" i="1">
                        <a:latin typeface="Cambria Math" panose="02040503050406030204" pitchFamily="18" charset="0"/>
                      </a:rPr>
                      <m:t>1+</m:t>
                    </m:r>
                    <m:r>
                      <a:rPr lang="en-US" altLang="zh-CN" sz="2600" i="1">
                        <a:latin typeface="Cambria Math" panose="02040503050406030204" pitchFamily="18" charset="0"/>
                      </a:rPr>
                      <m:t>h</m:t>
                    </m:r>
                    <m:r>
                      <a:rPr lang="zh-CN" altLang="en-US" sz="2600" i="1">
                        <a:latin typeface="Cambria Math" panose="02040503050406030204" pitchFamily="18" charset="0"/>
                      </a:rPr>
                      <m:t>𝜆</m:t>
                    </m:r>
                  </m:oMath>
                </a14:m>
                <a:r>
                  <a:rPr lang="zh-CN" altLang="en-US" sz="2600" dirty="0"/>
                  <a:t>在单位圆内，即</a:t>
                </a:r>
                <a14:m>
                  <m:oMath xmlns:m="http://schemas.openxmlformats.org/officeDocument/2006/math">
                    <m:r>
                      <m:rPr>
                        <m:sty m:val="p"/>
                      </m:rPr>
                      <a:rPr lang="en-US" altLang="zh-CN" sz="2600">
                        <a:latin typeface="Cambria Math" panose="02040503050406030204" pitchFamily="18" charset="0"/>
                      </a:rPr>
                      <m:t>z</m:t>
                    </m:r>
                    <m:r>
                      <a:rPr lang="en-US" altLang="zh-CN" sz="2600" i="1">
                        <a:latin typeface="Cambria Math" panose="02040503050406030204" pitchFamily="18" charset="0"/>
                      </a:rPr>
                      <m:t>−</m:t>
                    </m:r>
                    <m:d>
                      <m:dPr>
                        <m:begChr m:val="|"/>
                        <m:endChr m:val="|"/>
                        <m:ctrlPr>
                          <a:rPr lang="en-US" altLang="zh-CN" sz="2600" i="1" smtClean="0">
                            <a:latin typeface="Cambria Math" panose="02040503050406030204" pitchFamily="18" charset="0"/>
                          </a:rPr>
                        </m:ctrlPr>
                      </m:dPr>
                      <m:e>
                        <m:r>
                          <a:rPr lang="en-US" altLang="zh-CN" sz="2600" i="1">
                            <a:latin typeface="Cambria Math" panose="02040503050406030204" pitchFamily="18" charset="0"/>
                          </a:rPr>
                          <m:t>1+</m:t>
                        </m:r>
                        <m:r>
                          <a:rPr lang="en-US" altLang="zh-CN" sz="2600" i="1">
                            <a:latin typeface="Cambria Math" panose="02040503050406030204" pitchFamily="18" charset="0"/>
                          </a:rPr>
                          <m:t>h</m:t>
                        </m:r>
                        <m:r>
                          <a:rPr lang="zh-CN" altLang="en-US" sz="2600" i="1">
                            <a:latin typeface="Cambria Math" panose="02040503050406030204" pitchFamily="18" charset="0"/>
                          </a:rPr>
                          <m:t>𝜆</m:t>
                        </m:r>
                      </m:e>
                    </m:d>
                    <m:r>
                      <a:rPr lang="en-US" altLang="zh-CN" sz="260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1</m:t>
                    </m:r>
                  </m:oMath>
                </a14:m>
                <a:r>
                  <a:rPr lang="zh-CN" altLang="en-US" sz="2600" dirty="0"/>
                  <a:t> ，它所对应的区域就是</a:t>
                </a:r>
                <a:r>
                  <a:rPr lang="en-US" altLang="zh-CN" sz="2600" dirty="0"/>
                  <a:t>1</a:t>
                </a:r>
                <a:r>
                  <a:rPr lang="zh-CN" altLang="en-US" sz="2600" dirty="0"/>
                  <a:t>阶显式亚当姆斯算法的稳定域。</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82688" y="1772816"/>
                <a:ext cx="7772400" cy="4359697"/>
              </a:xfrm>
              <a:blipFill>
                <a:blip r:embed="rId2"/>
                <a:stretch>
                  <a:fillRect l="-314" t="-1399" b="-545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121</a:t>
            </a:fld>
            <a:endParaRPr lang="en-US" altLang="zh-CN"/>
          </a:p>
        </p:txBody>
      </p:sp>
    </p:spTree>
    <p:extLst>
      <p:ext uri="{BB962C8B-B14F-4D97-AF65-F5344CB8AC3E}">
        <p14:creationId xmlns:p14="http://schemas.microsoft.com/office/powerpoint/2010/main" val="377362112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800" dirty="0"/>
                  <a:t>如果系统方程</a:t>
                </a:r>
                <a14:m>
                  <m:oMath xmlns:m="http://schemas.openxmlformats.org/officeDocument/2006/math">
                    <m:r>
                      <a:rPr lang="zh-CN" altLang="en-US" sz="2800" i="1" dirty="0" smtClean="0">
                        <a:latin typeface="Cambria Math" panose="02040503050406030204" pitchFamily="18" charset="0"/>
                      </a:rPr>
                      <m:t>𝜆</m:t>
                    </m:r>
                    <m:r>
                      <a:rPr lang="en-US" altLang="zh-CN" sz="2800" b="0" i="1" dirty="0" smtClean="0">
                        <a:latin typeface="Cambria Math" panose="02040503050406030204" pitchFamily="18" charset="0"/>
                      </a:rPr>
                      <m:t>=</m:t>
                    </m:r>
                    <m:r>
                      <a:rPr lang="zh-CN" altLang="en-US" sz="2800" b="0" i="1" dirty="0" smtClean="0">
                        <a:latin typeface="Cambria Math" panose="02040503050406030204" pitchFamily="18" charset="0"/>
                      </a:rPr>
                      <m:t>𝛼</m:t>
                    </m:r>
                  </m:oMath>
                </a14:m>
                <a:r>
                  <a:rPr lang="zh-CN" altLang="en-US" sz="2800" dirty="0"/>
                  <a:t>，</a:t>
                </a:r>
                <a14:m>
                  <m:oMath xmlns:m="http://schemas.openxmlformats.org/officeDocument/2006/math">
                    <m:r>
                      <a:rPr lang="zh-CN" altLang="en-US" sz="2800" i="1" dirty="0">
                        <a:latin typeface="Cambria Math" panose="02040503050406030204" pitchFamily="18" charset="0"/>
                      </a:rPr>
                      <m:t>𝛼</m:t>
                    </m:r>
                    <m:r>
                      <a:rPr lang="en-US" altLang="zh-CN" sz="2800" b="0" i="1" dirty="0" smtClean="0">
                        <a:latin typeface="Cambria Math" panose="02040503050406030204" pitchFamily="18" charset="0"/>
                      </a:rPr>
                      <m:t>&lt;0</m:t>
                    </m:r>
                  </m:oMath>
                </a14:m>
                <a:r>
                  <a:rPr lang="zh-CN" altLang="en-US" sz="2800" dirty="0"/>
                  <a:t>，运用</a:t>
                </a:r>
                <a:r>
                  <a:rPr lang="en-US" altLang="zh-CN" sz="2800" dirty="0"/>
                  <a:t>1</a:t>
                </a:r>
                <a:r>
                  <a:rPr lang="zh-CN" altLang="en-US" sz="2800" dirty="0"/>
                  <a:t>阶显式亚当姆斯算法时，只有</a:t>
                </a:r>
                <a14:m>
                  <m:oMath xmlns:m="http://schemas.openxmlformats.org/officeDocument/2006/math">
                    <m:r>
                      <a:rPr lang="en-US" altLang="zh-CN" sz="2800" b="0" i="1" dirty="0" smtClean="0">
                        <a:latin typeface="Cambria Math" panose="02040503050406030204" pitchFamily="18" charset="0"/>
                      </a:rPr>
                      <m:t>h</m:t>
                    </m:r>
                    <m:r>
                      <a:rPr lang="en-US" altLang="zh-CN" sz="2800" b="0" i="1" dirty="0" smtClean="0">
                        <a:latin typeface="Cambria Math" panose="02040503050406030204" pitchFamily="18" charset="0"/>
                        <a:ea typeface="Cambria Math" panose="02040503050406030204" pitchFamily="18" charset="0"/>
                      </a:rPr>
                      <m:t>≤2</m:t>
                    </m:r>
                    <m:d>
                      <m:dPr>
                        <m:begChr m:val="|"/>
                        <m:endChr m:val="|"/>
                        <m:ctrlPr>
                          <a:rPr lang="en-US" altLang="zh-CN" sz="2800" b="0" i="1" dirty="0" smtClean="0">
                            <a:latin typeface="Cambria Math" panose="02040503050406030204" pitchFamily="18" charset="0"/>
                            <a:ea typeface="Cambria Math" panose="02040503050406030204" pitchFamily="18" charset="0"/>
                          </a:rPr>
                        </m:ctrlPr>
                      </m:dPr>
                      <m:e>
                        <m:f>
                          <m:fPr>
                            <m:type m:val="lin"/>
                            <m:ctrlPr>
                              <a:rPr lang="en-US" altLang="zh-CN" sz="2800" b="0" i="1" dirty="0" smtClean="0">
                                <a:latin typeface="Cambria Math" panose="02040503050406030204" pitchFamily="18" charset="0"/>
                                <a:ea typeface="Cambria Math" panose="02040503050406030204" pitchFamily="18" charset="0"/>
                              </a:rPr>
                            </m:ctrlPr>
                          </m:fPr>
                          <m:num>
                            <m:r>
                              <a:rPr lang="en-US" altLang="zh-CN" sz="2800" b="0" i="1" dirty="0" smtClean="0">
                                <a:latin typeface="Cambria Math" panose="02040503050406030204" pitchFamily="18" charset="0"/>
                                <a:ea typeface="Cambria Math" panose="02040503050406030204" pitchFamily="18" charset="0"/>
                              </a:rPr>
                              <m:t>1</m:t>
                            </m:r>
                          </m:num>
                          <m:den>
                            <m:r>
                              <a:rPr lang="zh-CN" altLang="en-US" sz="2800" b="0" i="1" dirty="0" smtClean="0">
                                <a:latin typeface="Cambria Math" panose="02040503050406030204" pitchFamily="18" charset="0"/>
                                <a:ea typeface="Cambria Math" panose="02040503050406030204" pitchFamily="18" charset="0"/>
                              </a:rPr>
                              <m:t>𝛼</m:t>
                            </m:r>
                          </m:den>
                        </m:f>
                      </m:e>
                    </m:d>
                  </m:oMath>
                </a14:m>
                <a:r>
                  <a:rPr lang="zh-CN" altLang="en-US" sz="2800" dirty="0"/>
                  <a:t>时才能保证计算是稳定的。</a:t>
                </a:r>
              </a:p>
              <a:p>
                <a:r>
                  <a:rPr lang="zh-CN" altLang="en-US" sz="2800" dirty="0"/>
                  <a:t>假设系统方程的形式为式</a:t>
                </a:r>
                <a:r>
                  <a:rPr lang="en-US" altLang="zh-CN" sz="2800" dirty="0"/>
                  <a:t>(3.5.42)</a:t>
                </a:r>
                <a:r>
                  <a:rPr lang="zh-CN" altLang="en-US" sz="2800" dirty="0"/>
                  <a:t>，其数值积分公式为</a:t>
                </a:r>
              </a:p>
              <a:p>
                <a:pPr marL="0" indent="0">
                  <a:buNone/>
                </a:pPr>
                <a:r>
                  <a:rPr lang="zh-CN" altLang="en-US" sz="2800" dirty="0"/>
                  <a:t> </a:t>
                </a:r>
                <a14:m>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       </m:t>
                        </m:r>
                        <m:r>
                          <a:rPr lang="en-US" altLang="zh-CN" sz="2800" b="0" i="1" smtClean="0">
                            <a:latin typeface="Cambria Math" panose="02040503050406030204" pitchFamily="18" charset="0"/>
                          </a:rPr>
                          <m:t>𝑦</m:t>
                        </m:r>
                      </m:e>
                      <m:sub>
                        <m:r>
                          <a:rPr lang="en-US" altLang="zh-CN" sz="2800" b="0" i="1" smtClean="0">
                            <a:latin typeface="Cambria Math" panose="02040503050406030204" pitchFamily="18" charset="0"/>
                          </a:rPr>
                          <m:t>𝑛</m:t>
                        </m:r>
                        <m:r>
                          <a:rPr lang="en-US" altLang="zh-CN" sz="2800" b="0" i="1" smtClean="0">
                            <a:latin typeface="Cambria Math" panose="02040503050406030204" pitchFamily="18" charset="0"/>
                          </a:rPr>
                          <m:t>+1</m:t>
                        </m:r>
                      </m:sub>
                    </m:sSub>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𝑝</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h</m:t>
                    </m:r>
                    <m:r>
                      <a:rPr lang="zh-CN" altLang="en-US" sz="2800" b="0" i="1" smtClean="0">
                        <a:latin typeface="Cambria Math" panose="02040503050406030204" pitchFamily="18" charset="0"/>
                      </a:rPr>
                      <m:t>𝜆</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𝑦</m:t>
                        </m:r>
                      </m:e>
                      <m:sub>
                        <m:r>
                          <a:rPr lang="en-US" altLang="zh-CN" sz="2800" b="0" i="1" smtClean="0">
                            <a:latin typeface="Cambria Math" panose="02040503050406030204" pitchFamily="18" charset="0"/>
                          </a:rPr>
                          <m:t>𝑛</m:t>
                        </m:r>
                      </m:sub>
                    </m:sSub>
                  </m:oMath>
                </a14:m>
                <a:r>
                  <a:rPr lang="zh-CN" altLang="en-US" sz="2800" dirty="0"/>
                  <a:t>          </a:t>
                </a:r>
                <a:r>
                  <a:rPr lang="en-US" altLang="zh-CN" sz="2800" dirty="0"/>
                  <a:t>(3.5.47)</a:t>
                </a:r>
              </a:p>
              <a:p>
                <a:r>
                  <a:rPr lang="zh-CN" altLang="en-US" sz="2800" dirty="0"/>
                  <a:t>其中</a:t>
                </a:r>
                <a14:m>
                  <m:oMath xmlns:m="http://schemas.openxmlformats.org/officeDocument/2006/math">
                    <m:r>
                      <a:rPr lang="en-US" altLang="zh-CN" sz="2800" i="1">
                        <a:latin typeface="Cambria Math" panose="02040503050406030204" pitchFamily="18" charset="0"/>
                      </a:rPr>
                      <m:t>𝑝</m:t>
                    </m:r>
                    <m:r>
                      <a:rPr lang="en-US" altLang="zh-CN" sz="2800" i="1">
                        <a:latin typeface="Cambria Math" panose="02040503050406030204" pitchFamily="18" charset="0"/>
                      </a:rPr>
                      <m:t>(</m:t>
                    </m:r>
                    <m:r>
                      <a:rPr lang="en-US" altLang="zh-CN" sz="2800" i="1">
                        <a:latin typeface="Cambria Math" panose="02040503050406030204" pitchFamily="18" charset="0"/>
                      </a:rPr>
                      <m:t>h</m:t>
                    </m:r>
                    <m:r>
                      <a:rPr lang="zh-CN" altLang="en-US" sz="2800" i="1">
                        <a:latin typeface="Cambria Math" panose="02040503050406030204" pitchFamily="18" charset="0"/>
                      </a:rPr>
                      <m:t>𝜆</m:t>
                    </m:r>
                    <m:r>
                      <a:rPr lang="en-US" altLang="zh-CN" sz="2800" i="1">
                        <a:latin typeface="Cambria Math" panose="02040503050406030204" pitchFamily="18" charset="0"/>
                      </a:rPr>
                      <m:t>)</m:t>
                    </m:r>
                  </m:oMath>
                </a14:m>
                <a:r>
                  <a:rPr lang="zh-CN" altLang="en-US" sz="2800" dirty="0"/>
                  <a:t>是一个关于</a:t>
                </a:r>
                <a14:m>
                  <m:oMath xmlns:m="http://schemas.openxmlformats.org/officeDocument/2006/math">
                    <m:r>
                      <a:rPr lang="en-US" altLang="zh-CN" sz="2800" i="1">
                        <a:latin typeface="Cambria Math" panose="02040503050406030204" pitchFamily="18" charset="0"/>
                      </a:rPr>
                      <m:t>h</m:t>
                    </m:r>
                    <m:r>
                      <a:rPr lang="zh-CN" altLang="en-US" sz="2800" i="1">
                        <a:latin typeface="Cambria Math" panose="02040503050406030204" pitchFamily="18" charset="0"/>
                      </a:rPr>
                      <m:t>𝜆</m:t>
                    </m:r>
                  </m:oMath>
                </a14:m>
                <a:r>
                  <a:rPr lang="zh-CN" altLang="en-US" sz="2800" dirty="0"/>
                  <a:t>高阶多项式函数，则只有当</a:t>
                </a:r>
                <a14:m>
                  <m:oMath xmlns:m="http://schemas.openxmlformats.org/officeDocument/2006/math">
                    <m:d>
                      <m:dPr>
                        <m:begChr m:val="|"/>
                        <m:endChr m:val="|"/>
                        <m:ctrlPr>
                          <a:rPr lang="en-US" altLang="zh-CN" sz="2800" i="1" smtClean="0">
                            <a:latin typeface="Cambria Math" panose="02040503050406030204" pitchFamily="18" charset="0"/>
                          </a:rPr>
                        </m:ctrlPr>
                      </m:dPr>
                      <m:e>
                        <m:r>
                          <a:rPr lang="en-US" altLang="zh-CN" sz="2800" b="0" i="1" smtClean="0">
                            <a:latin typeface="Cambria Math" panose="02040503050406030204" pitchFamily="18" charset="0"/>
                          </a:rPr>
                          <m:t>𝑝</m:t>
                        </m:r>
                        <m:r>
                          <a:rPr lang="en-US" altLang="zh-CN" sz="2800" b="0" i="1" smtClean="0">
                            <a:latin typeface="Cambria Math" panose="02040503050406030204" pitchFamily="18" charset="0"/>
                          </a:rPr>
                          <m:t>(</m:t>
                        </m:r>
                        <m:r>
                          <a:rPr lang="en-US" altLang="zh-CN" sz="2800" i="1">
                            <a:latin typeface="Cambria Math" panose="02040503050406030204" pitchFamily="18" charset="0"/>
                          </a:rPr>
                          <m:t>h</m:t>
                        </m:r>
                        <m:r>
                          <a:rPr lang="zh-CN" altLang="en-US" sz="2800" i="1" smtClean="0">
                            <a:latin typeface="Cambria Math" panose="02040503050406030204" pitchFamily="18" charset="0"/>
                          </a:rPr>
                          <m:t>𝜆</m:t>
                        </m:r>
                        <m:r>
                          <a:rPr lang="en-US" altLang="zh-CN" sz="2800" b="0" i="1" smtClean="0">
                            <a:latin typeface="Cambria Math" panose="02040503050406030204" pitchFamily="18" charset="0"/>
                          </a:rPr>
                          <m:t>)</m:t>
                        </m:r>
                      </m:e>
                    </m:d>
                    <m:r>
                      <a:rPr lang="en-US" altLang="zh-CN" sz="2800" b="0" i="1" smtClean="0">
                        <a:latin typeface="Cambria Math" panose="02040503050406030204" pitchFamily="18" charset="0"/>
                      </a:rPr>
                      <m:t>&lt;1</m:t>
                    </m:r>
                  </m:oMath>
                </a14:m>
                <a:r>
                  <a:rPr lang="zh-CN" altLang="en-US" sz="2800" dirty="0"/>
                  <a:t>时算法才是稳定的。</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14" t="-192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122</a:t>
            </a:fld>
            <a:endParaRPr lang="en-US" altLang="zh-CN"/>
          </a:p>
        </p:txBody>
      </p:sp>
    </p:spTree>
    <p:extLst>
      <p:ext uri="{BB962C8B-B14F-4D97-AF65-F5344CB8AC3E}">
        <p14:creationId xmlns:p14="http://schemas.microsoft.com/office/powerpoint/2010/main" val="64062335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亚当姆斯算法的稳定域</a:t>
            </a:r>
            <a:endParaRPr lang="zh-CN" altLang="en-US" dirty="0"/>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5576" y="2492896"/>
            <a:ext cx="7772400" cy="3166533"/>
          </a:xfrm>
        </p:spPr>
      </p:pic>
      <p:sp>
        <p:nvSpPr>
          <p:cNvPr id="4" name="灯片编号占位符 3"/>
          <p:cNvSpPr>
            <a:spLocks noGrp="1"/>
          </p:cNvSpPr>
          <p:nvPr>
            <p:ph type="sldNum" sz="quarter" idx="12"/>
          </p:nvPr>
        </p:nvSpPr>
        <p:spPr/>
        <p:txBody>
          <a:bodyPr/>
          <a:lstStyle/>
          <a:p>
            <a:pPr>
              <a:defRPr/>
            </a:pPr>
            <a:fld id="{B5E95236-D0C1-4D31-8D61-5EF5DA33B082}" type="slidenum">
              <a:rPr lang="en-US" altLang="zh-CN" smtClean="0"/>
              <a:pPr>
                <a:defRPr/>
              </a:pPr>
              <a:t>123</a:t>
            </a:fld>
            <a:endParaRPr lang="en-US" altLang="zh-CN"/>
          </a:p>
        </p:txBody>
      </p:sp>
    </p:spTree>
    <p:extLst>
      <p:ext uri="{BB962C8B-B14F-4D97-AF65-F5344CB8AC3E}">
        <p14:creationId xmlns:p14="http://schemas.microsoft.com/office/powerpoint/2010/main" val="225160871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7601A4D-CFBA-496D-940F-89F18BD20748}" type="slidenum">
              <a:rPr kumimoji="0" lang="en-US" altLang="zh-CN" sz="1400"/>
              <a:pPr>
                <a:spcBef>
                  <a:spcPct val="0"/>
                </a:spcBef>
                <a:buClrTx/>
                <a:buSzTx/>
                <a:buFontTx/>
                <a:buNone/>
              </a:pPr>
              <a:t>124</a:t>
            </a:fld>
            <a:endParaRPr kumimoji="0" lang="en-US" altLang="zh-CN" sz="1400"/>
          </a:p>
        </p:txBody>
      </p:sp>
      <p:sp>
        <p:nvSpPr>
          <p:cNvPr id="26627" name="Rectangle 2"/>
          <p:cNvSpPr>
            <a:spLocks noGrp="1" noChangeArrowheads="1"/>
          </p:cNvSpPr>
          <p:nvPr>
            <p:ph type="title"/>
          </p:nvPr>
        </p:nvSpPr>
        <p:spPr/>
        <p:txBody>
          <a:bodyPr/>
          <a:lstStyle/>
          <a:p>
            <a:pPr eaLnBrk="1" hangingPunct="1"/>
            <a:r>
              <a:rPr lang="zh-CN" altLang="en-US"/>
              <a:t>课堂测验</a:t>
            </a:r>
          </a:p>
        </p:txBody>
      </p:sp>
      <p:sp>
        <p:nvSpPr>
          <p:cNvPr id="26628" name="Rectangle 3"/>
          <p:cNvSpPr>
            <a:spLocks noGrp="1" noChangeArrowheads="1"/>
          </p:cNvSpPr>
          <p:nvPr>
            <p:ph type="body" idx="1"/>
          </p:nvPr>
        </p:nvSpPr>
        <p:spPr/>
        <p:txBody>
          <a:bodyPr/>
          <a:lstStyle/>
          <a:p>
            <a:pPr eaLnBrk="1" hangingPunct="1"/>
            <a:r>
              <a:rPr lang="en-US" altLang="zh-CN" sz="2800" dirty="0">
                <a:latin typeface="宋体" panose="02010600030101010101" pitchFamily="2" charset="-122"/>
              </a:rPr>
              <a:t>1</a:t>
            </a:r>
            <a:r>
              <a:rPr lang="zh-CN" altLang="en-US" sz="2800" dirty="0">
                <a:latin typeface="宋体" panose="02010600030101010101" pitchFamily="2" charset="-122"/>
              </a:rPr>
              <a:t>、已知一微分方程模型模型为：</a:t>
            </a:r>
          </a:p>
          <a:p>
            <a:pPr eaLnBrk="1" hangingPunct="1"/>
            <a:endParaRPr lang="zh-CN" altLang="en-US" sz="2800" dirty="0">
              <a:latin typeface="宋体" panose="02010600030101010101" pitchFamily="2" charset="-122"/>
            </a:endParaRPr>
          </a:p>
          <a:p>
            <a:pPr eaLnBrk="1" hangingPunct="1"/>
            <a:endParaRPr lang="zh-CN" altLang="en-US" sz="2800" dirty="0">
              <a:latin typeface="宋体" panose="02010600030101010101" pitchFamily="2" charset="-122"/>
            </a:endParaRPr>
          </a:p>
          <a:p>
            <a:pPr eaLnBrk="1" hangingPunct="1"/>
            <a:endParaRPr lang="zh-CN" altLang="en-US" sz="2800" dirty="0">
              <a:latin typeface="宋体" panose="02010600030101010101" pitchFamily="2" charset="-122"/>
            </a:endParaRPr>
          </a:p>
          <a:p>
            <a:pPr eaLnBrk="1" hangingPunct="1">
              <a:buFont typeface="Wingdings" panose="05000000000000000000" pitchFamily="2" charset="2"/>
              <a:buNone/>
            </a:pPr>
            <a:endParaRPr lang="zh-CN" altLang="en-US" sz="2800" dirty="0">
              <a:latin typeface="宋体" panose="02010600030101010101" pitchFamily="2" charset="-122"/>
            </a:endParaRPr>
          </a:p>
          <a:p>
            <a:pPr eaLnBrk="1" hangingPunct="1">
              <a:buFont typeface="Wingdings" panose="05000000000000000000" pitchFamily="2" charset="2"/>
              <a:buNone/>
            </a:pPr>
            <a:endParaRPr lang="zh-CN" altLang="en-US" sz="2800" dirty="0">
              <a:latin typeface="宋体" panose="02010600030101010101" pitchFamily="2" charset="-122"/>
            </a:endParaRPr>
          </a:p>
          <a:p>
            <a:pPr eaLnBrk="1" hangingPunct="1">
              <a:buFont typeface="Wingdings" panose="05000000000000000000" pitchFamily="2" charset="2"/>
              <a:buNone/>
            </a:pPr>
            <a:r>
              <a:rPr lang="zh-CN" altLang="en-US" sz="2800" dirty="0">
                <a:latin typeface="宋体" panose="02010600030101010101" pitchFamily="2" charset="-122"/>
              </a:rPr>
              <a:t>试用欧拉法作为预估公式，梯形法作为校正公式，写出</a:t>
            </a:r>
            <a:r>
              <a:rPr lang="en-US" altLang="zh-CN" sz="2800" dirty="0"/>
              <a:t>5</a:t>
            </a:r>
            <a:r>
              <a:rPr lang="zh-CN" altLang="en-US" sz="2800" dirty="0">
                <a:latin typeface="宋体" panose="02010600030101010101" pitchFamily="2" charset="-122"/>
              </a:rPr>
              <a:t>步仿真过程。</a:t>
            </a:r>
          </a:p>
          <a:p>
            <a:pPr eaLnBrk="1" hangingPunct="1">
              <a:buFont typeface="Wingdings" panose="05000000000000000000" pitchFamily="2" charset="2"/>
              <a:buNone/>
            </a:pPr>
            <a:endParaRPr lang="en-US" altLang="zh-CN" dirty="0"/>
          </a:p>
        </p:txBody>
      </p:sp>
      <p:graphicFrame>
        <p:nvGraphicFramePr>
          <p:cNvPr id="26629" name="Object 4"/>
          <p:cNvGraphicFramePr>
            <a:graphicFrameLocks noChangeAspect="1"/>
          </p:cNvGraphicFramePr>
          <p:nvPr/>
        </p:nvGraphicFramePr>
        <p:xfrm>
          <a:off x="2801938" y="2438400"/>
          <a:ext cx="1860550" cy="2819400"/>
        </p:xfrm>
        <a:graphic>
          <a:graphicData uri="http://schemas.openxmlformats.org/presentationml/2006/ole">
            <mc:AlternateContent xmlns:mc="http://schemas.openxmlformats.org/markup-compatibility/2006">
              <mc:Choice xmlns:v="urn:schemas-microsoft-com:vml" Requires="v">
                <p:oleObj spid="_x0000_s73790" name="Equation" r:id="rId3" imgW="736600" imgH="1117600" progId="Equation.DSMT4">
                  <p:embed/>
                </p:oleObj>
              </mc:Choice>
              <mc:Fallback>
                <p:oleObj name="Equation" r:id="rId3" imgW="736600" imgH="1117600" progId="Equation.DSMT4">
                  <p:embed/>
                  <p:pic>
                    <p:nvPicPr>
                      <p:cNvPr id="2662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1938" y="2438400"/>
                        <a:ext cx="1860550" cy="281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299265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FD0AE340-F2C5-45EE-BCB1-787D828691F3}" type="slidenum">
              <a:rPr kumimoji="0" lang="en-US" altLang="zh-CN" sz="1400"/>
              <a:pPr>
                <a:spcBef>
                  <a:spcPct val="0"/>
                </a:spcBef>
                <a:buClrTx/>
                <a:buSzTx/>
                <a:buFontTx/>
                <a:buNone/>
              </a:pPr>
              <a:t>125</a:t>
            </a:fld>
            <a:endParaRPr kumimoji="0" lang="en-US" altLang="zh-CN" sz="1400"/>
          </a:p>
        </p:txBody>
      </p:sp>
      <p:sp>
        <p:nvSpPr>
          <p:cNvPr id="27651" name="Rectangle 2"/>
          <p:cNvSpPr>
            <a:spLocks noGrp="1" noChangeArrowheads="1"/>
          </p:cNvSpPr>
          <p:nvPr>
            <p:ph type="title"/>
          </p:nvPr>
        </p:nvSpPr>
        <p:spPr/>
        <p:txBody>
          <a:bodyPr/>
          <a:lstStyle/>
          <a:p>
            <a:pPr eaLnBrk="1" hangingPunct="1"/>
            <a:endParaRPr lang="zh-CN" altLang="zh-CN"/>
          </a:p>
        </p:txBody>
      </p:sp>
      <p:sp>
        <p:nvSpPr>
          <p:cNvPr id="27652" name="Rectangle 3"/>
          <p:cNvSpPr>
            <a:spLocks noGrp="1" noChangeArrowheads="1"/>
          </p:cNvSpPr>
          <p:nvPr>
            <p:ph type="body" idx="1"/>
          </p:nvPr>
        </p:nvSpPr>
        <p:spPr/>
        <p:txBody>
          <a:bodyPr/>
          <a:lstStyle/>
          <a:p>
            <a:pPr eaLnBrk="1" hangingPunct="1"/>
            <a:r>
              <a:rPr lang="en-US" altLang="zh-CN" dirty="0"/>
              <a:t>2</a:t>
            </a:r>
            <a:r>
              <a:rPr lang="zh-CN" altLang="en-US" dirty="0"/>
              <a:t>、已知                              ，</a:t>
            </a:r>
          </a:p>
          <a:p>
            <a:pPr eaLnBrk="1" hangingPunct="1"/>
            <a:endParaRPr lang="zh-CN" altLang="en-US" dirty="0"/>
          </a:p>
          <a:p>
            <a:pPr eaLnBrk="1" hangingPunct="1">
              <a:buFont typeface="Wingdings" panose="05000000000000000000" pitchFamily="2" charset="2"/>
              <a:buNone/>
            </a:pPr>
            <a:r>
              <a:rPr lang="zh-CN" altLang="en-US" dirty="0"/>
              <a:t>试用根匹配法建立该系统的频域模型          。</a:t>
            </a:r>
          </a:p>
        </p:txBody>
      </p:sp>
      <p:sp>
        <p:nvSpPr>
          <p:cNvPr id="27653" name="Rectangle 5"/>
          <p:cNvSpPr>
            <a:spLocks noChangeArrowheads="1"/>
          </p:cNvSpPr>
          <p:nvPr/>
        </p:nvSpPr>
        <p:spPr bwMode="auto">
          <a:xfrm>
            <a:off x="0" y="3152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7654" name="Object 4"/>
          <p:cNvGraphicFramePr>
            <a:graphicFrameLocks noChangeAspect="1"/>
          </p:cNvGraphicFramePr>
          <p:nvPr/>
        </p:nvGraphicFramePr>
        <p:xfrm>
          <a:off x="3059832" y="1666906"/>
          <a:ext cx="3455987" cy="1119187"/>
        </p:xfrm>
        <a:graphic>
          <a:graphicData uri="http://schemas.openxmlformats.org/presentationml/2006/ole">
            <mc:AlternateContent xmlns:mc="http://schemas.openxmlformats.org/markup-compatibility/2006">
              <mc:Choice xmlns:v="urn:schemas-microsoft-com:vml" Requires="v">
                <p:oleObj spid="_x0000_s74874" name="Equation" r:id="rId3" imgW="1892300" imgH="609600" progId="Equation.DSMT4">
                  <p:embed/>
                </p:oleObj>
              </mc:Choice>
              <mc:Fallback>
                <p:oleObj name="Equation" r:id="rId3" imgW="1892300" imgH="609600" progId="Equation.DSMT4">
                  <p:embed/>
                  <p:pic>
                    <p:nvPicPr>
                      <p:cNvPr id="2765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832" y="1666906"/>
                        <a:ext cx="3455987" cy="111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5" name="Rectangle 7"/>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7656" name="Object 6"/>
          <p:cNvGraphicFramePr>
            <a:graphicFrameLocks noChangeAspect="1"/>
          </p:cNvGraphicFramePr>
          <p:nvPr/>
        </p:nvGraphicFramePr>
        <p:xfrm>
          <a:off x="2051720" y="3780300"/>
          <a:ext cx="1150938" cy="774700"/>
        </p:xfrm>
        <a:graphic>
          <a:graphicData uri="http://schemas.openxmlformats.org/presentationml/2006/ole">
            <mc:AlternateContent xmlns:mc="http://schemas.openxmlformats.org/markup-compatibility/2006">
              <mc:Choice xmlns:v="urn:schemas-microsoft-com:vml" Requires="v">
                <p:oleObj spid="_x0000_s74875" name="Equation" r:id="rId5" imgW="571252" imgH="380835" progId="Equation.DSMT4">
                  <p:embed/>
                </p:oleObj>
              </mc:Choice>
              <mc:Fallback>
                <p:oleObj name="Equation" r:id="rId5" imgW="571252" imgH="380835" progId="Equation.DSMT4">
                  <p:embed/>
                  <p:pic>
                    <p:nvPicPr>
                      <p:cNvPr id="2765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720" y="3780300"/>
                        <a:ext cx="1150938"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22620981"/>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6113</TotalTime>
  <Words>7850</Words>
  <Application>Microsoft Office PowerPoint</Application>
  <PresentationFormat>全屏显示(4:3)</PresentationFormat>
  <Paragraphs>806</Paragraphs>
  <Slides>125</Slides>
  <Notes>8</Notes>
  <HiddenSlides>2</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125</vt:i4>
      </vt:variant>
    </vt:vector>
  </HeadingPairs>
  <TitlesOfParts>
    <vt:vector size="140" baseType="lpstr">
      <vt:lpstr>方正舒体</vt:lpstr>
      <vt:lpstr>黑体</vt:lpstr>
      <vt:lpstr>楷体_GB2312</vt:lpstr>
      <vt:lpstr>隶书</vt:lpstr>
      <vt:lpstr>宋体</vt:lpstr>
      <vt:lpstr>Arial</vt:lpstr>
      <vt:lpstr>Cambria Math</vt:lpstr>
      <vt:lpstr>Courier New</vt:lpstr>
      <vt:lpstr>Tahoma</vt:lpstr>
      <vt:lpstr>Times New Roman</vt:lpstr>
      <vt:lpstr>Wingdings</vt:lpstr>
      <vt:lpstr>Blends</vt:lpstr>
      <vt:lpstr>公式</vt:lpstr>
      <vt:lpstr>Equation</vt:lpstr>
      <vt:lpstr>MathType 7.0 Equation</vt:lpstr>
      <vt:lpstr>第3章 连续系统建模与仿真方法</vt:lpstr>
      <vt:lpstr>3.1 连续系统模型的概述</vt:lpstr>
      <vt:lpstr>PowerPoint 演示文稿</vt:lpstr>
      <vt:lpstr>PowerPoint 演示文稿</vt:lpstr>
      <vt:lpstr>(2) 传递函数模型</vt:lpstr>
      <vt:lpstr>(3)状态空间模型</vt:lpstr>
      <vt:lpstr>PowerPoint 演示文稿</vt:lpstr>
      <vt:lpstr>微分方程建模步骤</vt:lpstr>
      <vt:lpstr>微分方程建模方法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新产品销售模型</vt:lpstr>
      <vt:lpstr>PowerPoint 演示文稿</vt:lpstr>
      <vt:lpstr>2.新产品销售的Logistic模型</vt:lpstr>
      <vt:lpstr>PowerPoint 演示文稿</vt:lpstr>
      <vt:lpstr>PowerPoint 演示文稿</vt:lpstr>
      <vt:lpstr>3. 新产品销售的Bass模型</vt:lpstr>
      <vt:lpstr>PowerPoint 演示文稿</vt:lpstr>
      <vt:lpstr>PowerPoint 演示文稿</vt:lpstr>
      <vt:lpstr>PowerPoint 演示文稿</vt:lpstr>
      <vt:lpstr>4. 新产品销售的Steffens-Murthy模型</vt:lpstr>
      <vt:lpstr>模型的假设：</vt:lpstr>
      <vt:lpstr>PowerPoint 演示文稿</vt:lpstr>
      <vt:lpstr>搜寻型信息传播的模型</vt:lpstr>
      <vt:lpstr>体验型信息传播模型</vt:lpstr>
      <vt:lpstr>PowerPoint 演示文稿</vt:lpstr>
      <vt:lpstr>连续系统数值仿真方法</vt:lpstr>
      <vt:lpstr>PowerPoint 演示文稿</vt:lpstr>
      <vt:lpstr>PowerPoint 演示文稿</vt:lpstr>
      <vt:lpstr>几个概念</vt:lpstr>
      <vt:lpstr>单步法的优点</vt:lpstr>
      <vt:lpstr>显式与隐式</vt:lpstr>
      <vt:lpstr>显式与隐式</vt:lpstr>
      <vt:lpstr>截断误差</vt:lpstr>
      <vt:lpstr>舍入误差</vt:lpstr>
      <vt:lpstr>误差与步长的关系、步长选择原则</vt:lpstr>
      <vt:lpstr>PowerPoint 演示文稿</vt:lpstr>
      <vt:lpstr>PowerPoint 演示文稿</vt:lpstr>
      <vt:lpstr>常微分方程求解的基本概念 </vt:lpstr>
      <vt:lpstr>PowerPoint 演示文稿</vt:lpstr>
      <vt:lpstr>连续系统数值仿真的基本算法</vt:lpstr>
      <vt:lpstr>差商法</vt:lpstr>
      <vt:lpstr>PowerPoint 演示文稿</vt:lpstr>
      <vt:lpstr>泰勒（Taylor）展开法</vt:lpstr>
      <vt:lpstr>上述泰勒展开式可化为：</vt:lpstr>
      <vt:lpstr>数值积分法 </vt:lpstr>
      <vt:lpstr>PowerPoint 演示文稿</vt:lpstr>
      <vt:lpstr>1、欧拉法</vt:lpstr>
      <vt:lpstr>公式</vt:lpstr>
      <vt:lpstr>PowerPoint 演示文稿</vt:lpstr>
      <vt:lpstr>梯形法</vt:lpstr>
      <vt:lpstr>1、从欧拉法到梯形法</vt:lpstr>
      <vt:lpstr>2、梯形法原理</vt:lpstr>
      <vt:lpstr>PowerPoint 演示文稿</vt:lpstr>
      <vt:lpstr>梯形法的预估－校正公式</vt:lpstr>
      <vt:lpstr>3、梯形法思想的推广</vt:lpstr>
      <vt:lpstr>龙格－库塔(Runge－Kutta)法</vt:lpstr>
      <vt:lpstr>公式的推导：</vt:lpstr>
      <vt:lpstr>PowerPoint 演示文稿</vt:lpstr>
      <vt:lpstr>PowerPoint 演示文稿</vt:lpstr>
      <vt:lpstr>PowerPoint 演示文稿</vt:lpstr>
      <vt:lpstr>PowerPoint 演示文稿</vt:lpstr>
      <vt:lpstr>PowerPoint 演示文稿</vt:lpstr>
      <vt:lpstr>PowerPoint 演示文稿</vt:lpstr>
      <vt:lpstr>4阶RK法公式特点</vt:lpstr>
      <vt:lpstr>4阶Runge-Kutta 法</vt:lpstr>
      <vt:lpstr>方法小结</vt:lpstr>
      <vt:lpstr>变步长法</vt:lpstr>
      <vt:lpstr>对分策略</vt:lpstr>
      <vt:lpstr>PowerPoint 演示文稿</vt:lpstr>
      <vt:lpstr>最优步长控制策略</vt:lpstr>
      <vt:lpstr>PowerPoint 演示文稿</vt:lpstr>
      <vt:lpstr>最优步长控制策略</vt:lpstr>
      <vt:lpstr>PowerPoint 演示文稿</vt:lpstr>
      <vt:lpstr>PowerPoint 演示文稿</vt:lpstr>
      <vt:lpstr>PowerPoint 演示文稿</vt:lpstr>
      <vt:lpstr>PowerPoint 演示文稿</vt:lpstr>
      <vt:lpstr>PowerPoint 演示文稿</vt:lpstr>
      <vt:lpstr>3.4 频域建模方法</vt:lpstr>
      <vt:lpstr>PowerPoint 演示文稿</vt:lpstr>
      <vt:lpstr>PowerPoint 演示文稿</vt:lpstr>
      <vt:lpstr>PowerPoint 演示文稿</vt:lpstr>
      <vt:lpstr>3.4.1 替换法</vt:lpstr>
      <vt:lpstr>欧拉替换</vt:lpstr>
      <vt:lpstr>PowerPoint 演示文稿</vt:lpstr>
      <vt:lpstr>欧拉替换的稳定性分析</vt:lpstr>
      <vt:lpstr>PowerPoint 演示文稿</vt:lpstr>
      <vt:lpstr>双线性替换</vt:lpstr>
      <vt:lpstr>PowerPoint 演示文稿</vt:lpstr>
      <vt:lpstr>PowerPoint 演示文稿</vt:lpstr>
      <vt:lpstr>双线性替换例子</vt:lpstr>
      <vt:lpstr>PowerPoint 演示文稿</vt:lpstr>
      <vt:lpstr>3.4.2 根匹配法 </vt:lpstr>
      <vt:lpstr>根匹配法的目标</vt:lpstr>
      <vt:lpstr>根匹配法的步骤： </vt:lpstr>
      <vt:lpstr>PowerPoint 演示文稿</vt:lpstr>
      <vt:lpstr>关于附加零点的说明</vt:lpstr>
      <vt:lpstr>PowerPoint 演示文稿</vt:lpstr>
      <vt:lpstr>PowerPoint 演示文稿</vt:lpstr>
      <vt:lpstr>根匹配法的特点</vt:lpstr>
      <vt:lpstr>用根匹配法的原连续系统满足以下条件： </vt:lpstr>
      <vt:lpstr>对采样频率的要求</vt:lpstr>
      <vt:lpstr>根匹配法例题 </vt:lpstr>
      <vt:lpstr>PowerPoint 演示文稿</vt:lpstr>
      <vt:lpstr>PowerPoint 演示文稿</vt:lpstr>
      <vt:lpstr>例2</vt:lpstr>
      <vt:lpstr>PowerPoint 演示文稿</vt:lpstr>
      <vt:lpstr>PowerPoint 演示文稿</vt:lpstr>
      <vt:lpstr>PowerPoint 演示文稿</vt:lpstr>
      <vt:lpstr> 数值积分法的稳定性分析</vt:lpstr>
      <vt:lpstr>举例：1阶显式亚当姆斯方法的稳定性分析</vt:lpstr>
      <vt:lpstr>PowerPoint 演示文稿</vt:lpstr>
      <vt:lpstr>PowerPoint 演示文稿</vt:lpstr>
      <vt:lpstr>亚当姆斯算法的稳定域</vt:lpstr>
      <vt:lpstr>课堂测验</vt:lpstr>
      <vt:lpstr>PowerPoint 演示文稿</vt:lpstr>
    </vt:vector>
  </TitlesOfParts>
  <Company>华中科技大学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主讲人：王小平           E_mail:  wxpwinnie@163.com      Tel：    87543630(O)            13886088818         欢迎任何形式的意见和建议！</dc:title>
  <dc:creator>王小平</dc:creator>
  <cp:lastModifiedBy>xiaoping wang</cp:lastModifiedBy>
  <cp:revision>232</cp:revision>
  <dcterms:created xsi:type="dcterms:W3CDTF">2005-09-06T00:56:48Z</dcterms:created>
  <dcterms:modified xsi:type="dcterms:W3CDTF">2025-09-28T09:47:07Z</dcterms:modified>
</cp:coreProperties>
</file>