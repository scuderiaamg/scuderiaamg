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4"/>
  </p:notesMasterIdLst>
  <p:sldIdLst>
    <p:sldId id="442" r:id="rId2"/>
    <p:sldId id="443" r:id="rId3"/>
    <p:sldId id="445" r:id="rId4"/>
    <p:sldId id="486" r:id="rId5"/>
    <p:sldId id="446" r:id="rId6"/>
    <p:sldId id="447" r:id="rId7"/>
    <p:sldId id="448" r:id="rId8"/>
    <p:sldId id="450" r:id="rId9"/>
    <p:sldId id="451" r:id="rId10"/>
    <p:sldId id="452" r:id="rId11"/>
    <p:sldId id="489" r:id="rId12"/>
    <p:sldId id="444" r:id="rId13"/>
    <p:sldId id="457" r:id="rId14"/>
    <p:sldId id="459" r:id="rId15"/>
    <p:sldId id="460" r:id="rId16"/>
    <p:sldId id="461" r:id="rId17"/>
    <p:sldId id="462" r:id="rId18"/>
    <p:sldId id="492" r:id="rId19"/>
    <p:sldId id="463" r:id="rId20"/>
    <p:sldId id="465" r:id="rId21"/>
    <p:sldId id="466" r:id="rId22"/>
    <p:sldId id="467" r:id="rId23"/>
    <p:sldId id="468" r:id="rId24"/>
    <p:sldId id="493" r:id="rId25"/>
    <p:sldId id="471" r:id="rId26"/>
    <p:sldId id="470" r:id="rId27"/>
    <p:sldId id="472" r:id="rId28"/>
    <p:sldId id="473" r:id="rId29"/>
    <p:sldId id="488" r:id="rId30"/>
    <p:sldId id="487" r:id="rId31"/>
    <p:sldId id="490" r:id="rId32"/>
    <p:sldId id="491" r:id="rId33"/>
    <p:sldId id="475" r:id="rId34"/>
    <p:sldId id="477" r:id="rId35"/>
    <p:sldId id="478" r:id="rId36"/>
    <p:sldId id="476" r:id="rId37"/>
    <p:sldId id="479" r:id="rId38"/>
    <p:sldId id="480" r:id="rId39"/>
    <p:sldId id="481" r:id="rId40"/>
    <p:sldId id="482" r:id="rId41"/>
    <p:sldId id="483" r:id="rId42"/>
    <p:sldId id="494" r:id="rId43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59">
          <p15:clr>
            <a:srgbClr val="A4A3A4"/>
          </p15:clr>
        </p15:guide>
        <p15:guide id="2" pos="289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9933"/>
    <a:srgbClr val="FF6600"/>
    <a:srgbClr val="0000FF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2429" autoAdjust="0"/>
  </p:normalViewPr>
  <p:slideViewPr>
    <p:cSldViewPr>
      <p:cViewPr varScale="1">
        <p:scale>
          <a:sx n="59" d="100"/>
          <a:sy n="59" d="100"/>
        </p:scale>
        <p:origin x="944" y="56"/>
      </p:cViewPr>
      <p:guideLst>
        <p:guide orient="horz" pos="2259"/>
        <p:guide pos="289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5" cy="72005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wmf"/><Relationship Id="rId1" Type="http://schemas.openxmlformats.org/officeDocument/2006/relationships/image" Target="../media/image2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image" Target="../media/image7.wmf"/><Relationship Id="rId1" Type="http://schemas.openxmlformats.org/officeDocument/2006/relationships/image" Target="../media/image6.wmf"/><Relationship Id="rId4" Type="http://schemas.openxmlformats.org/officeDocument/2006/relationships/image" Target="../media/image9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image" Target="../media/image16.wmf"/><Relationship Id="rId1" Type="http://schemas.openxmlformats.org/officeDocument/2006/relationships/image" Target="../media/image15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2" Type="http://schemas.openxmlformats.org/officeDocument/2006/relationships/image" Target="../media/image20.wmf"/><Relationship Id="rId1" Type="http://schemas.openxmlformats.org/officeDocument/2006/relationships/image" Target="../media/image19.wmf"/><Relationship Id="rId4" Type="http://schemas.openxmlformats.org/officeDocument/2006/relationships/image" Target="../media/image22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image" Target="../media/image24.wmf"/><Relationship Id="rId1" Type="http://schemas.openxmlformats.org/officeDocument/2006/relationships/image" Target="../media/image23.wmf"/><Relationship Id="rId4" Type="http://schemas.openxmlformats.org/officeDocument/2006/relationships/image" Target="../media/image25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29.wmf"/><Relationship Id="rId2" Type="http://schemas.openxmlformats.org/officeDocument/2006/relationships/image" Target="../media/image28.wmf"/><Relationship Id="rId1" Type="http://schemas.openxmlformats.org/officeDocument/2006/relationships/image" Target="../media/image27.wmf"/></Relationships>
</file>

<file path=ppt/drawings/_rels/vmlDrawing12.vml.rels><?xml version="1.0" encoding="UTF-8" standalone="yes"?>
<Relationships xmlns="http://schemas.openxmlformats.org/package/2006/relationships"><Relationship Id="rId2" Type="http://schemas.openxmlformats.org/officeDocument/2006/relationships/image" Target="../media/image28.wmf"/><Relationship Id="rId1" Type="http://schemas.openxmlformats.org/officeDocument/2006/relationships/image" Target="../media/image27.w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3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39.wmf"/><Relationship Id="rId2" Type="http://schemas.openxmlformats.org/officeDocument/2006/relationships/image" Target="../media/image38.wmf"/><Relationship Id="rId1" Type="http://schemas.openxmlformats.org/officeDocument/2006/relationships/image" Target="../media/image37.wmf"/></Relationships>
</file>

<file path=ppt/drawings/_rels/vmlDrawing15.vml.rels><?xml version="1.0" encoding="UTF-8" standalone="yes"?>
<Relationships xmlns="http://schemas.openxmlformats.org/package/2006/relationships"><Relationship Id="rId2" Type="http://schemas.openxmlformats.org/officeDocument/2006/relationships/image" Target="../media/image41.wmf"/><Relationship Id="rId1" Type="http://schemas.openxmlformats.org/officeDocument/2006/relationships/image" Target="../media/image40.w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43.wmf"/><Relationship Id="rId2" Type="http://schemas.openxmlformats.org/officeDocument/2006/relationships/image" Target="../media/image42.wmf"/><Relationship Id="rId1" Type="http://schemas.openxmlformats.org/officeDocument/2006/relationships/image" Target="../media/image40.w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44.w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51.wmf"/></Relationships>
</file>

<file path=ppt/drawings/_rels/vmlDrawing19.vml.rels><?xml version="1.0" encoding="UTF-8" standalone="yes"?>
<Relationships xmlns="http://schemas.openxmlformats.org/package/2006/relationships"><Relationship Id="rId3" Type="http://schemas.openxmlformats.org/officeDocument/2006/relationships/image" Target="../media/image54.wmf"/><Relationship Id="rId2" Type="http://schemas.openxmlformats.org/officeDocument/2006/relationships/image" Target="../media/image53.wmf"/><Relationship Id="rId1" Type="http://schemas.openxmlformats.org/officeDocument/2006/relationships/image" Target="../media/image52.wmf"/></Relationships>
</file>

<file path=ppt/drawings/_rels/vmlDrawing20.vml.rels><?xml version="1.0" encoding="UTF-8" standalone="yes"?>
<Relationships xmlns="http://schemas.openxmlformats.org/package/2006/relationships"><Relationship Id="rId3" Type="http://schemas.openxmlformats.org/officeDocument/2006/relationships/image" Target="../media/image57.wmf"/><Relationship Id="rId2" Type="http://schemas.openxmlformats.org/officeDocument/2006/relationships/image" Target="../media/image56.wmf"/><Relationship Id="rId1" Type="http://schemas.openxmlformats.org/officeDocument/2006/relationships/image" Target="../media/image55.wmf"/><Relationship Id="rId4" Type="http://schemas.openxmlformats.org/officeDocument/2006/relationships/image" Target="../media/image58.wmf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9.wmf"/></Relationships>
</file>

<file path=ppt/drawings/_rels/vmlDrawing2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页眉占位符 1">
            <a:extLst>
              <a:ext uri="{FF2B5EF4-FFF2-40B4-BE49-F238E27FC236}">
                <a16:creationId xmlns:a16="http://schemas.microsoft.com/office/drawing/2014/main" id="{43FCC4AC-6FF3-494D-A6C1-7833A18BC056}"/>
              </a:ext>
            </a:extLst>
          </p:cNvPr>
          <p:cNvSpPr>
            <a:spLocks noGrp="1" noChangeArrowheads="1"/>
          </p:cNvSpPr>
          <p:nvPr>
            <p:ph type="hdr" sz="quarter" idx="4294967295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buFont typeface="Arial" pitchFamily="34" charset="0"/>
              <a:buNone/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2051" name="日期占位符 2">
            <a:extLst>
              <a:ext uri="{FF2B5EF4-FFF2-40B4-BE49-F238E27FC236}">
                <a16:creationId xmlns:a16="http://schemas.microsoft.com/office/drawing/2014/main" id="{5E2DC9F3-17AE-41E4-87F9-703515E05A88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buFont typeface="Arial" pitchFamily="34" charset="0"/>
              <a:buNone/>
              <a:defRPr>
                <a:latin typeface="Arial" pitchFamily="34" charset="0"/>
              </a:defRPr>
            </a:lvl1pPr>
          </a:lstStyle>
          <a:p>
            <a:pPr>
              <a:defRPr/>
            </a:pPr>
            <a:fld id="{022DA6BA-05E0-44BC-9F6D-C078FABDE26E}" type="datetime1">
              <a:rPr lang="zh-CN" altLang="en-US"/>
              <a:pPr>
                <a:defRPr/>
              </a:pPr>
              <a:t>2026/9/4</a:t>
            </a:fld>
            <a:endParaRPr lang="zh-CN" altLang="en-US" sz="1200">
              <a:latin typeface="Calibri" pitchFamily="34" charset="0"/>
            </a:endParaRPr>
          </a:p>
        </p:txBody>
      </p:sp>
      <p:sp>
        <p:nvSpPr>
          <p:cNvPr id="12292" name="幻灯片图像占位符 3">
            <a:extLst>
              <a:ext uri="{FF2B5EF4-FFF2-40B4-BE49-F238E27FC236}">
                <a16:creationId xmlns:a16="http://schemas.microsoft.com/office/drawing/2014/main" id="{8315B7BD-6D20-4FDA-BFC6-C3694C8D7AA6}"/>
              </a:ext>
            </a:extLst>
          </p:cNvPr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2053" name="备注占位符 4">
            <a:extLst>
              <a:ext uri="{FF2B5EF4-FFF2-40B4-BE49-F238E27FC236}">
                <a16:creationId xmlns:a16="http://schemas.microsoft.com/office/drawing/2014/main" id="{037D7FF2-F174-46F2-A30C-C1AE5B51140F}"/>
              </a:ext>
            </a:extLst>
          </p:cNvPr>
          <p:cNvSpPr>
            <a:spLocks noGrp="1" noRot="1" noChangeAspect="1"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30000"/>
              </a:spcBef>
              <a:buFontTx/>
              <a:buNone/>
              <a:defRPr/>
            </a:pPr>
            <a:r>
              <a:rPr lang="zh-CN" sz="1200"/>
              <a:t>单击此处编辑母版文本样式</a:t>
            </a:r>
          </a:p>
          <a:p>
            <a:pPr>
              <a:spcBef>
                <a:spcPct val="30000"/>
              </a:spcBef>
              <a:buFontTx/>
              <a:buNone/>
              <a:defRPr/>
            </a:pPr>
            <a:r>
              <a:rPr lang="zh-CN" sz="1200"/>
              <a:t>第二级</a:t>
            </a:r>
          </a:p>
          <a:p>
            <a:pPr>
              <a:spcBef>
                <a:spcPct val="30000"/>
              </a:spcBef>
              <a:buFontTx/>
              <a:buNone/>
              <a:defRPr/>
            </a:pPr>
            <a:r>
              <a:rPr lang="zh-CN" sz="1200"/>
              <a:t>第三级</a:t>
            </a:r>
          </a:p>
          <a:p>
            <a:pPr>
              <a:spcBef>
                <a:spcPct val="30000"/>
              </a:spcBef>
              <a:buFontTx/>
              <a:buNone/>
              <a:defRPr/>
            </a:pPr>
            <a:r>
              <a:rPr lang="zh-CN" sz="1200"/>
              <a:t>第四级</a:t>
            </a:r>
          </a:p>
          <a:p>
            <a:pPr>
              <a:spcBef>
                <a:spcPct val="30000"/>
              </a:spcBef>
              <a:buFontTx/>
              <a:buNone/>
              <a:defRPr/>
            </a:pPr>
            <a:r>
              <a:rPr lang="zh-CN" sz="1200"/>
              <a:t>第五级</a:t>
            </a:r>
          </a:p>
        </p:txBody>
      </p:sp>
      <p:sp>
        <p:nvSpPr>
          <p:cNvPr id="2054" name="页脚占位符 5">
            <a:extLst>
              <a:ext uri="{FF2B5EF4-FFF2-40B4-BE49-F238E27FC236}">
                <a16:creationId xmlns:a16="http://schemas.microsoft.com/office/drawing/2014/main" id="{3CAAFF5D-6AF9-4F86-A53A-11BE4F351916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buFont typeface="Arial" pitchFamily="34" charset="0"/>
              <a:buNone/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2055" name="灯片编号占位符 6">
            <a:extLst>
              <a:ext uri="{FF2B5EF4-FFF2-40B4-BE49-F238E27FC236}">
                <a16:creationId xmlns:a16="http://schemas.microsoft.com/office/drawing/2014/main" id="{30A4160E-C7D4-4E2F-B4B4-E990AC412A1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fld id="{94871EB8-F0DA-4E0D-84CA-C1E8149BE915}" type="slidenum">
              <a:rPr lang="zh-CN" altLang="en-US"/>
              <a:pPr>
                <a:defRPr/>
              </a:pPr>
              <a:t>‹#›</a:t>
            </a:fld>
            <a:endParaRPr lang="zh-CN" altLang="en-US" sz="1200">
              <a:latin typeface="Calibri" panose="020F050202020403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/>
  <p:notesStyle>
    <a:lvl1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baike.baidu.com/item/%E5%9B%BD%E5%AE%B6" TargetMode="External"/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Relationship Id="rId5" Type="http://schemas.openxmlformats.org/officeDocument/2006/relationships/hyperlink" Target="https://baike.baidu.com/item/%E7%A1%AC%E5%BA%A6" TargetMode="External"/><Relationship Id="rId4" Type="http://schemas.openxmlformats.org/officeDocument/2006/relationships/hyperlink" Target="https://baike.baidu.com/item/%E7%9C%9F%E7%A9%BA%E5%85%89%E9%80%9F" TargetMode="Externa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幻灯片图像占位符 1">
            <a:extLst>
              <a:ext uri="{FF2B5EF4-FFF2-40B4-BE49-F238E27FC236}">
                <a16:creationId xmlns:a16="http://schemas.microsoft.com/office/drawing/2014/main" id="{96CB9FFF-09D1-474D-83D0-3E24071B428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15363" name="备注占位符 2">
            <a:extLst>
              <a:ext uri="{FF2B5EF4-FFF2-40B4-BE49-F238E27FC236}">
                <a16:creationId xmlns:a16="http://schemas.microsoft.com/office/drawing/2014/main" id="{C08C5737-228B-465A-99AA-51510B6909A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946150" y="4860925"/>
            <a:ext cx="5207000" cy="4605338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传感器是被测对象信息感知的基础，本课程偏重于传感器部分的内容</a:t>
            </a:r>
          </a:p>
        </p:txBody>
      </p:sp>
      <p:sp>
        <p:nvSpPr>
          <p:cNvPr id="15364" name="灯片编号占位符 3">
            <a:extLst>
              <a:ext uri="{FF2B5EF4-FFF2-40B4-BE49-F238E27FC236}">
                <a16:creationId xmlns:a16="http://schemas.microsoft.com/office/drawing/2014/main" id="{4AD4A697-560E-4B45-B203-567488C4D6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990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990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990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990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16238A86-EF18-423C-BC77-F682BF2093D3}" type="slidenum">
              <a:rPr kumimoji="1" lang="en-US" altLang="zh-CN" sz="1300" smtClean="0">
                <a:latin typeface="Times New Roman" panose="02020603050405020304" pitchFamily="18" charset="0"/>
              </a:rPr>
              <a:pPr/>
              <a:t>2</a:t>
            </a:fld>
            <a:endParaRPr kumimoji="1" lang="en-US" altLang="zh-CN" sz="13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幻灯片图像占位符 1">
            <a:extLst>
              <a:ext uri="{FF2B5EF4-FFF2-40B4-BE49-F238E27FC236}">
                <a16:creationId xmlns:a16="http://schemas.microsoft.com/office/drawing/2014/main" id="{E26BD058-2DF5-41EA-B7E1-77B2FD428E7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8435" name="备注占位符 2">
            <a:extLst>
              <a:ext uri="{FF2B5EF4-FFF2-40B4-BE49-F238E27FC236}">
                <a16:creationId xmlns:a16="http://schemas.microsoft.com/office/drawing/2014/main" id="{29181BBF-D73A-4270-9A13-9DE6167A4DA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真值是指与给定的特定量的定义一致的值。约定真值是指对于给定目的具有适当不确定度的，赋予特定的值。在实际检定工作中是以计量标准所复现的量值作为约定真值。常称为标准值或实际值。</a:t>
            </a:r>
            <a:endParaRPr lang="en-US" altLang="zh-CN"/>
          </a:p>
          <a:p>
            <a:r>
              <a:rPr lang="zh-CN" altLang="en-US"/>
              <a:t>获得特定量约定真值的方法，通常有以下几种</a:t>
            </a:r>
            <a:r>
              <a:rPr lang="en-US" altLang="zh-CN"/>
              <a:t>:</a:t>
            </a:r>
          </a:p>
          <a:p>
            <a:r>
              <a:rPr lang="en-US" altLang="zh-CN"/>
              <a:t>(1)</a:t>
            </a:r>
            <a:r>
              <a:rPr lang="zh-CN" altLang="en-US"/>
              <a:t>由</a:t>
            </a:r>
            <a:r>
              <a:rPr lang="zh-CN" altLang="en-US">
                <a:hlinkClick r:id="rId3"/>
              </a:rPr>
              <a:t>国家</a:t>
            </a:r>
            <a:r>
              <a:rPr lang="zh-CN" altLang="en-US"/>
              <a:t>基准或当地最高计量标准复现而赋予该特定量的值。</a:t>
            </a:r>
          </a:p>
          <a:p>
            <a:r>
              <a:rPr lang="en-US" altLang="zh-CN"/>
              <a:t>(2)</a:t>
            </a:r>
            <a:r>
              <a:rPr lang="zh-CN" altLang="en-US"/>
              <a:t>采用权威组织推荐的该量的值。例如，由国际数据委员会</a:t>
            </a:r>
            <a:r>
              <a:rPr lang="en-US" altLang="zh-CN"/>
              <a:t>(CODATA)</a:t>
            </a:r>
            <a:r>
              <a:rPr lang="zh-CN" altLang="en-US"/>
              <a:t>推荐的</a:t>
            </a:r>
            <a:r>
              <a:rPr lang="zh-CN" altLang="en-US">
                <a:hlinkClick r:id="rId4"/>
              </a:rPr>
              <a:t>真空光速</a:t>
            </a:r>
            <a:r>
              <a:rPr lang="zh-CN" altLang="en-US"/>
              <a:t>、阿伏加德罗常量等特定量的最新值。</a:t>
            </a:r>
          </a:p>
          <a:p>
            <a:r>
              <a:rPr lang="en-US" altLang="zh-CN"/>
              <a:t>(3)</a:t>
            </a:r>
            <a:r>
              <a:rPr lang="zh-CN" altLang="en-US"/>
              <a:t>有时用某量的多次测量结果来确定该量的约定真值。</a:t>
            </a:r>
          </a:p>
          <a:p>
            <a:r>
              <a:rPr lang="en-US" altLang="zh-CN"/>
              <a:t>(4)</a:t>
            </a:r>
            <a:r>
              <a:rPr lang="zh-CN" altLang="en-US"/>
              <a:t>对于</a:t>
            </a:r>
            <a:r>
              <a:rPr lang="zh-CN" altLang="en-US">
                <a:hlinkClick r:id="rId5"/>
              </a:rPr>
              <a:t>硬度</a:t>
            </a:r>
            <a:r>
              <a:rPr lang="zh-CN" altLang="en-US"/>
              <a:t>等量，则用其约定参考标尺上的值作为约定真值。</a:t>
            </a:r>
          </a:p>
          <a:p>
            <a:endParaRPr lang="zh-CN" altLang="en-US"/>
          </a:p>
        </p:txBody>
      </p:sp>
      <p:sp>
        <p:nvSpPr>
          <p:cNvPr id="18436" name="日期占位符 3">
            <a:extLst>
              <a:ext uri="{FF2B5EF4-FFF2-40B4-BE49-F238E27FC236}">
                <a16:creationId xmlns:a16="http://schemas.microsoft.com/office/drawing/2014/main" id="{DB7AF924-7484-466C-9E8A-3115372D110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07DB2BE2-3160-4D77-A085-E93017CC1599}" type="datetime1">
              <a:rPr lang="zh-CN" altLang="en-US" smtClean="0"/>
              <a:pPr/>
              <a:t>2026/9/4</a:t>
            </a:fld>
            <a:endParaRPr lang="zh-CN" altLang="en-US" sz="1200">
              <a:latin typeface="Calibri" panose="020F0502020204030204" pitchFamily="34" charset="0"/>
            </a:endParaRPr>
          </a:p>
        </p:txBody>
      </p:sp>
      <p:sp>
        <p:nvSpPr>
          <p:cNvPr id="18437" name="灯片编号占位符 4">
            <a:extLst>
              <a:ext uri="{FF2B5EF4-FFF2-40B4-BE49-F238E27FC236}">
                <a16:creationId xmlns:a16="http://schemas.microsoft.com/office/drawing/2014/main" id="{A1934E5B-187E-4511-A364-8FF72876AA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208B7F07-D97F-4804-B345-46C3CB604E7F}" type="slidenum">
              <a:rPr lang="zh-CN" altLang="en-US" smtClean="0"/>
              <a:pPr/>
              <a:t>4</a:t>
            </a:fld>
            <a:endParaRPr lang="zh-CN" altLang="en-US" sz="1200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幻灯片图像占位符 1">
            <a:extLst>
              <a:ext uri="{FF2B5EF4-FFF2-40B4-BE49-F238E27FC236}">
                <a16:creationId xmlns:a16="http://schemas.microsoft.com/office/drawing/2014/main" id="{B7092D12-4E28-40D0-A65D-4C80CAC2F55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1507" name="备注占位符 2">
            <a:extLst>
              <a:ext uri="{FF2B5EF4-FFF2-40B4-BE49-F238E27FC236}">
                <a16:creationId xmlns:a16="http://schemas.microsoft.com/office/drawing/2014/main" id="{0C1D7254-AE55-4B3A-B1F0-A3ACBC7BA6A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b="1">
                <a:latin typeface="黑体" panose="02010609060101010101" pitchFamily="49" charset="-122"/>
                <a:ea typeface="黑体" panose="02010609060101010101" pitchFamily="49" charset="-122"/>
              </a:rPr>
              <a:t>仪表的绝对误差限，即在仪表量程范围内可能的最大误差</a:t>
            </a:r>
            <a:endParaRPr lang="zh-CN" altLang="en-US"/>
          </a:p>
        </p:txBody>
      </p:sp>
      <p:sp>
        <p:nvSpPr>
          <p:cNvPr id="21508" name="日期占位符 3">
            <a:extLst>
              <a:ext uri="{FF2B5EF4-FFF2-40B4-BE49-F238E27FC236}">
                <a16:creationId xmlns:a16="http://schemas.microsoft.com/office/drawing/2014/main" id="{F6F712FA-A2EE-4318-A3AC-E21326D8313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D695D29E-1861-4C41-B08B-3A6696161B9B}" type="datetime1">
              <a:rPr lang="zh-CN" altLang="en-US" smtClean="0"/>
              <a:pPr/>
              <a:t>2026/9/4</a:t>
            </a:fld>
            <a:endParaRPr lang="zh-CN" altLang="en-US" sz="1200">
              <a:latin typeface="Calibri" panose="020F0502020204030204" pitchFamily="34" charset="0"/>
            </a:endParaRPr>
          </a:p>
        </p:txBody>
      </p:sp>
      <p:sp>
        <p:nvSpPr>
          <p:cNvPr id="21509" name="灯片编号占位符 4">
            <a:extLst>
              <a:ext uri="{FF2B5EF4-FFF2-40B4-BE49-F238E27FC236}">
                <a16:creationId xmlns:a16="http://schemas.microsoft.com/office/drawing/2014/main" id="{D8B079A9-7326-42F2-92D6-BBCF60B5CE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AF95F41D-EA91-4E50-97C0-2F7EFB982E94}" type="slidenum">
              <a:rPr lang="zh-CN" altLang="en-US" smtClean="0"/>
              <a:pPr/>
              <a:t>6</a:t>
            </a:fld>
            <a:endParaRPr lang="zh-CN" altLang="en-US" sz="1200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幻灯片图像占位符 1">
            <a:extLst>
              <a:ext uri="{FF2B5EF4-FFF2-40B4-BE49-F238E27FC236}">
                <a16:creationId xmlns:a16="http://schemas.microsoft.com/office/drawing/2014/main" id="{86904021-D481-4C59-8A6F-6107645524A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3555" name="备注占位符 2">
            <a:extLst>
              <a:ext uri="{FF2B5EF4-FFF2-40B4-BE49-F238E27FC236}">
                <a16:creationId xmlns:a16="http://schemas.microsoft.com/office/drawing/2014/main" id="{2334D4C2-D76F-496B-A04E-226ED91F7A7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b="1">
                <a:latin typeface="黑体" panose="02010609060101010101" pitchFamily="49" charset="-122"/>
                <a:ea typeface="黑体" panose="02010609060101010101" pitchFamily="49" charset="-122"/>
              </a:rPr>
              <a:t>仪表的绝对误差限，即在仪表量程范围内可能的最大误差</a:t>
            </a:r>
            <a:endParaRPr lang="zh-CN" altLang="en-US"/>
          </a:p>
        </p:txBody>
      </p:sp>
      <p:sp>
        <p:nvSpPr>
          <p:cNvPr id="23556" name="日期占位符 3">
            <a:extLst>
              <a:ext uri="{FF2B5EF4-FFF2-40B4-BE49-F238E27FC236}">
                <a16:creationId xmlns:a16="http://schemas.microsoft.com/office/drawing/2014/main" id="{8F89F92C-5F2D-405E-830B-FDED6528312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AFCBDE94-004C-43B0-BCBF-A83BAF5F96DD}" type="datetime1">
              <a:rPr lang="zh-CN" altLang="en-US" smtClean="0"/>
              <a:pPr/>
              <a:t>2026/9/4</a:t>
            </a:fld>
            <a:endParaRPr lang="zh-CN" altLang="en-US" sz="1200">
              <a:latin typeface="Calibri" panose="020F0502020204030204" pitchFamily="34" charset="0"/>
            </a:endParaRPr>
          </a:p>
        </p:txBody>
      </p:sp>
      <p:sp>
        <p:nvSpPr>
          <p:cNvPr id="23557" name="灯片编号占位符 4">
            <a:extLst>
              <a:ext uri="{FF2B5EF4-FFF2-40B4-BE49-F238E27FC236}">
                <a16:creationId xmlns:a16="http://schemas.microsoft.com/office/drawing/2014/main" id="{26A29EEB-3F30-42B2-B256-F91BDB7FCF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6BC24C8B-BC5F-440C-83FE-7BFE5361F2BE}" type="slidenum">
              <a:rPr lang="zh-CN" altLang="en-US" smtClean="0"/>
              <a:pPr/>
              <a:t>7</a:t>
            </a:fld>
            <a:endParaRPr lang="zh-CN" altLang="en-US" sz="1200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幻灯片图像占位符 1">
            <a:extLst>
              <a:ext uri="{FF2B5EF4-FFF2-40B4-BE49-F238E27FC236}">
                <a16:creationId xmlns:a16="http://schemas.microsoft.com/office/drawing/2014/main" id="{ADD635CC-D144-4586-BB1F-BF60925F8CA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25603" name="备注占位符 2">
            <a:extLst>
              <a:ext uri="{FF2B5EF4-FFF2-40B4-BE49-F238E27FC236}">
                <a16:creationId xmlns:a16="http://schemas.microsoft.com/office/drawing/2014/main" id="{8C57B9C2-FBA9-4C88-A5E9-D820D4131B4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946150" y="4860925"/>
            <a:ext cx="5207000" cy="4605338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不同行业规定的精度等级不同</a:t>
            </a:r>
          </a:p>
        </p:txBody>
      </p:sp>
      <p:sp>
        <p:nvSpPr>
          <p:cNvPr id="25604" name="灯片编号占位符 3">
            <a:extLst>
              <a:ext uri="{FF2B5EF4-FFF2-40B4-BE49-F238E27FC236}">
                <a16:creationId xmlns:a16="http://schemas.microsoft.com/office/drawing/2014/main" id="{028A8C55-EB81-4313-8750-94ADAEFA4B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990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990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990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990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66A134E6-A870-4433-9802-30B50D3F8132}" type="slidenum">
              <a:rPr kumimoji="1" lang="en-US" altLang="zh-CN" sz="1300" smtClean="0">
                <a:latin typeface="Times New Roman" panose="02020603050405020304" pitchFamily="18" charset="0"/>
              </a:rPr>
              <a:pPr/>
              <a:t>8</a:t>
            </a:fld>
            <a:endParaRPr kumimoji="1" lang="en-US" altLang="zh-CN" sz="13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幻灯片图像占位符 1">
            <a:extLst>
              <a:ext uri="{FF2B5EF4-FFF2-40B4-BE49-F238E27FC236}">
                <a16:creationId xmlns:a16="http://schemas.microsoft.com/office/drawing/2014/main" id="{EDFFF4DE-C9A5-4F3C-8A02-1EE05FEF3FB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9699" name="备注占位符 2">
            <a:extLst>
              <a:ext uri="{FF2B5EF4-FFF2-40B4-BE49-F238E27FC236}">
                <a16:creationId xmlns:a16="http://schemas.microsoft.com/office/drawing/2014/main" id="{183C7F1B-74F3-4BDE-999B-4DE0E94D0C9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在测量中我们希望得到精确度高的结果。 </a:t>
            </a:r>
          </a:p>
          <a:p>
            <a:endParaRPr lang="zh-CN" altLang="en-US"/>
          </a:p>
        </p:txBody>
      </p:sp>
      <p:sp>
        <p:nvSpPr>
          <p:cNvPr id="29700" name="日期占位符 3">
            <a:extLst>
              <a:ext uri="{FF2B5EF4-FFF2-40B4-BE49-F238E27FC236}">
                <a16:creationId xmlns:a16="http://schemas.microsoft.com/office/drawing/2014/main" id="{33A99873-C7AC-4ACA-8F55-CC188DE7FA4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C951A570-820E-49C0-8FBD-120C9A867379}" type="datetime1">
              <a:rPr lang="zh-CN" altLang="en-US" smtClean="0"/>
              <a:pPr/>
              <a:t>2026/9/4</a:t>
            </a:fld>
            <a:endParaRPr lang="zh-CN" altLang="en-US" sz="1200">
              <a:latin typeface="Calibri" panose="020F0502020204030204" pitchFamily="34" charset="0"/>
            </a:endParaRPr>
          </a:p>
        </p:txBody>
      </p:sp>
      <p:sp>
        <p:nvSpPr>
          <p:cNvPr id="29701" name="灯片编号占位符 4">
            <a:extLst>
              <a:ext uri="{FF2B5EF4-FFF2-40B4-BE49-F238E27FC236}">
                <a16:creationId xmlns:a16="http://schemas.microsoft.com/office/drawing/2014/main" id="{EA504B96-CE00-4307-B1C5-B95C62E8AF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49B90CDE-581E-4573-93F6-55A0B89E0EBA}" type="slidenum">
              <a:rPr lang="zh-CN" altLang="en-US" smtClean="0"/>
              <a:pPr/>
              <a:t>11</a:t>
            </a:fld>
            <a:endParaRPr lang="zh-CN" altLang="en-US" sz="1200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幻灯片图像占位符 1">
            <a:extLst>
              <a:ext uri="{FF2B5EF4-FFF2-40B4-BE49-F238E27FC236}">
                <a16:creationId xmlns:a16="http://schemas.microsoft.com/office/drawing/2014/main" id="{0D79798D-4845-417F-A86F-8E1381A5CC2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1747" name="备注占位符 2">
            <a:extLst>
              <a:ext uri="{FF2B5EF4-FFF2-40B4-BE49-F238E27FC236}">
                <a16:creationId xmlns:a16="http://schemas.microsoft.com/office/drawing/2014/main" id="{1689D3EC-59B9-4312-8D3B-0B7834FF54F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在测量中我们希望得到精确度高的结果。 </a:t>
            </a:r>
          </a:p>
          <a:p>
            <a:endParaRPr lang="zh-CN" altLang="en-US"/>
          </a:p>
        </p:txBody>
      </p:sp>
      <p:sp>
        <p:nvSpPr>
          <p:cNvPr id="31748" name="日期占位符 3">
            <a:extLst>
              <a:ext uri="{FF2B5EF4-FFF2-40B4-BE49-F238E27FC236}">
                <a16:creationId xmlns:a16="http://schemas.microsoft.com/office/drawing/2014/main" id="{5D77115E-CB9F-4C3D-8239-6B7C175FB74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4CEF0EA2-F9EC-4EBA-B9A1-E482B3064BD8}" type="datetime1">
              <a:rPr lang="zh-CN" altLang="en-US" smtClean="0"/>
              <a:pPr/>
              <a:t>2026/9/4</a:t>
            </a:fld>
            <a:endParaRPr lang="zh-CN" altLang="en-US" sz="1200">
              <a:latin typeface="Calibri" panose="020F0502020204030204" pitchFamily="34" charset="0"/>
            </a:endParaRPr>
          </a:p>
        </p:txBody>
      </p:sp>
      <p:sp>
        <p:nvSpPr>
          <p:cNvPr id="31749" name="灯片编号占位符 4">
            <a:extLst>
              <a:ext uri="{FF2B5EF4-FFF2-40B4-BE49-F238E27FC236}">
                <a16:creationId xmlns:a16="http://schemas.microsoft.com/office/drawing/2014/main" id="{3D977052-4B9F-42E0-B4BE-D21F51CEC0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4CF5CFDB-C06E-4D26-B66D-93564F70F7B5}" type="slidenum">
              <a:rPr lang="zh-CN" altLang="en-US" smtClean="0"/>
              <a:pPr/>
              <a:t>12</a:t>
            </a:fld>
            <a:endParaRPr lang="zh-CN" altLang="en-US" sz="1200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幻灯片图像占位符 1">
            <a:extLst>
              <a:ext uri="{FF2B5EF4-FFF2-40B4-BE49-F238E27FC236}">
                <a16:creationId xmlns:a16="http://schemas.microsoft.com/office/drawing/2014/main" id="{6329D9F3-D289-4504-A047-0853389740D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3795" name="备注占位符 2">
            <a:extLst>
              <a:ext uri="{FF2B5EF4-FFF2-40B4-BE49-F238E27FC236}">
                <a16:creationId xmlns:a16="http://schemas.microsoft.com/office/drawing/2014/main" id="{F29CC750-73EF-405B-8074-790FD906F86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在测量中我们希望得到精确度高的结果。 </a:t>
            </a:r>
          </a:p>
          <a:p>
            <a:endParaRPr lang="zh-CN" altLang="en-US"/>
          </a:p>
        </p:txBody>
      </p:sp>
      <p:sp>
        <p:nvSpPr>
          <p:cNvPr id="33796" name="日期占位符 3">
            <a:extLst>
              <a:ext uri="{FF2B5EF4-FFF2-40B4-BE49-F238E27FC236}">
                <a16:creationId xmlns:a16="http://schemas.microsoft.com/office/drawing/2014/main" id="{D96F8629-C0F4-47DF-AC88-34F9116869D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D5D90704-7522-4AB0-868A-DFB23316355E}" type="datetime1">
              <a:rPr lang="zh-CN" altLang="en-US" smtClean="0"/>
              <a:pPr/>
              <a:t>2026/9/4</a:t>
            </a:fld>
            <a:endParaRPr lang="zh-CN" altLang="en-US" sz="1200">
              <a:latin typeface="Calibri" panose="020F0502020204030204" pitchFamily="34" charset="0"/>
            </a:endParaRPr>
          </a:p>
        </p:txBody>
      </p:sp>
      <p:sp>
        <p:nvSpPr>
          <p:cNvPr id="33797" name="灯片编号占位符 4">
            <a:extLst>
              <a:ext uri="{FF2B5EF4-FFF2-40B4-BE49-F238E27FC236}">
                <a16:creationId xmlns:a16="http://schemas.microsoft.com/office/drawing/2014/main" id="{FFECA25D-B9F9-4DA9-87A0-CFE6B66FAF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70B768BD-794B-43A6-803D-C09663AC4A35}" type="slidenum">
              <a:rPr lang="zh-CN" altLang="en-US" smtClean="0"/>
              <a:pPr/>
              <a:t>13</a:t>
            </a:fld>
            <a:endParaRPr lang="zh-CN" altLang="en-US" sz="1200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幻灯片图像占位符 1">
            <a:extLst>
              <a:ext uri="{FF2B5EF4-FFF2-40B4-BE49-F238E27FC236}">
                <a16:creationId xmlns:a16="http://schemas.microsoft.com/office/drawing/2014/main" id="{17304B28-991E-402E-8939-6B47159ADFC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8915" name="备注占位符 2">
            <a:extLst>
              <a:ext uri="{FF2B5EF4-FFF2-40B4-BE49-F238E27FC236}">
                <a16:creationId xmlns:a16="http://schemas.microsoft.com/office/drawing/2014/main" id="{A043829C-CB56-4FCF-94BE-B62D6371B23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例如：工作基准米尺连续</a:t>
            </a:r>
            <a:r>
              <a:rPr lang="en-US" altLang="zh-CN"/>
              <a:t>3</a:t>
            </a:r>
            <a:r>
              <a:rPr lang="zh-CN" altLang="en-US"/>
              <a:t>天与国家基准器比较，得到基准米尺的平均长度为</a:t>
            </a:r>
            <a:r>
              <a:rPr lang="en-US" altLang="zh-CN"/>
              <a:t>999.9425mm</a:t>
            </a:r>
            <a:r>
              <a:rPr lang="zh-CN" altLang="en-US"/>
              <a:t>（三次测量）、</a:t>
            </a:r>
            <a:r>
              <a:rPr lang="en-US" altLang="zh-CN"/>
              <a:t>999.9416mm</a:t>
            </a:r>
            <a:r>
              <a:rPr lang="zh-CN" altLang="en-US"/>
              <a:t>（二次测量）、</a:t>
            </a:r>
            <a:r>
              <a:rPr lang="en-US" altLang="zh-CN"/>
              <a:t>999.9419mm</a:t>
            </a:r>
            <a:r>
              <a:rPr lang="zh-CN" altLang="en-US"/>
              <a:t>（五次测量）。则权重分别为</a:t>
            </a:r>
            <a:r>
              <a:rPr lang="en-US" altLang="zh-CN"/>
              <a:t>3</a:t>
            </a:r>
            <a:r>
              <a:rPr lang="zh-CN" altLang="en-US"/>
              <a:t>、</a:t>
            </a:r>
            <a:r>
              <a:rPr lang="en-US" altLang="zh-CN"/>
              <a:t>2</a:t>
            </a:r>
            <a:r>
              <a:rPr lang="zh-CN" altLang="en-US"/>
              <a:t>、</a:t>
            </a:r>
            <a:r>
              <a:rPr lang="en-US" altLang="zh-CN"/>
              <a:t>5</a:t>
            </a:r>
            <a:endParaRPr lang="zh-CN" altLang="en-US"/>
          </a:p>
        </p:txBody>
      </p:sp>
      <p:sp>
        <p:nvSpPr>
          <p:cNvPr id="38916" name="日期占位符 3">
            <a:extLst>
              <a:ext uri="{FF2B5EF4-FFF2-40B4-BE49-F238E27FC236}">
                <a16:creationId xmlns:a16="http://schemas.microsoft.com/office/drawing/2014/main" id="{DA05BF0C-66FA-4522-9AB7-D8E73CDD5C9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5244A244-4CD6-47E1-8F39-1A23A0963163}" type="datetime1">
              <a:rPr lang="zh-CN" altLang="en-US" smtClean="0"/>
              <a:pPr/>
              <a:t>2026/9/4</a:t>
            </a:fld>
            <a:endParaRPr lang="zh-CN" altLang="en-US" sz="1200">
              <a:latin typeface="Calibri" panose="020F0502020204030204" pitchFamily="34" charset="0"/>
            </a:endParaRPr>
          </a:p>
        </p:txBody>
      </p:sp>
      <p:sp>
        <p:nvSpPr>
          <p:cNvPr id="38917" name="灯片编号占位符 4">
            <a:extLst>
              <a:ext uri="{FF2B5EF4-FFF2-40B4-BE49-F238E27FC236}">
                <a16:creationId xmlns:a16="http://schemas.microsoft.com/office/drawing/2014/main" id="{8B74712D-9A63-4C8D-9E45-B98B71D83E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4D1ED337-5A48-4DD0-8A4A-8C2F615C46B9}" type="slidenum">
              <a:rPr lang="zh-CN" altLang="en-US" smtClean="0"/>
              <a:pPr/>
              <a:t>17</a:t>
            </a:fld>
            <a:endParaRPr lang="zh-CN" altLang="en-US" sz="1200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幻灯片图像占位符 1">
            <a:extLst>
              <a:ext uri="{FF2B5EF4-FFF2-40B4-BE49-F238E27FC236}">
                <a16:creationId xmlns:a16="http://schemas.microsoft.com/office/drawing/2014/main" id="{1ECDD099-73E0-4434-ABAC-B8AD3796A4B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0963" name="备注占位符 2">
            <a:extLst>
              <a:ext uri="{FF2B5EF4-FFF2-40B4-BE49-F238E27FC236}">
                <a16:creationId xmlns:a16="http://schemas.microsoft.com/office/drawing/2014/main" id="{AB716D4C-E12B-4EC0-98B6-1B941A98E13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例如：工作基准米尺连续</a:t>
            </a:r>
            <a:r>
              <a:rPr lang="en-US" altLang="zh-CN"/>
              <a:t>3</a:t>
            </a:r>
            <a:r>
              <a:rPr lang="zh-CN" altLang="en-US"/>
              <a:t>天与国家基准器比较，得到基准米尺的平均长度为</a:t>
            </a:r>
            <a:r>
              <a:rPr lang="en-US" altLang="zh-CN"/>
              <a:t>999.9425mm</a:t>
            </a:r>
            <a:r>
              <a:rPr lang="zh-CN" altLang="en-US"/>
              <a:t>（三次测量）、</a:t>
            </a:r>
            <a:r>
              <a:rPr lang="en-US" altLang="zh-CN"/>
              <a:t>999.9416mm</a:t>
            </a:r>
            <a:r>
              <a:rPr lang="zh-CN" altLang="en-US"/>
              <a:t>（二次测量）、</a:t>
            </a:r>
            <a:r>
              <a:rPr lang="en-US" altLang="zh-CN"/>
              <a:t>999.9419mm</a:t>
            </a:r>
            <a:r>
              <a:rPr lang="zh-CN" altLang="en-US"/>
              <a:t>（五次测量）。则权重分别为</a:t>
            </a:r>
            <a:r>
              <a:rPr lang="en-US" altLang="zh-CN"/>
              <a:t>3</a:t>
            </a:r>
            <a:r>
              <a:rPr lang="zh-CN" altLang="en-US"/>
              <a:t>、</a:t>
            </a:r>
            <a:r>
              <a:rPr lang="en-US" altLang="zh-CN"/>
              <a:t>2</a:t>
            </a:r>
            <a:r>
              <a:rPr lang="zh-CN" altLang="en-US"/>
              <a:t>、</a:t>
            </a:r>
            <a:r>
              <a:rPr lang="en-US" altLang="zh-CN"/>
              <a:t>5</a:t>
            </a:r>
            <a:endParaRPr lang="zh-CN" altLang="en-US"/>
          </a:p>
        </p:txBody>
      </p:sp>
      <p:sp>
        <p:nvSpPr>
          <p:cNvPr id="40964" name="日期占位符 3">
            <a:extLst>
              <a:ext uri="{FF2B5EF4-FFF2-40B4-BE49-F238E27FC236}">
                <a16:creationId xmlns:a16="http://schemas.microsoft.com/office/drawing/2014/main" id="{AED0A9B5-7C58-4D71-A276-86843B889A6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6FBD33CB-1126-436F-83B2-381DC5B6BC36}" type="datetime1">
              <a:rPr lang="zh-CN" altLang="en-US" smtClean="0"/>
              <a:pPr/>
              <a:t>2026/9/4</a:t>
            </a:fld>
            <a:endParaRPr lang="zh-CN" altLang="en-US" sz="1200">
              <a:latin typeface="Calibri" panose="020F0502020204030204" pitchFamily="34" charset="0"/>
            </a:endParaRPr>
          </a:p>
        </p:txBody>
      </p:sp>
      <p:sp>
        <p:nvSpPr>
          <p:cNvPr id="40965" name="灯片编号占位符 4">
            <a:extLst>
              <a:ext uri="{FF2B5EF4-FFF2-40B4-BE49-F238E27FC236}">
                <a16:creationId xmlns:a16="http://schemas.microsoft.com/office/drawing/2014/main" id="{06862B75-2782-419F-ABAC-8050762461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F74C2007-D617-41A9-8D04-D1BBC1B9EDDB}" type="slidenum">
              <a:rPr lang="zh-CN" altLang="en-US" smtClean="0"/>
              <a:pPr/>
              <a:t>18</a:t>
            </a:fld>
            <a:endParaRPr lang="zh-CN" altLang="en-US" sz="1200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>
            <a:extLst>
              <a:ext uri="{FF2B5EF4-FFF2-40B4-BE49-F238E27FC236}">
                <a16:creationId xmlns:a16="http://schemas.microsoft.com/office/drawing/2014/main" id="{37D5E344-6E5A-4426-A48C-3F6BC1F4039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4035" name="备注占位符 2">
            <a:extLst>
              <a:ext uri="{FF2B5EF4-FFF2-40B4-BE49-F238E27FC236}">
                <a16:creationId xmlns:a16="http://schemas.microsoft.com/office/drawing/2014/main" id="{E2760586-B066-4C37-9D64-715DD9DF124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b="1">
                <a:latin typeface="黑体" panose="02010609060101010101" pitchFamily="49" charset="-122"/>
                <a:ea typeface="黑体" panose="02010609060101010101" pitchFamily="49" charset="-122"/>
              </a:rPr>
              <a:t>实验对比法，例如用更高准确度的仪器</a:t>
            </a:r>
          </a:p>
          <a:p>
            <a:endParaRPr lang="zh-CN" altLang="en-US"/>
          </a:p>
        </p:txBody>
      </p:sp>
      <p:sp>
        <p:nvSpPr>
          <p:cNvPr id="44036" name="日期占位符 3">
            <a:extLst>
              <a:ext uri="{FF2B5EF4-FFF2-40B4-BE49-F238E27FC236}">
                <a16:creationId xmlns:a16="http://schemas.microsoft.com/office/drawing/2014/main" id="{C4D3E53A-B99E-429C-A8A0-5228242AA78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17135092-A84B-4656-92CF-B094DB2F6F4F}" type="datetime1">
              <a:rPr lang="zh-CN" altLang="en-US" smtClean="0"/>
              <a:pPr/>
              <a:t>2026/9/4</a:t>
            </a:fld>
            <a:endParaRPr lang="zh-CN" altLang="en-US" sz="1200">
              <a:latin typeface="Calibri" panose="020F0502020204030204" pitchFamily="34" charset="0"/>
            </a:endParaRPr>
          </a:p>
        </p:txBody>
      </p:sp>
      <p:sp>
        <p:nvSpPr>
          <p:cNvPr id="44037" name="灯片编号占位符 4">
            <a:extLst>
              <a:ext uri="{FF2B5EF4-FFF2-40B4-BE49-F238E27FC236}">
                <a16:creationId xmlns:a16="http://schemas.microsoft.com/office/drawing/2014/main" id="{78F9D0EB-B600-45B2-9C4D-A35E5C22BF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D2DA3300-C4BA-4B0F-B2C5-A7449635EB86}" type="slidenum">
              <a:rPr lang="zh-CN" altLang="en-US" smtClean="0"/>
              <a:pPr/>
              <a:t>20</a:t>
            </a:fld>
            <a:endParaRPr lang="zh-CN" altLang="en-US" sz="1200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幻灯片图像占位符 1">
            <a:extLst>
              <a:ext uri="{FF2B5EF4-FFF2-40B4-BE49-F238E27FC236}">
                <a16:creationId xmlns:a16="http://schemas.microsoft.com/office/drawing/2014/main" id="{05373B6A-2999-423C-9729-14DD5FA432F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0179" name="备注占位符 2">
            <a:extLst>
              <a:ext uri="{FF2B5EF4-FFF2-40B4-BE49-F238E27FC236}">
                <a16:creationId xmlns:a16="http://schemas.microsoft.com/office/drawing/2014/main" id="{BB1AF84C-CE4A-49DD-8AE2-951A0B9FD57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前面所讨论的主要是直接测量量的误差计算，但在有些情况下，不能进行直接测量，或者，直接测量难以保证测量精确度，需要采用间接测量。</a:t>
            </a:r>
          </a:p>
          <a:p>
            <a:endParaRPr lang="zh-CN" altLang="en-US"/>
          </a:p>
        </p:txBody>
      </p:sp>
      <p:sp>
        <p:nvSpPr>
          <p:cNvPr id="50180" name="日期占位符 3">
            <a:extLst>
              <a:ext uri="{FF2B5EF4-FFF2-40B4-BE49-F238E27FC236}">
                <a16:creationId xmlns:a16="http://schemas.microsoft.com/office/drawing/2014/main" id="{D468C445-3B32-42E2-A1D7-BEF9576C5B5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03098F82-879C-4400-985A-1C37675295E8}" type="datetime1">
              <a:rPr lang="zh-CN" altLang="en-US" smtClean="0"/>
              <a:pPr/>
              <a:t>2026/9/4</a:t>
            </a:fld>
            <a:endParaRPr lang="zh-CN" altLang="en-US" sz="1200">
              <a:latin typeface="Calibri" panose="020F0502020204030204" pitchFamily="34" charset="0"/>
            </a:endParaRPr>
          </a:p>
        </p:txBody>
      </p:sp>
      <p:sp>
        <p:nvSpPr>
          <p:cNvPr id="50181" name="灯片编号占位符 4">
            <a:extLst>
              <a:ext uri="{FF2B5EF4-FFF2-40B4-BE49-F238E27FC236}">
                <a16:creationId xmlns:a16="http://schemas.microsoft.com/office/drawing/2014/main" id="{6CA82169-EF4A-49A4-ACAA-1ABBC9714C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FFB741F7-8308-4F27-BDE0-817C69190D75}" type="slidenum">
              <a:rPr lang="zh-CN" altLang="en-US" smtClean="0"/>
              <a:pPr/>
              <a:t>25</a:t>
            </a:fld>
            <a:endParaRPr lang="zh-CN" altLang="en-US" sz="1200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幻灯片图像占位符 1">
            <a:extLst>
              <a:ext uri="{FF2B5EF4-FFF2-40B4-BE49-F238E27FC236}">
                <a16:creationId xmlns:a16="http://schemas.microsoft.com/office/drawing/2014/main" id="{9E6F1C82-FC0B-418B-8389-BB8C3BC0D4F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2227" name="备注占位符 2">
            <a:extLst>
              <a:ext uri="{FF2B5EF4-FFF2-40B4-BE49-F238E27FC236}">
                <a16:creationId xmlns:a16="http://schemas.microsoft.com/office/drawing/2014/main" id="{5E39DB9E-9470-445A-B889-2675FDA9599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前面所讨论的主要是直接测量量的误差计算，但在有些情况下，不能进行直接测量，或者，直接测量难以保证测量精确度，需要采用间接测量。</a:t>
            </a:r>
          </a:p>
        </p:txBody>
      </p:sp>
      <p:sp>
        <p:nvSpPr>
          <p:cNvPr id="52228" name="日期占位符 3">
            <a:extLst>
              <a:ext uri="{FF2B5EF4-FFF2-40B4-BE49-F238E27FC236}">
                <a16:creationId xmlns:a16="http://schemas.microsoft.com/office/drawing/2014/main" id="{CBB4EFE3-D7C3-4E43-B1DA-D2112A09B8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4C58F1C2-097E-4577-8188-0E0F69CFF722}" type="datetime1">
              <a:rPr lang="zh-CN" altLang="en-US" smtClean="0"/>
              <a:pPr/>
              <a:t>2026/9/4</a:t>
            </a:fld>
            <a:endParaRPr lang="zh-CN" altLang="en-US" sz="1200">
              <a:latin typeface="Calibri" panose="020F0502020204030204" pitchFamily="34" charset="0"/>
            </a:endParaRPr>
          </a:p>
        </p:txBody>
      </p:sp>
      <p:sp>
        <p:nvSpPr>
          <p:cNvPr id="52229" name="灯片编号占位符 4">
            <a:extLst>
              <a:ext uri="{FF2B5EF4-FFF2-40B4-BE49-F238E27FC236}">
                <a16:creationId xmlns:a16="http://schemas.microsoft.com/office/drawing/2014/main" id="{015A008E-8825-461B-81BB-5F8E3A0355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E30A6AB3-2D48-4A3F-B02F-56B5AB315E4C}" type="slidenum">
              <a:rPr lang="zh-CN" altLang="en-US" smtClean="0"/>
              <a:pPr/>
              <a:t>26</a:t>
            </a:fld>
            <a:endParaRPr lang="zh-CN" altLang="en-US" sz="1200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幻灯片图像占位符 1">
            <a:extLst>
              <a:ext uri="{FF2B5EF4-FFF2-40B4-BE49-F238E27FC236}">
                <a16:creationId xmlns:a16="http://schemas.microsoft.com/office/drawing/2014/main" id="{33658E94-6FDE-42F5-9069-78DDFD48B77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4275" name="备注占位符 2">
            <a:extLst>
              <a:ext uri="{FF2B5EF4-FFF2-40B4-BE49-F238E27FC236}">
                <a16:creationId xmlns:a16="http://schemas.microsoft.com/office/drawing/2014/main" id="{4B426659-3A19-4B61-881F-88695F839EF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在进行测量工作前，应根据给定测量总误差的允差来选择方案，合理进行误差分配，确定各单项误差，以保证测量精确度。</a:t>
            </a:r>
          </a:p>
        </p:txBody>
      </p:sp>
      <p:sp>
        <p:nvSpPr>
          <p:cNvPr id="54276" name="日期占位符 3">
            <a:extLst>
              <a:ext uri="{FF2B5EF4-FFF2-40B4-BE49-F238E27FC236}">
                <a16:creationId xmlns:a16="http://schemas.microsoft.com/office/drawing/2014/main" id="{D7BFF4B8-9081-4824-9399-81D1CE5E222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43A4BAD0-3A71-4AAC-9EA2-A6E5DB57258C}" type="datetime1">
              <a:rPr lang="zh-CN" altLang="en-US" smtClean="0"/>
              <a:pPr/>
              <a:t>2026/9/4</a:t>
            </a:fld>
            <a:endParaRPr lang="zh-CN" altLang="en-US" sz="1200">
              <a:latin typeface="Calibri" panose="020F0502020204030204" pitchFamily="34" charset="0"/>
            </a:endParaRPr>
          </a:p>
        </p:txBody>
      </p:sp>
      <p:sp>
        <p:nvSpPr>
          <p:cNvPr id="54277" name="灯片编号占位符 4">
            <a:extLst>
              <a:ext uri="{FF2B5EF4-FFF2-40B4-BE49-F238E27FC236}">
                <a16:creationId xmlns:a16="http://schemas.microsoft.com/office/drawing/2014/main" id="{259EA899-1309-420F-9D7D-EA513E6B69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6236253B-CABE-4C1D-BEB5-CFED47394721}" type="slidenum">
              <a:rPr lang="zh-CN" altLang="en-US" smtClean="0"/>
              <a:pPr/>
              <a:t>27</a:t>
            </a:fld>
            <a:endParaRPr lang="zh-CN" altLang="en-US" sz="1200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幻灯片图像占位符 1">
            <a:extLst>
              <a:ext uri="{FF2B5EF4-FFF2-40B4-BE49-F238E27FC236}">
                <a16:creationId xmlns:a16="http://schemas.microsoft.com/office/drawing/2014/main" id="{89146874-F53E-4BD7-A6BD-258003656B5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6323" name="备注占位符 2">
            <a:extLst>
              <a:ext uri="{FF2B5EF4-FFF2-40B4-BE49-F238E27FC236}">
                <a16:creationId xmlns:a16="http://schemas.microsoft.com/office/drawing/2014/main" id="{BF510593-AC13-44A9-B15A-20571410EDA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最佳函数误差公式：</a:t>
            </a:r>
            <a:r>
              <a:rPr lang="zh-CN" altLang="en-US">
                <a:sym typeface="Wingdings" panose="05000000000000000000" pitchFamily="2" charset="2"/>
              </a:rPr>
              <a:t>（</a:t>
            </a:r>
            <a:r>
              <a:rPr lang="en-US" altLang="zh-CN">
                <a:sym typeface="Wingdings" panose="05000000000000000000" pitchFamily="2" charset="2"/>
              </a:rPr>
              <a:t>1</a:t>
            </a:r>
            <a:r>
              <a:rPr lang="zh-CN" altLang="en-US">
                <a:sym typeface="Wingdings" panose="05000000000000000000" pitchFamily="2" charset="2"/>
              </a:rPr>
              <a:t>）尽可能减小直接测量量数目；（</a:t>
            </a:r>
            <a:r>
              <a:rPr lang="en-US" altLang="zh-CN">
                <a:sym typeface="Wingdings" panose="05000000000000000000" pitchFamily="2" charset="2"/>
              </a:rPr>
              <a:t>2</a:t>
            </a:r>
            <a:r>
              <a:rPr lang="zh-CN" altLang="en-US">
                <a:sym typeface="Wingdings" panose="05000000000000000000" pitchFamily="2" charset="2"/>
              </a:rPr>
              <a:t>）选择误差较小的测量；</a:t>
            </a:r>
            <a:endParaRPr lang="zh-CN" altLang="en-US"/>
          </a:p>
        </p:txBody>
      </p:sp>
      <p:sp>
        <p:nvSpPr>
          <p:cNvPr id="56324" name="日期占位符 3">
            <a:extLst>
              <a:ext uri="{FF2B5EF4-FFF2-40B4-BE49-F238E27FC236}">
                <a16:creationId xmlns:a16="http://schemas.microsoft.com/office/drawing/2014/main" id="{21C7C97C-FBF4-49AF-B272-3F5AC348F6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6FE77F8D-84ED-4CF5-90BE-0AA7A3EAD1A8}" type="datetime1">
              <a:rPr lang="zh-CN" altLang="en-US" smtClean="0"/>
              <a:pPr/>
              <a:t>2026/9/4</a:t>
            </a:fld>
            <a:endParaRPr lang="zh-CN" altLang="en-US" sz="1200">
              <a:latin typeface="Calibri" panose="020F0502020204030204" pitchFamily="34" charset="0"/>
            </a:endParaRPr>
          </a:p>
        </p:txBody>
      </p:sp>
      <p:sp>
        <p:nvSpPr>
          <p:cNvPr id="56325" name="灯片编号占位符 4">
            <a:extLst>
              <a:ext uri="{FF2B5EF4-FFF2-40B4-BE49-F238E27FC236}">
                <a16:creationId xmlns:a16="http://schemas.microsoft.com/office/drawing/2014/main" id="{47C1AB42-5703-41F4-BA7F-ABD496D83E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9EFECBFB-B532-4BB6-97D5-845C8D9988B3}" type="slidenum">
              <a:rPr lang="zh-CN" altLang="en-US" smtClean="0"/>
              <a:pPr/>
              <a:t>28</a:t>
            </a:fld>
            <a:endParaRPr lang="zh-CN" altLang="en-US" sz="1200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幻灯片图像占位符 1">
            <a:extLst>
              <a:ext uri="{FF2B5EF4-FFF2-40B4-BE49-F238E27FC236}">
                <a16:creationId xmlns:a16="http://schemas.microsoft.com/office/drawing/2014/main" id="{997B80F5-D966-4F80-8381-2875E698D2A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9395" name="备注占位符 2">
            <a:extLst>
              <a:ext uri="{FF2B5EF4-FFF2-40B4-BE49-F238E27FC236}">
                <a16:creationId xmlns:a16="http://schemas.microsoft.com/office/drawing/2014/main" id="{06E28963-FF53-4975-8000-4D2774C85FD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最佳函数误差公式：</a:t>
            </a:r>
            <a:r>
              <a:rPr lang="zh-CN" altLang="en-US">
                <a:sym typeface="Wingdings" panose="05000000000000000000" pitchFamily="2" charset="2"/>
              </a:rPr>
              <a:t>（</a:t>
            </a:r>
            <a:r>
              <a:rPr lang="en-US" altLang="zh-CN">
                <a:sym typeface="Wingdings" panose="05000000000000000000" pitchFamily="2" charset="2"/>
              </a:rPr>
              <a:t>1</a:t>
            </a:r>
            <a:r>
              <a:rPr lang="zh-CN" altLang="en-US">
                <a:sym typeface="Wingdings" panose="05000000000000000000" pitchFamily="2" charset="2"/>
              </a:rPr>
              <a:t>）尽可能减小直接测量量数目；（</a:t>
            </a:r>
            <a:r>
              <a:rPr lang="en-US" altLang="zh-CN">
                <a:sym typeface="Wingdings" panose="05000000000000000000" pitchFamily="2" charset="2"/>
              </a:rPr>
              <a:t>2</a:t>
            </a:r>
            <a:r>
              <a:rPr lang="zh-CN" altLang="en-US">
                <a:sym typeface="Wingdings" panose="05000000000000000000" pitchFamily="2" charset="2"/>
              </a:rPr>
              <a:t>）选择误差较小的测量；</a:t>
            </a:r>
            <a:endParaRPr lang="zh-CN" altLang="en-US"/>
          </a:p>
        </p:txBody>
      </p:sp>
      <p:sp>
        <p:nvSpPr>
          <p:cNvPr id="59396" name="日期占位符 3">
            <a:extLst>
              <a:ext uri="{FF2B5EF4-FFF2-40B4-BE49-F238E27FC236}">
                <a16:creationId xmlns:a16="http://schemas.microsoft.com/office/drawing/2014/main" id="{8A2CDB52-FC4E-4AA3-8944-74F3525663C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7A0C9800-07AB-4BE6-8838-29BAADAEEEB4}" type="datetime1">
              <a:rPr lang="zh-CN" altLang="en-US" smtClean="0"/>
              <a:pPr/>
              <a:t>2026/9/4</a:t>
            </a:fld>
            <a:endParaRPr lang="zh-CN" altLang="en-US" sz="1200">
              <a:latin typeface="Calibri" panose="020F0502020204030204" pitchFamily="34" charset="0"/>
            </a:endParaRPr>
          </a:p>
        </p:txBody>
      </p:sp>
      <p:sp>
        <p:nvSpPr>
          <p:cNvPr id="59397" name="灯片编号占位符 4">
            <a:extLst>
              <a:ext uri="{FF2B5EF4-FFF2-40B4-BE49-F238E27FC236}">
                <a16:creationId xmlns:a16="http://schemas.microsoft.com/office/drawing/2014/main" id="{BD08F93C-05C4-4E03-ABB7-BC0A8085BB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C2E9CBA6-C526-4C13-99EF-344C78682D2F}" type="slidenum">
              <a:rPr lang="zh-CN" altLang="en-US" smtClean="0"/>
              <a:pPr/>
              <a:t>30</a:t>
            </a:fld>
            <a:endParaRPr lang="zh-CN" altLang="en-US" sz="1200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幻灯片图像占位符 1">
            <a:extLst>
              <a:ext uri="{FF2B5EF4-FFF2-40B4-BE49-F238E27FC236}">
                <a16:creationId xmlns:a16="http://schemas.microsoft.com/office/drawing/2014/main" id="{5A4F0BAD-BC0D-4E72-B511-5A2D44DD835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1443" name="备注占位符 2">
            <a:extLst>
              <a:ext uri="{FF2B5EF4-FFF2-40B4-BE49-F238E27FC236}">
                <a16:creationId xmlns:a16="http://schemas.microsoft.com/office/drawing/2014/main" id="{E3C34603-3479-40FE-A2F1-54FF42D7E81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最佳函数误差公式：</a:t>
            </a:r>
            <a:r>
              <a:rPr lang="zh-CN" altLang="en-US">
                <a:sym typeface="Wingdings" panose="05000000000000000000" pitchFamily="2" charset="2"/>
              </a:rPr>
              <a:t>（</a:t>
            </a:r>
            <a:r>
              <a:rPr lang="en-US" altLang="zh-CN">
                <a:sym typeface="Wingdings" panose="05000000000000000000" pitchFamily="2" charset="2"/>
              </a:rPr>
              <a:t>1</a:t>
            </a:r>
            <a:r>
              <a:rPr lang="zh-CN" altLang="en-US">
                <a:sym typeface="Wingdings" panose="05000000000000000000" pitchFamily="2" charset="2"/>
              </a:rPr>
              <a:t>）尽可能减小直接测量量数目；（</a:t>
            </a:r>
            <a:r>
              <a:rPr lang="en-US" altLang="zh-CN">
                <a:sym typeface="Wingdings" panose="05000000000000000000" pitchFamily="2" charset="2"/>
              </a:rPr>
              <a:t>2</a:t>
            </a:r>
            <a:r>
              <a:rPr lang="zh-CN" altLang="en-US">
                <a:sym typeface="Wingdings" panose="05000000000000000000" pitchFamily="2" charset="2"/>
              </a:rPr>
              <a:t>）选择误差较小的测量；</a:t>
            </a:r>
            <a:endParaRPr lang="zh-CN" altLang="en-US"/>
          </a:p>
        </p:txBody>
      </p:sp>
      <p:sp>
        <p:nvSpPr>
          <p:cNvPr id="61444" name="日期占位符 3">
            <a:extLst>
              <a:ext uri="{FF2B5EF4-FFF2-40B4-BE49-F238E27FC236}">
                <a16:creationId xmlns:a16="http://schemas.microsoft.com/office/drawing/2014/main" id="{3E6AD162-08CA-4A05-BF14-43E453B00D8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ACC39A05-391E-4394-AAA0-78240082D26C}" type="datetime1">
              <a:rPr lang="zh-CN" altLang="en-US" smtClean="0"/>
              <a:pPr/>
              <a:t>2026/9/4</a:t>
            </a:fld>
            <a:endParaRPr lang="zh-CN" altLang="en-US" sz="1200">
              <a:latin typeface="Calibri" panose="020F0502020204030204" pitchFamily="34" charset="0"/>
            </a:endParaRPr>
          </a:p>
        </p:txBody>
      </p:sp>
      <p:sp>
        <p:nvSpPr>
          <p:cNvPr id="61445" name="灯片编号占位符 4">
            <a:extLst>
              <a:ext uri="{FF2B5EF4-FFF2-40B4-BE49-F238E27FC236}">
                <a16:creationId xmlns:a16="http://schemas.microsoft.com/office/drawing/2014/main" id="{1684EE49-59CE-4215-8CF9-2FD700A4BE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8EC23E38-530D-4988-AB52-3F05E4EF2582}" type="slidenum">
              <a:rPr lang="zh-CN" altLang="en-US" smtClean="0"/>
              <a:pPr/>
              <a:t>31</a:t>
            </a:fld>
            <a:endParaRPr lang="zh-CN" altLang="en-US" sz="1200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幻灯片图像占位符 1">
            <a:extLst>
              <a:ext uri="{FF2B5EF4-FFF2-40B4-BE49-F238E27FC236}">
                <a16:creationId xmlns:a16="http://schemas.microsoft.com/office/drawing/2014/main" id="{9FBCDFD4-0A28-4334-B3B1-E39D2079E72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4515" name="备注占位符 2">
            <a:extLst>
              <a:ext uri="{FF2B5EF4-FFF2-40B4-BE49-F238E27FC236}">
                <a16:creationId xmlns:a16="http://schemas.microsoft.com/office/drawing/2014/main" id="{DD064451-3508-4AF9-A7D3-A1239B1C8D5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最佳函数误差公式：</a:t>
            </a:r>
            <a:r>
              <a:rPr lang="zh-CN" altLang="en-US">
                <a:sym typeface="Wingdings" panose="05000000000000000000" pitchFamily="2" charset="2"/>
              </a:rPr>
              <a:t>（</a:t>
            </a:r>
            <a:r>
              <a:rPr lang="en-US" altLang="zh-CN">
                <a:sym typeface="Wingdings" panose="05000000000000000000" pitchFamily="2" charset="2"/>
              </a:rPr>
              <a:t>1</a:t>
            </a:r>
            <a:r>
              <a:rPr lang="zh-CN" altLang="en-US">
                <a:sym typeface="Wingdings" panose="05000000000000000000" pitchFamily="2" charset="2"/>
              </a:rPr>
              <a:t>）尽可能减小直接测量量数目；（</a:t>
            </a:r>
            <a:r>
              <a:rPr lang="en-US" altLang="zh-CN">
                <a:sym typeface="Wingdings" panose="05000000000000000000" pitchFamily="2" charset="2"/>
              </a:rPr>
              <a:t>2</a:t>
            </a:r>
            <a:r>
              <a:rPr lang="zh-CN" altLang="en-US">
                <a:sym typeface="Wingdings" panose="05000000000000000000" pitchFamily="2" charset="2"/>
              </a:rPr>
              <a:t>）选择误差较小的测量；</a:t>
            </a:r>
            <a:endParaRPr lang="zh-CN" altLang="en-US"/>
          </a:p>
        </p:txBody>
      </p:sp>
      <p:sp>
        <p:nvSpPr>
          <p:cNvPr id="64516" name="日期占位符 3">
            <a:extLst>
              <a:ext uri="{FF2B5EF4-FFF2-40B4-BE49-F238E27FC236}">
                <a16:creationId xmlns:a16="http://schemas.microsoft.com/office/drawing/2014/main" id="{0045C498-14E1-4A2E-BBC2-75D7B8F1A96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44F89CD3-AEB0-4626-BA5D-D9437214A5B6}" type="datetime1">
              <a:rPr lang="zh-CN" altLang="en-US" smtClean="0"/>
              <a:pPr/>
              <a:t>2026/9/4</a:t>
            </a:fld>
            <a:endParaRPr lang="zh-CN" altLang="en-US" sz="1200">
              <a:latin typeface="Calibri" panose="020F0502020204030204" pitchFamily="34" charset="0"/>
            </a:endParaRPr>
          </a:p>
        </p:txBody>
      </p:sp>
      <p:sp>
        <p:nvSpPr>
          <p:cNvPr id="64517" name="灯片编号占位符 4">
            <a:extLst>
              <a:ext uri="{FF2B5EF4-FFF2-40B4-BE49-F238E27FC236}">
                <a16:creationId xmlns:a16="http://schemas.microsoft.com/office/drawing/2014/main" id="{D326429A-9F87-487C-9A15-A3EF91DF60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685FD2E8-237F-446A-9E23-5116467FDA4F}" type="slidenum">
              <a:rPr lang="zh-CN" altLang="en-US" smtClean="0"/>
              <a:pPr/>
              <a:t>33</a:t>
            </a:fld>
            <a:endParaRPr lang="zh-CN" altLang="en-US" sz="1200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幻灯片图像占位符 1">
            <a:extLst>
              <a:ext uri="{FF2B5EF4-FFF2-40B4-BE49-F238E27FC236}">
                <a16:creationId xmlns:a16="http://schemas.microsoft.com/office/drawing/2014/main" id="{B5FA522C-CBF8-4680-A5FF-174FF60BCDB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6563" name="备注占位符 2">
            <a:extLst>
              <a:ext uri="{FF2B5EF4-FFF2-40B4-BE49-F238E27FC236}">
                <a16:creationId xmlns:a16="http://schemas.microsoft.com/office/drawing/2014/main" id="{1FDBE5DD-8FEE-4EE9-ABAF-DDF0D133426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最佳函数误差公式：</a:t>
            </a:r>
            <a:r>
              <a:rPr lang="zh-CN" altLang="en-US">
                <a:sym typeface="Wingdings" panose="05000000000000000000" pitchFamily="2" charset="2"/>
              </a:rPr>
              <a:t>（</a:t>
            </a:r>
            <a:r>
              <a:rPr lang="en-US" altLang="zh-CN">
                <a:sym typeface="Wingdings" panose="05000000000000000000" pitchFamily="2" charset="2"/>
              </a:rPr>
              <a:t>1</a:t>
            </a:r>
            <a:r>
              <a:rPr lang="zh-CN" altLang="en-US">
                <a:sym typeface="Wingdings" panose="05000000000000000000" pitchFamily="2" charset="2"/>
              </a:rPr>
              <a:t>）尽可能减小直接测量量数目；（</a:t>
            </a:r>
            <a:r>
              <a:rPr lang="en-US" altLang="zh-CN">
                <a:sym typeface="Wingdings" panose="05000000000000000000" pitchFamily="2" charset="2"/>
              </a:rPr>
              <a:t>2</a:t>
            </a:r>
            <a:r>
              <a:rPr lang="zh-CN" altLang="en-US">
                <a:sym typeface="Wingdings" panose="05000000000000000000" pitchFamily="2" charset="2"/>
              </a:rPr>
              <a:t>）选择误差较小的测量；</a:t>
            </a:r>
            <a:endParaRPr lang="zh-CN" altLang="en-US"/>
          </a:p>
        </p:txBody>
      </p:sp>
      <p:sp>
        <p:nvSpPr>
          <p:cNvPr id="66564" name="日期占位符 3">
            <a:extLst>
              <a:ext uri="{FF2B5EF4-FFF2-40B4-BE49-F238E27FC236}">
                <a16:creationId xmlns:a16="http://schemas.microsoft.com/office/drawing/2014/main" id="{B5B9BDFC-95CB-4106-9ABC-A19473130E1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B7E37F04-EE1D-4ADA-950F-F7CED0AE1871}" type="datetime1">
              <a:rPr lang="zh-CN" altLang="en-US" smtClean="0"/>
              <a:pPr/>
              <a:t>2026/9/4</a:t>
            </a:fld>
            <a:endParaRPr lang="zh-CN" altLang="en-US" sz="1200">
              <a:latin typeface="Calibri" panose="020F0502020204030204" pitchFamily="34" charset="0"/>
            </a:endParaRPr>
          </a:p>
        </p:txBody>
      </p:sp>
      <p:sp>
        <p:nvSpPr>
          <p:cNvPr id="66565" name="灯片编号占位符 4">
            <a:extLst>
              <a:ext uri="{FF2B5EF4-FFF2-40B4-BE49-F238E27FC236}">
                <a16:creationId xmlns:a16="http://schemas.microsoft.com/office/drawing/2014/main" id="{28BDB96C-36D4-48BA-98E8-643E7FBDA3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2A8A01C5-9535-49D7-AB6D-397C0939CEF4}" type="slidenum">
              <a:rPr lang="zh-CN" altLang="en-US" smtClean="0"/>
              <a:pPr/>
              <a:t>34</a:t>
            </a:fld>
            <a:endParaRPr lang="zh-CN" altLang="en-US" sz="1200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幻灯片图像占位符 1">
            <a:extLst>
              <a:ext uri="{FF2B5EF4-FFF2-40B4-BE49-F238E27FC236}">
                <a16:creationId xmlns:a16="http://schemas.microsoft.com/office/drawing/2014/main" id="{C8EE6EDE-F4F0-45F3-857C-F70470C6D48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8611" name="备注占位符 2">
            <a:extLst>
              <a:ext uri="{FF2B5EF4-FFF2-40B4-BE49-F238E27FC236}">
                <a16:creationId xmlns:a16="http://schemas.microsoft.com/office/drawing/2014/main" id="{83E9D284-E182-4BBF-8A4E-B11679F5AFF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最佳函数误差公式：</a:t>
            </a:r>
            <a:r>
              <a:rPr lang="zh-CN" altLang="en-US">
                <a:sym typeface="Wingdings" panose="05000000000000000000" pitchFamily="2" charset="2"/>
              </a:rPr>
              <a:t>（</a:t>
            </a:r>
            <a:r>
              <a:rPr lang="en-US" altLang="zh-CN">
                <a:sym typeface="Wingdings" panose="05000000000000000000" pitchFamily="2" charset="2"/>
              </a:rPr>
              <a:t>1</a:t>
            </a:r>
            <a:r>
              <a:rPr lang="zh-CN" altLang="en-US">
                <a:sym typeface="Wingdings" panose="05000000000000000000" pitchFamily="2" charset="2"/>
              </a:rPr>
              <a:t>）尽可能减小直接测量量数目；（</a:t>
            </a:r>
            <a:r>
              <a:rPr lang="en-US" altLang="zh-CN">
                <a:sym typeface="Wingdings" panose="05000000000000000000" pitchFamily="2" charset="2"/>
              </a:rPr>
              <a:t>2</a:t>
            </a:r>
            <a:r>
              <a:rPr lang="zh-CN" altLang="en-US">
                <a:sym typeface="Wingdings" panose="05000000000000000000" pitchFamily="2" charset="2"/>
              </a:rPr>
              <a:t>）选择误差较小的测量；</a:t>
            </a:r>
            <a:endParaRPr lang="zh-CN" altLang="en-US"/>
          </a:p>
        </p:txBody>
      </p:sp>
      <p:sp>
        <p:nvSpPr>
          <p:cNvPr id="68612" name="日期占位符 3">
            <a:extLst>
              <a:ext uri="{FF2B5EF4-FFF2-40B4-BE49-F238E27FC236}">
                <a16:creationId xmlns:a16="http://schemas.microsoft.com/office/drawing/2014/main" id="{2C8BAA44-A7CD-403C-94AD-C9787FAA3CC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C20BF6FA-37B0-4BFE-97D8-D3B1A28CB541}" type="datetime1">
              <a:rPr lang="zh-CN" altLang="en-US" smtClean="0"/>
              <a:pPr/>
              <a:t>2026/9/4</a:t>
            </a:fld>
            <a:endParaRPr lang="zh-CN" altLang="en-US" sz="1200">
              <a:latin typeface="Calibri" panose="020F0502020204030204" pitchFamily="34" charset="0"/>
            </a:endParaRPr>
          </a:p>
        </p:txBody>
      </p:sp>
      <p:sp>
        <p:nvSpPr>
          <p:cNvPr id="68613" name="灯片编号占位符 4">
            <a:extLst>
              <a:ext uri="{FF2B5EF4-FFF2-40B4-BE49-F238E27FC236}">
                <a16:creationId xmlns:a16="http://schemas.microsoft.com/office/drawing/2014/main" id="{35D85E15-CDC9-49C0-984A-368FDE976F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D8A1EAC3-6C15-4B1B-ADE4-D5BE4BE17B0E}" type="slidenum">
              <a:rPr lang="zh-CN" altLang="en-US" smtClean="0"/>
              <a:pPr/>
              <a:t>35</a:t>
            </a:fld>
            <a:endParaRPr lang="zh-CN" altLang="en-US" sz="1200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幻灯片图像占位符 1">
            <a:extLst>
              <a:ext uri="{FF2B5EF4-FFF2-40B4-BE49-F238E27FC236}">
                <a16:creationId xmlns:a16="http://schemas.microsoft.com/office/drawing/2014/main" id="{01CBB05C-BA0B-4DD1-8E36-EB7B11FCBB7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0659" name="备注占位符 2">
            <a:extLst>
              <a:ext uri="{FF2B5EF4-FFF2-40B4-BE49-F238E27FC236}">
                <a16:creationId xmlns:a16="http://schemas.microsoft.com/office/drawing/2014/main" id="{1883FE5E-64B0-4D66-848B-4150B9836F1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上式置信概率较小，大约</a:t>
            </a:r>
            <a:r>
              <a:rPr lang="en-US" altLang="zh-CN"/>
              <a:t>68%</a:t>
            </a:r>
            <a:endParaRPr lang="zh-CN" altLang="en-US"/>
          </a:p>
        </p:txBody>
      </p:sp>
      <p:sp>
        <p:nvSpPr>
          <p:cNvPr id="70660" name="日期占位符 3">
            <a:extLst>
              <a:ext uri="{FF2B5EF4-FFF2-40B4-BE49-F238E27FC236}">
                <a16:creationId xmlns:a16="http://schemas.microsoft.com/office/drawing/2014/main" id="{FF9BA2CE-D53E-48D0-8CA9-66045091BE0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6CE9AE0D-9AB7-4B9B-AA9E-B76F8FD4577C}" type="datetime1">
              <a:rPr lang="zh-CN" altLang="en-US" smtClean="0"/>
              <a:pPr/>
              <a:t>2026/9/4</a:t>
            </a:fld>
            <a:endParaRPr lang="zh-CN" altLang="en-US" sz="1200">
              <a:latin typeface="Calibri" panose="020F0502020204030204" pitchFamily="34" charset="0"/>
            </a:endParaRPr>
          </a:p>
        </p:txBody>
      </p:sp>
      <p:sp>
        <p:nvSpPr>
          <p:cNvPr id="70661" name="灯片编号占位符 4">
            <a:extLst>
              <a:ext uri="{FF2B5EF4-FFF2-40B4-BE49-F238E27FC236}">
                <a16:creationId xmlns:a16="http://schemas.microsoft.com/office/drawing/2014/main" id="{C56E4092-57AB-440E-8D68-35098B5B55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A64BCCD2-50DD-4487-BD03-5C5CC38D9B33}" type="slidenum">
              <a:rPr lang="zh-CN" altLang="en-US" smtClean="0"/>
              <a:pPr/>
              <a:t>36</a:t>
            </a:fld>
            <a:endParaRPr lang="zh-CN" altLang="en-US" sz="1200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幻灯片图像占位符 1">
            <a:extLst>
              <a:ext uri="{FF2B5EF4-FFF2-40B4-BE49-F238E27FC236}">
                <a16:creationId xmlns:a16="http://schemas.microsoft.com/office/drawing/2014/main" id="{91298CF2-F13C-404D-8A32-8B88A0D3EB3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2707" name="备注占位符 2">
            <a:extLst>
              <a:ext uri="{FF2B5EF4-FFF2-40B4-BE49-F238E27FC236}">
                <a16:creationId xmlns:a16="http://schemas.microsoft.com/office/drawing/2014/main" id="{BEE020F3-B43F-4B5B-9F36-89A0DF79F77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往往由于缺少资料难以确定每个分量的自由度，无法根据上式计算自由度，通常情况下可取包含因子</a:t>
            </a:r>
            <a:r>
              <a:rPr lang="en-US" altLang="zh-CN"/>
              <a:t>k=2~3</a:t>
            </a:r>
            <a:endParaRPr lang="zh-CN" altLang="en-US"/>
          </a:p>
        </p:txBody>
      </p:sp>
      <p:sp>
        <p:nvSpPr>
          <p:cNvPr id="72708" name="日期占位符 3">
            <a:extLst>
              <a:ext uri="{FF2B5EF4-FFF2-40B4-BE49-F238E27FC236}">
                <a16:creationId xmlns:a16="http://schemas.microsoft.com/office/drawing/2014/main" id="{CCDB9FA7-8931-49F2-87EC-801FA6E4F4F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CD6D6E0C-81D6-47F5-841F-F94EFBDBE845}" type="datetime1">
              <a:rPr lang="zh-CN" altLang="en-US" smtClean="0"/>
              <a:pPr/>
              <a:t>2026/9/4</a:t>
            </a:fld>
            <a:endParaRPr lang="zh-CN" altLang="en-US" sz="1200">
              <a:latin typeface="Calibri" panose="020F0502020204030204" pitchFamily="34" charset="0"/>
            </a:endParaRPr>
          </a:p>
        </p:txBody>
      </p:sp>
      <p:sp>
        <p:nvSpPr>
          <p:cNvPr id="72709" name="灯片编号占位符 4">
            <a:extLst>
              <a:ext uri="{FF2B5EF4-FFF2-40B4-BE49-F238E27FC236}">
                <a16:creationId xmlns:a16="http://schemas.microsoft.com/office/drawing/2014/main" id="{1D95952A-9E6C-4DDD-AB31-AB3E9209BA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03841045-F3B9-47B3-BF55-5B90ECCC3628}" type="slidenum">
              <a:rPr lang="zh-CN" altLang="en-US" smtClean="0"/>
              <a:pPr/>
              <a:t>37</a:t>
            </a:fld>
            <a:endParaRPr lang="zh-CN" altLang="en-US" sz="1200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幻灯片图像占位符 1">
            <a:extLst>
              <a:ext uri="{FF2B5EF4-FFF2-40B4-BE49-F238E27FC236}">
                <a16:creationId xmlns:a16="http://schemas.microsoft.com/office/drawing/2014/main" id="{579F4B84-D09E-48AF-ABFA-6097E294C80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4755" name="备注占位符 2">
            <a:extLst>
              <a:ext uri="{FF2B5EF4-FFF2-40B4-BE49-F238E27FC236}">
                <a16:creationId xmlns:a16="http://schemas.microsoft.com/office/drawing/2014/main" id="{66ED2C0A-2DDF-493E-87F5-A440A283609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往往由于缺少资料难以确定每个分量的自由度，无法根据上式计算自由度，通常情况下可取包含因子</a:t>
            </a:r>
            <a:r>
              <a:rPr lang="en-US" altLang="zh-CN"/>
              <a:t>k=2~3</a:t>
            </a:r>
            <a:endParaRPr lang="zh-CN" altLang="en-US"/>
          </a:p>
        </p:txBody>
      </p:sp>
      <p:sp>
        <p:nvSpPr>
          <p:cNvPr id="74756" name="日期占位符 3">
            <a:extLst>
              <a:ext uri="{FF2B5EF4-FFF2-40B4-BE49-F238E27FC236}">
                <a16:creationId xmlns:a16="http://schemas.microsoft.com/office/drawing/2014/main" id="{1449CF02-A96D-49EB-8A66-BF7FEC2D728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9055E972-FF4B-487E-95F8-1A82E4101A7E}" type="datetime1">
              <a:rPr lang="zh-CN" altLang="en-US" smtClean="0"/>
              <a:pPr/>
              <a:t>2026/9/4</a:t>
            </a:fld>
            <a:endParaRPr lang="zh-CN" altLang="en-US" sz="1200">
              <a:latin typeface="Calibri" panose="020F0502020204030204" pitchFamily="34" charset="0"/>
            </a:endParaRPr>
          </a:p>
        </p:txBody>
      </p:sp>
      <p:sp>
        <p:nvSpPr>
          <p:cNvPr id="74757" name="灯片编号占位符 4">
            <a:extLst>
              <a:ext uri="{FF2B5EF4-FFF2-40B4-BE49-F238E27FC236}">
                <a16:creationId xmlns:a16="http://schemas.microsoft.com/office/drawing/2014/main" id="{745FAA0B-05FB-45AE-88B7-BAEB21E95E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CC8BF991-C7B4-4F09-91CD-C31ADBE4FAA8}" type="slidenum">
              <a:rPr lang="zh-CN" altLang="en-US" smtClean="0"/>
              <a:pPr/>
              <a:t>38</a:t>
            </a:fld>
            <a:endParaRPr lang="zh-CN" altLang="en-US" sz="1200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幻灯片图像占位符 1">
            <a:extLst>
              <a:ext uri="{FF2B5EF4-FFF2-40B4-BE49-F238E27FC236}">
                <a16:creationId xmlns:a16="http://schemas.microsoft.com/office/drawing/2014/main" id="{2EB6628A-0B5B-46F1-B7D8-E5FE88CED1E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6803" name="备注占位符 2">
            <a:extLst>
              <a:ext uri="{FF2B5EF4-FFF2-40B4-BE49-F238E27FC236}">
                <a16:creationId xmlns:a16="http://schemas.microsoft.com/office/drawing/2014/main" id="{00283E6B-261A-4DBA-875D-D8C01BD42A4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往往由于缺少资料难以确定每个分量的自由度，无法根据上式计算自由度，通常情况下可取包含因子</a:t>
            </a:r>
            <a:r>
              <a:rPr lang="en-US" altLang="zh-CN"/>
              <a:t>k=2~3</a:t>
            </a:r>
            <a:endParaRPr lang="zh-CN" altLang="en-US"/>
          </a:p>
        </p:txBody>
      </p:sp>
      <p:sp>
        <p:nvSpPr>
          <p:cNvPr id="76804" name="日期占位符 3">
            <a:extLst>
              <a:ext uri="{FF2B5EF4-FFF2-40B4-BE49-F238E27FC236}">
                <a16:creationId xmlns:a16="http://schemas.microsoft.com/office/drawing/2014/main" id="{4A43C9D0-7D33-43FA-BF0C-1008FC738B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927AE994-7B4F-45ED-BC3E-060F00398BE8}" type="datetime1">
              <a:rPr lang="zh-CN" altLang="en-US" smtClean="0"/>
              <a:pPr/>
              <a:t>2026/9/4</a:t>
            </a:fld>
            <a:endParaRPr lang="zh-CN" altLang="en-US" sz="1200">
              <a:latin typeface="Calibri" panose="020F0502020204030204" pitchFamily="34" charset="0"/>
            </a:endParaRPr>
          </a:p>
        </p:txBody>
      </p:sp>
      <p:sp>
        <p:nvSpPr>
          <p:cNvPr id="76805" name="灯片编号占位符 4">
            <a:extLst>
              <a:ext uri="{FF2B5EF4-FFF2-40B4-BE49-F238E27FC236}">
                <a16:creationId xmlns:a16="http://schemas.microsoft.com/office/drawing/2014/main" id="{D54CA68E-9AC3-45B6-AC72-8938B0E627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B55C3153-3D6F-4497-B3D2-5DFF6245E118}" type="slidenum">
              <a:rPr lang="zh-CN" altLang="en-US" smtClean="0"/>
              <a:pPr/>
              <a:t>39</a:t>
            </a:fld>
            <a:endParaRPr lang="zh-CN" altLang="en-US" sz="1200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幻灯片图像占位符 1">
            <a:extLst>
              <a:ext uri="{FF2B5EF4-FFF2-40B4-BE49-F238E27FC236}">
                <a16:creationId xmlns:a16="http://schemas.microsoft.com/office/drawing/2014/main" id="{3C5E3361-1351-4555-A83C-A8AC15689FC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8851" name="备注占位符 2">
            <a:extLst>
              <a:ext uri="{FF2B5EF4-FFF2-40B4-BE49-F238E27FC236}">
                <a16:creationId xmlns:a16="http://schemas.microsoft.com/office/drawing/2014/main" id="{B0B154DA-3F8E-491C-8DB7-155C437E8AE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往往由于缺少资料难以确定每个分量的自由度，无法根据上式计算自由度，通常情况下可取包含因子</a:t>
            </a:r>
            <a:r>
              <a:rPr lang="en-US" altLang="zh-CN"/>
              <a:t>k=2~3</a:t>
            </a:r>
            <a:endParaRPr lang="zh-CN" altLang="en-US"/>
          </a:p>
        </p:txBody>
      </p:sp>
      <p:sp>
        <p:nvSpPr>
          <p:cNvPr id="78852" name="日期占位符 3">
            <a:extLst>
              <a:ext uri="{FF2B5EF4-FFF2-40B4-BE49-F238E27FC236}">
                <a16:creationId xmlns:a16="http://schemas.microsoft.com/office/drawing/2014/main" id="{9F8218E1-03E8-4281-AAA0-43986F135DB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64BA9B74-8BA7-458F-BF40-7FF2ABAD8E46}" type="datetime1">
              <a:rPr lang="zh-CN" altLang="en-US" smtClean="0"/>
              <a:pPr/>
              <a:t>2026/9/4</a:t>
            </a:fld>
            <a:endParaRPr lang="zh-CN" altLang="en-US" sz="1200">
              <a:latin typeface="Calibri" panose="020F0502020204030204" pitchFamily="34" charset="0"/>
            </a:endParaRPr>
          </a:p>
        </p:txBody>
      </p:sp>
      <p:sp>
        <p:nvSpPr>
          <p:cNvPr id="78853" name="灯片编号占位符 4">
            <a:extLst>
              <a:ext uri="{FF2B5EF4-FFF2-40B4-BE49-F238E27FC236}">
                <a16:creationId xmlns:a16="http://schemas.microsoft.com/office/drawing/2014/main" id="{84AACA4F-D397-44A4-BC54-A07BC7F4D1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D51315E2-65E7-4091-A17F-411993D399F5}" type="slidenum">
              <a:rPr lang="zh-CN" altLang="en-US" smtClean="0"/>
              <a:pPr/>
              <a:t>40</a:t>
            </a:fld>
            <a:endParaRPr lang="zh-CN" altLang="en-US" sz="1200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13AF83E-9EE3-46E9-91FD-AD32CC79ADC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A60ED8-EC85-4F69-B3EC-3446AB87E0C6}" type="datetime1">
              <a:rPr lang="zh-CN" altLang="en-US"/>
              <a:pPr>
                <a:defRPr/>
              </a:pPr>
              <a:t>2026/9/4</a:t>
            </a:fld>
            <a:endParaRPr lang="zh-CN" altLang="en-US" sz="1800">
              <a:solidFill>
                <a:schemeClr val="tx1"/>
              </a:solidFill>
              <a:latin typeface="Arial" pitchFamily="34" charset="0"/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097F0DE-2194-42E7-BE41-F01F1003095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华中科技大学自动化学院测量科学与仪器系</a:t>
            </a:r>
            <a:endParaRPr lang="zh-CN" altLang="en-US" sz="1800">
              <a:solidFill>
                <a:schemeClr val="tx1"/>
              </a:solidFill>
              <a:latin typeface="Arial" pitchFamily="34" charset="0"/>
            </a:endParaRP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B36F348-D6CA-4483-8BFE-3370457BEF0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6D96B74-42DB-4C7B-B0C6-2807174EAB45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90988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5B45547-12DB-4FF1-B205-C55229CD350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A88608-FE34-4B3F-8A30-A4BE6BBB897F}" type="datetime1">
              <a:rPr lang="zh-CN" altLang="en-US"/>
              <a:pPr>
                <a:defRPr/>
              </a:pPr>
              <a:t>2026/9/4</a:t>
            </a:fld>
            <a:endParaRPr lang="zh-CN" altLang="en-US" sz="1800">
              <a:solidFill>
                <a:schemeClr val="tx1"/>
              </a:solidFill>
              <a:latin typeface="Arial" pitchFamily="34" charset="0"/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EE46AF0-EBE7-4C31-A757-719B3A32F77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华中科技大学人工智能自动化学院测量科学与仪器系</a:t>
            </a:r>
            <a:endParaRPr lang="zh-CN" altLang="en-US" sz="1800">
              <a:solidFill>
                <a:schemeClr val="tx1"/>
              </a:solidFill>
              <a:latin typeface="Arial" pitchFamily="34" charset="0"/>
            </a:endParaRP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EB4F982-EF0B-4426-BD6D-6EE9A07B6CE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1B41F3-9DEF-4069-BB27-0BB821088588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04865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675963C-0631-49F3-8F55-D110ACEA76E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312667-ABB2-486B-847D-6DC3D1FFD86A}" type="datetime1">
              <a:rPr lang="zh-CN" altLang="en-US"/>
              <a:pPr>
                <a:defRPr/>
              </a:pPr>
              <a:t>2026/9/4</a:t>
            </a:fld>
            <a:endParaRPr lang="zh-CN" altLang="en-US" sz="1800">
              <a:solidFill>
                <a:schemeClr val="tx1"/>
              </a:solidFill>
              <a:latin typeface="Arial" pitchFamily="34" charset="0"/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655FBC7-D2B8-49BD-B1E5-808C54D9D6B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华中科技大学人工智能与自动化学院测量科学与仪器系</a:t>
            </a:r>
            <a:endParaRPr lang="zh-CN" altLang="en-US" sz="1800">
              <a:solidFill>
                <a:schemeClr val="tx1"/>
              </a:solidFill>
              <a:latin typeface="Arial" pitchFamily="34" charset="0"/>
            </a:endParaRP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D160EE8-406C-4118-8762-8502093B2D5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1E5B0A-0AF1-4D8A-B918-A57B4B723E0B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97861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B0C4590D-B3B2-4414-9834-09000FD322D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2A7831C-BC65-4E5F-9A0C-65AF95034D2B}" type="datetime1">
              <a:rPr lang="zh-CN" altLang="en-US"/>
              <a:pPr>
                <a:defRPr/>
              </a:pPr>
              <a:t>2026/9/4</a:t>
            </a:fld>
            <a:endParaRPr lang="zh-CN" altLang="en-US" sz="1800">
              <a:solidFill>
                <a:schemeClr val="tx1"/>
              </a:solidFill>
              <a:latin typeface="Arial" pitchFamily="34" charset="0"/>
            </a:endParaRPr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66615D65-0CF9-4209-850F-AEA22C7C74D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华中科技大学人工智能与自动化学院测量科学与仪器系</a:t>
            </a:r>
            <a:endParaRPr lang="zh-CN" altLang="en-US" sz="1800">
              <a:solidFill>
                <a:schemeClr val="tx1"/>
              </a:solidFill>
              <a:latin typeface="Arial" pitchFamily="34" charset="0"/>
            </a:endParaRPr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D34CC8FA-1829-487D-940F-7F93D498F2A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65D0E7-9051-43D4-ADB3-8468AAFD3279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55814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>
            <a:extLst>
              <a:ext uri="{FF2B5EF4-FFF2-40B4-BE49-F238E27FC236}">
                <a16:creationId xmlns:a16="http://schemas.microsoft.com/office/drawing/2014/main" id="{1B3B6AA7-B431-44A8-AAA1-D05641F30DF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F7AFDB-0796-4EBE-BA76-1AE474E1BE1D}" type="datetime1">
              <a:rPr lang="zh-CN" altLang="en-US"/>
              <a:pPr>
                <a:defRPr/>
              </a:pPr>
              <a:t>2026/9/4</a:t>
            </a:fld>
            <a:endParaRPr lang="zh-CN" altLang="en-US" sz="1800">
              <a:solidFill>
                <a:schemeClr val="tx1"/>
              </a:solidFill>
              <a:latin typeface="Arial" pitchFamily="34" charset="0"/>
            </a:endParaRPr>
          </a:p>
        </p:txBody>
      </p:sp>
      <p:sp>
        <p:nvSpPr>
          <p:cNvPr id="8" name="页脚占位符 4">
            <a:extLst>
              <a:ext uri="{FF2B5EF4-FFF2-40B4-BE49-F238E27FC236}">
                <a16:creationId xmlns:a16="http://schemas.microsoft.com/office/drawing/2014/main" id="{B2F9C6F4-5529-4BF1-A109-F21F36D9AC8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华中科技大学人工智能与自动化学院测量科学与仪器系</a:t>
            </a:r>
            <a:endParaRPr lang="zh-CN" altLang="en-US" sz="1800">
              <a:solidFill>
                <a:schemeClr val="tx1"/>
              </a:solidFill>
              <a:latin typeface="Arial" pitchFamily="34" charset="0"/>
            </a:endParaRPr>
          </a:p>
        </p:txBody>
      </p:sp>
      <p:sp>
        <p:nvSpPr>
          <p:cNvPr id="9" name="灯片编号占位符 5">
            <a:extLst>
              <a:ext uri="{FF2B5EF4-FFF2-40B4-BE49-F238E27FC236}">
                <a16:creationId xmlns:a16="http://schemas.microsoft.com/office/drawing/2014/main" id="{8C0F280E-F87B-40E9-AF61-225113DD4E9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95EDA0-08D1-4F23-8D7B-C59F29B0560F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40174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>
            <a:extLst>
              <a:ext uri="{FF2B5EF4-FFF2-40B4-BE49-F238E27FC236}">
                <a16:creationId xmlns:a16="http://schemas.microsoft.com/office/drawing/2014/main" id="{995AD5C6-6C0E-411E-BF43-008E22042BB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7CD00A-6826-4624-87CD-CCE7C422C8D7}" type="datetime1">
              <a:rPr lang="zh-CN" altLang="en-US"/>
              <a:pPr>
                <a:defRPr/>
              </a:pPr>
              <a:t>2026/9/4</a:t>
            </a:fld>
            <a:endParaRPr lang="zh-CN" altLang="en-US" sz="1800">
              <a:solidFill>
                <a:schemeClr val="tx1"/>
              </a:solidFill>
              <a:latin typeface="Arial" pitchFamily="34" charset="0"/>
            </a:endParaRPr>
          </a:p>
        </p:txBody>
      </p:sp>
      <p:sp>
        <p:nvSpPr>
          <p:cNvPr id="4" name="页脚占位符 4">
            <a:extLst>
              <a:ext uri="{FF2B5EF4-FFF2-40B4-BE49-F238E27FC236}">
                <a16:creationId xmlns:a16="http://schemas.microsoft.com/office/drawing/2014/main" id="{AAC3FC6D-8192-49D1-8ABC-18493DA22CA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华中科技大学人工智能与自动化学院测量科学与仪器系</a:t>
            </a:r>
            <a:endParaRPr lang="zh-CN" altLang="en-US" sz="1800">
              <a:solidFill>
                <a:schemeClr val="tx1"/>
              </a:solidFill>
              <a:latin typeface="Arial" pitchFamily="34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6D563850-B474-43FB-B28D-72149AC690C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61E341-7310-4995-B145-C8233B7E5B81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71737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>
            <a:extLst>
              <a:ext uri="{FF2B5EF4-FFF2-40B4-BE49-F238E27FC236}">
                <a16:creationId xmlns:a16="http://schemas.microsoft.com/office/drawing/2014/main" id="{B57A5371-3974-4617-96E4-45F9E60F85C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355D5C-0E89-4D89-952D-96AB3D7F08F3}" type="datetime1">
              <a:rPr lang="zh-CN" altLang="en-US"/>
              <a:pPr>
                <a:defRPr/>
              </a:pPr>
              <a:t>2026/9/4</a:t>
            </a:fld>
            <a:endParaRPr lang="zh-CN" altLang="en-US" sz="1800">
              <a:solidFill>
                <a:schemeClr val="tx1"/>
              </a:solidFill>
              <a:latin typeface="Arial" pitchFamily="34" charset="0"/>
            </a:endParaRPr>
          </a:p>
        </p:txBody>
      </p:sp>
      <p:sp>
        <p:nvSpPr>
          <p:cNvPr id="3" name="页脚占位符 4">
            <a:extLst>
              <a:ext uri="{FF2B5EF4-FFF2-40B4-BE49-F238E27FC236}">
                <a16:creationId xmlns:a16="http://schemas.microsoft.com/office/drawing/2014/main" id="{0FB5BD5D-1266-45AF-9B69-659C3E17321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华中科技大学人工智能与自动化学院测量科学与仪器系</a:t>
            </a:r>
            <a:endParaRPr lang="zh-CN" altLang="en-US" sz="1800">
              <a:solidFill>
                <a:schemeClr val="tx1"/>
              </a:solidFill>
              <a:latin typeface="Arial" pitchFamily="34" charset="0"/>
            </a:endParaRPr>
          </a:p>
        </p:txBody>
      </p: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1FD26B91-EB06-4058-86BF-3764EF184E6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1A5324-7CF9-4280-A5B2-64D0C8E9D1E5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88584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C067E942-0BA9-4D6F-95DC-65CB417EF2A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AAE958-14EA-47FE-BDD5-7EABC4FD3A39}" type="datetime1">
              <a:rPr lang="zh-CN" altLang="en-US"/>
              <a:pPr>
                <a:defRPr/>
              </a:pPr>
              <a:t>2026/9/4</a:t>
            </a:fld>
            <a:endParaRPr lang="zh-CN" altLang="en-US" sz="1800">
              <a:solidFill>
                <a:schemeClr val="tx1"/>
              </a:solidFill>
              <a:latin typeface="Arial" pitchFamily="34" charset="0"/>
            </a:endParaRPr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9BF7A673-8A71-4526-8AFA-DC73AB49EE1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华中科技大学人工智能与自动化学院测量科学与仪器系</a:t>
            </a:r>
            <a:endParaRPr lang="zh-CN" altLang="en-US" sz="1800">
              <a:solidFill>
                <a:schemeClr val="tx1"/>
              </a:solidFill>
              <a:latin typeface="Arial" pitchFamily="34" charset="0"/>
            </a:endParaRPr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13CDDA52-4082-43E6-8198-57FFF43666F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B40CB6-A291-4450-9C04-43A329B842D7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75570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>
              <a:sym typeface="Calibri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8EF459E5-4DE3-47D0-BFF0-557B6047AA4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CBE5A6-4BCA-45FB-BAFA-A697F27B85AC}" type="datetime1">
              <a:rPr lang="zh-CN" altLang="en-US"/>
              <a:pPr>
                <a:defRPr/>
              </a:pPr>
              <a:t>2026/9/4</a:t>
            </a:fld>
            <a:endParaRPr lang="zh-CN" altLang="en-US" sz="1800">
              <a:solidFill>
                <a:schemeClr val="tx1"/>
              </a:solidFill>
              <a:latin typeface="Arial" pitchFamily="34" charset="0"/>
            </a:endParaRPr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F7008A86-1701-4110-8E47-DBFC1B7A456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华中科技大学人工智能与自动化学院测量科学与仪器系</a:t>
            </a:r>
            <a:endParaRPr lang="zh-CN" altLang="en-US" sz="1800">
              <a:solidFill>
                <a:schemeClr val="tx1"/>
              </a:solidFill>
              <a:latin typeface="Arial" pitchFamily="34" charset="0"/>
            </a:endParaRPr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8298AB82-481B-4103-929C-03A2A38A732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FFEA74-9AD6-48D7-87C0-9549FC65B0B5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2623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F01E0AA-591D-445B-B6E3-41434BECFED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BAD964-2232-492C-B70F-3C552531BCDB}" type="datetime1">
              <a:rPr lang="zh-CN" altLang="en-US"/>
              <a:pPr>
                <a:defRPr/>
              </a:pPr>
              <a:t>2026/9/4</a:t>
            </a:fld>
            <a:endParaRPr lang="zh-CN" altLang="en-US" sz="1800">
              <a:solidFill>
                <a:schemeClr val="tx1"/>
              </a:solidFill>
              <a:latin typeface="Arial" pitchFamily="34" charset="0"/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AC31172-44DA-423C-8D2C-1991DC0B5D6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华中科技大学人工智能与自动化学院测量科学与仪器系</a:t>
            </a:r>
            <a:endParaRPr lang="zh-CN" altLang="en-US" sz="1800">
              <a:solidFill>
                <a:schemeClr val="tx1"/>
              </a:solidFill>
              <a:latin typeface="Arial" pitchFamily="34" charset="0"/>
            </a:endParaRP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316C40D-2E27-41B6-986D-E6826249790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DFFCF1-888F-445F-8F14-B07CE9DBF61F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38969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7F8433E-0E11-4C9D-B2E7-ABEADFACDA9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5CB970-F671-40E7-A393-F64EA01DDAB5}" type="datetime1">
              <a:rPr lang="zh-CN" altLang="en-US"/>
              <a:pPr>
                <a:defRPr/>
              </a:pPr>
              <a:t>2026/9/4</a:t>
            </a:fld>
            <a:endParaRPr lang="zh-CN" altLang="en-US" sz="1800">
              <a:solidFill>
                <a:schemeClr val="tx1"/>
              </a:solidFill>
              <a:latin typeface="Arial" pitchFamily="34" charset="0"/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B397125-5DB2-4E43-81F4-5979B1D97E5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华中科技大学人工智能与自动化学院测量科学与仪器系</a:t>
            </a:r>
            <a:endParaRPr lang="zh-CN" altLang="en-US" sz="1800">
              <a:solidFill>
                <a:schemeClr val="tx1"/>
              </a:solidFill>
              <a:latin typeface="Arial" pitchFamily="34" charset="0"/>
            </a:endParaRP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7E0A0D0-C5C4-4936-80F0-A1736625694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DCEA19-07CF-41A1-8EF1-C48BD1F310E6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68834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>
            <a:extLst>
              <a:ext uri="{FF2B5EF4-FFF2-40B4-BE49-F238E27FC236}">
                <a16:creationId xmlns:a16="http://schemas.microsoft.com/office/drawing/2014/main" id="{E4CF016E-BC98-4970-A6F7-597BA778F0F1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>
                <a:sym typeface="Calibri" panose="020F0502020204030204" pitchFamily="34" charset="0"/>
              </a:rPr>
              <a:t>单击此处编辑母版标题样式</a:t>
            </a:r>
          </a:p>
        </p:txBody>
      </p:sp>
      <p:sp>
        <p:nvSpPr>
          <p:cNvPr id="1027" name="文本占位符 2">
            <a:extLst>
              <a:ext uri="{FF2B5EF4-FFF2-40B4-BE49-F238E27FC236}">
                <a16:creationId xmlns:a16="http://schemas.microsoft.com/office/drawing/2014/main" id="{84A905EE-73F3-4E6B-938E-6CFB6CEB8FB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>
                <a:sym typeface="Calibri" panose="020F0502020204030204" pitchFamily="34" charset="0"/>
              </a:rPr>
              <a:t>单击此处编辑母版文本样式</a:t>
            </a:r>
          </a:p>
          <a:p>
            <a:pPr lvl="1"/>
            <a:r>
              <a:rPr lang="zh-CN" altLang="zh-CN">
                <a:sym typeface="Calibri" panose="020F0502020204030204" pitchFamily="34" charset="0"/>
              </a:rPr>
              <a:t>第二级</a:t>
            </a:r>
          </a:p>
          <a:p>
            <a:pPr lvl="2"/>
            <a:r>
              <a:rPr lang="zh-CN" altLang="zh-CN">
                <a:sym typeface="Calibri" panose="020F0502020204030204" pitchFamily="34" charset="0"/>
              </a:rPr>
              <a:t>第三级</a:t>
            </a:r>
          </a:p>
          <a:p>
            <a:pPr lvl="3"/>
            <a:r>
              <a:rPr lang="zh-CN" altLang="zh-CN">
                <a:sym typeface="Calibri" panose="020F0502020204030204" pitchFamily="34" charset="0"/>
              </a:rPr>
              <a:t>第四级</a:t>
            </a:r>
          </a:p>
          <a:p>
            <a:pPr lvl="4"/>
            <a:r>
              <a:rPr lang="zh-CN" altLang="zh-CN">
                <a:sym typeface="Calibri" panose="020F0502020204030204" pitchFamily="34" charset="0"/>
              </a:rPr>
              <a:t>第五级</a:t>
            </a:r>
          </a:p>
        </p:txBody>
      </p:sp>
      <p:sp>
        <p:nvSpPr>
          <p:cNvPr id="1028" name="日期占位符 3">
            <a:extLst>
              <a:ext uri="{FF2B5EF4-FFF2-40B4-BE49-F238E27FC236}">
                <a16:creationId xmlns:a16="http://schemas.microsoft.com/office/drawing/2014/main" id="{39C41FAF-AF6E-4CE0-8EBC-A9549A0F9DE7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buFont typeface="Arial" pitchFamily="34" charset="0"/>
              <a:buNone/>
              <a:defRPr sz="1200">
                <a:solidFill>
                  <a:srgbClr val="898989"/>
                </a:solidFill>
                <a:latin typeface="+mn-lt"/>
                <a:sym typeface="Calibri" pitchFamily="34" charset="0"/>
              </a:defRPr>
            </a:lvl1pPr>
          </a:lstStyle>
          <a:p>
            <a:pPr>
              <a:defRPr/>
            </a:pPr>
            <a:fld id="{36C8293B-4A1D-4C3D-B3AD-7BC69EF139A2}" type="datetime1">
              <a:rPr lang="zh-CN" altLang="en-US"/>
              <a:pPr>
                <a:defRPr/>
              </a:pPr>
              <a:t>2026/9/4</a:t>
            </a:fld>
            <a:endParaRPr lang="zh-CN" altLang="en-US" sz="1800">
              <a:solidFill>
                <a:schemeClr val="tx1"/>
              </a:solidFill>
              <a:latin typeface="Arial" pitchFamily="34" charset="0"/>
            </a:endParaRPr>
          </a:p>
        </p:txBody>
      </p:sp>
      <p:sp>
        <p:nvSpPr>
          <p:cNvPr id="1029" name="页脚占位符 4">
            <a:extLst>
              <a:ext uri="{FF2B5EF4-FFF2-40B4-BE49-F238E27FC236}">
                <a16:creationId xmlns:a16="http://schemas.microsoft.com/office/drawing/2014/main" id="{285BA646-77DF-46AD-AB36-6F7D7836477F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buFont typeface="Arial" pitchFamily="34" charset="0"/>
              <a:buNone/>
              <a:defRPr sz="1200">
                <a:solidFill>
                  <a:srgbClr val="898989"/>
                </a:solidFill>
                <a:latin typeface="+mn-lt"/>
                <a:sym typeface="Calibri" pitchFamily="34" charset="0"/>
              </a:defRPr>
            </a:lvl1pPr>
          </a:lstStyle>
          <a:p>
            <a:pPr>
              <a:defRPr/>
            </a:pPr>
            <a:r>
              <a:rPr lang="zh-CN" altLang="en-US"/>
              <a:t>华中科技大学自动化学院测量科学与仪器系</a:t>
            </a:r>
            <a:endParaRPr lang="zh-CN" altLang="en-US" sz="1800">
              <a:solidFill>
                <a:schemeClr val="tx1"/>
              </a:solidFill>
              <a:latin typeface="Arial" pitchFamily="34" charset="0"/>
            </a:endParaRPr>
          </a:p>
        </p:txBody>
      </p:sp>
      <p:sp>
        <p:nvSpPr>
          <p:cNvPr id="1030" name="灯片编号占位符 5">
            <a:extLst>
              <a:ext uri="{FF2B5EF4-FFF2-40B4-BE49-F238E27FC236}">
                <a16:creationId xmlns:a16="http://schemas.microsoft.com/office/drawing/2014/main" id="{AC5BD581-EB24-4D62-9E9B-905601A7C5F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buFont typeface="Arial" panose="020B0604020202020204" pitchFamily="34" charset="0"/>
              <a:buNone/>
              <a:defRPr sz="1200">
                <a:solidFill>
                  <a:srgbClr val="898989"/>
                </a:solidFill>
                <a:latin typeface="Calibri" panose="020F0502020204030204" pitchFamily="34" charset="0"/>
                <a:sym typeface="Calibri" panose="020F0502020204030204" pitchFamily="34" charset="0"/>
              </a:defRPr>
            </a:lvl1pPr>
          </a:lstStyle>
          <a:p>
            <a:pPr>
              <a:defRPr/>
            </a:pPr>
            <a:fld id="{6D3BFBD0-47ED-4A60-BEFF-FBD2A08AC862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hf sldNum="0"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  <a:sym typeface="Calibri" panose="020F0502020204030204" pitchFamily="34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anose="020F050202020403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anose="020F050202020403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anose="020F050202020403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anose="020F0502020204030204" pitchFamily="34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itchFamily="34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itchFamily="34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itchFamily="34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itchFamily="34" charset="0"/>
        </a:defRPr>
      </a:lvl9pPr>
    </p:titleStyle>
    <p:bodyStyle>
      <a:lvl1pPr marL="342900" indent="-3429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1pPr>
      <a:lvl2pPr marL="742950" indent="-28575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>
          <a:solidFill>
            <a:schemeClr val="tx1"/>
          </a:solidFill>
          <a:latin typeface="+mn-lt"/>
          <a:ea typeface="+mn-ea"/>
          <a:sym typeface="Calibri" panose="020F0502020204030204" pitchFamily="34" charset="0"/>
        </a:defRPr>
      </a:lvl2pPr>
      <a:lvl3pPr marL="1143000" indent="-2286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>
          <a:solidFill>
            <a:schemeClr val="tx1"/>
          </a:solidFill>
          <a:latin typeface="+mn-lt"/>
          <a:ea typeface="+mn-ea"/>
          <a:sym typeface="Calibri" panose="020F0502020204030204" pitchFamily="34" charset="0"/>
        </a:defRPr>
      </a:lvl3pPr>
      <a:lvl4pPr marL="1600200" indent="-2286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>
          <a:solidFill>
            <a:schemeClr val="tx1"/>
          </a:solidFill>
          <a:latin typeface="+mn-lt"/>
          <a:ea typeface="+mn-ea"/>
          <a:sym typeface="Calibri" panose="020F0502020204030204" pitchFamily="34" charset="0"/>
        </a:defRPr>
      </a:lvl4pPr>
      <a:lvl5pPr marL="2057400" indent="-2286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Calibri" panose="020F0502020204030204" pitchFamily="34" charset="0"/>
        </a:defRPr>
      </a:lvl5pPr>
      <a:lvl6pPr marL="2514600" indent="-228600" algn="l" defTabSz="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Calibri" pitchFamily="34" charset="0"/>
        </a:defRPr>
      </a:lvl6pPr>
      <a:lvl7pPr marL="2971800" indent="-228600" algn="l" defTabSz="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Calibri" pitchFamily="34" charset="0"/>
        </a:defRPr>
      </a:lvl7pPr>
      <a:lvl8pPr marL="3429000" indent="-228600" algn="l" defTabSz="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Calibri" pitchFamily="34" charset="0"/>
        </a:defRPr>
      </a:lvl8pPr>
      <a:lvl9pPr marL="3886200" indent="-228600" algn="l" defTabSz="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Calibri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search.kongfz.com/item_result/?status=0&amp;select=2&amp;author=hk8d39k4e1ak6cf0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1.wmf"/><Relationship Id="rId4" Type="http://schemas.openxmlformats.org/officeDocument/2006/relationships/oleObject" Target="../embeddings/oleObject1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3" Type="http://schemas.openxmlformats.org/officeDocument/2006/relationships/oleObject" Target="../embeddings/oleObject2.bin"/><Relationship Id="rId7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3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2.wmf"/><Relationship Id="rId9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.bin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7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6.bin"/><Relationship Id="rId11" Type="http://schemas.openxmlformats.org/officeDocument/2006/relationships/image" Target="../media/image9.wmf"/><Relationship Id="rId5" Type="http://schemas.openxmlformats.org/officeDocument/2006/relationships/image" Target="../media/image6.wmf"/><Relationship Id="rId10" Type="http://schemas.openxmlformats.org/officeDocument/2006/relationships/oleObject" Target="../embeddings/oleObject8.bin"/><Relationship Id="rId4" Type="http://schemas.openxmlformats.org/officeDocument/2006/relationships/oleObject" Target="../embeddings/oleObject5.bin"/><Relationship Id="rId9" Type="http://schemas.openxmlformats.org/officeDocument/2006/relationships/image" Target="../media/image8.w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10.wmf"/><Relationship Id="rId4" Type="http://schemas.openxmlformats.org/officeDocument/2006/relationships/oleObject" Target="../embeddings/oleObject9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11.wmf"/><Relationship Id="rId4" Type="http://schemas.openxmlformats.org/officeDocument/2006/relationships/oleObject" Target="../embeddings/oleObject10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12.w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13.w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.bin"/><Relationship Id="rId3" Type="http://schemas.openxmlformats.org/officeDocument/2006/relationships/oleObject" Target="../embeddings/oleObject13.bin"/><Relationship Id="rId7" Type="http://schemas.openxmlformats.org/officeDocument/2006/relationships/image" Target="../media/image16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14.bin"/><Relationship Id="rId5" Type="http://schemas.openxmlformats.org/officeDocument/2006/relationships/image" Target="../media/image18.png"/><Relationship Id="rId4" Type="http://schemas.openxmlformats.org/officeDocument/2006/relationships/image" Target="../media/image15.wmf"/><Relationship Id="rId9" Type="http://schemas.openxmlformats.org/officeDocument/2006/relationships/image" Target="../media/image17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wmf"/><Relationship Id="rId3" Type="http://schemas.openxmlformats.org/officeDocument/2006/relationships/oleObject" Target="../embeddings/oleObject16.bin"/><Relationship Id="rId7" Type="http://schemas.openxmlformats.org/officeDocument/2006/relationships/oleObject" Target="../embeddings/oleObject1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20.wmf"/><Relationship Id="rId5" Type="http://schemas.openxmlformats.org/officeDocument/2006/relationships/oleObject" Target="../embeddings/oleObject17.bin"/><Relationship Id="rId10" Type="http://schemas.openxmlformats.org/officeDocument/2006/relationships/image" Target="../media/image22.wmf"/><Relationship Id="rId4" Type="http://schemas.openxmlformats.org/officeDocument/2006/relationships/image" Target="../media/image19.wmf"/><Relationship Id="rId9" Type="http://schemas.openxmlformats.org/officeDocument/2006/relationships/oleObject" Target="../embeddings/oleObject19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2.bin"/><Relationship Id="rId3" Type="http://schemas.openxmlformats.org/officeDocument/2006/relationships/image" Target="../media/image26.png"/><Relationship Id="rId7" Type="http://schemas.openxmlformats.org/officeDocument/2006/relationships/image" Target="../media/image24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21.bin"/><Relationship Id="rId11" Type="http://schemas.openxmlformats.org/officeDocument/2006/relationships/image" Target="../media/image25.wmf"/><Relationship Id="rId5" Type="http://schemas.openxmlformats.org/officeDocument/2006/relationships/image" Target="../media/image23.wmf"/><Relationship Id="rId10" Type="http://schemas.openxmlformats.org/officeDocument/2006/relationships/oleObject" Target="../embeddings/oleObject23.bin"/><Relationship Id="rId4" Type="http://schemas.openxmlformats.org/officeDocument/2006/relationships/oleObject" Target="../embeddings/oleObject20.bin"/><Relationship Id="rId9" Type="http://schemas.openxmlformats.org/officeDocument/2006/relationships/image" Target="../media/image15.w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6.bin"/><Relationship Id="rId3" Type="http://schemas.openxmlformats.org/officeDocument/2006/relationships/notesSlide" Target="../notesSlides/notesSlide9.xml"/><Relationship Id="rId7" Type="http://schemas.openxmlformats.org/officeDocument/2006/relationships/image" Target="../media/image28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6" Type="http://schemas.openxmlformats.org/officeDocument/2006/relationships/oleObject" Target="../embeddings/oleObject25.bin"/><Relationship Id="rId5" Type="http://schemas.openxmlformats.org/officeDocument/2006/relationships/image" Target="../media/image27.wmf"/><Relationship Id="rId4" Type="http://schemas.openxmlformats.org/officeDocument/2006/relationships/oleObject" Target="../embeddings/oleObject24.bin"/><Relationship Id="rId9" Type="http://schemas.openxmlformats.org/officeDocument/2006/relationships/image" Target="../media/image29.w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7" Type="http://schemas.openxmlformats.org/officeDocument/2006/relationships/image" Target="../media/image28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6" Type="http://schemas.openxmlformats.org/officeDocument/2006/relationships/oleObject" Target="../embeddings/oleObject28.bin"/><Relationship Id="rId5" Type="http://schemas.openxmlformats.org/officeDocument/2006/relationships/image" Target="../media/image27.wmf"/><Relationship Id="rId4" Type="http://schemas.openxmlformats.org/officeDocument/2006/relationships/oleObject" Target="../embeddings/oleObject27.bin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5" Type="http://schemas.openxmlformats.org/officeDocument/2006/relationships/image" Target="../media/image34.jpeg"/><Relationship Id="rId4" Type="http://schemas.openxmlformats.org/officeDocument/2006/relationships/image" Target="../media/image33.w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2.bin"/><Relationship Id="rId3" Type="http://schemas.openxmlformats.org/officeDocument/2006/relationships/notesSlide" Target="../notesSlides/notesSlide13.xml"/><Relationship Id="rId7" Type="http://schemas.openxmlformats.org/officeDocument/2006/relationships/image" Target="../media/image38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6" Type="http://schemas.openxmlformats.org/officeDocument/2006/relationships/oleObject" Target="../embeddings/oleObject31.bin"/><Relationship Id="rId5" Type="http://schemas.openxmlformats.org/officeDocument/2006/relationships/image" Target="../media/image37.wmf"/><Relationship Id="rId4" Type="http://schemas.openxmlformats.org/officeDocument/2006/relationships/oleObject" Target="../embeddings/oleObject30.bin"/><Relationship Id="rId9" Type="http://schemas.openxmlformats.org/officeDocument/2006/relationships/image" Target="../media/image39.w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7" Type="http://schemas.openxmlformats.org/officeDocument/2006/relationships/image" Target="../media/image41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6" Type="http://schemas.openxmlformats.org/officeDocument/2006/relationships/oleObject" Target="../embeddings/oleObject34.bin"/><Relationship Id="rId5" Type="http://schemas.openxmlformats.org/officeDocument/2006/relationships/image" Target="../media/image40.wmf"/><Relationship Id="rId4" Type="http://schemas.openxmlformats.org/officeDocument/2006/relationships/oleObject" Target="../embeddings/oleObject33.bin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7.bin"/><Relationship Id="rId3" Type="http://schemas.openxmlformats.org/officeDocument/2006/relationships/notesSlide" Target="../notesSlides/notesSlide15.xml"/><Relationship Id="rId7" Type="http://schemas.openxmlformats.org/officeDocument/2006/relationships/image" Target="../media/image42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6.vml"/><Relationship Id="rId6" Type="http://schemas.openxmlformats.org/officeDocument/2006/relationships/oleObject" Target="../embeddings/oleObject36.bin"/><Relationship Id="rId5" Type="http://schemas.openxmlformats.org/officeDocument/2006/relationships/image" Target="../media/image40.wmf"/><Relationship Id="rId4" Type="http://schemas.openxmlformats.org/officeDocument/2006/relationships/oleObject" Target="../embeddings/oleObject35.bin"/><Relationship Id="rId9" Type="http://schemas.openxmlformats.org/officeDocument/2006/relationships/image" Target="../media/image43.wmf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7.vml"/><Relationship Id="rId5" Type="http://schemas.openxmlformats.org/officeDocument/2006/relationships/image" Target="../media/image44.wmf"/><Relationship Id="rId4" Type="http://schemas.openxmlformats.org/officeDocument/2006/relationships/oleObject" Target="../embeddings/oleObject38.bin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8.vml"/><Relationship Id="rId5" Type="http://schemas.openxmlformats.org/officeDocument/2006/relationships/image" Target="../media/image51.wmf"/><Relationship Id="rId4" Type="http://schemas.openxmlformats.org/officeDocument/2006/relationships/oleObject" Target="../embeddings/oleObject39.bin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2.bin"/><Relationship Id="rId3" Type="http://schemas.openxmlformats.org/officeDocument/2006/relationships/notesSlide" Target="../notesSlides/notesSlide22.xml"/><Relationship Id="rId7" Type="http://schemas.openxmlformats.org/officeDocument/2006/relationships/image" Target="../media/image53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9.vml"/><Relationship Id="rId6" Type="http://schemas.openxmlformats.org/officeDocument/2006/relationships/oleObject" Target="../embeddings/oleObject41.bin"/><Relationship Id="rId5" Type="http://schemas.openxmlformats.org/officeDocument/2006/relationships/image" Target="../media/image52.wmf"/><Relationship Id="rId4" Type="http://schemas.openxmlformats.org/officeDocument/2006/relationships/oleObject" Target="../embeddings/oleObject40.bin"/><Relationship Id="rId9" Type="http://schemas.openxmlformats.org/officeDocument/2006/relationships/image" Target="../media/image54.wmf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5.bin"/><Relationship Id="rId3" Type="http://schemas.openxmlformats.org/officeDocument/2006/relationships/notesSlide" Target="../notesSlides/notesSlide23.xml"/><Relationship Id="rId7" Type="http://schemas.openxmlformats.org/officeDocument/2006/relationships/image" Target="../media/image56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0.vml"/><Relationship Id="rId6" Type="http://schemas.openxmlformats.org/officeDocument/2006/relationships/oleObject" Target="../embeddings/oleObject44.bin"/><Relationship Id="rId11" Type="http://schemas.openxmlformats.org/officeDocument/2006/relationships/image" Target="../media/image58.wmf"/><Relationship Id="rId5" Type="http://schemas.openxmlformats.org/officeDocument/2006/relationships/image" Target="../media/image55.wmf"/><Relationship Id="rId10" Type="http://schemas.openxmlformats.org/officeDocument/2006/relationships/oleObject" Target="../embeddings/oleObject46.bin"/><Relationship Id="rId4" Type="http://schemas.openxmlformats.org/officeDocument/2006/relationships/oleObject" Target="../embeddings/oleObject43.bin"/><Relationship Id="rId9" Type="http://schemas.openxmlformats.org/officeDocument/2006/relationships/image" Target="../media/image57.wmf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1.vml"/><Relationship Id="rId5" Type="http://schemas.openxmlformats.org/officeDocument/2006/relationships/image" Target="../media/image59.wmf"/><Relationship Id="rId4" Type="http://schemas.openxmlformats.org/officeDocument/2006/relationships/oleObject" Target="../embeddings/oleObject47.bin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2.vml"/><Relationship Id="rId4" Type="http://schemas.openxmlformats.org/officeDocument/2006/relationships/image" Target="../media/image20.wmf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灯片编号占位符 5">
            <a:extLst>
              <a:ext uri="{FF2B5EF4-FFF2-40B4-BE49-F238E27FC236}">
                <a16:creationId xmlns:a16="http://schemas.microsoft.com/office/drawing/2014/main" id="{5F3C22AF-6258-4D19-BD54-6F5F20A19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buFontTx/>
              <a:buChar char="•"/>
            </a:pPr>
            <a:fld id="{E64B96D7-DCF5-4399-B50E-6F9BA77A2EE8}" type="slidenum">
              <a:rPr lang="en-US" altLang="zh-CN" sz="1200" smtClean="0">
                <a:solidFill>
                  <a:srgbClr val="898989"/>
                </a:solidFill>
                <a:latin typeface="Times New Roman" panose="02020603050405020304" pitchFamily="18" charset="0"/>
                <a:ea typeface="楷体_GB2312" pitchFamily="49" charset="-122"/>
              </a:rPr>
              <a:pPr>
                <a:buFontTx/>
                <a:buChar char="•"/>
              </a:pPr>
              <a:t>1</a:t>
            </a:fld>
            <a:endParaRPr lang="en-US" altLang="zh-CN" sz="1200">
              <a:solidFill>
                <a:srgbClr val="898989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B243478C-4F57-4B4B-BBA2-B7854996AF20}"/>
              </a:ext>
            </a:extLst>
          </p:cNvPr>
          <p:cNvSpPr/>
          <p:nvPr/>
        </p:nvSpPr>
        <p:spPr>
          <a:xfrm>
            <a:off x="117475" y="1420813"/>
            <a:ext cx="4206875" cy="46037"/>
          </a:xfrm>
          <a:prstGeom prst="rect">
            <a:avLst/>
          </a:prstGeom>
          <a:gradFill flip="none" rotWithShape="1">
            <a:gsLst>
              <a:gs pos="0">
                <a:srgbClr val="5E9EFF"/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85000"/>
              <a:buFontTx/>
              <a:buChar char="•"/>
              <a:defRPr/>
            </a:pPr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97D090EB-8042-40D9-95AD-F7B48C880FE5}"/>
              </a:ext>
            </a:extLst>
          </p:cNvPr>
          <p:cNvSpPr/>
          <p:nvPr/>
        </p:nvSpPr>
        <p:spPr>
          <a:xfrm rot="10800000" flipV="1">
            <a:off x="4900613" y="4487863"/>
            <a:ext cx="4089400" cy="46037"/>
          </a:xfrm>
          <a:prstGeom prst="rect">
            <a:avLst/>
          </a:prstGeom>
          <a:gradFill flip="none" rotWithShape="1">
            <a:gsLst>
              <a:gs pos="0">
                <a:srgbClr val="5E9EFF"/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85000"/>
              <a:buFontTx/>
              <a:buChar char="•"/>
              <a:defRPr/>
            </a:pPr>
            <a:endParaRPr lang="zh-CN" altLang="en-US"/>
          </a:p>
        </p:txBody>
      </p:sp>
      <p:sp>
        <p:nvSpPr>
          <p:cNvPr id="13317" name="TextBox 13">
            <a:extLst>
              <a:ext uri="{FF2B5EF4-FFF2-40B4-BE49-F238E27FC236}">
                <a16:creationId xmlns:a16="http://schemas.microsoft.com/office/drawing/2014/main" id="{F1D5BE6C-DB51-4F99-95B4-D78D20B46F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6550" y="2041525"/>
            <a:ext cx="7691438" cy="2157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50000"/>
              </a:lnSpc>
              <a:buSzPct val="85000"/>
              <a:buFontTx/>
              <a:buNone/>
            </a:pPr>
            <a:r>
              <a:rPr lang="zh-CN" altLang="en-US" sz="4400">
                <a:solidFill>
                  <a:srgbClr val="C00000"/>
                </a:solidFill>
                <a:latin typeface="华文琥珀" panose="02010800040101010101" pitchFamily="2" charset="-122"/>
                <a:ea typeface="华文琥珀" panose="02010800040101010101" pitchFamily="2" charset="-122"/>
              </a:rPr>
              <a:t>第一章 </a:t>
            </a:r>
            <a:r>
              <a:rPr lang="en-US" altLang="zh-CN" sz="4400">
                <a:solidFill>
                  <a:srgbClr val="C00000"/>
                </a:solidFill>
                <a:latin typeface="华文琥珀" panose="02010800040101010101" pitchFamily="2" charset="-122"/>
                <a:ea typeface="华文琥珀" panose="02010800040101010101" pitchFamily="2" charset="-122"/>
              </a:rPr>
              <a:t>PART2</a:t>
            </a:r>
          </a:p>
          <a:p>
            <a:pPr algn="ctr" eaLnBrk="1" hangingPunct="1">
              <a:lnSpc>
                <a:spcPct val="150000"/>
              </a:lnSpc>
              <a:buSzPct val="85000"/>
              <a:buFontTx/>
              <a:buNone/>
            </a:pPr>
            <a:r>
              <a:rPr lang="zh-CN" altLang="en-US" sz="4400">
                <a:solidFill>
                  <a:srgbClr val="C00000"/>
                </a:solidFill>
                <a:latin typeface="华文琥珀" panose="02010800040101010101" pitchFamily="2" charset="-122"/>
                <a:ea typeface="华文琥珀" panose="02010800040101010101" pitchFamily="2" charset="-122"/>
              </a:rPr>
              <a:t>  检测数据处理   </a:t>
            </a:r>
          </a:p>
        </p:txBody>
      </p:sp>
      <p:sp>
        <p:nvSpPr>
          <p:cNvPr id="8" name="页脚占位符 6">
            <a:extLst>
              <a:ext uri="{FF2B5EF4-FFF2-40B4-BE49-F238E27FC236}">
                <a16:creationId xmlns:a16="http://schemas.microsoft.com/office/drawing/2014/main" id="{35C4CD13-BFBE-49A2-B696-8806040A76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43213" y="6411913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zh-CN" altLang="en-US"/>
              <a:t>自动化学院测量科学与仪器系</a:t>
            </a:r>
            <a:endParaRPr lang="en-US" altLang="zh-CN"/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1AFB1D5E-FFA1-4DE4-8438-94155F332CA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19113" y="179388"/>
            <a:ext cx="3359150" cy="769937"/>
          </a:xfrm>
        </p:spPr>
        <p:txBody>
          <a:bodyPr/>
          <a:lstStyle/>
          <a:p>
            <a:pPr algn="l" eaLnBrk="1" hangingPunct="1"/>
            <a:r>
              <a:rPr lang="zh-CN" altLang="en-US" sz="32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本章主要内容</a:t>
            </a:r>
          </a:p>
        </p:txBody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500F2FE8-2A61-4862-9C95-39CBEE1340A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054225" y="1844675"/>
            <a:ext cx="4464050" cy="2297113"/>
          </a:xfrm>
        </p:spPr>
        <p:txBody>
          <a:bodyPr/>
          <a:lstStyle/>
          <a:p>
            <a:pPr eaLnBrk="1" hangingPunct="1">
              <a:spcAft>
                <a:spcPts val="600"/>
              </a:spcAft>
              <a:buClr>
                <a:schemeClr val="accent6"/>
              </a:buClr>
              <a:buFont typeface="Arial" charset="0"/>
              <a:buChar char="•"/>
              <a:defRPr/>
            </a:pPr>
            <a:r>
              <a:rPr lang="zh-CN" altLang="en-US" sz="2800" b="1" dirty="0"/>
              <a:t>误差理论基础</a:t>
            </a:r>
            <a:endParaRPr lang="en-US" altLang="zh-CN" sz="2800" b="1" dirty="0"/>
          </a:p>
          <a:p>
            <a:pPr eaLnBrk="1" hangingPunct="1">
              <a:spcAft>
                <a:spcPts val="600"/>
              </a:spcAft>
              <a:buClr>
                <a:schemeClr val="accent6"/>
              </a:buClr>
              <a:buFont typeface="Arial" charset="0"/>
              <a:buChar char="•"/>
              <a:defRPr/>
            </a:pPr>
            <a:r>
              <a:rPr lang="zh-CN" altLang="en-US" sz="2800" b="1" dirty="0"/>
              <a:t>误差的合成与分配</a:t>
            </a:r>
            <a:endParaRPr lang="en-US" altLang="zh-CN" sz="2800" b="1" dirty="0"/>
          </a:p>
          <a:p>
            <a:pPr eaLnBrk="1" hangingPunct="1">
              <a:spcAft>
                <a:spcPts val="600"/>
              </a:spcAft>
              <a:buClr>
                <a:schemeClr val="accent6"/>
              </a:buClr>
              <a:buFont typeface="Arial" charset="0"/>
              <a:buChar char="•"/>
              <a:defRPr/>
            </a:pPr>
            <a:r>
              <a:rPr lang="zh-CN" altLang="en-US" sz="2800" b="1" dirty="0"/>
              <a:t>测量不确定度</a:t>
            </a:r>
          </a:p>
        </p:txBody>
      </p:sp>
      <p:sp>
        <p:nvSpPr>
          <p:cNvPr id="14340" name="灯片编号占位符 5">
            <a:extLst>
              <a:ext uri="{FF2B5EF4-FFF2-40B4-BE49-F238E27FC236}">
                <a16:creationId xmlns:a16="http://schemas.microsoft.com/office/drawing/2014/main" id="{14226B86-597E-4BFD-A12F-CD74468DD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buFontTx/>
              <a:buChar char="•"/>
            </a:pPr>
            <a:fld id="{19F336D5-73BE-45AF-A6A5-CA6EB33321A1}" type="slidenum">
              <a:rPr lang="en-US" altLang="zh-CN" sz="1200" smtClean="0">
                <a:solidFill>
                  <a:srgbClr val="898989"/>
                </a:solidFill>
                <a:latin typeface="Times New Roman" panose="02020603050405020304" pitchFamily="18" charset="0"/>
                <a:ea typeface="楷体_GB2312" pitchFamily="49" charset="-122"/>
              </a:rPr>
              <a:pPr>
                <a:buFontTx/>
                <a:buChar char="•"/>
              </a:pPr>
              <a:t>2</a:t>
            </a:fld>
            <a:endParaRPr lang="en-US" altLang="zh-CN" sz="1200">
              <a:solidFill>
                <a:srgbClr val="898989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2EFBBFD-0B2B-4CD4-A179-FF79221B1A6A}"/>
              </a:ext>
            </a:extLst>
          </p:cNvPr>
          <p:cNvSpPr/>
          <p:nvPr/>
        </p:nvSpPr>
        <p:spPr>
          <a:xfrm>
            <a:off x="142875" y="1000125"/>
            <a:ext cx="8286750" cy="46038"/>
          </a:xfrm>
          <a:prstGeom prst="rect">
            <a:avLst/>
          </a:prstGeom>
          <a:gradFill flip="none" rotWithShape="1">
            <a:gsLst>
              <a:gs pos="0">
                <a:srgbClr val="5E9EFF"/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85000"/>
              <a:buFontTx/>
              <a:buChar char="•"/>
              <a:defRPr/>
            </a:pPr>
            <a:endParaRPr lang="zh-CN" altLang="en-US"/>
          </a:p>
        </p:txBody>
      </p:sp>
      <p:sp>
        <p:nvSpPr>
          <p:cNvPr id="8" name="页脚占位符 6">
            <a:extLst>
              <a:ext uri="{FF2B5EF4-FFF2-40B4-BE49-F238E27FC236}">
                <a16:creationId xmlns:a16="http://schemas.microsoft.com/office/drawing/2014/main" id="{BACD56DD-F79D-4368-AB08-8B1857AAC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43213" y="6411913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zh-CN" altLang="en-US"/>
              <a:t>自动化学院测量科学与仪器系</a:t>
            </a:r>
            <a:endParaRPr lang="en-US" altLang="zh-CN"/>
          </a:p>
        </p:txBody>
      </p:sp>
      <p:sp>
        <p:nvSpPr>
          <p:cNvPr id="14343" name="矩形 1">
            <a:extLst>
              <a:ext uri="{FF2B5EF4-FFF2-40B4-BE49-F238E27FC236}">
                <a16:creationId xmlns:a16="http://schemas.microsoft.com/office/drawing/2014/main" id="{BE29A211-29A3-450A-8304-39B37824BD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2113" y="4756150"/>
            <a:ext cx="80486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800" b="1">
                <a:solidFill>
                  <a:srgbClr val="333333"/>
                </a:solidFill>
                <a:latin typeface="Helvetica" panose="020B0604020202020204" pitchFamily="34" charset="0"/>
              </a:rPr>
              <a:t>参考书：</a:t>
            </a:r>
            <a:r>
              <a:rPr lang="zh-CN" altLang="en-US" sz="1800">
                <a:latin typeface="Arial" panose="020B0604020202020204" pitchFamily="34" charset="0"/>
                <a:hlinkClick r:id="rId3"/>
              </a:rPr>
              <a:t>费业泰</a:t>
            </a:r>
            <a:r>
              <a:rPr lang="zh-CN" altLang="en-US" sz="1800">
                <a:latin typeface="Arial" panose="020B0604020202020204" pitchFamily="34" charset="0"/>
              </a:rPr>
              <a:t> ，</a:t>
            </a:r>
            <a:r>
              <a:rPr lang="zh-CN" altLang="en-US" sz="1800" b="1">
                <a:solidFill>
                  <a:srgbClr val="333333"/>
                </a:solidFill>
                <a:latin typeface="Helvetica" panose="020B0604020202020204" pitchFamily="34" charset="0"/>
              </a:rPr>
              <a:t>误差理论与数据处理（苐</a:t>
            </a:r>
            <a:r>
              <a:rPr lang="en-US" altLang="zh-CN" sz="1800" b="1">
                <a:solidFill>
                  <a:srgbClr val="333333"/>
                </a:solidFill>
                <a:latin typeface="Helvetica" panose="020B0604020202020204" pitchFamily="34" charset="0"/>
              </a:rPr>
              <a:t>7</a:t>
            </a:r>
            <a:r>
              <a:rPr lang="zh-CN" altLang="en-US" sz="1800" b="1">
                <a:solidFill>
                  <a:srgbClr val="333333"/>
                </a:solidFill>
                <a:latin typeface="Helvetica" panose="020B0604020202020204" pitchFamily="34" charset="0"/>
              </a:rPr>
              <a:t>版），机械工业出版社，</a:t>
            </a:r>
            <a:r>
              <a:rPr lang="en-US" altLang="zh-CN" sz="1800" b="1">
                <a:solidFill>
                  <a:srgbClr val="333333"/>
                </a:solidFill>
                <a:latin typeface="Helvetica" panose="020B0604020202020204" pitchFamily="34" charset="0"/>
              </a:rPr>
              <a:t>2015.4</a:t>
            </a:r>
            <a:endParaRPr lang="zh-CN" altLang="en-US" sz="1800" b="1">
              <a:solidFill>
                <a:srgbClr val="333333"/>
              </a:solidFill>
              <a:latin typeface="Helvetica" panose="020B0604020202020204" pitchFamily="34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25FCA83-1603-4B05-AC0D-8EC5ED760837}"/>
              </a:ext>
            </a:extLst>
          </p:cNvPr>
          <p:cNvSpPr/>
          <p:nvPr/>
        </p:nvSpPr>
        <p:spPr>
          <a:xfrm>
            <a:off x="407988" y="4079875"/>
            <a:ext cx="4003675" cy="4619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spcAft>
                <a:spcPts val="600"/>
              </a:spcAft>
              <a:buClr>
                <a:schemeClr val="accent6"/>
              </a:buClr>
              <a:buFont typeface="Arial" charset="0"/>
              <a:buChar char="•"/>
              <a:defRPr/>
            </a:pPr>
            <a:r>
              <a:rPr lang="zh-CN" altLang="en-US" sz="2400" b="1" dirty="0">
                <a:solidFill>
                  <a:srgbClr val="FF0000"/>
                </a:solidFill>
              </a:rPr>
              <a:t>测量过程总在和误差做斗争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3">
            <a:extLst>
              <a:ext uri="{FF2B5EF4-FFF2-40B4-BE49-F238E27FC236}">
                <a16:creationId xmlns:a16="http://schemas.microsoft.com/office/drawing/2014/main" id="{1F67101E-8ABB-433C-AE20-DD98A66C237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58775" y="152400"/>
            <a:ext cx="3421063" cy="647700"/>
          </a:xfrm>
        </p:spPr>
        <p:txBody>
          <a:bodyPr/>
          <a:lstStyle/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</a:pPr>
            <a:r>
              <a:rPr lang="en-US" altLang="zh-CN" sz="28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 </a:t>
            </a:r>
            <a:r>
              <a:rPr lang="zh-CN" altLang="en-US" sz="28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误差理论基础</a:t>
            </a:r>
          </a:p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</a:pPr>
            <a:endParaRPr lang="zh-CN" altLang="en-US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6387" name="灯片编号占位符 5">
            <a:extLst>
              <a:ext uri="{FF2B5EF4-FFF2-40B4-BE49-F238E27FC236}">
                <a16:creationId xmlns:a16="http://schemas.microsoft.com/office/drawing/2014/main" id="{8E1B0BB7-D4E3-49C8-BD44-F5B4F29F9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buFontTx/>
              <a:buChar char="•"/>
            </a:pPr>
            <a:fld id="{27B0DE30-0D70-4823-9E4B-BD7EC077AC7E}" type="slidenum">
              <a:rPr lang="en-US" altLang="zh-CN" sz="1200" smtClean="0">
                <a:solidFill>
                  <a:srgbClr val="898989"/>
                </a:solidFill>
                <a:latin typeface="Times New Roman" panose="02020603050405020304" pitchFamily="18" charset="0"/>
                <a:ea typeface="楷体_GB2312" pitchFamily="49" charset="-122"/>
              </a:rPr>
              <a:pPr>
                <a:buFontTx/>
                <a:buChar char="•"/>
              </a:pPr>
              <a:t>3</a:t>
            </a:fld>
            <a:endParaRPr lang="en-US" altLang="zh-CN" sz="1200">
              <a:solidFill>
                <a:srgbClr val="898989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6B69AD9-0155-4F97-882C-8907970374D8}"/>
              </a:ext>
            </a:extLst>
          </p:cNvPr>
          <p:cNvSpPr/>
          <p:nvPr/>
        </p:nvSpPr>
        <p:spPr>
          <a:xfrm>
            <a:off x="149225" y="936625"/>
            <a:ext cx="8286750" cy="46038"/>
          </a:xfrm>
          <a:prstGeom prst="rect">
            <a:avLst/>
          </a:prstGeom>
          <a:gradFill flip="none" rotWithShape="1">
            <a:gsLst>
              <a:gs pos="0">
                <a:srgbClr val="5E9EFF"/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85000"/>
              <a:buFontTx/>
              <a:buChar char="•"/>
              <a:defRPr/>
            </a:pPr>
            <a:endParaRPr lang="zh-CN" altLang="en-US"/>
          </a:p>
        </p:txBody>
      </p:sp>
      <p:sp>
        <p:nvSpPr>
          <p:cNvPr id="12" name="页脚占位符 6">
            <a:extLst>
              <a:ext uri="{FF2B5EF4-FFF2-40B4-BE49-F238E27FC236}">
                <a16:creationId xmlns:a16="http://schemas.microsoft.com/office/drawing/2014/main" id="{39FFAABC-007E-4517-889F-1C2BAC05F0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43213" y="6411913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zh-CN" altLang="en-US"/>
              <a:t>自动化学院测量科学与仪器系</a:t>
            </a:r>
            <a:endParaRPr lang="en-US" altLang="zh-CN"/>
          </a:p>
        </p:txBody>
      </p:sp>
      <p:sp>
        <p:nvSpPr>
          <p:cNvPr id="16390" name="文本框 1">
            <a:extLst>
              <a:ext uri="{FF2B5EF4-FFF2-40B4-BE49-F238E27FC236}">
                <a16:creationId xmlns:a16="http://schemas.microsoft.com/office/drawing/2014/main" id="{750B73AB-1A5E-4D63-89A6-15E9E05788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43213" y="1916113"/>
            <a:ext cx="1643062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2000">
                <a:latin typeface="黑体" panose="02010609060101010101" pitchFamily="49" charset="-122"/>
                <a:ea typeface="黑体" panose="02010609060101010101" pitchFamily="49" charset="-122"/>
              </a:rPr>
              <a:t>定义及表示</a:t>
            </a:r>
            <a:endParaRPr lang="en-US" altLang="zh-CN" sz="20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6391" name="文本框 3">
            <a:extLst>
              <a:ext uri="{FF2B5EF4-FFF2-40B4-BE49-F238E27FC236}">
                <a16:creationId xmlns:a16="http://schemas.microsoft.com/office/drawing/2014/main" id="{601A4D09-C5D4-4EB2-BB17-A5D0D44225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6763" y="3370263"/>
            <a:ext cx="1541462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400" b="1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误差的基本概念</a:t>
            </a:r>
          </a:p>
        </p:txBody>
      </p:sp>
      <p:sp>
        <p:nvSpPr>
          <p:cNvPr id="16392" name="左大括号 4">
            <a:extLst>
              <a:ext uri="{FF2B5EF4-FFF2-40B4-BE49-F238E27FC236}">
                <a16:creationId xmlns:a16="http://schemas.microsoft.com/office/drawing/2014/main" id="{F68858F5-1CA9-4167-AF37-E6A8CC96144F}"/>
              </a:ext>
            </a:extLst>
          </p:cNvPr>
          <p:cNvSpPr>
            <a:spLocks/>
          </p:cNvSpPr>
          <p:nvPr/>
        </p:nvSpPr>
        <p:spPr bwMode="auto">
          <a:xfrm>
            <a:off x="2436813" y="2182813"/>
            <a:ext cx="431800" cy="3059112"/>
          </a:xfrm>
          <a:prstGeom prst="leftBrace">
            <a:avLst>
              <a:gd name="adj1" fmla="val 8331"/>
              <a:gd name="adj2" fmla="val 50000"/>
            </a:avLst>
          </a:prstGeom>
          <a:noFill/>
          <a:ln w="2857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en-US" sz="1800">
              <a:latin typeface="Arial" panose="020B0604020202020204" pitchFamily="34" charset="0"/>
            </a:endParaRPr>
          </a:p>
        </p:txBody>
      </p:sp>
      <p:sp>
        <p:nvSpPr>
          <p:cNvPr id="16393" name="文本框 1">
            <a:extLst>
              <a:ext uri="{FF2B5EF4-FFF2-40B4-BE49-F238E27FC236}">
                <a16:creationId xmlns:a16="http://schemas.microsoft.com/office/drawing/2014/main" id="{6A7CE787-4AB9-4975-9DC1-A071D6E285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81325" y="4918075"/>
            <a:ext cx="1404938" cy="48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2000">
                <a:latin typeface="黑体" panose="02010609060101010101" pitchFamily="49" charset="-122"/>
                <a:ea typeface="黑体" panose="02010609060101010101" pitchFamily="49" charset="-122"/>
              </a:rPr>
              <a:t>误差来源</a:t>
            </a:r>
          </a:p>
        </p:txBody>
      </p:sp>
      <p:sp>
        <p:nvSpPr>
          <p:cNvPr id="16394" name="左大括号 4">
            <a:extLst>
              <a:ext uri="{FF2B5EF4-FFF2-40B4-BE49-F238E27FC236}">
                <a16:creationId xmlns:a16="http://schemas.microsoft.com/office/drawing/2014/main" id="{B2707C0F-9BFA-4C60-8FD0-D6A3A7B1644B}"/>
              </a:ext>
            </a:extLst>
          </p:cNvPr>
          <p:cNvSpPr>
            <a:spLocks/>
          </p:cNvSpPr>
          <p:nvPr/>
        </p:nvSpPr>
        <p:spPr bwMode="auto">
          <a:xfrm>
            <a:off x="4292600" y="1652588"/>
            <a:ext cx="431800" cy="1152525"/>
          </a:xfrm>
          <a:prstGeom prst="leftBrace">
            <a:avLst>
              <a:gd name="adj1" fmla="val 8341"/>
              <a:gd name="adj2" fmla="val 50000"/>
            </a:avLst>
          </a:prstGeom>
          <a:noFill/>
          <a:ln w="2857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en-US" sz="1800">
              <a:latin typeface="Arial" panose="020B0604020202020204" pitchFamily="34" charset="0"/>
            </a:endParaRPr>
          </a:p>
        </p:txBody>
      </p:sp>
      <p:sp>
        <p:nvSpPr>
          <p:cNvPr id="16395" name="文本框 1">
            <a:extLst>
              <a:ext uri="{FF2B5EF4-FFF2-40B4-BE49-F238E27FC236}">
                <a16:creationId xmlns:a16="http://schemas.microsoft.com/office/drawing/2014/main" id="{F19EA99B-5F50-4805-98D8-5EF0BE5B99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4400" y="1470025"/>
            <a:ext cx="1333500" cy="1404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2000">
                <a:latin typeface="黑体" panose="02010609060101010101" pitchFamily="49" charset="-122"/>
                <a:ea typeface="黑体" panose="02010609060101010101" pitchFamily="49" charset="-122"/>
              </a:rPr>
              <a:t>绝对误差</a:t>
            </a: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2000">
                <a:latin typeface="黑体" panose="02010609060101010101" pitchFamily="49" charset="-122"/>
                <a:ea typeface="黑体" panose="02010609060101010101" pitchFamily="49" charset="-122"/>
              </a:rPr>
              <a:t>相对误差</a:t>
            </a:r>
            <a:endParaRPr lang="en-US" altLang="zh-CN" sz="200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200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引用误差</a:t>
            </a:r>
          </a:p>
        </p:txBody>
      </p:sp>
      <p:sp>
        <p:nvSpPr>
          <p:cNvPr id="16396" name="文本框 1">
            <a:extLst>
              <a:ext uri="{FF2B5EF4-FFF2-40B4-BE49-F238E27FC236}">
                <a16:creationId xmlns:a16="http://schemas.microsoft.com/office/drawing/2014/main" id="{9C3D6FEF-F701-4F77-87C4-F1D919B471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83363" y="2414588"/>
            <a:ext cx="1643062" cy="481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200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仪表准确度</a:t>
            </a:r>
            <a:endParaRPr lang="en-US" altLang="zh-CN" sz="200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5AB849ED-300F-4C34-85B2-D2C4D24541B4}"/>
              </a:ext>
            </a:extLst>
          </p:cNvPr>
          <p:cNvCxnSpPr/>
          <p:nvPr/>
        </p:nvCxnSpPr>
        <p:spPr bwMode="auto">
          <a:xfrm>
            <a:off x="5930900" y="2706688"/>
            <a:ext cx="701675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6398" name="文本框 1">
            <a:extLst>
              <a:ext uri="{FF2B5EF4-FFF2-40B4-BE49-F238E27FC236}">
                <a16:creationId xmlns:a16="http://schemas.microsoft.com/office/drawing/2014/main" id="{E1627301-6743-42F1-850A-D9E67C0416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32138" y="3454400"/>
            <a:ext cx="847725" cy="55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2000">
                <a:latin typeface="黑体" panose="02010609060101010101" pitchFamily="49" charset="-122"/>
                <a:ea typeface="黑体" panose="02010609060101010101" pitchFamily="49" charset="-122"/>
              </a:rPr>
              <a:t>分类</a:t>
            </a:r>
            <a:endParaRPr lang="en-US" altLang="zh-CN" sz="20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6399" name="左大括号 4">
            <a:extLst>
              <a:ext uri="{FF2B5EF4-FFF2-40B4-BE49-F238E27FC236}">
                <a16:creationId xmlns:a16="http://schemas.microsoft.com/office/drawing/2014/main" id="{FE2B2AF1-FE69-4253-B7F0-C594CC4FE1C6}"/>
              </a:ext>
            </a:extLst>
          </p:cNvPr>
          <p:cNvSpPr>
            <a:spLocks/>
          </p:cNvSpPr>
          <p:nvPr/>
        </p:nvSpPr>
        <p:spPr bwMode="auto">
          <a:xfrm>
            <a:off x="4284663" y="3211513"/>
            <a:ext cx="431800" cy="1152525"/>
          </a:xfrm>
          <a:prstGeom prst="leftBrace">
            <a:avLst>
              <a:gd name="adj1" fmla="val 8341"/>
              <a:gd name="adj2" fmla="val 50000"/>
            </a:avLst>
          </a:prstGeom>
          <a:noFill/>
          <a:ln w="2857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en-US" sz="1800">
              <a:latin typeface="Arial" panose="020B0604020202020204" pitchFamily="34" charset="0"/>
            </a:endParaRPr>
          </a:p>
        </p:txBody>
      </p:sp>
      <p:sp>
        <p:nvSpPr>
          <p:cNvPr id="16400" name="文本框 1">
            <a:extLst>
              <a:ext uri="{FF2B5EF4-FFF2-40B4-BE49-F238E27FC236}">
                <a16:creationId xmlns:a16="http://schemas.microsoft.com/office/drawing/2014/main" id="{7C67F355-331A-4BC0-A6D7-05E6EB0FA6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4400" y="3046413"/>
            <a:ext cx="1333500" cy="1477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20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随机误差</a:t>
            </a: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20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系统误差</a:t>
            </a:r>
            <a:endParaRPr lang="en-US" altLang="zh-CN" sz="200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20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粗大误差</a:t>
            </a:r>
          </a:p>
        </p:txBody>
      </p:sp>
      <p:sp>
        <p:nvSpPr>
          <p:cNvPr id="16401" name="文本框 3">
            <a:extLst>
              <a:ext uri="{FF2B5EF4-FFF2-40B4-BE49-F238E27FC236}">
                <a16:creationId xmlns:a16="http://schemas.microsoft.com/office/drawing/2014/main" id="{4895E8F0-6C2D-4BDA-8FB4-379837357B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37238" y="5705475"/>
            <a:ext cx="175418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 b="1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误差的处理</a:t>
            </a:r>
          </a:p>
        </p:txBody>
      </p:sp>
      <p:sp>
        <p:nvSpPr>
          <p:cNvPr id="8" name="直角上箭头 7">
            <a:extLst>
              <a:ext uri="{FF2B5EF4-FFF2-40B4-BE49-F238E27FC236}">
                <a16:creationId xmlns:a16="http://schemas.microsoft.com/office/drawing/2014/main" id="{F232CD22-9E49-4752-96A8-EA34A6F270C7}"/>
              </a:ext>
            </a:extLst>
          </p:cNvPr>
          <p:cNvSpPr/>
          <p:nvPr/>
        </p:nvSpPr>
        <p:spPr bwMode="auto">
          <a:xfrm rot="16200000">
            <a:off x="5434806" y="4368007"/>
            <a:ext cx="1817687" cy="571500"/>
          </a:xfrm>
          <a:prstGeom prst="bentUpArrow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itchFamily="34" charset="0"/>
              <a:buNone/>
              <a:defRPr/>
            </a:pPr>
            <a:endParaRPr lang="zh-CN" altLang="en-US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33" name="Rectangle 3">
            <a:extLst>
              <a:ext uri="{FF2B5EF4-FFF2-40B4-BE49-F238E27FC236}">
                <a16:creationId xmlns:a16="http://schemas.microsoft.com/office/drawing/2014/main" id="{65E8955E-29C3-4EDF-A720-E82B742AB6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6075" y="1052513"/>
            <a:ext cx="3421063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1pPr>
            <a:lvl2pPr marL="742950" indent="-28575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+mn-lt"/>
                <a:ea typeface="+mn-ea"/>
                <a:sym typeface="Calibri" panose="020F0502020204030204" pitchFamily="34" charset="0"/>
              </a:defRPr>
            </a:lvl2pPr>
            <a:lvl3pPr marL="11430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sym typeface="Calibri" panose="020F0502020204030204" pitchFamily="34" charset="0"/>
              </a:defRPr>
            </a:lvl3pPr>
            <a:lvl4pPr marL="16002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+mn-lt"/>
                <a:ea typeface="+mn-ea"/>
                <a:sym typeface="Calibri" panose="020F0502020204030204" pitchFamily="34" charset="0"/>
              </a:defRPr>
            </a:lvl4pPr>
            <a:lvl5pPr marL="20574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Calibri" panose="020F0502020204030204" pitchFamily="34" charset="0"/>
              </a:defRPr>
            </a:lvl5pPr>
            <a:lvl6pPr marL="25146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Calibri" pitchFamily="34" charset="0"/>
              </a:defRPr>
            </a:lvl6pPr>
            <a:lvl7pPr marL="29718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Calibri" pitchFamily="34" charset="0"/>
              </a:defRPr>
            </a:lvl7pPr>
            <a:lvl8pPr marL="34290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Calibri" pitchFamily="34" charset="0"/>
              </a:defRPr>
            </a:lvl8pPr>
            <a:lvl9pPr marL="38862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Calibri" pitchFamily="34" charset="0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  <a:defRPr/>
            </a:pPr>
            <a:r>
              <a:rPr lang="zh-CN" altLang="en-US" sz="2400" kern="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主要内容：</a:t>
            </a:r>
          </a:p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  <a:defRPr/>
            </a:pPr>
            <a:endParaRPr lang="zh-CN" altLang="en-US" kern="0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3">
            <a:extLst>
              <a:ext uri="{FF2B5EF4-FFF2-40B4-BE49-F238E27FC236}">
                <a16:creationId xmlns:a16="http://schemas.microsoft.com/office/drawing/2014/main" id="{2FA5573D-1635-4366-8079-66DEF58A1F8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58775" y="152400"/>
            <a:ext cx="3421063" cy="647700"/>
          </a:xfrm>
        </p:spPr>
        <p:txBody>
          <a:bodyPr/>
          <a:lstStyle/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</a:pPr>
            <a:r>
              <a:rPr lang="en-US" altLang="zh-CN" sz="28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 </a:t>
            </a:r>
            <a:r>
              <a:rPr lang="zh-CN" altLang="en-US" sz="28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误差理论基础</a:t>
            </a:r>
          </a:p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</a:pPr>
            <a:endParaRPr lang="zh-CN" altLang="en-US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7411" name="灯片编号占位符 5">
            <a:extLst>
              <a:ext uri="{FF2B5EF4-FFF2-40B4-BE49-F238E27FC236}">
                <a16:creationId xmlns:a16="http://schemas.microsoft.com/office/drawing/2014/main" id="{F1CA434B-80F0-4FC5-9180-BD7EA228F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buFontTx/>
              <a:buChar char="•"/>
            </a:pPr>
            <a:fld id="{E3538075-347C-48B3-80FD-E6899DD694BB}" type="slidenum">
              <a:rPr lang="en-US" altLang="zh-CN" sz="1200" smtClean="0">
                <a:solidFill>
                  <a:srgbClr val="898989"/>
                </a:solidFill>
                <a:latin typeface="Times New Roman" panose="02020603050405020304" pitchFamily="18" charset="0"/>
                <a:ea typeface="楷体_GB2312" pitchFamily="49" charset="-122"/>
              </a:rPr>
              <a:pPr>
                <a:buFontTx/>
                <a:buChar char="•"/>
              </a:pPr>
              <a:t>4</a:t>
            </a:fld>
            <a:endParaRPr lang="en-US" altLang="zh-CN" sz="1200">
              <a:solidFill>
                <a:srgbClr val="898989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54D3028-A45C-4096-B94F-31C9ECEC61A5}"/>
              </a:ext>
            </a:extLst>
          </p:cNvPr>
          <p:cNvSpPr/>
          <p:nvPr/>
        </p:nvSpPr>
        <p:spPr>
          <a:xfrm>
            <a:off x="142875" y="1000125"/>
            <a:ext cx="8286750" cy="46038"/>
          </a:xfrm>
          <a:prstGeom prst="rect">
            <a:avLst/>
          </a:prstGeom>
          <a:gradFill flip="none" rotWithShape="1">
            <a:gsLst>
              <a:gs pos="0">
                <a:srgbClr val="5E9EFF"/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85000"/>
              <a:buFontTx/>
              <a:buChar char="•"/>
              <a:defRPr/>
            </a:pPr>
            <a:endParaRPr lang="zh-CN" altLang="en-US"/>
          </a:p>
        </p:txBody>
      </p:sp>
      <p:sp>
        <p:nvSpPr>
          <p:cNvPr id="7173" name="Rectangle 3">
            <a:extLst>
              <a:ext uri="{FF2B5EF4-FFF2-40B4-BE49-F238E27FC236}">
                <a16:creationId xmlns:a16="http://schemas.microsoft.com/office/drawing/2014/main" id="{14916F25-2442-456D-B5FD-20E8851784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1313" y="1154113"/>
            <a:ext cx="5435600" cy="719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</a:pPr>
            <a:r>
              <a:rPr lang="en-US" altLang="zh-CN" sz="2400" b="1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1.1 </a:t>
            </a:r>
            <a:r>
              <a:rPr lang="zh-CN" altLang="en-US" sz="2400" b="1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误差的基本概念</a:t>
            </a:r>
          </a:p>
        </p:txBody>
      </p:sp>
      <p:sp>
        <p:nvSpPr>
          <p:cNvPr id="12" name="页脚占位符 6">
            <a:extLst>
              <a:ext uri="{FF2B5EF4-FFF2-40B4-BE49-F238E27FC236}">
                <a16:creationId xmlns:a16="http://schemas.microsoft.com/office/drawing/2014/main" id="{4E8405B5-678E-4CC3-BFFD-1F656F292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43213" y="6503988"/>
            <a:ext cx="2960687" cy="309562"/>
          </a:xfrm>
        </p:spPr>
        <p:txBody>
          <a:bodyPr/>
          <a:lstStyle/>
          <a:p>
            <a:pPr>
              <a:defRPr/>
            </a:pPr>
            <a:r>
              <a:rPr lang="zh-CN" altLang="en-US"/>
              <a:t>人工智能与自动化学院测量科学与仪器系</a:t>
            </a:r>
            <a:endParaRPr lang="en-US" altLang="zh-CN"/>
          </a:p>
        </p:txBody>
      </p:sp>
      <p:sp>
        <p:nvSpPr>
          <p:cNvPr id="7175" name="文本框 3">
            <a:extLst>
              <a:ext uri="{FF2B5EF4-FFF2-40B4-BE49-F238E27FC236}">
                <a16:creationId xmlns:a16="http://schemas.microsoft.com/office/drawing/2014/main" id="{4DEA41CF-3FEA-4785-96B5-48AC9F11A1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0700" y="1851025"/>
            <a:ext cx="4103688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1.1.1 </a:t>
            </a:r>
            <a:r>
              <a:rPr lang="zh-CN" altLang="en-US" sz="2400" b="1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误差的定义及表示</a:t>
            </a:r>
          </a:p>
        </p:txBody>
      </p:sp>
      <p:sp>
        <p:nvSpPr>
          <p:cNvPr id="7176" name="文本框 3">
            <a:extLst>
              <a:ext uri="{FF2B5EF4-FFF2-40B4-BE49-F238E27FC236}">
                <a16:creationId xmlns:a16="http://schemas.microsoft.com/office/drawing/2014/main" id="{559FB940-96BF-47C9-9B7A-A8DE3EB4E9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9038" y="2455863"/>
            <a:ext cx="3344862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 b="1">
                <a:latin typeface="黑体" panose="02010609060101010101" pitchFamily="49" charset="-122"/>
                <a:ea typeface="黑体" panose="02010609060101010101" pitchFamily="49" charset="-122"/>
              </a:rPr>
              <a:t>误差 </a:t>
            </a:r>
            <a:r>
              <a:rPr lang="en-US" altLang="zh-CN" sz="2400" b="1">
                <a:latin typeface="黑体" panose="02010609060101010101" pitchFamily="49" charset="-122"/>
                <a:ea typeface="黑体" panose="02010609060101010101" pitchFamily="49" charset="-122"/>
              </a:rPr>
              <a:t>= </a:t>
            </a:r>
            <a:r>
              <a:rPr lang="zh-CN" altLang="en-US" sz="2400" b="1">
                <a:latin typeface="黑体" panose="02010609060101010101" pitchFamily="49" charset="-122"/>
                <a:ea typeface="黑体" panose="02010609060101010101" pitchFamily="49" charset="-122"/>
              </a:rPr>
              <a:t>测得值</a:t>
            </a:r>
            <a:r>
              <a:rPr lang="en-US" altLang="zh-CN" sz="2400" b="1">
                <a:latin typeface="黑体" panose="02010609060101010101" pitchFamily="49" charset="-122"/>
                <a:ea typeface="黑体" panose="02010609060101010101" pitchFamily="49" charset="-122"/>
              </a:rPr>
              <a:t>-</a:t>
            </a:r>
            <a:r>
              <a:rPr lang="zh-CN" altLang="en-US" sz="2400" b="1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真值</a:t>
            </a:r>
          </a:p>
        </p:txBody>
      </p:sp>
      <p:sp>
        <p:nvSpPr>
          <p:cNvPr id="7177" name="文本框 3">
            <a:extLst>
              <a:ext uri="{FF2B5EF4-FFF2-40B4-BE49-F238E27FC236}">
                <a16:creationId xmlns:a16="http://schemas.microsoft.com/office/drawing/2014/main" id="{EECFF265-4FFB-478F-BDE8-2CE75F4917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64275" y="3289300"/>
            <a:ext cx="2324100" cy="706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000" b="1">
                <a:solidFill>
                  <a:srgbClr val="C00000"/>
                </a:solidFill>
                <a:latin typeface="Segoe UI Black" panose="020B0A02040204020203" pitchFamily="34" charset="0"/>
                <a:ea typeface="黑体" panose="02010609060101010101" pitchFamily="49" charset="-122"/>
              </a:rPr>
              <a:t>通常用约定真值 </a:t>
            </a:r>
            <a:r>
              <a:rPr lang="en-US" altLang="zh-CN" sz="2000" b="1">
                <a:solidFill>
                  <a:srgbClr val="C00000"/>
                </a:solidFill>
                <a:latin typeface="Segoe UI Black" panose="020B0A02040204020203" pitchFamily="34" charset="0"/>
                <a:ea typeface="黑体" panose="02010609060101010101" pitchFamily="49" charset="-122"/>
              </a:rPr>
              <a:t>(A)</a:t>
            </a:r>
            <a:r>
              <a:rPr lang="zh-CN" altLang="en-US" sz="2000" b="1">
                <a:solidFill>
                  <a:srgbClr val="C00000"/>
                </a:solidFill>
                <a:latin typeface="Segoe UI Black" panose="020B0A02040204020203" pitchFamily="34" charset="0"/>
                <a:ea typeface="黑体" panose="02010609060101010101" pitchFamily="49" charset="-122"/>
              </a:rPr>
              <a:t>代替</a:t>
            </a:r>
          </a:p>
        </p:txBody>
      </p:sp>
      <p:sp>
        <p:nvSpPr>
          <p:cNvPr id="7178" name="右箭头 1">
            <a:extLst>
              <a:ext uri="{FF2B5EF4-FFF2-40B4-BE49-F238E27FC236}">
                <a16:creationId xmlns:a16="http://schemas.microsoft.com/office/drawing/2014/main" id="{0C3FDFC1-1D23-4C56-B86D-67340F0B3DC9}"/>
              </a:ext>
            </a:extLst>
          </p:cNvPr>
          <p:cNvSpPr>
            <a:spLocks noChangeArrowheads="1"/>
          </p:cNvSpPr>
          <p:nvPr/>
        </p:nvSpPr>
        <p:spPr bwMode="auto">
          <a:xfrm rot="-8730152">
            <a:off x="5145088" y="3128963"/>
            <a:ext cx="949325" cy="149225"/>
          </a:xfrm>
          <a:prstGeom prst="rightArrow">
            <a:avLst>
              <a:gd name="adj1" fmla="val 50000"/>
              <a:gd name="adj2" fmla="val 50275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en-US" sz="1800">
              <a:latin typeface="Arial" panose="020B0604020202020204" pitchFamily="34" charset="0"/>
            </a:endParaRPr>
          </a:p>
        </p:txBody>
      </p:sp>
      <p:sp>
        <p:nvSpPr>
          <p:cNvPr id="7179" name="文本框 3">
            <a:extLst>
              <a:ext uri="{FF2B5EF4-FFF2-40B4-BE49-F238E27FC236}">
                <a16:creationId xmlns:a16="http://schemas.microsoft.com/office/drawing/2014/main" id="{6EA65D22-BA9D-4E22-82F2-5E431F3BDF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54163" y="4662488"/>
            <a:ext cx="1960562" cy="163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000" b="1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约定真值</a:t>
            </a:r>
            <a:r>
              <a:rPr lang="en-US" altLang="zh-CN" sz="2000" b="1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(A)</a:t>
            </a:r>
            <a:r>
              <a:rPr lang="zh-CN" altLang="en-US" sz="2000" b="1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endParaRPr lang="en-US" altLang="zh-CN" sz="2000" b="1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b="1">
                <a:latin typeface="PMingLiU" panose="02020500000000000000" pitchFamily="18" charset="-120"/>
                <a:ea typeface="PMingLiU" panose="02020500000000000000" pitchFamily="18" charset="-120"/>
              </a:rPr>
              <a:t>Conventional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b="1">
                <a:latin typeface="PMingLiU" panose="02020500000000000000" pitchFamily="18" charset="-120"/>
                <a:ea typeface="PMingLiU" panose="02020500000000000000" pitchFamily="18" charset="-120"/>
              </a:rPr>
              <a:t> true value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zh-CN" sz="2000" b="1">
              <a:latin typeface="PMingLiU" panose="02020500000000000000" pitchFamily="18" charset="-120"/>
              <a:ea typeface="PMingLiU" panose="02020500000000000000" pitchFamily="18" charset="-12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b="1">
                <a:solidFill>
                  <a:srgbClr val="00B050"/>
                </a:solidFill>
                <a:latin typeface="PMingLiU" panose="02020500000000000000" pitchFamily="18" charset="-120"/>
                <a:ea typeface="PMingLiU" panose="02020500000000000000" pitchFamily="18" charset="-120"/>
              </a:rPr>
              <a:t>3</a:t>
            </a:r>
            <a:r>
              <a:rPr lang="zh-CN" altLang="en-US" sz="2000" b="1">
                <a:solidFill>
                  <a:srgbClr val="00B050"/>
                </a:solidFill>
                <a:latin typeface="PMingLiU" panose="02020500000000000000" pitchFamily="18" charset="-120"/>
                <a:ea typeface="PMingLiU" panose="02020500000000000000" pitchFamily="18" charset="-120"/>
              </a:rPr>
              <a:t>个途径：</a:t>
            </a:r>
          </a:p>
        </p:txBody>
      </p:sp>
      <p:graphicFrame>
        <p:nvGraphicFramePr>
          <p:cNvPr id="7180" name="对象 2">
            <a:extLst>
              <a:ext uri="{FF2B5EF4-FFF2-40B4-BE49-F238E27FC236}">
                <a16:creationId xmlns:a16="http://schemas.microsoft.com/office/drawing/2014/main" id="{C7BE344F-61CF-4026-B3E6-12B1B0637CD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43213" y="3268663"/>
          <a:ext cx="1890712" cy="690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48" name="Equation" r:id="rId4" imgW="711200" imgH="228600" progId="Equation.DSMT4">
                  <p:embed/>
                </p:oleObj>
              </mc:Choice>
              <mc:Fallback>
                <p:oleObj name="Equation" r:id="rId4" imgW="711200" imgH="228600" progId="Equation.DSMT4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3213" y="3268663"/>
                        <a:ext cx="1890712" cy="690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81" name="右箭头 16">
            <a:extLst>
              <a:ext uri="{FF2B5EF4-FFF2-40B4-BE49-F238E27FC236}">
                <a16:creationId xmlns:a16="http://schemas.microsoft.com/office/drawing/2014/main" id="{83778BFF-D1A5-4DA7-8F5D-3FAF8842BABD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5103813" y="3567113"/>
            <a:ext cx="949325" cy="150812"/>
          </a:xfrm>
          <a:prstGeom prst="rightArrow">
            <a:avLst>
              <a:gd name="adj1" fmla="val 50000"/>
              <a:gd name="adj2" fmla="val 49746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en-US" sz="1800">
              <a:latin typeface="Arial" panose="020B0604020202020204" pitchFamily="34" charset="0"/>
            </a:endParaRPr>
          </a:p>
        </p:txBody>
      </p:sp>
      <p:sp>
        <p:nvSpPr>
          <p:cNvPr id="7182" name="文本框 3">
            <a:extLst>
              <a:ext uri="{FF2B5EF4-FFF2-40B4-BE49-F238E27FC236}">
                <a16:creationId xmlns:a16="http://schemas.microsoft.com/office/drawing/2014/main" id="{FA9EDB50-960A-4282-9328-9A2943C8B2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14725" y="4627563"/>
            <a:ext cx="5076825" cy="206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600" b="1">
                <a:solidFill>
                  <a:srgbClr val="00B0F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1600" b="1">
                <a:solidFill>
                  <a:srgbClr val="00B0F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1600" b="1">
                <a:solidFill>
                  <a:srgbClr val="00B0F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）由国家基准或当地最高计量标准复现而赋予该特定量的值；</a:t>
            </a:r>
            <a:endParaRPr lang="en-US" altLang="zh-CN" sz="1600" b="1">
              <a:solidFill>
                <a:srgbClr val="00B0F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zh-CN" altLang="en-US" sz="16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16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16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）在没有系统误差的情况下，足够多次的测量值之平均值；</a:t>
            </a:r>
            <a:endParaRPr lang="en-US" altLang="zh-CN" sz="1600" b="1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zh-CN" altLang="en-US" sz="1600" b="1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1600" b="1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sz="1600" b="1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）采用权威组织推荐的该量的值。例如，由国际数据委员会</a:t>
            </a:r>
            <a:r>
              <a:rPr lang="en-US" altLang="zh-CN" sz="1600" b="1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(CODATA)</a:t>
            </a:r>
            <a:r>
              <a:rPr lang="zh-CN" altLang="en-US" sz="1600" b="1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推荐的真空光速、阿伏加德罗常量等特定量的最新值。</a:t>
            </a:r>
            <a:endParaRPr lang="en-US" altLang="zh-CN" sz="1600" b="1">
              <a:solidFill>
                <a:srgbClr val="0070C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spcBef>
                <a:spcPct val="0"/>
              </a:spcBef>
              <a:buFontTx/>
              <a:buNone/>
            </a:pPr>
            <a:endParaRPr lang="zh-CN" altLang="en-US" sz="16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5" name="文本框 3">
            <a:extLst>
              <a:ext uri="{FF2B5EF4-FFF2-40B4-BE49-F238E27FC236}">
                <a16:creationId xmlns:a16="http://schemas.microsoft.com/office/drawing/2014/main" id="{C75BDBBC-A41F-4D54-BC13-E02C5E3D13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76950" y="2317750"/>
            <a:ext cx="2674938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800" b="1">
                <a:solidFill>
                  <a:srgbClr val="C00000"/>
                </a:solidFill>
                <a:latin typeface="Segoe UI Black" panose="020B0A02040204020203" pitchFamily="34" charset="0"/>
                <a:ea typeface="黑体" panose="02010609060101010101" pitchFamily="49" charset="-122"/>
              </a:rPr>
              <a:t>或者相对真值</a:t>
            </a:r>
            <a:r>
              <a:rPr lang="en-US" altLang="zh-CN" sz="1800" b="1">
                <a:solidFill>
                  <a:srgbClr val="C00000"/>
                </a:solidFill>
                <a:latin typeface="Segoe UI Black" panose="020B0A02040204020203" pitchFamily="34" charset="0"/>
                <a:ea typeface="黑体" panose="02010609060101010101" pitchFamily="49" charset="-122"/>
              </a:rPr>
              <a:t>(A)</a:t>
            </a:r>
            <a:r>
              <a:rPr lang="zh-CN" altLang="en-US" sz="1800" b="1">
                <a:solidFill>
                  <a:srgbClr val="C00000"/>
                </a:solidFill>
                <a:latin typeface="Segoe UI Black" panose="020B0A02040204020203" pitchFamily="34" charset="0"/>
                <a:ea typeface="黑体" panose="02010609060101010101" pitchFamily="49" charset="-122"/>
              </a:rPr>
              <a:t>代替：</a:t>
            </a:r>
            <a:r>
              <a:rPr lang="zh-CN" altLang="en-US" sz="1800" b="1">
                <a:latin typeface="Segoe UI Black" panose="020B0A02040204020203" pitchFamily="34" charset="0"/>
                <a:ea typeface="黑体" panose="02010609060101010101" pitchFamily="49" charset="-122"/>
              </a:rPr>
              <a:t>高精确度等级器具的测得值</a:t>
            </a:r>
          </a:p>
        </p:txBody>
      </p:sp>
      <p:sp>
        <p:nvSpPr>
          <p:cNvPr id="16" name="左大括号 4">
            <a:extLst>
              <a:ext uri="{FF2B5EF4-FFF2-40B4-BE49-F238E27FC236}">
                <a16:creationId xmlns:a16="http://schemas.microsoft.com/office/drawing/2014/main" id="{DA923D39-F97E-4DBD-9667-09CB2CEDA6C1}"/>
              </a:ext>
            </a:extLst>
          </p:cNvPr>
          <p:cNvSpPr>
            <a:spLocks/>
          </p:cNvSpPr>
          <p:nvPr/>
        </p:nvSpPr>
        <p:spPr bwMode="auto">
          <a:xfrm rot="10800000">
            <a:off x="8559800" y="2478088"/>
            <a:ext cx="254000" cy="1446212"/>
          </a:xfrm>
          <a:prstGeom prst="leftBrace">
            <a:avLst>
              <a:gd name="adj1" fmla="val 8382"/>
              <a:gd name="adj2" fmla="val 50000"/>
            </a:avLst>
          </a:prstGeom>
          <a:noFill/>
          <a:ln w="2857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en-US" sz="180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1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1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1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1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1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1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1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1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1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1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71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71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71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71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1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71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71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71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71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71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0" grpId="0" build="p"/>
      <p:bldP spid="6" grpId="0" animBg="1"/>
      <p:bldP spid="7173" grpId="0"/>
      <p:bldP spid="7175" grpId="0"/>
      <p:bldP spid="7176" grpId="0"/>
      <p:bldP spid="7177" grpId="0"/>
      <p:bldP spid="7178" grpId="0" animBg="1"/>
      <p:bldP spid="7179" grpId="0"/>
      <p:bldP spid="7181" grpId="0" animBg="1"/>
      <p:bldP spid="7182" grpId="0"/>
      <p:bldP spid="15" grpId="0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灯片编号占位符 5">
            <a:extLst>
              <a:ext uri="{FF2B5EF4-FFF2-40B4-BE49-F238E27FC236}">
                <a16:creationId xmlns:a16="http://schemas.microsoft.com/office/drawing/2014/main" id="{2705764C-0761-4D57-9B00-B7E6BFAE9B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buFontTx/>
              <a:buChar char="•"/>
            </a:pPr>
            <a:fld id="{DABFF28B-A363-4009-8D7F-1CF8C4FF7214}" type="slidenum">
              <a:rPr lang="en-US" altLang="zh-CN" sz="1200" smtClean="0">
                <a:solidFill>
                  <a:srgbClr val="898989"/>
                </a:solidFill>
                <a:latin typeface="Times New Roman" panose="02020603050405020304" pitchFamily="18" charset="0"/>
                <a:ea typeface="楷体_GB2312" pitchFamily="49" charset="-122"/>
              </a:rPr>
              <a:pPr>
                <a:buFontTx/>
                <a:buChar char="•"/>
              </a:pPr>
              <a:t>5</a:t>
            </a:fld>
            <a:endParaRPr lang="en-US" altLang="zh-CN" sz="1200">
              <a:solidFill>
                <a:srgbClr val="898989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4176D57-BB5C-42C9-84CC-2CC7B1248BA6}"/>
              </a:ext>
            </a:extLst>
          </p:cNvPr>
          <p:cNvSpPr/>
          <p:nvPr/>
        </p:nvSpPr>
        <p:spPr>
          <a:xfrm>
            <a:off x="142875" y="1000125"/>
            <a:ext cx="8286750" cy="46038"/>
          </a:xfrm>
          <a:prstGeom prst="rect">
            <a:avLst/>
          </a:prstGeom>
          <a:gradFill flip="none" rotWithShape="1">
            <a:gsLst>
              <a:gs pos="0">
                <a:srgbClr val="5E9EFF"/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85000"/>
              <a:buFontTx/>
              <a:buChar char="•"/>
              <a:defRPr/>
            </a:pPr>
            <a:endParaRPr lang="zh-CN" altLang="en-US"/>
          </a:p>
        </p:txBody>
      </p:sp>
      <p:sp>
        <p:nvSpPr>
          <p:cNvPr id="8197" name="文本框 3">
            <a:extLst>
              <a:ext uri="{FF2B5EF4-FFF2-40B4-BE49-F238E27FC236}">
                <a16:creationId xmlns:a16="http://schemas.microsoft.com/office/drawing/2014/main" id="{F1AB9BF1-1902-485F-B964-93FC3900E4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46338" y="250825"/>
            <a:ext cx="4103687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1.1.1 </a:t>
            </a:r>
            <a:r>
              <a:rPr lang="zh-CN" altLang="en-US" sz="2400" b="1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误差的定义及表示</a:t>
            </a:r>
          </a:p>
        </p:txBody>
      </p:sp>
      <p:sp>
        <p:nvSpPr>
          <p:cNvPr id="8198" name="文本框 3">
            <a:extLst>
              <a:ext uri="{FF2B5EF4-FFF2-40B4-BE49-F238E27FC236}">
                <a16:creationId xmlns:a16="http://schemas.microsoft.com/office/drawing/2014/main" id="{040FAF7E-487E-472F-9C8A-496D1E9FE5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8988" y="1231900"/>
            <a:ext cx="4243387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 b="1">
                <a:latin typeface="Segoe UI Black" panose="020B0A02040204020203" pitchFamily="34" charset="0"/>
                <a:ea typeface="黑体" panose="02010609060101010101" pitchFamily="49" charset="-122"/>
              </a:rPr>
              <a:t>三种测量误差表示方法：</a:t>
            </a:r>
          </a:p>
        </p:txBody>
      </p:sp>
      <p:sp>
        <p:nvSpPr>
          <p:cNvPr id="8199" name="文本框 3">
            <a:extLst>
              <a:ext uri="{FF2B5EF4-FFF2-40B4-BE49-F238E27FC236}">
                <a16:creationId xmlns:a16="http://schemas.microsoft.com/office/drawing/2014/main" id="{D1953302-9456-4AC4-A4E4-36DF735ED7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16213" y="4356100"/>
            <a:ext cx="235108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000" b="1">
                <a:latin typeface="黑体" panose="02010609060101010101" pitchFamily="49" charset="-122"/>
                <a:ea typeface="黑体" panose="02010609060101010101" pitchFamily="49" charset="-122"/>
              </a:rPr>
              <a:t>实际相对误差：</a:t>
            </a:r>
          </a:p>
        </p:txBody>
      </p:sp>
      <p:graphicFrame>
        <p:nvGraphicFramePr>
          <p:cNvPr id="8200" name="对象 2">
            <a:extLst>
              <a:ext uri="{FF2B5EF4-FFF2-40B4-BE49-F238E27FC236}">
                <a16:creationId xmlns:a16="http://schemas.microsoft.com/office/drawing/2014/main" id="{26E12B5A-7520-4918-9ED2-8C93520BF98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92875" y="2413000"/>
          <a:ext cx="1292225" cy="388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44" name="Equation" r:id="rId3" imgW="672516" imgH="177646" progId="Equation.DSMT4">
                  <p:embed/>
                </p:oleObj>
              </mc:Choice>
              <mc:Fallback>
                <p:oleObj name="Equation" r:id="rId3" imgW="672516" imgH="177646" progId="Equation.DSMT4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92875" y="2413000"/>
                        <a:ext cx="1292225" cy="388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01" name="文本框 3">
            <a:extLst>
              <a:ext uri="{FF2B5EF4-FFF2-40B4-BE49-F238E27FC236}">
                <a16:creationId xmlns:a16="http://schemas.microsoft.com/office/drawing/2014/main" id="{85CC5684-8928-4F0E-BC22-BF2809D179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8000" y="3795713"/>
            <a:ext cx="424338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ts val="1200"/>
              </a:spcBef>
              <a:buFontTx/>
              <a:buNone/>
            </a:pPr>
            <a:r>
              <a:rPr lang="en-US" altLang="zh-CN" sz="2400" b="1">
                <a:latin typeface="黑体" panose="02010609060101010101" pitchFamily="49" charset="-122"/>
                <a:ea typeface="黑体" panose="02010609060101010101" pitchFamily="49" charset="-122"/>
              </a:rPr>
              <a:t>   (2)</a:t>
            </a:r>
            <a:r>
              <a:rPr lang="zh-CN" altLang="en-US" sz="2400" b="1">
                <a:latin typeface="黑体" panose="02010609060101010101" pitchFamily="49" charset="-122"/>
                <a:ea typeface="黑体" panose="02010609060101010101" pitchFamily="49" charset="-122"/>
              </a:rPr>
              <a:t>相对误差</a:t>
            </a:r>
          </a:p>
        </p:txBody>
      </p:sp>
      <p:sp>
        <p:nvSpPr>
          <p:cNvPr id="8202" name="文本框 3">
            <a:extLst>
              <a:ext uri="{FF2B5EF4-FFF2-40B4-BE49-F238E27FC236}">
                <a16:creationId xmlns:a16="http://schemas.microsoft.com/office/drawing/2014/main" id="{C0E0BF3E-FB57-4A14-9822-9FC47E3FB4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82875" y="5143500"/>
            <a:ext cx="2349500" cy="401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000" b="1">
                <a:latin typeface="黑体" panose="02010609060101010101" pitchFamily="49" charset="-122"/>
                <a:ea typeface="黑体" panose="02010609060101010101" pitchFamily="49" charset="-122"/>
              </a:rPr>
              <a:t>示值相对误差：</a:t>
            </a:r>
          </a:p>
        </p:txBody>
      </p:sp>
      <p:graphicFrame>
        <p:nvGraphicFramePr>
          <p:cNvPr id="8203" name="Object 17">
            <a:extLst>
              <a:ext uri="{FF2B5EF4-FFF2-40B4-BE49-F238E27FC236}">
                <a16:creationId xmlns:a16="http://schemas.microsoft.com/office/drawing/2014/main" id="{FA8F9D99-F64A-4020-B2D7-4260D6803F0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19625" y="4257675"/>
          <a:ext cx="1447800" cy="57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45" name="Equation" r:id="rId5" imgW="1002865" imgH="393529" progId="Equation.DSMT4">
                  <p:embed/>
                </p:oleObj>
              </mc:Choice>
              <mc:Fallback>
                <p:oleObj name="Equation" r:id="rId5" imgW="1002865" imgH="393529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19625" y="4257675"/>
                        <a:ext cx="1447800" cy="577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04" name="Object 20">
            <a:extLst>
              <a:ext uri="{FF2B5EF4-FFF2-40B4-BE49-F238E27FC236}">
                <a16:creationId xmlns:a16="http://schemas.microsoft.com/office/drawing/2014/main" id="{D1EEE774-E268-4C4C-90CB-97B22ED7B03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27563" y="5059363"/>
          <a:ext cx="1524000" cy="601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46" r:id="rId7" imgW="990170" imgH="393529" progId="Equation.3">
                  <p:embed/>
                </p:oleObj>
              </mc:Choice>
              <mc:Fallback>
                <p:oleObj r:id="rId7" imgW="990170" imgH="393529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27563" y="5059363"/>
                        <a:ext cx="1524000" cy="601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05" name="文本框 3">
            <a:extLst>
              <a:ext uri="{FF2B5EF4-FFF2-40B4-BE49-F238E27FC236}">
                <a16:creationId xmlns:a16="http://schemas.microsoft.com/office/drawing/2014/main" id="{405E08F0-5324-4169-A829-5D72D4A02B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71775" y="2430463"/>
            <a:ext cx="33496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000" b="1">
                <a:latin typeface="黑体" panose="02010609060101010101" pitchFamily="49" charset="-122"/>
                <a:ea typeface="黑体" panose="02010609060101010101" pitchFamily="49" charset="-122"/>
              </a:rPr>
              <a:t>绝对误差 </a:t>
            </a:r>
            <a:r>
              <a:rPr lang="en-US" altLang="zh-CN" sz="2000" b="1">
                <a:latin typeface="黑体" panose="02010609060101010101" pitchFamily="49" charset="-122"/>
                <a:ea typeface="黑体" panose="02010609060101010101" pitchFamily="49" charset="-122"/>
              </a:rPr>
              <a:t>= </a:t>
            </a:r>
            <a:r>
              <a:rPr lang="zh-CN" altLang="en-US" sz="2000" b="1">
                <a:latin typeface="黑体" panose="02010609060101010101" pitchFamily="49" charset="-122"/>
                <a:ea typeface="黑体" panose="02010609060101010101" pitchFamily="49" charset="-122"/>
              </a:rPr>
              <a:t>测得值</a:t>
            </a:r>
            <a:r>
              <a:rPr lang="en-US" altLang="zh-CN" sz="2000" b="1">
                <a:latin typeface="黑体" panose="02010609060101010101" pitchFamily="49" charset="-122"/>
                <a:ea typeface="黑体" panose="02010609060101010101" pitchFamily="49" charset="-122"/>
              </a:rPr>
              <a:t>-</a:t>
            </a:r>
            <a:r>
              <a:rPr lang="zh-CN" altLang="en-US" sz="2000" b="1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真值</a:t>
            </a:r>
          </a:p>
        </p:txBody>
      </p:sp>
      <p:sp>
        <p:nvSpPr>
          <p:cNvPr id="8206" name="文本框 3">
            <a:extLst>
              <a:ext uri="{FF2B5EF4-FFF2-40B4-BE49-F238E27FC236}">
                <a16:creationId xmlns:a16="http://schemas.microsoft.com/office/drawing/2014/main" id="{17C91948-F2D3-4FA6-B333-87B28361B7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1550" y="2819400"/>
            <a:ext cx="16129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400" b="1" dirty="0">
                <a:solidFill>
                  <a:srgbClr val="C00000"/>
                </a:solidFill>
                <a:latin typeface="Segoe UI Black" panose="020B0A02040204020203" pitchFamily="34" charset="0"/>
                <a:ea typeface="黑体" panose="02010609060101010101" pitchFamily="49" charset="-122"/>
              </a:rPr>
              <a:t>通常用约定真值或相对真值</a:t>
            </a:r>
            <a:r>
              <a:rPr lang="en-US" altLang="zh-CN" sz="1400" b="1" dirty="0">
                <a:solidFill>
                  <a:srgbClr val="C00000"/>
                </a:solidFill>
                <a:latin typeface="Segoe UI Black" panose="020B0A02040204020203" pitchFamily="34" charset="0"/>
                <a:ea typeface="黑体" panose="02010609060101010101" pitchFamily="49" charset="-122"/>
              </a:rPr>
              <a:t>(A)</a:t>
            </a:r>
            <a:r>
              <a:rPr lang="zh-CN" altLang="en-US" sz="1400" b="1" dirty="0">
                <a:solidFill>
                  <a:srgbClr val="C00000"/>
                </a:solidFill>
                <a:latin typeface="Segoe UI Black" panose="020B0A02040204020203" pitchFamily="34" charset="0"/>
                <a:ea typeface="黑体" panose="02010609060101010101" pitchFamily="49" charset="-122"/>
              </a:rPr>
              <a:t>代替</a:t>
            </a:r>
          </a:p>
        </p:txBody>
      </p:sp>
      <p:sp>
        <p:nvSpPr>
          <p:cNvPr id="15" name="文本框 3">
            <a:extLst>
              <a:ext uri="{FF2B5EF4-FFF2-40B4-BE49-F238E27FC236}">
                <a16:creationId xmlns:a16="http://schemas.microsoft.com/office/drawing/2014/main" id="{1439E754-07D8-42CE-8EFF-D9758646D8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8163" y="1835150"/>
            <a:ext cx="424338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ts val="1200"/>
              </a:spcBef>
              <a:buFontTx/>
              <a:buNone/>
            </a:pPr>
            <a:r>
              <a:rPr lang="en-US" altLang="zh-CN" sz="2400" b="1">
                <a:latin typeface="黑体" panose="02010609060101010101" pitchFamily="49" charset="-122"/>
                <a:ea typeface="黑体" panose="02010609060101010101" pitchFamily="49" charset="-122"/>
              </a:rPr>
              <a:t>   (1)</a:t>
            </a:r>
            <a:r>
              <a:rPr lang="zh-CN" altLang="en-US" sz="2400" b="1">
                <a:latin typeface="黑体" panose="02010609060101010101" pitchFamily="49" charset="-122"/>
                <a:ea typeface="黑体" panose="02010609060101010101" pitchFamily="49" charset="-122"/>
              </a:rPr>
              <a:t>绝对误差</a:t>
            </a:r>
          </a:p>
        </p:txBody>
      </p:sp>
      <p:sp>
        <p:nvSpPr>
          <p:cNvPr id="16" name="页脚占位符 6">
            <a:extLst>
              <a:ext uri="{FF2B5EF4-FFF2-40B4-BE49-F238E27FC236}">
                <a16:creationId xmlns:a16="http://schemas.microsoft.com/office/drawing/2014/main" id="{09F43EEF-0003-4B4C-B1EB-E0F7B840E9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43213" y="6411913"/>
            <a:ext cx="2960687" cy="309562"/>
          </a:xfrm>
        </p:spPr>
        <p:txBody>
          <a:bodyPr/>
          <a:lstStyle/>
          <a:p>
            <a:pPr>
              <a:defRPr/>
            </a:pPr>
            <a:r>
              <a:rPr lang="zh-CN" altLang="en-US"/>
              <a:t>人工智能与自动化学院测量科学与仪器系</a:t>
            </a:r>
            <a:endParaRPr lang="en-US" altLang="zh-CN"/>
          </a:p>
        </p:txBody>
      </p:sp>
      <p:sp>
        <p:nvSpPr>
          <p:cNvPr id="19472" name="页脚占位符 6">
            <a:extLst>
              <a:ext uri="{FF2B5EF4-FFF2-40B4-BE49-F238E27FC236}">
                <a16:creationId xmlns:a16="http://schemas.microsoft.com/office/drawing/2014/main" id="{E672D92B-7496-4C6F-ABE0-9E047CC7D6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95613" y="6564313"/>
            <a:ext cx="2960687" cy="309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1200">
                <a:solidFill>
                  <a:srgbClr val="898989"/>
                </a:solidFill>
              </a:rPr>
              <a:t>人工智能与自动化学院测量科学与仪器系</a:t>
            </a:r>
            <a:endParaRPr lang="en-US" altLang="zh-CN" sz="1200">
              <a:solidFill>
                <a:srgbClr val="898989"/>
              </a:solidFill>
            </a:endParaRPr>
          </a:p>
        </p:txBody>
      </p:sp>
      <p:pic>
        <p:nvPicPr>
          <p:cNvPr id="3" name="图形 2" descr="蜂鸟">
            <a:extLst>
              <a:ext uri="{FF2B5EF4-FFF2-40B4-BE49-F238E27FC236}">
                <a16:creationId xmlns:a16="http://schemas.microsoft.com/office/drawing/2014/main" id="{FA99BC7E-070E-4EC8-80E8-238877092D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863" y="5626100"/>
            <a:ext cx="785812" cy="785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E592172A-F24E-4C45-B080-437F936E7A82}"/>
              </a:ext>
            </a:extLst>
          </p:cNvPr>
          <p:cNvCxnSpPr>
            <a:cxnSpLocks/>
          </p:cNvCxnSpPr>
          <p:nvPr/>
        </p:nvCxnSpPr>
        <p:spPr bwMode="auto">
          <a:xfrm>
            <a:off x="5067300" y="4835525"/>
            <a:ext cx="276225" cy="0"/>
          </a:xfrm>
          <a:prstGeom prst="line">
            <a:avLst/>
          </a:prstGeom>
          <a:noFill/>
          <a:ln w="22225" algn="ctr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9" name="文本框 3">
            <a:extLst>
              <a:ext uri="{FF2B5EF4-FFF2-40B4-BE49-F238E27FC236}">
                <a16:creationId xmlns:a16="http://schemas.microsoft.com/office/drawing/2014/main" id="{18A0A19B-7B42-456A-94E9-F172D82D9B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13550" y="4573915"/>
            <a:ext cx="16129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400" b="1" dirty="0">
                <a:solidFill>
                  <a:srgbClr val="FF9933"/>
                </a:solidFill>
                <a:latin typeface="Segoe UI Black" panose="020B0A02040204020203" pitchFamily="34" charset="0"/>
                <a:ea typeface="黑体" panose="02010609060101010101" pitchFamily="49" charset="-122"/>
              </a:rPr>
              <a:t>注意：相对误差的分母为</a:t>
            </a:r>
            <a:r>
              <a:rPr lang="en-US" altLang="zh-CN" sz="1400" b="1" dirty="0">
                <a:solidFill>
                  <a:srgbClr val="FF9933"/>
                </a:solidFill>
                <a:latin typeface="Segoe UI Black" panose="020B0A02040204020203" pitchFamily="34" charset="0"/>
                <a:ea typeface="黑体" panose="02010609060101010101" pitchFamily="49" charset="-122"/>
              </a:rPr>
              <a:t>A</a:t>
            </a:r>
            <a:endParaRPr lang="zh-CN" altLang="en-US" sz="1400" b="1" dirty="0">
              <a:solidFill>
                <a:srgbClr val="FF9933"/>
              </a:solidFill>
              <a:latin typeface="Segoe UI Black" panose="020B0A02040204020203" pitchFamily="34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1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1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1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1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2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2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2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2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82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82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82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82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81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81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82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82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82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82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82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82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52 -0.00579 C 0.00781 -0.00973 0.0151 -0.01389 0.02274 -0.0169 C 0.07777 -0.0382 0.12847 -0.04399 0.1842 -0.07593 C 0.22777 -0.10093 0.2177 -0.0963 0.24878 -0.11135 C 0.25017 -0.11204 0.25121 -0.11274 0.25225 -0.11297 C 0.25729 -0.11412 0.2618 -0.11482 0.26632 -0.11598 C 0.26944 -0.1169 0.27222 -0.11829 0.27482 -0.11922 C 0.27708 -0.11991 0.27951 -0.11991 0.28194 -0.12084 C 0.28437 -0.12153 0.28663 -0.12315 0.28906 -0.12385 C 0.29253 -0.125 0.29618 -0.1257 0.29965 -0.12686 C 0.30208 -0.12778 0.30434 -0.12963 0.30677 -0.1301 C 0.31614 -0.13125 0.32569 -0.13125 0.33507 -0.13149 C 0.33784 -0.13264 0.34045 -0.1338 0.34323 -0.13473 C 0.34687 -0.13588 0.35034 -0.13658 0.35399 -0.13774 C 0.35642 -0.13866 0.3625 -0.1419 0.36562 -0.14236 C 0.371 -0.14329 0.37656 -0.14352 0.38211 -0.14399 C 0.41632 -0.14746 0.36979 -0.14329 0.41284 -0.14699 C 0.41354 -0.14723 0.41996 -0.14931 0.42083 -0.15024 C 0.42204 -0.15093 0.42239 -0.15255 0.42343 -0.15324 C 0.42448 -0.15417 0.42725 -0.15463 0.42725 -0.1544 " pathEditMode="relative" rAng="0" ptsTypes="AAAAAAAAAAAAAAAAAAAA">
                                      <p:cBhvr>
                                        <p:cTn id="64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337" y="-7454"/>
                                    </p:animMotion>
                                  </p:childTnLst>
                                </p:cTn>
                              </p:par>
                              <p:par>
                                <p:cTn id="6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197" grpId="0"/>
      <p:bldP spid="8198" grpId="0"/>
      <p:bldP spid="8199" grpId="0"/>
      <p:bldP spid="8201" grpId="0"/>
      <p:bldP spid="8202" grpId="0"/>
      <p:bldP spid="8205" grpId="0"/>
      <p:bldP spid="8206" grpId="0"/>
      <p:bldP spid="15" grpId="0"/>
      <p:bldP spid="1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灯片编号占位符 5">
            <a:extLst>
              <a:ext uri="{FF2B5EF4-FFF2-40B4-BE49-F238E27FC236}">
                <a16:creationId xmlns:a16="http://schemas.microsoft.com/office/drawing/2014/main" id="{20761044-7B5B-4D2F-88A3-02C71FFB5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buFontTx/>
              <a:buChar char="•"/>
            </a:pPr>
            <a:fld id="{51BF6E0C-4C77-4D39-9D07-D6B4C4060389}" type="slidenum">
              <a:rPr lang="en-US" altLang="zh-CN" sz="1200" smtClean="0">
                <a:solidFill>
                  <a:srgbClr val="898989"/>
                </a:solidFill>
                <a:latin typeface="Times New Roman" panose="02020603050405020304" pitchFamily="18" charset="0"/>
                <a:ea typeface="楷体_GB2312" pitchFamily="49" charset="-122"/>
              </a:rPr>
              <a:pPr>
                <a:buFontTx/>
                <a:buChar char="•"/>
              </a:pPr>
              <a:t>6</a:t>
            </a:fld>
            <a:endParaRPr lang="en-US" altLang="zh-CN" sz="1200">
              <a:solidFill>
                <a:srgbClr val="898989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A279C4B-D400-45EE-919A-9E98B1ABD0EF}"/>
              </a:ext>
            </a:extLst>
          </p:cNvPr>
          <p:cNvSpPr/>
          <p:nvPr/>
        </p:nvSpPr>
        <p:spPr>
          <a:xfrm>
            <a:off x="142875" y="1000125"/>
            <a:ext cx="8286750" cy="46038"/>
          </a:xfrm>
          <a:prstGeom prst="rect">
            <a:avLst/>
          </a:prstGeom>
          <a:gradFill flip="none" rotWithShape="1">
            <a:gsLst>
              <a:gs pos="0">
                <a:srgbClr val="5E9EFF"/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85000"/>
              <a:buFontTx/>
              <a:buChar char="•"/>
              <a:defRPr/>
            </a:pPr>
            <a:endParaRPr lang="zh-CN" altLang="en-US"/>
          </a:p>
        </p:txBody>
      </p:sp>
      <p:sp>
        <p:nvSpPr>
          <p:cNvPr id="20484" name="文本框 3">
            <a:extLst>
              <a:ext uri="{FF2B5EF4-FFF2-40B4-BE49-F238E27FC236}">
                <a16:creationId xmlns:a16="http://schemas.microsoft.com/office/drawing/2014/main" id="{2170144B-7024-4823-850C-D46EE3C854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46338" y="250825"/>
            <a:ext cx="4103687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1.1.1 </a:t>
            </a:r>
            <a:r>
              <a:rPr lang="zh-CN" altLang="en-US" sz="2400" b="1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误差的定义及表示</a:t>
            </a:r>
          </a:p>
        </p:txBody>
      </p:sp>
      <p:sp>
        <p:nvSpPr>
          <p:cNvPr id="20485" name="文本框 3">
            <a:extLst>
              <a:ext uri="{FF2B5EF4-FFF2-40B4-BE49-F238E27FC236}">
                <a16:creationId xmlns:a16="http://schemas.microsoft.com/office/drawing/2014/main" id="{4CC8859A-5BB7-4C84-9044-CC2DBA08E1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54538" y="3856038"/>
            <a:ext cx="348456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000" b="1">
                <a:latin typeface="黑体" panose="02010609060101010101" pitchFamily="49" charset="-122"/>
                <a:ea typeface="黑体" panose="02010609060101010101" pitchFamily="49" charset="-122"/>
              </a:rPr>
              <a:t>：仪表的最大绝对误差</a:t>
            </a:r>
          </a:p>
        </p:txBody>
      </p:sp>
      <p:sp>
        <p:nvSpPr>
          <p:cNvPr id="20486" name="文本框 3">
            <a:extLst>
              <a:ext uri="{FF2B5EF4-FFF2-40B4-BE49-F238E27FC236}">
                <a16:creationId xmlns:a16="http://schemas.microsoft.com/office/drawing/2014/main" id="{8AFB2B2C-391D-4912-8167-A6EE736F7F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0550" y="1233488"/>
            <a:ext cx="455749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ts val="1200"/>
              </a:spcBef>
              <a:buFontTx/>
              <a:buNone/>
            </a:pP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(3)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引用误差（满度相对误差）</a:t>
            </a:r>
          </a:p>
        </p:txBody>
      </p:sp>
      <p:graphicFrame>
        <p:nvGraphicFramePr>
          <p:cNvPr id="20487" name="Object 20">
            <a:extLst>
              <a:ext uri="{FF2B5EF4-FFF2-40B4-BE49-F238E27FC236}">
                <a16:creationId xmlns:a16="http://schemas.microsoft.com/office/drawing/2014/main" id="{39E775FF-B24C-40C8-8435-77B47F18D38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75100" y="3879850"/>
          <a:ext cx="715963" cy="439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92" name="Equation" r:id="rId4" imgW="368300" imgH="228600" progId="Equation.DSMT4">
                  <p:embed/>
                </p:oleObj>
              </mc:Choice>
              <mc:Fallback>
                <p:oleObj name="Equation" r:id="rId4" imgW="368300" imgH="228600" progId="Equation.DSMT4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75100" y="3879850"/>
                        <a:ext cx="715963" cy="439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8" name="Object 24">
            <a:extLst>
              <a:ext uri="{FF2B5EF4-FFF2-40B4-BE49-F238E27FC236}">
                <a16:creationId xmlns:a16="http://schemas.microsoft.com/office/drawing/2014/main" id="{5F675F23-64C5-486D-98E8-510A3B7CC7C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98863" y="2012950"/>
          <a:ext cx="1673225" cy="703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93" name="Equation" r:id="rId6" imgW="926698" imgH="393529" progId="Equation.DSMT4">
                  <p:embed/>
                </p:oleObj>
              </mc:Choice>
              <mc:Fallback>
                <p:oleObj name="Equation" r:id="rId6" imgW="926698" imgH="393529" progId="Equation.DSMT4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98863" y="2012950"/>
                        <a:ext cx="1673225" cy="703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9" name="Object 26">
            <a:extLst>
              <a:ext uri="{FF2B5EF4-FFF2-40B4-BE49-F238E27FC236}">
                <a16:creationId xmlns:a16="http://schemas.microsoft.com/office/drawing/2014/main" id="{9AA40A34-C728-4EF8-9DD5-F07C6D357CD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30600" y="2833688"/>
          <a:ext cx="2252663" cy="696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94" name="公式" r:id="rId8" imgW="1307532" imgH="406224" progId="Equation.3">
                  <p:embed/>
                </p:oleObj>
              </mc:Choice>
              <mc:Fallback>
                <p:oleObj name="公式" r:id="rId8" imgW="1307532" imgH="406224" progId="Equation.3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30600" y="2833688"/>
                        <a:ext cx="2252663" cy="696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90" name="Object 24">
            <a:extLst>
              <a:ext uri="{FF2B5EF4-FFF2-40B4-BE49-F238E27FC236}">
                <a16:creationId xmlns:a16="http://schemas.microsoft.com/office/drawing/2014/main" id="{C1856716-DBD9-478B-9B74-BC8D67281C7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78325" y="4446588"/>
          <a:ext cx="280988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95" name="Equation" r:id="rId10" imgW="139579" imgH="164957" progId="Equation.DSMT4">
                  <p:embed/>
                </p:oleObj>
              </mc:Choice>
              <mc:Fallback>
                <p:oleObj name="Equation" r:id="rId10" imgW="139579" imgH="164957" progId="Equation.DSMT4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78325" y="4446588"/>
                        <a:ext cx="280988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91" name="文本框 3">
            <a:extLst>
              <a:ext uri="{FF2B5EF4-FFF2-40B4-BE49-F238E27FC236}">
                <a16:creationId xmlns:a16="http://schemas.microsoft.com/office/drawing/2014/main" id="{9740994F-CAA2-45BA-B7A9-6BEB186AFD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54538" y="4383088"/>
            <a:ext cx="27940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0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：仪表的量程</a:t>
            </a:r>
          </a:p>
        </p:txBody>
      </p:sp>
      <p:sp>
        <p:nvSpPr>
          <p:cNvPr id="20492" name="文本框 3">
            <a:extLst>
              <a:ext uri="{FF2B5EF4-FFF2-40B4-BE49-F238E27FC236}">
                <a16:creationId xmlns:a16="http://schemas.microsoft.com/office/drawing/2014/main" id="{373C7370-155E-45E3-B853-BF8410688E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1325" y="3028950"/>
            <a:ext cx="22637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ts val="1200"/>
              </a:spcBef>
              <a:buFontTx/>
              <a:buNone/>
            </a:pPr>
            <a:r>
              <a:rPr lang="zh-CN" altLang="en-US" sz="20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最大引用误差：</a:t>
            </a:r>
          </a:p>
        </p:txBody>
      </p:sp>
      <p:sp>
        <p:nvSpPr>
          <p:cNvPr id="20493" name="文本框 3">
            <a:extLst>
              <a:ext uri="{FF2B5EF4-FFF2-40B4-BE49-F238E27FC236}">
                <a16:creationId xmlns:a16="http://schemas.microsoft.com/office/drawing/2014/main" id="{E711BF61-314A-4FC7-BF71-9164AA3AF7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97088" y="2189163"/>
            <a:ext cx="14922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ts val="1200"/>
              </a:spcBef>
              <a:buFontTx/>
              <a:buNone/>
            </a:pPr>
            <a:r>
              <a:rPr lang="zh-CN" altLang="en-US" sz="20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引用误差</a:t>
            </a:r>
            <a:r>
              <a:rPr lang="zh-CN" altLang="en-US" sz="2000" b="1"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</a:p>
        </p:txBody>
      </p:sp>
      <p:sp>
        <p:nvSpPr>
          <p:cNvPr id="20494" name="页脚占位符 6">
            <a:extLst>
              <a:ext uri="{FF2B5EF4-FFF2-40B4-BE49-F238E27FC236}">
                <a16:creationId xmlns:a16="http://schemas.microsoft.com/office/drawing/2014/main" id="{BA27E426-0760-4981-983C-61EA5B2B41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90850" y="6297613"/>
            <a:ext cx="2960688" cy="309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1200">
                <a:solidFill>
                  <a:srgbClr val="898989"/>
                </a:solidFill>
              </a:rPr>
              <a:t>人工智能与自动化学院测量科学与仪器系</a:t>
            </a:r>
            <a:endParaRPr lang="en-US" altLang="zh-CN" sz="1200">
              <a:solidFill>
                <a:srgbClr val="898989"/>
              </a:solidFill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7A2F3A11-8ECC-4334-A4F6-EDB0A461A00C}"/>
              </a:ext>
            </a:extLst>
          </p:cNvPr>
          <p:cNvCxnSpPr>
            <a:cxnSpLocks/>
          </p:cNvCxnSpPr>
          <p:nvPr/>
        </p:nvCxnSpPr>
        <p:spPr bwMode="auto">
          <a:xfrm>
            <a:off x="4378325" y="4835525"/>
            <a:ext cx="1778000" cy="0"/>
          </a:xfrm>
          <a:prstGeom prst="line">
            <a:avLst/>
          </a:prstGeom>
          <a:noFill/>
          <a:ln w="22225" algn="ctr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6" name="文本框 3">
            <a:extLst>
              <a:ext uri="{FF2B5EF4-FFF2-40B4-BE49-F238E27FC236}">
                <a16:creationId xmlns:a16="http://schemas.microsoft.com/office/drawing/2014/main" id="{06990AC2-51FF-4070-9D0E-0839727B82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35475" y="5061607"/>
            <a:ext cx="1864645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600" b="1" dirty="0">
                <a:solidFill>
                  <a:srgbClr val="FF9933"/>
                </a:solidFill>
                <a:latin typeface="Segoe UI Black" panose="020B0A02040204020203" pitchFamily="34" charset="0"/>
                <a:ea typeface="黑体" panose="02010609060101010101" pitchFamily="49" charset="-122"/>
              </a:rPr>
              <a:t>注意：引用误差的分母为满量程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灯片编号占位符 5">
            <a:extLst>
              <a:ext uri="{FF2B5EF4-FFF2-40B4-BE49-F238E27FC236}">
                <a16:creationId xmlns:a16="http://schemas.microsoft.com/office/drawing/2014/main" id="{76A82859-77CD-47D9-A9FB-E39AE63BB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buFontTx/>
              <a:buChar char="•"/>
            </a:pPr>
            <a:fld id="{CDF37A5C-C4F5-450C-8BC0-2D208DDA861F}" type="slidenum">
              <a:rPr lang="en-US" altLang="zh-CN" sz="1200" smtClean="0">
                <a:solidFill>
                  <a:srgbClr val="898989"/>
                </a:solidFill>
                <a:latin typeface="Times New Roman" panose="02020603050405020304" pitchFamily="18" charset="0"/>
                <a:ea typeface="楷体_GB2312" pitchFamily="49" charset="-122"/>
              </a:rPr>
              <a:pPr>
                <a:buFontTx/>
                <a:buChar char="•"/>
              </a:pPr>
              <a:t>7</a:t>
            </a:fld>
            <a:endParaRPr lang="en-US" altLang="zh-CN" sz="1200">
              <a:solidFill>
                <a:srgbClr val="898989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3F5AD3B-D822-45C9-BAE0-7CFB32EA3C48}"/>
              </a:ext>
            </a:extLst>
          </p:cNvPr>
          <p:cNvSpPr/>
          <p:nvPr/>
        </p:nvSpPr>
        <p:spPr>
          <a:xfrm>
            <a:off x="142875" y="980830"/>
            <a:ext cx="8286750" cy="46038"/>
          </a:xfrm>
          <a:prstGeom prst="rect">
            <a:avLst/>
          </a:prstGeom>
          <a:gradFill flip="none" rotWithShape="1">
            <a:gsLst>
              <a:gs pos="0">
                <a:srgbClr val="5E9EFF"/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85000"/>
              <a:buFontTx/>
              <a:buChar char="•"/>
              <a:defRPr/>
            </a:pPr>
            <a:endParaRPr lang="zh-CN" altLang="en-US"/>
          </a:p>
        </p:txBody>
      </p:sp>
      <p:graphicFrame>
        <p:nvGraphicFramePr>
          <p:cNvPr id="22532" name="Object 24">
            <a:extLst>
              <a:ext uri="{FF2B5EF4-FFF2-40B4-BE49-F238E27FC236}">
                <a16:creationId xmlns:a16="http://schemas.microsoft.com/office/drawing/2014/main" id="{D0185CA3-1DE8-4080-B64F-8C42882D975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32138" y="3459163"/>
          <a:ext cx="3671887" cy="895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61" name="Equation" r:id="rId4" imgW="1752600" imgH="431800" progId="Equation.DSMT4">
                  <p:embed/>
                </p:oleObj>
              </mc:Choice>
              <mc:Fallback>
                <p:oleObj name="Equation" r:id="rId4" imgW="1752600" imgH="431800" progId="Equation.DSMT4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2138" y="3459163"/>
                        <a:ext cx="3671887" cy="895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3" name="Rectangle 5">
            <a:extLst>
              <a:ext uri="{FF2B5EF4-FFF2-40B4-BE49-F238E27FC236}">
                <a16:creationId xmlns:a16="http://schemas.microsoft.com/office/drawing/2014/main" id="{8BBCBE43-5614-49FC-BA78-4290936B39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3325" y="2228850"/>
            <a:ext cx="7215188" cy="107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SzPct val="85000"/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楷体_GB2312" pitchFamily="49" charset="-122"/>
              </a:rPr>
              <a:t>      </a:t>
            </a:r>
            <a:r>
              <a:rPr lang="zh-CN" altLang="en-US" sz="2000" b="1">
                <a:latin typeface="Times New Roman" panose="02020603050405020304" pitchFamily="18" charset="0"/>
                <a:ea typeface="楷体_GB2312" pitchFamily="49" charset="-122"/>
              </a:rPr>
              <a:t>工程中，为了表示测量结果的可靠程度，引入</a:t>
            </a:r>
            <a:r>
              <a:rPr lang="zh-CN" altLang="en-US" sz="2000" b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准确度等级</a:t>
            </a:r>
            <a:r>
              <a:rPr lang="zh-CN" altLang="en-US" sz="2000" b="1">
                <a:latin typeface="Times New Roman" panose="02020603050405020304" pitchFamily="18" charset="0"/>
                <a:ea typeface="楷体_GB2312" pitchFamily="49" charset="-122"/>
              </a:rPr>
              <a:t>概念，用</a:t>
            </a:r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lang="zh-CN" altLang="en-US" sz="2000" b="1">
                <a:latin typeface="Times New Roman" panose="02020603050405020304" pitchFamily="18" charset="0"/>
                <a:ea typeface="楷体_GB2312" pitchFamily="49" charset="-122"/>
              </a:rPr>
              <a:t>表示。这个数值是测量仪表在规定条件下，其允许的最大引用误差百分比的分子。</a:t>
            </a:r>
          </a:p>
        </p:txBody>
      </p:sp>
      <p:sp>
        <p:nvSpPr>
          <p:cNvPr id="22534" name="Rectangle 4">
            <a:extLst>
              <a:ext uri="{FF2B5EF4-FFF2-40B4-BE49-F238E27FC236}">
                <a16:creationId xmlns:a16="http://schemas.microsoft.com/office/drawing/2014/main" id="{4077041D-E03F-4E61-876A-9BBE56B27E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875" y="1147763"/>
            <a:ext cx="4321175" cy="738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buSzPct val="85000"/>
              <a:buFont typeface="Wingdings" panose="05000000000000000000" pitchFamily="2" charset="2"/>
              <a:buChar char="n"/>
            </a:pPr>
            <a:r>
              <a:rPr lang="en-US" altLang="zh-CN" sz="2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仪表准（精）确度的表示</a:t>
            </a:r>
            <a:r>
              <a:rPr lang="zh-CN" altLang="en-US" sz="2800" b="1">
                <a:solidFill>
                  <a:srgbClr val="FF0000"/>
                </a:solidFill>
                <a:latin typeface="Arial" panose="020B0604020202020204" pitchFamily="34" charset="0"/>
                <a:ea typeface="楷体_GB2312" pitchFamily="49" charset="-122"/>
              </a:rPr>
              <a:t>：</a:t>
            </a:r>
          </a:p>
        </p:txBody>
      </p:sp>
      <p:sp>
        <p:nvSpPr>
          <p:cNvPr id="22535" name="Rectangle 5">
            <a:extLst>
              <a:ext uri="{FF2B5EF4-FFF2-40B4-BE49-F238E27FC236}">
                <a16:creationId xmlns:a16="http://schemas.microsoft.com/office/drawing/2014/main" id="{D192B381-6D5B-4D23-875E-8AA800D069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43213" y="5156200"/>
            <a:ext cx="4830762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indent="635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buSzPct val="85000"/>
              <a:buFontTx/>
              <a:buNone/>
            </a:pPr>
            <a:r>
              <a:rPr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准确度等级</a:t>
            </a:r>
            <a:r>
              <a: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: Leval of accuracy</a:t>
            </a:r>
          </a:p>
        </p:txBody>
      </p:sp>
      <p:sp>
        <p:nvSpPr>
          <p:cNvPr id="9" name="页脚占位符 6">
            <a:extLst>
              <a:ext uri="{FF2B5EF4-FFF2-40B4-BE49-F238E27FC236}">
                <a16:creationId xmlns:a16="http://schemas.microsoft.com/office/drawing/2014/main" id="{F6FE17B0-8A45-4160-8791-864ED6173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43213" y="6381750"/>
            <a:ext cx="2960687" cy="309563"/>
          </a:xfrm>
        </p:spPr>
        <p:txBody>
          <a:bodyPr/>
          <a:lstStyle/>
          <a:p>
            <a:pPr>
              <a:defRPr/>
            </a:pPr>
            <a:r>
              <a:rPr lang="zh-CN" altLang="en-US"/>
              <a:t>人工智能与自动化学院测量科学与仪器系</a:t>
            </a:r>
            <a:endParaRPr lang="en-US" altLang="zh-CN"/>
          </a:p>
        </p:txBody>
      </p:sp>
      <p:sp>
        <p:nvSpPr>
          <p:cNvPr id="22537" name="页脚占位符 6">
            <a:extLst>
              <a:ext uri="{FF2B5EF4-FFF2-40B4-BE49-F238E27FC236}">
                <a16:creationId xmlns:a16="http://schemas.microsoft.com/office/drawing/2014/main" id="{9A1ED5C9-77DA-48EE-9CB4-3A1F1BB269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43213" y="6411913"/>
            <a:ext cx="2960687" cy="309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1200">
                <a:solidFill>
                  <a:srgbClr val="898989"/>
                </a:solidFill>
              </a:rPr>
              <a:t>人工智能与自动化学院测量科学与仪器系</a:t>
            </a:r>
            <a:endParaRPr lang="en-US" altLang="zh-CN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灯片编号占位符 3">
            <a:extLst>
              <a:ext uri="{FF2B5EF4-FFF2-40B4-BE49-F238E27FC236}">
                <a16:creationId xmlns:a16="http://schemas.microsoft.com/office/drawing/2014/main" id="{73952A61-BCA7-4DD2-B637-3DC345665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buFontTx/>
              <a:buChar char="•"/>
            </a:pPr>
            <a:fld id="{6E2BFB7C-080D-4FD0-8DA7-D2D5D7B5CB09}" type="slidenum">
              <a:rPr lang="en-US" altLang="zh-CN" sz="1200" smtClean="0">
                <a:solidFill>
                  <a:srgbClr val="898989"/>
                </a:solidFill>
                <a:latin typeface="Times New Roman" panose="02020603050405020304" pitchFamily="18" charset="0"/>
                <a:ea typeface="楷体_GB2312" pitchFamily="49" charset="-122"/>
              </a:rPr>
              <a:pPr>
                <a:buFontTx/>
                <a:buChar char="•"/>
              </a:pPr>
              <a:t>8</a:t>
            </a:fld>
            <a:endParaRPr lang="en-US" altLang="zh-CN" sz="1200">
              <a:solidFill>
                <a:srgbClr val="898989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4579" name="Text Box 5">
            <a:extLst>
              <a:ext uri="{FF2B5EF4-FFF2-40B4-BE49-F238E27FC236}">
                <a16:creationId xmlns:a16="http://schemas.microsoft.com/office/drawing/2014/main" id="{99273ABF-6D27-4270-9098-918D36EA00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715" y="1250868"/>
            <a:ext cx="8074025" cy="2916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50000"/>
              </a:lnSpc>
              <a:spcBef>
                <a:spcPct val="50000"/>
              </a:spcBef>
              <a:buSzPct val="85000"/>
              <a:buNone/>
            </a:pPr>
            <a:r>
              <a:rPr lang="zh-CN" altLang="en-US" sz="24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仪表的准确度等级</a:t>
            </a:r>
            <a:r>
              <a:rPr lang="en-US" altLang="zh-CN" sz="24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G</a:t>
            </a:r>
          </a:p>
          <a:p>
            <a:pPr algn="ctr" eaLnBrk="1" hangingPunct="1">
              <a:spcBef>
                <a:spcPct val="50000"/>
              </a:spcBef>
              <a:buSzPct val="85000"/>
              <a:buNone/>
            </a:pPr>
            <a:r>
              <a:rPr lang="en-US" altLang="zh-CN" sz="2400" dirty="0">
                <a:latin typeface="Times New Roman" panose="02020603050405020304" pitchFamily="18" charset="0"/>
                <a:ea typeface="楷体_GB2312" pitchFamily="49" charset="-122"/>
              </a:rPr>
              <a:t>   G=</a:t>
            </a:r>
            <a:r>
              <a:rPr lang="en-US" altLang="zh-CN" sz="2400" u="sng" dirty="0">
                <a:latin typeface="Times New Roman" panose="02020603050405020304" pitchFamily="18" charset="0"/>
                <a:ea typeface="楷体_GB2312" pitchFamily="49" charset="-122"/>
              </a:rPr>
              <a:t>0.005, 0.01, 0.02, 0.05</a:t>
            </a:r>
            <a:r>
              <a:rPr lang="zh-CN" altLang="en-US" sz="2400" dirty="0">
                <a:latin typeface="Times New Roman" panose="02020603050405020304" pitchFamily="18" charset="0"/>
                <a:ea typeface="楷体_GB2312" pitchFamily="49" charset="-122"/>
              </a:rPr>
              <a:t>；</a:t>
            </a:r>
            <a:r>
              <a:rPr lang="en-US" altLang="zh-CN" sz="2400" u="sng" dirty="0">
                <a:latin typeface="Times New Roman" panose="02020603050405020304" pitchFamily="18" charset="0"/>
                <a:ea typeface="楷体_GB2312" pitchFamily="49" charset="-122"/>
              </a:rPr>
              <a:t>0.1, 0.2,</a:t>
            </a:r>
            <a:r>
              <a:rPr lang="zh-CN" altLang="en-US" sz="2400" u="sng" dirty="0">
                <a:latin typeface="Times New Roman" panose="02020603050405020304" pitchFamily="18" charset="0"/>
                <a:ea typeface="楷体_GB2312" pitchFamily="49" charset="-122"/>
              </a:rPr>
              <a:t>（</a:t>
            </a:r>
            <a:r>
              <a:rPr lang="en-US" altLang="zh-CN" sz="2400" u="sng" dirty="0">
                <a:latin typeface="Times New Roman" panose="02020603050405020304" pitchFamily="18" charset="0"/>
                <a:ea typeface="楷体_GB2312" pitchFamily="49" charset="-122"/>
              </a:rPr>
              <a:t>0.4</a:t>
            </a:r>
            <a:r>
              <a:rPr lang="zh-CN" altLang="en-US" sz="2400" u="sng" dirty="0">
                <a:latin typeface="Times New Roman" panose="02020603050405020304" pitchFamily="18" charset="0"/>
                <a:ea typeface="楷体_GB2312" pitchFamily="49" charset="-122"/>
              </a:rPr>
              <a:t>）</a:t>
            </a:r>
            <a:r>
              <a:rPr lang="en-US" altLang="zh-CN" sz="2400" u="sng" dirty="0">
                <a:latin typeface="Times New Roman" panose="02020603050405020304" pitchFamily="18" charset="0"/>
                <a:ea typeface="楷体_GB2312" pitchFamily="49" charset="-122"/>
              </a:rPr>
              <a:t>, 0.5</a:t>
            </a:r>
            <a:r>
              <a:rPr lang="zh-CN" altLang="en-US" sz="2400" dirty="0">
                <a:latin typeface="Times New Roman" panose="02020603050405020304" pitchFamily="18" charset="0"/>
                <a:ea typeface="楷体_GB2312" pitchFamily="49" charset="-122"/>
              </a:rPr>
              <a:t>；</a:t>
            </a:r>
          </a:p>
          <a:p>
            <a:pPr algn="ctr" eaLnBrk="1" hangingPunct="1">
              <a:buSzPct val="85000"/>
              <a:buNone/>
            </a:pPr>
            <a:r>
              <a:rPr lang="zh-CN" altLang="en-US" sz="2400" dirty="0">
                <a:latin typeface="Times New Roman" panose="02020603050405020304" pitchFamily="18" charset="0"/>
                <a:ea typeface="楷体_GB2312" pitchFamily="49" charset="-122"/>
              </a:rPr>
              <a:t>            </a:t>
            </a:r>
            <a:r>
              <a:rPr lang="en-US" altLang="zh-CN" sz="2400" dirty="0">
                <a:solidFill>
                  <a:srgbClr val="FF6600"/>
                </a:solidFill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lang="zh-CN" altLang="en-US" sz="2400" dirty="0">
                <a:solidFill>
                  <a:srgbClr val="FF6600"/>
                </a:solidFill>
                <a:latin typeface="Times New Roman" panose="02020603050405020304" pitchFamily="18" charset="0"/>
                <a:ea typeface="楷体_GB2312" pitchFamily="49" charset="-122"/>
              </a:rPr>
              <a:t>级标准表                 </a:t>
            </a:r>
            <a:r>
              <a:rPr lang="el-GR" altLang="zh-CN" sz="2400" dirty="0">
                <a:solidFill>
                  <a:srgbClr val="FF6600"/>
                </a:solidFill>
                <a:latin typeface="Times New Roman" panose="02020603050405020304" pitchFamily="18" charset="0"/>
                <a:ea typeface="楷体_GB2312" pitchFamily="49" charset="-122"/>
              </a:rPr>
              <a:t>Ⅱ</a:t>
            </a:r>
            <a:r>
              <a:rPr lang="zh-CN" altLang="en-US" sz="2400" dirty="0">
                <a:solidFill>
                  <a:srgbClr val="FF6600"/>
                </a:solidFill>
                <a:latin typeface="Times New Roman" panose="02020603050405020304" pitchFamily="18" charset="0"/>
                <a:ea typeface="楷体_GB2312" pitchFamily="49" charset="-122"/>
              </a:rPr>
              <a:t>级标准表</a:t>
            </a:r>
          </a:p>
          <a:p>
            <a:pPr algn="ctr" eaLnBrk="1" hangingPunct="1">
              <a:lnSpc>
                <a:spcPct val="150000"/>
              </a:lnSpc>
              <a:spcBef>
                <a:spcPct val="50000"/>
              </a:spcBef>
              <a:buSzPct val="85000"/>
              <a:buNone/>
            </a:pPr>
            <a:r>
              <a:rPr lang="zh-CN" altLang="en-US" sz="2400" dirty="0">
                <a:latin typeface="Times New Roman" panose="02020603050405020304" pitchFamily="18" charset="0"/>
                <a:ea typeface="楷体_GB2312" pitchFamily="49" charset="-122"/>
              </a:rPr>
              <a:t>        </a:t>
            </a:r>
            <a:r>
              <a:rPr lang="en-US" altLang="zh-CN" sz="2400" u="sng" dirty="0">
                <a:latin typeface="Times New Roman" panose="02020603050405020304" pitchFamily="18" charset="0"/>
                <a:ea typeface="楷体_GB2312" pitchFamily="49" charset="-122"/>
              </a:rPr>
              <a:t>1.0, 1.5, 2.5</a:t>
            </a:r>
            <a:r>
              <a:rPr lang="zh-CN" altLang="en-US" sz="2400" u="sng" dirty="0">
                <a:latin typeface="Times New Roman" panose="02020603050405020304" pitchFamily="18" charset="0"/>
                <a:ea typeface="楷体_GB2312" pitchFamily="49" charset="-122"/>
              </a:rPr>
              <a:t>，（</a:t>
            </a:r>
            <a:r>
              <a:rPr lang="en-US" altLang="zh-CN" sz="2400" u="sng" dirty="0">
                <a:latin typeface="Times New Roman" panose="02020603050405020304" pitchFamily="18" charset="0"/>
                <a:ea typeface="楷体_GB2312" pitchFamily="49" charset="-122"/>
              </a:rPr>
              <a:t>4.0</a:t>
            </a:r>
            <a:r>
              <a:rPr lang="zh-CN" altLang="en-US" sz="2400" u="sng" dirty="0">
                <a:latin typeface="Times New Roman" panose="02020603050405020304" pitchFamily="18" charset="0"/>
                <a:ea typeface="楷体_GB2312" pitchFamily="49" charset="-122"/>
              </a:rPr>
              <a:t>）</a:t>
            </a:r>
            <a:r>
              <a:rPr lang="zh-CN" altLang="en-US" sz="2400" dirty="0">
                <a:latin typeface="Times New Roman" panose="02020603050405020304" pitchFamily="18" charset="0"/>
                <a:ea typeface="楷体_GB2312" pitchFamily="49" charset="-122"/>
              </a:rPr>
              <a:t>；等</a:t>
            </a:r>
          </a:p>
          <a:p>
            <a:pPr algn="ctr" eaLnBrk="1" hangingPunct="1">
              <a:buSzPct val="85000"/>
              <a:buNone/>
            </a:pPr>
            <a:r>
              <a:rPr lang="zh-CN" altLang="en-US" sz="2400" dirty="0">
                <a:latin typeface="Times New Roman" panose="02020603050405020304" pitchFamily="18" charset="0"/>
                <a:ea typeface="楷体_GB2312" pitchFamily="49" charset="-122"/>
              </a:rPr>
              <a:t>         </a:t>
            </a:r>
            <a:r>
              <a:rPr lang="zh-CN" altLang="en-US" sz="2400" dirty="0">
                <a:solidFill>
                  <a:srgbClr val="FF6600"/>
                </a:solidFill>
                <a:latin typeface="Times New Roman" panose="02020603050405020304" pitchFamily="18" charset="0"/>
                <a:ea typeface="楷体_GB2312" pitchFamily="49" charset="-122"/>
              </a:rPr>
              <a:t>工业用表</a:t>
            </a:r>
            <a:endParaRPr lang="zh-CN" altLang="el-GR" sz="2400" dirty="0">
              <a:solidFill>
                <a:srgbClr val="FF66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4580" name="Text Box 6">
            <a:extLst>
              <a:ext uri="{FF2B5EF4-FFF2-40B4-BE49-F238E27FC236}">
                <a16:creationId xmlns:a16="http://schemas.microsoft.com/office/drawing/2014/main" id="{91ECE8B3-2047-4521-8AA5-E9B5B1A616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5785" y="4218462"/>
            <a:ext cx="5400675" cy="738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50000"/>
              </a:spcBef>
              <a:buSzPct val="85000"/>
              <a:buFontTx/>
              <a:buChar char="•"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仪表的最大允许绝对误差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：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E1B5EDD7-F0B2-4B58-A59E-A18D23E2B07A}"/>
              </a:ext>
            </a:extLst>
          </p:cNvPr>
          <p:cNvGrpSpPr/>
          <p:nvPr/>
        </p:nvGrpSpPr>
        <p:grpSpPr>
          <a:xfrm>
            <a:off x="3755004" y="4956649"/>
            <a:ext cx="2074862" cy="1352551"/>
            <a:chOff x="3755004" y="4668837"/>
            <a:chExt cx="2074862" cy="1352551"/>
          </a:xfrm>
        </p:grpSpPr>
        <p:graphicFrame>
          <p:nvGraphicFramePr>
            <p:cNvPr id="24581" name="Object 2">
              <a:extLst>
                <a:ext uri="{FF2B5EF4-FFF2-40B4-BE49-F238E27FC236}">
                  <a16:creationId xmlns:a16="http://schemas.microsoft.com/office/drawing/2014/main" id="{D401514D-908B-4B8B-B2D7-E43AD936DF4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95735241"/>
                </p:ext>
              </p:extLst>
            </p:nvPr>
          </p:nvGraphicFramePr>
          <p:xfrm>
            <a:off x="3755004" y="4668837"/>
            <a:ext cx="2074862" cy="5699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611" name="Equation" r:id="rId4" imgW="787058" imgH="215806" progId="Equation.DSMT4">
                    <p:embed/>
                  </p:oleObj>
                </mc:Choice>
                <mc:Fallback>
                  <p:oleObj name="Equation" r:id="rId4" imgW="787058" imgH="215806" progId="Equation.DSMT4">
                    <p:embed/>
                    <p:pic>
                      <p:nvPicPr>
                        <p:cNvPr id="0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55004" y="4668837"/>
                          <a:ext cx="2074862" cy="569913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582" name="Text Box 6">
              <a:extLst>
                <a:ext uri="{FF2B5EF4-FFF2-40B4-BE49-F238E27FC236}">
                  <a16:creationId xmlns:a16="http://schemas.microsoft.com/office/drawing/2014/main" id="{1C2E52E0-6620-443F-ADDF-AB3528F7A2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91013" y="5467350"/>
              <a:ext cx="1333500" cy="5540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50000"/>
                </a:lnSpc>
                <a:spcBef>
                  <a:spcPct val="50000"/>
                </a:spcBef>
                <a:buSzPct val="85000"/>
                <a:buFontTx/>
                <a:buNone/>
              </a:pPr>
              <a:r>
                <a:rPr lang="zh-CN" altLang="en-US" sz="2000">
                  <a:latin typeface="黑体" panose="02010609060101010101" pitchFamily="49" charset="-122"/>
                  <a:ea typeface="黑体" panose="02010609060101010101" pitchFamily="49" charset="-122"/>
                </a:rPr>
                <a:t>量程</a:t>
              </a:r>
            </a:p>
          </p:txBody>
        </p:sp>
        <p:grpSp>
          <p:nvGrpSpPr>
            <p:cNvPr id="24583" name="Group 3">
              <a:extLst>
                <a:ext uri="{FF2B5EF4-FFF2-40B4-BE49-F238E27FC236}">
                  <a16:creationId xmlns:a16="http://schemas.microsoft.com/office/drawing/2014/main" id="{D6C7E191-7BCF-4D28-9052-1F3B5DB1729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13275" y="5235575"/>
              <a:ext cx="503238" cy="288925"/>
              <a:chOff x="1292" y="1622"/>
              <a:chExt cx="596" cy="141"/>
            </a:xfrm>
          </p:grpSpPr>
          <p:sp>
            <p:nvSpPr>
              <p:cNvPr id="24585" name="Line 4">
                <a:extLst>
                  <a:ext uri="{FF2B5EF4-FFF2-40B4-BE49-F238E27FC236}">
                    <a16:creationId xmlns:a16="http://schemas.microsoft.com/office/drawing/2014/main" id="{F658467D-DA9E-45B0-9B33-127D22252BC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92" y="1622"/>
                <a:ext cx="596" cy="0"/>
              </a:xfrm>
              <a:prstGeom prst="line">
                <a:avLst/>
              </a:prstGeom>
              <a:noFill/>
              <a:ln w="22225">
                <a:solidFill>
                  <a:srgbClr val="FF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586" name="Line 5">
                <a:extLst>
                  <a:ext uri="{FF2B5EF4-FFF2-40B4-BE49-F238E27FC236}">
                    <a16:creationId xmlns:a16="http://schemas.microsoft.com/office/drawing/2014/main" id="{262EDD4C-DE95-4F11-BE64-DB926E84DFD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604" y="1622"/>
                <a:ext cx="0" cy="141"/>
              </a:xfrm>
              <a:prstGeom prst="line">
                <a:avLst/>
              </a:prstGeom>
              <a:noFill/>
              <a:ln w="22225">
                <a:solidFill>
                  <a:srgbClr val="FF3300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11" name="页脚占位符 6">
            <a:extLst>
              <a:ext uri="{FF2B5EF4-FFF2-40B4-BE49-F238E27FC236}">
                <a16:creationId xmlns:a16="http://schemas.microsoft.com/office/drawing/2014/main" id="{B4824AC5-8EEB-43C0-8981-B1E2A91548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43213" y="6411913"/>
            <a:ext cx="2960687" cy="309562"/>
          </a:xfrm>
        </p:spPr>
        <p:txBody>
          <a:bodyPr/>
          <a:lstStyle/>
          <a:p>
            <a:pPr>
              <a:defRPr/>
            </a:pPr>
            <a:r>
              <a:rPr lang="zh-CN" altLang="en-US"/>
              <a:t>人工智能与自动化学院测量科学与仪器系</a:t>
            </a:r>
            <a:endParaRPr lang="en-US" altLang="zh-CN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98E4452-218F-4A4F-9C66-BABF9965E495}"/>
              </a:ext>
            </a:extLst>
          </p:cNvPr>
          <p:cNvSpPr/>
          <p:nvPr/>
        </p:nvSpPr>
        <p:spPr>
          <a:xfrm>
            <a:off x="142875" y="980830"/>
            <a:ext cx="8286750" cy="46038"/>
          </a:xfrm>
          <a:prstGeom prst="rect">
            <a:avLst/>
          </a:prstGeom>
          <a:gradFill flip="none" rotWithShape="1">
            <a:gsLst>
              <a:gs pos="0">
                <a:srgbClr val="5E9EFF"/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85000"/>
              <a:buFontTx/>
              <a:buChar char="•"/>
              <a:defRPr/>
            </a:pPr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灯片编号占位符 3">
            <a:extLst>
              <a:ext uri="{FF2B5EF4-FFF2-40B4-BE49-F238E27FC236}">
                <a16:creationId xmlns:a16="http://schemas.microsoft.com/office/drawing/2014/main" id="{270D7C88-D9D1-47BE-B575-4DF4CF0C6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25642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buFontTx/>
              <a:buChar char="•"/>
            </a:pPr>
            <a:fld id="{8F1009CD-473C-412D-9953-6889D2E983F2}" type="slidenum">
              <a:rPr lang="en-US" altLang="zh-CN" sz="1200" smtClean="0">
                <a:solidFill>
                  <a:srgbClr val="898989"/>
                </a:solidFill>
                <a:latin typeface="Times New Roman" panose="02020603050405020304" pitchFamily="18" charset="0"/>
                <a:ea typeface="楷体_GB2312" pitchFamily="49" charset="-122"/>
              </a:rPr>
              <a:pPr>
                <a:buFontTx/>
                <a:buChar char="•"/>
              </a:pPr>
              <a:t>9</a:t>
            </a:fld>
            <a:endParaRPr lang="en-US" altLang="zh-CN" sz="1200">
              <a:solidFill>
                <a:srgbClr val="898989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536581" name="Rectangle 5">
            <a:extLst>
              <a:ext uri="{FF2B5EF4-FFF2-40B4-BE49-F238E27FC236}">
                <a16:creationId xmlns:a16="http://schemas.microsoft.com/office/drawing/2014/main" id="{014166B5-7F39-4C89-A6A3-27F2F1EC6D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2785173"/>
            <a:ext cx="60483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indent="635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buSzPct val="85000"/>
              <a:buFontTx/>
              <a:buNone/>
            </a:pPr>
            <a:r>
              <a:rPr lang="zh-CN" altLang="en-US" sz="2000" b="1">
                <a:latin typeface="Times New Roman" panose="02020603050405020304" pitchFamily="18" charset="0"/>
                <a:ea typeface="黑体" panose="02010609060101010101" pitchFamily="49" charset="-122"/>
              </a:rPr>
              <a:t>解：该测温仪表的实际最大引用误差为：</a:t>
            </a:r>
          </a:p>
        </p:txBody>
      </p:sp>
      <p:sp>
        <p:nvSpPr>
          <p:cNvPr id="536582" name="Rectangle 6">
            <a:extLst>
              <a:ext uri="{FF2B5EF4-FFF2-40B4-BE49-F238E27FC236}">
                <a16:creationId xmlns:a16="http://schemas.microsoft.com/office/drawing/2014/main" id="{D8D81E92-5688-4EC5-814B-AB29AB94E1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4596510"/>
            <a:ext cx="7848600" cy="1136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indent="576263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ts val="2800"/>
              </a:lnSpc>
              <a:buSzPct val="85000"/>
              <a:buFontTx/>
              <a:buNone/>
            </a:pP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去掉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%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后，该表的准确度值为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0.6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，介于国家规定的</a:t>
            </a:r>
            <a:r>
              <a:rPr lang="zh-CN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准确度等级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0.5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1.0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之间，而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0.5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级表和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1.0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级表的允许误差</a:t>
            </a:r>
            <a:r>
              <a:rPr lang="el-GR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γ</a:t>
            </a:r>
            <a:r>
              <a:rPr lang="zh-CN" altLang="en-US" sz="2400" b="1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表允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分别为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±0.5%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±1.0%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。则这台测温仪表的</a:t>
            </a:r>
            <a:r>
              <a:rPr lang="zh-CN" altLang="en-US" sz="20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准确度等级只能定为</a:t>
            </a:r>
            <a:r>
              <a:rPr lang="en-US" altLang="zh-CN" sz="20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1.0</a:t>
            </a:r>
            <a:r>
              <a:rPr lang="zh-CN" altLang="en-US" sz="20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级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10247" name="Rectangle 7">
            <a:extLst>
              <a:ext uri="{FF2B5EF4-FFF2-40B4-BE49-F238E27FC236}">
                <a16:creationId xmlns:a16="http://schemas.microsoft.com/office/drawing/2014/main" id="{A63709BE-E625-41EF-9996-35DD859C20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4663" y="916685"/>
            <a:ext cx="8129587" cy="142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42913" indent="-3524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20000"/>
              </a:lnSpc>
              <a:buSzPct val="85000"/>
              <a:buFont typeface="Wingdings" panose="05000000000000000000" pitchFamily="2" charset="2"/>
              <a:buChar char="n"/>
            </a:pP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例  某台温度检测仪表的测温范围为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100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～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600℃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，校验该表时得到的最大绝对误差为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3℃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，试确定该仪表的准确度等级。</a:t>
            </a:r>
          </a:p>
        </p:txBody>
      </p:sp>
      <p:graphicFrame>
        <p:nvGraphicFramePr>
          <p:cNvPr id="2" name="Object 2">
            <a:extLst>
              <a:ext uri="{FF2B5EF4-FFF2-40B4-BE49-F238E27FC236}">
                <a16:creationId xmlns:a16="http://schemas.microsoft.com/office/drawing/2014/main" id="{AA43F22C-F9D2-4D9A-AF52-76E0B316E08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91217360"/>
              </p:ext>
            </p:extLst>
          </p:nvPr>
        </p:nvGraphicFramePr>
        <p:xfrm>
          <a:off x="1917700" y="3409060"/>
          <a:ext cx="5800725" cy="854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56" name="Equation" r:id="rId3" imgW="2413000" imgH="355600" progId="Equation.DSMT4">
                  <p:embed/>
                </p:oleObj>
              </mc:Choice>
              <mc:Fallback>
                <p:oleObj name="Equation" r:id="rId3" imgW="2413000" imgH="3556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7700" y="3409060"/>
                        <a:ext cx="5800725" cy="854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页脚占位符 6">
            <a:extLst>
              <a:ext uri="{FF2B5EF4-FFF2-40B4-BE49-F238E27FC236}">
                <a16:creationId xmlns:a16="http://schemas.microsoft.com/office/drawing/2014/main" id="{AB58A92C-1FF1-404B-AF35-97CF2ADA98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43213" y="6381205"/>
            <a:ext cx="2960687" cy="309562"/>
          </a:xfrm>
        </p:spPr>
        <p:txBody>
          <a:bodyPr/>
          <a:lstStyle/>
          <a:p>
            <a:pPr>
              <a:defRPr/>
            </a:pPr>
            <a:r>
              <a:rPr lang="zh-CN" altLang="en-US"/>
              <a:t>人工智能与自动化学院测量科学与仪器系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365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365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365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365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6581" grpId="0" autoUpdateAnimBg="0"/>
      <p:bldP spid="536582" grpId="0" autoUpdateAnimBg="0"/>
      <p:bldP spid="1024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灯片编号占位符 3">
            <a:extLst>
              <a:ext uri="{FF2B5EF4-FFF2-40B4-BE49-F238E27FC236}">
                <a16:creationId xmlns:a16="http://schemas.microsoft.com/office/drawing/2014/main" id="{EF9D07D5-821F-4B70-80A0-B8AD81AB0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buFontTx/>
              <a:buChar char="•"/>
            </a:pPr>
            <a:fld id="{90E2FA61-013F-4A13-8B84-88A20C0D2DBD}" type="slidenum">
              <a:rPr lang="en-US" altLang="zh-CN" sz="1200" smtClean="0">
                <a:solidFill>
                  <a:srgbClr val="898989"/>
                </a:solidFill>
                <a:latin typeface="Times New Roman" panose="02020603050405020304" pitchFamily="18" charset="0"/>
                <a:ea typeface="楷体_GB2312" pitchFamily="49" charset="-122"/>
              </a:rPr>
              <a:pPr>
                <a:buFontTx/>
                <a:buChar char="•"/>
              </a:pPr>
              <a:t>10</a:t>
            </a:fld>
            <a:endParaRPr lang="en-US" altLang="zh-CN" sz="1200">
              <a:solidFill>
                <a:srgbClr val="898989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1269" name="Rectangle 4">
            <a:extLst>
              <a:ext uri="{FF2B5EF4-FFF2-40B4-BE49-F238E27FC236}">
                <a16:creationId xmlns:a16="http://schemas.microsoft.com/office/drawing/2014/main" id="{EA49BFB6-E395-484C-8F1E-8C70FC1F27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800" y="1124840"/>
            <a:ext cx="8027988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533400" indent="-442913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fontAlgn="ctr" hangingPunct="1">
              <a:buSzPct val="90000"/>
              <a:buFont typeface="Wingdings" panose="05000000000000000000" pitchFamily="2" charset="2"/>
              <a:buChar char="n"/>
            </a:pPr>
            <a:r>
              <a:rPr lang="zh-CN" altLang="en-US" sz="2400" b="1"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    现需选择一台测温范围为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～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500℃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的测温仪表。根据工艺要求，温度指示值的误差不允许超过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±4℃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，试问：应选哪一级精确度等级的仪表？</a:t>
            </a:r>
          </a:p>
        </p:txBody>
      </p:sp>
      <p:sp>
        <p:nvSpPr>
          <p:cNvPr id="537605" name="Rectangle 5">
            <a:extLst>
              <a:ext uri="{FF2B5EF4-FFF2-40B4-BE49-F238E27FC236}">
                <a16:creationId xmlns:a16="http://schemas.microsoft.com/office/drawing/2014/main" id="{AA548908-5B3D-4D43-A91B-C55D660F2F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0550" y="2755202"/>
            <a:ext cx="43211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buSzPct val="85000"/>
              <a:buFontTx/>
              <a:buChar char="•"/>
            </a:pPr>
            <a:r>
              <a:rPr lang="zh-CN" altLang="en-US" sz="2000" b="1">
                <a:latin typeface="Times New Roman" panose="02020603050405020304" pitchFamily="18" charset="0"/>
                <a:ea typeface="黑体" panose="02010609060101010101" pitchFamily="49" charset="-122"/>
              </a:rPr>
              <a:t>解：</a:t>
            </a:r>
            <a:r>
              <a:rPr lang="zh-CN" altLang="en-US" sz="2000">
                <a:latin typeface="Times New Roman" panose="02020603050405020304" pitchFamily="18" charset="0"/>
                <a:ea typeface="黑体" panose="02010609060101010101" pitchFamily="49" charset="-122"/>
              </a:rPr>
              <a:t>工艺允许误差为</a:t>
            </a:r>
          </a:p>
        </p:txBody>
      </p:sp>
      <p:sp>
        <p:nvSpPr>
          <p:cNvPr id="537607" name="Rectangle 7">
            <a:extLst>
              <a:ext uri="{FF2B5EF4-FFF2-40B4-BE49-F238E27FC236}">
                <a16:creationId xmlns:a16="http://schemas.microsoft.com/office/drawing/2014/main" id="{1BC702B0-4FB6-4536-8C8D-3B451FBBD2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713" y="4139502"/>
            <a:ext cx="8191500" cy="1417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indent="68897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buSzPct val="85000"/>
              <a:buFontTx/>
              <a:buNone/>
            </a:pPr>
            <a:r>
              <a:rPr lang="zh-CN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去掉</a:t>
            </a:r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%</a:t>
            </a:r>
            <a:r>
              <a:rPr lang="zh-CN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后，该表的精确度值为</a:t>
            </a:r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0.8</a:t>
            </a:r>
            <a:r>
              <a:rPr lang="zh-CN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，也是介于</a:t>
            </a:r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0.5</a:t>
            </a:r>
            <a:r>
              <a:rPr lang="zh-CN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～</a:t>
            </a:r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1.0</a:t>
            </a:r>
            <a:r>
              <a:rPr lang="zh-CN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之间，而</a:t>
            </a:r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0.5</a:t>
            </a:r>
            <a:r>
              <a:rPr lang="zh-CN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级表和</a:t>
            </a:r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1.0</a:t>
            </a:r>
            <a:r>
              <a:rPr lang="zh-CN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级表的允许误差</a:t>
            </a:r>
            <a:r>
              <a:rPr lang="el-GR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γ</a:t>
            </a:r>
            <a:r>
              <a:rPr lang="zh-CN" altLang="en-US" sz="2000" b="1" baseline="-30000">
                <a:latin typeface="Times New Roman" panose="02020603050405020304" pitchFamily="18" charset="0"/>
                <a:cs typeface="Times New Roman" panose="02020603050405020304" pitchFamily="18" charset="0"/>
              </a:rPr>
              <a:t>表允</a:t>
            </a:r>
            <a:r>
              <a:rPr lang="zh-CN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分别为</a:t>
            </a:r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±0.5%</a:t>
            </a:r>
            <a:r>
              <a:rPr lang="zh-CN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±1.0%</a:t>
            </a:r>
            <a:r>
              <a:rPr lang="zh-CN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。应选择</a:t>
            </a:r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0.5</a:t>
            </a:r>
            <a:r>
              <a:rPr lang="zh-CN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级的仪表才能满足工艺上的要求。</a:t>
            </a:r>
          </a:p>
        </p:txBody>
      </p:sp>
      <p:graphicFrame>
        <p:nvGraphicFramePr>
          <p:cNvPr id="2" name="Object 2">
            <a:extLst>
              <a:ext uri="{FF2B5EF4-FFF2-40B4-BE49-F238E27FC236}">
                <a16:creationId xmlns:a16="http://schemas.microsoft.com/office/drawing/2014/main" id="{31C89477-6213-4814-ACB2-32B462D3920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4958243"/>
              </p:ext>
            </p:extLst>
          </p:nvPr>
        </p:nvGraphicFramePr>
        <p:xfrm>
          <a:off x="2124075" y="3187002"/>
          <a:ext cx="4816475" cy="798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80" name="Equation" r:id="rId3" imgW="2145369" imgH="355446" progId="Equation.DSMT4">
                  <p:embed/>
                </p:oleObj>
              </mc:Choice>
              <mc:Fallback>
                <p:oleObj name="Equation" r:id="rId3" imgW="2145369" imgH="355446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4075" y="3187002"/>
                        <a:ext cx="4816475" cy="798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页脚占位符 6">
            <a:extLst>
              <a:ext uri="{FF2B5EF4-FFF2-40B4-BE49-F238E27FC236}">
                <a16:creationId xmlns:a16="http://schemas.microsoft.com/office/drawing/2014/main" id="{2C07B0FE-B669-4A88-98D6-F6018EC8C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43213" y="6411913"/>
            <a:ext cx="2960687" cy="309562"/>
          </a:xfrm>
        </p:spPr>
        <p:txBody>
          <a:bodyPr/>
          <a:lstStyle/>
          <a:p>
            <a:pPr>
              <a:defRPr/>
            </a:pPr>
            <a:r>
              <a:rPr lang="zh-CN" altLang="en-US"/>
              <a:t>人工智能与自动化学院测量科学与仪器系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2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2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376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376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537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9" grpId="0"/>
      <p:bldP spid="537605" grpId="0" autoUpdateAnimBg="0"/>
      <p:bldP spid="537607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灯片编号占位符 5">
            <a:extLst>
              <a:ext uri="{FF2B5EF4-FFF2-40B4-BE49-F238E27FC236}">
                <a16:creationId xmlns:a16="http://schemas.microsoft.com/office/drawing/2014/main" id="{D0F20BF6-F5D5-4511-A212-D1A2E9B59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buFontTx/>
              <a:buChar char="•"/>
            </a:pPr>
            <a:fld id="{48F10D02-2470-49A4-A99C-5474FF12DDC9}" type="slidenum">
              <a:rPr lang="en-US" altLang="zh-CN" sz="1200" smtClean="0">
                <a:solidFill>
                  <a:srgbClr val="898989"/>
                </a:solidFill>
                <a:latin typeface="Times New Roman" panose="02020603050405020304" pitchFamily="18" charset="0"/>
                <a:ea typeface="楷体_GB2312" pitchFamily="49" charset="-122"/>
              </a:rPr>
              <a:pPr>
                <a:buFontTx/>
                <a:buChar char="•"/>
              </a:pPr>
              <a:t>11</a:t>
            </a:fld>
            <a:endParaRPr lang="en-US" altLang="zh-CN" sz="1200">
              <a:solidFill>
                <a:srgbClr val="898989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46DE3C6-4572-4696-9610-EA489E5B5E28}"/>
              </a:ext>
            </a:extLst>
          </p:cNvPr>
          <p:cNvSpPr/>
          <p:nvPr/>
        </p:nvSpPr>
        <p:spPr>
          <a:xfrm>
            <a:off x="142875" y="1000125"/>
            <a:ext cx="8286750" cy="46038"/>
          </a:xfrm>
          <a:prstGeom prst="rect">
            <a:avLst/>
          </a:prstGeom>
          <a:gradFill flip="none" rotWithShape="1">
            <a:gsLst>
              <a:gs pos="0">
                <a:srgbClr val="5E9EFF"/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85000"/>
              <a:buFontTx/>
              <a:buChar char="•"/>
              <a:defRPr/>
            </a:pPr>
            <a:endParaRPr lang="zh-CN" altLang="en-US"/>
          </a:p>
        </p:txBody>
      </p:sp>
      <p:sp>
        <p:nvSpPr>
          <p:cNvPr id="18437" name="文本框 3">
            <a:extLst>
              <a:ext uri="{FF2B5EF4-FFF2-40B4-BE49-F238E27FC236}">
                <a16:creationId xmlns:a16="http://schemas.microsoft.com/office/drawing/2014/main" id="{0DFFB0A4-6B1F-46EC-81C9-7FF3B4148A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" y="1246188"/>
            <a:ext cx="4103688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1.1.2 </a:t>
            </a:r>
            <a:r>
              <a:rPr lang="zh-CN" altLang="en-US" sz="2400" b="1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误差的分类</a:t>
            </a:r>
          </a:p>
        </p:txBody>
      </p:sp>
      <p:sp>
        <p:nvSpPr>
          <p:cNvPr id="18438" name="Rectangle 3">
            <a:extLst>
              <a:ext uri="{FF2B5EF4-FFF2-40B4-BE49-F238E27FC236}">
                <a16:creationId xmlns:a16="http://schemas.microsoft.com/office/drawing/2014/main" id="{71887568-9768-45A6-B3C5-B4B420F03D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43213" y="180975"/>
            <a:ext cx="5435600" cy="719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</a:pPr>
            <a:r>
              <a:rPr lang="en-US" altLang="zh-CN" sz="2800" b="1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1.1 </a:t>
            </a:r>
            <a:r>
              <a:rPr lang="zh-CN" altLang="en-US" sz="2800" b="1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误差的基本概念</a:t>
            </a:r>
          </a:p>
        </p:txBody>
      </p:sp>
      <p:sp>
        <p:nvSpPr>
          <p:cNvPr id="18439" name="文本框 1">
            <a:extLst>
              <a:ext uri="{FF2B5EF4-FFF2-40B4-BE49-F238E27FC236}">
                <a16:creationId xmlns:a16="http://schemas.microsoft.com/office/drawing/2014/main" id="{C9FAF567-163A-4412-831B-239B9B9B24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03562" y="5087938"/>
            <a:ext cx="3340567" cy="9435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准确度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=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精密度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+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正确度</a:t>
            </a:r>
            <a:endParaRPr lang="en-US" altLang="zh-CN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（也叫精确度，简称精度）</a:t>
            </a:r>
          </a:p>
        </p:txBody>
      </p:sp>
      <p:sp>
        <p:nvSpPr>
          <p:cNvPr id="18440" name="Text Box 4">
            <a:extLst>
              <a:ext uri="{FF2B5EF4-FFF2-40B4-BE49-F238E27FC236}">
                <a16:creationId xmlns:a16="http://schemas.microsoft.com/office/drawing/2014/main" id="{AA704B79-871B-4C7E-AE55-C6FD78E24B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71575" y="1808163"/>
            <a:ext cx="2265363" cy="500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50000"/>
              </a:spcBef>
              <a:buSzPct val="85000"/>
              <a:buFont typeface="Wingdings" panose="05000000000000000000" pitchFamily="2" charset="2"/>
              <a:buChar char="n"/>
            </a:pPr>
            <a:r>
              <a:rPr lang="en-US" altLang="zh-CN" sz="2000">
                <a:solidFill>
                  <a:srgbClr val="FF6600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zh-CN" altLang="en-US" sz="2000">
                <a:solidFill>
                  <a:srgbClr val="FF6600"/>
                </a:solidFill>
                <a:latin typeface="Times New Roman" panose="02020603050405020304" pitchFamily="18" charset="0"/>
                <a:ea typeface="楷体_GB2312" pitchFamily="49" charset="-122"/>
              </a:rPr>
              <a:t>还是</a:t>
            </a:r>
            <a:r>
              <a:rPr lang="en-US" altLang="zh-CN" sz="2000">
                <a:solidFill>
                  <a:srgbClr val="FF6600"/>
                </a:solidFill>
                <a:latin typeface="Times New Roman" panose="02020603050405020304" pitchFamily="18" charset="0"/>
                <a:ea typeface="楷体_GB2312" pitchFamily="49" charset="-122"/>
              </a:rPr>
              <a:t>3</a:t>
            </a:r>
            <a:r>
              <a:rPr lang="zh-CN" altLang="en-US" sz="2000">
                <a:solidFill>
                  <a:srgbClr val="FF6600"/>
                </a:solidFill>
                <a:latin typeface="Times New Roman" panose="02020603050405020304" pitchFamily="18" charset="0"/>
                <a:ea typeface="楷体_GB2312" pitchFamily="49" charset="-122"/>
              </a:rPr>
              <a:t>个靶面</a:t>
            </a:r>
          </a:p>
        </p:txBody>
      </p:sp>
      <p:sp>
        <p:nvSpPr>
          <p:cNvPr id="18442" name="Rectangle 8">
            <a:extLst>
              <a:ext uri="{FF2B5EF4-FFF2-40B4-BE49-F238E27FC236}">
                <a16:creationId xmlns:a16="http://schemas.microsoft.com/office/drawing/2014/main" id="{EF224AF0-E520-446C-8271-1A1FDDD1D8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9476" y="4601380"/>
            <a:ext cx="2752725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algn="just" eaLnBrk="1" hangingPunct="1">
              <a:buSzPct val="85000"/>
              <a:buFontTx/>
              <a:buNone/>
            </a:pPr>
            <a:r>
              <a:rPr lang="zh-CN" altLang="en-US" sz="160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1600"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zh-CN" altLang="en-US" sz="1600">
                <a:latin typeface="黑体" panose="02010609060101010101" pitchFamily="49" charset="-122"/>
                <a:ea typeface="黑体" panose="02010609060101010101" pitchFamily="49" charset="-122"/>
              </a:rPr>
              <a:t>）正确度低而精密度高</a:t>
            </a:r>
          </a:p>
        </p:txBody>
      </p:sp>
      <p:sp>
        <p:nvSpPr>
          <p:cNvPr id="18443" name="Rectangle 8">
            <a:extLst>
              <a:ext uri="{FF2B5EF4-FFF2-40B4-BE49-F238E27FC236}">
                <a16:creationId xmlns:a16="http://schemas.microsoft.com/office/drawing/2014/main" id="{0DDD60C3-7829-4B67-B9CD-E490A23D11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4574392"/>
            <a:ext cx="28241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algn="just" eaLnBrk="1" hangingPunct="1">
              <a:buSzPct val="85000"/>
              <a:buFontTx/>
              <a:buNone/>
            </a:pPr>
            <a:r>
              <a:rPr lang="zh-CN" altLang="en-US" sz="1600">
                <a:latin typeface="黑体" panose="02010609060101010101" pitchFamily="49" charset="-122"/>
                <a:ea typeface="黑体" panose="02010609060101010101" pitchFamily="49" charset="-122"/>
              </a:rPr>
              <a:t> （</a:t>
            </a:r>
            <a:r>
              <a:rPr lang="en-US" altLang="zh-CN" sz="1600"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lang="zh-CN" altLang="en-US" sz="1600">
                <a:latin typeface="黑体" panose="02010609060101010101" pitchFamily="49" charset="-122"/>
                <a:ea typeface="黑体" panose="02010609060101010101" pitchFamily="49" charset="-122"/>
              </a:rPr>
              <a:t>）正确度高而精密度低</a:t>
            </a:r>
          </a:p>
        </p:txBody>
      </p:sp>
      <p:sp>
        <p:nvSpPr>
          <p:cNvPr id="18444" name="Rectangle 8">
            <a:extLst>
              <a:ext uri="{FF2B5EF4-FFF2-40B4-BE49-F238E27FC236}">
                <a16:creationId xmlns:a16="http://schemas.microsoft.com/office/drawing/2014/main" id="{F64FCC0D-D6B0-4110-833B-7152C4709B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1863" y="4601380"/>
            <a:ext cx="1727200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algn="just" eaLnBrk="1" hangingPunct="1">
              <a:buSzPct val="85000"/>
              <a:buFontTx/>
              <a:buNone/>
            </a:pPr>
            <a:r>
              <a:rPr lang="zh-CN" altLang="en-US" sz="160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1600">
                <a:latin typeface="黑体" panose="02010609060101010101" pitchFamily="49" charset="-122"/>
                <a:ea typeface="黑体" panose="02010609060101010101" pitchFamily="49" charset="-122"/>
              </a:rPr>
              <a:t>c</a:t>
            </a:r>
            <a:r>
              <a:rPr lang="zh-CN" altLang="en-US" sz="1600">
                <a:latin typeface="黑体" panose="02010609060101010101" pitchFamily="49" charset="-122"/>
                <a:ea typeface="黑体" panose="02010609060101010101" pitchFamily="49" charset="-122"/>
              </a:rPr>
              <a:t>）准确度高</a:t>
            </a:r>
          </a:p>
        </p:txBody>
      </p:sp>
      <p:sp>
        <p:nvSpPr>
          <p:cNvPr id="13" name="页脚占位符 6">
            <a:extLst>
              <a:ext uri="{FF2B5EF4-FFF2-40B4-BE49-F238E27FC236}">
                <a16:creationId xmlns:a16="http://schemas.microsoft.com/office/drawing/2014/main" id="{F4D73977-0598-4B63-AD93-58058AB4B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43213" y="6411913"/>
            <a:ext cx="2960687" cy="309562"/>
          </a:xfrm>
        </p:spPr>
        <p:txBody>
          <a:bodyPr/>
          <a:lstStyle/>
          <a:p>
            <a:pPr>
              <a:defRPr/>
            </a:pPr>
            <a:r>
              <a:rPr lang="zh-CN" altLang="en-US"/>
              <a:t>人工智能与自动化学院测量科学与仪器系</a:t>
            </a:r>
            <a:endParaRPr lang="en-US" altLang="zh-CN"/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0B8F0733-4DC8-4DB9-B303-7ACD4AE006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987" y="2512356"/>
            <a:ext cx="6486525" cy="19145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4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4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84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84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84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84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84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84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84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84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84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84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84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84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8437" grpId="0"/>
      <p:bldP spid="18438" grpId="0"/>
      <p:bldP spid="18439" grpId="0"/>
      <p:bldP spid="18440" grpId="0"/>
      <p:bldP spid="18442" grpId="0"/>
      <p:bldP spid="18443" grpId="0"/>
      <p:bldP spid="1844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灯片编号占位符 5">
            <a:extLst>
              <a:ext uri="{FF2B5EF4-FFF2-40B4-BE49-F238E27FC236}">
                <a16:creationId xmlns:a16="http://schemas.microsoft.com/office/drawing/2014/main" id="{93DD4F70-519B-4D32-8203-E1086F0EE6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buFontTx/>
              <a:buChar char="•"/>
            </a:pPr>
            <a:fld id="{38056BF5-C0CC-4B54-BEEF-2FD260CB727E}" type="slidenum">
              <a:rPr lang="en-US" altLang="zh-CN" sz="1200" smtClean="0">
                <a:solidFill>
                  <a:srgbClr val="898989"/>
                </a:solidFill>
                <a:latin typeface="Times New Roman" panose="02020603050405020304" pitchFamily="18" charset="0"/>
                <a:ea typeface="楷体_GB2312" pitchFamily="49" charset="-122"/>
              </a:rPr>
              <a:pPr>
                <a:buFontTx/>
                <a:buChar char="•"/>
              </a:pPr>
              <a:t>12</a:t>
            </a:fld>
            <a:endParaRPr lang="en-US" altLang="zh-CN" sz="1200">
              <a:solidFill>
                <a:srgbClr val="898989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56D74CB-C0C0-48AF-9D5B-C8FAEB233D83}"/>
              </a:ext>
            </a:extLst>
          </p:cNvPr>
          <p:cNvSpPr/>
          <p:nvPr/>
        </p:nvSpPr>
        <p:spPr>
          <a:xfrm>
            <a:off x="142875" y="1000125"/>
            <a:ext cx="8286750" cy="46038"/>
          </a:xfrm>
          <a:prstGeom prst="rect">
            <a:avLst/>
          </a:prstGeom>
          <a:gradFill flip="none" rotWithShape="1">
            <a:gsLst>
              <a:gs pos="0">
                <a:srgbClr val="5E9EFF"/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85000"/>
              <a:buFontTx/>
              <a:buChar char="•"/>
              <a:defRPr/>
            </a:pPr>
            <a:endParaRPr lang="zh-CN" altLang="en-US"/>
          </a:p>
        </p:txBody>
      </p:sp>
      <p:sp>
        <p:nvSpPr>
          <p:cNvPr id="30724" name="文本框 3">
            <a:extLst>
              <a:ext uri="{FF2B5EF4-FFF2-40B4-BE49-F238E27FC236}">
                <a16:creationId xmlns:a16="http://schemas.microsoft.com/office/drawing/2014/main" id="{F8D84DCF-F90E-4C65-B213-58D105703E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" y="1246188"/>
            <a:ext cx="4103688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1.1.2 </a:t>
            </a:r>
            <a:r>
              <a:rPr lang="zh-CN" altLang="en-US" sz="2400" b="1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误差的分类</a:t>
            </a:r>
          </a:p>
        </p:txBody>
      </p:sp>
      <p:sp>
        <p:nvSpPr>
          <p:cNvPr id="30725" name="Rectangle 3">
            <a:extLst>
              <a:ext uri="{FF2B5EF4-FFF2-40B4-BE49-F238E27FC236}">
                <a16:creationId xmlns:a16="http://schemas.microsoft.com/office/drawing/2014/main" id="{FFDD8E17-5A62-47AB-A876-30AF352D62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43213" y="180975"/>
            <a:ext cx="5435600" cy="719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</a:pPr>
            <a:r>
              <a:rPr lang="en-US" altLang="zh-CN" sz="2800" b="1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1.1 </a:t>
            </a:r>
            <a:r>
              <a:rPr lang="zh-CN" altLang="en-US" sz="2800" b="1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误差的基本概念</a:t>
            </a:r>
          </a:p>
        </p:txBody>
      </p:sp>
      <p:sp>
        <p:nvSpPr>
          <p:cNvPr id="30726" name="文本框 1">
            <a:extLst>
              <a:ext uri="{FF2B5EF4-FFF2-40B4-BE49-F238E27FC236}">
                <a16:creationId xmlns:a16="http://schemas.microsoft.com/office/drawing/2014/main" id="{11C257D4-C41B-4D8A-88D7-09E0CFEAC8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78200" y="2105025"/>
            <a:ext cx="4721225" cy="1477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2000">
                <a:latin typeface="黑体" panose="02010609060101010101" pitchFamily="49" charset="-122"/>
                <a:ea typeface="黑体" panose="02010609060101010101" pitchFamily="49" charset="-122"/>
              </a:rPr>
              <a:t>随机误差：精密度，</a:t>
            </a:r>
            <a:r>
              <a:rPr lang="en-US" altLang="zh-CN" sz="2000">
                <a:latin typeface="黑体" panose="02010609060101010101" pitchFamily="49" charset="-122"/>
                <a:ea typeface="黑体" panose="02010609060101010101" pitchFamily="49" charset="-122"/>
              </a:rPr>
              <a:t>precision</a:t>
            </a: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2000">
                <a:latin typeface="黑体" panose="02010609060101010101" pitchFamily="49" charset="-122"/>
                <a:ea typeface="黑体" panose="02010609060101010101" pitchFamily="49" charset="-122"/>
              </a:rPr>
              <a:t>系统误差：正确度 </a:t>
            </a:r>
            <a:r>
              <a:rPr lang="en-US" altLang="zh-CN" sz="2000">
                <a:latin typeface="黑体" panose="02010609060101010101" pitchFamily="49" charset="-122"/>
                <a:ea typeface="黑体" panose="02010609060101010101" pitchFamily="49" charset="-122"/>
              </a:rPr>
              <a:t>correctness</a:t>
            </a:r>
            <a:r>
              <a:rPr lang="zh-CN" altLang="en-US" sz="200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2000">
                <a:latin typeface="黑体" panose="02010609060101010101" pitchFamily="49" charset="-122"/>
                <a:ea typeface="黑体" panose="02010609060101010101" pitchFamily="49" charset="-122"/>
              </a:rPr>
              <a:t>粗大误差</a:t>
            </a:r>
          </a:p>
        </p:txBody>
      </p:sp>
      <p:sp>
        <p:nvSpPr>
          <p:cNvPr id="30727" name="文本框 3">
            <a:extLst>
              <a:ext uri="{FF2B5EF4-FFF2-40B4-BE49-F238E27FC236}">
                <a16:creationId xmlns:a16="http://schemas.microsoft.com/office/drawing/2014/main" id="{FE3660CB-F9E2-49DF-95C1-0C53C9758F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0663" y="2632075"/>
            <a:ext cx="187166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000" b="1">
                <a:latin typeface="黑体" panose="02010609060101010101" pitchFamily="49" charset="-122"/>
                <a:ea typeface="黑体" panose="02010609060101010101" pitchFamily="49" charset="-122"/>
              </a:rPr>
              <a:t>误差的分类</a:t>
            </a:r>
          </a:p>
        </p:txBody>
      </p:sp>
      <p:sp>
        <p:nvSpPr>
          <p:cNvPr id="30728" name="左大括号 4">
            <a:extLst>
              <a:ext uri="{FF2B5EF4-FFF2-40B4-BE49-F238E27FC236}">
                <a16:creationId xmlns:a16="http://schemas.microsoft.com/office/drawing/2014/main" id="{44338621-E881-47A9-AB56-842699B18182}"/>
              </a:ext>
            </a:extLst>
          </p:cNvPr>
          <p:cNvSpPr>
            <a:spLocks/>
          </p:cNvSpPr>
          <p:nvPr/>
        </p:nvSpPr>
        <p:spPr bwMode="auto">
          <a:xfrm>
            <a:off x="2946400" y="2255838"/>
            <a:ext cx="431800" cy="1152525"/>
          </a:xfrm>
          <a:prstGeom prst="leftBrace">
            <a:avLst>
              <a:gd name="adj1" fmla="val 8341"/>
              <a:gd name="adj2" fmla="val 50000"/>
            </a:avLst>
          </a:prstGeom>
          <a:noFill/>
          <a:ln w="28575" algn="ctr">
            <a:solidFill>
              <a:srgbClr val="00B0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en-US" sz="1800">
              <a:latin typeface="Arial" panose="020B0604020202020204" pitchFamily="34" charset="0"/>
            </a:endParaRPr>
          </a:p>
        </p:txBody>
      </p:sp>
      <p:sp>
        <p:nvSpPr>
          <p:cNvPr id="30729" name="文本框 1">
            <a:extLst>
              <a:ext uri="{FF2B5EF4-FFF2-40B4-BE49-F238E27FC236}">
                <a16:creationId xmlns:a16="http://schemas.microsoft.com/office/drawing/2014/main" id="{8E90CC78-B9E8-4E5E-B636-D265448C91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35150" y="3910013"/>
            <a:ext cx="6985145" cy="14051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测量精密度（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precision of measurement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endParaRPr lang="en-US" altLang="zh-CN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测量正确度（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correctness of measurement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20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测量准确度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accuracy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 of measurement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——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综合指标</a:t>
            </a:r>
          </a:p>
        </p:txBody>
      </p:sp>
      <p:sp>
        <p:nvSpPr>
          <p:cNvPr id="20491" name="文本框 1">
            <a:extLst>
              <a:ext uri="{FF2B5EF4-FFF2-40B4-BE49-F238E27FC236}">
                <a16:creationId xmlns:a16="http://schemas.microsoft.com/office/drawing/2014/main" id="{3C9ACB54-046E-4F30-93C7-308259A91E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3201" y="5542892"/>
            <a:ext cx="3975697" cy="46037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  <a:defRPr/>
            </a:pPr>
            <a:r>
              <a:rPr lang="zh-CN" altLang="en-US" sz="18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测量准确度</a:t>
            </a:r>
            <a:r>
              <a:rPr lang="zh-CN" altLang="en-US" sz="18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又称测量精确度（精度）</a:t>
            </a:r>
          </a:p>
        </p:txBody>
      </p:sp>
      <p:sp>
        <p:nvSpPr>
          <p:cNvPr id="13" name="页脚占位符 6">
            <a:extLst>
              <a:ext uri="{FF2B5EF4-FFF2-40B4-BE49-F238E27FC236}">
                <a16:creationId xmlns:a16="http://schemas.microsoft.com/office/drawing/2014/main" id="{65E6B0EB-C8A9-485D-8187-3191572D25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43213" y="6411913"/>
            <a:ext cx="2960687" cy="309562"/>
          </a:xfrm>
        </p:spPr>
        <p:txBody>
          <a:bodyPr/>
          <a:lstStyle/>
          <a:p>
            <a:pPr>
              <a:defRPr/>
            </a:pPr>
            <a:r>
              <a:rPr lang="zh-CN" altLang="en-US"/>
              <a:t>人工智能与自动化学院测量科学与仪器系</a:t>
            </a:r>
            <a:endParaRPr lang="en-US" altLang="zh-CN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灯片编号占位符 5">
            <a:extLst>
              <a:ext uri="{FF2B5EF4-FFF2-40B4-BE49-F238E27FC236}">
                <a16:creationId xmlns:a16="http://schemas.microsoft.com/office/drawing/2014/main" id="{C64A6BEC-F8A8-4D6D-A765-2F7252298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buFontTx/>
              <a:buChar char="•"/>
            </a:pPr>
            <a:fld id="{FBE10825-0A38-4148-B5F9-82175EED4A50}" type="slidenum">
              <a:rPr lang="en-US" altLang="zh-CN" sz="1200" smtClean="0">
                <a:solidFill>
                  <a:srgbClr val="898989"/>
                </a:solidFill>
                <a:latin typeface="Times New Roman" panose="02020603050405020304" pitchFamily="18" charset="0"/>
                <a:ea typeface="楷体_GB2312" pitchFamily="49" charset="-122"/>
              </a:rPr>
              <a:pPr>
                <a:buFontTx/>
                <a:buChar char="•"/>
              </a:pPr>
              <a:t>13</a:t>
            </a:fld>
            <a:endParaRPr lang="en-US" altLang="zh-CN" sz="1200">
              <a:solidFill>
                <a:srgbClr val="898989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35C08EB-6E27-42BA-B84B-6F42AFFBD285}"/>
              </a:ext>
            </a:extLst>
          </p:cNvPr>
          <p:cNvSpPr/>
          <p:nvPr/>
        </p:nvSpPr>
        <p:spPr>
          <a:xfrm>
            <a:off x="142875" y="1000125"/>
            <a:ext cx="8286750" cy="46038"/>
          </a:xfrm>
          <a:prstGeom prst="rect">
            <a:avLst/>
          </a:prstGeom>
          <a:gradFill flip="none" rotWithShape="1">
            <a:gsLst>
              <a:gs pos="0">
                <a:srgbClr val="5E9EFF"/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85000"/>
              <a:buFontTx/>
              <a:buChar char="•"/>
              <a:defRPr/>
            </a:pPr>
            <a:endParaRPr lang="zh-CN" altLang="en-US"/>
          </a:p>
        </p:txBody>
      </p:sp>
      <p:sp>
        <p:nvSpPr>
          <p:cNvPr id="32772" name="文本框 3">
            <a:extLst>
              <a:ext uri="{FF2B5EF4-FFF2-40B4-BE49-F238E27FC236}">
                <a16:creationId xmlns:a16="http://schemas.microsoft.com/office/drawing/2014/main" id="{57998433-3DAA-4B0B-B445-31BF525444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" y="1246188"/>
            <a:ext cx="4103688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1.1.3 </a:t>
            </a:r>
            <a:r>
              <a:rPr lang="zh-CN" altLang="en-US" sz="2400" b="1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误差的主要来源</a:t>
            </a:r>
          </a:p>
        </p:txBody>
      </p:sp>
      <p:sp>
        <p:nvSpPr>
          <p:cNvPr id="32773" name="Rectangle 3">
            <a:extLst>
              <a:ext uri="{FF2B5EF4-FFF2-40B4-BE49-F238E27FC236}">
                <a16:creationId xmlns:a16="http://schemas.microsoft.com/office/drawing/2014/main" id="{7C669CC0-4CA6-4721-B2C5-CEA1FAA36A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43213" y="180975"/>
            <a:ext cx="5435600" cy="719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</a:pPr>
            <a:r>
              <a:rPr lang="en-US" altLang="zh-CN" sz="2800" b="1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1.1 </a:t>
            </a:r>
            <a:r>
              <a:rPr lang="zh-CN" altLang="en-US" sz="2800" b="1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误差的基本概念</a:t>
            </a:r>
          </a:p>
        </p:txBody>
      </p:sp>
      <p:sp>
        <p:nvSpPr>
          <p:cNvPr id="32774" name="文本框 3">
            <a:extLst>
              <a:ext uri="{FF2B5EF4-FFF2-40B4-BE49-F238E27FC236}">
                <a16:creationId xmlns:a16="http://schemas.microsoft.com/office/drawing/2014/main" id="{2E05323C-E0B9-471E-885C-6174F36B3A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59113" y="1990725"/>
            <a:ext cx="3065462" cy="3476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000" b="1">
                <a:latin typeface="黑体" panose="02010609060101010101" pitchFamily="49" charset="-122"/>
                <a:ea typeface="黑体" panose="02010609060101010101" pitchFamily="49" charset="-122"/>
              </a:rPr>
              <a:t>(1)</a:t>
            </a:r>
            <a:r>
              <a:rPr lang="zh-CN" altLang="en-US" sz="2000" b="1">
                <a:latin typeface="黑体" panose="02010609060101010101" pitchFamily="49" charset="-122"/>
                <a:ea typeface="黑体" panose="02010609060101010101" pitchFamily="49" charset="-122"/>
              </a:rPr>
              <a:t>测量装置误差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zh-CN" altLang="en-US" sz="2000" b="1">
                <a:latin typeface="黑体" panose="02010609060101010101" pitchFamily="49" charset="-122"/>
                <a:ea typeface="黑体" panose="02010609060101010101" pitchFamily="49" charset="-122"/>
              </a:rPr>
              <a:t>     ①标准量具误差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zh-CN" altLang="en-US" sz="2000" b="1">
                <a:latin typeface="黑体" panose="02010609060101010101" pitchFamily="49" charset="-122"/>
                <a:ea typeface="黑体" panose="02010609060101010101" pitchFamily="49" charset="-122"/>
              </a:rPr>
              <a:t>     ②仪器误差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zh-CN" altLang="en-US" sz="2000" b="1">
                <a:latin typeface="黑体" panose="02010609060101010101" pitchFamily="49" charset="-122"/>
                <a:ea typeface="黑体" panose="02010609060101010101" pitchFamily="49" charset="-122"/>
              </a:rPr>
              <a:t>     ③附件误差</a:t>
            </a: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Tx/>
              <a:buNone/>
            </a:pPr>
            <a:r>
              <a:rPr lang="en-US" altLang="zh-CN" sz="2000" b="1">
                <a:latin typeface="黑体" panose="02010609060101010101" pitchFamily="49" charset="-122"/>
                <a:ea typeface="黑体" panose="02010609060101010101" pitchFamily="49" charset="-122"/>
              </a:rPr>
              <a:t>(2)</a:t>
            </a:r>
            <a:r>
              <a:rPr lang="zh-CN" altLang="en-US" sz="2000" b="1">
                <a:latin typeface="黑体" panose="02010609060101010101" pitchFamily="49" charset="-122"/>
                <a:ea typeface="黑体" panose="02010609060101010101" pitchFamily="49" charset="-122"/>
              </a:rPr>
              <a:t>测量环境误差</a:t>
            </a: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Tx/>
              <a:buNone/>
            </a:pPr>
            <a:r>
              <a:rPr lang="en-US" altLang="zh-CN" sz="2000" b="1">
                <a:latin typeface="黑体" panose="02010609060101010101" pitchFamily="49" charset="-122"/>
                <a:ea typeface="黑体" panose="02010609060101010101" pitchFamily="49" charset="-122"/>
              </a:rPr>
              <a:t>(3)</a:t>
            </a:r>
            <a:r>
              <a:rPr lang="zh-CN" altLang="en-US" sz="2000" b="1">
                <a:latin typeface="黑体" panose="02010609060101010101" pitchFamily="49" charset="-122"/>
                <a:ea typeface="黑体" panose="02010609060101010101" pitchFamily="49" charset="-122"/>
              </a:rPr>
              <a:t>测量方法误差</a:t>
            </a: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Tx/>
              <a:buNone/>
            </a:pPr>
            <a:r>
              <a:rPr lang="en-US" altLang="zh-CN" sz="2000" b="1">
                <a:latin typeface="黑体" panose="02010609060101010101" pitchFamily="49" charset="-122"/>
                <a:ea typeface="黑体" panose="02010609060101010101" pitchFamily="49" charset="-122"/>
              </a:rPr>
              <a:t>(4)</a:t>
            </a:r>
            <a:r>
              <a:rPr lang="zh-CN" altLang="en-US" sz="2000" b="1">
                <a:latin typeface="黑体" panose="02010609060101010101" pitchFamily="49" charset="-122"/>
                <a:ea typeface="黑体" panose="02010609060101010101" pitchFamily="49" charset="-122"/>
              </a:rPr>
              <a:t>测量人员误差</a:t>
            </a:r>
          </a:p>
          <a:p>
            <a:pPr>
              <a:spcBef>
                <a:spcPct val="0"/>
              </a:spcBef>
              <a:buFontTx/>
              <a:buNone/>
            </a:pPr>
            <a:endParaRPr lang="zh-CN" altLang="en-US" sz="20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页脚占位符 6">
            <a:extLst>
              <a:ext uri="{FF2B5EF4-FFF2-40B4-BE49-F238E27FC236}">
                <a16:creationId xmlns:a16="http://schemas.microsoft.com/office/drawing/2014/main" id="{B8A97F0C-1551-43E2-8CDA-C26A523768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43213" y="6411913"/>
            <a:ext cx="2960687" cy="309562"/>
          </a:xfrm>
        </p:spPr>
        <p:txBody>
          <a:bodyPr/>
          <a:lstStyle/>
          <a:p>
            <a:pPr>
              <a:defRPr/>
            </a:pPr>
            <a:r>
              <a:rPr lang="zh-CN" altLang="en-US"/>
              <a:t>人工智能与自动化学院测量科学与仪器系</a:t>
            </a:r>
            <a:endParaRPr lang="en-US" altLang="zh-CN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3">
            <a:extLst>
              <a:ext uri="{FF2B5EF4-FFF2-40B4-BE49-F238E27FC236}">
                <a16:creationId xmlns:a16="http://schemas.microsoft.com/office/drawing/2014/main" id="{985FF981-F7CF-45D5-ACA6-EDA049728F4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58775" y="152400"/>
            <a:ext cx="3421063" cy="647700"/>
          </a:xfrm>
        </p:spPr>
        <p:txBody>
          <a:bodyPr/>
          <a:lstStyle/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</a:pPr>
            <a:r>
              <a:rPr lang="en-US" altLang="zh-CN" sz="28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1.2 </a:t>
            </a:r>
            <a:r>
              <a:rPr lang="zh-CN" altLang="en-US" sz="28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随机误差</a:t>
            </a:r>
          </a:p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</a:pPr>
            <a:endParaRPr lang="zh-CN" altLang="en-US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4819" name="灯片编号占位符 5">
            <a:extLst>
              <a:ext uri="{FF2B5EF4-FFF2-40B4-BE49-F238E27FC236}">
                <a16:creationId xmlns:a16="http://schemas.microsoft.com/office/drawing/2014/main" id="{E5DCA9D3-8094-49CC-8D32-4DAF5F917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buFontTx/>
              <a:buChar char="•"/>
            </a:pPr>
            <a:fld id="{53C277C6-1B5D-4502-BD72-69BDE6C7DD9F}" type="slidenum">
              <a:rPr lang="en-US" altLang="zh-CN" sz="1200" smtClean="0">
                <a:solidFill>
                  <a:srgbClr val="898989"/>
                </a:solidFill>
                <a:latin typeface="Times New Roman" panose="02020603050405020304" pitchFamily="18" charset="0"/>
                <a:ea typeface="楷体_GB2312" pitchFamily="49" charset="-122"/>
              </a:rPr>
              <a:pPr>
                <a:buFontTx/>
                <a:buChar char="•"/>
              </a:pPr>
              <a:t>14</a:t>
            </a:fld>
            <a:endParaRPr lang="en-US" altLang="zh-CN" sz="1200">
              <a:solidFill>
                <a:srgbClr val="898989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F65081A-824D-4723-832A-EB987FD9985D}"/>
              </a:ext>
            </a:extLst>
          </p:cNvPr>
          <p:cNvSpPr/>
          <p:nvPr/>
        </p:nvSpPr>
        <p:spPr>
          <a:xfrm>
            <a:off x="142875" y="1000125"/>
            <a:ext cx="8286750" cy="46038"/>
          </a:xfrm>
          <a:prstGeom prst="rect">
            <a:avLst/>
          </a:prstGeom>
          <a:gradFill flip="none" rotWithShape="1">
            <a:gsLst>
              <a:gs pos="0">
                <a:srgbClr val="5E9EFF"/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85000"/>
              <a:buFontTx/>
              <a:buChar char="•"/>
              <a:defRPr/>
            </a:pPr>
            <a:endParaRPr lang="zh-CN" altLang="en-US"/>
          </a:p>
        </p:txBody>
      </p:sp>
      <p:sp>
        <p:nvSpPr>
          <p:cNvPr id="22533" name="Rectangle 3">
            <a:extLst>
              <a:ext uri="{FF2B5EF4-FFF2-40B4-BE49-F238E27FC236}">
                <a16:creationId xmlns:a16="http://schemas.microsoft.com/office/drawing/2014/main" id="{C551CF6D-AD2B-444E-9A07-04D7C278D2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1313" y="1154113"/>
            <a:ext cx="5435600" cy="719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</a:pPr>
            <a:r>
              <a:rPr lang="en-US" altLang="zh-CN" sz="2400" b="1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1.2.1 </a:t>
            </a:r>
            <a:r>
              <a:rPr lang="zh-CN" altLang="en-US" sz="2400" b="1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随机误差的概率分布</a:t>
            </a:r>
          </a:p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</a:pPr>
            <a:endParaRPr lang="zh-CN" altLang="en-US" sz="2400" b="1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22535" name="Object 6">
            <a:extLst>
              <a:ext uri="{FF2B5EF4-FFF2-40B4-BE49-F238E27FC236}">
                <a16:creationId xmlns:a16="http://schemas.microsoft.com/office/drawing/2014/main" id="{56236DA4-D1F4-4DA8-A1E5-6DE498A44B7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32238" y="1628775"/>
          <a:ext cx="2016125" cy="788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00" name="公式" r:id="rId3" imgW="1244600" imgH="482600" progId="Equation.3">
                  <p:embed/>
                </p:oleObj>
              </mc:Choice>
              <mc:Fallback>
                <p:oleObj name="公式" r:id="rId3" imgW="1244600" imgH="4826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32238" y="1628775"/>
                        <a:ext cx="2016125" cy="788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6" name="文本框 3">
            <a:extLst>
              <a:ext uri="{FF2B5EF4-FFF2-40B4-BE49-F238E27FC236}">
                <a16:creationId xmlns:a16="http://schemas.microsoft.com/office/drawing/2014/main" id="{4A678B43-2FA1-4CE5-BD33-F5701AA2E6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17788" y="1892300"/>
            <a:ext cx="19812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000" b="1">
                <a:latin typeface="黑体" panose="02010609060101010101" pitchFamily="49" charset="-122"/>
                <a:ea typeface="黑体" panose="02010609060101010101" pitchFamily="49" charset="-122"/>
              </a:rPr>
              <a:t>正态分布：</a:t>
            </a:r>
          </a:p>
        </p:txBody>
      </p:sp>
      <p:pic>
        <p:nvPicPr>
          <p:cNvPr id="22538" name="图片 2">
            <a:extLst>
              <a:ext uri="{FF2B5EF4-FFF2-40B4-BE49-F238E27FC236}">
                <a16:creationId xmlns:a16="http://schemas.microsoft.com/office/drawing/2014/main" id="{8E821846-109B-41F2-AE3C-015213E5C4C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5213" y="2613025"/>
            <a:ext cx="4217987" cy="2725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D1DDDF2B-1958-460F-93DF-8EC454D50D0C}"/>
              </a:ext>
            </a:extLst>
          </p:cNvPr>
          <p:cNvCxnSpPr/>
          <p:nvPr/>
        </p:nvCxnSpPr>
        <p:spPr bwMode="auto">
          <a:xfrm flipV="1">
            <a:off x="2076450" y="4484688"/>
            <a:ext cx="4951413" cy="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72303F2C-2968-41CB-A0A4-41E4AB3C0F7B}"/>
              </a:ext>
            </a:extLst>
          </p:cNvPr>
          <p:cNvCxnSpPr/>
          <p:nvPr/>
        </p:nvCxnSpPr>
        <p:spPr bwMode="auto">
          <a:xfrm flipH="1" flipV="1">
            <a:off x="4498975" y="2181225"/>
            <a:ext cx="7938" cy="431800"/>
          </a:xfrm>
          <a:prstGeom prst="straightConnector1">
            <a:avLst/>
          </a:prstGeom>
          <a:ln>
            <a:prstDash val="dash"/>
            <a:headEnd type="none" w="med" len="med"/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graphicFrame>
        <p:nvGraphicFramePr>
          <p:cNvPr id="22541" name="对象 15">
            <a:extLst>
              <a:ext uri="{FF2B5EF4-FFF2-40B4-BE49-F238E27FC236}">
                <a16:creationId xmlns:a16="http://schemas.microsoft.com/office/drawing/2014/main" id="{AB6BB087-4573-487D-B06F-B7AC4162AE3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164388" y="4329113"/>
          <a:ext cx="223837" cy="284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01" name="Equation" r:id="rId6" imgW="139579" imgH="177646" progId="Equation.DSMT4">
                  <p:embed/>
                </p:oleObj>
              </mc:Choice>
              <mc:Fallback>
                <p:oleObj name="Equation" r:id="rId6" imgW="139579" imgH="177646" progId="Equation.DSMT4">
                  <p:embed/>
                  <p:pic>
                    <p:nvPicPr>
                      <p:cNvPr id="0" name="对象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64388" y="4329113"/>
                        <a:ext cx="223837" cy="284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64FD78EE-08B2-4677-90F8-5105DE99300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70588" y="2019300"/>
          <a:ext cx="66675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02" name="Equation" r:id="rId8" imgW="444307" imgH="203112" progId="Equation.DSMT4">
                  <p:embed/>
                </p:oleObj>
              </mc:Choice>
              <mc:Fallback>
                <p:oleObj name="Equation" r:id="rId8" imgW="444307" imgH="203112" progId="Equation.DSMT4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70588" y="2019300"/>
                        <a:ext cx="66675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页脚占位符 6">
            <a:extLst>
              <a:ext uri="{FF2B5EF4-FFF2-40B4-BE49-F238E27FC236}">
                <a16:creationId xmlns:a16="http://schemas.microsoft.com/office/drawing/2014/main" id="{6F14C872-EF52-4BB2-B372-A152BEC304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43213" y="6411913"/>
            <a:ext cx="2960687" cy="309562"/>
          </a:xfrm>
        </p:spPr>
        <p:txBody>
          <a:bodyPr/>
          <a:lstStyle/>
          <a:p>
            <a:pPr>
              <a:defRPr/>
            </a:pPr>
            <a:r>
              <a:rPr lang="zh-CN" altLang="en-US"/>
              <a:t>人工智能与自动化学院测量科学与仪器系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5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5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25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25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25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25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25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25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25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25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25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25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0" grpId="0" build="p"/>
      <p:bldP spid="6" grpId="0" animBg="1"/>
      <p:bldP spid="22533" grpId="0"/>
      <p:bldP spid="2253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3">
            <a:extLst>
              <a:ext uri="{FF2B5EF4-FFF2-40B4-BE49-F238E27FC236}">
                <a16:creationId xmlns:a16="http://schemas.microsoft.com/office/drawing/2014/main" id="{DB211678-E8D2-4F1B-B647-0C43A39D899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58775" y="152400"/>
            <a:ext cx="3421063" cy="647700"/>
          </a:xfrm>
        </p:spPr>
        <p:txBody>
          <a:bodyPr/>
          <a:lstStyle/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</a:pPr>
            <a:r>
              <a:rPr lang="en-US" altLang="zh-CN" sz="28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1.2 </a:t>
            </a:r>
            <a:r>
              <a:rPr lang="zh-CN" altLang="en-US" sz="28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随机误差</a:t>
            </a:r>
          </a:p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</a:pPr>
            <a:endParaRPr lang="zh-CN" altLang="en-US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5843" name="灯片编号占位符 5">
            <a:extLst>
              <a:ext uri="{FF2B5EF4-FFF2-40B4-BE49-F238E27FC236}">
                <a16:creationId xmlns:a16="http://schemas.microsoft.com/office/drawing/2014/main" id="{D0CCA70D-8E0C-461F-B20C-4F537B398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buFontTx/>
              <a:buChar char="•"/>
            </a:pPr>
            <a:fld id="{7C7BA054-4F21-4611-805F-8D91ED972D6E}" type="slidenum">
              <a:rPr lang="en-US" altLang="zh-CN" sz="1200" smtClean="0">
                <a:solidFill>
                  <a:srgbClr val="898989"/>
                </a:solidFill>
                <a:latin typeface="Times New Roman" panose="02020603050405020304" pitchFamily="18" charset="0"/>
                <a:ea typeface="楷体_GB2312" pitchFamily="49" charset="-122"/>
              </a:rPr>
              <a:pPr>
                <a:buFontTx/>
                <a:buChar char="•"/>
              </a:pPr>
              <a:t>15</a:t>
            </a:fld>
            <a:endParaRPr lang="en-US" altLang="zh-CN" sz="1200">
              <a:solidFill>
                <a:srgbClr val="898989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54B87B2-CB97-4C41-975E-F5F2F8D3EAB5}"/>
              </a:ext>
            </a:extLst>
          </p:cNvPr>
          <p:cNvSpPr/>
          <p:nvPr/>
        </p:nvSpPr>
        <p:spPr>
          <a:xfrm>
            <a:off x="142875" y="1000125"/>
            <a:ext cx="8286750" cy="46038"/>
          </a:xfrm>
          <a:prstGeom prst="rect">
            <a:avLst/>
          </a:prstGeom>
          <a:gradFill flip="none" rotWithShape="1">
            <a:gsLst>
              <a:gs pos="0">
                <a:srgbClr val="5E9EFF"/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85000"/>
              <a:buFontTx/>
              <a:buChar char="•"/>
              <a:defRPr/>
            </a:pPr>
            <a:endParaRPr lang="zh-CN" altLang="en-US"/>
          </a:p>
        </p:txBody>
      </p:sp>
      <p:sp>
        <p:nvSpPr>
          <p:cNvPr id="22533" name="Rectangle 3">
            <a:extLst>
              <a:ext uri="{FF2B5EF4-FFF2-40B4-BE49-F238E27FC236}">
                <a16:creationId xmlns:a16="http://schemas.microsoft.com/office/drawing/2014/main" id="{D5552523-1C73-4C72-9BD8-75B3252045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1313" y="1154113"/>
            <a:ext cx="5435600" cy="719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</a:pPr>
            <a:r>
              <a:rPr lang="en-US" altLang="zh-CN" sz="2400" b="1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1.2.2 </a:t>
            </a:r>
            <a:r>
              <a:rPr lang="zh-CN" altLang="en-US" sz="2400" b="1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随机误差的数值特征</a:t>
            </a:r>
          </a:p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</a:pPr>
            <a:endParaRPr lang="zh-CN" altLang="en-US" sz="2400" b="1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2535" name="文本框 3">
            <a:extLst>
              <a:ext uri="{FF2B5EF4-FFF2-40B4-BE49-F238E27FC236}">
                <a16:creationId xmlns:a16="http://schemas.microsoft.com/office/drawing/2014/main" id="{B36B13D8-7451-4B71-805D-B81F5478A1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1995488"/>
            <a:ext cx="19812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000" b="1">
                <a:latin typeface="黑体" panose="02010609060101010101" pitchFamily="49" charset="-122"/>
                <a:ea typeface="黑体" panose="02010609060101010101" pitchFamily="49" charset="-122"/>
              </a:rPr>
              <a:t>(1)</a:t>
            </a:r>
            <a:r>
              <a:rPr lang="zh-CN" altLang="en-US" sz="2000" b="1">
                <a:latin typeface="黑体" panose="02010609060101010101" pitchFamily="49" charset="-122"/>
                <a:ea typeface="黑体" panose="02010609060101010101" pitchFamily="49" charset="-122"/>
              </a:rPr>
              <a:t>算术平均值</a:t>
            </a:r>
          </a:p>
        </p:txBody>
      </p:sp>
      <p:graphicFrame>
        <p:nvGraphicFramePr>
          <p:cNvPr id="22536" name="Object 9">
            <a:extLst>
              <a:ext uri="{FF2B5EF4-FFF2-40B4-BE49-F238E27FC236}">
                <a16:creationId xmlns:a16="http://schemas.microsoft.com/office/drawing/2014/main" id="{91AD0C66-8650-4296-95F0-21575B83232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16238" y="2635250"/>
          <a:ext cx="3505200" cy="766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51" name="公式" r:id="rId3" imgW="1943100" imgH="431800" progId="Equation.3">
                  <p:embed/>
                </p:oleObj>
              </mc:Choice>
              <mc:Fallback>
                <p:oleObj name="公式" r:id="rId3" imgW="1943100" imgH="4318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6238" y="2635250"/>
                        <a:ext cx="3505200" cy="766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7" name="Text Box 11">
            <a:extLst>
              <a:ext uri="{FF2B5EF4-FFF2-40B4-BE49-F238E27FC236}">
                <a16:creationId xmlns:a16="http://schemas.microsoft.com/office/drawing/2014/main" id="{D311A9EF-5FB8-4AEB-AAC4-2F0237BB04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3981450"/>
            <a:ext cx="1347788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000" b="1">
                <a:latin typeface="黑体" panose="02010609060101010101" pitchFamily="49" charset="-122"/>
                <a:ea typeface="黑体" panose="02010609060101010101" pitchFamily="49" charset="-122"/>
              </a:rPr>
              <a:t>(2)</a:t>
            </a:r>
            <a:r>
              <a:rPr lang="zh-CN" altLang="en-US" sz="2000" b="1">
                <a:latin typeface="黑体" panose="02010609060101010101" pitchFamily="49" charset="-122"/>
                <a:ea typeface="黑体" panose="02010609060101010101" pitchFamily="49" charset="-122"/>
              </a:rPr>
              <a:t>标准差</a:t>
            </a:r>
          </a:p>
        </p:txBody>
      </p:sp>
      <p:graphicFrame>
        <p:nvGraphicFramePr>
          <p:cNvPr id="22538" name="Object 12">
            <a:extLst>
              <a:ext uri="{FF2B5EF4-FFF2-40B4-BE49-F238E27FC236}">
                <a16:creationId xmlns:a16="http://schemas.microsoft.com/office/drawing/2014/main" id="{D8A7DEFC-A537-40ED-A3A3-1E8C58FB71D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63938" y="4181475"/>
          <a:ext cx="1219200" cy="744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52" name="公式" r:id="rId5" imgW="799753" imgH="482391" progId="Equation.3">
                  <p:embed/>
                </p:oleObj>
              </mc:Choice>
              <mc:Fallback>
                <p:oleObj name="公式" r:id="rId5" imgW="799753" imgH="482391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3938" y="4181475"/>
                        <a:ext cx="1219200" cy="744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9" name="Object 14">
            <a:extLst>
              <a:ext uri="{FF2B5EF4-FFF2-40B4-BE49-F238E27FC236}">
                <a16:creationId xmlns:a16="http://schemas.microsoft.com/office/drawing/2014/main" id="{7239146E-DC34-48D0-BDA1-0B1EAC154EF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63938" y="5172075"/>
          <a:ext cx="1066800" cy="733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53" name="公式" r:id="rId7" imgW="609600" imgH="419100" progId="Equation.3">
                  <p:embed/>
                </p:oleObj>
              </mc:Choice>
              <mc:Fallback>
                <p:oleObj name="公式" r:id="rId7" imgW="609600" imgH="41910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3938" y="5172075"/>
                        <a:ext cx="1066800" cy="733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40" name="Text Box 11">
            <a:extLst>
              <a:ext uri="{FF2B5EF4-FFF2-40B4-BE49-F238E27FC236}">
                <a16:creationId xmlns:a16="http://schemas.microsoft.com/office/drawing/2014/main" id="{151FC5C4-7CA9-41A0-B8CE-4CA9874399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3800" y="5372100"/>
            <a:ext cx="3903663" cy="830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600">
                <a:latin typeface="黑体" panose="02010609060101010101" pitchFamily="49" charset="-122"/>
                <a:ea typeface="黑体" panose="02010609060101010101" pitchFamily="49" charset="-122"/>
              </a:rPr>
              <a:t>当</a:t>
            </a:r>
            <a:r>
              <a:rPr lang="el-GR" altLang="zh-CN" sz="1600">
                <a:latin typeface="黑体" panose="02010609060101010101" pitchFamily="49" charset="-122"/>
                <a:ea typeface="黑体" panose="02010609060101010101" pitchFamily="49" charset="-122"/>
              </a:rPr>
              <a:t>σ</a:t>
            </a:r>
            <a:r>
              <a:rPr lang="zh-CN" altLang="en-US" sz="1600">
                <a:latin typeface="黑体" panose="02010609060101010101" pitchFamily="49" charset="-122"/>
                <a:ea typeface="黑体" panose="02010609060101010101" pitchFamily="49" charset="-122"/>
              </a:rPr>
              <a:t>一定时，通常取</a:t>
            </a:r>
            <a:r>
              <a:rPr lang="en-US" altLang="zh-CN" sz="1600">
                <a:latin typeface="黑体" panose="02010609060101010101" pitchFamily="49" charset="-122"/>
                <a:ea typeface="黑体" panose="02010609060101010101" pitchFamily="49" charset="-122"/>
              </a:rPr>
              <a:t>n&lt;10</a:t>
            </a:r>
            <a:r>
              <a:rPr lang="zh-CN" altLang="en-US" sz="1600">
                <a:latin typeface="黑体" panose="02010609060101010101" pitchFamily="49" charset="-122"/>
                <a:ea typeface="黑体" panose="02010609060101010101" pitchFamily="49" charset="-122"/>
              </a:rPr>
              <a:t>较为适宜。因为增加测量次数难以保证测量条件的恒定，很难显著提高测量结果的准确性。</a:t>
            </a:r>
          </a:p>
        </p:txBody>
      </p:sp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C4D4812E-B0CB-450B-BC0E-B80658A2BA3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68913" y="4406900"/>
          <a:ext cx="1152525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54" name="Equation" r:id="rId9" imgW="660400" imgH="228600" progId="Equation.DSMT4">
                  <p:embed/>
                </p:oleObj>
              </mc:Choice>
              <mc:Fallback>
                <p:oleObj name="Equation" r:id="rId9" imgW="660400" imgH="228600" progId="Equation.DSMT4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68913" y="4406900"/>
                        <a:ext cx="1152525" cy="400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页脚占位符 6">
            <a:extLst>
              <a:ext uri="{FF2B5EF4-FFF2-40B4-BE49-F238E27FC236}">
                <a16:creationId xmlns:a16="http://schemas.microsoft.com/office/drawing/2014/main" id="{086B0874-1B23-440B-86DE-3111F03194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43213" y="6411913"/>
            <a:ext cx="2960687" cy="309562"/>
          </a:xfrm>
        </p:spPr>
        <p:txBody>
          <a:bodyPr/>
          <a:lstStyle/>
          <a:p>
            <a:pPr>
              <a:defRPr/>
            </a:pPr>
            <a:r>
              <a:rPr lang="zh-CN" altLang="en-US"/>
              <a:t>人工智能与自动化学院测量科学与仪器系</a:t>
            </a:r>
            <a:endParaRPr lang="en-US" altLang="zh-CN"/>
          </a:p>
        </p:txBody>
      </p:sp>
      <p:sp>
        <p:nvSpPr>
          <p:cNvPr id="15" name="Text Box 11">
            <a:extLst>
              <a:ext uri="{FF2B5EF4-FFF2-40B4-BE49-F238E27FC236}">
                <a16:creationId xmlns:a16="http://schemas.microsoft.com/office/drawing/2014/main" id="{325D4A80-EDBD-4165-B6D6-65314FF5D8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5303838"/>
            <a:ext cx="2122488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(3)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平均值标准差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5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5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25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25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25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25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25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25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25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25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25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25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25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25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25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25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0" grpId="0" build="p"/>
      <p:bldP spid="6" grpId="0" animBg="1"/>
      <p:bldP spid="22533" grpId="0"/>
      <p:bldP spid="22535" grpId="0"/>
      <p:bldP spid="22537" grpId="0"/>
      <p:bldP spid="22540" grpId="0"/>
      <p:bldP spid="1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3">
            <a:extLst>
              <a:ext uri="{FF2B5EF4-FFF2-40B4-BE49-F238E27FC236}">
                <a16:creationId xmlns:a16="http://schemas.microsoft.com/office/drawing/2014/main" id="{4F1CD12B-C355-4DB2-A7A8-23047CD8253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58775" y="152400"/>
            <a:ext cx="3421063" cy="647700"/>
          </a:xfrm>
        </p:spPr>
        <p:txBody>
          <a:bodyPr/>
          <a:lstStyle/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</a:pPr>
            <a:r>
              <a:rPr lang="en-US" altLang="zh-CN" sz="28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1.2 </a:t>
            </a:r>
            <a:r>
              <a:rPr lang="zh-CN" altLang="en-US" sz="28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随机误差</a:t>
            </a:r>
          </a:p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</a:pPr>
            <a:endParaRPr lang="zh-CN" altLang="en-US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6867" name="灯片编号占位符 5">
            <a:extLst>
              <a:ext uri="{FF2B5EF4-FFF2-40B4-BE49-F238E27FC236}">
                <a16:creationId xmlns:a16="http://schemas.microsoft.com/office/drawing/2014/main" id="{92B69F5B-4CC9-4612-87EC-AA2A25341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buFontTx/>
              <a:buChar char="•"/>
            </a:pPr>
            <a:fld id="{297734F4-8B18-485D-A6AA-6C9E0CF424B4}" type="slidenum">
              <a:rPr lang="en-US" altLang="zh-CN" sz="1200" smtClean="0">
                <a:solidFill>
                  <a:srgbClr val="898989"/>
                </a:solidFill>
                <a:latin typeface="Times New Roman" panose="02020603050405020304" pitchFamily="18" charset="0"/>
                <a:ea typeface="楷体_GB2312" pitchFamily="49" charset="-122"/>
              </a:rPr>
              <a:pPr>
                <a:buFontTx/>
                <a:buChar char="•"/>
              </a:pPr>
              <a:t>16</a:t>
            </a:fld>
            <a:endParaRPr lang="en-US" altLang="zh-CN" sz="1200">
              <a:solidFill>
                <a:srgbClr val="898989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9A3D780-5601-4E6B-BF4B-3474E807B428}"/>
              </a:ext>
            </a:extLst>
          </p:cNvPr>
          <p:cNvSpPr/>
          <p:nvPr/>
        </p:nvSpPr>
        <p:spPr>
          <a:xfrm>
            <a:off x="142875" y="1000125"/>
            <a:ext cx="8286750" cy="46038"/>
          </a:xfrm>
          <a:prstGeom prst="rect">
            <a:avLst/>
          </a:prstGeom>
          <a:gradFill flip="none" rotWithShape="1">
            <a:gsLst>
              <a:gs pos="0">
                <a:srgbClr val="5E9EFF"/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85000"/>
              <a:buFontTx/>
              <a:buChar char="•"/>
              <a:defRPr/>
            </a:pPr>
            <a:endParaRPr lang="zh-CN" altLang="en-US"/>
          </a:p>
        </p:txBody>
      </p:sp>
      <p:sp>
        <p:nvSpPr>
          <p:cNvPr id="24581" name="Rectangle 3">
            <a:extLst>
              <a:ext uri="{FF2B5EF4-FFF2-40B4-BE49-F238E27FC236}">
                <a16:creationId xmlns:a16="http://schemas.microsoft.com/office/drawing/2014/main" id="{D908E6DD-3BF2-4467-834F-B086A5080A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1313" y="1154113"/>
            <a:ext cx="5435600" cy="719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</a:pPr>
            <a:r>
              <a:rPr lang="en-US" altLang="zh-CN" sz="2400" b="1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1.2.3 </a:t>
            </a:r>
            <a:r>
              <a:rPr lang="zh-CN" altLang="en-US" sz="2400" b="1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极限误差</a:t>
            </a:r>
          </a:p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</a:pPr>
            <a:endParaRPr lang="zh-CN" altLang="en-US" sz="2400" b="1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4583" name="Text Box 11">
            <a:extLst>
              <a:ext uri="{FF2B5EF4-FFF2-40B4-BE49-F238E27FC236}">
                <a16:creationId xmlns:a16="http://schemas.microsoft.com/office/drawing/2014/main" id="{EC5DB4E3-235C-4811-A074-EEAB10C905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78375" y="4011613"/>
            <a:ext cx="4386263" cy="893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1800" b="1">
                <a:latin typeface="黑体" panose="02010609060101010101" pitchFamily="49" charset="-122"/>
                <a:ea typeface="黑体" panose="02010609060101010101" pitchFamily="49" charset="-122"/>
              </a:rPr>
              <a:t>P:</a:t>
            </a:r>
            <a:r>
              <a:rPr lang="zh-CN" altLang="en-US" sz="1800" b="1">
                <a:latin typeface="黑体" panose="02010609060101010101" pitchFamily="49" charset="-122"/>
                <a:ea typeface="黑体" panose="02010609060101010101" pitchFamily="49" charset="-122"/>
              </a:rPr>
              <a:t>置信概率</a:t>
            </a:r>
            <a:r>
              <a:rPr lang="en-US" altLang="zh-CN" sz="1800" b="1">
                <a:latin typeface="黑体" panose="02010609060101010101" pitchFamily="49" charset="-122"/>
                <a:ea typeface="黑体" panose="02010609060101010101" pitchFamily="49" charset="-122"/>
              </a:rPr>
              <a:t>(confidence probability)</a:t>
            </a:r>
          </a:p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1800" b="1">
                <a:latin typeface="黑体" panose="02010609060101010101" pitchFamily="49" charset="-122"/>
                <a:ea typeface="黑体" panose="02010609060101010101" pitchFamily="49" charset="-122"/>
              </a:rPr>
              <a:t>t:</a:t>
            </a:r>
            <a:r>
              <a:rPr lang="zh-CN" altLang="en-US" sz="1800" b="1">
                <a:latin typeface="黑体" panose="02010609060101010101" pitchFamily="49" charset="-122"/>
                <a:ea typeface="黑体" panose="02010609060101010101" pitchFamily="49" charset="-122"/>
              </a:rPr>
              <a:t>置信系数</a:t>
            </a:r>
            <a:r>
              <a:rPr lang="en-US" altLang="zh-CN" sz="1800" b="1">
                <a:latin typeface="黑体" panose="02010609060101010101" pitchFamily="49" charset="-122"/>
                <a:ea typeface="黑体" panose="02010609060101010101" pitchFamily="49" charset="-122"/>
              </a:rPr>
              <a:t>(confidence factor)</a:t>
            </a:r>
          </a:p>
          <a:p>
            <a:pPr>
              <a:spcBef>
                <a:spcPct val="0"/>
              </a:spcBef>
              <a:buFontTx/>
              <a:buNone/>
            </a:pPr>
            <a:endParaRPr lang="zh-CN" altLang="en-US" sz="16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24584" name="Picture 14" descr="0203">
            <a:extLst>
              <a:ext uri="{FF2B5EF4-FFF2-40B4-BE49-F238E27FC236}">
                <a16:creationId xmlns:a16="http://schemas.microsoft.com/office/drawing/2014/main" id="{658F5B99-2BD0-4102-93EF-10815A95C2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4825" y="1062038"/>
            <a:ext cx="3581400" cy="2439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4585" name="Object 15">
            <a:extLst>
              <a:ext uri="{FF2B5EF4-FFF2-40B4-BE49-F238E27FC236}">
                <a16:creationId xmlns:a16="http://schemas.microsoft.com/office/drawing/2014/main" id="{BE04C02A-A161-48F2-9BCE-61D0997B6FD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43225" y="3887788"/>
          <a:ext cx="1295400" cy="385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71" name="公式" r:id="rId4" imgW="748975" imgH="215806" progId="Equation.3">
                  <p:embed/>
                </p:oleObj>
              </mc:Choice>
              <mc:Fallback>
                <p:oleObj name="公式" r:id="rId4" imgW="748975" imgH="215806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43225" y="3887788"/>
                        <a:ext cx="1295400" cy="385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6" name="Object 17">
            <a:extLst>
              <a:ext uri="{FF2B5EF4-FFF2-40B4-BE49-F238E27FC236}">
                <a16:creationId xmlns:a16="http://schemas.microsoft.com/office/drawing/2014/main" id="{7405472C-A6B9-4229-A194-6CEC6D3C0C1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65450" y="4438650"/>
          <a:ext cx="1371600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72" name="公式" r:id="rId6" imgW="850900" imgH="228600" progId="Equation.3">
                  <p:embed/>
                </p:oleObj>
              </mc:Choice>
              <mc:Fallback>
                <p:oleObj name="公式" r:id="rId6" imgW="850900" imgH="22860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65450" y="4438650"/>
                        <a:ext cx="1371600" cy="374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7" name="Object 6">
            <a:extLst>
              <a:ext uri="{FF2B5EF4-FFF2-40B4-BE49-F238E27FC236}">
                <a16:creationId xmlns:a16="http://schemas.microsoft.com/office/drawing/2014/main" id="{0DE9BF86-78BE-4A74-AE64-0E799AFD827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35163" y="2228850"/>
          <a:ext cx="2016125" cy="790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73" name="公式" r:id="rId8" imgW="1244600" imgH="482600" progId="Equation.3">
                  <p:embed/>
                </p:oleObj>
              </mc:Choice>
              <mc:Fallback>
                <p:oleObj name="公式" r:id="rId8" imgW="1244600" imgH="4826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35163" y="2228850"/>
                        <a:ext cx="2016125" cy="790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 Box 11">
            <a:extLst>
              <a:ext uri="{FF2B5EF4-FFF2-40B4-BE49-F238E27FC236}">
                <a16:creationId xmlns:a16="http://schemas.microsoft.com/office/drawing/2014/main" id="{F83D03D9-3EBB-42CF-BE81-D7E83BBA86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25613" y="3889375"/>
            <a:ext cx="1536700" cy="923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1800" b="1">
                <a:latin typeface="黑体" panose="02010609060101010101" pitchFamily="49" charset="-122"/>
                <a:ea typeface="黑体" panose="02010609060101010101" pitchFamily="49" charset="-122"/>
              </a:rPr>
              <a:t>正态分布：</a:t>
            </a:r>
            <a:endParaRPr lang="en-US" altLang="zh-CN" sz="1800" b="1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endParaRPr lang="en-US" altLang="zh-CN" sz="1800" b="1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1800" b="1">
                <a:latin typeface="黑体" panose="02010609060101010101" pitchFamily="49" charset="-122"/>
                <a:ea typeface="黑体" panose="02010609060101010101" pitchFamily="49" charset="-122"/>
              </a:rPr>
              <a:t>   t</a:t>
            </a:r>
            <a:r>
              <a:rPr lang="zh-CN" altLang="en-US" sz="1800" b="1">
                <a:latin typeface="黑体" panose="02010609060101010101" pitchFamily="49" charset="-122"/>
                <a:ea typeface="黑体" panose="02010609060101010101" pitchFamily="49" charset="-122"/>
              </a:rPr>
              <a:t>分布：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286BFB7E-AA62-469D-B7A4-5E187D43988D}"/>
              </a:ext>
            </a:extLst>
          </p:cNvPr>
          <p:cNvGrpSpPr/>
          <p:nvPr/>
        </p:nvGrpSpPr>
        <p:grpSpPr>
          <a:xfrm>
            <a:off x="1719263" y="5211763"/>
            <a:ext cx="5686425" cy="800100"/>
            <a:chOff x="1719263" y="5211763"/>
            <a:chExt cx="5686425" cy="800100"/>
          </a:xfrm>
        </p:grpSpPr>
        <p:sp>
          <p:nvSpPr>
            <p:cNvPr id="14" name="Text Box 11">
              <a:extLst>
                <a:ext uri="{FF2B5EF4-FFF2-40B4-BE49-F238E27FC236}">
                  <a16:creationId xmlns:a16="http://schemas.microsoft.com/office/drawing/2014/main" id="{34072320-94D3-4D55-83CF-5B31827DF0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51013" y="5211763"/>
              <a:ext cx="5654675" cy="8001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9pPr>
            </a:lstStyle>
            <a:p>
              <a:pPr>
                <a:spcBef>
                  <a:spcPts val="1200"/>
                </a:spcBef>
                <a:buFont typeface="Arial" panose="020B0604020202020204" pitchFamily="34" charset="0"/>
                <a:buNone/>
              </a:pPr>
              <a:r>
                <a:rPr lang="en-US" altLang="zh-CN" sz="1800" b="1">
                  <a:latin typeface="黑体" panose="02010609060101010101" pitchFamily="49" charset="-122"/>
                  <a:ea typeface="黑体" panose="02010609060101010101" pitchFamily="49" charset="-122"/>
                </a:rPr>
                <a:t>ta: </a:t>
              </a:r>
              <a:r>
                <a:rPr lang="zh-CN" altLang="en-US" sz="1800" b="1">
                  <a:latin typeface="黑体" panose="02010609060101010101" pitchFamily="49" charset="-122"/>
                  <a:ea typeface="黑体" panose="02010609060101010101" pitchFamily="49" charset="-122"/>
                </a:rPr>
                <a:t>置信系数</a:t>
              </a:r>
              <a:r>
                <a:rPr lang="en-US" altLang="zh-CN" sz="1800" b="1">
                  <a:latin typeface="黑体" panose="02010609060101010101" pitchFamily="49" charset="-122"/>
                  <a:ea typeface="黑体" panose="02010609060101010101" pitchFamily="49" charset="-122"/>
                </a:rPr>
                <a:t>,</a:t>
              </a:r>
              <a:r>
                <a:rPr lang="zh-CN" altLang="en-US" sz="1800" b="1">
                  <a:latin typeface="黑体" panose="02010609060101010101" pitchFamily="49" charset="-122"/>
                  <a:ea typeface="黑体" panose="02010609060101010101" pitchFamily="49" charset="-122"/>
                </a:rPr>
                <a:t>由给定的置信概率和自由度来确定；</a:t>
              </a:r>
              <a:endParaRPr lang="en-US" altLang="zh-CN" sz="1800" b="1"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>
                <a:spcBef>
                  <a:spcPts val="1200"/>
                </a:spcBef>
                <a:buFont typeface="Arial" panose="020B0604020202020204" pitchFamily="34" charset="0"/>
                <a:buNone/>
              </a:pPr>
              <a:r>
                <a:rPr lang="en-US" altLang="zh-CN" sz="1800" b="1">
                  <a:latin typeface="黑体" panose="02010609060101010101" pitchFamily="49" charset="-122"/>
                  <a:ea typeface="黑体" panose="02010609060101010101" pitchFamily="49" charset="-122"/>
                </a:rPr>
                <a:t>  : </a:t>
              </a:r>
              <a:r>
                <a:rPr lang="zh-CN" altLang="en-US" sz="1800" b="1">
                  <a:latin typeface="黑体" panose="02010609060101010101" pitchFamily="49" charset="-122"/>
                  <a:ea typeface="黑体" panose="02010609060101010101" pitchFamily="49" charset="-122"/>
                </a:rPr>
                <a:t>算术平均值的标准差</a:t>
              </a:r>
              <a:endParaRPr lang="zh-CN" altLang="en-US" sz="1600" b="1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aphicFrame>
          <p:nvGraphicFramePr>
            <p:cNvPr id="36877" name="对象 1">
              <a:extLst>
                <a:ext uri="{FF2B5EF4-FFF2-40B4-BE49-F238E27FC236}">
                  <a16:creationId xmlns:a16="http://schemas.microsoft.com/office/drawing/2014/main" id="{D978BCF9-AE29-4E7D-BFEA-B58CCCD48F2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73937282"/>
                </p:ext>
              </p:extLst>
            </p:nvPr>
          </p:nvGraphicFramePr>
          <p:xfrm>
            <a:off x="1719263" y="5526088"/>
            <a:ext cx="431800" cy="4857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974" name="Equation" r:id="rId10" imgW="203112" imgH="228501" progId="Equation.DSMT4">
                    <p:embed/>
                  </p:oleObj>
                </mc:Choice>
                <mc:Fallback>
                  <p:oleObj name="Equation" r:id="rId10" imgW="203112" imgH="228501" progId="Equation.DSMT4">
                    <p:embed/>
                    <p:pic>
                      <p:nvPicPr>
                        <p:cNvPr id="0" name="对象 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19263" y="5526088"/>
                          <a:ext cx="431800" cy="4857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5" name="页脚占位符 6">
            <a:extLst>
              <a:ext uri="{FF2B5EF4-FFF2-40B4-BE49-F238E27FC236}">
                <a16:creationId xmlns:a16="http://schemas.microsoft.com/office/drawing/2014/main" id="{7BEF02A3-193A-49C4-9B98-22D653D8B3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43213" y="6411913"/>
            <a:ext cx="2960687" cy="309562"/>
          </a:xfrm>
        </p:spPr>
        <p:txBody>
          <a:bodyPr/>
          <a:lstStyle/>
          <a:p>
            <a:pPr>
              <a:defRPr/>
            </a:pPr>
            <a:r>
              <a:rPr lang="zh-CN" altLang="en-US"/>
              <a:t>人工智能与自动化学院测量科学与仪器系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5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5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45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45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45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45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45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45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45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45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45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45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45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45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78" grpId="0" build="p"/>
      <p:bldP spid="6" grpId="0" animBg="1"/>
      <p:bldP spid="24581" grpId="0"/>
      <p:bldP spid="24583" grpId="0"/>
      <p:bldP spid="1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3">
            <a:extLst>
              <a:ext uri="{FF2B5EF4-FFF2-40B4-BE49-F238E27FC236}">
                <a16:creationId xmlns:a16="http://schemas.microsoft.com/office/drawing/2014/main" id="{A2E898F0-E523-4F97-9CC0-9269DB2EEC7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58775" y="152400"/>
            <a:ext cx="3421063" cy="647700"/>
          </a:xfrm>
        </p:spPr>
        <p:txBody>
          <a:bodyPr/>
          <a:lstStyle/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</a:pPr>
            <a:r>
              <a:rPr lang="en-US" altLang="zh-CN" sz="28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1.2 </a:t>
            </a:r>
            <a:r>
              <a:rPr lang="zh-CN" altLang="en-US" sz="28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随机误差</a:t>
            </a:r>
          </a:p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</a:pPr>
            <a:endParaRPr lang="zh-CN" altLang="en-US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7891" name="灯片编号占位符 5">
            <a:extLst>
              <a:ext uri="{FF2B5EF4-FFF2-40B4-BE49-F238E27FC236}">
                <a16:creationId xmlns:a16="http://schemas.microsoft.com/office/drawing/2014/main" id="{1C884231-C2F2-46B9-B3AF-665E5A3FC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buFontTx/>
              <a:buChar char="•"/>
            </a:pPr>
            <a:fld id="{9776B05B-9F48-41BC-B605-A350C1B35598}" type="slidenum">
              <a:rPr lang="en-US" altLang="zh-CN" sz="1200" smtClean="0">
                <a:solidFill>
                  <a:srgbClr val="898989"/>
                </a:solidFill>
                <a:latin typeface="Times New Roman" panose="02020603050405020304" pitchFamily="18" charset="0"/>
                <a:ea typeface="楷体_GB2312" pitchFamily="49" charset="-122"/>
              </a:rPr>
              <a:pPr>
                <a:buFontTx/>
                <a:buChar char="•"/>
              </a:pPr>
              <a:t>17</a:t>
            </a:fld>
            <a:endParaRPr lang="en-US" altLang="zh-CN" sz="1200">
              <a:solidFill>
                <a:srgbClr val="898989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3635384-157F-479F-8DE4-96D8DDF87972}"/>
              </a:ext>
            </a:extLst>
          </p:cNvPr>
          <p:cNvSpPr/>
          <p:nvPr/>
        </p:nvSpPr>
        <p:spPr>
          <a:xfrm>
            <a:off x="142875" y="1000125"/>
            <a:ext cx="8286750" cy="46038"/>
          </a:xfrm>
          <a:prstGeom prst="rect">
            <a:avLst/>
          </a:prstGeom>
          <a:gradFill flip="none" rotWithShape="1">
            <a:gsLst>
              <a:gs pos="0">
                <a:srgbClr val="5E9EFF"/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85000"/>
              <a:buFontTx/>
              <a:buChar char="•"/>
              <a:defRPr/>
            </a:pPr>
            <a:endParaRPr lang="zh-CN" altLang="en-US"/>
          </a:p>
        </p:txBody>
      </p:sp>
      <p:sp>
        <p:nvSpPr>
          <p:cNvPr id="37893" name="Rectangle 3">
            <a:extLst>
              <a:ext uri="{FF2B5EF4-FFF2-40B4-BE49-F238E27FC236}">
                <a16:creationId xmlns:a16="http://schemas.microsoft.com/office/drawing/2014/main" id="{A2CB6997-E9F4-4C5C-B24F-1A12FB97FE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1313" y="1154113"/>
            <a:ext cx="5435600" cy="719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</a:pPr>
            <a:r>
              <a:rPr lang="en-US" altLang="zh-CN" sz="2400" b="1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1.2.4 </a:t>
            </a:r>
            <a:r>
              <a:rPr lang="zh-CN" altLang="en-US" sz="2400" b="1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非等精度测量</a:t>
            </a:r>
          </a:p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</a:pPr>
            <a:endParaRPr lang="zh-CN" altLang="en-US" sz="2400" b="1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7894" name="Text Box 11">
            <a:extLst>
              <a:ext uri="{FF2B5EF4-FFF2-40B4-BE49-F238E27FC236}">
                <a16:creationId xmlns:a16="http://schemas.microsoft.com/office/drawing/2014/main" id="{7F2C9D6C-78B3-4C73-B94A-21A3DF1931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70438" y="3359150"/>
            <a:ext cx="2262187" cy="338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600" b="1">
                <a:latin typeface="黑体" panose="02010609060101010101" pitchFamily="49" charset="-122"/>
                <a:ea typeface="黑体" panose="02010609060101010101" pitchFamily="49" charset="-122"/>
              </a:rPr>
              <a:t>Pi:</a:t>
            </a:r>
            <a:r>
              <a:rPr lang="zh-CN" altLang="en-US" sz="1600" b="1">
                <a:latin typeface="黑体" panose="02010609060101010101" pitchFamily="49" charset="-122"/>
                <a:ea typeface="黑体" panose="02010609060101010101" pitchFamily="49" charset="-122"/>
              </a:rPr>
              <a:t>各组测量结果的权</a:t>
            </a:r>
          </a:p>
        </p:txBody>
      </p:sp>
      <p:graphicFrame>
        <p:nvGraphicFramePr>
          <p:cNvPr id="37895" name="Object 15">
            <a:extLst>
              <a:ext uri="{FF2B5EF4-FFF2-40B4-BE49-F238E27FC236}">
                <a16:creationId xmlns:a16="http://schemas.microsoft.com/office/drawing/2014/main" id="{F6720F49-A264-4113-8E9F-B6738690781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76500" y="2446338"/>
          <a:ext cx="1439863" cy="160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73" name="公式" r:id="rId4" imgW="749300" imgH="838200" progId="Equation.3">
                  <p:embed/>
                </p:oleObj>
              </mc:Choice>
              <mc:Fallback>
                <p:oleObj name="公式" r:id="rId4" imgW="749300" imgH="83820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76500" y="2446338"/>
                        <a:ext cx="1439863" cy="160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96" name="Object 17">
            <a:extLst>
              <a:ext uri="{FF2B5EF4-FFF2-40B4-BE49-F238E27FC236}">
                <a16:creationId xmlns:a16="http://schemas.microsoft.com/office/drawing/2014/main" id="{DCD71D75-50FA-43DA-81DB-17FC9DE7212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06625" y="4273550"/>
          <a:ext cx="1981200" cy="1390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74" name="公式" r:id="rId6" imgW="1257300" imgH="889000" progId="Equation.3">
                  <p:embed/>
                </p:oleObj>
              </mc:Choice>
              <mc:Fallback>
                <p:oleObj name="公式" r:id="rId6" imgW="1257300" imgH="88900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6625" y="4273550"/>
                        <a:ext cx="1981200" cy="1390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897" name="Text Box 11">
            <a:extLst>
              <a:ext uri="{FF2B5EF4-FFF2-40B4-BE49-F238E27FC236}">
                <a16:creationId xmlns:a16="http://schemas.microsoft.com/office/drawing/2014/main" id="{C4F97F99-929E-4C76-8D45-31BA841BB3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4250" y="1800225"/>
            <a:ext cx="4092575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000" b="1">
                <a:latin typeface="黑体" panose="02010609060101010101" pitchFamily="49" charset="-122"/>
                <a:ea typeface="黑体" panose="02010609060101010101" pitchFamily="49" charset="-122"/>
              </a:rPr>
              <a:t>各测量结果的可靠程度不一样。</a:t>
            </a:r>
          </a:p>
        </p:txBody>
      </p:sp>
      <p:sp>
        <p:nvSpPr>
          <p:cNvPr id="37898" name="Text Box 11">
            <a:extLst>
              <a:ext uri="{FF2B5EF4-FFF2-40B4-BE49-F238E27FC236}">
                <a16:creationId xmlns:a16="http://schemas.microsoft.com/office/drawing/2014/main" id="{8DC37450-7A5D-4CC4-AEF8-259E5DAAB1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2188" y="4525963"/>
            <a:ext cx="2443162" cy="338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600" b="1">
                <a:latin typeface="黑体" panose="02010609060101010101" pitchFamily="49" charset="-122"/>
                <a:ea typeface="黑体" panose="02010609060101010101" pitchFamily="49" charset="-122"/>
              </a:rPr>
              <a:t>各组测量结果的残余误差</a:t>
            </a:r>
          </a:p>
        </p:txBody>
      </p:sp>
      <p:sp>
        <p:nvSpPr>
          <p:cNvPr id="37899" name="左箭头 1">
            <a:extLst>
              <a:ext uri="{FF2B5EF4-FFF2-40B4-BE49-F238E27FC236}">
                <a16:creationId xmlns:a16="http://schemas.microsoft.com/office/drawing/2014/main" id="{3EA97C83-3515-4248-9010-FDC541402C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75100" y="4676775"/>
            <a:ext cx="795338" cy="115888"/>
          </a:xfrm>
          <a:prstGeom prst="leftArrow">
            <a:avLst>
              <a:gd name="adj1" fmla="val 50000"/>
              <a:gd name="adj2" fmla="val 50106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en-US" sz="1800">
              <a:latin typeface="Arial" panose="020B0604020202020204" pitchFamily="34" charset="0"/>
            </a:endParaRPr>
          </a:p>
        </p:txBody>
      </p:sp>
      <p:sp>
        <p:nvSpPr>
          <p:cNvPr id="37900" name="Text Box 11">
            <a:extLst>
              <a:ext uri="{FF2B5EF4-FFF2-40B4-BE49-F238E27FC236}">
                <a16:creationId xmlns:a16="http://schemas.microsoft.com/office/drawing/2014/main" id="{6546443F-DBD8-4498-ADE3-A9D90B8D0F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16463" y="2641600"/>
            <a:ext cx="1346200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各组测量结果的均值</a:t>
            </a:r>
          </a:p>
        </p:txBody>
      </p:sp>
      <p:sp>
        <p:nvSpPr>
          <p:cNvPr id="37901" name="左箭头 22">
            <a:extLst>
              <a:ext uri="{FF2B5EF4-FFF2-40B4-BE49-F238E27FC236}">
                <a16:creationId xmlns:a16="http://schemas.microsoft.com/office/drawing/2014/main" id="{F96F8890-60AF-4CA7-873A-349126D2E1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08425" y="2863850"/>
            <a:ext cx="795338" cy="115888"/>
          </a:xfrm>
          <a:prstGeom prst="leftArrow">
            <a:avLst>
              <a:gd name="adj1" fmla="val 50000"/>
              <a:gd name="adj2" fmla="val 50106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en-US" sz="1800">
              <a:latin typeface="Arial" panose="020B0604020202020204" pitchFamily="34" charset="0"/>
            </a:endParaRPr>
          </a:p>
        </p:txBody>
      </p:sp>
      <p:graphicFrame>
        <p:nvGraphicFramePr>
          <p:cNvPr id="37902" name="对象 1">
            <a:extLst>
              <a:ext uri="{FF2B5EF4-FFF2-40B4-BE49-F238E27FC236}">
                <a16:creationId xmlns:a16="http://schemas.microsoft.com/office/drawing/2014/main" id="{032D27F3-4E51-449D-985F-CFA309A471A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73663" y="4848225"/>
          <a:ext cx="1454150" cy="512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75" name="Equation" r:id="rId8" imgW="685800" imgH="241300" progId="Equation.DSMT4">
                  <p:embed/>
                </p:oleObj>
              </mc:Choice>
              <mc:Fallback>
                <p:oleObj name="Equation" r:id="rId8" imgW="685800" imgH="241300" progId="Equation.DSMT4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73663" y="4848225"/>
                        <a:ext cx="1454150" cy="512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页脚占位符 6">
            <a:extLst>
              <a:ext uri="{FF2B5EF4-FFF2-40B4-BE49-F238E27FC236}">
                <a16:creationId xmlns:a16="http://schemas.microsoft.com/office/drawing/2014/main" id="{62C5225C-5187-4C4C-AAB4-720A9DE4A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43213" y="6411913"/>
            <a:ext cx="2960687" cy="309562"/>
          </a:xfrm>
        </p:spPr>
        <p:txBody>
          <a:bodyPr/>
          <a:lstStyle/>
          <a:p>
            <a:pPr>
              <a:defRPr/>
            </a:pPr>
            <a:r>
              <a:rPr lang="zh-CN" altLang="en-US"/>
              <a:t>人工智能与自动化学院测量科学与仪器系</a:t>
            </a:r>
            <a:endParaRPr lang="en-US" altLang="zh-CN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灯片编号占位符 5">
            <a:extLst>
              <a:ext uri="{FF2B5EF4-FFF2-40B4-BE49-F238E27FC236}">
                <a16:creationId xmlns:a16="http://schemas.microsoft.com/office/drawing/2014/main" id="{0EADBB36-E84F-439D-9A32-25A06E6160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buFontTx/>
              <a:buChar char="•"/>
            </a:pPr>
            <a:fld id="{FB682308-0283-4B8B-8D2B-0A8477ACB470}" type="slidenum">
              <a:rPr lang="en-US" altLang="zh-CN" sz="1200" smtClean="0">
                <a:solidFill>
                  <a:srgbClr val="898989"/>
                </a:solidFill>
                <a:latin typeface="Times New Roman" panose="02020603050405020304" pitchFamily="18" charset="0"/>
                <a:ea typeface="楷体_GB2312" pitchFamily="49" charset="-122"/>
              </a:rPr>
              <a:pPr>
                <a:buFontTx/>
                <a:buChar char="•"/>
              </a:pPr>
              <a:t>18</a:t>
            </a:fld>
            <a:endParaRPr lang="en-US" altLang="zh-CN" sz="1200">
              <a:solidFill>
                <a:srgbClr val="898989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FAF3756-917A-4EB1-B804-03C3416251E2}"/>
              </a:ext>
            </a:extLst>
          </p:cNvPr>
          <p:cNvSpPr/>
          <p:nvPr/>
        </p:nvSpPr>
        <p:spPr>
          <a:xfrm>
            <a:off x="142875" y="1000125"/>
            <a:ext cx="8286750" cy="46038"/>
          </a:xfrm>
          <a:prstGeom prst="rect">
            <a:avLst/>
          </a:prstGeom>
          <a:gradFill flip="none" rotWithShape="1">
            <a:gsLst>
              <a:gs pos="0">
                <a:srgbClr val="5E9EFF"/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85000"/>
              <a:buFontTx/>
              <a:buChar char="•"/>
              <a:defRPr/>
            </a:pPr>
            <a:endParaRPr lang="zh-CN" altLang="en-US"/>
          </a:p>
        </p:txBody>
      </p:sp>
      <p:graphicFrame>
        <p:nvGraphicFramePr>
          <p:cNvPr id="39940" name="Object 15">
            <a:extLst>
              <a:ext uri="{FF2B5EF4-FFF2-40B4-BE49-F238E27FC236}">
                <a16:creationId xmlns:a16="http://schemas.microsoft.com/office/drawing/2014/main" id="{C1EA9850-F4FC-4305-AA07-3B3CEB2A39C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95513" y="1287463"/>
          <a:ext cx="1512887" cy="1677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90" name="公式" r:id="rId4" imgW="749300" imgH="838200" progId="Equation.3">
                  <p:embed/>
                </p:oleObj>
              </mc:Choice>
              <mc:Fallback>
                <p:oleObj name="公式" r:id="rId4" imgW="749300" imgH="83820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5513" y="1287463"/>
                        <a:ext cx="1512887" cy="1677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1" name="Object 17">
            <a:extLst>
              <a:ext uri="{FF2B5EF4-FFF2-40B4-BE49-F238E27FC236}">
                <a16:creationId xmlns:a16="http://schemas.microsoft.com/office/drawing/2014/main" id="{B50F59CF-8F4D-4F73-8278-B54CD9E69E9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37038" y="1389063"/>
          <a:ext cx="2101850" cy="1474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91" name="公式" r:id="rId6" imgW="1257300" imgH="889000" progId="Equation.3">
                  <p:embed/>
                </p:oleObj>
              </mc:Choice>
              <mc:Fallback>
                <p:oleObj name="公式" r:id="rId6" imgW="1257300" imgH="88900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37038" y="1389063"/>
                        <a:ext cx="2101850" cy="1474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42" name="Rectangle 3">
            <a:extLst>
              <a:ext uri="{FF2B5EF4-FFF2-40B4-BE49-F238E27FC236}">
                <a16:creationId xmlns:a16="http://schemas.microsoft.com/office/drawing/2014/main" id="{53FD1014-5FF9-4DC6-B85B-A24B20A56C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4100" y="3676650"/>
            <a:ext cx="7632700" cy="163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</a:pP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例如：工作基准米尺连续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天与国家基准器比较，得到基准米尺的平均长度为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999.9425mm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（三次测量）、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999.9416mm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（二次测量）、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999.9419mm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（五次测量）。则权重可分别取为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5</a:t>
            </a:r>
            <a:endParaRPr lang="zh-CN" altLang="en-US" sz="2400" b="1" dirty="0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页脚占位符 6">
            <a:extLst>
              <a:ext uri="{FF2B5EF4-FFF2-40B4-BE49-F238E27FC236}">
                <a16:creationId xmlns:a16="http://schemas.microsoft.com/office/drawing/2014/main" id="{3CB42F6D-F6F2-4DFF-9F8D-C573D204BE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43213" y="6411913"/>
            <a:ext cx="2960687" cy="309562"/>
          </a:xfrm>
        </p:spPr>
        <p:txBody>
          <a:bodyPr/>
          <a:lstStyle/>
          <a:p>
            <a:pPr>
              <a:defRPr/>
            </a:pPr>
            <a:r>
              <a:rPr lang="zh-CN" altLang="en-US"/>
              <a:t>人工智能与自动化学院测量科学与仪器系</a:t>
            </a:r>
            <a:endParaRPr lang="en-US" altLang="zh-CN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3">
            <a:extLst>
              <a:ext uri="{FF2B5EF4-FFF2-40B4-BE49-F238E27FC236}">
                <a16:creationId xmlns:a16="http://schemas.microsoft.com/office/drawing/2014/main" id="{5F50BDA8-C6E6-4DFF-BB3A-00C8B158A0B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58775" y="152400"/>
            <a:ext cx="3421063" cy="647700"/>
          </a:xfrm>
        </p:spPr>
        <p:txBody>
          <a:bodyPr/>
          <a:lstStyle/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</a:pPr>
            <a:r>
              <a:rPr lang="en-US" altLang="zh-CN" sz="28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1.3 </a:t>
            </a:r>
            <a:r>
              <a:rPr lang="zh-CN" altLang="en-US" sz="28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系统误差</a:t>
            </a:r>
          </a:p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</a:pPr>
            <a:endParaRPr lang="zh-CN" altLang="en-US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1987" name="灯片编号占位符 5">
            <a:extLst>
              <a:ext uri="{FF2B5EF4-FFF2-40B4-BE49-F238E27FC236}">
                <a16:creationId xmlns:a16="http://schemas.microsoft.com/office/drawing/2014/main" id="{3B7E9994-5196-4F35-9BF3-AE26021EE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buFontTx/>
              <a:buChar char="•"/>
            </a:pPr>
            <a:fld id="{53572B2A-EE4A-4028-961C-0B6AE7B2627E}" type="slidenum">
              <a:rPr lang="en-US" altLang="zh-CN" sz="1200" smtClean="0">
                <a:solidFill>
                  <a:srgbClr val="898989"/>
                </a:solidFill>
                <a:latin typeface="Times New Roman" panose="02020603050405020304" pitchFamily="18" charset="0"/>
                <a:ea typeface="楷体_GB2312" pitchFamily="49" charset="-122"/>
              </a:rPr>
              <a:pPr>
                <a:buFontTx/>
                <a:buChar char="•"/>
              </a:pPr>
              <a:t>19</a:t>
            </a:fld>
            <a:endParaRPr lang="en-US" altLang="zh-CN" sz="1200">
              <a:solidFill>
                <a:srgbClr val="898989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5D47D15-AB10-4694-ACC2-056F714EFB07}"/>
              </a:ext>
            </a:extLst>
          </p:cNvPr>
          <p:cNvSpPr/>
          <p:nvPr/>
        </p:nvSpPr>
        <p:spPr>
          <a:xfrm>
            <a:off x="142875" y="1000125"/>
            <a:ext cx="8286750" cy="46038"/>
          </a:xfrm>
          <a:prstGeom prst="rect">
            <a:avLst/>
          </a:prstGeom>
          <a:gradFill flip="none" rotWithShape="1">
            <a:gsLst>
              <a:gs pos="0">
                <a:srgbClr val="5E9EFF"/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85000"/>
              <a:buFontTx/>
              <a:buChar char="•"/>
              <a:defRPr/>
            </a:pPr>
            <a:endParaRPr lang="zh-CN" altLang="en-US"/>
          </a:p>
        </p:txBody>
      </p:sp>
      <p:sp>
        <p:nvSpPr>
          <p:cNvPr id="25605" name="Rectangle 3">
            <a:extLst>
              <a:ext uri="{FF2B5EF4-FFF2-40B4-BE49-F238E27FC236}">
                <a16:creationId xmlns:a16="http://schemas.microsoft.com/office/drawing/2014/main" id="{29B970F3-CA8E-4BE0-982D-6D0B9D1960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1313" y="1154113"/>
            <a:ext cx="5435600" cy="719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</a:pPr>
            <a:r>
              <a:rPr lang="en-US" altLang="zh-CN" sz="2400" b="1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1.3.1 </a:t>
            </a:r>
            <a:r>
              <a:rPr lang="zh-CN" altLang="en-US" sz="2400" b="1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系统误差产生的原因</a:t>
            </a:r>
          </a:p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</a:pPr>
            <a:endParaRPr lang="zh-CN" altLang="en-US" sz="2400" b="1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5607" name="Text Box 11">
            <a:extLst>
              <a:ext uri="{FF2B5EF4-FFF2-40B4-BE49-F238E27FC236}">
                <a16:creationId xmlns:a16="http://schemas.microsoft.com/office/drawing/2014/main" id="{193ED545-B5DD-45FE-98F0-D4FCAB519D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9250" y="1917700"/>
            <a:ext cx="5568950" cy="1323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000" b="1">
                <a:latin typeface="黑体" panose="02010609060101010101" pitchFamily="49" charset="-122"/>
                <a:ea typeface="黑体" panose="02010609060101010101" pitchFamily="49" charset="-122"/>
              </a:rPr>
              <a:t>        </a:t>
            </a:r>
            <a:r>
              <a:rPr lang="en-US" altLang="zh-CN" sz="2000" b="1">
                <a:latin typeface="黑体" panose="02010609060101010101" pitchFamily="49" charset="-122"/>
                <a:ea typeface="黑体" panose="02010609060101010101" pitchFamily="49" charset="-122"/>
              </a:rPr>
              <a:t>(1)</a:t>
            </a:r>
            <a:r>
              <a:rPr lang="zh-CN" altLang="en-US" sz="2000" b="1">
                <a:latin typeface="黑体" panose="02010609060101010101" pitchFamily="49" charset="-122"/>
                <a:ea typeface="黑体" panose="02010609060101010101" pitchFamily="49" charset="-122"/>
              </a:rPr>
              <a:t>测量装置方面的因素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zh-CN" altLang="en-US" sz="2000" b="1">
                <a:latin typeface="黑体" panose="02010609060101010101" pitchFamily="49" charset="-122"/>
                <a:ea typeface="黑体" panose="02010609060101010101" pitchFamily="49" charset="-122"/>
              </a:rPr>
              <a:t>        </a:t>
            </a:r>
            <a:r>
              <a:rPr lang="en-US" altLang="zh-CN" sz="2000" b="1">
                <a:latin typeface="黑体" panose="02010609060101010101" pitchFamily="49" charset="-122"/>
                <a:ea typeface="黑体" panose="02010609060101010101" pitchFamily="49" charset="-122"/>
              </a:rPr>
              <a:t>(2)</a:t>
            </a:r>
            <a:r>
              <a:rPr lang="zh-CN" altLang="en-US" sz="2000" b="1">
                <a:latin typeface="黑体" panose="02010609060101010101" pitchFamily="49" charset="-122"/>
                <a:ea typeface="黑体" panose="02010609060101010101" pitchFamily="49" charset="-122"/>
              </a:rPr>
              <a:t>环境方面的因素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zh-CN" altLang="en-US" sz="2000" b="1">
                <a:latin typeface="黑体" panose="02010609060101010101" pitchFamily="49" charset="-122"/>
                <a:ea typeface="黑体" panose="02010609060101010101" pitchFamily="49" charset="-122"/>
              </a:rPr>
              <a:t>        </a:t>
            </a:r>
            <a:r>
              <a:rPr lang="en-US" altLang="zh-CN" sz="2000" b="1">
                <a:latin typeface="黑体" panose="02010609060101010101" pitchFamily="49" charset="-122"/>
                <a:ea typeface="黑体" panose="02010609060101010101" pitchFamily="49" charset="-122"/>
              </a:rPr>
              <a:t>(3)</a:t>
            </a:r>
            <a:r>
              <a:rPr lang="zh-CN" altLang="en-US" sz="2000" b="1">
                <a:latin typeface="黑体" panose="02010609060101010101" pitchFamily="49" charset="-122"/>
                <a:ea typeface="黑体" panose="02010609060101010101" pitchFamily="49" charset="-122"/>
              </a:rPr>
              <a:t>测量方法的因素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zh-CN" altLang="en-US" sz="2000" b="1">
                <a:latin typeface="黑体" panose="02010609060101010101" pitchFamily="49" charset="-122"/>
                <a:ea typeface="黑体" panose="02010609060101010101" pitchFamily="49" charset="-122"/>
              </a:rPr>
              <a:t>        </a:t>
            </a:r>
            <a:r>
              <a:rPr lang="en-US" altLang="zh-CN" sz="2000" b="1">
                <a:latin typeface="黑体" panose="02010609060101010101" pitchFamily="49" charset="-122"/>
                <a:ea typeface="黑体" panose="02010609060101010101" pitchFamily="49" charset="-122"/>
              </a:rPr>
              <a:t>(4)</a:t>
            </a:r>
            <a:r>
              <a:rPr lang="zh-CN" altLang="en-US" sz="2000" b="1">
                <a:latin typeface="黑体" panose="02010609060101010101" pitchFamily="49" charset="-122"/>
                <a:ea typeface="黑体" panose="02010609060101010101" pitchFamily="49" charset="-122"/>
              </a:rPr>
              <a:t>测量人员的因素</a:t>
            </a:r>
          </a:p>
        </p:txBody>
      </p:sp>
      <p:sp>
        <p:nvSpPr>
          <p:cNvPr id="25608" name="Rectangle 3">
            <a:extLst>
              <a:ext uri="{FF2B5EF4-FFF2-40B4-BE49-F238E27FC236}">
                <a16:creationId xmlns:a16="http://schemas.microsoft.com/office/drawing/2014/main" id="{BB54D00F-1F83-4FC7-8632-20B0D7933F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" y="3548063"/>
            <a:ext cx="5435600" cy="719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</a:pPr>
            <a:r>
              <a:rPr lang="en-US" altLang="zh-CN" sz="2400" b="1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1.3.2 </a:t>
            </a:r>
            <a:r>
              <a:rPr lang="zh-CN" altLang="en-US" sz="2400" b="1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系统误差的特征</a:t>
            </a:r>
          </a:p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</a:pPr>
            <a:endParaRPr lang="zh-CN" altLang="en-US" sz="2400" b="1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8" name="Text Box 11">
            <a:extLst>
              <a:ext uri="{FF2B5EF4-FFF2-40B4-BE49-F238E27FC236}">
                <a16:creationId xmlns:a16="http://schemas.microsoft.com/office/drawing/2014/main" id="{F0BC413F-FDBF-44F8-B422-B977F725B6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0113" y="4149725"/>
            <a:ext cx="3887787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  <a:sym typeface="Calibri" panose="020F0502020204030204" pitchFamily="34" charset="0"/>
              </a:rPr>
              <a:t>(1)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  <a:sym typeface="Calibri" panose="020F0502020204030204" pitchFamily="34" charset="0"/>
              </a:rPr>
              <a:t>定值系统误差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  <a:sym typeface="Calibri" panose="020F0502020204030204" pitchFamily="34" charset="0"/>
              </a:rPr>
              <a:t>——a</a:t>
            </a:r>
            <a:endParaRPr lang="zh-CN" altLang="en-US" sz="2000" b="1" dirty="0">
              <a:latin typeface="黑体" panose="02010609060101010101" pitchFamily="49" charset="-122"/>
              <a:ea typeface="黑体" panose="02010609060101010101" pitchFamily="49" charset="-122"/>
              <a:sym typeface="Calibri" panose="020F0502020204030204" pitchFamily="34" charset="0"/>
            </a:endParaRPr>
          </a:p>
          <a:p>
            <a:pPr>
              <a:defRPr/>
            </a:pP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  <a:sym typeface="Calibri" panose="020F0502020204030204" pitchFamily="34" charset="0"/>
              </a:rPr>
              <a:t>(2)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  <a:sym typeface="Calibri" panose="020F0502020204030204" pitchFamily="34" charset="0"/>
              </a:rPr>
              <a:t>变值系统误差</a:t>
            </a:r>
          </a:p>
          <a:p>
            <a:pPr indent="533400">
              <a:defRPr/>
            </a:pP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  <a:sym typeface="Calibri" panose="020F0502020204030204" pitchFamily="34" charset="0"/>
              </a:rPr>
              <a:t>①累积性系统误差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  <a:sym typeface="Calibri" panose="020F0502020204030204" pitchFamily="34" charset="0"/>
              </a:rPr>
              <a:t>-</a:t>
            </a:r>
            <a:r>
              <a:rPr lang="en-US" altLang="zh-CN" sz="2000" b="1" dirty="0" err="1">
                <a:latin typeface="黑体" panose="02010609060101010101" pitchFamily="49" charset="-122"/>
                <a:ea typeface="黑体" panose="02010609060101010101" pitchFamily="49" charset="-122"/>
                <a:sym typeface="Calibri" panose="020F0502020204030204" pitchFamily="34" charset="0"/>
              </a:rPr>
              <a:t>b,c</a:t>
            </a:r>
            <a:endParaRPr lang="zh-CN" altLang="en-US" sz="2000" b="1" dirty="0">
              <a:latin typeface="黑体" panose="02010609060101010101" pitchFamily="49" charset="-122"/>
              <a:ea typeface="黑体" panose="02010609060101010101" pitchFamily="49" charset="-122"/>
              <a:sym typeface="Calibri" panose="020F0502020204030204" pitchFamily="34" charset="0"/>
            </a:endParaRPr>
          </a:p>
          <a:p>
            <a:pPr indent="533400">
              <a:defRPr/>
            </a:pP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  <a:sym typeface="Calibri" panose="020F0502020204030204" pitchFamily="34" charset="0"/>
              </a:rPr>
              <a:t>②周期性系统误差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  <a:sym typeface="Calibri" panose="020F0502020204030204" pitchFamily="34" charset="0"/>
              </a:rPr>
              <a:t>——d</a:t>
            </a:r>
            <a:endParaRPr lang="zh-CN" altLang="en-US" sz="2000" b="1" dirty="0">
              <a:latin typeface="黑体" panose="02010609060101010101" pitchFamily="49" charset="-122"/>
              <a:ea typeface="黑体" panose="02010609060101010101" pitchFamily="49" charset="-122"/>
              <a:sym typeface="Calibri" panose="020F0502020204030204" pitchFamily="34" charset="0"/>
            </a:endParaRPr>
          </a:p>
          <a:p>
            <a:pPr indent="533400">
              <a:defRPr/>
            </a:pP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  <a:sym typeface="Calibri" panose="020F0502020204030204" pitchFamily="34" charset="0"/>
              </a:rPr>
              <a:t>③复杂规律变化系统误差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  <a:sym typeface="Calibri" panose="020F0502020204030204" pitchFamily="34" charset="0"/>
              </a:rPr>
              <a:t>-e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  <a:sym typeface="Calibri" panose="020F0502020204030204" pitchFamily="34" charset="0"/>
              </a:rPr>
              <a:t> </a:t>
            </a:r>
          </a:p>
        </p:txBody>
      </p:sp>
      <p:pic>
        <p:nvPicPr>
          <p:cNvPr id="25610" name="Picture 16" descr="未命名">
            <a:extLst>
              <a:ext uri="{FF2B5EF4-FFF2-40B4-BE49-F238E27FC236}">
                <a16:creationId xmlns:a16="http://schemas.microsoft.com/office/drawing/2014/main" id="{60BF5273-72DC-4121-B169-A796DD24A3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4863" y="3405188"/>
            <a:ext cx="3005137" cy="2820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页脚占位符 6">
            <a:extLst>
              <a:ext uri="{FF2B5EF4-FFF2-40B4-BE49-F238E27FC236}">
                <a16:creationId xmlns:a16="http://schemas.microsoft.com/office/drawing/2014/main" id="{63E6EB6D-D030-48A6-8E5A-EB8D7F6877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43213" y="6411913"/>
            <a:ext cx="2960687" cy="309562"/>
          </a:xfrm>
        </p:spPr>
        <p:txBody>
          <a:bodyPr/>
          <a:lstStyle/>
          <a:p>
            <a:pPr>
              <a:defRPr/>
            </a:pPr>
            <a:r>
              <a:rPr lang="zh-CN" altLang="en-US"/>
              <a:t>人工智能与自动化学院测量科学与仪器系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6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6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56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56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56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56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56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56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56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56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2" grpId="0" build="p"/>
      <p:bldP spid="6" grpId="0" animBg="1"/>
      <p:bldP spid="25605" grpId="0"/>
      <p:bldP spid="25607" grpId="0"/>
      <p:bldP spid="25608" grpId="0"/>
      <p:bldP spid="1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3">
            <a:extLst>
              <a:ext uri="{FF2B5EF4-FFF2-40B4-BE49-F238E27FC236}">
                <a16:creationId xmlns:a16="http://schemas.microsoft.com/office/drawing/2014/main" id="{C2C4C8A8-8895-4B28-9A56-507A0A19B67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58775" y="152400"/>
            <a:ext cx="3421063" cy="647700"/>
          </a:xfrm>
        </p:spPr>
        <p:txBody>
          <a:bodyPr/>
          <a:lstStyle/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</a:pPr>
            <a:r>
              <a:rPr lang="en-US" altLang="zh-CN" sz="28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1.3 </a:t>
            </a:r>
            <a:r>
              <a:rPr lang="zh-CN" altLang="en-US" sz="28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系统误差</a:t>
            </a:r>
          </a:p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</a:pPr>
            <a:endParaRPr lang="zh-CN" altLang="en-US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3011" name="灯片编号占位符 5">
            <a:extLst>
              <a:ext uri="{FF2B5EF4-FFF2-40B4-BE49-F238E27FC236}">
                <a16:creationId xmlns:a16="http://schemas.microsoft.com/office/drawing/2014/main" id="{08420C69-E955-4B74-ADC3-01D88B47A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buFontTx/>
              <a:buChar char="•"/>
            </a:pPr>
            <a:fld id="{9F3201B9-64F0-437D-B08B-8D68EE3E3248}" type="slidenum">
              <a:rPr lang="en-US" altLang="zh-CN" sz="1200" smtClean="0">
                <a:solidFill>
                  <a:srgbClr val="898989"/>
                </a:solidFill>
                <a:latin typeface="Times New Roman" panose="02020603050405020304" pitchFamily="18" charset="0"/>
                <a:ea typeface="楷体_GB2312" pitchFamily="49" charset="-122"/>
              </a:rPr>
              <a:pPr>
                <a:buFontTx/>
                <a:buChar char="•"/>
              </a:pPr>
              <a:t>20</a:t>
            </a:fld>
            <a:endParaRPr lang="en-US" altLang="zh-CN" sz="1200">
              <a:solidFill>
                <a:srgbClr val="898989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65323B7-A58B-4E9E-AD19-9E41AEBB5BD2}"/>
              </a:ext>
            </a:extLst>
          </p:cNvPr>
          <p:cNvSpPr/>
          <p:nvPr/>
        </p:nvSpPr>
        <p:spPr>
          <a:xfrm>
            <a:off x="142875" y="1000125"/>
            <a:ext cx="8286750" cy="46038"/>
          </a:xfrm>
          <a:prstGeom prst="rect">
            <a:avLst/>
          </a:prstGeom>
          <a:gradFill flip="none" rotWithShape="1">
            <a:gsLst>
              <a:gs pos="0">
                <a:srgbClr val="5E9EFF"/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85000"/>
              <a:buFontTx/>
              <a:buChar char="•"/>
              <a:defRPr/>
            </a:pPr>
            <a:endParaRPr lang="zh-CN" altLang="en-US"/>
          </a:p>
        </p:txBody>
      </p:sp>
      <p:sp>
        <p:nvSpPr>
          <p:cNvPr id="43013" name="Rectangle 3">
            <a:extLst>
              <a:ext uri="{FF2B5EF4-FFF2-40B4-BE49-F238E27FC236}">
                <a16:creationId xmlns:a16="http://schemas.microsoft.com/office/drawing/2014/main" id="{0D9A093A-7585-4067-8C84-1285D61F4D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1313" y="1154113"/>
            <a:ext cx="5435600" cy="719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</a:pPr>
            <a:r>
              <a:rPr lang="en-US" altLang="zh-CN" sz="2400" b="1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1.3.3 </a:t>
            </a:r>
            <a:r>
              <a:rPr lang="zh-CN" altLang="en-US" sz="2400" b="1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系统误差的判别方法</a:t>
            </a:r>
            <a:endParaRPr lang="zh-CN" altLang="en-US" sz="2400" b="1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3014" name="Text Box 11">
            <a:extLst>
              <a:ext uri="{FF2B5EF4-FFF2-40B4-BE49-F238E27FC236}">
                <a16:creationId xmlns:a16="http://schemas.microsoft.com/office/drawing/2014/main" id="{A4DDA611-5633-4107-A127-ABAD55CCE8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1773238"/>
            <a:ext cx="2736850" cy="708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000" b="1">
                <a:latin typeface="黑体" panose="02010609060101010101" pitchFamily="49" charset="-122"/>
                <a:ea typeface="黑体" panose="02010609060101010101" pitchFamily="49" charset="-122"/>
              </a:rPr>
              <a:t>(1)</a:t>
            </a:r>
            <a:r>
              <a:rPr lang="zh-CN" altLang="en-US" sz="2000" b="1">
                <a:latin typeface="黑体" panose="02010609060101010101" pitchFamily="49" charset="-122"/>
                <a:ea typeface="黑体" panose="02010609060101010101" pitchFamily="49" charset="-122"/>
              </a:rPr>
              <a:t>实验对比法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b="1">
                <a:latin typeface="黑体" panose="02010609060101010101" pitchFamily="49" charset="-122"/>
                <a:ea typeface="黑体" panose="02010609060101010101" pitchFamily="49" charset="-122"/>
              </a:rPr>
              <a:t>(2)</a:t>
            </a:r>
            <a:r>
              <a:rPr lang="zh-CN" altLang="en-US" sz="2000" b="1">
                <a:latin typeface="黑体" panose="02010609060101010101" pitchFamily="49" charset="-122"/>
                <a:ea typeface="黑体" panose="02010609060101010101" pitchFamily="49" charset="-122"/>
              </a:rPr>
              <a:t>残余误差观察法</a:t>
            </a:r>
          </a:p>
        </p:txBody>
      </p:sp>
      <p:pic>
        <p:nvPicPr>
          <p:cNvPr id="43015" name="Picture 11" descr="未命名">
            <a:extLst>
              <a:ext uri="{FF2B5EF4-FFF2-40B4-BE49-F238E27FC236}">
                <a16:creationId xmlns:a16="http://schemas.microsoft.com/office/drawing/2014/main" id="{B88656FC-C703-4139-AD15-28BF9D49B2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7675" y="2592388"/>
            <a:ext cx="5268913" cy="3617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页脚占位符 6">
            <a:extLst>
              <a:ext uri="{FF2B5EF4-FFF2-40B4-BE49-F238E27FC236}">
                <a16:creationId xmlns:a16="http://schemas.microsoft.com/office/drawing/2014/main" id="{A788EA64-4896-4C1E-B09C-548BB73BF3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43213" y="6411913"/>
            <a:ext cx="2960687" cy="309562"/>
          </a:xfrm>
        </p:spPr>
        <p:txBody>
          <a:bodyPr/>
          <a:lstStyle/>
          <a:p>
            <a:pPr>
              <a:defRPr/>
            </a:pPr>
            <a:r>
              <a:rPr lang="zh-CN" altLang="en-US"/>
              <a:t>人工智能与自动化学院测量科学与仪器系</a:t>
            </a:r>
            <a:endParaRPr lang="en-US" altLang="zh-CN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灯片编号占位符 5">
            <a:extLst>
              <a:ext uri="{FF2B5EF4-FFF2-40B4-BE49-F238E27FC236}">
                <a16:creationId xmlns:a16="http://schemas.microsoft.com/office/drawing/2014/main" id="{64725A13-3221-4742-B66D-118879F3F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buFontTx/>
              <a:buChar char="•"/>
            </a:pPr>
            <a:fld id="{BC1C4952-6B7B-47EE-A6D5-934025386C15}" type="slidenum">
              <a:rPr lang="en-US" altLang="zh-CN" sz="1200" smtClean="0">
                <a:solidFill>
                  <a:srgbClr val="898989"/>
                </a:solidFill>
                <a:latin typeface="Times New Roman" panose="02020603050405020304" pitchFamily="18" charset="0"/>
                <a:ea typeface="楷体_GB2312" pitchFamily="49" charset="-122"/>
              </a:rPr>
              <a:pPr>
                <a:buFontTx/>
                <a:buChar char="•"/>
              </a:pPr>
              <a:t>21</a:t>
            </a:fld>
            <a:endParaRPr lang="en-US" altLang="zh-CN" sz="1200">
              <a:solidFill>
                <a:srgbClr val="898989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8F2758B-E268-429A-9533-2701E379EC45}"/>
              </a:ext>
            </a:extLst>
          </p:cNvPr>
          <p:cNvSpPr/>
          <p:nvPr/>
        </p:nvSpPr>
        <p:spPr>
          <a:xfrm>
            <a:off x="142875" y="1000125"/>
            <a:ext cx="8286750" cy="46038"/>
          </a:xfrm>
          <a:prstGeom prst="rect">
            <a:avLst/>
          </a:prstGeom>
          <a:gradFill flip="none" rotWithShape="1">
            <a:gsLst>
              <a:gs pos="0">
                <a:srgbClr val="5E9EFF"/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85000"/>
              <a:buFontTx/>
              <a:buChar char="•"/>
              <a:defRPr/>
            </a:pPr>
            <a:endParaRPr lang="zh-CN" altLang="en-US"/>
          </a:p>
        </p:txBody>
      </p:sp>
      <p:sp>
        <p:nvSpPr>
          <p:cNvPr id="45060" name="Rectangle 3">
            <a:extLst>
              <a:ext uri="{FF2B5EF4-FFF2-40B4-BE49-F238E27FC236}">
                <a16:creationId xmlns:a16="http://schemas.microsoft.com/office/drawing/2014/main" id="{A0447DA2-CAB3-4154-89C2-6266DAB7D3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55875" y="406400"/>
            <a:ext cx="5435600" cy="719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</a:pPr>
            <a:r>
              <a:rPr lang="en-US" altLang="zh-CN" sz="2400" b="1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1.3.3 </a:t>
            </a:r>
            <a:r>
              <a:rPr lang="zh-CN" altLang="en-US" sz="2400" b="1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系统误差的判别方法</a:t>
            </a:r>
            <a:endParaRPr lang="zh-CN" altLang="en-US" sz="2400" b="1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45061" name="Picture 9" descr="未命名">
            <a:extLst>
              <a:ext uri="{FF2B5EF4-FFF2-40B4-BE49-F238E27FC236}">
                <a16:creationId xmlns:a16="http://schemas.microsoft.com/office/drawing/2014/main" id="{73546044-7E40-432B-B276-BC35F06C66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5670"/>
          <a:stretch>
            <a:fillRect/>
          </a:stretch>
        </p:blipFill>
        <p:spPr bwMode="auto">
          <a:xfrm>
            <a:off x="1100138" y="1412875"/>
            <a:ext cx="7586662" cy="4537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页脚占位符 6">
            <a:extLst>
              <a:ext uri="{FF2B5EF4-FFF2-40B4-BE49-F238E27FC236}">
                <a16:creationId xmlns:a16="http://schemas.microsoft.com/office/drawing/2014/main" id="{A0FB223D-C9EE-47C7-A518-17EB247A0C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43213" y="6411913"/>
            <a:ext cx="2960687" cy="309562"/>
          </a:xfrm>
        </p:spPr>
        <p:txBody>
          <a:bodyPr/>
          <a:lstStyle/>
          <a:p>
            <a:pPr>
              <a:defRPr/>
            </a:pPr>
            <a:r>
              <a:rPr lang="zh-CN" altLang="en-US"/>
              <a:t>人工智能与自动化学院测量科学与仪器系</a:t>
            </a:r>
            <a:endParaRPr lang="en-US" altLang="zh-CN"/>
          </a:p>
        </p:txBody>
      </p:sp>
      <p:sp>
        <p:nvSpPr>
          <p:cNvPr id="45063" name="文本框 1">
            <a:extLst>
              <a:ext uri="{FF2B5EF4-FFF2-40B4-BE49-F238E27FC236}">
                <a16:creationId xmlns:a16="http://schemas.microsoft.com/office/drawing/2014/main" id="{10E7225C-005C-4D0C-AFBF-3AC8F0439E26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5319713" y="2636838"/>
            <a:ext cx="22320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800">
                <a:solidFill>
                  <a:srgbClr val="0000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</a:t>
            </a:r>
            <a:r>
              <a:rPr lang="en-US" altLang="zh-CN" sz="1800">
                <a:solidFill>
                  <a:srgbClr val="0000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i</a:t>
            </a:r>
            <a:r>
              <a:rPr lang="zh-CN" altLang="en-US" sz="1800">
                <a:solidFill>
                  <a:srgbClr val="0000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为单次误差</a:t>
            </a:r>
            <a:endParaRPr lang="zh-CN" altLang="en-US" sz="1800">
              <a:solidFill>
                <a:srgbClr val="0000FF"/>
              </a:solidFill>
              <a:latin typeface="Arial" panose="020B0604020202020204" pitchFamily="34" charset="0"/>
            </a:endParaRPr>
          </a:p>
        </p:txBody>
      </p:sp>
      <p:sp>
        <p:nvSpPr>
          <p:cNvPr id="8" name="Text Box 11">
            <a:extLst>
              <a:ext uri="{FF2B5EF4-FFF2-40B4-BE49-F238E27FC236}">
                <a16:creationId xmlns:a16="http://schemas.microsoft.com/office/drawing/2014/main" id="{2C453156-E0F0-498D-81F9-D3E8F37FF3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1280" y="1687225"/>
            <a:ext cx="2840624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600" b="1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用于判断是否存在累积性系统误差</a:t>
            </a:r>
          </a:p>
        </p:txBody>
      </p:sp>
      <p:sp>
        <p:nvSpPr>
          <p:cNvPr id="9" name="左箭头 22">
            <a:extLst>
              <a:ext uri="{FF2B5EF4-FFF2-40B4-BE49-F238E27FC236}">
                <a16:creationId xmlns:a16="http://schemas.microsoft.com/office/drawing/2014/main" id="{F2D53E13-5AC8-4523-885F-5DD0263965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5942" y="1863725"/>
            <a:ext cx="795338" cy="115888"/>
          </a:xfrm>
          <a:prstGeom prst="leftArrow">
            <a:avLst>
              <a:gd name="adj1" fmla="val 50000"/>
              <a:gd name="adj2" fmla="val 50106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en-US" sz="180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灯片编号占位符 5">
            <a:extLst>
              <a:ext uri="{FF2B5EF4-FFF2-40B4-BE49-F238E27FC236}">
                <a16:creationId xmlns:a16="http://schemas.microsoft.com/office/drawing/2014/main" id="{FB1D5A19-396E-44B1-B22B-90CC08D01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buFontTx/>
              <a:buChar char="•"/>
            </a:pPr>
            <a:fld id="{F32169FF-08FE-44E1-B409-3110ED2D4B37}" type="slidenum">
              <a:rPr lang="en-US" altLang="zh-CN" sz="1200" smtClean="0">
                <a:solidFill>
                  <a:srgbClr val="898989"/>
                </a:solidFill>
                <a:latin typeface="Times New Roman" panose="02020603050405020304" pitchFamily="18" charset="0"/>
                <a:ea typeface="楷体_GB2312" pitchFamily="49" charset="-122"/>
              </a:rPr>
              <a:pPr>
                <a:buFontTx/>
                <a:buChar char="•"/>
              </a:pPr>
              <a:t>22</a:t>
            </a:fld>
            <a:endParaRPr lang="en-US" altLang="zh-CN" sz="1200">
              <a:solidFill>
                <a:srgbClr val="898989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45D45C8-E917-4F95-A66C-DF82D3DEC1A9}"/>
              </a:ext>
            </a:extLst>
          </p:cNvPr>
          <p:cNvSpPr/>
          <p:nvPr/>
        </p:nvSpPr>
        <p:spPr>
          <a:xfrm>
            <a:off x="142875" y="1000125"/>
            <a:ext cx="8286750" cy="46038"/>
          </a:xfrm>
          <a:prstGeom prst="rect">
            <a:avLst/>
          </a:prstGeom>
          <a:gradFill flip="none" rotWithShape="1">
            <a:gsLst>
              <a:gs pos="0">
                <a:srgbClr val="5E9EFF"/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85000"/>
              <a:buFontTx/>
              <a:buChar char="•"/>
              <a:defRPr/>
            </a:pPr>
            <a:endParaRPr lang="zh-CN" altLang="en-US"/>
          </a:p>
        </p:txBody>
      </p:sp>
      <p:sp>
        <p:nvSpPr>
          <p:cNvPr id="46084" name="Rectangle 3">
            <a:extLst>
              <a:ext uri="{FF2B5EF4-FFF2-40B4-BE49-F238E27FC236}">
                <a16:creationId xmlns:a16="http://schemas.microsoft.com/office/drawing/2014/main" id="{A5F56584-6EAD-432C-97A8-B15C853E30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94025" y="222250"/>
            <a:ext cx="5435600" cy="719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</a:pPr>
            <a:r>
              <a:rPr lang="en-US" altLang="zh-CN" sz="2400" b="1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1.3.3 </a:t>
            </a:r>
            <a:r>
              <a:rPr lang="zh-CN" altLang="en-US" sz="2400" b="1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系统误差的判别方法</a:t>
            </a:r>
            <a:endParaRPr lang="zh-CN" altLang="en-US" sz="2400" b="1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46085" name="Picture 7" descr="未命名">
            <a:extLst>
              <a:ext uri="{FF2B5EF4-FFF2-40B4-BE49-F238E27FC236}">
                <a16:creationId xmlns:a16="http://schemas.microsoft.com/office/drawing/2014/main" id="{06B4DFB7-72FB-4098-B062-6A2DFD880D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4330"/>
          <a:stretch>
            <a:fillRect/>
          </a:stretch>
        </p:blipFill>
        <p:spPr bwMode="auto">
          <a:xfrm>
            <a:off x="142875" y="1412875"/>
            <a:ext cx="8605838" cy="2919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页脚占位符 6">
            <a:extLst>
              <a:ext uri="{FF2B5EF4-FFF2-40B4-BE49-F238E27FC236}">
                <a16:creationId xmlns:a16="http://schemas.microsoft.com/office/drawing/2014/main" id="{2480CC90-8DB6-4B31-92E0-67E74C1DA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43213" y="6411913"/>
            <a:ext cx="2960687" cy="309562"/>
          </a:xfrm>
        </p:spPr>
        <p:txBody>
          <a:bodyPr/>
          <a:lstStyle/>
          <a:p>
            <a:pPr>
              <a:defRPr/>
            </a:pPr>
            <a:r>
              <a:rPr lang="zh-CN" altLang="en-US"/>
              <a:t>人工智能与自动化学院测量科学与仪器系</a:t>
            </a:r>
            <a:endParaRPr lang="en-US" altLang="zh-CN"/>
          </a:p>
        </p:txBody>
      </p:sp>
      <p:sp>
        <p:nvSpPr>
          <p:cNvPr id="8" name="Text Box 11">
            <a:extLst>
              <a:ext uri="{FF2B5EF4-FFF2-40B4-BE49-F238E27FC236}">
                <a16:creationId xmlns:a16="http://schemas.microsoft.com/office/drawing/2014/main" id="{8D40B8B4-399C-4C96-A173-68D3342D3B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67965" y="1473369"/>
            <a:ext cx="360025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600" b="1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用于判断是否存在周期性系统误差？</a:t>
            </a:r>
          </a:p>
        </p:txBody>
      </p:sp>
      <p:sp>
        <p:nvSpPr>
          <p:cNvPr id="9" name="左箭头 22">
            <a:extLst>
              <a:ext uri="{FF2B5EF4-FFF2-40B4-BE49-F238E27FC236}">
                <a16:creationId xmlns:a16="http://schemas.microsoft.com/office/drawing/2014/main" id="{D8FE7836-D0EA-4435-8DCC-BA345C9E7E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0351" y="1584702"/>
            <a:ext cx="795338" cy="115888"/>
          </a:xfrm>
          <a:prstGeom prst="leftArrow">
            <a:avLst>
              <a:gd name="adj1" fmla="val 50000"/>
              <a:gd name="adj2" fmla="val 50106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en-US" sz="180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3">
            <a:extLst>
              <a:ext uri="{FF2B5EF4-FFF2-40B4-BE49-F238E27FC236}">
                <a16:creationId xmlns:a16="http://schemas.microsoft.com/office/drawing/2014/main" id="{688B17E3-5025-46EC-A105-EEA8343A97B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58775" y="152400"/>
            <a:ext cx="3421063" cy="647700"/>
          </a:xfrm>
        </p:spPr>
        <p:txBody>
          <a:bodyPr/>
          <a:lstStyle/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</a:pPr>
            <a:r>
              <a:rPr lang="en-US" altLang="zh-CN" sz="28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1.3 </a:t>
            </a:r>
            <a:r>
              <a:rPr lang="zh-CN" altLang="en-US" sz="28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系统误差</a:t>
            </a:r>
          </a:p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</a:pPr>
            <a:endParaRPr lang="zh-CN" altLang="en-US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7107" name="灯片编号占位符 5">
            <a:extLst>
              <a:ext uri="{FF2B5EF4-FFF2-40B4-BE49-F238E27FC236}">
                <a16:creationId xmlns:a16="http://schemas.microsoft.com/office/drawing/2014/main" id="{2DAC4B95-2CF3-424E-B931-7E5637BAF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buFontTx/>
              <a:buChar char="•"/>
            </a:pPr>
            <a:fld id="{4D34B361-D623-4C6A-A47B-A37EE59269BC}" type="slidenum">
              <a:rPr lang="en-US" altLang="zh-CN" sz="1200" smtClean="0">
                <a:solidFill>
                  <a:srgbClr val="898989"/>
                </a:solidFill>
                <a:latin typeface="Times New Roman" panose="02020603050405020304" pitchFamily="18" charset="0"/>
                <a:ea typeface="楷体_GB2312" pitchFamily="49" charset="-122"/>
              </a:rPr>
              <a:pPr>
                <a:buFontTx/>
                <a:buChar char="•"/>
              </a:pPr>
              <a:t>23</a:t>
            </a:fld>
            <a:endParaRPr lang="en-US" altLang="zh-CN" sz="1200">
              <a:solidFill>
                <a:srgbClr val="898989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E3FC0DC-7E5B-4783-BF88-5AEC0D16C6F5}"/>
              </a:ext>
            </a:extLst>
          </p:cNvPr>
          <p:cNvSpPr/>
          <p:nvPr/>
        </p:nvSpPr>
        <p:spPr>
          <a:xfrm>
            <a:off x="142875" y="1000125"/>
            <a:ext cx="8286750" cy="46038"/>
          </a:xfrm>
          <a:prstGeom prst="rect">
            <a:avLst/>
          </a:prstGeom>
          <a:gradFill flip="none" rotWithShape="1">
            <a:gsLst>
              <a:gs pos="0">
                <a:srgbClr val="5E9EFF"/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85000"/>
              <a:buFontTx/>
              <a:buChar char="•"/>
              <a:defRPr/>
            </a:pPr>
            <a:endParaRPr lang="zh-CN" altLang="en-US"/>
          </a:p>
        </p:txBody>
      </p:sp>
      <p:sp>
        <p:nvSpPr>
          <p:cNvPr id="47109" name="Rectangle 3">
            <a:extLst>
              <a:ext uri="{FF2B5EF4-FFF2-40B4-BE49-F238E27FC236}">
                <a16:creationId xmlns:a16="http://schemas.microsoft.com/office/drawing/2014/main" id="{7860C62B-A575-48BD-AA5D-18D842F4C5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1313" y="1154113"/>
            <a:ext cx="5435600" cy="719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</a:pPr>
            <a:r>
              <a:rPr lang="en-US" altLang="zh-CN" sz="2800" b="1" dirty="0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1.3.4 </a:t>
            </a:r>
            <a:r>
              <a:rPr lang="zh-CN" altLang="en-US" sz="2800" b="1" dirty="0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系统误差的减小和消除</a:t>
            </a:r>
            <a:endParaRPr lang="zh-CN" altLang="en-US" sz="2800" b="1" dirty="0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7110" name="Text Box 11">
            <a:extLst>
              <a:ext uri="{FF2B5EF4-FFF2-40B4-BE49-F238E27FC236}">
                <a16:creationId xmlns:a16="http://schemas.microsoft.com/office/drawing/2014/main" id="{4B3A9AD5-5F56-47F5-B843-58A2F5FE13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2142" y="1908834"/>
            <a:ext cx="6399716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(1)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从误差产生根源上消除系统误差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(2)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加修正值法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(3)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交换法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(4)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抵消法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(5)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对称法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(6)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半周期法</a:t>
            </a:r>
          </a:p>
        </p:txBody>
      </p:sp>
      <p:sp>
        <p:nvSpPr>
          <p:cNvPr id="9" name="页脚占位符 6">
            <a:extLst>
              <a:ext uri="{FF2B5EF4-FFF2-40B4-BE49-F238E27FC236}">
                <a16:creationId xmlns:a16="http://schemas.microsoft.com/office/drawing/2014/main" id="{644BE4DE-567D-4E7C-93FA-1AC90112C0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43213" y="6411913"/>
            <a:ext cx="2960687" cy="309562"/>
          </a:xfrm>
        </p:spPr>
        <p:txBody>
          <a:bodyPr/>
          <a:lstStyle/>
          <a:p>
            <a:pPr>
              <a:defRPr/>
            </a:pPr>
            <a:r>
              <a:rPr lang="zh-CN" altLang="en-US"/>
              <a:t>人工智能与自动化学院测量科学与仪器系</a:t>
            </a:r>
            <a:endParaRPr lang="en-US" altLang="zh-CN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3">
            <a:extLst>
              <a:ext uri="{FF2B5EF4-FFF2-40B4-BE49-F238E27FC236}">
                <a16:creationId xmlns:a16="http://schemas.microsoft.com/office/drawing/2014/main" id="{E30BADEA-BA59-4D73-8F01-120BFF62797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58775" y="152400"/>
            <a:ext cx="3421063" cy="647700"/>
          </a:xfrm>
        </p:spPr>
        <p:txBody>
          <a:bodyPr/>
          <a:lstStyle/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</a:pPr>
            <a:r>
              <a:rPr lang="en-US" altLang="zh-CN" sz="28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1.4 </a:t>
            </a:r>
            <a:r>
              <a:rPr lang="zh-CN" altLang="en-US" sz="28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粗大误差</a:t>
            </a:r>
          </a:p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</a:pPr>
            <a:endParaRPr lang="zh-CN" altLang="en-US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8131" name="灯片编号占位符 5">
            <a:extLst>
              <a:ext uri="{FF2B5EF4-FFF2-40B4-BE49-F238E27FC236}">
                <a16:creationId xmlns:a16="http://schemas.microsoft.com/office/drawing/2014/main" id="{EE232E2B-6781-431A-8B93-99DC803091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buFontTx/>
              <a:buChar char="•"/>
            </a:pPr>
            <a:fld id="{02377352-A1C5-4418-ADE0-52FFAD70E0A5}" type="slidenum">
              <a:rPr lang="en-US" altLang="zh-CN" sz="1200" smtClean="0">
                <a:solidFill>
                  <a:srgbClr val="898989"/>
                </a:solidFill>
                <a:latin typeface="Times New Roman" panose="02020603050405020304" pitchFamily="18" charset="0"/>
                <a:ea typeface="楷体_GB2312" pitchFamily="49" charset="-122"/>
              </a:rPr>
              <a:pPr>
                <a:buFontTx/>
                <a:buChar char="•"/>
              </a:pPr>
              <a:t>24</a:t>
            </a:fld>
            <a:endParaRPr lang="en-US" altLang="zh-CN" sz="1200">
              <a:solidFill>
                <a:srgbClr val="898989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B42C001-D668-4AEA-B9C2-C3B5D1180930}"/>
              </a:ext>
            </a:extLst>
          </p:cNvPr>
          <p:cNvSpPr/>
          <p:nvPr/>
        </p:nvSpPr>
        <p:spPr>
          <a:xfrm>
            <a:off x="142875" y="1000125"/>
            <a:ext cx="8286750" cy="46038"/>
          </a:xfrm>
          <a:prstGeom prst="rect">
            <a:avLst/>
          </a:prstGeom>
          <a:gradFill flip="none" rotWithShape="1">
            <a:gsLst>
              <a:gs pos="0">
                <a:srgbClr val="5E9EFF"/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85000"/>
              <a:buFontTx/>
              <a:buChar char="•"/>
              <a:defRPr/>
            </a:pPr>
            <a:endParaRPr lang="zh-CN" altLang="en-US"/>
          </a:p>
        </p:txBody>
      </p:sp>
      <p:sp>
        <p:nvSpPr>
          <p:cNvPr id="33797" name="Rectangle 3">
            <a:extLst>
              <a:ext uri="{FF2B5EF4-FFF2-40B4-BE49-F238E27FC236}">
                <a16:creationId xmlns:a16="http://schemas.microsoft.com/office/drawing/2014/main" id="{B8625E0B-118C-4F20-8A06-3E553EFF48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1313" y="1154113"/>
            <a:ext cx="5435600" cy="719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</a:pPr>
            <a:r>
              <a:rPr lang="en-US" altLang="zh-CN" sz="2400" b="1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1.4.1 </a:t>
            </a:r>
            <a:r>
              <a:rPr lang="zh-CN" altLang="en-US" sz="2400" b="1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粗大误差的产生原因</a:t>
            </a:r>
          </a:p>
        </p:txBody>
      </p:sp>
      <p:sp>
        <p:nvSpPr>
          <p:cNvPr id="33799" name="Text Box 11">
            <a:extLst>
              <a:ext uri="{FF2B5EF4-FFF2-40B4-BE49-F238E27FC236}">
                <a16:creationId xmlns:a16="http://schemas.microsoft.com/office/drawing/2014/main" id="{28D76CA9-384B-4FEB-9846-A16AF7DA8D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6375" y="1793875"/>
            <a:ext cx="3671888" cy="708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000" b="1">
                <a:latin typeface="黑体" panose="02010609060101010101" pitchFamily="49" charset="-122"/>
                <a:ea typeface="黑体" panose="02010609060101010101" pitchFamily="49" charset="-122"/>
              </a:rPr>
              <a:t>(1)</a:t>
            </a:r>
            <a:r>
              <a:rPr lang="zh-CN" altLang="en-US" sz="2000" b="1">
                <a:latin typeface="黑体" panose="02010609060101010101" pitchFamily="49" charset="-122"/>
                <a:ea typeface="黑体" panose="02010609060101010101" pitchFamily="49" charset="-122"/>
              </a:rPr>
              <a:t>测量人员的主观原因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b="1">
                <a:latin typeface="黑体" panose="02010609060101010101" pitchFamily="49" charset="-122"/>
                <a:ea typeface="黑体" panose="02010609060101010101" pitchFamily="49" charset="-122"/>
              </a:rPr>
              <a:t>(2)</a:t>
            </a:r>
            <a:r>
              <a:rPr lang="zh-CN" altLang="en-US" sz="2000" b="1">
                <a:latin typeface="黑体" panose="02010609060101010101" pitchFamily="49" charset="-122"/>
                <a:ea typeface="黑体" panose="02010609060101010101" pitchFamily="49" charset="-122"/>
              </a:rPr>
              <a:t>客观外界条件的原因</a:t>
            </a:r>
          </a:p>
        </p:txBody>
      </p:sp>
      <p:sp>
        <p:nvSpPr>
          <p:cNvPr id="33800" name="Text Box 11">
            <a:extLst>
              <a:ext uri="{FF2B5EF4-FFF2-40B4-BE49-F238E27FC236}">
                <a16:creationId xmlns:a16="http://schemas.microsoft.com/office/drawing/2014/main" id="{022D774B-B1FD-4111-8A11-871A7E9CB5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2275" y="3578225"/>
            <a:ext cx="2374900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000" b="1">
                <a:latin typeface="黑体" panose="02010609060101010101" pitchFamily="49" charset="-122"/>
                <a:ea typeface="黑体" panose="02010609060101010101" pitchFamily="49" charset="-122"/>
              </a:rPr>
              <a:t>(1) 3</a:t>
            </a:r>
            <a:r>
              <a:rPr lang="el-GR" altLang="zh-CN" sz="2000" b="1">
                <a:latin typeface="黑体" panose="02010609060101010101" pitchFamily="49" charset="-122"/>
                <a:ea typeface="黑体" panose="02010609060101010101" pitchFamily="49" charset="-122"/>
              </a:rPr>
              <a:t>σ</a:t>
            </a:r>
            <a:r>
              <a:rPr lang="zh-CN" altLang="en-US" sz="2000" b="1">
                <a:latin typeface="黑体" panose="02010609060101010101" pitchFamily="49" charset="-122"/>
                <a:ea typeface="黑体" panose="02010609060101010101" pitchFamily="49" charset="-122"/>
              </a:rPr>
              <a:t>准则</a:t>
            </a:r>
          </a:p>
        </p:txBody>
      </p:sp>
      <p:sp>
        <p:nvSpPr>
          <p:cNvPr id="33801" name="Rectangle 3">
            <a:extLst>
              <a:ext uri="{FF2B5EF4-FFF2-40B4-BE49-F238E27FC236}">
                <a16:creationId xmlns:a16="http://schemas.microsoft.com/office/drawing/2014/main" id="{2F5B97DB-7768-40BA-B909-734F4A5858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3213" y="2794000"/>
            <a:ext cx="5435600" cy="719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</a:pPr>
            <a:r>
              <a:rPr lang="en-US" altLang="zh-CN" sz="2400" b="1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1.4.2 </a:t>
            </a:r>
            <a:r>
              <a:rPr lang="zh-CN" altLang="en-US" sz="2400" b="1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粗大误差的判别准则</a:t>
            </a:r>
          </a:p>
        </p:txBody>
      </p:sp>
      <p:graphicFrame>
        <p:nvGraphicFramePr>
          <p:cNvPr id="33802" name="Object 10">
            <a:extLst>
              <a:ext uri="{FF2B5EF4-FFF2-40B4-BE49-F238E27FC236}">
                <a16:creationId xmlns:a16="http://schemas.microsoft.com/office/drawing/2014/main" id="{6E70FE8C-5A1B-4E56-BDD3-A337A27C8F1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22450" y="4249738"/>
          <a:ext cx="2209800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64" name="公式" r:id="rId3" imgW="1143000" imgH="228600" progId="Equation.3">
                  <p:embed/>
                </p:oleObj>
              </mc:Choice>
              <mc:Fallback>
                <p:oleObj name="公式" r:id="rId3" imgW="1143000" imgH="2286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2450" y="4249738"/>
                        <a:ext cx="2209800" cy="441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803" name="Text Box 11">
            <a:extLst>
              <a:ext uri="{FF2B5EF4-FFF2-40B4-BE49-F238E27FC236}">
                <a16:creationId xmlns:a16="http://schemas.microsoft.com/office/drawing/2014/main" id="{66FFD559-B20F-4166-9970-A45F39BFA0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55763" y="5699125"/>
            <a:ext cx="2374900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000" b="1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000" b="1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2000" b="1">
                <a:latin typeface="黑体" panose="02010609060101010101" pitchFamily="49" charset="-122"/>
                <a:ea typeface="黑体" panose="02010609060101010101" pitchFamily="49" charset="-122"/>
              </a:rPr>
              <a:t>）其它准则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F1594304-0F22-4A25-92F6-748FC272F1A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7538" y="165100"/>
            <a:ext cx="4645025" cy="6191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页脚占位符 6">
            <a:extLst>
              <a:ext uri="{FF2B5EF4-FFF2-40B4-BE49-F238E27FC236}">
                <a16:creationId xmlns:a16="http://schemas.microsoft.com/office/drawing/2014/main" id="{CD3A66D5-BB97-454C-815A-4880D9D41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43213" y="6411913"/>
            <a:ext cx="2960687" cy="309562"/>
          </a:xfrm>
        </p:spPr>
        <p:txBody>
          <a:bodyPr/>
          <a:lstStyle/>
          <a:p>
            <a:pPr>
              <a:defRPr/>
            </a:pPr>
            <a:r>
              <a:rPr lang="zh-CN" altLang="en-US"/>
              <a:t>人工智能与自动化学院测量科学与仪器系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37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37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37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37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37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37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38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38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38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38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38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38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38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38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4" grpId="0" build="p"/>
      <p:bldP spid="6" grpId="0" animBg="1"/>
      <p:bldP spid="33797" grpId="0"/>
      <p:bldP spid="33799" grpId="0"/>
      <p:bldP spid="33800" grpId="0"/>
      <p:bldP spid="33801" grpId="0"/>
      <p:bldP spid="33803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3">
            <a:extLst>
              <a:ext uri="{FF2B5EF4-FFF2-40B4-BE49-F238E27FC236}">
                <a16:creationId xmlns:a16="http://schemas.microsoft.com/office/drawing/2014/main" id="{33025EA6-7EB4-4BF5-9F4E-A7C236CC9E8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58775" y="152400"/>
            <a:ext cx="3421063" cy="647700"/>
          </a:xfrm>
        </p:spPr>
        <p:txBody>
          <a:bodyPr/>
          <a:lstStyle/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</a:pPr>
            <a:r>
              <a:rPr lang="en-US" altLang="zh-CN" sz="28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 </a:t>
            </a:r>
            <a:r>
              <a:rPr lang="zh-CN" altLang="en-US" sz="28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误差的合成与分配</a:t>
            </a:r>
          </a:p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</a:pPr>
            <a:endParaRPr lang="zh-CN" altLang="en-US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9155" name="灯片编号占位符 5">
            <a:extLst>
              <a:ext uri="{FF2B5EF4-FFF2-40B4-BE49-F238E27FC236}">
                <a16:creationId xmlns:a16="http://schemas.microsoft.com/office/drawing/2014/main" id="{B2EC6CC9-CF8C-44E1-9D29-40282AB4F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buFontTx/>
              <a:buChar char="•"/>
            </a:pPr>
            <a:fld id="{57B8CE77-7BF0-4F7D-B130-1363BDFC12A8}" type="slidenum">
              <a:rPr lang="en-US" altLang="zh-CN" sz="1200" smtClean="0">
                <a:solidFill>
                  <a:srgbClr val="898989"/>
                </a:solidFill>
                <a:latin typeface="Times New Roman" panose="02020603050405020304" pitchFamily="18" charset="0"/>
                <a:ea typeface="楷体_GB2312" pitchFamily="49" charset="-122"/>
              </a:rPr>
              <a:pPr>
                <a:buFontTx/>
                <a:buChar char="•"/>
              </a:pPr>
              <a:t>25</a:t>
            </a:fld>
            <a:endParaRPr lang="en-US" altLang="zh-CN" sz="1200">
              <a:solidFill>
                <a:srgbClr val="898989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F874D10-EFF4-41A4-A1CF-C10025803B70}"/>
              </a:ext>
            </a:extLst>
          </p:cNvPr>
          <p:cNvSpPr/>
          <p:nvPr/>
        </p:nvSpPr>
        <p:spPr>
          <a:xfrm>
            <a:off x="142875" y="1000125"/>
            <a:ext cx="8286750" cy="46038"/>
          </a:xfrm>
          <a:prstGeom prst="rect">
            <a:avLst/>
          </a:prstGeom>
          <a:gradFill flip="none" rotWithShape="1">
            <a:gsLst>
              <a:gs pos="0">
                <a:srgbClr val="5E9EFF"/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85000"/>
              <a:buFontTx/>
              <a:buChar char="•"/>
              <a:defRPr/>
            </a:pPr>
            <a:endParaRPr lang="zh-CN" altLang="en-US"/>
          </a:p>
        </p:txBody>
      </p:sp>
      <p:sp>
        <p:nvSpPr>
          <p:cNvPr id="31749" name="Rectangle 3">
            <a:extLst>
              <a:ext uri="{FF2B5EF4-FFF2-40B4-BE49-F238E27FC236}">
                <a16:creationId xmlns:a16="http://schemas.microsoft.com/office/drawing/2014/main" id="{B4713EFE-F4A2-4B93-8EED-85DABAC462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1341438"/>
            <a:ext cx="7416800" cy="148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50000"/>
              </a:spcBef>
              <a:buFont typeface="Wingdings" panose="05000000000000000000" pitchFamily="2" charset="2"/>
              <a:buChar char="u"/>
              <a:defRPr/>
            </a:pPr>
            <a:r>
              <a:rPr lang="zh-CN" altLang="en-US" sz="2000" b="1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间接测量：</a:t>
            </a:r>
            <a:endParaRPr lang="en-US" altLang="zh-CN" sz="2000" b="1" dirty="0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 eaLnBrk="1" hangingPunct="1">
              <a:lnSpc>
                <a:spcPct val="125000"/>
              </a:lnSpc>
              <a:spcBef>
                <a:spcPct val="50000"/>
              </a:spcBef>
              <a:buFontTx/>
              <a:buNone/>
              <a:defRPr/>
            </a:pP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通过直接测量与被测量之间有一定函数关系的其他量。</a:t>
            </a:r>
            <a:endParaRPr lang="en-US" altLang="zh-CN" sz="20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 eaLnBrk="1" hangingPunct="1">
              <a:lnSpc>
                <a:spcPct val="125000"/>
              </a:lnSpc>
              <a:spcBef>
                <a:spcPct val="50000"/>
              </a:spcBef>
              <a:buFontTx/>
              <a:buNone/>
              <a:defRPr/>
            </a:pP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换言之，间接测量的量是直接测量所得各个测量值的函数。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ACB38741-2319-46C5-A680-9343EE091E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3573463"/>
            <a:ext cx="7345363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50000"/>
              </a:spcBef>
              <a:buFont typeface="Wingdings" panose="05000000000000000000" pitchFamily="2" charset="2"/>
              <a:buChar char="u"/>
              <a:defRPr/>
            </a:pPr>
            <a:r>
              <a:rPr lang="zh-CN" altLang="en-US" sz="2000" b="1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误差的合成：</a:t>
            </a:r>
            <a:endParaRPr lang="en-US" altLang="zh-CN" sz="2000" b="1" dirty="0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 eaLnBrk="1" hangingPunct="1">
              <a:lnSpc>
                <a:spcPct val="125000"/>
              </a:lnSpc>
              <a:spcBef>
                <a:spcPct val="50000"/>
              </a:spcBef>
              <a:buFontTx/>
              <a:buNone/>
              <a:defRPr/>
            </a:pP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间接测量的</a:t>
            </a:r>
            <a:r>
              <a:rPr lang="zh-CN" altLang="en-US" sz="2000" b="1" dirty="0">
                <a:highlight>
                  <a:srgbClr val="FFFF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总误差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是各个直接测得值误差的函数，称为</a:t>
            </a:r>
            <a:r>
              <a:rPr lang="zh-CN" altLang="en-US" sz="20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误差函数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。对于这种具有确定关系的误差计算也称为</a:t>
            </a:r>
            <a:r>
              <a:rPr lang="zh-CN" altLang="en-US" sz="20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误差合成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en-US" altLang="zh-CN" sz="20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" name="页脚占位符 6">
            <a:extLst>
              <a:ext uri="{FF2B5EF4-FFF2-40B4-BE49-F238E27FC236}">
                <a16:creationId xmlns:a16="http://schemas.microsoft.com/office/drawing/2014/main" id="{E32EB469-A65A-440F-AC77-A2439C2B9F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43213" y="6411913"/>
            <a:ext cx="2960687" cy="309562"/>
          </a:xfrm>
        </p:spPr>
        <p:txBody>
          <a:bodyPr/>
          <a:lstStyle/>
          <a:p>
            <a:pPr>
              <a:defRPr/>
            </a:pPr>
            <a:r>
              <a:rPr lang="zh-CN" altLang="en-US"/>
              <a:t>人工智能与自动化学院测量科学与仪器系</a:t>
            </a:r>
            <a:endParaRPr lang="en-US" altLang="zh-CN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301AC4E-8749-45A7-8D81-02C8BB855F93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995929" y="2926676"/>
            <a:ext cx="3694565" cy="430887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F815CB5-D4FA-46C0-8722-71D75B400B13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309465" y="5446883"/>
            <a:ext cx="3694565" cy="501356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3">
            <a:extLst>
              <a:ext uri="{FF2B5EF4-FFF2-40B4-BE49-F238E27FC236}">
                <a16:creationId xmlns:a16="http://schemas.microsoft.com/office/drawing/2014/main" id="{5954AC1C-C1D3-4E6D-88F3-039C4FB0519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58775" y="152400"/>
            <a:ext cx="3421063" cy="647700"/>
          </a:xfrm>
        </p:spPr>
        <p:txBody>
          <a:bodyPr/>
          <a:lstStyle/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</a:pPr>
            <a:r>
              <a:rPr lang="en-US" altLang="zh-CN" sz="28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 </a:t>
            </a:r>
            <a:r>
              <a:rPr lang="zh-CN" altLang="en-US" sz="28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误差的合成与分配</a:t>
            </a:r>
          </a:p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</a:pPr>
            <a:endParaRPr lang="zh-CN" altLang="en-US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1203" name="灯片编号占位符 5">
            <a:extLst>
              <a:ext uri="{FF2B5EF4-FFF2-40B4-BE49-F238E27FC236}">
                <a16:creationId xmlns:a16="http://schemas.microsoft.com/office/drawing/2014/main" id="{5A397C6B-E563-4ADC-8AF9-7416E0631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buFontTx/>
              <a:buChar char="•"/>
            </a:pPr>
            <a:fld id="{D82F8072-A2AA-4D91-95A6-23D11B0F6120}" type="slidenum">
              <a:rPr lang="en-US" altLang="zh-CN" sz="1200" smtClean="0">
                <a:solidFill>
                  <a:srgbClr val="898989"/>
                </a:solidFill>
                <a:latin typeface="Times New Roman" panose="02020603050405020304" pitchFamily="18" charset="0"/>
                <a:ea typeface="楷体_GB2312" pitchFamily="49" charset="-122"/>
              </a:rPr>
              <a:pPr>
                <a:buFontTx/>
                <a:buChar char="•"/>
              </a:pPr>
              <a:t>26</a:t>
            </a:fld>
            <a:endParaRPr lang="en-US" altLang="zh-CN" sz="1200">
              <a:solidFill>
                <a:srgbClr val="898989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EC7F61B-4F72-42D1-A357-506F17872417}"/>
              </a:ext>
            </a:extLst>
          </p:cNvPr>
          <p:cNvSpPr/>
          <p:nvPr/>
        </p:nvSpPr>
        <p:spPr>
          <a:xfrm>
            <a:off x="142875" y="1000125"/>
            <a:ext cx="8286750" cy="46038"/>
          </a:xfrm>
          <a:prstGeom prst="rect">
            <a:avLst/>
          </a:prstGeom>
          <a:gradFill flip="none" rotWithShape="1">
            <a:gsLst>
              <a:gs pos="0">
                <a:srgbClr val="5E9EFF"/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85000"/>
              <a:buFontTx/>
              <a:buChar char="•"/>
              <a:defRPr/>
            </a:pPr>
            <a:endParaRPr lang="zh-CN" altLang="en-US"/>
          </a:p>
        </p:txBody>
      </p:sp>
      <p:sp>
        <p:nvSpPr>
          <p:cNvPr id="51205" name="Rectangle 3">
            <a:extLst>
              <a:ext uri="{FF2B5EF4-FFF2-40B4-BE49-F238E27FC236}">
                <a16:creationId xmlns:a16="http://schemas.microsoft.com/office/drawing/2014/main" id="{89D1A0F6-08E0-4B9A-9409-E6A0261388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1313" y="1154113"/>
            <a:ext cx="5435600" cy="719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</a:pPr>
            <a:r>
              <a:rPr lang="en-US" altLang="zh-CN" sz="2400" b="1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2.1 </a:t>
            </a:r>
            <a:r>
              <a:rPr lang="zh-CN" altLang="en-US" sz="2400" b="1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误差的合成</a:t>
            </a:r>
          </a:p>
        </p:txBody>
      </p:sp>
      <p:sp>
        <p:nvSpPr>
          <p:cNvPr id="51206" name="Rectangle 3">
            <a:extLst>
              <a:ext uri="{FF2B5EF4-FFF2-40B4-BE49-F238E27FC236}">
                <a16:creationId xmlns:a16="http://schemas.microsoft.com/office/drawing/2014/main" id="{ABD8F8A3-2B5F-44D4-97D3-ED4941D219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7913" y="3352800"/>
            <a:ext cx="2376487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</a:pPr>
            <a:r>
              <a:rPr lang="en-US" altLang="zh-CN" sz="2000" b="1">
                <a:latin typeface="黑体" panose="02010609060101010101" pitchFamily="49" charset="-122"/>
                <a:ea typeface="黑体" panose="02010609060101010101" pitchFamily="49" charset="-122"/>
              </a:rPr>
              <a:t>2.</a:t>
            </a:r>
            <a:r>
              <a:rPr lang="zh-CN" altLang="en-US" sz="2000" b="1">
                <a:latin typeface="黑体" panose="02010609060101010101" pitchFamily="49" charset="-122"/>
                <a:ea typeface="黑体" panose="02010609060101010101" pitchFamily="49" charset="-122"/>
              </a:rPr>
              <a:t>系统误差的合成</a:t>
            </a:r>
          </a:p>
        </p:txBody>
      </p:sp>
      <p:graphicFrame>
        <p:nvGraphicFramePr>
          <p:cNvPr id="51207" name="Object 11">
            <a:extLst>
              <a:ext uri="{FF2B5EF4-FFF2-40B4-BE49-F238E27FC236}">
                <a16:creationId xmlns:a16="http://schemas.microsoft.com/office/drawing/2014/main" id="{D3154330-A517-454D-AA9D-368ECAF2143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63938" y="1981200"/>
          <a:ext cx="31242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82" name="公式" r:id="rId4" imgW="2374900" imgH="558800" progId="Equation.3">
                  <p:embed/>
                </p:oleObj>
              </mc:Choice>
              <mc:Fallback>
                <p:oleObj name="公式" r:id="rId4" imgW="2374900" imgH="5588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3938" y="1981200"/>
                        <a:ext cx="312420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08" name="Rectangle 3">
            <a:extLst>
              <a:ext uri="{FF2B5EF4-FFF2-40B4-BE49-F238E27FC236}">
                <a16:creationId xmlns:a16="http://schemas.microsoft.com/office/drawing/2014/main" id="{9BEEEADB-6C41-491D-8B56-85F7073094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6475" y="2030413"/>
            <a:ext cx="2376488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</a:pPr>
            <a:r>
              <a:rPr lang="en-US" altLang="zh-CN" sz="2000" b="1">
                <a:latin typeface="黑体" panose="02010609060101010101" pitchFamily="49" charset="-122"/>
                <a:ea typeface="黑体" panose="02010609060101010101" pitchFamily="49" charset="-122"/>
              </a:rPr>
              <a:t>1.</a:t>
            </a:r>
            <a:r>
              <a:rPr lang="zh-CN" altLang="en-US" sz="2000" b="1">
                <a:latin typeface="黑体" panose="02010609060101010101" pitchFamily="49" charset="-122"/>
                <a:ea typeface="黑体" panose="02010609060101010101" pitchFamily="49" charset="-122"/>
              </a:rPr>
              <a:t>随机误差的合成</a:t>
            </a:r>
          </a:p>
        </p:txBody>
      </p:sp>
      <p:sp>
        <p:nvSpPr>
          <p:cNvPr id="51209" name="Rectangle 3">
            <a:extLst>
              <a:ext uri="{FF2B5EF4-FFF2-40B4-BE49-F238E27FC236}">
                <a16:creationId xmlns:a16="http://schemas.microsoft.com/office/drawing/2014/main" id="{CA3CAA3E-43FD-40B8-870D-B1EC70B20B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7913" y="4598988"/>
            <a:ext cx="4041775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</a:pPr>
            <a:r>
              <a:rPr lang="en-US" altLang="zh-CN" sz="2000" b="1">
                <a:latin typeface="黑体" panose="02010609060101010101" pitchFamily="49" charset="-122"/>
                <a:ea typeface="黑体" panose="02010609060101010101" pitchFamily="49" charset="-122"/>
              </a:rPr>
              <a:t>3.</a:t>
            </a:r>
            <a:r>
              <a:rPr lang="zh-CN" altLang="en-US" sz="2000" b="1">
                <a:latin typeface="黑体" panose="02010609060101010101" pitchFamily="49" charset="-122"/>
                <a:ea typeface="黑体" panose="02010609060101010101" pitchFamily="49" charset="-122"/>
              </a:rPr>
              <a:t>系统误差与随机误差的合成</a:t>
            </a:r>
          </a:p>
        </p:txBody>
      </p:sp>
      <p:graphicFrame>
        <p:nvGraphicFramePr>
          <p:cNvPr id="51210" name="Object 14">
            <a:extLst>
              <a:ext uri="{FF2B5EF4-FFF2-40B4-BE49-F238E27FC236}">
                <a16:creationId xmlns:a16="http://schemas.microsoft.com/office/drawing/2014/main" id="{7D039C83-ED16-414C-B33F-2E566E152D4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89363" y="3305175"/>
          <a:ext cx="1295400" cy="639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83" name="公式" r:id="rId6" imgW="901309" imgH="444307" progId="Equation.3">
                  <p:embed/>
                </p:oleObj>
              </mc:Choice>
              <mc:Fallback>
                <p:oleObj name="公式" r:id="rId6" imgW="901309" imgH="444307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89363" y="3305175"/>
                        <a:ext cx="1295400" cy="639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11" name="Object 17">
            <a:extLst>
              <a:ext uri="{FF2B5EF4-FFF2-40B4-BE49-F238E27FC236}">
                <a16:creationId xmlns:a16="http://schemas.microsoft.com/office/drawing/2014/main" id="{4FD3D927-A83B-430D-AE3C-3B17BFAA8CC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20975" y="5165725"/>
          <a:ext cx="4953000" cy="760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84" name="公式" r:id="rId8" imgW="3657600" imgH="558800" progId="Equation.3">
                  <p:embed/>
                </p:oleObj>
              </mc:Choice>
              <mc:Fallback>
                <p:oleObj name="公式" r:id="rId8" imgW="3657600" imgH="55880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20975" y="5165725"/>
                        <a:ext cx="4953000" cy="760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页脚占位符 6">
            <a:extLst>
              <a:ext uri="{FF2B5EF4-FFF2-40B4-BE49-F238E27FC236}">
                <a16:creationId xmlns:a16="http://schemas.microsoft.com/office/drawing/2014/main" id="{505DFDF7-2529-4E8C-9901-B26BFD8684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43213" y="6411913"/>
            <a:ext cx="2960687" cy="309562"/>
          </a:xfrm>
        </p:spPr>
        <p:txBody>
          <a:bodyPr/>
          <a:lstStyle/>
          <a:p>
            <a:pPr>
              <a:defRPr/>
            </a:pPr>
            <a:r>
              <a:rPr lang="zh-CN" altLang="en-US"/>
              <a:t>人工智能与自动化学院测量科学与仪器系</a:t>
            </a:r>
            <a:endParaRPr lang="en-US" altLang="zh-CN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3">
            <a:extLst>
              <a:ext uri="{FF2B5EF4-FFF2-40B4-BE49-F238E27FC236}">
                <a16:creationId xmlns:a16="http://schemas.microsoft.com/office/drawing/2014/main" id="{D99ECFE2-E457-4739-AF25-CBD397AF884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58775" y="152400"/>
            <a:ext cx="3421063" cy="647700"/>
          </a:xfrm>
        </p:spPr>
        <p:txBody>
          <a:bodyPr/>
          <a:lstStyle/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</a:pPr>
            <a:r>
              <a:rPr lang="en-US" altLang="zh-CN" sz="28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 </a:t>
            </a:r>
            <a:r>
              <a:rPr lang="zh-CN" altLang="en-US" sz="28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误差的合成与分配</a:t>
            </a:r>
          </a:p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</a:pPr>
            <a:endParaRPr lang="zh-CN" altLang="en-US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3251" name="灯片编号占位符 5">
            <a:extLst>
              <a:ext uri="{FF2B5EF4-FFF2-40B4-BE49-F238E27FC236}">
                <a16:creationId xmlns:a16="http://schemas.microsoft.com/office/drawing/2014/main" id="{91D51E6A-D8BF-45A4-8D12-15B462AEB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buFontTx/>
              <a:buChar char="•"/>
            </a:pPr>
            <a:fld id="{A324F302-238B-4B2F-9381-52A5F05C9AF7}" type="slidenum">
              <a:rPr lang="en-US" altLang="zh-CN" sz="1200" smtClean="0">
                <a:solidFill>
                  <a:srgbClr val="898989"/>
                </a:solidFill>
                <a:latin typeface="Times New Roman" panose="02020603050405020304" pitchFamily="18" charset="0"/>
                <a:ea typeface="楷体_GB2312" pitchFamily="49" charset="-122"/>
              </a:rPr>
              <a:pPr>
                <a:buFontTx/>
                <a:buChar char="•"/>
              </a:pPr>
              <a:t>27</a:t>
            </a:fld>
            <a:endParaRPr lang="en-US" altLang="zh-CN" sz="1200">
              <a:solidFill>
                <a:srgbClr val="898989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88B0546-F8D7-4638-940F-72F7016B580F}"/>
              </a:ext>
            </a:extLst>
          </p:cNvPr>
          <p:cNvSpPr/>
          <p:nvPr/>
        </p:nvSpPr>
        <p:spPr>
          <a:xfrm>
            <a:off x="142875" y="1000125"/>
            <a:ext cx="8286750" cy="46038"/>
          </a:xfrm>
          <a:prstGeom prst="rect">
            <a:avLst/>
          </a:prstGeom>
          <a:gradFill flip="none" rotWithShape="1">
            <a:gsLst>
              <a:gs pos="0">
                <a:srgbClr val="5E9EFF"/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85000"/>
              <a:buFontTx/>
              <a:buChar char="•"/>
              <a:defRPr/>
            </a:pPr>
            <a:endParaRPr lang="zh-CN" altLang="en-US"/>
          </a:p>
        </p:txBody>
      </p:sp>
      <p:sp>
        <p:nvSpPr>
          <p:cNvPr id="53253" name="Rectangle 3">
            <a:extLst>
              <a:ext uri="{FF2B5EF4-FFF2-40B4-BE49-F238E27FC236}">
                <a16:creationId xmlns:a16="http://schemas.microsoft.com/office/drawing/2014/main" id="{14F74594-2B36-49CF-8FF6-9540D9B7DA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1313" y="1154113"/>
            <a:ext cx="5435600" cy="719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</a:pPr>
            <a:r>
              <a:rPr lang="en-US" altLang="zh-CN" sz="2400" b="1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2.2 </a:t>
            </a:r>
            <a:r>
              <a:rPr lang="zh-CN" altLang="en-US" sz="2400" b="1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误差的分配</a:t>
            </a:r>
          </a:p>
        </p:txBody>
      </p:sp>
      <p:sp>
        <p:nvSpPr>
          <p:cNvPr id="53254" name="Rectangle 3">
            <a:extLst>
              <a:ext uri="{FF2B5EF4-FFF2-40B4-BE49-F238E27FC236}">
                <a16:creationId xmlns:a16="http://schemas.microsoft.com/office/drawing/2014/main" id="{021F724A-BD99-440F-95C0-72D7E73C23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60475" y="2968625"/>
            <a:ext cx="5832475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</a:pPr>
            <a:r>
              <a:rPr lang="zh-CN" altLang="en-US" sz="2000">
                <a:latin typeface="黑体" panose="02010609060101010101" pitchFamily="49" charset="-122"/>
                <a:ea typeface="黑体" panose="02010609060101010101" pitchFamily="49" charset="-122"/>
              </a:rPr>
              <a:t>若各误差皆为随机误差，且互不相关，可得：</a:t>
            </a:r>
          </a:p>
        </p:txBody>
      </p:sp>
      <p:sp>
        <p:nvSpPr>
          <p:cNvPr id="53255" name="Rectangle 3">
            <a:extLst>
              <a:ext uri="{FF2B5EF4-FFF2-40B4-BE49-F238E27FC236}">
                <a16:creationId xmlns:a16="http://schemas.microsoft.com/office/drawing/2014/main" id="{929405DA-A06F-4A27-8EE7-C839500F32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60475" y="2205036"/>
            <a:ext cx="6413500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</a:pP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给定测量结果</a:t>
            </a:r>
            <a:r>
              <a:rPr lang="zh-CN" altLang="en-US" sz="2000" b="1" dirty="0">
                <a:highlight>
                  <a:srgbClr val="FFFF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总误差的允差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，要求</a:t>
            </a:r>
            <a:r>
              <a:rPr lang="zh-CN" altLang="en-US" sz="20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确定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各个</a:t>
            </a:r>
            <a:r>
              <a:rPr lang="zh-CN" altLang="en-US" sz="2000" b="1" dirty="0">
                <a:highlight>
                  <a:srgbClr val="FFFF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单项误差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</a:p>
        </p:txBody>
      </p:sp>
      <p:sp>
        <p:nvSpPr>
          <p:cNvPr id="53256" name="Rectangle 3">
            <a:extLst>
              <a:ext uri="{FF2B5EF4-FFF2-40B4-BE49-F238E27FC236}">
                <a16:creationId xmlns:a16="http://schemas.microsoft.com/office/drawing/2014/main" id="{A1E7119D-2D06-4B38-899D-DDFDD3A29C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200" y="4392613"/>
            <a:ext cx="2454275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</a:pPr>
            <a:r>
              <a:rPr lang="en-US" altLang="zh-CN" sz="16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Di</a:t>
            </a:r>
            <a:r>
              <a:rPr lang="zh-CN" altLang="en-US" sz="16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：函数的部分误差</a:t>
            </a:r>
          </a:p>
        </p:txBody>
      </p:sp>
      <p:graphicFrame>
        <p:nvGraphicFramePr>
          <p:cNvPr id="53257" name="Object 16">
            <a:extLst>
              <a:ext uri="{FF2B5EF4-FFF2-40B4-BE49-F238E27FC236}">
                <a16:creationId xmlns:a16="http://schemas.microsoft.com/office/drawing/2014/main" id="{CB27734E-9714-4046-B8EF-549731CE025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38225" y="3689350"/>
          <a:ext cx="7391400" cy="815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09" name="公式" r:id="rId4" imgW="5016500" imgH="558800" progId="Equation.3">
                  <p:embed/>
                </p:oleObj>
              </mc:Choice>
              <mc:Fallback>
                <p:oleObj name="公式" r:id="rId4" imgW="5016500" imgH="55880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38225" y="3689350"/>
                        <a:ext cx="7391400" cy="815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258" name="Rectangle 3">
            <a:extLst>
              <a:ext uri="{FF2B5EF4-FFF2-40B4-BE49-F238E27FC236}">
                <a16:creationId xmlns:a16="http://schemas.microsoft.com/office/drawing/2014/main" id="{6BD53AE7-D018-4A31-9D55-376E493726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71588" y="5157788"/>
            <a:ext cx="1042987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</a:pPr>
            <a:r>
              <a:rPr lang="zh-CN" altLang="en-US" sz="2000">
                <a:latin typeface="黑体" panose="02010609060101010101" pitchFamily="49" charset="-122"/>
                <a:ea typeface="黑体" panose="02010609060101010101" pitchFamily="49" charset="-122"/>
              </a:rPr>
              <a:t>要求：</a:t>
            </a:r>
          </a:p>
        </p:txBody>
      </p:sp>
      <p:graphicFrame>
        <p:nvGraphicFramePr>
          <p:cNvPr id="53259" name="对象 1">
            <a:extLst>
              <a:ext uri="{FF2B5EF4-FFF2-40B4-BE49-F238E27FC236}">
                <a16:creationId xmlns:a16="http://schemas.microsoft.com/office/drawing/2014/main" id="{7C06D8FF-8BEA-4BC2-ADD2-CDE2CB39969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70113" y="5129213"/>
          <a:ext cx="1081087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10" name="Equation" r:id="rId6" imgW="545863" imgH="241195" progId="Equation.DSMT4">
                  <p:embed/>
                </p:oleObj>
              </mc:Choice>
              <mc:Fallback>
                <p:oleObj name="Equation" r:id="rId6" imgW="545863" imgH="241195" progId="Equation.DSMT4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0113" y="5129213"/>
                        <a:ext cx="1081087" cy="476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页脚占位符 6">
            <a:extLst>
              <a:ext uri="{FF2B5EF4-FFF2-40B4-BE49-F238E27FC236}">
                <a16:creationId xmlns:a16="http://schemas.microsoft.com/office/drawing/2014/main" id="{4ADEA6CD-DFB3-46CD-AA0B-119DBBA8F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43213" y="6411913"/>
            <a:ext cx="2960687" cy="309562"/>
          </a:xfrm>
        </p:spPr>
        <p:txBody>
          <a:bodyPr/>
          <a:lstStyle/>
          <a:p>
            <a:pPr>
              <a:defRPr/>
            </a:pPr>
            <a:r>
              <a:rPr lang="zh-CN" altLang="en-US"/>
              <a:t>人工智能与自动化学院测量科学与仪器系</a:t>
            </a:r>
            <a:endParaRPr lang="en-US" altLang="zh-CN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3">
            <a:extLst>
              <a:ext uri="{FF2B5EF4-FFF2-40B4-BE49-F238E27FC236}">
                <a16:creationId xmlns:a16="http://schemas.microsoft.com/office/drawing/2014/main" id="{A1F6D307-B313-4A1B-A020-15DC64B7D4A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30200" y="120650"/>
            <a:ext cx="3421063" cy="647700"/>
          </a:xfrm>
        </p:spPr>
        <p:txBody>
          <a:bodyPr/>
          <a:lstStyle/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</a:pPr>
            <a:r>
              <a:rPr lang="en-US" altLang="zh-CN" sz="28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 </a:t>
            </a:r>
            <a:r>
              <a:rPr lang="zh-CN" altLang="en-US" sz="28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误差的合成与分配</a:t>
            </a:r>
          </a:p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</a:pPr>
            <a:endParaRPr lang="zh-CN" altLang="en-US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5299" name="灯片编号占位符 5">
            <a:extLst>
              <a:ext uri="{FF2B5EF4-FFF2-40B4-BE49-F238E27FC236}">
                <a16:creationId xmlns:a16="http://schemas.microsoft.com/office/drawing/2014/main" id="{2574FDD4-C63F-4541-8F05-D09FCAB95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653213" y="6330950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buFontTx/>
              <a:buChar char="•"/>
            </a:pPr>
            <a:fld id="{035EB74C-CFF6-4277-98AD-A40E65640A98}" type="slidenum">
              <a:rPr lang="en-US" altLang="zh-CN" sz="1200" smtClean="0">
                <a:solidFill>
                  <a:srgbClr val="898989"/>
                </a:solidFill>
                <a:latin typeface="Times New Roman" panose="02020603050405020304" pitchFamily="18" charset="0"/>
                <a:ea typeface="楷体_GB2312" pitchFamily="49" charset="-122"/>
              </a:rPr>
              <a:pPr>
                <a:buFontTx/>
                <a:buChar char="•"/>
              </a:pPr>
              <a:t>28</a:t>
            </a:fld>
            <a:endParaRPr lang="en-US" altLang="zh-CN" sz="1200">
              <a:solidFill>
                <a:srgbClr val="898989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5B880C3-6BBC-4A8C-9606-5E7D0F86FB75}"/>
              </a:ext>
            </a:extLst>
          </p:cNvPr>
          <p:cNvSpPr/>
          <p:nvPr/>
        </p:nvSpPr>
        <p:spPr>
          <a:xfrm>
            <a:off x="142875" y="1000125"/>
            <a:ext cx="8286750" cy="46038"/>
          </a:xfrm>
          <a:prstGeom prst="rect">
            <a:avLst/>
          </a:prstGeom>
          <a:gradFill flip="none" rotWithShape="1">
            <a:gsLst>
              <a:gs pos="0">
                <a:srgbClr val="5E9EFF"/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85000"/>
              <a:buFontTx/>
              <a:buChar char="•"/>
              <a:defRPr/>
            </a:pPr>
            <a:endParaRPr lang="zh-CN" altLang="en-US"/>
          </a:p>
        </p:txBody>
      </p:sp>
      <p:sp>
        <p:nvSpPr>
          <p:cNvPr id="55301" name="Rectangle 3">
            <a:extLst>
              <a:ext uri="{FF2B5EF4-FFF2-40B4-BE49-F238E27FC236}">
                <a16:creationId xmlns:a16="http://schemas.microsoft.com/office/drawing/2014/main" id="{85B150CE-60B1-48A3-BC83-437BE2056A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1313" y="1154113"/>
            <a:ext cx="5435600" cy="719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</a:pPr>
            <a:r>
              <a:rPr lang="en-US" altLang="zh-CN" sz="2400" b="1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2.2 </a:t>
            </a:r>
            <a:r>
              <a:rPr lang="zh-CN" altLang="en-US" sz="2400" b="1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误差的分配</a:t>
            </a:r>
          </a:p>
        </p:txBody>
      </p:sp>
      <p:graphicFrame>
        <p:nvGraphicFramePr>
          <p:cNvPr id="55302" name="Object 16">
            <a:extLst>
              <a:ext uri="{FF2B5EF4-FFF2-40B4-BE49-F238E27FC236}">
                <a16:creationId xmlns:a16="http://schemas.microsoft.com/office/drawing/2014/main" id="{0B7057C4-FB7C-4A5E-AC1B-F1AAF610971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71550" y="1878013"/>
          <a:ext cx="7391400" cy="815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80" name="公式" r:id="rId4" imgW="5016500" imgH="558800" progId="Equation.3">
                  <p:embed/>
                </p:oleObj>
              </mc:Choice>
              <mc:Fallback>
                <p:oleObj name="公式" r:id="rId4" imgW="5016500" imgH="55880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1878013"/>
                        <a:ext cx="7391400" cy="815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303" name="Rectangle 3">
            <a:extLst>
              <a:ext uri="{FF2B5EF4-FFF2-40B4-BE49-F238E27FC236}">
                <a16:creationId xmlns:a16="http://schemas.microsoft.com/office/drawing/2014/main" id="{85E122F4-19A0-4B01-8C88-8B4324AE37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06513" y="2949575"/>
            <a:ext cx="6413500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</a:pPr>
            <a:r>
              <a:rPr lang="en-US" altLang="zh-CN" sz="2000" b="1">
                <a:latin typeface="黑体" panose="02010609060101010101" pitchFamily="49" charset="-122"/>
                <a:ea typeface="黑体" panose="02010609060101010101" pitchFamily="49" charset="-122"/>
              </a:rPr>
              <a:t>(1)</a:t>
            </a:r>
            <a:r>
              <a:rPr lang="zh-CN" altLang="en-US" sz="2000" b="1">
                <a:latin typeface="黑体" panose="02010609060101010101" pitchFamily="49" charset="-122"/>
                <a:ea typeface="黑体" panose="02010609060101010101" pitchFamily="49" charset="-122"/>
              </a:rPr>
              <a:t>按等作用原则分配误差</a:t>
            </a:r>
          </a:p>
        </p:txBody>
      </p:sp>
      <p:graphicFrame>
        <p:nvGraphicFramePr>
          <p:cNvPr id="55304" name="Object 18">
            <a:extLst>
              <a:ext uri="{FF2B5EF4-FFF2-40B4-BE49-F238E27FC236}">
                <a16:creationId xmlns:a16="http://schemas.microsoft.com/office/drawing/2014/main" id="{3BCF7DA4-B74D-44E4-AAFF-D7755AD509F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22688" y="3425825"/>
          <a:ext cx="1600200" cy="585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81" name="公式" r:id="rId6" imgW="1231366" imgH="444307" progId="Equation.3">
                  <p:embed/>
                </p:oleObj>
              </mc:Choice>
              <mc:Fallback>
                <p:oleObj name="公式" r:id="rId6" imgW="1231366" imgH="444307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22688" y="3425825"/>
                        <a:ext cx="1600200" cy="585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05" name="Object 20">
            <a:extLst>
              <a:ext uri="{FF2B5EF4-FFF2-40B4-BE49-F238E27FC236}">
                <a16:creationId xmlns:a16="http://schemas.microsoft.com/office/drawing/2014/main" id="{ED8170CC-63AA-437D-B21C-7A64D161536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42000" y="3408363"/>
          <a:ext cx="1447800" cy="620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82" name="公式" r:id="rId8" imgW="1079500" imgH="457200" progId="Equation.3">
                  <p:embed/>
                </p:oleObj>
              </mc:Choice>
              <mc:Fallback>
                <p:oleObj name="公式" r:id="rId8" imgW="1079500" imgH="457200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42000" y="3408363"/>
                        <a:ext cx="1447800" cy="620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306" name="Rectangle 3">
            <a:extLst>
              <a:ext uri="{FF2B5EF4-FFF2-40B4-BE49-F238E27FC236}">
                <a16:creationId xmlns:a16="http://schemas.microsoft.com/office/drawing/2014/main" id="{9941F90A-49A0-45C4-9BC2-3D26CCB757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3025" y="4097338"/>
            <a:ext cx="6415088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</a:pPr>
            <a:r>
              <a:rPr lang="en-US" altLang="zh-CN" sz="2000" b="1">
                <a:latin typeface="黑体" panose="02010609060101010101" pitchFamily="49" charset="-122"/>
                <a:ea typeface="黑体" panose="02010609060101010101" pitchFamily="49" charset="-122"/>
              </a:rPr>
              <a:t>(2)</a:t>
            </a:r>
            <a:r>
              <a:rPr lang="zh-CN" altLang="en-US" sz="2000" b="1">
                <a:latin typeface="黑体" panose="02010609060101010101" pitchFamily="49" charset="-122"/>
                <a:ea typeface="黑体" panose="02010609060101010101" pitchFamily="49" charset="-122"/>
              </a:rPr>
              <a:t>按可能性调整误差</a:t>
            </a:r>
          </a:p>
        </p:txBody>
      </p:sp>
      <p:sp>
        <p:nvSpPr>
          <p:cNvPr id="55307" name="Rectangle 3">
            <a:extLst>
              <a:ext uri="{FF2B5EF4-FFF2-40B4-BE49-F238E27FC236}">
                <a16:creationId xmlns:a16="http://schemas.microsoft.com/office/drawing/2014/main" id="{C620113A-3D0E-4C81-B774-58FB4C6330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1600" y="4716463"/>
            <a:ext cx="6415088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</a:pPr>
            <a:r>
              <a:rPr lang="en-US" altLang="zh-CN" sz="2000" b="1">
                <a:latin typeface="黑体" panose="02010609060101010101" pitchFamily="49" charset="-122"/>
                <a:ea typeface="黑体" panose="02010609060101010101" pitchFamily="49" charset="-122"/>
              </a:rPr>
              <a:t>(3)</a:t>
            </a:r>
            <a:r>
              <a:rPr lang="zh-CN" altLang="en-US" sz="2000" b="1">
                <a:latin typeface="黑体" panose="02010609060101010101" pitchFamily="49" charset="-122"/>
                <a:ea typeface="黑体" panose="02010609060101010101" pitchFamily="49" charset="-122"/>
              </a:rPr>
              <a:t>最佳测量方案的确定</a:t>
            </a:r>
          </a:p>
        </p:txBody>
      </p:sp>
      <p:sp>
        <p:nvSpPr>
          <p:cNvPr id="55308" name="Rectangle 3">
            <a:extLst>
              <a:ext uri="{FF2B5EF4-FFF2-40B4-BE49-F238E27FC236}">
                <a16:creationId xmlns:a16="http://schemas.microsoft.com/office/drawing/2014/main" id="{785C0D16-0718-4546-AE0B-C3B1E9C8BF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81338" y="5160963"/>
            <a:ext cx="3367087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</a:pPr>
            <a:r>
              <a:rPr lang="en-US" altLang="zh-CN" sz="2000" b="1">
                <a:latin typeface="黑体" panose="02010609060101010101" pitchFamily="49" charset="-122"/>
                <a:ea typeface="黑体" panose="02010609060101010101" pitchFamily="49" charset="-122"/>
              </a:rPr>
              <a:t>* </a:t>
            </a:r>
            <a:r>
              <a:rPr lang="zh-CN" altLang="en-US" sz="2000" b="1">
                <a:latin typeface="黑体" panose="02010609060101010101" pitchFamily="49" charset="-122"/>
                <a:ea typeface="黑体" panose="02010609060101010101" pitchFamily="49" charset="-122"/>
              </a:rPr>
              <a:t>选择最佳函数误差公式</a:t>
            </a:r>
          </a:p>
        </p:txBody>
      </p:sp>
      <p:sp>
        <p:nvSpPr>
          <p:cNvPr id="55309" name="Rectangle 3">
            <a:extLst>
              <a:ext uri="{FF2B5EF4-FFF2-40B4-BE49-F238E27FC236}">
                <a16:creationId xmlns:a16="http://schemas.microsoft.com/office/drawing/2014/main" id="{E198E87A-B273-4404-9FE6-EA5CDC35B0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81338" y="5599113"/>
            <a:ext cx="4994275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</a:pPr>
            <a:r>
              <a:rPr lang="en-US" altLang="zh-CN" sz="2000" b="1">
                <a:latin typeface="黑体" panose="02010609060101010101" pitchFamily="49" charset="-122"/>
                <a:ea typeface="黑体" panose="02010609060101010101" pitchFamily="49" charset="-122"/>
              </a:rPr>
              <a:t>* </a:t>
            </a:r>
            <a:r>
              <a:rPr lang="zh-CN" altLang="en-US" sz="2000" b="1">
                <a:latin typeface="黑体" panose="02010609060101010101" pitchFamily="49" charset="-122"/>
                <a:ea typeface="黑体" panose="02010609060101010101" pitchFamily="49" charset="-122"/>
              </a:rPr>
              <a:t>使误差传递系数等于零或为最小</a:t>
            </a:r>
          </a:p>
        </p:txBody>
      </p:sp>
      <p:sp>
        <p:nvSpPr>
          <p:cNvPr id="15" name="页脚占位符 6">
            <a:extLst>
              <a:ext uri="{FF2B5EF4-FFF2-40B4-BE49-F238E27FC236}">
                <a16:creationId xmlns:a16="http://schemas.microsoft.com/office/drawing/2014/main" id="{23BC328B-EF3A-4326-AE8E-3C966C283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43213" y="6411913"/>
            <a:ext cx="2960687" cy="309562"/>
          </a:xfrm>
        </p:spPr>
        <p:txBody>
          <a:bodyPr/>
          <a:lstStyle/>
          <a:p>
            <a:pPr>
              <a:defRPr/>
            </a:pPr>
            <a:r>
              <a:rPr lang="zh-CN" altLang="en-US"/>
              <a:t>人工智能与自动化学院测量科学与仪器系</a:t>
            </a:r>
            <a:endParaRPr lang="en-US" altLang="zh-CN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灯片编号占位符 5">
            <a:extLst>
              <a:ext uri="{FF2B5EF4-FFF2-40B4-BE49-F238E27FC236}">
                <a16:creationId xmlns:a16="http://schemas.microsoft.com/office/drawing/2014/main" id="{C1319D35-AD36-4FF4-92E2-9CB87C353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buFontTx/>
              <a:buChar char="•"/>
            </a:pPr>
            <a:fld id="{CFA592DB-AA0F-444D-A726-88AE725FCB15}" type="slidenum">
              <a:rPr lang="en-US" altLang="zh-CN" sz="1200" smtClean="0">
                <a:solidFill>
                  <a:srgbClr val="898989"/>
                </a:solidFill>
                <a:latin typeface="Times New Roman" panose="02020603050405020304" pitchFamily="18" charset="0"/>
                <a:ea typeface="楷体_GB2312" pitchFamily="49" charset="-122"/>
              </a:rPr>
              <a:pPr>
                <a:buFontTx/>
                <a:buChar char="•"/>
              </a:pPr>
              <a:t>29</a:t>
            </a:fld>
            <a:endParaRPr lang="en-US" altLang="zh-CN" sz="1200">
              <a:solidFill>
                <a:srgbClr val="898989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0CE3DCD-B2F5-4D86-90BD-6E3169101814}"/>
              </a:ext>
            </a:extLst>
          </p:cNvPr>
          <p:cNvSpPr/>
          <p:nvPr/>
        </p:nvSpPr>
        <p:spPr>
          <a:xfrm>
            <a:off x="149225" y="936625"/>
            <a:ext cx="8286750" cy="46038"/>
          </a:xfrm>
          <a:prstGeom prst="rect">
            <a:avLst/>
          </a:prstGeom>
          <a:gradFill flip="none" rotWithShape="1">
            <a:gsLst>
              <a:gs pos="0">
                <a:srgbClr val="5E9EFF"/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85000"/>
              <a:buFontTx/>
              <a:buChar char="•"/>
              <a:defRPr/>
            </a:pPr>
            <a:endParaRPr lang="zh-CN" altLang="en-US"/>
          </a:p>
        </p:txBody>
      </p:sp>
      <p:sp>
        <p:nvSpPr>
          <p:cNvPr id="57348" name="文本框 1">
            <a:extLst>
              <a:ext uri="{FF2B5EF4-FFF2-40B4-BE49-F238E27FC236}">
                <a16:creationId xmlns:a16="http://schemas.microsoft.com/office/drawing/2014/main" id="{71C6563D-7914-4F95-9E81-D7D290FA00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22625" y="1744663"/>
            <a:ext cx="1641475" cy="48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2000" b="1">
                <a:latin typeface="黑体" panose="02010609060101010101" pitchFamily="49" charset="-122"/>
                <a:ea typeface="黑体" panose="02010609060101010101" pitchFamily="49" charset="-122"/>
              </a:rPr>
              <a:t>基本概念</a:t>
            </a:r>
            <a:endParaRPr lang="en-US" altLang="zh-CN" sz="20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7349" name="文本框 3">
            <a:extLst>
              <a:ext uri="{FF2B5EF4-FFF2-40B4-BE49-F238E27FC236}">
                <a16:creationId xmlns:a16="http://schemas.microsoft.com/office/drawing/2014/main" id="{D18175B6-3D17-4DC9-B854-0774231CF6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0700" y="3417888"/>
            <a:ext cx="1543050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400" b="1">
                <a:latin typeface="黑体" panose="02010609060101010101" pitchFamily="49" charset="-122"/>
                <a:ea typeface="黑体" panose="02010609060101010101" pitchFamily="49" charset="-122"/>
              </a:rPr>
              <a:t>测量不确定度</a:t>
            </a:r>
          </a:p>
        </p:txBody>
      </p:sp>
      <p:sp>
        <p:nvSpPr>
          <p:cNvPr id="57350" name="左大括号 4">
            <a:extLst>
              <a:ext uri="{FF2B5EF4-FFF2-40B4-BE49-F238E27FC236}">
                <a16:creationId xmlns:a16="http://schemas.microsoft.com/office/drawing/2014/main" id="{D80A29FD-4471-4485-BE99-AE5FD8E0D9C1}"/>
              </a:ext>
            </a:extLst>
          </p:cNvPr>
          <p:cNvSpPr>
            <a:spLocks/>
          </p:cNvSpPr>
          <p:nvPr/>
        </p:nvSpPr>
        <p:spPr bwMode="auto">
          <a:xfrm>
            <a:off x="2112963" y="2070100"/>
            <a:ext cx="431800" cy="3525838"/>
          </a:xfrm>
          <a:prstGeom prst="leftBrace">
            <a:avLst>
              <a:gd name="adj1" fmla="val 8354"/>
              <a:gd name="adj2" fmla="val 50000"/>
            </a:avLst>
          </a:prstGeom>
          <a:noFill/>
          <a:ln w="2857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en-US" sz="1800">
              <a:latin typeface="Arial" panose="020B0604020202020204" pitchFamily="34" charset="0"/>
            </a:endParaRPr>
          </a:p>
        </p:txBody>
      </p:sp>
      <p:sp>
        <p:nvSpPr>
          <p:cNvPr id="57351" name="文本框 1">
            <a:extLst>
              <a:ext uri="{FF2B5EF4-FFF2-40B4-BE49-F238E27FC236}">
                <a16:creationId xmlns:a16="http://schemas.microsoft.com/office/drawing/2014/main" id="{49435972-1E1D-4CAC-89AF-3EC1CE41B7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3188" y="4133850"/>
            <a:ext cx="2700337" cy="48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2000" b="1">
                <a:latin typeface="黑体" panose="02010609060101010101" pitchFamily="49" charset="-122"/>
                <a:ea typeface="黑体" panose="02010609060101010101" pitchFamily="49" charset="-122"/>
              </a:rPr>
              <a:t>测量不确定度的合成</a:t>
            </a:r>
          </a:p>
        </p:txBody>
      </p:sp>
      <p:sp>
        <p:nvSpPr>
          <p:cNvPr id="57352" name="左大括号 4">
            <a:extLst>
              <a:ext uri="{FF2B5EF4-FFF2-40B4-BE49-F238E27FC236}">
                <a16:creationId xmlns:a16="http://schemas.microsoft.com/office/drawing/2014/main" id="{9D47EF30-9888-40D0-A6FA-81A353C3DEF8}"/>
              </a:ext>
            </a:extLst>
          </p:cNvPr>
          <p:cNvSpPr>
            <a:spLocks/>
          </p:cNvSpPr>
          <p:nvPr/>
        </p:nvSpPr>
        <p:spPr bwMode="auto">
          <a:xfrm>
            <a:off x="5127625" y="2447925"/>
            <a:ext cx="431800" cy="1152525"/>
          </a:xfrm>
          <a:prstGeom prst="leftBrace">
            <a:avLst>
              <a:gd name="adj1" fmla="val 8341"/>
              <a:gd name="adj2" fmla="val 50000"/>
            </a:avLst>
          </a:prstGeom>
          <a:noFill/>
          <a:ln w="2857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en-US" sz="1800">
              <a:latin typeface="Arial" panose="020B0604020202020204" pitchFamily="34" charset="0"/>
            </a:endParaRPr>
          </a:p>
        </p:txBody>
      </p:sp>
      <p:sp>
        <p:nvSpPr>
          <p:cNvPr id="57353" name="文本框 1">
            <a:extLst>
              <a:ext uri="{FF2B5EF4-FFF2-40B4-BE49-F238E27FC236}">
                <a16:creationId xmlns:a16="http://schemas.microsoft.com/office/drawing/2014/main" id="{25853C80-5774-4B3A-8428-126F509EC2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92763" y="2286000"/>
            <a:ext cx="2046287" cy="1404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2000" b="1"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lang="zh-CN" altLang="en-US" sz="2000" b="1">
                <a:latin typeface="黑体" panose="02010609060101010101" pitchFamily="49" charset="-122"/>
                <a:ea typeface="黑体" panose="02010609060101010101" pitchFamily="49" charset="-122"/>
              </a:rPr>
              <a:t>类评定</a:t>
            </a: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2000" b="1"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zh-CN" altLang="en-US" sz="2000" b="1">
                <a:latin typeface="黑体" panose="02010609060101010101" pitchFamily="49" charset="-122"/>
                <a:ea typeface="黑体" panose="02010609060101010101" pitchFamily="49" charset="-122"/>
              </a:rPr>
              <a:t>类评定</a:t>
            </a:r>
            <a:endParaRPr lang="en-US" altLang="zh-CN" sz="2000" b="1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2000" b="1">
                <a:latin typeface="黑体" panose="02010609060101010101" pitchFamily="49" charset="-122"/>
                <a:ea typeface="黑体" panose="02010609060101010101" pitchFamily="49" charset="-122"/>
              </a:rPr>
              <a:t>自由度及其确定</a:t>
            </a:r>
          </a:p>
        </p:txBody>
      </p:sp>
      <p:sp>
        <p:nvSpPr>
          <p:cNvPr id="57354" name="文本框 1">
            <a:extLst>
              <a:ext uri="{FF2B5EF4-FFF2-40B4-BE49-F238E27FC236}">
                <a16:creationId xmlns:a16="http://schemas.microsoft.com/office/drawing/2014/main" id="{2688B7FF-0106-45BF-BE3B-B850A7B1EB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4775" y="2703513"/>
            <a:ext cx="2511425" cy="48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2000" b="1">
                <a:latin typeface="黑体" panose="02010609060101010101" pitchFamily="49" charset="-122"/>
                <a:ea typeface="黑体" panose="02010609060101010101" pitchFamily="49" charset="-122"/>
              </a:rPr>
              <a:t>标准不确定度的评定</a:t>
            </a:r>
            <a:endParaRPr lang="en-US" altLang="zh-CN" sz="20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7355" name="左大括号 4">
            <a:extLst>
              <a:ext uri="{FF2B5EF4-FFF2-40B4-BE49-F238E27FC236}">
                <a16:creationId xmlns:a16="http://schemas.microsoft.com/office/drawing/2014/main" id="{F09CF6A6-EC89-4CCF-B521-1590CB6BE594}"/>
              </a:ext>
            </a:extLst>
          </p:cNvPr>
          <p:cNvSpPr>
            <a:spLocks/>
          </p:cNvSpPr>
          <p:nvPr/>
        </p:nvSpPr>
        <p:spPr bwMode="auto">
          <a:xfrm>
            <a:off x="5127625" y="4013200"/>
            <a:ext cx="431800" cy="898525"/>
          </a:xfrm>
          <a:prstGeom prst="leftBrace">
            <a:avLst>
              <a:gd name="adj1" fmla="val 8352"/>
              <a:gd name="adj2" fmla="val 50000"/>
            </a:avLst>
          </a:prstGeom>
          <a:noFill/>
          <a:ln w="2857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en-US" sz="1800">
              <a:latin typeface="Arial" panose="020B0604020202020204" pitchFamily="34" charset="0"/>
            </a:endParaRPr>
          </a:p>
        </p:txBody>
      </p:sp>
      <p:sp>
        <p:nvSpPr>
          <p:cNvPr id="33" name="Rectangle 3">
            <a:extLst>
              <a:ext uri="{FF2B5EF4-FFF2-40B4-BE49-F238E27FC236}">
                <a16:creationId xmlns:a16="http://schemas.microsoft.com/office/drawing/2014/main" id="{AD98E868-9CB6-4827-A7DB-31FA52CD77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6075" y="1052513"/>
            <a:ext cx="3421063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1pPr>
            <a:lvl2pPr marL="742950" indent="-28575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+mn-lt"/>
                <a:ea typeface="+mn-ea"/>
                <a:sym typeface="Calibri" panose="020F0502020204030204" pitchFamily="34" charset="0"/>
              </a:defRPr>
            </a:lvl2pPr>
            <a:lvl3pPr marL="11430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sym typeface="Calibri" panose="020F0502020204030204" pitchFamily="34" charset="0"/>
              </a:defRPr>
            </a:lvl3pPr>
            <a:lvl4pPr marL="16002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+mn-lt"/>
                <a:ea typeface="+mn-ea"/>
                <a:sym typeface="Calibri" panose="020F0502020204030204" pitchFamily="34" charset="0"/>
              </a:defRPr>
            </a:lvl4pPr>
            <a:lvl5pPr marL="20574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Calibri" panose="020F0502020204030204" pitchFamily="34" charset="0"/>
              </a:defRPr>
            </a:lvl5pPr>
            <a:lvl6pPr marL="25146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Calibri" pitchFamily="34" charset="0"/>
              </a:defRPr>
            </a:lvl6pPr>
            <a:lvl7pPr marL="29718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Calibri" pitchFamily="34" charset="0"/>
              </a:defRPr>
            </a:lvl7pPr>
            <a:lvl8pPr marL="34290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Calibri" pitchFamily="34" charset="0"/>
              </a:defRPr>
            </a:lvl8pPr>
            <a:lvl9pPr marL="38862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Calibri" pitchFamily="34" charset="0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  <a:defRPr/>
            </a:pPr>
            <a:r>
              <a:rPr lang="zh-CN" altLang="en-US" sz="2400" kern="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主要内容：</a:t>
            </a:r>
          </a:p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  <a:defRPr/>
            </a:pPr>
            <a:endParaRPr lang="zh-CN" altLang="en-US" kern="0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1" name="Rectangle 3">
            <a:extLst>
              <a:ext uri="{FF2B5EF4-FFF2-40B4-BE49-F238E27FC236}">
                <a16:creationId xmlns:a16="http://schemas.microsoft.com/office/drawing/2014/main" id="{0C8483B3-D3D1-47A8-BD62-C2DB07A516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525" y="120650"/>
            <a:ext cx="3421063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1pPr>
            <a:lvl2pPr marL="742950" indent="-28575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+mn-lt"/>
                <a:ea typeface="+mn-ea"/>
                <a:sym typeface="Calibri" panose="020F0502020204030204" pitchFamily="34" charset="0"/>
              </a:defRPr>
            </a:lvl2pPr>
            <a:lvl3pPr marL="11430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sym typeface="Calibri" panose="020F0502020204030204" pitchFamily="34" charset="0"/>
              </a:defRPr>
            </a:lvl3pPr>
            <a:lvl4pPr marL="16002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+mn-lt"/>
                <a:ea typeface="+mn-ea"/>
                <a:sym typeface="Calibri" panose="020F0502020204030204" pitchFamily="34" charset="0"/>
              </a:defRPr>
            </a:lvl4pPr>
            <a:lvl5pPr marL="20574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Calibri" panose="020F0502020204030204" pitchFamily="34" charset="0"/>
              </a:defRPr>
            </a:lvl5pPr>
            <a:lvl6pPr marL="25146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Calibri" pitchFamily="34" charset="0"/>
              </a:defRPr>
            </a:lvl6pPr>
            <a:lvl7pPr marL="29718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Calibri" pitchFamily="34" charset="0"/>
              </a:defRPr>
            </a:lvl7pPr>
            <a:lvl8pPr marL="34290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Calibri" pitchFamily="34" charset="0"/>
              </a:defRPr>
            </a:lvl8pPr>
            <a:lvl9pPr marL="38862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Calibri" pitchFamily="34" charset="0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  <a:defRPr/>
            </a:pPr>
            <a:r>
              <a:rPr lang="en-US" altLang="zh-CN" sz="2800" kern="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 </a:t>
            </a:r>
            <a:r>
              <a:rPr lang="zh-CN" altLang="en-US" sz="2800" kern="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测量不确定度</a:t>
            </a:r>
          </a:p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  <a:defRPr/>
            </a:pPr>
            <a:endParaRPr lang="zh-CN" altLang="en-US" kern="0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7358" name="Rectangle 3">
            <a:extLst>
              <a:ext uri="{FF2B5EF4-FFF2-40B4-BE49-F238E27FC236}">
                <a16:creationId xmlns:a16="http://schemas.microsoft.com/office/drawing/2014/main" id="{98E1BA00-C853-408D-9CA1-AABB377F14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36875" y="5322888"/>
            <a:ext cx="2212975" cy="719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</a:pPr>
            <a:r>
              <a:rPr lang="zh-CN" altLang="en-US" sz="2000" b="1">
                <a:latin typeface="黑体" panose="02010609060101010101" pitchFamily="49" charset="-122"/>
                <a:ea typeface="黑体" panose="02010609060101010101" pitchFamily="49" charset="-122"/>
              </a:rPr>
              <a:t>测量结果的表示</a:t>
            </a:r>
          </a:p>
        </p:txBody>
      </p:sp>
      <p:sp>
        <p:nvSpPr>
          <p:cNvPr id="57359" name="文本框 1">
            <a:extLst>
              <a:ext uri="{FF2B5EF4-FFF2-40B4-BE49-F238E27FC236}">
                <a16:creationId xmlns:a16="http://schemas.microsoft.com/office/drawing/2014/main" id="{853F7C06-0CD4-4052-88F0-090D920364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41963" y="3908425"/>
            <a:ext cx="2894012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000" b="1">
                <a:latin typeface="黑体" panose="02010609060101010101" pitchFamily="49" charset="-122"/>
                <a:ea typeface="黑体" panose="02010609060101010101" pitchFamily="49" charset="-122"/>
              </a:rPr>
              <a:t>合成标准不确定度</a:t>
            </a:r>
            <a:endParaRPr lang="en-US" altLang="zh-CN" sz="2000" b="1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000" b="1">
                <a:latin typeface="黑体" panose="02010609060101010101" pitchFamily="49" charset="-122"/>
                <a:ea typeface="黑体" panose="02010609060101010101" pitchFamily="49" charset="-122"/>
              </a:rPr>
              <a:t>扩展（展伸）不确定度</a:t>
            </a:r>
          </a:p>
        </p:txBody>
      </p:sp>
      <p:sp>
        <p:nvSpPr>
          <p:cNvPr id="17" name="页脚占位符 6">
            <a:extLst>
              <a:ext uri="{FF2B5EF4-FFF2-40B4-BE49-F238E27FC236}">
                <a16:creationId xmlns:a16="http://schemas.microsoft.com/office/drawing/2014/main" id="{4EDBF5D3-258C-4074-AC01-3ED91BD1B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43213" y="6411913"/>
            <a:ext cx="2960687" cy="309562"/>
          </a:xfrm>
        </p:spPr>
        <p:txBody>
          <a:bodyPr/>
          <a:lstStyle/>
          <a:p>
            <a:pPr>
              <a:defRPr/>
            </a:pPr>
            <a:r>
              <a:rPr lang="zh-CN" altLang="en-US"/>
              <a:t>人工智能与自动化学院测量科学与仪器系</a:t>
            </a:r>
            <a:endParaRPr lang="en-US" altLang="zh-CN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3">
            <a:extLst>
              <a:ext uri="{FF2B5EF4-FFF2-40B4-BE49-F238E27FC236}">
                <a16:creationId xmlns:a16="http://schemas.microsoft.com/office/drawing/2014/main" id="{45D2B7B1-7666-46D7-A85D-B29CD54687D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58775" y="152400"/>
            <a:ext cx="8070850" cy="647700"/>
          </a:xfrm>
        </p:spPr>
        <p:txBody>
          <a:bodyPr/>
          <a:lstStyle/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</a:pPr>
            <a:r>
              <a:rPr lang="en-US" altLang="zh-CN" sz="28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 </a:t>
            </a:r>
            <a:r>
              <a:rPr lang="zh-CN" altLang="en-US" sz="28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测量不确定度（</a:t>
            </a:r>
            <a:r>
              <a:rPr lang="en-US" altLang="zh-CN" sz="28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uncertainty of measurement</a:t>
            </a:r>
            <a:r>
              <a:rPr lang="zh-CN" altLang="en-US" sz="28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</a:p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</a:pPr>
            <a:endParaRPr lang="zh-CN" altLang="en-US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8371" name="灯片编号占位符 5">
            <a:extLst>
              <a:ext uri="{FF2B5EF4-FFF2-40B4-BE49-F238E27FC236}">
                <a16:creationId xmlns:a16="http://schemas.microsoft.com/office/drawing/2014/main" id="{116BD43B-8A69-48A2-898B-5B92BEB5B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653213" y="6330950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buFontTx/>
              <a:buChar char="•"/>
            </a:pPr>
            <a:fld id="{CBA1C1AE-03F4-42FF-9572-AA2B856F8238}" type="slidenum">
              <a:rPr lang="en-US" altLang="zh-CN" sz="1200" smtClean="0">
                <a:solidFill>
                  <a:srgbClr val="898989"/>
                </a:solidFill>
                <a:latin typeface="Times New Roman" panose="02020603050405020304" pitchFamily="18" charset="0"/>
                <a:ea typeface="楷体_GB2312" pitchFamily="49" charset="-122"/>
              </a:rPr>
              <a:pPr>
                <a:buFontTx/>
                <a:buChar char="•"/>
              </a:pPr>
              <a:t>30</a:t>
            </a:fld>
            <a:endParaRPr lang="en-US" altLang="zh-CN" sz="1200">
              <a:solidFill>
                <a:srgbClr val="898989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1350F44-1AD9-423E-A30A-6847D69449FE}"/>
              </a:ext>
            </a:extLst>
          </p:cNvPr>
          <p:cNvSpPr/>
          <p:nvPr/>
        </p:nvSpPr>
        <p:spPr>
          <a:xfrm>
            <a:off x="142875" y="1000125"/>
            <a:ext cx="8286750" cy="46038"/>
          </a:xfrm>
          <a:prstGeom prst="rect">
            <a:avLst/>
          </a:prstGeom>
          <a:gradFill flip="none" rotWithShape="1">
            <a:gsLst>
              <a:gs pos="0">
                <a:srgbClr val="5E9EFF"/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85000"/>
              <a:buFontTx/>
              <a:buChar char="•"/>
              <a:defRPr/>
            </a:pPr>
            <a:endParaRPr lang="zh-CN" altLang="en-US"/>
          </a:p>
        </p:txBody>
      </p:sp>
      <p:sp>
        <p:nvSpPr>
          <p:cNvPr id="58373" name="Rectangle 3">
            <a:extLst>
              <a:ext uri="{FF2B5EF4-FFF2-40B4-BE49-F238E27FC236}">
                <a16:creationId xmlns:a16="http://schemas.microsoft.com/office/drawing/2014/main" id="{6C7728F0-9384-407B-9DA2-D81C7538E9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" y="1184275"/>
            <a:ext cx="5435600" cy="719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</a:pPr>
            <a:r>
              <a:rPr lang="en-US" altLang="zh-CN" sz="2400" b="1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3.1 </a:t>
            </a:r>
            <a:r>
              <a:rPr lang="zh-CN" altLang="en-US" sz="2400" b="1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测量不确定度的基本概念</a:t>
            </a:r>
          </a:p>
        </p:txBody>
      </p:sp>
      <p:sp>
        <p:nvSpPr>
          <p:cNvPr id="58374" name="Rectangle 3">
            <a:extLst>
              <a:ext uri="{FF2B5EF4-FFF2-40B4-BE49-F238E27FC236}">
                <a16:creationId xmlns:a16="http://schemas.microsoft.com/office/drawing/2014/main" id="{5F99E759-B250-438D-A28A-B335197E72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0113" y="2017713"/>
            <a:ext cx="7529512" cy="220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</a:pP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    测量不确定度是指测量结果变化的不肯定程度，</a:t>
            </a:r>
            <a:r>
              <a:rPr lang="zh-CN" altLang="en-US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是表征被测量的真值所处量值范围的评定，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是测量结果含有的一个参数，用以</a:t>
            </a:r>
            <a:r>
              <a:rPr lang="zh-CN" altLang="en-US" sz="20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表示被测量值的分散性（</a:t>
            </a:r>
            <a:r>
              <a:rPr lang="zh-CN" altLang="en-US" sz="2000" b="1" dirty="0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被测量值可能出现的范围</a:t>
            </a:r>
            <a:r>
              <a:rPr lang="zh-CN" altLang="en-US" sz="20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）。</a:t>
            </a:r>
          </a:p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</a:pP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    这种测量不确定度的定义说明：</a:t>
            </a:r>
            <a:r>
              <a:rPr lang="zh-CN" altLang="en-US" sz="2000" b="1" dirty="0">
                <a:highlight>
                  <a:srgbClr val="FFFF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一个完整的测量结果应包含被测量值的估计与分散性参数两部分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。 </a:t>
            </a:r>
          </a:p>
        </p:txBody>
      </p:sp>
      <p:sp>
        <p:nvSpPr>
          <p:cNvPr id="58375" name="Rectangle 3">
            <a:extLst>
              <a:ext uri="{FF2B5EF4-FFF2-40B4-BE49-F238E27FC236}">
                <a16:creationId xmlns:a16="http://schemas.microsoft.com/office/drawing/2014/main" id="{2DC0A1DB-569C-4844-B674-AE66416DCE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4538" y="5330825"/>
            <a:ext cx="990600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</a:pPr>
            <a:r>
              <a:rPr lang="zh-CN" altLang="en-US" sz="1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估计值</a:t>
            </a:r>
          </a:p>
        </p:txBody>
      </p:sp>
      <p:graphicFrame>
        <p:nvGraphicFramePr>
          <p:cNvPr id="58376" name="对象 1">
            <a:extLst>
              <a:ext uri="{FF2B5EF4-FFF2-40B4-BE49-F238E27FC236}">
                <a16:creationId xmlns:a16="http://schemas.microsoft.com/office/drawing/2014/main" id="{7EACDB56-10A3-4225-B461-6AE49898636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76575" y="4518025"/>
          <a:ext cx="1668463" cy="522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409" name="Equation" r:id="rId4" imgW="647419" imgH="203112" progId="Equation.DSMT4">
                  <p:embed/>
                </p:oleObj>
              </mc:Choice>
              <mc:Fallback>
                <p:oleObj name="Equation" r:id="rId4" imgW="647419" imgH="203112" progId="Equation.DSMT4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6575" y="4518025"/>
                        <a:ext cx="1668463" cy="522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8377" name="Group 3">
            <a:extLst>
              <a:ext uri="{FF2B5EF4-FFF2-40B4-BE49-F238E27FC236}">
                <a16:creationId xmlns:a16="http://schemas.microsoft.com/office/drawing/2014/main" id="{9ACB6B78-3896-4977-AE47-3598A1A522D3}"/>
              </a:ext>
            </a:extLst>
          </p:cNvPr>
          <p:cNvGrpSpPr>
            <a:grpSpLocks/>
          </p:cNvGrpSpPr>
          <p:nvPr/>
        </p:nvGrpSpPr>
        <p:grpSpPr bwMode="auto">
          <a:xfrm>
            <a:off x="3684588" y="5026025"/>
            <a:ext cx="409575" cy="249238"/>
            <a:chOff x="1292" y="1622"/>
            <a:chExt cx="596" cy="141"/>
          </a:xfrm>
        </p:grpSpPr>
        <p:sp>
          <p:nvSpPr>
            <p:cNvPr id="58383" name="Line 4">
              <a:extLst>
                <a:ext uri="{FF2B5EF4-FFF2-40B4-BE49-F238E27FC236}">
                  <a16:creationId xmlns:a16="http://schemas.microsoft.com/office/drawing/2014/main" id="{26ACC83E-A28A-40C8-9D8A-6957C9AA3C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92" y="1622"/>
              <a:ext cx="596" cy="0"/>
            </a:xfrm>
            <a:prstGeom prst="line">
              <a:avLst/>
            </a:prstGeom>
            <a:noFill/>
            <a:ln w="2222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384" name="Line 5">
              <a:extLst>
                <a:ext uri="{FF2B5EF4-FFF2-40B4-BE49-F238E27FC236}">
                  <a16:creationId xmlns:a16="http://schemas.microsoft.com/office/drawing/2014/main" id="{82BC79C1-21EE-468F-9880-A0DF3903364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04" y="1622"/>
              <a:ext cx="0" cy="141"/>
            </a:xfrm>
            <a:prstGeom prst="line">
              <a:avLst/>
            </a:prstGeom>
            <a:noFill/>
            <a:ln w="22225">
              <a:solidFill>
                <a:srgbClr val="FF33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8378" name="Rectangle 3">
            <a:extLst>
              <a:ext uri="{FF2B5EF4-FFF2-40B4-BE49-F238E27FC236}">
                <a16:creationId xmlns:a16="http://schemas.microsoft.com/office/drawing/2014/main" id="{FB083FD8-F0C0-4B60-8655-783DC9639F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6250" y="5207000"/>
            <a:ext cx="989013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</a:pPr>
            <a:r>
              <a:rPr lang="zh-CN" altLang="en-US" sz="1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测量不确定度</a:t>
            </a:r>
          </a:p>
        </p:txBody>
      </p:sp>
      <p:grpSp>
        <p:nvGrpSpPr>
          <p:cNvPr id="58379" name="Group 3">
            <a:extLst>
              <a:ext uri="{FF2B5EF4-FFF2-40B4-BE49-F238E27FC236}">
                <a16:creationId xmlns:a16="http://schemas.microsoft.com/office/drawing/2014/main" id="{200821EB-13D9-42F5-A4D1-0FA80820AABD}"/>
              </a:ext>
            </a:extLst>
          </p:cNvPr>
          <p:cNvGrpSpPr>
            <a:grpSpLocks/>
          </p:cNvGrpSpPr>
          <p:nvPr/>
        </p:nvGrpSpPr>
        <p:grpSpPr bwMode="auto">
          <a:xfrm>
            <a:off x="4335463" y="5018088"/>
            <a:ext cx="409575" cy="249237"/>
            <a:chOff x="1292" y="1622"/>
            <a:chExt cx="596" cy="141"/>
          </a:xfrm>
        </p:grpSpPr>
        <p:sp>
          <p:nvSpPr>
            <p:cNvPr id="58381" name="Line 4">
              <a:extLst>
                <a:ext uri="{FF2B5EF4-FFF2-40B4-BE49-F238E27FC236}">
                  <a16:creationId xmlns:a16="http://schemas.microsoft.com/office/drawing/2014/main" id="{AD211D13-724A-479E-9CFB-428280AF0D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92" y="1622"/>
              <a:ext cx="596" cy="0"/>
            </a:xfrm>
            <a:prstGeom prst="line">
              <a:avLst/>
            </a:prstGeom>
            <a:noFill/>
            <a:ln w="2222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382" name="Line 5">
              <a:extLst>
                <a:ext uri="{FF2B5EF4-FFF2-40B4-BE49-F238E27FC236}">
                  <a16:creationId xmlns:a16="http://schemas.microsoft.com/office/drawing/2014/main" id="{42E7BA05-E1EC-4813-930C-F32C73EA70C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04" y="1622"/>
              <a:ext cx="0" cy="141"/>
            </a:xfrm>
            <a:prstGeom prst="line">
              <a:avLst/>
            </a:prstGeom>
            <a:noFill/>
            <a:ln w="22225">
              <a:solidFill>
                <a:srgbClr val="FF33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7" name="页脚占位符 6">
            <a:extLst>
              <a:ext uri="{FF2B5EF4-FFF2-40B4-BE49-F238E27FC236}">
                <a16:creationId xmlns:a16="http://schemas.microsoft.com/office/drawing/2014/main" id="{3EBFF804-44E3-4687-9EA5-ED93AF9513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43213" y="6411913"/>
            <a:ext cx="2960687" cy="309562"/>
          </a:xfrm>
        </p:spPr>
        <p:txBody>
          <a:bodyPr/>
          <a:lstStyle/>
          <a:p>
            <a:pPr>
              <a:defRPr/>
            </a:pPr>
            <a:r>
              <a:rPr lang="zh-CN" altLang="en-US"/>
              <a:t>人工智能与自动化学院测量科学与仪器系</a:t>
            </a:r>
            <a:endParaRPr lang="en-US" altLang="zh-CN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灯片编号占位符 5">
            <a:extLst>
              <a:ext uri="{FF2B5EF4-FFF2-40B4-BE49-F238E27FC236}">
                <a16:creationId xmlns:a16="http://schemas.microsoft.com/office/drawing/2014/main" id="{C18076D0-9860-4049-878B-726204256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653213" y="6330950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buFontTx/>
              <a:buChar char="•"/>
            </a:pPr>
            <a:fld id="{86B4C489-791B-4946-A1BA-4394A475A55A}" type="slidenum">
              <a:rPr lang="en-US" altLang="zh-CN" sz="1200" smtClean="0">
                <a:solidFill>
                  <a:srgbClr val="898989"/>
                </a:solidFill>
                <a:latin typeface="Times New Roman" panose="02020603050405020304" pitchFamily="18" charset="0"/>
                <a:ea typeface="楷体_GB2312" pitchFamily="49" charset="-122"/>
              </a:rPr>
              <a:pPr>
                <a:buFontTx/>
                <a:buChar char="•"/>
              </a:pPr>
              <a:t>31</a:t>
            </a:fld>
            <a:endParaRPr lang="en-US" altLang="zh-CN" sz="1200">
              <a:solidFill>
                <a:srgbClr val="898989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A437286-54A3-4F9E-88F0-805E1D6424F9}"/>
              </a:ext>
            </a:extLst>
          </p:cNvPr>
          <p:cNvSpPr/>
          <p:nvPr/>
        </p:nvSpPr>
        <p:spPr>
          <a:xfrm>
            <a:off x="142875" y="1000125"/>
            <a:ext cx="8286750" cy="46038"/>
          </a:xfrm>
          <a:prstGeom prst="rect">
            <a:avLst/>
          </a:prstGeom>
          <a:gradFill flip="none" rotWithShape="1">
            <a:gsLst>
              <a:gs pos="0">
                <a:srgbClr val="5E9EFF"/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85000"/>
              <a:buFontTx/>
              <a:buChar char="•"/>
              <a:defRPr/>
            </a:pPr>
            <a:endParaRPr lang="zh-CN" altLang="en-US"/>
          </a:p>
        </p:txBody>
      </p:sp>
      <p:sp>
        <p:nvSpPr>
          <p:cNvPr id="60420" name="Rectangle 3">
            <a:extLst>
              <a:ext uri="{FF2B5EF4-FFF2-40B4-BE49-F238E27FC236}">
                <a16:creationId xmlns:a16="http://schemas.microsoft.com/office/drawing/2014/main" id="{0A170CFD-C9B5-42FF-BEF7-A114480AFD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1476375"/>
            <a:ext cx="720090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</a:pPr>
            <a:r>
              <a:rPr lang="zh-CN" altLang="en-US" sz="2000" b="1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测量不确定度</a:t>
            </a:r>
            <a:r>
              <a:rPr lang="zh-CN" altLang="en-US" sz="2000" b="1">
                <a:latin typeface="黑体" panose="02010609060101010101" pitchFamily="49" charset="-122"/>
                <a:ea typeface="黑体" panose="02010609060101010101" pitchFamily="49" charset="-122"/>
              </a:rPr>
              <a:t>与</a:t>
            </a:r>
            <a:r>
              <a:rPr lang="zh-CN" altLang="en-US" sz="2000" b="1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测量误差</a:t>
            </a:r>
            <a:r>
              <a:rPr lang="zh-CN" altLang="en-US" sz="2000" b="1">
                <a:latin typeface="黑体" panose="02010609060101010101" pitchFamily="49" charset="-122"/>
                <a:ea typeface="黑体" panose="02010609060101010101" pitchFamily="49" charset="-122"/>
              </a:rPr>
              <a:t>是测量结果质量评价的两种表示方法</a:t>
            </a:r>
          </a:p>
        </p:txBody>
      </p:sp>
      <p:sp>
        <p:nvSpPr>
          <p:cNvPr id="60421" name="Rectangle 3">
            <a:extLst>
              <a:ext uri="{FF2B5EF4-FFF2-40B4-BE49-F238E27FC236}">
                <a16:creationId xmlns:a16="http://schemas.microsoft.com/office/drawing/2014/main" id="{A04174E0-06CF-4543-AF57-E344C39CC83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66700" y="309563"/>
            <a:ext cx="5472113" cy="647700"/>
          </a:xfrm>
        </p:spPr>
        <p:txBody>
          <a:bodyPr/>
          <a:lstStyle/>
          <a:p>
            <a:pPr eaLnBrk="1" hangingPunct="1">
              <a:lnSpc>
                <a:spcPct val="125000"/>
              </a:lnSpc>
              <a:spcBef>
                <a:spcPct val="50000"/>
              </a:spcBef>
              <a:buFont typeface="Wingdings" panose="05000000000000000000" pitchFamily="2" charset="2"/>
              <a:buChar char="u"/>
            </a:pPr>
            <a:r>
              <a:rPr lang="zh-CN" altLang="en-US" sz="24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测量不确定度与测量误差的比较</a:t>
            </a:r>
          </a:p>
        </p:txBody>
      </p:sp>
      <p:sp>
        <p:nvSpPr>
          <p:cNvPr id="22" name="文本框 3">
            <a:extLst>
              <a:ext uri="{FF2B5EF4-FFF2-40B4-BE49-F238E27FC236}">
                <a16:creationId xmlns:a16="http://schemas.microsoft.com/office/drawing/2014/main" id="{40FAF8A7-3497-4C01-AB14-216EBA7FFA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80758" y="2260780"/>
            <a:ext cx="334486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误差 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= 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测得值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-</a:t>
            </a:r>
            <a:r>
              <a:rPr lang="zh-CN" altLang="en-US" sz="20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真值</a:t>
            </a:r>
          </a:p>
        </p:txBody>
      </p:sp>
      <p:sp>
        <p:nvSpPr>
          <p:cNvPr id="23" name="文本框 3">
            <a:extLst>
              <a:ext uri="{FF2B5EF4-FFF2-40B4-BE49-F238E27FC236}">
                <a16:creationId xmlns:a16="http://schemas.microsoft.com/office/drawing/2014/main" id="{80FDD3A4-7436-4BEC-B78E-3857F2C8C6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3319" y="2180738"/>
            <a:ext cx="1595437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描述测量值的分散性</a:t>
            </a:r>
            <a:endParaRPr lang="zh-CN" altLang="en-US" sz="2000" b="1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60427" name="直接箭头连接符 3">
            <a:extLst>
              <a:ext uri="{FF2B5EF4-FFF2-40B4-BE49-F238E27FC236}">
                <a16:creationId xmlns:a16="http://schemas.microsoft.com/office/drawing/2014/main" id="{F8724A93-2BFC-479A-9DE1-CB91EAEB7EE6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1547790" y="1912938"/>
            <a:ext cx="488974" cy="267800"/>
          </a:xfrm>
          <a:prstGeom prst="straightConnector1">
            <a:avLst/>
          </a:prstGeom>
          <a:noFill/>
          <a:ln w="31750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0428" name="直接箭头连接符 25">
            <a:extLst>
              <a:ext uri="{FF2B5EF4-FFF2-40B4-BE49-F238E27FC236}">
                <a16:creationId xmlns:a16="http://schemas.microsoft.com/office/drawing/2014/main" id="{582A66FE-67D1-4AFB-A24E-D550591B9876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217863" y="1962150"/>
            <a:ext cx="258762" cy="227013"/>
          </a:xfrm>
          <a:prstGeom prst="straightConnector1">
            <a:avLst/>
          </a:prstGeom>
          <a:noFill/>
          <a:ln w="31750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" name="页脚占位符 6">
            <a:extLst>
              <a:ext uri="{FF2B5EF4-FFF2-40B4-BE49-F238E27FC236}">
                <a16:creationId xmlns:a16="http://schemas.microsoft.com/office/drawing/2014/main" id="{D0FC41DC-630A-4D53-90B9-92BE193761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43213" y="6411913"/>
            <a:ext cx="2960687" cy="309562"/>
          </a:xfrm>
        </p:spPr>
        <p:txBody>
          <a:bodyPr/>
          <a:lstStyle/>
          <a:p>
            <a:pPr>
              <a:defRPr/>
            </a:pPr>
            <a:r>
              <a:rPr lang="zh-CN" altLang="en-US"/>
              <a:t>人工智能与自动化学院测量科学与仪器系</a:t>
            </a:r>
            <a:endParaRPr lang="en-US" altLang="zh-CN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DC52D01-05C0-4227-A544-A67AC8B1D8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8756" y="2888624"/>
            <a:ext cx="5848350" cy="3390900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EB14BC85-2AB5-4FA4-B6C5-EF6D7FA7B7DA}"/>
              </a:ext>
            </a:extLst>
          </p:cNvPr>
          <p:cNvSpPr/>
          <p:nvPr/>
        </p:nvSpPr>
        <p:spPr>
          <a:xfrm>
            <a:off x="806894" y="3828664"/>
            <a:ext cx="1764940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u"/>
            </a:pPr>
            <a:r>
              <a:rPr lang="zh-CN" altLang="en-US" sz="20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真实值</a:t>
            </a:r>
            <a:endParaRPr lang="en-US" altLang="zh-CN" sz="2000" b="1" dirty="0">
              <a:solidFill>
                <a:srgbClr val="0000FF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342900" indent="-342900">
              <a:buFont typeface="Wingdings" panose="05000000000000000000" pitchFamily="2" charset="2"/>
              <a:buChar char="u"/>
            </a:pPr>
            <a:r>
              <a:rPr lang="zh-CN" altLang="en-US" sz="20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测量值</a:t>
            </a:r>
            <a:endParaRPr lang="en-US" altLang="zh-CN" sz="2000" b="1" dirty="0">
              <a:solidFill>
                <a:srgbClr val="0000FF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342900" indent="-342900">
              <a:buFont typeface="Wingdings" panose="05000000000000000000" pitchFamily="2" charset="2"/>
              <a:buChar char="u"/>
            </a:pPr>
            <a:r>
              <a:rPr lang="zh-CN" altLang="en-US" sz="20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误    差</a:t>
            </a:r>
            <a:endParaRPr lang="en-US" altLang="zh-CN" sz="2000" b="1" dirty="0">
              <a:solidFill>
                <a:srgbClr val="0000FF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342900" indent="-342900">
              <a:buFont typeface="Wingdings" panose="05000000000000000000" pitchFamily="2" charset="2"/>
              <a:buChar char="u"/>
            </a:pPr>
            <a:r>
              <a:rPr lang="zh-CN" altLang="en-US" sz="20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不确定度</a:t>
            </a:r>
            <a:endParaRPr lang="en-US" altLang="zh-CN" sz="2000" b="1" dirty="0">
              <a:solidFill>
                <a:srgbClr val="0000FF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zh-CN" altLang="en-US" sz="2000" b="1" dirty="0">
                <a:solidFill>
                  <a:srgbClr val="C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相互关系图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5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灯片编号占位符 5">
            <a:extLst>
              <a:ext uri="{FF2B5EF4-FFF2-40B4-BE49-F238E27FC236}">
                <a16:creationId xmlns:a16="http://schemas.microsoft.com/office/drawing/2014/main" id="{B26636A7-768B-420F-95DE-84D1364ED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buFontTx/>
              <a:buChar char="•"/>
            </a:pPr>
            <a:fld id="{5068461F-79B2-4EA5-AEB1-9789A165F8D0}" type="slidenum">
              <a:rPr lang="en-US" altLang="zh-CN" sz="1200" smtClean="0">
                <a:solidFill>
                  <a:srgbClr val="898989"/>
                </a:solidFill>
                <a:latin typeface="Times New Roman" panose="02020603050405020304" pitchFamily="18" charset="0"/>
                <a:ea typeface="楷体_GB2312" pitchFamily="49" charset="-122"/>
              </a:rPr>
              <a:pPr>
                <a:buFontTx/>
                <a:buChar char="•"/>
              </a:pPr>
              <a:t>32</a:t>
            </a:fld>
            <a:endParaRPr lang="en-US" altLang="zh-CN" sz="1200">
              <a:solidFill>
                <a:srgbClr val="898989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473179C-34DD-4288-9B14-E07C05290A4E}"/>
              </a:ext>
            </a:extLst>
          </p:cNvPr>
          <p:cNvSpPr/>
          <p:nvPr/>
        </p:nvSpPr>
        <p:spPr>
          <a:xfrm>
            <a:off x="142875" y="1000125"/>
            <a:ext cx="8286750" cy="46038"/>
          </a:xfrm>
          <a:prstGeom prst="rect">
            <a:avLst/>
          </a:prstGeom>
          <a:gradFill flip="none" rotWithShape="1">
            <a:gsLst>
              <a:gs pos="0">
                <a:srgbClr val="5E9EFF"/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85000"/>
              <a:buFontTx/>
              <a:buChar char="•"/>
              <a:defRPr/>
            </a:pPr>
            <a:endParaRPr lang="zh-CN" altLang="en-US"/>
          </a:p>
        </p:txBody>
      </p:sp>
      <p:sp>
        <p:nvSpPr>
          <p:cNvPr id="62468" name="Rectangle 3">
            <a:extLst>
              <a:ext uri="{FF2B5EF4-FFF2-40B4-BE49-F238E27FC236}">
                <a16:creationId xmlns:a16="http://schemas.microsoft.com/office/drawing/2014/main" id="{4EAA2CBE-E5AC-436D-9581-05CFCD7C3E8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66700" y="309563"/>
            <a:ext cx="5472113" cy="647700"/>
          </a:xfrm>
        </p:spPr>
        <p:txBody>
          <a:bodyPr/>
          <a:lstStyle/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</a:pPr>
            <a:r>
              <a:rPr lang="zh-CN" altLang="en-US" sz="24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测量误差与测量不确定度的比较</a:t>
            </a:r>
          </a:p>
        </p:txBody>
      </p:sp>
      <p:pic>
        <p:nvPicPr>
          <p:cNvPr id="62469" name="图片 7" descr="G:\Users\ZP\Desktop\QQ截图.png">
            <a:extLst>
              <a:ext uri="{FF2B5EF4-FFF2-40B4-BE49-F238E27FC236}">
                <a16:creationId xmlns:a16="http://schemas.microsoft.com/office/drawing/2014/main" id="{2089F191-CD32-49D0-8080-6A04C3CC6A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775" y="1181151"/>
            <a:ext cx="5446842" cy="44956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灯片编号占位符 5">
            <a:extLst>
              <a:ext uri="{FF2B5EF4-FFF2-40B4-BE49-F238E27FC236}">
                <a16:creationId xmlns:a16="http://schemas.microsoft.com/office/drawing/2014/main" id="{B55A7586-4009-45E4-89BF-54EC3EB59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653213" y="6330950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buFontTx/>
              <a:buChar char="•"/>
            </a:pPr>
            <a:fld id="{13617C33-BD36-4435-AAAC-759A304D0313}" type="slidenum">
              <a:rPr lang="en-US" altLang="zh-CN" sz="1200" smtClean="0">
                <a:solidFill>
                  <a:srgbClr val="898989"/>
                </a:solidFill>
                <a:latin typeface="Times New Roman" panose="02020603050405020304" pitchFamily="18" charset="0"/>
                <a:ea typeface="楷体_GB2312" pitchFamily="49" charset="-122"/>
              </a:rPr>
              <a:pPr>
                <a:buFontTx/>
                <a:buChar char="•"/>
              </a:pPr>
              <a:t>33</a:t>
            </a:fld>
            <a:endParaRPr lang="en-US" altLang="zh-CN" sz="1200">
              <a:solidFill>
                <a:srgbClr val="898989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D190420-1146-458D-AB10-80B08E1D4B4C}"/>
              </a:ext>
            </a:extLst>
          </p:cNvPr>
          <p:cNvSpPr/>
          <p:nvPr/>
        </p:nvSpPr>
        <p:spPr>
          <a:xfrm>
            <a:off x="142875" y="1000125"/>
            <a:ext cx="8286750" cy="46038"/>
          </a:xfrm>
          <a:prstGeom prst="rect">
            <a:avLst/>
          </a:prstGeom>
          <a:gradFill flip="none" rotWithShape="1">
            <a:gsLst>
              <a:gs pos="0">
                <a:srgbClr val="5E9EFF"/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85000"/>
              <a:buFontTx/>
              <a:buChar char="•"/>
              <a:defRPr/>
            </a:pPr>
            <a:endParaRPr lang="zh-CN" altLang="en-US"/>
          </a:p>
        </p:txBody>
      </p:sp>
      <p:sp>
        <p:nvSpPr>
          <p:cNvPr id="63492" name="Rectangle 3">
            <a:extLst>
              <a:ext uri="{FF2B5EF4-FFF2-40B4-BE49-F238E27FC236}">
                <a16:creationId xmlns:a16="http://schemas.microsoft.com/office/drawing/2014/main" id="{532A8E79-B116-4678-A709-317CDCA2A5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8450" y="244475"/>
            <a:ext cx="5435600" cy="719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</a:pPr>
            <a:r>
              <a:rPr lang="en-US" altLang="zh-CN" sz="2400" b="1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3.2 </a:t>
            </a:r>
            <a:r>
              <a:rPr lang="zh-CN" altLang="en-US" sz="2400" b="1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标准不确定度的评定</a:t>
            </a:r>
            <a:r>
              <a:rPr lang="en-US" altLang="zh-CN" sz="2400" b="1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—A</a:t>
            </a:r>
            <a:r>
              <a:rPr lang="zh-CN" altLang="en-US" sz="2400" b="1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类评定</a:t>
            </a:r>
          </a:p>
        </p:txBody>
      </p:sp>
      <p:pic>
        <p:nvPicPr>
          <p:cNvPr id="63493" name="Picture 14" descr="未命名">
            <a:extLst>
              <a:ext uri="{FF2B5EF4-FFF2-40B4-BE49-F238E27FC236}">
                <a16:creationId xmlns:a16="http://schemas.microsoft.com/office/drawing/2014/main" id="{E5EBE08F-8E07-486D-8A9C-0CB8EA3C3C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188" y="1384300"/>
            <a:ext cx="8131175" cy="2303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页脚占位符 6">
            <a:extLst>
              <a:ext uri="{FF2B5EF4-FFF2-40B4-BE49-F238E27FC236}">
                <a16:creationId xmlns:a16="http://schemas.microsoft.com/office/drawing/2014/main" id="{1BA69751-C4DE-45E8-B7D2-B477AB1514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43213" y="6411913"/>
            <a:ext cx="2960687" cy="309562"/>
          </a:xfrm>
        </p:spPr>
        <p:txBody>
          <a:bodyPr/>
          <a:lstStyle/>
          <a:p>
            <a:pPr>
              <a:defRPr/>
            </a:pPr>
            <a:r>
              <a:rPr lang="zh-CN" altLang="en-US"/>
              <a:t>人工智能与自动化学院测量科学与仪器系</a:t>
            </a:r>
            <a:endParaRPr lang="en-US" altLang="zh-CN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F5BA73D9-540D-45A1-B5E3-9CE8C1E51A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1850" y="3542020"/>
            <a:ext cx="4824335" cy="2824001"/>
          </a:xfrm>
          <a:prstGeom prst="rect">
            <a:avLst/>
          </a:prstGeom>
        </p:spPr>
      </p:pic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C2DEF810-1055-4C11-8947-BBC62983E090}"/>
              </a:ext>
            </a:extLst>
          </p:cNvPr>
          <p:cNvCxnSpPr/>
          <p:nvPr/>
        </p:nvCxnSpPr>
        <p:spPr bwMode="auto">
          <a:xfrm>
            <a:off x="5076035" y="2107205"/>
            <a:ext cx="2448170" cy="0"/>
          </a:xfrm>
          <a:prstGeom prst="line">
            <a:avLst/>
          </a:prstGeom>
          <a:ln w="38100">
            <a:headEnd type="none" w="med" len="med"/>
            <a:tailEnd type="none" w="med" len="med"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3E49D596-E2F9-460E-93C8-F2D22A173B7B}"/>
              </a:ext>
            </a:extLst>
          </p:cNvPr>
          <p:cNvCxnSpPr/>
          <p:nvPr/>
        </p:nvCxnSpPr>
        <p:spPr bwMode="auto">
          <a:xfrm>
            <a:off x="3851950" y="2492935"/>
            <a:ext cx="2448170" cy="0"/>
          </a:xfrm>
          <a:prstGeom prst="line">
            <a:avLst/>
          </a:prstGeom>
          <a:ln w="38100">
            <a:headEnd type="none" w="med" len="med"/>
            <a:tailEnd type="none" w="med" len="med"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" name="椭圆 4">
            <a:extLst>
              <a:ext uri="{FF2B5EF4-FFF2-40B4-BE49-F238E27FC236}">
                <a16:creationId xmlns:a16="http://schemas.microsoft.com/office/drawing/2014/main" id="{6836A938-E2A7-44A6-AE41-1BBBB3984BB2}"/>
              </a:ext>
            </a:extLst>
          </p:cNvPr>
          <p:cNvSpPr/>
          <p:nvPr/>
        </p:nvSpPr>
        <p:spPr bwMode="auto">
          <a:xfrm>
            <a:off x="2411850" y="2780955"/>
            <a:ext cx="1944135" cy="535020"/>
          </a:xfrm>
          <a:prstGeom prst="ellips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灯片编号占位符 5">
            <a:extLst>
              <a:ext uri="{FF2B5EF4-FFF2-40B4-BE49-F238E27FC236}">
                <a16:creationId xmlns:a16="http://schemas.microsoft.com/office/drawing/2014/main" id="{032C3556-1F0E-4556-BEA5-99F2131B0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653213" y="6330950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buFontTx/>
              <a:buChar char="•"/>
            </a:pPr>
            <a:fld id="{ECCA1142-E3DC-490A-A504-A5AD2CF242EC}" type="slidenum">
              <a:rPr lang="en-US" altLang="zh-CN" sz="1200" smtClean="0">
                <a:solidFill>
                  <a:srgbClr val="898989"/>
                </a:solidFill>
                <a:latin typeface="Times New Roman" panose="02020603050405020304" pitchFamily="18" charset="0"/>
                <a:ea typeface="楷体_GB2312" pitchFamily="49" charset="-122"/>
              </a:rPr>
              <a:pPr>
                <a:buFontTx/>
                <a:buChar char="•"/>
              </a:pPr>
              <a:t>34</a:t>
            </a:fld>
            <a:endParaRPr lang="en-US" altLang="zh-CN" sz="1200">
              <a:solidFill>
                <a:srgbClr val="898989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2A98ACA-0EC3-4785-BF7F-2E16AA624793}"/>
              </a:ext>
            </a:extLst>
          </p:cNvPr>
          <p:cNvSpPr/>
          <p:nvPr/>
        </p:nvSpPr>
        <p:spPr>
          <a:xfrm>
            <a:off x="142875" y="1000125"/>
            <a:ext cx="8286750" cy="46038"/>
          </a:xfrm>
          <a:prstGeom prst="rect">
            <a:avLst/>
          </a:prstGeom>
          <a:gradFill flip="none" rotWithShape="1">
            <a:gsLst>
              <a:gs pos="0">
                <a:srgbClr val="5E9EFF"/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85000"/>
              <a:buFontTx/>
              <a:buChar char="•"/>
              <a:defRPr/>
            </a:pPr>
            <a:endParaRPr lang="zh-CN" altLang="en-US"/>
          </a:p>
        </p:txBody>
      </p:sp>
      <p:sp>
        <p:nvSpPr>
          <p:cNvPr id="12" name="页脚占位符 6">
            <a:extLst>
              <a:ext uri="{FF2B5EF4-FFF2-40B4-BE49-F238E27FC236}">
                <a16:creationId xmlns:a16="http://schemas.microsoft.com/office/drawing/2014/main" id="{2C312078-1273-4D8B-9A7F-6777D25F8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38450" y="6330950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zh-CN" altLang="en-US"/>
              <a:t>自动化学院测量科学与仪器系</a:t>
            </a:r>
            <a:endParaRPr lang="en-US" altLang="zh-CN"/>
          </a:p>
        </p:txBody>
      </p:sp>
      <p:sp>
        <p:nvSpPr>
          <p:cNvPr id="65542" name="页脚占位符 6">
            <a:extLst>
              <a:ext uri="{FF2B5EF4-FFF2-40B4-BE49-F238E27FC236}">
                <a16:creationId xmlns:a16="http://schemas.microsoft.com/office/drawing/2014/main" id="{D94ABA69-2721-4CC8-AF20-D7B30073BB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43213" y="6411913"/>
            <a:ext cx="2960687" cy="309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1200">
                <a:solidFill>
                  <a:srgbClr val="898989"/>
                </a:solidFill>
              </a:rPr>
              <a:t>人工智能与自动化学院测量科学与仪器系</a:t>
            </a:r>
            <a:endParaRPr lang="en-US" altLang="zh-CN" sz="1200">
              <a:solidFill>
                <a:srgbClr val="898989"/>
              </a:solidFill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7C005C04-FB6A-43C5-9144-9A90C15BAF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487" y="1181038"/>
            <a:ext cx="6980713" cy="5448361"/>
          </a:xfrm>
          <a:prstGeom prst="rect">
            <a:avLst/>
          </a:prstGeom>
        </p:spPr>
      </p:pic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DCC89175-5BD2-4D9B-BDA6-9A24A0D64567}"/>
              </a:ext>
            </a:extLst>
          </p:cNvPr>
          <p:cNvCxnSpPr>
            <a:cxnSpLocks/>
          </p:cNvCxnSpPr>
          <p:nvPr/>
        </p:nvCxnSpPr>
        <p:spPr bwMode="auto">
          <a:xfrm>
            <a:off x="6444130" y="1772885"/>
            <a:ext cx="792055" cy="0"/>
          </a:xfrm>
          <a:prstGeom prst="line">
            <a:avLst/>
          </a:prstGeom>
          <a:ln w="38100">
            <a:headEnd type="none" w="med" len="med"/>
            <a:tailEnd type="none" w="med" len="med"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2E286638-E463-4E04-B342-51F6CD35F767}"/>
              </a:ext>
            </a:extLst>
          </p:cNvPr>
          <p:cNvCxnSpPr>
            <a:cxnSpLocks/>
          </p:cNvCxnSpPr>
          <p:nvPr/>
        </p:nvCxnSpPr>
        <p:spPr bwMode="auto">
          <a:xfrm>
            <a:off x="2267840" y="3068975"/>
            <a:ext cx="792055" cy="0"/>
          </a:xfrm>
          <a:prstGeom prst="line">
            <a:avLst/>
          </a:prstGeom>
          <a:ln w="38100">
            <a:headEnd type="none" w="med" len="med"/>
            <a:tailEnd type="none" w="med" len="med"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994E543B-97E1-4D14-A288-F7091C21B825}"/>
              </a:ext>
            </a:extLst>
          </p:cNvPr>
          <p:cNvCxnSpPr>
            <a:cxnSpLocks/>
          </p:cNvCxnSpPr>
          <p:nvPr/>
        </p:nvCxnSpPr>
        <p:spPr bwMode="auto">
          <a:xfrm>
            <a:off x="1763805" y="4437070"/>
            <a:ext cx="792055" cy="0"/>
          </a:xfrm>
          <a:prstGeom prst="line">
            <a:avLst/>
          </a:prstGeom>
          <a:ln w="38100">
            <a:headEnd type="none" w="med" len="med"/>
            <a:tailEnd type="none" w="med" len="med"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A84E727C-3BD8-49A2-9C33-9D3EBA84C8D5}"/>
              </a:ext>
            </a:extLst>
          </p:cNvPr>
          <p:cNvCxnSpPr>
            <a:cxnSpLocks/>
          </p:cNvCxnSpPr>
          <p:nvPr/>
        </p:nvCxnSpPr>
        <p:spPr bwMode="auto">
          <a:xfrm>
            <a:off x="1956670" y="5459270"/>
            <a:ext cx="792055" cy="0"/>
          </a:xfrm>
          <a:prstGeom prst="line">
            <a:avLst/>
          </a:prstGeom>
          <a:ln w="38100">
            <a:headEnd type="none" w="med" len="med"/>
            <a:tailEnd type="none" w="med" len="med"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3E753127-7532-449C-AC58-81C1DFCF199C}"/>
              </a:ext>
            </a:extLst>
          </p:cNvPr>
          <p:cNvCxnSpPr>
            <a:cxnSpLocks/>
          </p:cNvCxnSpPr>
          <p:nvPr/>
        </p:nvCxnSpPr>
        <p:spPr bwMode="auto">
          <a:xfrm>
            <a:off x="4499995" y="6237195"/>
            <a:ext cx="792055" cy="0"/>
          </a:xfrm>
          <a:prstGeom prst="line">
            <a:avLst/>
          </a:prstGeom>
          <a:ln w="38100">
            <a:headEnd type="none" w="med" len="med"/>
            <a:tailEnd type="none" w="med" len="med"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" name="Rectangle 3">
            <a:extLst>
              <a:ext uri="{FF2B5EF4-FFF2-40B4-BE49-F238E27FC236}">
                <a16:creationId xmlns:a16="http://schemas.microsoft.com/office/drawing/2014/main" id="{905E0143-13AB-43E2-9068-E8865C7DD8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8450" y="244475"/>
            <a:ext cx="5435600" cy="719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</a:pPr>
            <a:r>
              <a:rPr lang="en-US" altLang="zh-CN" sz="2400" b="1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3.2 </a:t>
            </a:r>
            <a:r>
              <a:rPr lang="zh-CN" altLang="en-US" sz="2400" b="1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标准不确定度的评定</a:t>
            </a:r>
            <a:r>
              <a:rPr lang="en-US" altLang="zh-CN" sz="2400" b="1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—B</a:t>
            </a:r>
            <a:r>
              <a:rPr lang="zh-CN" altLang="en-US" sz="2400" b="1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类评定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灯片编号占位符 5">
            <a:extLst>
              <a:ext uri="{FF2B5EF4-FFF2-40B4-BE49-F238E27FC236}">
                <a16:creationId xmlns:a16="http://schemas.microsoft.com/office/drawing/2014/main" id="{46D3DA17-A00B-43BB-8791-A97147FD2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653213" y="6330950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buFontTx/>
              <a:buChar char="•"/>
            </a:pPr>
            <a:fld id="{4E5DFC20-DBEA-4FCA-A4BA-364F8736D4F3}" type="slidenum">
              <a:rPr lang="en-US" altLang="zh-CN" sz="1200" smtClean="0">
                <a:solidFill>
                  <a:srgbClr val="898989"/>
                </a:solidFill>
                <a:latin typeface="Times New Roman" panose="02020603050405020304" pitchFamily="18" charset="0"/>
                <a:ea typeface="楷体_GB2312" pitchFamily="49" charset="-122"/>
              </a:rPr>
              <a:pPr>
                <a:buFontTx/>
                <a:buChar char="•"/>
              </a:pPr>
              <a:t>35</a:t>
            </a:fld>
            <a:endParaRPr lang="en-US" altLang="zh-CN" sz="1200">
              <a:solidFill>
                <a:srgbClr val="898989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8693100-7680-449B-B126-C91360C4D576}"/>
              </a:ext>
            </a:extLst>
          </p:cNvPr>
          <p:cNvSpPr/>
          <p:nvPr/>
        </p:nvSpPr>
        <p:spPr>
          <a:xfrm>
            <a:off x="142875" y="1000125"/>
            <a:ext cx="8286750" cy="46038"/>
          </a:xfrm>
          <a:prstGeom prst="rect">
            <a:avLst/>
          </a:prstGeom>
          <a:gradFill flip="none" rotWithShape="1">
            <a:gsLst>
              <a:gs pos="0">
                <a:srgbClr val="5E9EFF"/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85000"/>
              <a:buFontTx/>
              <a:buChar char="•"/>
              <a:defRPr/>
            </a:pPr>
            <a:endParaRPr lang="zh-CN" altLang="en-US"/>
          </a:p>
        </p:txBody>
      </p:sp>
      <p:pic>
        <p:nvPicPr>
          <p:cNvPr id="67588" name="Picture 14" descr="未命名">
            <a:extLst>
              <a:ext uri="{FF2B5EF4-FFF2-40B4-BE49-F238E27FC236}">
                <a16:creationId xmlns:a16="http://schemas.microsoft.com/office/drawing/2014/main" id="{669A4BC9-9C23-4508-996A-2977AF1FDE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4751" y="1237691"/>
            <a:ext cx="6545262" cy="488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页脚占位符 6">
            <a:extLst>
              <a:ext uri="{FF2B5EF4-FFF2-40B4-BE49-F238E27FC236}">
                <a16:creationId xmlns:a16="http://schemas.microsoft.com/office/drawing/2014/main" id="{1CC38149-4114-4605-B753-6ADADAB4CC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43213" y="6411913"/>
            <a:ext cx="2960687" cy="309562"/>
          </a:xfrm>
        </p:spPr>
        <p:txBody>
          <a:bodyPr/>
          <a:lstStyle/>
          <a:p>
            <a:pPr>
              <a:defRPr/>
            </a:pPr>
            <a:r>
              <a:rPr lang="zh-CN" altLang="en-US"/>
              <a:t>人工智能与自动化学院测量科学与仪器系</a:t>
            </a:r>
            <a:endParaRPr lang="en-US" altLang="zh-CN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7A7151C3-73A0-4C51-AA33-4D43F82CD4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8450" y="244475"/>
            <a:ext cx="5435600" cy="719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</a:pPr>
            <a:r>
              <a:rPr lang="en-US" altLang="zh-CN" sz="2400" b="1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3.2 </a:t>
            </a:r>
            <a:r>
              <a:rPr lang="zh-CN" altLang="en-US" sz="2400" b="1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标准不确定度的评定</a:t>
            </a:r>
            <a:r>
              <a:rPr lang="en-US" altLang="zh-CN" sz="2400" b="1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—</a:t>
            </a:r>
            <a:r>
              <a:rPr lang="zh-CN" altLang="en-US" sz="2400" b="1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自由度</a:t>
            </a: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043F8EF5-3B54-46DC-8F9C-DCD11264B6A8}"/>
              </a:ext>
            </a:extLst>
          </p:cNvPr>
          <p:cNvCxnSpPr>
            <a:cxnSpLocks/>
          </p:cNvCxnSpPr>
          <p:nvPr/>
        </p:nvCxnSpPr>
        <p:spPr bwMode="auto">
          <a:xfrm>
            <a:off x="6147903" y="2564940"/>
            <a:ext cx="1376302" cy="0"/>
          </a:xfrm>
          <a:prstGeom prst="line">
            <a:avLst/>
          </a:prstGeom>
          <a:ln w="38100">
            <a:headEnd type="none" w="med" len="med"/>
            <a:tailEnd type="none" w="med" len="med"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A86DDEED-CB62-4BB4-90E9-D0766FE56304}"/>
              </a:ext>
            </a:extLst>
          </p:cNvPr>
          <p:cNvCxnSpPr>
            <a:cxnSpLocks/>
          </p:cNvCxnSpPr>
          <p:nvPr/>
        </p:nvCxnSpPr>
        <p:spPr bwMode="auto">
          <a:xfrm>
            <a:off x="1259770" y="2947825"/>
            <a:ext cx="1296090" cy="0"/>
          </a:xfrm>
          <a:prstGeom prst="line">
            <a:avLst/>
          </a:prstGeom>
          <a:ln w="38100">
            <a:headEnd type="none" w="med" len="med"/>
            <a:tailEnd type="none" w="med" len="med"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A78D0F59-326D-4A29-8452-456ADAAE5B9A}"/>
              </a:ext>
            </a:extLst>
          </p:cNvPr>
          <p:cNvCxnSpPr>
            <a:cxnSpLocks/>
          </p:cNvCxnSpPr>
          <p:nvPr/>
        </p:nvCxnSpPr>
        <p:spPr bwMode="auto">
          <a:xfrm>
            <a:off x="4211975" y="2982115"/>
            <a:ext cx="2808195" cy="0"/>
          </a:xfrm>
          <a:prstGeom prst="line">
            <a:avLst/>
          </a:prstGeom>
          <a:ln w="38100">
            <a:headEnd type="none" w="med" len="med"/>
            <a:tailEnd type="none" w="med" len="med"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3">
            <a:extLst>
              <a:ext uri="{FF2B5EF4-FFF2-40B4-BE49-F238E27FC236}">
                <a16:creationId xmlns:a16="http://schemas.microsoft.com/office/drawing/2014/main" id="{B1012F8B-C0D9-4BF4-A6D4-716D67AED9D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58775" y="95250"/>
            <a:ext cx="3421063" cy="647700"/>
          </a:xfrm>
        </p:spPr>
        <p:txBody>
          <a:bodyPr/>
          <a:lstStyle/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</a:pPr>
            <a:r>
              <a:rPr lang="en-US" altLang="zh-CN" sz="28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 </a:t>
            </a:r>
            <a:r>
              <a:rPr lang="zh-CN" altLang="en-US" sz="28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测量不确定度</a:t>
            </a:r>
          </a:p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</a:pPr>
            <a:endParaRPr lang="zh-CN" altLang="en-US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9635" name="灯片编号占位符 5">
            <a:extLst>
              <a:ext uri="{FF2B5EF4-FFF2-40B4-BE49-F238E27FC236}">
                <a16:creationId xmlns:a16="http://schemas.microsoft.com/office/drawing/2014/main" id="{D7970BDA-7FD5-4694-A67A-F84653A5E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653213" y="6330950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buFontTx/>
              <a:buChar char="•"/>
            </a:pPr>
            <a:fld id="{DFF98DB4-24A0-46AC-A4D1-A4102262013D}" type="slidenum">
              <a:rPr lang="en-US" altLang="zh-CN" sz="1200" smtClean="0">
                <a:solidFill>
                  <a:srgbClr val="898989"/>
                </a:solidFill>
                <a:latin typeface="Times New Roman" panose="02020603050405020304" pitchFamily="18" charset="0"/>
                <a:ea typeface="楷体_GB2312" pitchFamily="49" charset="-122"/>
              </a:rPr>
              <a:pPr>
                <a:buFontTx/>
                <a:buChar char="•"/>
              </a:pPr>
              <a:t>36</a:t>
            </a:fld>
            <a:endParaRPr lang="en-US" altLang="zh-CN" sz="1200">
              <a:solidFill>
                <a:srgbClr val="898989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81AABB9-E63B-4CF8-B61A-F189F8F0A3AE}"/>
              </a:ext>
            </a:extLst>
          </p:cNvPr>
          <p:cNvSpPr/>
          <p:nvPr/>
        </p:nvSpPr>
        <p:spPr>
          <a:xfrm>
            <a:off x="142875" y="1000125"/>
            <a:ext cx="8286750" cy="46038"/>
          </a:xfrm>
          <a:prstGeom prst="rect">
            <a:avLst/>
          </a:prstGeom>
          <a:gradFill flip="none" rotWithShape="1">
            <a:gsLst>
              <a:gs pos="0">
                <a:srgbClr val="5E9EFF"/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85000"/>
              <a:buFontTx/>
              <a:buChar char="•"/>
              <a:defRPr/>
            </a:pPr>
            <a:endParaRPr lang="zh-CN" altLang="en-US"/>
          </a:p>
        </p:txBody>
      </p:sp>
      <p:sp>
        <p:nvSpPr>
          <p:cNvPr id="69637" name="Rectangle 3">
            <a:extLst>
              <a:ext uri="{FF2B5EF4-FFF2-40B4-BE49-F238E27FC236}">
                <a16:creationId xmlns:a16="http://schemas.microsoft.com/office/drawing/2014/main" id="{3B0F6F28-9EC9-43D2-BA4C-8680D8C5CF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" y="1184275"/>
            <a:ext cx="5435600" cy="719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</a:pPr>
            <a:r>
              <a:rPr lang="en-US" altLang="zh-CN" sz="2400" b="1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3.3 </a:t>
            </a:r>
            <a:r>
              <a:rPr lang="zh-CN" altLang="en-US" sz="2400" b="1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测量不确定度的合成</a:t>
            </a:r>
          </a:p>
        </p:txBody>
      </p:sp>
      <p:sp>
        <p:nvSpPr>
          <p:cNvPr id="69638" name="Rectangle 3">
            <a:extLst>
              <a:ext uri="{FF2B5EF4-FFF2-40B4-BE49-F238E27FC236}">
                <a16:creationId xmlns:a16="http://schemas.microsoft.com/office/drawing/2014/main" id="{6C0EE76C-AD3D-474C-99AC-9E5AB06F17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0113" y="2017713"/>
            <a:ext cx="7200900" cy="547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</a:pPr>
            <a:r>
              <a:rPr lang="zh-CN" altLang="en-US" sz="2000" b="1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000" b="1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000" b="1">
                <a:latin typeface="黑体" panose="02010609060101010101" pitchFamily="49" charset="-122"/>
                <a:ea typeface="黑体" panose="02010609060101010101" pitchFamily="49" charset="-122"/>
              </a:rPr>
              <a:t>）合成标准不确定度</a:t>
            </a:r>
            <a:r>
              <a:rPr lang="en-US" altLang="zh-CN" sz="2000" b="1">
                <a:latin typeface="黑体" panose="02010609060101010101" pitchFamily="49" charset="-122"/>
                <a:ea typeface="黑体" panose="02010609060101010101" pitchFamily="49" charset="-122"/>
              </a:rPr>
              <a:t>(combined standard uncertainty)</a:t>
            </a:r>
            <a:endParaRPr lang="zh-CN" altLang="en-US" sz="20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69639" name="Object 15">
            <a:extLst>
              <a:ext uri="{FF2B5EF4-FFF2-40B4-BE49-F238E27FC236}">
                <a16:creationId xmlns:a16="http://schemas.microsoft.com/office/drawing/2014/main" id="{ADC8A245-C986-434F-8C2F-47A8635E671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44788" y="2703513"/>
          <a:ext cx="241935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669" name="公式" r:id="rId4" imgW="1346200" imgH="520700" progId="Equation.3">
                  <p:embed/>
                </p:oleObj>
              </mc:Choice>
              <mc:Fallback>
                <p:oleObj name="公式" r:id="rId4" imgW="1346200" imgH="52070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4788" y="2703513"/>
                        <a:ext cx="2419350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3">
            <a:extLst>
              <a:ext uri="{FF2B5EF4-FFF2-40B4-BE49-F238E27FC236}">
                <a16:creationId xmlns:a16="http://schemas.microsoft.com/office/drawing/2014/main" id="{506CAB68-CB28-4A82-879B-7E8185DC70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913" y="4899025"/>
            <a:ext cx="6119812" cy="547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  <a:defRPr/>
            </a:pPr>
            <a:r>
              <a:rPr lang="zh-CN" altLang="en-US" sz="2000" dirty="0">
                <a:solidFill>
                  <a:schemeClr val="accent5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上式间接测量中，被测量的估计值 </a:t>
            </a:r>
            <a:r>
              <a:rPr lang="en-US" altLang="zh-CN" sz="2000" dirty="0">
                <a:solidFill>
                  <a:schemeClr val="accent5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y=f(X</a:t>
            </a:r>
            <a:r>
              <a:rPr lang="en-US" altLang="zh-CN" sz="2000" baseline="-25000" dirty="0">
                <a:solidFill>
                  <a:schemeClr val="accent5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en-US" altLang="zh-CN" sz="2000" dirty="0">
                <a:solidFill>
                  <a:schemeClr val="accent5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,X</a:t>
            </a:r>
            <a:r>
              <a:rPr lang="en-US" altLang="zh-CN" sz="2000" baseline="-25000" dirty="0">
                <a:solidFill>
                  <a:schemeClr val="accent5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en-US" altLang="zh-CN" sz="2000" dirty="0">
                <a:solidFill>
                  <a:schemeClr val="accent5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,…,X</a:t>
            </a:r>
            <a:r>
              <a:rPr lang="en-US" altLang="zh-CN" sz="2000" baseline="-25000" dirty="0">
                <a:solidFill>
                  <a:schemeClr val="accent5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r>
              <a:rPr lang="en-US" altLang="zh-CN" sz="2000" dirty="0">
                <a:solidFill>
                  <a:schemeClr val="accent5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endParaRPr lang="zh-CN" altLang="en-US" sz="2000" dirty="0">
              <a:solidFill>
                <a:schemeClr val="accent5">
                  <a:lumMod val="7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9641" name="Rectangle 3">
            <a:extLst>
              <a:ext uri="{FF2B5EF4-FFF2-40B4-BE49-F238E27FC236}">
                <a16:creationId xmlns:a16="http://schemas.microsoft.com/office/drawing/2014/main" id="{9F8A65D3-1E6D-46B9-9E98-ABE3CFC4E5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22788" y="3702050"/>
            <a:ext cx="1778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</a:pPr>
            <a:r>
              <a:rPr lang="zh-CN" altLang="en-US" sz="1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直接测量值的标准不确定度</a:t>
            </a:r>
          </a:p>
        </p:txBody>
      </p:sp>
      <p:grpSp>
        <p:nvGrpSpPr>
          <p:cNvPr id="69642" name="Group 3">
            <a:extLst>
              <a:ext uri="{FF2B5EF4-FFF2-40B4-BE49-F238E27FC236}">
                <a16:creationId xmlns:a16="http://schemas.microsoft.com/office/drawing/2014/main" id="{932E6647-C8CE-4BB7-84BF-CEC527A0910C}"/>
              </a:ext>
            </a:extLst>
          </p:cNvPr>
          <p:cNvGrpSpPr>
            <a:grpSpLocks/>
          </p:cNvGrpSpPr>
          <p:nvPr/>
        </p:nvGrpSpPr>
        <p:grpSpPr bwMode="auto">
          <a:xfrm>
            <a:off x="4572000" y="3513138"/>
            <a:ext cx="409575" cy="249237"/>
            <a:chOff x="1292" y="1622"/>
            <a:chExt cx="596" cy="141"/>
          </a:xfrm>
        </p:grpSpPr>
        <p:sp>
          <p:nvSpPr>
            <p:cNvPr id="69644" name="Line 4">
              <a:extLst>
                <a:ext uri="{FF2B5EF4-FFF2-40B4-BE49-F238E27FC236}">
                  <a16:creationId xmlns:a16="http://schemas.microsoft.com/office/drawing/2014/main" id="{C0C71D16-EF9C-4289-AFFD-BE2D276067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92" y="1622"/>
              <a:ext cx="596" cy="0"/>
            </a:xfrm>
            <a:prstGeom prst="line">
              <a:avLst/>
            </a:prstGeom>
            <a:noFill/>
            <a:ln w="2222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645" name="Line 5">
              <a:extLst>
                <a:ext uri="{FF2B5EF4-FFF2-40B4-BE49-F238E27FC236}">
                  <a16:creationId xmlns:a16="http://schemas.microsoft.com/office/drawing/2014/main" id="{48B17AF4-99EF-4956-B927-7B24170AD85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04" y="1622"/>
              <a:ext cx="0" cy="141"/>
            </a:xfrm>
            <a:prstGeom prst="line">
              <a:avLst/>
            </a:prstGeom>
            <a:noFill/>
            <a:ln w="22225">
              <a:solidFill>
                <a:srgbClr val="FF33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4" name="页脚占位符 6">
            <a:extLst>
              <a:ext uri="{FF2B5EF4-FFF2-40B4-BE49-F238E27FC236}">
                <a16:creationId xmlns:a16="http://schemas.microsoft.com/office/drawing/2014/main" id="{4F505C5E-8FA7-4C0B-8607-8B239ABDBC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43213" y="6411913"/>
            <a:ext cx="2960687" cy="309562"/>
          </a:xfrm>
        </p:spPr>
        <p:txBody>
          <a:bodyPr/>
          <a:lstStyle/>
          <a:p>
            <a:pPr>
              <a:defRPr/>
            </a:pPr>
            <a:r>
              <a:rPr lang="zh-CN" altLang="en-US"/>
              <a:t>人工智能与自动化学院测量科学与仪器系</a:t>
            </a:r>
            <a:endParaRPr lang="en-US" altLang="zh-CN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3">
            <a:extLst>
              <a:ext uri="{FF2B5EF4-FFF2-40B4-BE49-F238E27FC236}">
                <a16:creationId xmlns:a16="http://schemas.microsoft.com/office/drawing/2014/main" id="{A4994402-8D42-41DE-93CD-9F29D99D0D4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42900" y="123825"/>
            <a:ext cx="3421063" cy="647700"/>
          </a:xfrm>
        </p:spPr>
        <p:txBody>
          <a:bodyPr/>
          <a:lstStyle/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</a:pPr>
            <a:r>
              <a:rPr lang="en-US" altLang="zh-CN" sz="28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 </a:t>
            </a:r>
            <a:r>
              <a:rPr lang="zh-CN" altLang="en-US" sz="28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测量不确定度</a:t>
            </a:r>
          </a:p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</a:pPr>
            <a:endParaRPr lang="zh-CN" altLang="en-US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1683" name="灯片编号占位符 5">
            <a:extLst>
              <a:ext uri="{FF2B5EF4-FFF2-40B4-BE49-F238E27FC236}">
                <a16:creationId xmlns:a16="http://schemas.microsoft.com/office/drawing/2014/main" id="{70529768-4C9C-485D-A564-1CF9AED4B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653213" y="6330950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buFontTx/>
              <a:buChar char="•"/>
            </a:pPr>
            <a:fld id="{1F25ADE1-22A0-44F8-87C0-957344C69882}" type="slidenum">
              <a:rPr lang="en-US" altLang="zh-CN" sz="1200" smtClean="0">
                <a:solidFill>
                  <a:srgbClr val="898989"/>
                </a:solidFill>
                <a:latin typeface="Times New Roman" panose="02020603050405020304" pitchFamily="18" charset="0"/>
                <a:ea typeface="楷体_GB2312" pitchFamily="49" charset="-122"/>
              </a:rPr>
              <a:pPr>
                <a:buFontTx/>
                <a:buChar char="•"/>
              </a:pPr>
              <a:t>37</a:t>
            </a:fld>
            <a:endParaRPr lang="en-US" altLang="zh-CN" sz="1200">
              <a:solidFill>
                <a:srgbClr val="898989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F6EBB42-B263-41D7-89DE-D5459FB6E962}"/>
              </a:ext>
            </a:extLst>
          </p:cNvPr>
          <p:cNvSpPr/>
          <p:nvPr/>
        </p:nvSpPr>
        <p:spPr>
          <a:xfrm>
            <a:off x="142875" y="1000125"/>
            <a:ext cx="8286750" cy="46038"/>
          </a:xfrm>
          <a:prstGeom prst="rect">
            <a:avLst/>
          </a:prstGeom>
          <a:gradFill flip="none" rotWithShape="1">
            <a:gsLst>
              <a:gs pos="0">
                <a:srgbClr val="5E9EFF"/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85000"/>
              <a:buFontTx/>
              <a:buChar char="•"/>
              <a:defRPr/>
            </a:pPr>
            <a:endParaRPr lang="zh-CN" altLang="en-US"/>
          </a:p>
        </p:txBody>
      </p:sp>
      <p:sp>
        <p:nvSpPr>
          <p:cNvPr id="71685" name="Rectangle 3">
            <a:extLst>
              <a:ext uri="{FF2B5EF4-FFF2-40B4-BE49-F238E27FC236}">
                <a16:creationId xmlns:a16="http://schemas.microsoft.com/office/drawing/2014/main" id="{836D2255-C478-42DB-88F8-DFD4D1793F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" y="1184275"/>
            <a:ext cx="5435600" cy="719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</a:pPr>
            <a:r>
              <a:rPr lang="en-US" altLang="zh-CN" sz="2400" b="1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3.3 </a:t>
            </a:r>
            <a:r>
              <a:rPr lang="zh-CN" altLang="en-US" sz="2400" b="1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测量不确定度的合成</a:t>
            </a:r>
          </a:p>
        </p:txBody>
      </p:sp>
      <p:sp>
        <p:nvSpPr>
          <p:cNvPr id="71686" name="Rectangle 3">
            <a:extLst>
              <a:ext uri="{FF2B5EF4-FFF2-40B4-BE49-F238E27FC236}">
                <a16:creationId xmlns:a16="http://schemas.microsoft.com/office/drawing/2014/main" id="{900E4CAD-4D62-44C4-BBE9-CE5201BD88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0113" y="1809750"/>
            <a:ext cx="6696075" cy="54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</a:pPr>
            <a:r>
              <a:rPr lang="zh-CN" altLang="en-US" sz="2000" b="1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000" b="1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2000" b="1">
                <a:latin typeface="黑体" panose="02010609060101010101" pitchFamily="49" charset="-122"/>
                <a:ea typeface="黑体" panose="02010609060101010101" pitchFamily="49" charset="-122"/>
              </a:rPr>
              <a:t>）扩展（展伸）不确定度（</a:t>
            </a:r>
            <a:r>
              <a:rPr lang="en-US" altLang="zh-CN" sz="2000" b="1">
                <a:latin typeface="黑体" panose="02010609060101010101" pitchFamily="49" charset="-122"/>
                <a:ea typeface="黑体" panose="02010609060101010101" pitchFamily="49" charset="-122"/>
              </a:rPr>
              <a:t>expanded uncertainty</a:t>
            </a:r>
            <a:r>
              <a:rPr lang="zh-CN" altLang="en-US" sz="2000" b="1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</a:p>
        </p:txBody>
      </p:sp>
      <p:graphicFrame>
        <p:nvGraphicFramePr>
          <p:cNvPr id="71687" name="Object 18">
            <a:extLst>
              <a:ext uri="{FF2B5EF4-FFF2-40B4-BE49-F238E27FC236}">
                <a16:creationId xmlns:a16="http://schemas.microsoft.com/office/drawing/2014/main" id="{91C9135F-E5B1-4B2B-88BB-BA7DC1A66E7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71813" y="2676525"/>
          <a:ext cx="1262062" cy="541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66" name="公式" r:id="rId4" imgW="533169" imgH="228501" progId="Equation.3">
                  <p:embed/>
                </p:oleObj>
              </mc:Choice>
              <mc:Fallback>
                <p:oleObj name="公式" r:id="rId4" imgW="533169" imgH="228501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1813" y="2676525"/>
                        <a:ext cx="1262062" cy="541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688" name="Object 20">
            <a:extLst>
              <a:ext uri="{FF2B5EF4-FFF2-40B4-BE49-F238E27FC236}">
                <a16:creationId xmlns:a16="http://schemas.microsoft.com/office/drawing/2014/main" id="{768412C0-0728-4448-AB6A-1AC5BA40363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91150" y="4340225"/>
          <a:ext cx="1143000" cy="1049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67" name="公式" r:id="rId6" imgW="698197" imgH="672808" progId="Equation.3">
                  <p:embed/>
                </p:oleObj>
              </mc:Choice>
              <mc:Fallback>
                <p:oleObj name="公式" r:id="rId6" imgW="698197" imgH="672808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1150" y="4340225"/>
                        <a:ext cx="1143000" cy="1049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689" name="Rectangle 3">
            <a:extLst>
              <a:ext uri="{FF2B5EF4-FFF2-40B4-BE49-F238E27FC236}">
                <a16:creationId xmlns:a16="http://schemas.microsoft.com/office/drawing/2014/main" id="{A19CDE8F-B7AC-4412-8AFF-9218D268A0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94075" y="3570288"/>
            <a:ext cx="1262063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</a:pPr>
            <a:r>
              <a:rPr lang="zh-CN" altLang="en-US" sz="1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包含因子</a:t>
            </a:r>
          </a:p>
        </p:txBody>
      </p:sp>
      <p:grpSp>
        <p:nvGrpSpPr>
          <p:cNvPr id="71690" name="Group 3">
            <a:extLst>
              <a:ext uri="{FF2B5EF4-FFF2-40B4-BE49-F238E27FC236}">
                <a16:creationId xmlns:a16="http://schemas.microsoft.com/office/drawing/2014/main" id="{133045BF-5DF8-4735-8CC7-702B5D049D16}"/>
              </a:ext>
            </a:extLst>
          </p:cNvPr>
          <p:cNvGrpSpPr>
            <a:grpSpLocks/>
          </p:cNvGrpSpPr>
          <p:nvPr/>
        </p:nvGrpSpPr>
        <p:grpSpPr bwMode="auto">
          <a:xfrm>
            <a:off x="3703638" y="3203575"/>
            <a:ext cx="293687" cy="382588"/>
            <a:chOff x="1292" y="1622"/>
            <a:chExt cx="596" cy="141"/>
          </a:xfrm>
        </p:grpSpPr>
        <p:sp>
          <p:nvSpPr>
            <p:cNvPr id="71695" name="Line 4">
              <a:extLst>
                <a:ext uri="{FF2B5EF4-FFF2-40B4-BE49-F238E27FC236}">
                  <a16:creationId xmlns:a16="http://schemas.microsoft.com/office/drawing/2014/main" id="{646C4FB1-D76D-4217-B3A9-E6E6402FBD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92" y="1622"/>
              <a:ext cx="596" cy="0"/>
            </a:xfrm>
            <a:prstGeom prst="line">
              <a:avLst/>
            </a:prstGeom>
            <a:noFill/>
            <a:ln w="2222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696" name="Line 5">
              <a:extLst>
                <a:ext uri="{FF2B5EF4-FFF2-40B4-BE49-F238E27FC236}">
                  <a16:creationId xmlns:a16="http://schemas.microsoft.com/office/drawing/2014/main" id="{6D044660-F708-46CC-A784-AB7720289E4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04" y="1622"/>
              <a:ext cx="0" cy="141"/>
            </a:xfrm>
            <a:prstGeom prst="line">
              <a:avLst/>
            </a:prstGeom>
            <a:noFill/>
            <a:ln w="22225">
              <a:solidFill>
                <a:srgbClr val="FF33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7" name="Rectangle 3">
            <a:extLst>
              <a:ext uri="{FF2B5EF4-FFF2-40B4-BE49-F238E27FC236}">
                <a16:creationId xmlns:a16="http://schemas.microsoft.com/office/drawing/2014/main" id="{36D966B6-474A-49AE-8DA0-60A5098449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4875" y="4456113"/>
            <a:ext cx="2867025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  <a:defRPr/>
            </a:pPr>
            <a:r>
              <a:rPr lang="en-US" altLang="zh-CN" sz="1800" b="1" dirty="0">
                <a:solidFill>
                  <a:schemeClr val="accent4">
                    <a:lumMod val="50000"/>
                    <a:lumOff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k:</a:t>
            </a:r>
            <a:r>
              <a:rPr lang="zh-CN" altLang="en-US" sz="1800" b="1" dirty="0">
                <a:solidFill>
                  <a:schemeClr val="accent4">
                    <a:lumMod val="50000"/>
                    <a:lumOff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由</a:t>
            </a:r>
            <a:r>
              <a:rPr lang="en-US" altLang="zh-CN" sz="1800" b="1" dirty="0">
                <a:solidFill>
                  <a:schemeClr val="accent4">
                    <a:lumMod val="50000"/>
                    <a:lumOff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t</a:t>
            </a:r>
            <a:r>
              <a:rPr lang="zh-CN" altLang="en-US" sz="1800" b="1" dirty="0">
                <a:solidFill>
                  <a:schemeClr val="accent4">
                    <a:lumMod val="50000"/>
                    <a:lumOff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分布的临界值给出，</a:t>
            </a:r>
          </a:p>
        </p:txBody>
      </p:sp>
      <p:graphicFrame>
        <p:nvGraphicFramePr>
          <p:cNvPr id="71692" name="对象 1">
            <a:extLst>
              <a:ext uri="{FF2B5EF4-FFF2-40B4-BE49-F238E27FC236}">
                <a16:creationId xmlns:a16="http://schemas.microsoft.com/office/drawing/2014/main" id="{0B6AF106-E3DC-451A-AB5F-32747D073EB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02075" y="4518025"/>
          <a:ext cx="1000125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68" name="Equation" r:id="rId8" imgW="583947" imgH="241195" progId="Equation.DSMT4">
                  <p:embed/>
                </p:oleObj>
              </mc:Choice>
              <mc:Fallback>
                <p:oleObj name="Equation" r:id="rId8" imgW="583947" imgH="241195" progId="Equation.DSMT4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02075" y="4518025"/>
                        <a:ext cx="1000125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693" name="Rectangle 3">
            <a:extLst>
              <a:ext uri="{FF2B5EF4-FFF2-40B4-BE49-F238E27FC236}">
                <a16:creationId xmlns:a16="http://schemas.microsoft.com/office/drawing/2014/main" id="{0BC2050B-A1A3-4BC0-8F6D-8E3E323E28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65750" y="3092450"/>
            <a:ext cx="1833563" cy="401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</a:pPr>
            <a:r>
              <a:rPr lang="zh-CN" altLang="en-US" sz="1800" b="1">
                <a:latin typeface="黑体" panose="02010609060101010101" pitchFamily="49" charset="-122"/>
                <a:ea typeface="黑体" panose="02010609060101010101" pitchFamily="49" charset="-122"/>
              </a:rPr>
              <a:t>通常取 </a:t>
            </a:r>
            <a:r>
              <a:rPr lang="en-US" altLang="zh-CN" sz="1800" b="1">
                <a:latin typeface="黑体" panose="02010609060101010101" pitchFamily="49" charset="-122"/>
                <a:ea typeface="黑体" panose="02010609060101010101" pitchFamily="49" charset="-122"/>
              </a:rPr>
              <a:t>k=2~3</a:t>
            </a:r>
            <a:endParaRPr lang="zh-CN" altLang="en-US" sz="1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8" name="页脚占位符 6">
            <a:extLst>
              <a:ext uri="{FF2B5EF4-FFF2-40B4-BE49-F238E27FC236}">
                <a16:creationId xmlns:a16="http://schemas.microsoft.com/office/drawing/2014/main" id="{CC97B076-C948-42C3-8264-3370332C4A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43213" y="6411913"/>
            <a:ext cx="2960687" cy="309562"/>
          </a:xfrm>
        </p:spPr>
        <p:txBody>
          <a:bodyPr/>
          <a:lstStyle/>
          <a:p>
            <a:pPr>
              <a:defRPr/>
            </a:pPr>
            <a:r>
              <a:rPr lang="zh-CN" altLang="en-US"/>
              <a:t>人工智能与自动化学院测量科学与仪器系</a:t>
            </a:r>
            <a:endParaRPr lang="en-US" altLang="zh-CN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3">
            <a:extLst>
              <a:ext uri="{FF2B5EF4-FFF2-40B4-BE49-F238E27FC236}">
                <a16:creationId xmlns:a16="http://schemas.microsoft.com/office/drawing/2014/main" id="{589375F0-72AE-411B-9EEA-5B31E525603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2413" y="177800"/>
            <a:ext cx="3421062" cy="647700"/>
          </a:xfrm>
        </p:spPr>
        <p:txBody>
          <a:bodyPr/>
          <a:lstStyle/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</a:pPr>
            <a:r>
              <a:rPr lang="en-US" altLang="zh-CN" sz="28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 </a:t>
            </a:r>
            <a:r>
              <a:rPr lang="zh-CN" altLang="en-US" sz="28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测量不确定度</a:t>
            </a:r>
          </a:p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</a:pPr>
            <a:endParaRPr lang="zh-CN" altLang="en-US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3731" name="灯片编号占位符 5">
            <a:extLst>
              <a:ext uri="{FF2B5EF4-FFF2-40B4-BE49-F238E27FC236}">
                <a16:creationId xmlns:a16="http://schemas.microsoft.com/office/drawing/2014/main" id="{C6EEAD0D-DB9A-4475-8494-71A82302F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653213" y="6330950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buFontTx/>
              <a:buChar char="•"/>
            </a:pPr>
            <a:fld id="{D3381036-05F0-4D6C-AE87-EFED80710FFD}" type="slidenum">
              <a:rPr lang="en-US" altLang="zh-CN" sz="1200" smtClean="0">
                <a:solidFill>
                  <a:srgbClr val="898989"/>
                </a:solidFill>
                <a:latin typeface="Times New Roman" panose="02020603050405020304" pitchFamily="18" charset="0"/>
                <a:ea typeface="楷体_GB2312" pitchFamily="49" charset="-122"/>
              </a:rPr>
              <a:pPr>
                <a:buFontTx/>
                <a:buChar char="•"/>
              </a:pPr>
              <a:t>38</a:t>
            </a:fld>
            <a:endParaRPr lang="en-US" altLang="zh-CN" sz="1200">
              <a:solidFill>
                <a:srgbClr val="898989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2359A85-99E6-456A-A8DD-5B814C5185EC}"/>
              </a:ext>
            </a:extLst>
          </p:cNvPr>
          <p:cNvSpPr/>
          <p:nvPr/>
        </p:nvSpPr>
        <p:spPr>
          <a:xfrm>
            <a:off x="142875" y="1000125"/>
            <a:ext cx="8286750" cy="46038"/>
          </a:xfrm>
          <a:prstGeom prst="rect">
            <a:avLst/>
          </a:prstGeom>
          <a:gradFill flip="none" rotWithShape="1">
            <a:gsLst>
              <a:gs pos="0">
                <a:srgbClr val="5E9EFF"/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85000"/>
              <a:buFontTx/>
              <a:buChar char="•"/>
              <a:defRPr/>
            </a:pPr>
            <a:endParaRPr lang="zh-CN" altLang="en-US"/>
          </a:p>
        </p:txBody>
      </p:sp>
      <p:sp>
        <p:nvSpPr>
          <p:cNvPr id="73733" name="Rectangle 3">
            <a:extLst>
              <a:ext uri="{FF2B5EF4-FFF2-40B4-BE49-F238E27FC236}">
                <a16:creationId xmlns:a16="http://schemas.microsoft.com/office/drawing/2014/main" id="{6FFAFB5C-64A9-43C7-A317-5E9A5DB0C8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" y="1184275"/>
            <a:ext cx="5435600" cy="719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</a:pPr>
            <a:r>
              <a:rPr lang="en-US" altLang="zh-CN" sz="2400" b="1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3.4 </a:t>
            </a:r>
            <a:r>
              <a:rPr lang="zh-CN" altLang="en-US" sz="2400" b="1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测量结果的表示</a:t>
            </a:r>
          </a:p>
        </p:txBody>
      </p:sp>
      <p:sp>
        <p:nvSpPr>
          <p:cNvPr id="73734" name="Rectangle 3">
            <a:extLst>
              <a:ext uri="{FF2B5EF4-FFF2-40B4-BE49-F238E27FC236}">
                <a16:creationId xmlns:a16="http://schemas.microsoft.com/office/drawing/2014/main" id="{2E4005E9-8F8A-444B-A0F5-C1B5617152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8250" y="2971800"/>
            <a:ext cx="6919913" cy="1106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ts val="2400"/>
              </a:lnSpc>
              <a:spcBef>
                <a:spcPct val="0"/>
              </a:spcBef>
              <a:buFontTx/>
              <a:buNone/>
            </a:pPr>
            <a:r>
              <a:rPr lang="zh-CN" altLang="en-US" sz="1800" b="1">
                <a:solidFill>
                  <a:srgbClr val="00B0F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例如，假设被测量</a:t>
            </a:r>
            <a:r>
              <a:rPr lang="en-US" altLang="zh-CN" sz="1800" b="1">
                <a:solidFill>
                  <a:srgbClr val="00B0F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Y</a:t>
            </a:r>
            <a:r>
              <a:rPr lang="zh-CN" altLang="en-US" sz="1800" b="1">
                <a:solidFill>
                  <a:srgbClr val="00B0F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的标称值为</a:t>
            </a:r>
            <a:r>
              <a:rPr lang="en-US" altLang="zh-CN" sz="1800" b="1">
                <a:solidFill>
                  <a:srgbClr val="00B0F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100g</a:t>
            </a:r>
            <a:r>
              <a:rPr lang="zh-CN" altLang="en-US" sz="1800" b="1">
                <a:solidFill>
                  <a:srgbClr val="00B0F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的标准砝码，其测量的估计值</a:t>
            </a:r>
            <a:endParaRPr lang="en-US" altLang="zh-CN" sz="1800" b="1">
              <a:solidFill>
                <a:srgbClr val="00B0F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ts val="2400"/>
              </a:lnSpc>
              <a:spcBef>
                <a:spcPct val="0"/>
              </a:spcBef>
              <a:buFontTx/>
              <a:buNone/>
            </a:pPr>
            <a:r>
              <a:rPr lang="en-US" altLang="zh-CN" sz="1800" b="1">
                <a:solidFill>
                  <a:srgbClr val="00B0F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y=100.02147g</a:t>
            </a:r>
            <a:r>
              <a:rPr lang="zh-CN" altLang="en-US" sz="1800" b="1">
                <a:solidFill>
                  <a:srgbClr val="00B0F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，对应的合成标准不确定度</a:t>
            </a:r>
            <a:r>
              <a:rPr lang="el-GR" altLang="zh-CN" sz="1800" b="1">
                <a:solidFill>
                  <a:srgbClr val="00B0F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μ</a:t>
            </a:r>
            <a:r>
              <a:rPr lang="en-US" altLang="zh-CN" sz="1800" b="1">
                <a:solidFill>
                  <a:srgbClr val="00B0F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c=0.35mg,</a:t>
            </a:r>
            <a:r>
              <a:rPr lang="zh-CN" altLang="en-US" sz="1800" b="1">
                <a:solidFill>
                  <a:srgbClr val="00B0F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则测量结果可表示为：</a:t>
            </a:r>
            <a:endParaRPr lang="en-US" altLang="zh-CN" sz="1800" b="1">
              <a:solidFill>
                <a:srgbClr val="00B0F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3735" name="Rectangle 3">
            <a:extLst>
              <a:ext uri="{FF2B5EF4-FFF2-40B4-BE49-F238E27FC236}">
                <a16:creationId xmlns:a16="http://schemas.microsoft.com/office/drawing/2014/main" id="{EB8043D9-9E5C-4B6E-A35C-F691E2A580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6588" y="1765300"/>
            <a:ext cx="7529512" cy="1227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</a:pPr>
            <a:r>
              <a:rPr lang="zh-CN" altLang="en-US" sz="2000" b="1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000" b="1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000" b="1">
                <a:latin typeface="黑体" panose="02010609060101010101" pitchFamily="49" charset="-122"/>
                <a:ea typeface="黑体" panose="02010609060101010101" pitchFamily="49" charset="-122"/>
              </a:rPr>
              <a:t>）用合成标准不确定度作为被测量</a:t>
            </a:r>
            <a:r>
              <a:rPr lang="en-US" altLang="zh-CN" sz="2000" b="1">
                <a:latin typeface="黑体" panose="02010609060101010101" pitchFamily="49" charset="-122"/>
                <a:ea typeface="黑体" panose="02010609060101010101" pitchFamily="49" charset="-122"/>
              </a:rPr>
              <a:t>Y</a:t>
            </a:r>
            <a:r>
              <a:rPr lang="zh-CN" altLang="en-US" sz="2000" b="1">
                <a:latin typeface="黑体" panose="02010609060101010101" pitchFamily="49" charset="-122"/>
                <a:ea typeface="黑体" panose="02010609060101010101" pitchFamily="49" charset="-122"/>
              </a:rPr>
              <a:t>估计值</a:t>
            </a:r>
            <a:r>
              <a:rPr lang="en-US" altLang="zh-CN" sz="2000" b="1">
                <a:latin typeface="黑体" panose="02010609060101010101" pitchFamily="49" charset="-122"/>
                <a:ea typeface="黑体" panose="02010609060101010101" pitchFamily="49" charset="-122"/>
              </a:rPr>
              <a:t>y</a:t>
            </a:r>
            <a:r>
              <a:rPr lang="zh-CN" altLang="en-US" sz="2000" b="1">
                <a:latin typeface="黑体" panose="02010609060101010101" pitchFamily="49" charset="-122"/>
                <a:ea typeface="黑体" panose="02010609060101010101" pitchFamily="49" charset="-122"/>
              </a:rPr>
              <a:t>的测量不确定度时，应给出合成标准不确定度</a:t>
            </a:r>
            <a:r>
              <a:rPr lang="el-GR" altLang="zh-CN" sz="2000" b="1">
                <a:latin typeface="黑体" panose="02010609060101010101" pitchFamily="49" charset="-122"/>
                <a:ea typeface="黑体" panose="02010609060101010101" pitchFamily="49" charset="-122"/>
              </a:rPr>
              <a:t>μ</a:t>
            </a:r>
            <a:r>
              <a:rPr lang="en-US" altLang="zh-CN" sz="2000" b="1">
                <a:latin typeface="黑体" panose="02010609060101010101" pitchFamily="49" charset="-122"/>
                <a:ea typeface="黑体" panose="02010609060101010101" pitchFamily="49" charset="-122"/>
              </a:rPr>
              <a:t>c</a:t>
            </a:r>
            <a:r>
              <a:rPr lang="zh-CN" altLang="en-US" sz="2000" b="1">
                <a:latin typeface="黑体" panose="02010609060101010101" pitchFamily="49" charset="-122"/>
                <a:ea typeface="黑体" panose="02010609060101010101" pitchFamily="49" charset="-122"/>
              </a:rPr>
              <a:t>及自由度</a:t>
            </a:r>
            <a:r>
              <a:rPr lang="el-GR" altLang="zh-CN" sz="2000" b="1">
                <a:latin typeface="黑体" panose="02010609060101010101" pitchFamily="49" charset="-122"/>
                <a:ea typeface="黑体" panose="02010609060101010101" pitchFamily="49" charset="-122"/>
              </a:rPr>
              <a:t>ν</a:t>
            </a:r>
            <a:r>
              <a:rPr lang="zh-CN" altLang="en-US" sz="2000" b="1">
                <a:latin typeface="黑体" panose="02010609060101010101" pitchFamily="49" charset="-122"/>
                <a:ea typeface="黑体" panose="02010609060101010101" pitchFamily="49" charset="-122"/>
              </a:rPr>
              <a:t>，可用下列几种方式之一表示测量结果。</a:t>
            </a:r>
          </a:p>
        </p:txBody>
      </p:sp>
      <p:graphicFrame>
        <p:nvGraphicFramePr>
          <p:cNvPr id="73736" name="对象 18">
            <a:extLst>
              <a:ext uri="{FF2B5EF4-FFF2-40B4-BE49-F238E27FC236}">
                <a16:creationId xmlns:a16="http://schemas.microsoft.com/office/drawing/2014/main" id="{2ED8B45B-FE29-4A56-BDC4-7FD05E665FA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41600" y="4041775"/>
          <a:ext cx="3838575" cy="38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833" name="Equation" r:id="rId4" imgW="2286000" imgH="228600" progId="Equation.DSMT4">
                  <p:embed/>
                </p:oleObj>
              </mc:Choice>
              <mc:Fallback>
                <p:oleObj name="Equation" r:id="rId4" imgW="2286000" imgH="228600" progId="Equation.DSMT4">
                  <p:embed/>
                  <p:pic>
                    <p:nvPicPr>
                      <p:cNvPr id="0" name="对象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1600" y="4041775"/>
                        <a:ext cx="3838575" cy="384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737" name="对象 19">
            <a:extLst>
              <a:ext uri="{FF2B5EF4-FFF2-40B4-BE49-F238E27FC236}">
                <a16:creationId xmlns:a16="http://schemas.microsoft.com/office/drawing/2014/main" id="{D8425A11-6C8E-4140-8E8C-1CFBFA1C63C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41600" y="4556125"/>
          <a:ext cx="2686050" cy="341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834" name="Equation" r:id="rId6" imgW="1600200" imgH="203200" progId="Equation.DSMT4">
                  <p:embed/>
                </p:oleObj>
              </mc:Choice>
              <mc:Fallback>
                <p:oleObj name="Equation" r:id="rId6" imgW="1600200" imgH="203200" progId="Equation.DSMT4">
                  <p:embed/>
                  <p:pic>
                    <p:nvPicPr>
                      <p:cNvPr id="0" name="对象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1600" y="4556125"/>
                        <a:ext cx="2686050" cy="341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738" name="对象 20">
            <a:extLst>
              <a:ext uri="{FF2B5EF4-FFF2-40B4-BE49-F238E27FC236}">
                <a16:creationId xmlns:a16="http://schemas.microsoft.com/office/drawing/2014/main" id="{851529B4-D321-4AC6-9DE5-E22300BA9E7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55888" y="5037138"/>
          <a:ext cx="3260725" cy="341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835" name="Equation" r:id="rId8" imgW="1943100" imgH="203200" progId="Equation.DSMT4">
                  <p:embed/>
                </p:oleObj>
              </mc:Choice>
              <mc:Fallback>
                <p:oleObj name="Equation" r:id="rId8" imgW="1943100" imgH="203200" progId="Equation.DSMT4">
                  <p:embed/>
                  <p:pic>
                    <p:nvPicPr>
                      <p:cNvPr id="0" name="对象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55888" y="5037138"/>
                        <a:ext cx="3260725" cy="341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739" name="对象 21">
            <a:extLst>
              <a:ext uri="{FF2B5EF4-FFF2-40B4-BE49-F238E27FC236}">
                <a16:creationId xmlns:a16="http://schemas.microsoft.com/office/drawing/2014/main" id="{A5D5A429-F0CA-4322-8C93-57B146BE1BE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55888" y="5518150"/>
          <a:ext cx="3514725" cy="341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836" name="Equation" r:id="rId10" imgW="2095500" imgH="203200" progId="Equation.DSMT4">
                  <p:embed/>
                </p:oleObj>
              </mc:Choice>
              <mc:Fallback>
                <p:oleObj name="Equation" r:id="rId10" imgW="2095500" imgH="203200" progId="Equation.DSMT4">
                  <p:embed/>
                  <p:pic>
                    <p:nvPicPr>
                      <p:cNvPr id="0" name="对象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55888" y="5518150"/>
                        <a:ext cx="3514725" cy="341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页脚占位符 6">
            <a:extLst>
              <a:ext uri="{FF2B5EF4-FFF2-40B4-BE49-F238E27FC236}">
                <a16:creationId xmlns:a16="http://schemas.microsoft.com/office/drawing/2014/main" id="{6E4D6FD0-B2C3-4E45-A2C3-186D35467F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43213" y="6411913"/>
            <a:ext cx="2960687" cy="309562"/>
          </a:xfrm>
        </p:spPr>
        <p:txBody>
          <a:bodyPr/>
          <a:lstStyle/>
          <a:p>
            <a:pPr>
              <a:defRPr/>
            </a:pPr>
            <a:r>
              <a:rPr lang="zh-CN" altLang="en-US"/>
              <a:t>人工智能与自动化学院测量科学与仪器系</a:t>
            </a:r>
            <a:endParaRPr lang="en-US" altLang="zh-CN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3">
            <a:extLst>
              <a:ext uri="{FF2B5EF4-FFF2-40B4-BE49-F238E27FC236}">
                <a16:creationId xmlns:a16="http://schemas.microsoft.com/office/drawing/2014/main" id="{DD8CC628-8568-4A68-A51C-E7AD7A2ADFD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2413" y="141288"/>
            <a:ext cx="3421062" cy="647700"/>
          </a:xfrm>
        </p:spPr>
        <p:txBody>
          <a:bodyPr/>
          <a:lstStyle/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</a:pPr>
            <a:r>
              <a:rPr lang="en-US" altLang="zh-CN" sz="28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 </a:t>
            </a:r>
            <a:r>
              <a:rPr lang="zh-CN" altLang="en-US" sz="28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测量不确定度</a:t>
            </a:r>
          </a:p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</a:pPr>
            <a:endParaRPr lang="zh-CN" altLang="en-US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5779" name="灯片编号占位符 5">
            <a:extLst>
              <a:ext uri="{FF2B5EF4-FFF2-40B4-BE49-F238E27FC236}">
                <a16:creationId xmlns:a16="http://schemas.microsoft.com/office/drawing/2014/main" id="{EB5C19F5-8701-47B0-A2B2-AAF239FA1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653213" y="6330950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buFontTx/>
              <a:buChar char="•"/>
            </a:pPr>
            <a:fld id="{A183F50B-26E9-4F46-B923-B45A2D3B01A4}" type="slidenum">
              <a:rPr lang="en-US" altLang="zh-CN" sz="1200" smtClean="0">
                <a:solidFill>
                  <a:srgbClr val="898989"/>
                </a:solidFill>
                <a:latin typeface="Times New Roman" panose="02020603050405020304" pitchFamily="18" charset="0"/>
                <a:ea typeface="楷体_GB2312" pitchFamily="49" charset="-122"/>
              </a:rPr>
              <a:pPr>
                <a:buFontTx/>
                <a:buChar char="•"/>
              </a:pPr>
              <a:t>39</a:t>
            </a:fld>
            <a:endParaRPr lang="en-US" altLang="zh-CN" sz="1200">
              <a:solidFill>
                <a:srgbClr val="898989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91022C9-D2AC-4A1B-BE59-EAAE896F57E2}"/>
              </a:ext>
            </a:extLst>
          </p:cNvPr>
          <p:cNvSpPr/>
          <p:nvPr/>
        </p:nvSpPr>
        <p:spPr>
          <a:xfrm>
            <a:off x="142875" y="1000125"/>
            <a:ext cx="8286750" cy="46038"/>
          </a:xfrm>
          <a:prstGeom prst="rect">
            <a:avLst/>
          </a:prstGeom>
          <a:gradFill flip="none" rotWithShape="1">
            <a:gsLst>
              <a:gs pos="0">
                <a:srgbClr val="5E9EFF"/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85000"/>
              <a:buFontTx/>
              <a:buChar char="•"/>
              <a:defRPr/>
            </a:pPr>
            <a:endParaRPr lang="zh-CN" altLang="en-US"/>
          </a:p>
        </p:txBody>
      </p:sp>
      <p:sp>
        <p:nvSpPr>
          <p:cNvPr id="75781" name="Rectangle 3">
            <a:extLst>
              <a:ext uri="{FF2B5EF4-FFF2-40B4-BE49-F238E27FC236}">
                <a16:creationId xmlns:a16="http://schemas.microsoft.com/office/drawing/2014/main" id="{79321EDE-0823-4F54-BDED-8EF19EDCF6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" y="1184275"/>
            <a:ext cx="5435600" cy="719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</a:pPr>
            <a:r>
              <a:rPr lang="en-US" altLang="zh-CN" sz="2400" b="1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3.4 </a:t>
            </a:r>
            <a:r>
              <a:rPr lang="zh-CN" altLang="en-US" sz="2400" b="1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测量结果的表示</a:t>
            </a:r>
          </a:p>
        </p:txBody>
      </p:sp>
      <p:sp>
        <p:nvSpPr>
          <p:cNvPr id="75782" name="Rectangle 3">
            <a:extLst>
              <a:ext uri="{FF2B5EF4-FFF2-40B4-BE49-F238E27FC236}">
                <a16:creationId xmlns:a16="http://schemas.microsoft.com/office/drawing/2014/main" id="{799FA316-A701-42BA-8016-8603965739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7813" y="2695575"/>
            <a:ext cx="3838575" cy="40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ts val="2400"/>
              </a:lnSpc>
              <a:spcBef>
                <a:spcPct val="0"/>
              </a:spcBef>
              <a:buFontTx/>
              <a:buNone/>
            </a:pPr>
            <a:r>
              <a:rPr lang="zh-CN" altLang="en-US" sz="1800" b="1">
                <a:solidFill>
                  <a:srgbClr val="00B0F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例如，上述测量结果表示为：</a:t>
            </a:r>
            <a:endParaRPr lang="en-US" altLang="zh-CN" sz="1800" b="1">
              <a:solidFill>
                <a:srgbClr val="00B0F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5783" name="Rectangle 3">
            <a:extLst>
              <a:ext uri="{FF2B5EF4-FFF2-40B4-BE49-F238E27FC236}">
                <a16:creationId xmlns:a16="http://schemas.microsoft.com/office/drawing/2014/main" id="{5C289ABA-63AB-4AD7-922B-D9877926B9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6588" y="1765300"/>
            <a:ext cx="7529512" cy="893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</a:pP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）当测量不确定度用扩展不确定度表示时，应按下列方式表示测量结果。</a:t>
            </a:r>
          </a:p>
        </p:txBody>
      </p:sp>
      <p:graphicFrame>
        <p:nvGraphicFramePr>
          <p:cNvPr id="75784" name="对象 15">
            <a:extLst>
              <a:ext uri="{FF2B5EF4-FFF2-40B4-BE49-F238E27FC236}">
                <a16:creationId xmlns:a16="http://schemas.microsoft.com/office/drawing/2014/main" id="{D628061C-8AFD-4385-99B2-7D689E494E1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06700" y="3243263"/>
          <a:ext cx="2960688" cy="341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810" name="Equation" r:id="rId4" imgW="1765300" imgH="203200" progId="Equation.DSMT4">
                  <p:embed/>
                </p:oleObj>
              </mc:Choice>
              <mc:Fallback>
                <p:oleObj name="Equation" r:id="rId4" imgW="1765300" imgH="203200" progId="Equation.DSMT4">
                  <p:embed/>
                  <p:pic>
                    <p:nvPicPr>
                      <p:cNvPr id="0" name="对象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06700" y="3243263"/>
                        <a:ext cx="2960688" cy="341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785" name="Rectangle 3">
            <a:extLst>
              <a:ext uri="{FF2B5EF4-FFF2-40B4-BE49-F238E27FC236}">
                <a16:creationId xmlns:a16="http://schemas.microsoft.com/office/drawing/2014/main" id="{ABF09701-3A25-49CF-9D8B-AC1821A028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6375" y="3757613"/>
            <a:ext cx="6130925" cy="1227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ts val="24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1800" b="1">
                <a:solidFill>
                  <a:srgbClr val="00B0F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其中，扩展不确定度</a:t>
            </a:r>
            <a:r>
              <a:rPr lang="en-US" altLang="zh-CN" sz="1800" b="1">
                <a:solidFill>
                  <a:srgbClr val="00B0F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U=k*</a:t>
            </a:r>
            <a:r>
              <a:rPr lang="el-GR" altLang="zh-CN" sz="1800" b="1">
                <a:solidFill>
                  <a:srgbClr val="00B0F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μ</a:t>
            </a:r>
            <a:r>
              <a:rPr lang="en-US" altLang="zh-CN" sz="1800" b="1">
                <a:solidFill>
                  <a:srgbClr val="00B0F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c=0.00079g</a:t>
            </a:r>
            <a:r>
              <a:rPr lang="zh-CN" altLang="en-US" sz="1800" b="1">
                <a:solidFill>
                  <a:srgbClr val="00B0F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，是由合成标准不确定度</a:t>
            </a:r>
            <a:r>
              <a:rPr lang="el-GR" altLang="zh-CN" sz="1800" b="1">
                <a:solidFill>
                  <a:srgbClr val="00B0F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μ</a:t>
            </a:r>
            <a:r>
              <a:rPr lang="en-US" altLang="zh-CN" sz="1800" b="1">
                <a:solidFill>
                  <a:srgbClr val="00B0F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c=0.35mg</a:t>
            </a:r>
            <a:r>
              <a:rPr lang="zh-CN" altLang="en-US" sz="1800" b="1">
                <a:solidFill>
                  <a:srgbClr val="00B0F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和包含因子</a:t>
            </a:r>
            <a:r>
              <a:rPr lang="en-US" altLang="zh-CN" sz="1800" b="1">
                <a:solidFill>
                  <a:srgbClr val="00B0F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k=2.26</a:t>
            </a:r>
            <a:r>
              <a:rPr lang="zh-CN" altLang="en-US" sz="1800" b="1">
                <a:solidFill>
                  <a:srgbClr val="00B0F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确定的，</a:t>
            </a:r>
            <a:r>
              <a:rPr lang="en-US" altLang="zh-CN" sz="1800" b="1">
                <a:solidFill>
                  <a:srgbClr val="00B0F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k</a:t>
            </a:r>
            <a:r>
              <a:rPr lang="zh-CN" altLang="en-US" sz="1800" b="1">
                <a:solidFill>
                  <a:srgbClr val="00B0F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依据置信概率</a:t>
            </a:r>
            <a:r>
              <a:rPr lang="en-US" altLang="zh-CN" sz="1800" b="1">
                <a:solidFill>
                  <a:srgbClr val="00B0F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P=0.95</a:t>
            </a:r>
            <a:r>
              <a:rPr lang="zh-CN" altLang="en-US" sz="1800" b="1">
                <a:solidFill>
                  <a:srgbClr val="00B0F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和自由度</a:t>
            </a:r>
            <a:r>
              <a:rPr lang="el-GR" altLang="zh-CN" sz="1800" b="1">
                <a:solidFill>
                  <a:srgbClr val="00B0F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ν</a:t>
            </a:r>
            <a:r>
              <a:rPr lang="en-US" altLang="zh-CN" sz="1800" b="1">
                <a:solidFill>
                  <a:srgbClr val="00B0F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=9</a:t>
            </a:r>
            <a:r>
              <a:rPr lang="zh-CN" altLang="en-US" sz="1800" b="1">
                <a:solidFill>
                  <a:srgbClr val="00B0F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，由</a:t>
            </a:r>
            <a:r>
              <a:rPr lang="en-US" altLang="zh-CN" sz="1800" b="1">
                <a:solidFill>
                  <a:srgbClr val="00B0F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t</a:t>
            </a:r>
            <a:r>
              <a:rPr lang="zh-CN" altLang="en-US" sz="1800" b="1">
                <a:solidFill>
                  <a:srgbClr val="00B0F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分布查表获得。</a:t>
            </a:r>
          </a:p>
        </p:txBody>
      </p:sp>
      <p:sp>
        <p:nvSpPr>
          <p:cNvPr id="11" name="页脚占位符 6">
            <a:extLst>
              <a:ext uri="{FF2B5EF4-FFF2-40B4-BE49-F238E27FC236}">
                <a16:creationId xmlns:a16="http://schemas.microsoft.com/office/drawing/2014/main" id="{D30F0540-A7A1-4567-90DE-2C66D4C177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43213" y="6411913"/>
            <a:ext cx="2960687" cy="309562"/>
          </a:xfrm>
        </p:spPr>
        <p:txBody>
          <a:bodyPr/>
          <a:lstStyle/>
          <a:p>
            <a:pPr>
              <a:defRPr/>
            </a:pPr>
            <a:r>
              <a:rPr lang="zh-CN" altLang="en-US"/>
              <a:t>人工智能与自动化学院测量科学与仪器系</a:t>
            </a:r>
            <a:endParaRPr lang="en-US" altLang="zh-CN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3">
            <a:extLst>
              <a:ext uri="{FF2B5EF4-FFF2-40B4-BE49-F238E27FC236}">
                <a16:creationId xmlns:a16="http://schemas.microsoft.com/office/drawing/2014/main" id="{9409D8C0-63F8-4B8A-BE13-98433D9B4C3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34963" y="165100"/>
            <a:ext cx="3421062" cy="647700"/>
          </a:xfrm>
        </p:spPr>
        <p:txBody>
          <a:bodyPr/>
          <a:lstStyle/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</a:pPr>
            <a:r>
              <a:rPr lang="en-US" altLang="zh-CN" sz="28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 </a:t>
            </a:r>
            <a:r>
              <a:rPr lang="zh-CN" altLang="en-US" sz="28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测量不确定度</a:t>
            </a:r>
          </a:p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</a:pPr>
            <a:endParaRPr lang="zh-CN" altLang="en-US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7827" name="灯片编号占位符 5">
            <a:extLst>
              <a:ext uri="{FF2B5EF4-FFF2-40B4-BE49-F238E27FC236}">
                <a16:creationId xmlns:a16="http://schemas.microsoft.com/office/drawing/2014/main" id="{2BC941F5-F260-4A6B-AE1C-4EC313699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653213" y="6330950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buFontTx/>
              <a:buChar char="•"/>
            </a:pPr>
            <a:fld id="{E74BE710-9D05-42F6-9E65-AD24364590DA}" type="slidenum">
              <a:rPr lang="en-US" altLang="zh-CN" sz="1200" smtClean="0">
                <a:solidFill>
                  <a:srgbClr val="898989"/>
                </a:solidFill>
                <a:latin typeface="Times New Roman" panose="02020603050405020304" pitchFamily="18" charset="0"/>
                <a:ea typeface="楷体_GB2312" pitchFamily="49" charset="-122"/>
              </a:rPr>
              <a:pPr>
                <a:buFontTx/>
                <a:buChar char="•"/>
              </a:pPr>
              <a:t>40</a:t>
            </a:fld>
            <a:endParaRPr lang="en-US" altLang="zh-CN" sz="1200">
              <a:solidFill>
                <a:srgbClr val="898989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42A2777-CEA6-4032-83E5-0A929E350376}"/>
              </a:ext>
            </a:extLst>
          </p:cNvPr>
          <p:cNvSpPr/>
          <p:nvPr/>
        </p:nvSpPr>
        <p:spPr>
          <a:xfrm>
            <a:off x="142875" y="1000125"/>
            <a:ext cx="8286750" cy="46038"/>
          </a:xfrm>
          <a:prstGeom prst="rect">
            <a:avLst/>
          </a:prstGeom>
          <a:gradFill flip="none" rotWithShape="1">
            <a:gsLst>
              <a:gs pos="0">
                <a:srgbClr val="5E9EFF"/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85000"/>
              <a:buFontTx/>
              <a:buChar char="•"/>
              <a:defRPr/>
            </a:pPr>
            <a:endParaRPr lang="zh-CN" altLang="en-US"/>
          </a:p>
        </p:txBody>
      </p:sp>
      <p:sp>
        <p:nvSpPr>
          <p:cNvPr id="77829" name="Rectangle 3">
            <a:extLst>
              <a:ext uri="{FF2B5EF4-FFF2-40B4-BE49-F238E27FC236}">
                <a16:creationId xmlns:a16="http://schemas.microsoft.com/office/drawing/2014/main" id="{DE8FC4A4-3FEB-4039-A122-9CB97768CD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" y="1184275"/>
            <a:ext cx="5435600" cy="719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</a:pPr>
            <a:r>
              <a:rPr lang="en-US" altLang="zh-CN" sz="2400" b="1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3.4 </a:t>
            </a:r>
            <a:r>
              <a:rPr lang="zh-CN" altLang="en-US" sz="2400" b="1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测量结果的表示</a:t>
            </a:r>
          </a:p>
        </p:txBody>
      </p:sp>
      <p:sp>
        <p:nvSpPr>
          <p:cNvPr id="77830" name="Rectangle 3">
            <a:extLst>
              <a:ext uri="{FF2B5EF4-FFF2-40B4-BE49-F238E27FC236}">
                <a16:creationId xmlns:a16="http://schemas.microsoft.com/office/drawing/2014/main" id="{28329FB3-FAA5-45D5-9C45-5DDB489B3A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1338" y="3379788"/>
            <a:ext cx="5040312" cy="40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ts val="2400"/>
              </a:lnSpc>
              <a:spcBef>
                <a:spcPct val="0"/>
              </a:spcBef>
              <a:buFontTx/>
              <a:buNone/>
            </a:pPr>
            <a:r>
              <a:rPr lang="zh-CN" altLang="en-US" sz="1800" b="1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位数较多时需要修约，依据“三分之一准则”</a:t>
            </a:r>
            <a:endParaRPr lang="en-US" altLang="zh-CN" sz="1800" b="1">
              <a:solidFill>
                <a:srgbClr val="00B05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7831" name="Rectangle 3">
            <a:extLst>
              <a:ext uri="{FF2B5EF4-FFF2-40B4-BE49-F238E27FC236}">
                <a16:creationId xmlns:a16="http://schemas.microsoft.com/office/drawing/2014/main" id="{A6CD289F-482D-4874-97D8-CE4C4E74B1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9138" y="1755775"/>
            <a:ext cx="8316912" cy="138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</a:pP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）不确定度数值的修约</a:t>
            </a:r>
            <a:endParaRPr lang="en-US" altLang="zh-CN" sz="20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</a:pP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合成不确定度或扩展不确定度，其有效数字一般不超过两位，不确定度的数值与被测量的估计值的末尾对齐。</a:t>
            </a:r>
          </a:p>
        </p:txBody>
      </p:sp>
      <p:sp>
        <p:nvSpPr>
          <p:cNvPr id="77832" name="Rectangle 3">
            <a:extLst>
              <a:ext uri="{FF2B5EF4-FFF2-40B4-BE49-F238E27FC236}">
                <a16:creationId xmlns:a16="http://schemas.microsoft.com/office/drawing/2014/main" id="{32A37CC3-56B4-45A4-ABB0-8AC2110C02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11275" y="4070350"/>
            <a:ext cx="6621463" cy="57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ts val="2400"/>
              </a:lnSpc>
              <a:spcBef>
                <a:spcPct val="0"/>
              </a:spcBef>
              <a:buFontTx/>
              <a:buNone/>
            </a:pPr>
            <a:r>
              <a:rPr lang="zh-CN" altLang="en-US" sz="1800" b="1">
                <a:latin typeface="黑体" panose="02010609060101010101" pitchFamily="49" charset="-122"/>
                <a:ea typeface="黑体" panose="02010609060101010101" pitchFamily="49" charset="-122"/>
              </a:rPr>
              <a:t>例：已知被测量的估计值为</a:t>
            </a:r>
            <a:r>
              <a:rPr lang="en-US" altLang="zh-CN" sz="1800" b="1">
                <a:latin typeface="黑体" panose="02010609060101010101" pitchFamily="49" charset="-122"/>
                <a:ea typeface="黑体" panose="02010609060101010101" pitchFamily="49" charset="-122"/>
              </a:rPr>
              <a:t>20.0005mm</a:t>
            </a:r>
            <a:r>
              <a:rPr lang="zh-CN" altLang="en-US" sz="1800" b="1">
                <a:latin typeface="黑体" panose="02010609060101010101" pitchFamily="49" charset="-122"/>
                <a:ea typeface="黑体" panose="02010609060101010101" pitchFamily="49" charset="-122"/>
              </a:rPr>
              <a:t>，若有两种情况：</a:t>
            </a:r>
            <a:endParaRPr lang="en-US" altLang="zh-CN" sz="1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7833" name="Rectangle 3">
            <a:extLst>
              <a:ext uri="{FF2B5EF4-FFF2-40B4-BE49-F238E27FC236}">
                <a16:creationId xmlns:a16="http://schemas.microsoft.com/office/drawing/2014/main" id="{4CB00378-A2BB-4B73-8153-5FD2E5385C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9013" y="4852988"/>
            <a:ext cx="1912937" cy="407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ts val="2400"/>
              </a:lnSpc>
              <a:spcBef>
                <a:spcPct val="0"/>
              </a:spcBef>
              <a:buFontTx/>
              <a:buNone/>
            </a:pPr>
            <a:r>
              <a:rPr lang="en-US" altLang="zh-CN" sz="1800" b="1">
                <a:latin typeface="黑体" panose="02010609060101010101" pitchFamily="49" charset="-122"/>
                <a:ea typeface="黑体" panose="02010609060101010101" pitchFamily="49" charset="-122"/>
              </a:rPr>
              <a:t>① U=0.00124mm</a:t>
            </a:r>
          </a:p>
        </p:txBody>
      </p:sp>
      <p:sp>
        <p:nvSpPr>
          <p:cNvPr id="77834" name="Rectangle 3">
            <a:extLst>
              <a:ext uri="{FF2B5EF4-FFF2-40B4-BE49-F238E27FC236}">
                <a16:creationId xmlns:a16="http://schemas.microsoft.com/office/drawing/2014/main" id="{75ADDC8A-CA4B-4489-A883-E52FF7DCEA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5891213"/>
            <a:ext cx="1822450" cy="442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ts val="2400"/>
              </a:lnSpc>
              <a:spcBef>
                <a:spcPct val="0"/>
              </a:spcBef>
              <a:buFontTx/>
              <a:buNone/>
            </a:pPr>
            <a:r>
              <a:rPr lang="en-US" altLang="zh-CN" sz="1800" b="1">
                <a:latin typeface="黑体" panose="02010609060101010101" pitchFamily="49" charset="-122"/>
                <a:ea typeface="黑体" panose="02010609060101010101" pitchFamily="49" charset="-122"/>
              </a:rPr>
              <a:t>② U=0.00123mm</a:t>
            </a:r>
          </a:p>
        </p:txBody>
      </p:sp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D235AE7C-5004-4596-A239-100456A2EBD4}"/>
              </a:ext>
            </a:extLst>
          </p:cNvPr>
          <p:cNvCxnSpPr/>
          <p:nvPr/>
        </p:nvCxnSpPr>
        <p:spPr bwMode="auto">
          <a:xfrm flipV="1">
            <a:off x="2905125" y="5108575"/>
            <a:ext cx="862013" cy="0"/>
          </a:xfrm>
          <a:prstGeom prst="straightConnector1">
            <a:avLst/>
          </a:prstGeom>
          <a:ln>
            <a:solidFill>
              <a:srgbClr val="00B050"/>
            </a:solidFill>
            <a:headEnd type="none" w="med" len="med"/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77836" name="Rectangle 3">
            <a:extLst>
              <a:ext uri="{FF2B5EF4-FFF2-40B4-BE49-F238E27FC236}">
                <a16:creationId xmlns:a16="http://schemas.microsoft.com/office/drawing/2014/main" id="{BE39953D-615A-427F-9959-0BCF4AAFA3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08288" y="4668838"/>
            <a:ext cx="1103312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ts val="2400"/>
              </a:lnSpc>
              <a:spcBef>
                <a:spcPct val="0"/>
              </a:spcBef>
              <a:buFontTx/>
              <a:buNone/>
            </a:pPr>
            <a:r>
              <a:rPr lang="zh-CN" altLang="en-US" sz="1600" b="1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末尾对齐</a:t>
            </a:r>
            <a:endParaRPr lang="en-US" altLang="zh-CN" sz="1600" b="1">
              <a:solidFill>
                <a:srgbClr val="00B05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7837" name="Rectangle 3">
            <a:extLst>
              <a:ext uri="{FF2B5EF4-FFF2-40B4-BE49-F238E27FC236}">
                <a16:creationId xmlns:a16="http://schemas.microsoft.com/office/drawing/2014/main" id="{F848E305-6F85-435F-A857-65F5FB2734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00475" y="4873625"/>
            <a:ext cx="793750" cy="407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ts val="2400"/>
              </a:lnSpc>
              <a:spcBef>
                <a:spcPct val="0"/>
              </a:spcBef>
              <a:buFontTx/>
              <a:buNone/>
            </a:pPr>
            <a:r>
              <a:rPr lang="en-US" altLang="zh-CN" sz="1800" b="1">
                <a:latin typeface="黑体" panose="02010609060101010101" pitchFamily="49" charset="-122"/>
                <a:ea typeface="黑体" panose="02010609060101010101" pitchFamily="49" charset="-122"/>
              </a:rPr>
              <a:t>12.4</a:t>
            </a:r>
          </a:p>
        </p:txBody>
      </p: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80877AAD-9ADB-4DBE-9344-2336B0951DE6}"/>
              </a:ext>
            </a:extLst>
          </p:cNvPr>
          <p:cNvCxnSpPr/>
          <p:nvPr/>
        </p:nvCxnSpPr>
        <p:spPr bwMode="auto">
          <a:xfrm>
            <a:off x="4586288" y="5111750"/>
            <a:ext cx="1079500" cy="0"/>
          </a:xfrm>
          <a:prstGeom prst="straightConnector1">
            <a:avLst/>
          </a:prstGeom>
          <a:ln>
            <a:solidFill>
              <a:srgbClr val="00B050"/>
            </a:solidFill>
            <a:headEnd type="none" w="med" len="med"/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77839" name="Rectangle 3">
            <a:extLst>
              <a:ext uri="{FF2B5EF4-FFF2-40B4-BE49-F238E27FC236}">
                <a16:creationId xmlns:a16="http://schemas.microsoft.com/office/drawing/2014/main" id="{8F657EA2-5E78-414E-87DA-6BD12A90CC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8963" y="4648200"/>
            <a:ext cx="1458912" cy="407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ts val="2400"/>
              </a:lnSpc>
              <a:spcBef>
                <a:spcPct val="0"/>
              </a:spcBef>
              <a:buFontTx/>
              <a:buNone/>
            </a:pPr>
            <a:r>
              <a:rPr lang="zh-CN" altLang="en-US" sz="1600" b="1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三分之一准则</a:t>
            </a:r>
            <a:endParaRPr lang="en-US" altLang="zh-CN" sz="1600" b="1">
              <a:solidFill>
                <a:srgbClr val="00B05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7840" name="Rectangle 3">
            <a:extLst>
              <a:ext uri="{FF2B5EF4-FFF2-40B4-BE49-F238E27FC236}">
                <a16:creationId xmlns:a16="http://schemas.microsoft.com/office/drawing/2014/main" id="{30747A87-36AD-400B-B12C-8A83184405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72150" y="4897438"/>
            <a:ext cx="792163" cy="407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ts val="2400"/>
              </a:lnSpc>
              <a:spcBef>
                <a:spcPct val="0"/>
              </a:spcBef>
              <a:buFontTx/>
              <a:buNone/>
            </a:pPr>
            <a:r>
              <a:rPr lang="en-US" altLang="zh-CN" sz="1800" b="1">
                <a:latin typeface="黑体" panose="02010609060101010101" pitchFamily="49" charset="-122"/>
                <a:ea typeface="黑体" panose="02010609060101010101" pitchFamily="49" charset="-122"/>
              </a:rPr>
              <a:t>13</a:t>
            </a:r>
          </a:p>
        </p:txBody>
      </p: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3B2CC447-A40D-4D5E-88D0-EC333AE91FE3}"/>
              </a:ext>
            </a:extLst>
          </p:cNvPr>
          <p:cNvCxnSpPr/>
          <p:nvPr/>
        </p:nvCxnSpPr>
        <p:spPr bwMode="auto">
          <a:xfrm flipV="1">
            <a:off x="6269038" y="5100638"/>
            <a:ext cx="862012" cy="1587"/>
          </a:xfrm>
          <a:prstGeom prst="straightConnector1">
            <a:avLst/>
          </a:prstGeom>
          <a:ln>
            <a:solidFill>
              <a:srgbClr val="00B050"/>
            </a:solidFill>
            <a:headEnd type="none" w="med" len="med"/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77842" name="Rectangle 3">
            <a:extLst>
              <a:ext uri="{FF2B5EF4-FFF2-40B4-BE49-F238E27FC236}">
                <a16:creationId xmlns:a16="http://schemas.microsoft.com/office/drawing/2014/main" id="{4BE9290D-3658-40DF-9BBD-6421209551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3788" y="4662488"/>
            <a:ext cx="1103312" cy="407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lnSpc>
                <a:spcPts val="2400"/>
              </a:lnSpc>
              <a:spcBef>
                <a:spcPct val="0"/>
              </a:spcBef>
              <a:buFontTx/>
              <a:buNone/>
            </a:pPr>
            <a:r>
              <a:rPr lang="zh-CN" altLang="en-US" sz="1600" b="1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修约后</a:t>
            </a:r>
            <a:endParaRPr lang="en-US" altLang="zh-CN" sz="1600" b="1">
              <a:solidFill>
                <a:srgbClr val="00B05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7843" name="Rectangle 3">
            <a:extLst>
              <a:ext uri="{FF2B5EF4-FFF2-40B4-BE49-F238E27FC236}">
                <a16:creationId xmlns:a16="http://schemas.microsoft.com/office/drawing/2014/main" id="{E9F96AF0-EB47-4EB6-973C-A8CB706694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08850" y="4811713"/>
            <a:ext cx="1454150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ts val="2400"/>
              </a:lnSpc>
              <a:spcBef>
                <a:spcPct val="0"/>
              </a:spcBef>
              <a:buFontTx/>
              <a:buNone/>
            </a:pPr>
            <a:r>
              <a:rPr lang="en-US" altLang="zh-CN" sz="1800" b="1">
                <a:latin typeface="黑体" panose="02010609060101010101" pitchFamily="49" charset="-122"/>
                <a:ea typeface="黑体" panose="02010609060101010101" pitchFamily="49" charset="-122"/>
              </a:rPr>
              <a:t>U=0.0013mm</a:t>
            </a:r>
          </a:p>
        </p:txBody>
      </p: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17B189B4-E8B7-44A8-A517-9E78308C60E1}"/>
              </a:ext>
            </a:extLst>
          </p:cNvPr>
          <p:cNvCxnSpPr/>
          <p:nvPr/>
        </p:nvCxnSpPr>
        <p:spPr bwMode="auto">
          <a:xfrm flipV="1">
            <a:off x="2909888" y="6140450"/>
            <a:ext cx="862012" cy="0"/>
          </a:xfrm>
          <a:prstGeom prst="straightConnector1">
            <a:avLst/>
          </a:prstGeom>
          <a:ln>
            <a:solidFill>
              <a:srgbClr val="00B050"/>
            </a:solidFill>
            <a:headEnd type="none" w="med" len="med"/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77845" name="Rectangle 3">
            <a:extLst>
              <a:ext uri="{FF2B5EF4-FFF2-40B4-BE49-F238E27FC236}">
                <a16:creationId xmlns:a16="http://schemas.microsoft.com/office/drawing/2014/main" id="{8DF534D5-0C2C-4538-9C95-C1B126594C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3050" y="5700713"/>
            <a:ext cx="1103313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ts val="2400"/>
              </a:lnSpc>
              <a:spcBef>
                <a:spcPct val="0"/>
              </a:spcBef>
              <a:buFontTx/>
              <a:buNone/>
            </a:pPr>
            <a:r>
              <a:rPr lang="zh-CN" altLang="en-US" sz="1600" b="1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末尾对齐</a:t>
            </a:r>
            <a:endParaRPr lang="en-US" altLang="zh-CN" sz="1600" b="1">
              <a:solidFill>
                <a:srgbClr val="00B05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7846" name="Rectangle 3">
            <a:extLst>
              <a:ext uri="{FF2B5EF4-FFF2-40B4-BE49-F238E27FC236}">
                <a16:creationId xmlns:a16="http://schemas.microsoft.com/office/drawing/2014/main" id="{5FD69198-5172-4CD9-9B18-5F4F2794E0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05238" y="5905500"/>
            <a:ext cx="793750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ts val="2400"/>
              </a:lnSpc>
              <a:spcBef>
                <a:spcPct val="0"/>
              </a:spcBef>
              <a:buFontTx/>
              <a:buNone/>
            </a:pPr>
            <a:r>
              <a:rPr lang="en-US" altLang="zh-CN" sz="1800" b="1">
                <a:latin typeface="黑体" panose="02010609060101010101" pitchFamily="49" charset="-122"/>
                <a:ea typeface="黑体" panose="02010609060101010101" pitchFamily="49" charset="-122"/>
              </a:rPr>
              <a:t>12.3</a:t>
            </a:r>
          </a:p>
        </p:txBody>
      </p: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6EA139A9-0387-42BC-BAEA-DF6D026D5F96}"/>
              </a:ext>
            </a:extLst>
          </p:cNvPr>
          <p:cNvCxnSpPr/>
          <p:nvPr/>
        </p:nvCxnSpPr>
        <p:spPr bwMode="auto">
          <a:xfrm>
            <a:off x="4591050" y="6143625"/>
            <a:ext cx="1081088" cy="0"/>
          </a:xfrm>
          <a:prstGeom prst="straightConnector1">
            <a:avLst/>
          </a:prstGeom>
          <a:ln>
            <a:solidFill>
              <a:srgbClr val="00B050"/>
            </a:solidFill>
            <a:headEnd type="none" w="med" len="med"/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77848" name="Rectangle 3">
            <a:extLst>
              <a:ext uri="{FF2B5EF4-FFF2-40B4-BE49-F238E27FC236}">
                <a16:creationId xmlns:a16="http://schemas.microsoft.com/office/drawing/2014/main" id="{FB8EF2EA-C804-4292-A4D9-D1D3694F62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03725" y="5680075"/>
            <a:ext cx="1458913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ts val="2400"/>
              </a:lnSpc>
              <a:spcBef>
                <a:spcPct val="0"/>
              </a:spcBef>
              <a:buFontTx/>
              <a:buNone/>
            </a:pPr>
            <a:r>
              <a:rPr lang="zh-CN" altLang="en-US" sz="1600" b="1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三分之一准则</a:t>
            </a:r>
            <a:endParaRPr lang="en-US" altLang="zh-CN" sz="1600" b="1">
              <a:solidFill>
                <a:srgbClr val="00B05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7849" name="Rectangle 3">
            <a:extLst>
              <a:ext uri="{FF2B5EF4-FFF2-40B4-BE49-F238E27FC236}">
                <a16:creationId xmlns:a16="http://schemas.microsoft.com/office/drawing/2014/main" id="{62144014-2DD6-4224-95BA-B3F2281FBD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76913" y="5929313"/>
            <a:ext cx="792162" cy="407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ts val="2400"/>
              </a:lnSpc>
              <a:spcBef>
                <a:spcPct val="0"/>
              </a:spcBef>
              <a:buFontTx/>
              <a:buNone/>
            </a:pPr>
            <a:r>
              <a:rPr lang="en-US" altLang="zh-CN" sz="1800" b="1">
                <a:latin typeface="黑体" panose="02010609060101010101" pitchFamily="49" charset="-122"/>
                <a:ea typeface="黑体" panose="02010609060101010101" pitchFamily="49" charset="-122"/>
              </a:rPr>
              <a:t>12</a:t>
            </a:r>
          </a:p>
        </p:txBody>
      </p: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0CAC7288-ED1B-4A7E-8A2A-614F96B4A678}"/>
              </a:ext>
            </a:extLst>
          </p:cNvPr>
          <p:cNvCxnSpPr/>
          <p:nvPr/>
        </p:nvCxnSpPr>
        <p:spPr bwMode="auto">
          <a:xfrm flipV="1">
            <a:off x="6273800" y="6132513"/>
            <a:ext cx="862013" cy="1587"/>
          </a:xfrm>
          <a:prstGeom prst="straightConnector1">
            <a:avLst/>
          </a:prstGeom>
          <a:ln>
            <a:solidFill>
              <a:srgbClr val="00B050"/>
            </a:solidFill>
            <a:headEnd type="none" w="med" len="med"/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77851" name="Rectangle 3">
            <a:extLst>
              <a:ext uri="{FF2B5EF4-FFF2-40B4-BE49-F238E27FC236}">
                <a16:creationId xmlns:a16="http://schemas.microsoft.com/office/drawing/2014/main" id="{013A9B73-05E4-4370-85B3-352F71C85E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8550" y="5694363"/>
            <a:ext cx="1103313" cy="407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lnSpc>
                <a:spcPts val="2400"/>
              </a:lnSpc>
              <a:spcBef>
                <a:spcPct val="0"/>
              </a:spcBef>
              <a:buFontTx/>
              <a:buNone/>
            </a:pPr>
            <a:r>
              <a:rPr lang="zh-CN" altLang="en-US" sz="1600" b="1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修约后</a:t>
            </a:r>
            <a:endParaRPr lang="en-US" altLang="zh-CN" sz="1600" b="1">
              <a:solidFill>
                <a:srgbClr val="00B05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7852" name="Rectangle 3">
            <a:extLst>
              <a:ext uri="{FF2B5EF4-FFF2-40B4-BE49-F238E27FC236}">
                <a16:creationId xmlns:a16="http://schemas.microsoft.com/office/drawing/2014/main" id="{5957666F-EDAB-4D4C-B64D-89216959E1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5200" y="5843588"/>
            <a:ext cx="1454150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ts val="2400"/>
              </a:lnSpc>
              <a:spcBef>
                <a:spcPct val="0"/>
              </a:spcBef>
              <a:buFontTx/>
              <a:buNone/>
            </a:pPr>
            <a:r>
              <a:rPr lang="en-US" altLang="zh-CN" sz="1800" b="1">
                <a:latin typeface="黑体" panose="02010609060101010101" pitchFamily="49" charset="-122"/>
                <a:ea typeface="黑体" panose="02010609060101010101" pitchFamily="49" charset="-122"/>
              </a:rPr>
              <a:t>U=0.0012mm</a:t>
            </a:r>
          </a:p>
        </p:txBody>
      </p:sp>
      <p:sp>
        <p:nvSpPr>
          <p:cNvPr id="30" name="页脚占位符 6">
            <a:extLst>
              <a:ext uri="{FF2B5EF4-FFF2-40B4-BE49-F238E27FC236}">
                <a16:creationId xmlns:a16="http://schemas.microsoft.com/office/drawing/2014/main" id="{280B6485-9F0B-4D7F-AA91-A03D69AC2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43213" y="6411913"/>
            <a:ext cx="2960687" cy="309562"/>
          </a:xfrm>
        </p:spPr>
        <p:txBody>
          <a:bodyPr/>
          <a:lstStyle/>
          <a:p>
            <a:pPr>
              <a:defRPr/>
            </a:pPr>
            <a:r>
              <a:rPr lang="zh-CN" altLang="en-US"/>
              <a:t>人工智能与自动化学院测量科学与仪器系</a:t>
            </a:r>
            <a:endParaRPr lang="en-US" altLang="zh-CN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灯片编号占位符 5">
            <a:extLst>
              <a:ext uri="{FF2B5EF4-FFF2-40B4-BE49-F238E27FC236}">
                <a16:creationId xmlns:a16="http://schemas.microsoft.com/office/drawing/2014/main" id="{DA79ADCA-9D00-4254-9A9C-1FF81447E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buFontTx/>
              <a:buChar char="•"/>
            </a:pPr>
            <a:fld id="{89E4B945-E879-49EB-9831-4360F70F0BEF}" type="slidenum">
              <a:rPr lang="en-US" altLang="zh-CN" sz="1200" smtClean="0">
                <a:solidFill>
                  <a:srgbClr val="898989"/>
                </a:solidFill>
                <a:latin typeface="Times New Roman" panose="02020603050405020304" pitchFamily="18" charset="0"/>
                <a:ea typeface="楷体_GB2312" pitchFamily="49" charset="-122"/>
              </a:rPr>
              <a:pPr>
                <a:buFontTx/>
                <a:buChar char="•"/>
              </a:pPr>
              <a:t>41</a:t>
            </a:fld>
            <a:endParaRPr lang="en-US" altLang="zh-CN" sz="1200">
              <a:solidFill>
                <a:srgbClr val="898989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59C7D4C-C0F7-4C7B-80FE-1C5E6D93CAC0}"/>
              </a:ext>
            </a:extLst>
          </p:cNvPr>
          <p:cNvSpPr/>
          <p:nvPr/>
        </p:nvSpPr>
        <p:spPr>
          <a:xfrm>
            <a:off x="142875" y="1000125"/>
            <a:ext cx="8286750" cy="46038"/>
          </a:xfrm>
          <a:prstGeom prst="rect">
            <a:avLst/>
          </a:prstGeom>
          <a:gradFill flip="none" rotWithShape="1">
            <a:gsLst>
              <a:gs pos="0">
                <a:srgbClr val="5E9EFF"/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85000"/>
              <a:buFontTx/>
              <a:buChar char="•"/>
              <a:defRPr/>
            </a:pPr>
            <a:endParaRPr lang="zh-CN" altLang="en-US"/>
          </a:p>
        </p:txBody>
      </p:sp>
      <p:sp>
        <p:nvSpPr>
          <p:cNvPr id="7" name="页脚占位符 6">
            <a:extLst>
              <a:ext uri="{FF2B5EF4-FFF2-40B4-BE49-F238E27FC236}">
                <a16:creationId xmlns:a16="http://schemas.microsoft.com/office/drawing/2014/main" id="{77036EDF-4020-4337-B798-919AD6B86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43213" y="6411913"/>
            <a:ext cx="2960687" cy="309562"/>
          </a:xfrm>
        </p:spPr>
        <p:txBody>
          <a:bodyPr/>
          <a:lstStyle/>
          <a:p>
            <a:pPr>
              <a:defRPr/>
            </a:pPr>
            <a:r>
              <a:rPr lang="zh-CN" altLang="en-US"/>
              <a:t>人工智能与自动化学院测量科学与仪器系</a:t>
            </a:r>
            <a:endParaRPr lang="en-US" altLang="zh-CN"/>
          </a:p>
        </p:txBody>
      </p:sp>
      <p:sp>
        <p:nvSpPr>
          <p:cNvPr id="79877" name="矩形 1">
            <a:extLst>
              <a:ext uri="{FF2B5EF4-FFF2-40B4-BE49-F238E27FC236}">
                <a16:creationId xmlns:a16="http://schemas.microsoft.com/office/drawing/2014/main" id="{8DBF8DB4-F56A-4A58-A9FB-7D1CA6AD43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1484313"/>
            <a:ext cx="5759450" cy="5808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ct val="50000"/>
              </a:spcBef>
              <a:buSzPct val="85000"/>
            </a:pPr>
            <a:r>
              <a:rPr lang="en-US" altLang="zh-CN" sz="2400" dirty="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zh-CN" altLang="en-US" sz="2400" dirty="0">
                <a:latin typeface="Times New Roman" panose="02020603050405020304" pitchFamily="18" charset="0"/>
                <a:ea typeface="楷体_GB2312" pitchFamily="49" charset="-122"/>
              </a:rPr>
              <a:t>、作业：</a:t>
            </a:r>
            <a:r>
              <a:rPr lang="zh-CN" altLang="en-US" sz="2400" dirty="0">
                <a:latin typeface="Times New Roman" panose="02020603050405020304" pitchFamily="18" charset="0"/>
                <a:ea typeface="楷体_GB2312" pitchFamily="49" charset="-122"/>
                <a:sym typeface="Wingdings" panose="05000000000000000000" pitchFamily="2" charset="2"/>
              </a:rPr>
              <a:t>习题册 </a:t>
            </a:r>
            <a:r>
              <a:rPr lang="en-US" altLang="zh-CN" sz="2400" dirty="0">
                <a:latin typeface="Times New Roman" panose="02020603050405020304" pitchFamily="18" charset="0"/>
                <a:ea typeface="楷体_GB2312" pitchFamily="49" charset="-122"/>
                <a:sym typeface="Wingdings" panose="05000000000000000000" pitchFamily="2" charset="2"/>
              </a:rPr>
              <a:t>2-7</a:t>
            </a:r>
            <a:r>
              <a:rPr lang="zh-CN" altLang="en-US" sz="2400" dirty="0">
                <a:latin typeface="Times New Roman" panose="02020603050405020304" pitchFamily="18" charset="0"/>
                <a:ea typeface="楷体_GB2312" pitchFamily="49" charset="-122"/>
                <a:sym typeface="Wingdings" panose="05000000000000000000" pitchFamily="2" charset="2"/>
              </a:rPr>
              <a:t>，</a:t>
            </a:r>
            <a:r>
              <a:rPr lang="en-US" altLang="zh-CN" sz="2400" dirty="0">
                <a:latin typeface="Times New Roman" panose="02020603050405020304" pitchFamily="18" charset="0"/>
                <a:ea typeface="楷体_GB2312" pitchFamily="49" charset="-122"/>
                <a:sym typeface="Wingdings" panose="05000000000000000000" pitchFamily="2" charset="2"/>
              </a:rPr>
              <a:t>2-8</a:t>
            </a:r>
            <a:r>
              <a:rPr lang="zh-CN" altLang="en-US" sz="2400" dirty="0">
                <a:latin typeface="Times New Roman" panose="02020603050405020304" pitchFamily="18" charset="0"/>
                <a:ea typeface="楷体_GB2312" pitchFamily="49" charset="-122"/>
                <a:sym typeface="Wingdings" panose="05000000000000000000" pitchFamily="2" charset="2"/>
              </a:rPr>
              <a:t>，</a:t>
            </a:r>
            <a:r>
              <a:rPr lang="en-US" altLang="zh-CN" sz="2400" dirty="0">
                <a:latin typeface="Times New Roman" panose="02020603050405020304" pitchFamily="18" charset="0"/>
                <a:ea typeface="楷体_GB2312" pitchFamily="49" charset="-122"/>
                <a:sym typeface="Wingdings" panose="05000000000000000000" pitchFamily="2" charset="2"/>
              </a:rPr>
              <a:t>2-10</a:t>
            </a:r>
            <a:r>
              <a:rPr lang="zh-CN" altLang="en-US" sz="2400" dirty="0">
                <a:latin typeface="Times New Roman" panose="02020603050405020304" pitchFamily="18" charset="0"/>
                <a:ea typeface="楷体_GB2312" pitchFamily="49" charset="-122"/>
                <a:sym typeface="Wingdings" panose="05000000000000000000" pitchFamily="2" charset="2"/>
              </a:rPr>
              <a:t>，</a:t>
            </a:r>
            <a:r>
              <a:rPr lang="en-US" altLang="zh-CN" sz="2400" dirty="0">
                <a:latin typeface="Times New Roman" panose="02020603050405020304" pitchFamily="18" charset="0"/>
                <a:ea typeface="楷体_GB2312" pitchFamily="49" charset="-122"/>
                <a:sym typeface="Wingdings" panose="05000000000000000000" pitchFamily="2" charset="2"/>
              </a:rPr>
              <a:t>2-13</a:t>
            </a:r>
          </a:p>
        </p:txBody>
      </p:sp>
      <p:sp>
        <p:nvSpPr>
          <p:cNvPr id="79878" name="矩形 7">
            <a:extLst>
              <a:ext uri="{FF2B5EF4-FFF2-40B4-BE49-F238E27FC236}">
                <a16:creationId xmlns:a16="http://schemas.microsoft.com/office/drawing/2014/main" id="{2099EC75-45FA-4758-B4D0-6211AD0C23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2" y="2487494"/>
            <a:ext cx="7127897" cy="18735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ct val="50000"/>
              </a:spcBef>
              <a:buSzPct val="85000"/>
            </a:pPr>
            <a:r>
              <a:rPr lang="en-US" altLang="zh-CN" sz="2400" dirty="0"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zh-CN" altLang="en-US" sz="2400" dirty="0">
                <a:latin typeface="Times New Roman" panose="02020603050405020304" pitchFamily="18" charset="0"/>
                <a:ea typeface="楷体_GB2312" pitchFamily="49" charset="-122"/>
              </a:rPr>
              <a:t>、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*  </a:t>
            </a:r>
            <a:r>
              <a:rPr lang="zh-CN" altLang="en-US" sz="2400" dirty="0">
                <a:latin typeface="Times New Roman" panose="02020603050405020304" pitchFamily="18" charset="0"/>
                <a:ea typeface="楷体_GB2312" pitchFamily="49" charset="-122"/>
              </a:rPr>
              <a:t>附加作业：可选择不做，但做对了有加分</a:t>
            </a:r>
            <a:endParaRPr lang="en-US" altLang="zh-CN" sz="2400" dirty="0"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lnSpc>
                <a:spcPct val="150000"/>
              </a:lnSpc>
              <a:spcBef>
                <a:spcPct val="50000"/>
              </a:spcBef>
              <a:buSzPct val="85000"/>
            </a:pPr>
            <a:r>
              <a:rPr lang="en-US" altLang="zh-CN" sz="2400" dirty="0">
                <a:latin typeface="Times New Roman" panose="02020603050405020304" pitchFamily="18" charset="0"/>
                <a:ea typeface="楷体_GB2312" pitchFamily="49" charset="-122"/>
                <a:sym typeface="Wingdings" panose="05000000000000000000" pitchFamily="2" charset="2"/>
              </a:rPr>
              <a:t>         </a:t>
            </a:r>
            <a:r>
              <a:rPr lang="zh-CN" altLang="en-US" sz="2400" dirty="0">
                <a:latin typeface="Times New Roman" panose="02020603050405020304" pitchFamily="18" charset="0"/>
                <a:ea typeface="楷体_GB2312" pitchFamily="49" charset="-122"/>
                <a:sym typeface="Wingdings" panose="05000000000000000000" pitchFamily="2" charset="2"/>
              </a:rPr>
              <a:t>说明标准差表达式中，根号内分母项为何不是 </a:t>
            </a:r>
            <a:r>
              <a:rPr lang="en-US" altLang="zh-CN" sz="2400" i="1" dirty="0">
                <a:latin typeface="Times New Roman" panose="02020603050405020304" pitchFamily="18" charset="0"/>
                <a:ea typeface="楷体_GB2312" pitchFamily="49" charset="-122"/>
                <a:sym typeface="Wingdings" panose="05000000000000000000" pitchFamily="2" charset="2"/>
              </a:rPr>
              <a:t>n </a:t>
            </a:r>
            <a:r>
              <a:rPr lang="zh-CN" altLang="en-US" sz="2400" i="1" dirty="0">
                <a:latin typeface="Times New Roman" panose="02020603050405020304" pitchFamily="18" charset="0"/>
                <a:ea typeface="楷体_GB2312" pitchFamily="49" charset="-122"/>
                <a:sym typeface="Wingdings" panose="05000000000000000000" pitchFamily="2" charset="2"/>
              </a:rPr>
              <a:t>而是 </a:t>
            </a:r>
            <a:r>
              <a:rPr lang="en-US" altLang="zh-CN" sz="2400" i="1" dirty="0">
                <a:latin typeface="Times New Roman" panose="02020603050405020304" pitchFamily="18" charset="0"/>
                <a:ea typeface="楷体_GB2312" pitchFamily="49" charset="-122"/>
                <a:sym typeface="Wingdings" panose="05000000000000000000" pitchFamily="2" charset="2"/>
              </a:rPr>
              <a:t>n-1 </a:t>
            </a:r>
            <a:r>
              <a:rPr lang="zh-CN" altLang="en-US" sz="2400" dirty="0">
                <a:latin typeface="Times New Roman" panose="02020603050405020304" pitchFamily="18" charset="0"/>
                <a:ea typeface="楷体_GB2312" pitchFamily="49" charset="-122"/>
                <a:sym typeface="Wingdings" panose="05000000000000000000" pitchFamily="2" charset="2"/>
              </a:rPr>
              <a:t>？</a:t>
            </a:r>
            <a:endParaRPr lang="en-US" altLang="zh-CN" sz="2400" dirty="0">
              <a:latin typeface="Times New Roman" panose="02020603050405020304" pitchFamily="18" charset="0"/>
              <a:ea typeface="楷体_GB2312" pitchFamily="49" charset="-122"/>
              <a:sym typeface="Wingdings" panose="05000000000000000000" pitchFamily="2" charset="2"/>
            </a:endParaRPr>
          </a:p>
        </p:txBody>
      </p:sp>
      <p:graphicFrame>
        <p:nvGraphicFramePr>
          <p:cNvPr id="9" name="Object 12">
            <a:extLst>
              <a:ext uri="{FF2B5EF4-FFF2-40B4-BE49-F238E27FC236}">
                <a16:creationId xmlns:a16="http://schemas.microsoft.com/office/drawing/2014/main" id="{BED48562-3445-41D2-870A-16C89F9D829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8281130"/>
              </p:ext>
            </p:extLst>
          </p:nvPr>
        </p:nvGraphicFramePr>
        <p:xfrm>
          <a:off x="2669401" y="4116231"/>
          <a:ext cx="1682750" cy="102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903" name="公式" r:id="rId3" imgW="799753" imgH="482391" progId="Equation.3">
                  <p:embed/>
                </p:oleObj>
              </mc:Choice>
              <mc:Fallback>
                <p:oleObj name="公式" r:id="rId3" imgW="799753" imgH="482391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9401" y="4116231"/>
                        <a:ext cx="1682750" cy="1028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灯片编号占位符 5">
            <a:extLst>
              <a:ext uri="{FF2B5EF4-FFF2-40B4-BE49-F238E27FC236}">
                <a16:creationId xmlns:a16="http://schemas.microsoft.com/office/drawing/2014/main" id="{200F78E1-C913-4371-AD2C-32C8B8F2E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buFontTx/>
              <a:buChar char="•"/>
            </a:pPr>
            <a:fld id="{0E35D3D8-FED5-4EFB-AD4E-4F3DAB1F4CD2}" type="slidenum">
              <a:rPr lang="en-US" altLang="zh-CN" sz="1200" smtClean="0">
                <a:solidFill>
                  <a:srgbClr val="898989"/>
                </a:solidFill>
                <a:latin typeface="Times New Roman" panose="02020603050405020304" pitchFamily="18" charset="0"/>
                <a:ea typeface="楷体_GB2312" pitchFamily="49" charset="-122"/>
              </a:rPr>
              <a:pPr>
                <a:buFontTx/>
                <a:buChar char="•"/>
              </a:pPr>
              <a:t>42</a:t>
            </a:fld>
            <a:endParaRPr lang="en-US" altLang="zh-CN" sz="1200">
              <a:solidFill>
                <a:srgbClr val="898989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59C7D4C-C0F7-4C7B-80FE-1C5E6D93CAC0}"/>
              </a:ext>
            </a:extLst>
          </p:cNvPr>
          <p:cNvSpPr/>
          <p:nvPr/>
        </p:nvSpPr>
        <p:spPr>
          <a:xfrm>
            <a:off x="142875" y="1000125"/>
            <a:ext cx="8286750" cy="46038"/>
          </a:xfrm>
          <a:prstGeom prst="rect">
            <a:avLst/>
          </a:prstGeom>
          <a:gradFill flip="none" rotWithShape="1">
            <a:gsLst>
              <a:gs pos="0">
                <a:srgbClr val="5E9EFF"/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85000"/>
              <a:buFontTx/>
              <a:buChar char="•"/>
              <a:defRPr/>
            </a:pPr>
            <a:endParaRPr lang="zh-CN" altLang="en-US"/>
          </a:p>
        </p:txBody>
      </p:sp>
      <p:sp>
        <p:nvSpPr>
          <p:cNvPr id="80900" name="Rectangle 3">
            <a:extLst>
              <a:ext uri="{FF2B5EF4-FFF2-40B4-BE49-F238E27FC236}">
                <a16:creationId xmlns:a16="http://schemas.microsoft.com/office/drawing/2014/main" id="{F7A553D2-E4C8-4246-8E69-7AD498D8D9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63938" y="3141663"/>
            <a:ext cx="2303462" cy="719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</a:pPr>
            <a:r>
              <a:rPr lang="en-US" altLang="zh-CN" sz="4400" b="1">
                <a:solidFill>
                  <a:schemeClr val="tx2"/>
                </a:solidFill>
                <a:latin typeface="方正舒体" panose="02010601030101010101" pitchFamily="2" charset="-122"/>
                <a:ea typeface="方正舒体" panose="02010601030101010101" pitchFamily="2" charset="-122"/>
              </a:rPr>
              <a:t>END !</a:t>
            </a:r>
            <a:endParaRPr lang="zh-CN" altLang="en-US" sz="4400" b="1">
              <a:solidFill>
                <a:schemeClr val="tx2"/>
              </a:solidFill>
              <a:latin typeface="方正舒体" panose="02010601030101010101" pitchFamily="2" charset="-122"/>
              <a:ea typeface="方正舒体" panose="02010601030101010101" pitchFamily="2" charset="-122"/>
            </a:endParaRPr>
          </a:p>
        </p:txBody>
      </p:sp>
      <p:sp>
        <p:nvSpPr>
          <p:cNvPr id="7" name="页脚占位符 6">
            <a:extLst>
              <a:ext uri="{FF2B5EF4-FFF2-40B4-BE49-F238E27FC236}">
                <a16:creationId xmlns:a16="http://schemas.microsoft.com/office/drawing/2014/main" id="{77036EDF-4020-4337-B798-919AD6B86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43213" y="6411913"/>
            <a:ext cx="2960687" cy="309562"/>
          </a:xfrm>
        </p:spPr>
        <p:txBody>
          <a:bodyPr/>
          <a:lstStyle/>
          <a:p>
            <a:pPr>
              <a:defRPr/>
            </a:pPr>
            <a:r>
              <a:rPr lang="zh-CN" altLang="en-US"/>
              <a:t>人工智能与自动化学院测量科学与仪器系</a:t>
            </a:r>
            <a:endParaRPr lang="en-US" altLang="zh-C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 主题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宋体" pitchFamily="2" charset="-122"/>
          </a:defRPr>
        </a:defPPr>
      </a:lst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5701</TotalTime>
  <Pages>0</Pages>
  <Words>3158</Words>
  <Characters>0</Characters>
  <Application>Microsoft Office PowerPoint</Application>
  <DocSecurity>0</DocSecurity>
  <PresentationFormat>全屏显示(4:3)</PresentationFormat>
  <Lines>0</Lines>
  <Paragraphs>422</Paragraphs>
  <Slides>42</Slides>
  <Notes>25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42</vt:i4>
      </vt:variant>
    </vt:vector>
  </HeadingPairs>
  <TitlesOfParts>
    <vt:vector size="57" baseType="lpstr">
      <vt:lpstr>PMingLiU</vt:lpstr>
      <vt:lpstr>方正舒体</vt:lpstr>
      <vt:lpstr>黑体</vt:lpstr>
      <vt:lpstr>华文琥珀</vt:lpstr>
      <vt:lpstr>华文楷体</vt:lpstr>
      <vt:lpstr>Arial</vt:lpstr>
      <vt:lpstr>Calibri</vt:lpstr>
      <vt:lpstr>Helvetica</vt:lpstr>
      <vt:lpstr>Segoe UI Black</vt:lpstr>
      <vt:lpstr>Times New Roman</vt:lpstr>
      <vt:lpstr>Wingdings</vt:lpstr>
      <vt:lpstr>Office 主题</vt:lpstr>
      <vt:lpstr>Equation</vt:lpstr>
      <vt:lpstr>Equation.3</vt:lpstr>
      <vt:lpstr>公式</vt:lpstr>
      <vt:lpstr>PowerPoint 演示文稿</vt:lpstr>
      <vt:lpstr>本章主要内容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>HUST</Company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subject/>
  <dc:creator>微软用户</dc:creator>
  <cp:keywords/>
  <dc:description/>
  <cp:lastModifiedBy>Lenovo</cp:lastModifiedBy>
  <cp:revision>354</cp:revision>
  <dcterms:created xsi:type="dcterms:W3CDTF">2015-06-15T07:49:00Z</dcterms:created>
  <dcterms:modified xsi:type="dcterms:W3CDTF">2026-09-04T05:04:17Z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2052-9.1.0.5184</vt:lpwstr>
  </property>
</Properties>
</file>