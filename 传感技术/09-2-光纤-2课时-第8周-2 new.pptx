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641" r:id="rId2"/>
    <p:sldId id="481" r:id="rId3"/>
    <p:sldId id="483" r:id="rId4"/>
    <p:sldId id="588" r:id="rId5"/>
    <p:sldId id="537" r:id="rId6"/>
    <p:sldId id="540" r:id="rId7"/>
    <p:sldId id="487" r:id="rId8"/>
    <p:sldId id="598" r:id="rId9"/>
    <p:sldId id="648" r:id="rId10"/>
    <p:sldId id="601" r:id="rId11"/>
    <p:sldId id="488" r:id="rId12"/>
    <p:sldId id="489" r:id="rId13"/>
    <p:sldId id="491" r:id="rId14"/>
    <p:sldId id="522" r:id="rId15"/>
    <p:sldId id="493" r:id="rId16"/>
    <p:sldId id="523" r:id="rId17"/>
    <p:sldId id="495" r:id="rId18"/>
    <p:sldId id="597" r:id="rId19"/>
    <p:sldId id="573" r:id="rId20"/>
    <p:sldId id="499" r:id="rId21"/>
    <p:sldId id="574" r:id="rId22"/>
    <p:sldId id="500" r:id="rId23"/>
    <p:sldId id="501" r:id="rId24"/>
    <p:sldId id="642" r:id="rId25"/>
    <p:sldId id="512" r:id="rId26"/>
    <p:sldId id="578" r:id="rId27"/>
    <p:sldId id="577" r:id="rId28"/>
    <p:sldId id="576" r:id="rId29"/>
    <p:sldId id="579" r:id="rId30"/>
    <p:sldId id="580" r:id="rId31"/>
    <p:sldId id="575" r:id="rId32"/>
    <p:sldId id="513" r:id="rId33"/>
    <p:sldId id="514" r:id="rId34"/>
    <p:sldId id="515" r:id="rId35"/>
    <p:sldId id="581" r:id="rId36"/>
    <p:sldId id="516" r:id="rId37"/>
    <p:sldId id="602" r:id="rId38"/>
    <p:sldId id="603" r:id="rId39"/>
    <p:sldId id="604" r:id="rId40"/>
    <p:sldId id="605" r:id="rId41"/>
    <p:sldId id="606" r:id="rId42"/>
    <p:sldId id="607" r:id="rId43"/>
    <p:sldId id="608" r:id="rId44"/>
    <p:sldId id="609" r:id="rId45"/>
    <p:sldId id="610" r:id="rId46"/>
    <p:sldId id="611" r:id="rId47"/>
    <p:sldId id="612" r:id="rId48"/>
    <p:sldId id="613" r:id="rId49"/>
    <p:sldId id="614" r:id="rId50"/>
    <p:sldId id="615" r:id="rId51"/>
    <p:sldId id="616" r:id="rId52"/>
    <p:sldId id="617" r:id="rId53"/>
    <p:sldId id="618" r:id="rId54"/>
    <p:sldId id="619" r:id="rId55"/>
    <p:sldId id="620" r:id="rId56"/>
    <p:sldId id="621" r:id="rId57"/>
    <p:sldId id="622" r:id="rId58"/>
    <p:sldId id="623" r:id="rId59"/>
    <p:sldId id="624" r:id="rId60"/>
    <p:sldId id="625" r:id="rId61"/>
    <p:sldId id="626" r:id="rId62"/>
    <p:sldId id="627" r:id="rId63"/>
    <p:sldId id="628" r:id="rId64"/>
    <p:sldId id="629" r:id="rId65"/>
    <p:sldId id="630" r:id="rId66"/>
    <p:sldId id="631" r:id="rId67"/>
    <p:sldId id="632" r:id="rId68"/>
    <p:sldId id="633" r:id="rId69"/>
    <p:sldId id="634" r:id="rId70"/>
    <p:sldId id="635" r:id="rId71"/>
    <p:sldId id="636" r:id="rId72"/>
    <p:sldId id="637" r:id="rId73"/>
    <p:sldId id="638" r:id="rId74"/>
    <p:sldId id="639" r:id="rId75"/>
    <p:sldId id="640" r:id="rId76"/>
    <p:sldId id="646" r:id="rId77"/>
    <p:sldId id="647" r:id="rId78"/>
  </p:sldIdLst>
  <p:sldSz cx="9144000" cy="6858000" type="screen4x3"/>
  <p:notesSz cx="6858000" cy="9144000"/>
  <p:defaultTextStyle>
    <a:defPPr>
      <a:defRPr lang="zh-CN"/>
    </a:defPPr>
    <a:lvl1pPr algn="l" rtl="0" eaLnBrk="0" fontAlgn="base" hangingPunct="0">
      <a:spcBef>
        <a:spcPct val="0"/>
      </a:spcBef>
      <a:spcAft>
        <a:spcPct val="0"/>
      </a:spcAft>
      <a:defRPr sz="2000" kern="1200">
        <a:solidFill>
          <a:schemeClr val="tx1"/>
        </a:solidFill>
        <a:latin typeface="楷体_GB2312" pitchFamily="49" charset="-122"/>
        <a:ea typeface="楷体_GB2312" pitchFamily="49" charset="-122"/>
        <a:cs typeface="+mn-cs"/>
      </a:defRPr>
    </a:lvl1pPr>
    <a:lvl2pPr marL="457200" algn="l" rtl="0" eaLnBrk="0" fontAlgn="base" hangingPunct="0">
      <a:spcBef>
        <a:spcPct val="0"/>
      </a:spcBef>
      <a:spcAft>
        <a:spcPct val="0"/>
      </a:spcAft>
      <a:defRPr sz="2000" kern="1200">
        <a:solidFill>
          <a:schemeClr val="tx1"/>
        </a:solidFill>
        <a:latin typeface="楷体_GB2312" pitchFamily="49" charset="-122"/>
        <a:ea typeface="楷体_GB2312" pitchFamily="49" charset="-122"/>
        <a:cs typeface="+mn-cs"/>
      </a:defRPr>
    </a:lvl2pPr>
    <a:lvl3pPr marL="914400" algn="l" rtl="0" eaLnBrk="0" fontAlgn="base" hangingPunct="0">
      <a:spcBef>
        <a:spcPct val="0"/>
      </a:spcBef>
      <a:spcAft>
        <a:spcPct val="0"/>
      </a:spcAft>
      <a:defRPr sz="2000" kern="1200">
        <a:solidFill>
          <a:schemeClr val="tx1"/>
        </a:solidFill>
        <a:latin typeface="楷体_GB2312" pitchFamily="49" charset="-122"/>
        <a:ea typeface="楷体_GB2312" pitchFamily="49" charset="-122"/>
        <a:cs typeface="+mn-cs"/>
      </a:defRPr>
    </a:lvl3pPr>
    <a:lvl4pPr marL="1371600" algn="l" rtl="0" eaLnBrk="0" fontAlgn="base" hangingPunct="0">
      <a:spcBef>
        <a:spcPct val="0"/>
      </a:spcBef>
      <a:spcAft>
        <a:spcPct val="0"/>
      </a:spcAft>
      <a:defRPr sz="2000" kern="1200">
        <a:solidFill>
          <a:schemeClr val="tx1"/>
        </a:solidFill>
        <a:latin typeface="楷体_GB2312" pitchFamily="49" charset="-122"/>
        <a:ea typeface="楷体_GB2312" pitchFamily="49" charset="-122"/>
        <a:cs typeface="+mn-cs"/>
      </a:defRPr>
    </a:lvl4pPr>
    <a:lvl5pPr marL="1828800" algn="l" rtl="0" eaLnBrk="0" fontAlgn="base" hangingPunct="0">
      <a:spcBef>
        <a:spcPct val="0"/>
      </a:spcBef>
      <a:spcAft>
        <a:spcPct val="0"/>
      </a:spcAft>
      <a:defRPr sz="2000" kern="1200">
        <a:solidFill>
          <a:schemeClr val="tx1"/>
        </a:solidFill>
        <a:latin typeface="楷体_GB2312" pitchFamily="49" charset="-122"/>
        <a:ea typeface="楷体_GB2312" pitchFamily="49" charset="-122"/>
        <a:cs typeface="+mn-cs"/>
      </a:defRPr>
    </a:lvl5pPr>
    <a:lvl6pPr marL="2286000" algn="l" defTabSz="914400" rtl="0" eaLnBrk="1" latinLnBrk="0" hangingPunct="1">
      <a:defRPr sz="2000" kern="1200">
        <a:solidFill>
          <a:schemeClr val="tx1"/>
        </a:solidFill>
        <a:latin typeface="楷体_GB2312" pitchFamily="49" charset="-122"/>
        <a:ea typeface="楷体_GB2312" pitchFamily="49" charset="-122"/>
        <a:cs typeface="+mn-cs"/>
      </a:defRPr>
    </a:lvl6pPr>
    <a:lvl7pPr marL="2743200" algn="l" defTabSz="914400" rtl="0" eaLnBrk="1" latinLnBrk="0" hangingPunct="1">
      <a:defRPr sz="2000" kern="1200">
        <a:solidFill>
          <a:schemeClr val="tx1"/>
        </a:solidFill>
        <a:latin typeface="楷体_GB2312" pitchFamily="49" charset="-122"/>
        <a:ea typeface="楷体_GB2312" pitchFamily="49" charset="-122"/>
        <a:cs typeface="+mn-cs"/>
      </a:defRPr>
    </a:lvl7pPr>
    <a:lvl8pPr marL="3200400" algn="l" defTabSz="914400" rtl="0" eaLnBrk="1" latinLnBrk="0" hangingPunct="1">
      <a:defRPr sz="2000" kern="1200">
        <a:solidFill>
          <a:schemeClr val="tx1"/>
        </a:solidFill>
        <a:latin typeface="楷体_GB2312" pitchFamily="49" charset="-122"/>
        <a:ea typeface="楷体_GB2312" pitchFamily="49" charset="-122"/>
        <a:cs typeface="+mn-cs"/>
      </a:defRPr>
    </a:lvl8pPr>
    <a:lvl9pPr marL="3657600" algn="l" defTabSz="914400" rtl="0" eaLnBrk="1" latinLnBrk="0" hangingPunct="1">
      <a:defRPr sz="2000" kern="1200">
        <a:solidFill>
          <a:schemeClr val="tx1"/>
        </a:solidFill>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5E4E08"/>
    <a:srgbClr val="D9F5FF"/>
    <a:srgbClr val="A50021"/>
    <a:srgbClr val="333399"/>
    <a:srgbClr val="E1F0FF"/>
    <a:srgbClr val="EBF5FF"/>
    <a:srgbClr val="AC8C0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5" autoAdjust="0"/>
    <p:restoredTop sz="82353" autoAdjust="0"/>
  </p:normalViewPr>
  <p:slideViewPr>
    <p:cSldViewPr>
      <p:cViewPr varScale="1">
        <p:scale>
          <a:sx n="55" d="100"/>
          <a:sy n="55" d="100"/>
        </p:scale>
        <p:origin x="956"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image" Target="../media/image31.wmf"/><Relationship Id="rId7" Type="http://schemas.openxmlformats.org/officeDocument/2006/relationships/image" Target="../media/image35.wmf"/><Relationship Id="rId2" Type="http://schemas.openxmlformats.org/officeDocument/2006/relationships/image" Target="../media/image30.wmf"/><Relationship Id="rId1" Type="http://schemas.openxmlformats.org/officeDocument/2006/relationships/image" Target="../media/image2.wmf"/><Relationship Id="rId6" Type="http://schemas.openxmlformats.org/officeDocument/2006/relationships/image" Target="../media/image34.wmf"/><Relationship Id="rId5" Type="http://schemas.openxmlformats.org/officeDocument/2006/relationships/image" Target="../media/image33.wmf"/><Relationship Id="rId10" Type="http://schemas.openxmlformats.org/officeDocument/2006/relationships/image" Target="../media/image38.wmf"/><Relationship Id="rId4" Type="http://schemas.openxmlformats.org/officeDocument/2006/relationships/image" Target="../media/image32.wmf"/><Relationship Id="rId9" Type="http://schemas.openxmlformats.org/officeDocument/2006/relationships/image" Target="../media/image37.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wmf"/><Relationship Id="rId1" Type="http://schemas.openxmlformats.org/officeDocument/2006/relationships/image" Target="../media/image61.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76.wmf"/><Relationship Id="rId1" Type="http://schemas.openxmlformats.org/officeDocument/2006/relationships/image" Target="../media/image75.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82.wmf"/><Relationship Id="rId1" Type="http://schemas.openxmlformats.org/officeDocument/2006/relationships/image" Target="../media/image81.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image" Target="../media/image84.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95.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03.wmf"/><Relationship Id="rId1" Type="http://schemas.openxmlformats.org/officeDocument/2006/relationships/image" Target="../media/image10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F5DD4D30-CD37-4E64-B090-FB8C5DE6FF6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defRPr kumimoji="1" sz="1200">
                <a:latin typeface="Times New Roman" pitchFamily="18" charset="0"/>
                <a:ea typeface="宋体" pitchFamily="2" charset="-122"/>
              </a:defRPr>
            </a:lvl1pPr>
          </a:lstStyle>
          <a:p>
            <a:pPr>
              <a:defRPr/>
            </a:pPr>
            <a:endParaRPr lang="ja-JP" altLang="en-US"/>
          </a:p>
        </p:txBody>
      </p:sp>
      <p:sp>
        <p:nvSpPr>
          <p:cNvPr id="67587" name="Rectangle 3">
            <a:extLst>
              <a:ext uri="{FF2B5EF4-FFF2-40B4-BE49-F238E27FC236}">
                <a16:creationId xmlns:a16="http://schemas.microsoft.com/office/drawing/2014/main" id="{8556EA0B-102C-4FD1-A148-3308C5CBCEB9}"/>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defRPr kumimoji="1" sz="1200">
                <a:latin typeface="Times New Roman" pitchFamily="18" charset="0"/>
                <a:ea typeface="宋体" pitchFamily="2" charset="-122"/>
              </a:defRPr>
            </a:lvl1pPr>
          </a:lstStyle>
          <a:p>
            <a:pPr>
              <a:defRPr/>
            </a:pPr>
            <a:endParaRPr lang="en-US" altLang="ja-JP"/>
          </a:p>
        </p:txBody>
      </p:sp>
      <p:sp>
        <p:nvSpPr>
          <p:cNvPr id="2052" name="Rectangle 4">
            <a:extLst>
              <a:ext uri="{FF2B5EF4-FFF2-40B4-BE49-F238E27FC236}">
                <a16:creationId xmlns:a16="http://schemas.microsoft.com/office/drawing/2014/main" id="{6F5E0758-D362-4E99-9DAF-766221DE03B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9" name="Rectangle 5">
            <a:extLst>
              <a:ext uri="{FF2B5EF4-FFF2-40B4-BE49-F238E27FC236}">
                <a16:creationId xmlns:a16="http://schemas.microsoft.com/office/drawing/2014/main" id="{B8367708-7D5E-4110-9734-61528617B413}"/>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2 レベル</a:t>
            </a:r>
          </a:p>
          <a:p>
            <a:pPr lvl="2"/>
            <a:r>
              <a:rPr lang="ja-JP" altLang="en-US" noProof="0"/>
              <a:t>第 3 レベル</a:t>
            </a:r>
          </a:p>
          <a:p>
            <a:pPr lvl="3"/>
            <a:r>
              <a:rPr lang="ja-JP" altLang="en-US" noProof="0"/>
              <a:t>第 4 レベル</a:t>
            </a:r>
          </a:p>
          <a:p>
            <a:pPr lvl="4"/>
            <a:r>
              <a:rPr lang="ja-JP" altLang="en-US" noProof="0"/>
              <a:t>第 5 レベル</a:t>
            </a:r>
          </a:p>
        </p:txBody>
      </p:sp>
      <p:sp>
        <p:nvSpPr>
          <p:cNvPr id="67590" name="Rectangle 6">
            <a:extLst>
              <a:ext uri="{FF2B5EF4-FFF2-40B4-BE49-F238E27FC236}">
                <a16:creationId xmlns:a16="http://schemas.microsoft.com/office/drawing/2014/main" id="{DA755E34-0295-4DE8-98A2-FDB380177B85}"/>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defRPr kumimoji="1" sz="1200">
                <a:latin typeface="Times New Roman" pitchFamily="18" charset="0"/>
                <a:ea typeface="宋体" pitchFamily="2" charset="-122"/>
              </a:defRPr>
            </a:lvl1pPr>
          </a:lstStyle>
          <a:p>
            <a:pPr>
              <a:defRPr/>
            </a:pPr>
            <a:endParaRPr lang="en-US" altLang="ja-JP"/>
          </a:p>
        </p:txBody>
      </p:sp>
      <p:sp>
        <p:nvSpPr>
          <p:cNvPr id="67591" name="Rectangle 7">
            <a:extLst>
              <a:ext uri="{FF2B5EF4-FFF2-40B4-BE49-F238E27FC236}">
                <a16:creationId xmlns:a16="http://schemas.microsoft.com/office/drawing/2014/main" id="{0BA3039A-1B44-46E1-9F6A-09F1B92BC5D6}"/>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spcBef>
                <a:spcPct val="0"/>
              </a:spcBef>
              <a:defRPr kumimoji="1" sz="1200">
                <a:latin typeface="Times New Roman" panose="02020603050405020304" pitchFamily="18" charset="0"/>
                <a:ea typeface="宋体" panose="02010600030101010101" pitchFamily="2" charset="-122"/>
              </a:defRPr>
            </a:lvl1pPr>
          </a:lstStyle>
          <a:p>
            <a:pPr>
              <a:defRPr/>
            </a:pPr>
            <a:fld id="{9A0E8F4F-5BBF-4B8A-A038-EC5D33E2E2EF}" type="slidenum">
              <a:rPr lang="ja-JP" altLang="en-US"/>
              <a:pPr>
                <a:defRPr/>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09613" y="4860925"/>
            <a:ext cx="5680075" cy="4605338"/>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0BCE981-1D2F-43C9-9A3E-CA3E3C7DA744}" type="slidenum">
              <a:rPr lang="zh-CN" altLang="en-US" smtClean="0"/>
              <a:t>4</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09613" y="4860925"/>
            <a:ext cx="5680075" cy="4605338"/>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0BCE981-1D2F-43C9-9A3E-CA3E3C7DA744}" type="slidenum">
              <a:rPr lang="zh-CN" altLang="en-US" smtClean="0"/>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09613" y="4860925"/>
            <a:ext cx="5680075" cy="4605338"/>
          </a:xfrm>
          <a:prstGeom prst="rect">
            <a:avLst/>
          </a:prstGeom>
        </p:spPr>
        <p:txBody>
          <a:bodyPr>
            <a:normAutofit/>
          </a:bodyPr>
          <a:lstStyle/>
          <a:p>
            <a:r>
              <a:rPr lang="zh-CN" altLang="en-US" dirty="0"/>
              <a:t>光纤直径</a:t>
            </a:r>
            <a:r>
              <a:rPr lang="en-US" altLang="zh-CN" dirty="0"/>
              <a:t>1mm</a:t>
            </a:r>
            <a:r>
              <a:rPr lang="zh-CN" altLang="en-US" dirty="0"/>
              <a:t>左右，包括纤芯、包层和涂覆层的内芯只有</a:t>
            </a:r>
            <a:r>
              <a:rPr lang="en-US" altLang="zh-CN" dirty="0"/>
              <a:t>100~200um</a:t>
            </a:r>
            <a:r>
              <a:rPr lang="zh-CN" altLang="en-US" dirty="0"/>
              <a:t>的直径</a:t>
            </a:r>
          </a:p>
        </p:txBody>
      </p:sp>
      <p:sp>
        <p:nvSpPr>
          <p:cNvPr id="4" name="灯片编号占位符 3"/>
          <p:cNvSpPr>
            <a:spLocks noGrp="1"/>
          </p:cNvSpPr>
          <p:nvPr>
            <p:ph type="sldNum" sz="quarter" idx="10"/>
          </p:nvPr>
        </p:nvSpPr>
        <p:spPr/>
        <p:txBody>
          <a:bodyPr/>
          <a:lstStyle/>
          <a:p>
            <a:pPr>
              <a:defRPr/>
            </a:pPr>
            <a:fld id="{90BCE981-1D2F-43C9-9A3E-CA3E3C7DA744}" type="slidenum">
              <a:rPr lang="zh-CN" altLang="en-US" smtClean="0"/>
              <a:t>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0664CE3A-7800-4CE4-A1CD-DF176723AAD0}"/>
              </a:ext>
            </a:extLst>
          </p:cNvPr>
          <p:cNvSpPr>
            <a:spLocks noGrp="1" noRot="1" noChangeAspect="1" noTextEdit="1"/>
          </p:cNvSpPr>
          <p:nvPr>
            <p:ph type="sldImg"/>
          </p:nvPr>
        </p:nvSpPr>
        <p:spPr>
          <a:ln/>
        </p:spPr>
      </p:sp>
      <p:sp>
        <p:nvSpPr>
          <p:cNvPr id="13315" name="备注占位符 2">
            <a:extLst>
              <a:ext uri="{FF2B5EF4-FFF2-40B4-BE49-F238E27FC236}">
                <a16:creationId xmlns:a16="http://schemas.microsoft.com/office/drawing/2014/main" id="{9DDD91F8-2B77-47FE-A091-8032DACEB9F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拾光型：光纤钢水温度检测</a:t>
            </a:r>
          </a:p>
        </p:txBody>
      </p:sp>
      <p:sp>
        <p:nvSpPr>
          <p:cNvPr id="13316" name="灯片编号占位符 3">
            <a:extLst>
              <a:ext uri="{FF2B5EF4-FFF2-40B4-BE49-F238E27FC236}">
                <a16:creationId xmlns:a16="http://schemas.microsoft.com/office/drawing/2014/main" id="{473AEA78-5F0D-4587-B03C-7938581E3D3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楷体_GB2312" pitchFamily="49" charset="-122"/>
                <a:ea typeface="楷体_GB2312" pitchFamily="49" charset="-122"/>
              </a:defRPr>
            </a:lvl1pPr>
            <a:lvl2pPr marL="742950" indent="-285750">
              <a:defRPr sz="2000">
                <a:solidFill>
                  <a:schemeClr val="tx1"/>
                </a:solidFill>
                <a:latin typeface="楷体_GB2312" pitchFamily="49" charset="-122"/>
                <a:ea typeface="楷体_GB2312" pitchFamily="49" charset="-122"/>
              </a:defRPr>
            </a:lvl2pPr>
            <a:lvl3pPr marL="1143000" indent="-228600">
              <a:defRPr sz="2000">
                <a:solidFill>
                  <a:schemeClr val="tx1"/>
                </a:solidFill>
                <a:latin typeface="楷体_GB2312" pitchFamily="49" charset="-122"/>
                <a:ea typeface="楷体_GB2312" pitchFamily="49" charset="-122"/>
              </a:defRPr>
            </a:lvl3pPr>
            <a:lvl4pPr marL="1600200" indent="-228600">
              <a:defRPr sz="2000">
                <a:solidFill>
                  <a:schemeClr val="tx1"/>
                </a:solidFill>
                <a:latin typeface="楷体_GB2312" pitchFamily="49" charset="-122"/>
                <a:ea typeface="楷体_GB2312" pitchFamily="49" charset="-122"/>
              </a:defRPr>
            </a:lvl4pPr>
            <a:lvl5pPr marL="2057400" indent="-228600">
              <a:defRPr sz="20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0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0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0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000">
                <a:solidFill>
                  <a:schemeClr val="tx1"/>
                </a:solidFill>
                <a:latin typeface="楷体_GB2312" pitchFamily="49" charset="-122"/>
                <a:ea typeface="楷体_GB2312" pitchFamily="49" charset="-122"/>
              </a:defRPr>
            </a:lvl9pPr>
          </a:lstStyle>
          <a:p>
            <a:fld id="{F50A6620-8EE7-4887-8B7E-058FC09E6D63}" type="slidenum">
              <a:rPr lang="ja-JP" altLang="en-US" sz="1200" smtClean="0">
                <a:latin typeface="Times New Roman" panose="02020603050405020304" pitchFamily="18" charset="0"/>
                <a:ea typeface="宋体" panose="02010600030101010101" pitchFamily="2" charset="-122"/>
              </a:rPr>
              <a:pPr/>
              <a:t>10</a:t>
            </a:fld>
            <a:endParaRPr lang="en-US" altLang="ja-JP" sz="120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半坡效应：与发射光纤与接收光纤的分布有关。</a:t>
            </a:r>
          </a:p>
        </p:txBody>
      </p:sp>
      <p:sp>
        <p:nvSpPr>
          <p:cNvPr id="4" name="灯片编号占位符 3"/>
          <p:cNvSpPr>
            <a:spLocks noGrp="1"/>
          </p:cNvSpPr>
          <p:nvPr>
            <p:ph type="sldNum" sz="quarter" idx="5"/>
          </p:nvPr>
        </p:nvSpPr>
        <p:spPr/>
        <p:txBody>
          <a:bodyPr/>
          <a:lstStyle/>
          <a:p>
            <a:pPr>
              <a:defRPr/>
            </a:pPr>
            <a:fld id="{9A0E8F4F-5BBF-4B8A-A038-EC5D33E2E2EF}" type="slidenum">
              <a:rPr lang="ja-JP" altLang="en-US" smtClean="0"/>
              <a:pPr>
                <a:defRPr/>
              </a:pPr>
              <a:t>18</a:t>
            </a:fld>
            <a:endParaRPr lang="en-US" altLang="ja-JP"/>
          </a:p>
        </p:txBody>
      </p:sp>
    </p:spTree>
    <p:extLst>
      <p:ext uri="{BB962C8B-B14F-4D97-AF65-F5344CB8AC3E}">
        <p14:creationId xmlns:p14="http://schemas.microsoft.com/office/powerpoint/2010/main" val="1783173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11F83CD2-BF97-4631-8060-A00982110036}"/>
              </a:ext>
            </a:extLst>
          </p:cNvPr>
          <p:cNvSpPr>
            <a:spLocks noGrp="1" noRot="1" noChangeAspect="1" noTextEdit="1"/>
          </p:cNvSpPr>
          <p:nvPr>
            <p:ph type="sldImg"/>
          </p:nvPr>
        </p:nvSpPr>
        <p:spPr>
          <a:ln/>
        </p:spPr>
      </p:sp>
      <p:sp>
        <p:nvSpPr>
          <p:cNvPr id="26627" name="备注占位符 2">
            <a:extLst>
              <a:ext uri="{FF2B5EF4-FFF2-40B4-BE49-F238E27FC236}">
                <a16:creationId xmlns:a16="http://schemas.microsoft.com/office/drawing/2014/main" id="{7A45E5F2-043D-430E-AA7C-AC224812EAB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与声波多普勒比较。举例：火车的声音</a:t>
            </a:r>
          </a:p>
        </p:txBody>
      </p:sp>
      <p:sp>
        <p:nvSpPr>
          <p:cNvPr id="26628" name="灯片编号占位符 3">
            <a:extLst>
              <a:ext uri="{FF2B5EF4-FFF2-40B4-BE49-F238E27FC236}">
                <a16:creationId xmlns:a16="http://schemas.microsoft.com/office/drawing/2014/main" id="{93B9781B-0C73-4DA8-B22B-6EAD65DEDD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楷体_GB2312" pitchFamily="49" charset="-122"/>
                <a:ea typeface="楷体_GB2312" pitchFamily="49" charset="-122"/>
              </a:defRPr>
            </a:lvl1pPr>
            <a:lvl2pPr marL="742950" indent="-285750">
              <a:defRPr sz="2000">
                <a:solidFill>
                  <a:schemeClr val="tx1"/>
                </a:solidFill>
                <a:latin typeface="楷体_GB2312" pitchFamily="49" charset="-122"/>
                <a:ea typeface="楷体_GB2312" pitchFamily="49" charset="-122"/>
              </a:defRPr>
            </a:lvl2pPr>
            <a:lvl3pPr marL="1143000" indent="-228600">
              <a:defRPr sz="2000">
                <a:solidFill>
                  <a:schemeClr val="tx1"/>
                </a:solidFill>
                <a:latin typeface="楷体_GB2312" pitchFamily="49" charset="-122"/>
                <a:ea typeface="楷体_GB2312" pitchFamily="49" charset="-122"/>
              </a:defRPr>
            </a:lvl3pPr>
            <a:lvl4pPr marL="1600200" indent="-228600">
              <a:defRPr sz="2000">
                <a:solidFill>
                  <a:schemeClr val="tx1"/>
                </a:solidFill>
                <a:latin typeface="楷体_GB2312" pitchFamily="49" charset="-122"/>
                <a:ea typeface="楷体_GB2312" pitchFamily="49" charset="-122"/>
              </a:defRPr>
            </a:lvl4pPr>
            <a:lvl5pPr marL="2057400" indent="-228600">
              <a:defRPr sz="20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0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0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0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000">
                <a:solidFill>
                  <a:schemeClr val="tx1"/>
                </a:solidFill>
                <a:latin typeface="楷体_GB2312" pitchFamily="49" charset="-122"/>
                <a:ea typeface="楷体_GB2312" pitchFamily="49" charset="-122"/>
              </a:defRPr>
            </a:lvl9pPr>
          </a:lstStyle>
          <a:p>
            <a:fld id="{CC49B8ED-1D80-43B1-91C5-DF778447A3DE}" type="slidenum">
              <a:rPr lang="ja-JP" altLang="en-US" sz="1200" smtClean="0">
                <a:latin typeface="Times New Roman" panose="02020603050405020304" pitchFamily="18" charset="0"/>
                <a:ea typeface="宋体" panose="02010600030101010101" pitchFamily="2" charset="-122"/>
              </a:rPr>
              <a:pPr/>
              <a:t>21</a:t>
            </a:fld>
            <a:endParaRPr lang="en-US" altLang="ja-JP" sz="1200">
              <a:latin typeface="Times New Roman" panose="02020603050405020304" pitchFamily="18"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557753B1-ADEE-4C41-9606-AF0707DF1DE8}"/>
              </a:ext>
            </a:extLst>
          </p:cNvPr>
          <p:cNvSpPr>
            <a:spLocks noGrp="1" noRot="1" noChangeAspect="1" noTextEdit="1"/>
          </p:cNvSpPr>
          <p:nvPr>
            <p:ph type="sldImg"/>
          </p:nvPr>
        </p:nvSpPr>
        <p:spPr>
          <a:ln/>
        </p:spPr>
      </p:sp>
      <p:sp>
        <p:nvSpPr>
          <p:cNvPr id="62467" name="备注占位符 2">
            <a:extLst>
              <a:ext uri="{FF2B5EF4-FFF2-40B4-BE49-F238E27FC236}">
                <a16:creationId xmlns:a16="http://schemas.microsoft.com/office/drawing/2014/main" id="{69054654-2BBC-43F0-BAF8-EA535BBC4B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4</a:t>
            </a:r>
            <a:r>
              <a:rPr lang="zh-CN" altLang="en-US"/>
              <a:t>、</a:t>
            </a:r>
            <a:r>
              <a:rPr lang="en-US" altLang="zh-CN"/>
              <a:t>5</a:t>
            </a:r>
            <a:r>
              <a:rPr lang="zh-CN" altLang="en-US"/>
              <a:t>：分束器；</a:t>
            </a:r>
            <a:r>
              <a:rPr lang="en-US" altLang="zh-CN"/>
              <a:t>6</a:t>
            </a:r>
            <a:r>
              <a:rPr lang="zh-CN" altLang="en-US"/>
              <a:t>、</a:t>
            </a:r>
            <a:r>
              <a:rPr lang="en-US" altLang="zh-CN"/>
              <a:t>7</a:t>
            </a:r>
            <a:r>
              <a:rPr lang="zh-CN" altLang="en-US"/>
              <a:t>：滤光片</a:t>
            </a:r>
          </a:p>
        </p:txBody>
      </p:sp>
      <p:sp>
        <p:nvSpPr>
          <p:cNvPr id="62468" name="灯片编号占位符 3">
            <a:extLst>
              <a:ext uri="{FF2B5EF4-FFF2-40B4-BE49-F238E27FC236}">
                <a16:creationId xmlns:a16="http://schemas.microsoft.com/office/drawing/2014/main" id="{5BA314DC-8D82-49E7-90C8-8B5280DB76F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楷体_GB2312" pitchFamily="49" charset="-122"/>
                <a:ea typeface="楷体_GB2312" pitchFamily="49" charset="-122"/>
              </a:defRPr>
            </a:lvl1pPr>
            <a:lvl2pPr marL="742950" indent="-285750">
              <a:defRPr sz="2000">
                <a:solidFill>
                  <a:schemeClr val="tx1"/>
                </a:solidFill>
                <a:latin typeface="楷体_GB2312" pitchFamily="49" charset="-122"/>
                <a:ea typeface="楷体_GB2312" pitchFamily="49" charset="-122"/>
              </a:defRPr>
            </a:lvl2pPr>
            <a:lvl3pPr marL="1143000" indent="-228600">
              <a:defRPr sz="2000">
                <a:solidFill>
                  <a:schemeClr val="tx1"/>
                </a:solidFill>
                <a:latin typeface="楷体_GB2312" pitchFamily="49" charset="-122"/>
                <a:ea typeface="楷体_GB2312" pitchFamily="49" charset="-122"/>
              </a:defRPr>
            </a:lvl3pPr>
            <a:lvl4pPr marL="1600200" indent="-228600">
              <a:defRPr sz="2000">
                <a:solidFill>
                  <a:schemeClr val="tx1"/>
                </a:solidFill>
                <a:latin typeface="楷体_GB2312" pitchFamily="49" charset="-122"/>
                <a:ea typeface="楷体_GB2312" pitchFamily="49" charset="-122"/>
              </a:defRPr>
            </a:lvl4pPr>
            <a:lvl5pPr marL="2057400" indent="-228600">
              <a:defRPr sz="20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0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0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0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000">
                <a:solidFill>
                  <a:schemeClr val="tx1"/>
                </a:solidFill>
                <a:latin typeface="楷体_GB2312" pitchFamily="49" charset="-122"/>
                <a:ea typeface="楷体_GB2312" pitchFamily="49" charset="-122"/>
              </a:defRPr>
            </a:lvl9pPr>
          </a:lstStyle>
          <a:p>
            <a:fld id="{694C63E5-5B53-4412-B0A8-2102B4599D59}" type="slidenum">
              <a:rPr lang="ja-JP" altLang="en-US" sz="1200" smtClean="0">
                <a:latin typeface="Times New Roman" panose="02020603050405020304" pitchFamily="18" charset="0"/>
                <a:ea typeface="宋体" panose="02010600030101010101" pitchFamily="2" charset="-122"/>
              </a:rPr>
              <a:pPr/>
              <a:t>55</a:t>
            </a:fld>
            <a:endParaRPr lang="en-US" altLang="ja-JP" sz="1200">
              <a:latin typeface="Times New Roman" panose="02020603050405020304" pitchFamily="18"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DE99FB06-445B-48FE-908E-800015641980}"/>
              </a:ext>
            </a:extLst>
          </p:cNvPr>
          <p:cNvSpPr>
            <a:spLocks noGrp="1" noChangeArrowheads="1"/>
          </p:cNvSpPr>
          <p:nvPr>
            <p:ph type="dt" sz="half" idx="10"/>
          </p:nvPr>
        </p:nvSpPr>
        <p:spPr>
          <a:ln/>
        </p:spPr>
        <p:txBody>
          <a:bodyPr/>
          <a:lstStyle>
            <a:lvl1pPr>
              <a:defRPr/>
            </a:lvl1pPr>
          </a:lstStyle>
          <a:p>
            <a:pPr>
              <a:defRPr/>
            </a:pPr>
            <a:fld id="{19D44263-56CC-4B50-A87B-3BF7DDEA890F}" type="datetime1">
              <a:rPr lang="zh-CN" altLang="en-US"/>
              <a:pPr>
                <a:defRPr/>
              </a:pPr>
              <a:t>2023/10/24</a:t>
            </a:fld>
            <a:endParaRPr lang="en-US" altLang="zh-CN"/>
          </a:p>
        </p:txBody>
      </p:sp>
      <p:sp>
        <p:nvSpPr>
          <p:cNvPr id="5" name="Rectangle 5">
            <a:extLst>
              <a:ext uri="{FF2B5EF4-FFF2-40B4-BE49-F238E27FC236}">
                <a16:creationId xmlns:a16="http://schemas.microsoft.com/office/drawing/2014/main" id="{6D55D595-8229-4B55-8A9A-7EF0BC76735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4A4A8D6-ADFC-4A59-A7DE-8FCCA859F325}"/>
              </a:ext>
            </a:extLst>
          </p:cNvPr>
          <p:cNvSpPr>
            <a:spLocks noGrp="1" noChangeArrowheads="1"/>
          </p:cNvSpPr>
          <p:nvPr>
            <p:ph type="sldNum" sz="quarter" idx="12"/>
          </p:nvPr>
        </p:nvSpPr>
        <p:spPr>
          <a:ln/>
        </p:spPr>
        <p:txBody>
          <a:bodyPr/>
          <a:lstStyle>
            <a:lvl1pPr>
              <a:defRPr/>
            </a:lvl1pPr>
          </a:lstStyle>
          <a:p>
            <a:pPr>
              <a:defRPr/>
            </a:pPr>
            <a:fld id="{FE67BF63-2B43-4C8B-8352-90773150CF3B}" type="slidenum">
              <a:rPr lang="en-US" altLang="zh-CN"/>
              <a:pPr>
                <a:defRPr/>
              </a:pPr>
              <a:t>‹#›</a:t>
            </a:fld>
            <a:endParaRPr lang="en-US" altLang="zh-CN"/>
          </a:p>
        </p:txBody>
      </p:sp>
    </p:spTree>
    <p:extLst>
      <p:ext uri="{BB962C8B-B14F-4D97-AF65-F5344CB8AC3E}">
        <p14:creationId xmlns:p14="http://schemas.microsoft.com/office/powerpoint/2010/main" val="251436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D8151F2-4B57-4D0C-951A-A5955D07FE3D}"/>
              </a:ext>
            </a:extLst>
          </p:cNvPr>
          <p:cNvSpPr>
            <a:spLocks noGrp="1" noChangeArrowheads="1"/>
          </p:cNvSpPr>
          <p:nvPr>
            <p:ph type="dt" sz="half" idx="10"/>
          </p:nvPr>
        </p:nvSpPr>
        <p:spPr>
          <a:ln/>
        </p:spPr>
        <p:txBody>
          <a:bodyPr/>
          <a:lstStyle>
            <a:lvl1pPr>
              <a:defRPr/>
            </a:lvl1pPr>
          </a:lstStyle>
          <a:p>
            <a:pPr>
              <a:defRPr/>
            </a:pPr>
            <a:fld id="{480DF909-1D89-47E6-8A45-BB555DE417EB}" type="datetime1">
              <a:rPr lang="zh-CN" altLang="en-US"/>
              <a:pPr>
                <a:defRPr/>
              </a:pPr>
              <a:t>2023/10/24</a:t>
            </a:fld>
            <a:endParaRPr lang="en-US" altLang="zh-CN"/>
          </a:p>
        </p:txBody>
      </p:sp>
      <p:sp>
        <p:nvSpPr>
          <p:cNvPr id="5" name="Rectangle 5">
            <a:extLst>
              <a:ext uri="{FF2B5EF4-FFF2-40B4-BE49-F238E27FC236}">
                <a16:creationId xmlns:a16="http://schemas.microsoft.com/office/drawing/2014/main" id="{B3242B0B-2B74-4FAF-AF9C-D5C06CED789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18BA7D9-B587-40C4-891F-20FC129E7889}"/>
              </a:ext>
            </a:extLst>
          </p:cNvPr>
          <p:cNvSpPr>
            <a:spLocks noGrp="1" noChangeArrowheads="1"/>
          </p:cNvSpPr>
          <p:nvPr>
            <p:ph type="sldNum" sz="quarter" idx="12"/>
          </p:nvPr>
        </p:nvSpPr>
        <p:spPr>
          <a:ln/>
        </p:spPr>
        <p:txBody>
          <a:bodyPr/>
          <a:lstStyle>
            <a:lvl1pPr>
              <a:defRPr/>
            </a:lvl1pPr>
          </a:lstStyle>
          <a:p>
            <a:pPr>
              <a:defRPr/>
            </a:pPr>
            <a:fld id="{0D3C5E7C-D904-43F9-B4DA-247C47CF2347}" type="slidenum">
              <a:rPr lang="en-US" altLang="zh-CN"/>
              <a:pPr>
                <a:defRPr/>
              </a:pPr>
              <a:t>‹#›</a:t>
            </a:fld>
            <a:endParaRPr lang="en-US" altLang="zh-CN"/>
          </a:p>
        </p:txBody>
      </p:sp>
    </p:spTree>
    <p:extLst>
      <p:ext uri="{BB962C8B-B14F-4D97-AF65-F5344CB8AC3E}">
        <p14:creationId xmlns:p14="http://schemas.microsoft.com/office/powerpoint/2010/main" val="772138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E1EEDF2C-E5A5-46D8-A1C0-489127E26417}"/>
              </a:ext>
            </a:extLst>
          </p:cNvPr>
          <p:cNvSpPr>
            <a:spLocks noGrp="1" noChangeArrowheads="1"/>
          </p:cNvSpPr>
          <p:nvPr>
            <p:ph type="dt" sz="half" idx="10"/>
          </p:nvPr>
        </p:nvSpPr>
        <p:spPr>
          <a:ln/>
        </p:spPr>
        <p:txBody>
          <a:bodyPr/>
          <a:lstStyle>
            <a:lvl1pPr>
              <a:defRPr/>
            </a:lvl1pPr>
          </a:lstStyle>
          <a:p>
            <a:pPr>
              <a:defRPr/>
            </a:pPr>
            <a:fld id="{8E307D6F-2CBC-42CF-AFF9-12238A4F79BF}" type="datetime1">
              <a:rPr lang="zh-CN" altLang="en-US"/>
              <a:pPr>
                <a:defRPr/>
              </a:pPr>
              <a:t>2023/10/24</a:t>
            </a:fld>
            <a:endParaRPr lang="en-US" altLang="zh-CN"/>
          </a:p>
        </p:txBody>
      </p:sp>
      <p:sp>
        <p:nvSpPr>
          <p:cNvPr id="5" name="Rectangle 5">
            <a:extLst>
              <a:ext uri="{FF2B5EF4-FFF2-40B4-BE49-F238E27FC236}">
                <a16:creationId xmlns:a16="http://schemas.microsoft.com/office/drawing/2014/main" id="{6EFA6BF4-6362-4ADD-99A8-FF2B2B0CBAF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A3C7735-7685-4989-BE46-6FE2B7FE8A6D}"/>
              </a:ext>
            </a:extLst>
          </p:cNvPr>
          <p:cNvSpPr>
            <a:spLocks noGrp="1" noChangeArrowheads="1"/>
          </p:cNvSpPr>
          <p:nvPr>
            <p:ph type="sldNum" sz="quarter" idx="12"/>
          </p:nvPr>
        </p:nvSpPr>
        <p:spPr>
          <a:ln/>
        </p:spPr>
        <p:txBody>
          <a:bodyPr/>
          <a:lstStyle>
            <a:lvl1pPr>
              <a:defRPr/>
            </a:lvl1pPr>
          </a:lstStyle>
          <a:p>
            <a:pPr>
              <a:defRPr/>
            </a:pPr>
            <a:fld id="{88837F52-4FF6-4CBC-B39D-32361BD26262}" type="slidenum">
              <a:rPr lang="en-US" altLang="zh-CN"/>
              <a:pPr>
                <a:defRPr/>
              </a:pPr>
              <a:t>‹#›</a:t>
            </a:fld>
            <a:endParaRPr lang="en-US" altLang="zh-CN"/>
          </a:p>
        </p:txBody>
      </p:sp>
    </p:spTree>
    <p:extLst>
      <p:ext uri="{BB962C8B-B14F-4D97-AF65-F5344CB8AC3E}">
        <p14:creationId xmlns:p14="http://schemas.microsoft.com/office/powerpoint/2010/main" val="3844958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E8491F0E-56E8-4159-B883-310B03E1FE4D}"/>
              </a:ext>
            </a:extLst>
          </p:cNvPr>
          <p:cNvSpPr>
            <a:spLocks noGrp="1" noChangeArrowheads="1"/>
          </p:cNvSpPr>
          <p:nvPr>
            <p:ph type="dt" sz="half" idx="10"/>
          </p:nvPr>
        </p:nvSpPr>
        <p:spPr>
          <a:ln/>
        </p:spPr>
        <p:txBody>
          <a:bodyPr/>
          <a:lstStyle>
            <a:lvl1pPr>
              <a:defRPr/>
            </a:lvl1pPr>
          </a:lstStyle>
          <a:p>
            <a:pPr>
              <a:defRPr/>
            </a:pPr>
            <a:fld id="{862C6BB4-FF20-46ED-BEE0-BF6234723A16}" type="datetime1">
              <a:rPr lang="zh-CN" altLang="en-US"/>
              <a:pPr>
                <a:defRPr/>
              </a:pPr>
              <a:t>2023/10/24</a:t>
            </a:fld>
            <a:endParaRPr lang="en-US" altLang="zh-CN"/>
          </a:p>
        </p:txBody>
      </p:sp>
      <p:sp>
        <p:nvSpPr>
          <p:cNvPr id="6" name="Rectangle 5">
            <a:extLst>
              <a:ext uri="{FF2B5EF4-FFF2-40B4-BE49-F238E27FC236}">
                <a16:creationId xmlns:a16="http://schemas.microsoft.com/office/drawing/2014/main" id="{8CB50545-C991-4CEC-833D-70879215B0D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6988126-5E54-4AA1-A571-8EB071DB2A84}"/>
              </a:ext>
            </a:extLst>
          </p:cNvPr>
          <p:cNvSpPr>
            <a:spLocks noGrp="1" noChangeArrowheads="1"/>
          </p:cNvSpPr>
          <p:nvPr>
            <p:ph type="sldNum" sz="quarter" idx="12"/>
          </p:nvPr>
        </p:nvSpPr>
        <p:spPr>
          <a:ln/>
        </p:spPr>
        <p:txBody>
          <a:bodyPr/>
          <a:lstStyle>
            <a:lvl1pPr>
              <a:defRPr/>
            </a:lvl1pPr>
          </a:lstStyle>
          <a:p>
            <a:pPr>
              <a:defRPr/>
            </a:pPr>
            <a:fld id="{3226A73D-757C-4E4F-9DF9-BBB4023F68E2}" type="slidenum">
              <a:rPr lang="en-US" altLang="zh-CN"/>
              <a:pPr>
                <a:defRPr/>
              </a:pPr>
              <a:t>‹#›</a:t>
            </a:fld>
            <a:endParaRPr lang="en-US" altLang="zh-CN"/>
          </a:p>
        </p:txBody>
      </p:sp>
    </p:spTree>
    <p:extLst>
      <p:ext uri="{BB962C8B-B14F-4D97-AF65-F5344CB8AC3E}">
        <p14:creationId xmlns:p14="http://schemas.microsoft.com/office/powerpoint/2010/main" val="2804245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B16903FC-A800-48B0-9C1D-C8147384412B}"/>
              </a:ext>
            </a:extLst>
          </p:cNvPr>
          <p:cNvSpPr>
            <a:spLocks noGrp="1" noChangeArrowheads="1"/>
          </p:cNvSpPr>
          <p:nvPr>
            <p:ph type="dt" sz="half" idx="10"/>
          </p:nvPr>
        </p:nvSpPr>
        <p:spPr>
          <a:ln/>
        </p:spPr>
        <p:txBody>
          <a:bodyPr/>
          <a:lstStyle>
            <a:lvl1pPr>
              <a:defRPr/>
            </a:lvl1pPr>
          </a:lstStyle>
          <a:p>
            <a:pPr>
              <a:defRPr/>
            </a:pPr>
            <a:fld id="{114DFCD1-F293-4F66-8E6C-A9378C5F4995}" type="datetime1">
              <a:rPr lang="zh-CN" altLang="en-US"/>
              <a:pPr>
                <a:defRPr/>
              </a:pPr>
              <a:t>2023/10/24</a:t>
            </a:fld>
            <a:endParaRPr lang="en-US" altLang="zh-CN"/>
          </a:p>
        </p:txBody>
      </p:sp>
      <p:sp>
        <p:nvSpPr>
          <p:cNvPr id="8" name="Rectangle 5">
            <a:extLst>
              <a:ext uri="{FF2B5EF4-FFF2-40B4-BE49-F238E27FC236}">
                <a16:creationId xmlns:a16="http://schemas.microsoft.com/office/drawing/2014/main" id="{8F1913D5-AA6F-4D83-8B63-24F4597188C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614825C1-2F69-4E71-8D1D-D1B7ED1195A0}"/>
              </a:ext>
            </a:extLst>
          </p:cNvPr>
          <p:cNvSpPr>
            <a:spLocks noGrp="1" noChangeArrowheads="1"/>
          </p:cNvSpPr>
          <p:nvPr>
            <p:ph type="sldNum" sz="quarter" idx="12"/>
          </p:nvPr>
        </p:nvSpPr>
        <p:spPr>
          <a:ln/>
        </p:spPr>
        <p:txBody>
          <a:bodyPr/>
          <a:lstStyle>
            <a:lvl1pPr>
              <a:defRPr/>
            </a:lvl1pPr>
          </a:lstStyle>
          <a:p>
            <a:pPr>
              <a:defRPr/>
            </a:pPr>
            <a:fld id="{34E4BB4B-03CC-4A7B-A83B-5DCD8B02F2C8}" type="slidenum">
              <a:rPr lang="en-US" altLang="zh-CN"/>
              <a:pPr>
                <a:defRPr/>
              </a:pPr>
              <a:t>‹#›</a:t>
            </a:fld>
            <a:endParaRPr lang="en-US" altLang="zh-CN"/>
          </a:p>
        </p:txBody>
      </p:sp>
    </p:spTree>
    <p:extLst>
      <p:ext uri="{BB962C8B-B14F-4D97-AF65-F5344CB8AC3E}">
        <p14:creationId xmlns:p14="http://schemas.microsoft.com/office/powerpoint/2010/main" val="3913527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7B62E5F0-DF00-4072-A017-EC015C7CB5C9}"/>
              </a:ext>
            </a:extLst>
          </p:cNvPr>
          <p:cNvSpPr>
            <a:spLocks noGrp="1" noChangeArrowheads="1"/>
          </p:cNvSpPr>
          <p:nvPr>
            <p:ph type="dt" sz="half" idx="10"/>
          </p:nvPr>
        </p:nvSpPr>
        <p:spPr>
          <a:ln/>
        </p:spPr>
        <p:txBody>
          <a:bodyPr/>
          <a:lstStyle>
            <a:lvl1pPr>
              <a:defRPr/>
            </a:lvl1pPr>
          </a:lstStyle>
          <a:p>
            <a:pPr>
              <a:defRPr/>
            </a:pPr>
            <a:fld id="{AB703491-BCD4-47DB-933B-959A0BA166E6}" type="datetime1">
              <a:rPr lang="zh-CN" altLang="en-US"/>
              <a:pPr>
                <a:defRPr/>
              </a:pPr>
              <a:t>2023/10/24</a:t>
            </a:fld>
            <a:endParaRPr lang="en-US" altLang="zh-CN"/>
          </a:p>
        </p:txBody>
      </p:sp>
      <p:sp>
        <p:nvSpPr>
          <p:cNvPr id="4" name="Rectangle 5">
            <a:extLst>
              <a:ext uri="{FF2B5EF4-FFF2-40B4-BE49-F238E27FC236}">
                <a16:creationId xmlns:a16="http://schemas.microsoft.com/office/drawing/2014/main" id="{DCEFE7D9-FD8D-4CB9-97D0-7C18B500144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E1AE3025-7C52-46A7-A523-1B4A522F625B}"/>
              </a:ext>
            </a:extLst>
          </p:cNvPr>
          <p:cNvSpPr>
            <a:spLocks noGrp="1" noChangeArrowheads="1"/>
          </p:cNvSpPr>
          <p:nvPr>
            <p:ph type="sldNum" sz="quarter" idx="12"/>
          </p:nvPr>
        </p:nvSpPr>
        <p:spPr>
          <a:ln/>
        </p:spPr>
        <p:txBody>
          <a:bodyPr/>
          <a:lstStyle>
            <a:lvl1pPr>
              <a:defRPr/>
            </a:lvl1pPr>
          </a:lstStyle>
          <a:p>
            <a:pPr>
              <a:defRPr/>
            </a:pPr>
            <a:fld id="{62F2CC1D-8383-47CB-8988-E3F3929BE84D}" type="slidenum">
              <a:rPr lang="en-US" altLang="zh-CN"/>
              <a:pPr>
                <a:defRPr/>
              </a:pPr>
              <a:t>‹#›</a:t>
            </a:fld>
            <a:endParaRPr lang="en-US" altLang="zh-CN"/>
          </a:p>
        </p:txBody>
      </p:sp>
    </p:spTree>
    <p:extLst>
      <p:ext uri="{BB962C8B-B14F-4D97-AF65-F5344CB8AC3E}">
        <p14:creationId xmlns:p14="http://schemas.microsoft.com/office/powerpoint/2010/main" val="952043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3F011F1-A419-4876-B983-A16B2E7D6A91}"/>
              </a:ext>
            </a:extLst>
          </p:cNvPr>
          <p:cNvSpPr>
            <a:spLocks noGrp="1" noChangeArrowheads="1"/>
          </p:cNvSpPr>
          <p:nvPr>
            <p:ph type="dt" sz="half" idx="10"/>
          </p:nvPr>
        </p:nvSpPr>
        <p:spPr>
          <a:ln/>
        </p:spPr>
        <p:txBody>
          <a:bodyPr/>
          <a:lstStyle>
            <a:lvl1pPr>
              <a:defRPr/>
            </a:lvl1pPr>
          </a:lstStyle>
          <a:p>
            <a:pPr>
              <a:defRPr/>
            </a:pPr>
            <a:fld id="{33EB1A63-6678-4399-8B19-257E34C6248D}" type="datetime1">
              <a:rPr lang="zh-CN" altLang="en-US"/>
              <a:pPr>
                <a:defRPr/>
              </a:pPr>
              <a:t>2023/10/24</a:t>
            </a:fld>
            <a:endParaRPr lang="en-US" altLang="zh-CN"/>
          </a:p>
        </p:txBody>
      </p:sp>
      <p:sp>
        <p:nvSpPr>
          <p:cNvPr id="3" name="Rectangle 5">
            <a:extLst>
              <a:ext uri="{FF2B5EF4-FFF2-40B4-BE49-F238E27FC236}">
                <a16:creationId xmlns:a16="http://schemas.microsoft.com/office/drawing/2014/main" id="{9302C7C2-9D6E-4DE5-8087-BE8141028A5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C8376F20-9C52-4132-A2F3-F49A870BB1A6}"/>
              </a:ext>
            </a:extLst>
          </p:cNvPr>
          <p:cNvSpPr>
            <a:spLocks noGrp="1" noChangeArrowheads="1"/>
          </p:cNvSpPr>
          <p:nvPr>
            <p:ph type="sldNum" sz="quarter" idx="12"/>
          </p:nvPr>
        </p:nvSpPr>
        <p:spPr>
          <a:ln/>
        </p:spPr>
        <p:txBody>
          <a:bodyPr/>
          <a:lstStyle>
            <a:lvl1pPr>
              <a:defRPr/>
            </a:lvl1pPr>
          </a:lstStyle>
          <a:p>
            <a:pPr>
              <a:defRPr/>
            </a:pPr>
            <a:fld id="{EB1C885C-AECA-40C7-9C49-58A2A6AA0319}" type="slidenum">
              <a:rPr lang="en-US" altLang="zh-CN"/>
              <a:pPr>
                <a:defRPr/>
              </a:pPr>
              <a:t>‹#›</a:t>
            </a:fld>
            <a:endParaRPr lang="en-US" altLang="zh-CN"/>
          </a:p>
        </p:txBody>
      </p:sp>
    </p:spTree>
    <p:extLst>
      <p:ext uri="{BB962C8B-B14F-4D97-AF65-F5344CB8AC3E}">
        <p14:creationId xmlns:p14="http://schemas.microsoft.com/office/powerpoint/2010/main" val="4199808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980F2F94-5952-4A52-A2FB-0062BCCC96F1}"/>
              </a:ext>
            </a:extLst>
          </p:cNvPr>
          <p:cNvSpPr>
            <a:spLocks noGrp="1" noChangeArrowheads="1"/>
          </p:cNvSpPr>
          <p:nvPr>
            <p:ph type="dt" sz="half" idx="10"/>
          </p:nvPr>
        </p:nvSpPr>
        <p:spPr>
          <a:ln/>
        </p:spPr>
        <p:txBody>
          <a:bodyPr/>
          <a:lstStyle>
            <a:lvl1pPr>
              <a:defRPr/>
            </a:lvl1pPr>
          </a:lstStyle>
          <a:p>
            <a:pPr>
              <a:defRPr/>
            </a:pPr>
            <a:fld id="{AF06153D-E195-4C50-9BC1-C927F5018B9E}" type="datetime1">
              <a:rPr lang="zh-CN" altLang="en-US"/>
              <a:pPr>
                <a:defRPr/>
              </a:pPr>
              <a:t>2023/10/24</a:t>
            </a:fld>
            <a:endParaRPr lang="en-US" altLang="zh-CN"/>
          </a:p>
        </p:txBody>
      </p:sp>
      <p:sp>
        <p:nvSpPr>
          <p:cNvPr id="6" name="Rectangle 5">
            <a:extLst>
              <a:ext uri="{FF2B5EF4-FFF2-40B4-BE49-F238E27FC236}">
                <a16:creationId xmlns:a16="http://schemas.microsoft.com/office/drawing/2014/main" id="{CB7B1A39-EF5C-4E9D-B034-4031CBFA61E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9B6C520-F1D3-40C8-AAAC-E829F03A8A2B}"/>
              </a:ext>
            </a:extLst>
          </p:cNvPr>
          <p:cNvSpPr>
            <a:spLocks noGrp="1" noChangeArrowheads="1"/>
          </p:cNvSpPr>
          <p:nvPr>
            <p:ph type="sldNum" sz="quarter" idx="12"/>
          </p:nvPr>
        </p:nvSpPr>
        <p:spPr>
          <a:ln/>
        </p:spPr>
        <p:txBody>
          <a:bodyPr/>
          <a:lstStyle>
            <a:lvl1pPr>
              <a:defRPr/>
            </a:lvl1pPr>
          </a:lstStyle>
          <a:p>
            <a:pPr>
              <a:defRPr/>
            </a:pPr>
            <a:fld id="{CC1B63C0-6363-4DFA-BCEF-3C48D6865572}" type="slidenum">
              <a:rPr lang="en-US" altLang="zh-CN"/>
              <a:pPr>
                <a:defRPr/>
              </a:pPr>
              <a:t>‹#›</a:t>
            </a:fld>
            <a:endParaRPr lang="en-US" altLang="zh-CN"/>
          </a:p>
        </p:txBody>
      </p:sp>
    </p:spTree>
    <p:extLst>
      <p:ext uri="{BB962C8B-B14F-4D97-AF65-F5344CB8AC3E}">
        <p14:creationId xmlns:p14="http://schemas.microsoft.com/office/powerpoint/2010/main" val="2139912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70571E7-D2CE-4DE8-B614-8050B7F52E7E}"/>
              </a:ext>
            </a:extLst>
          </p:cNvPr>
          <p:cNvSpPr>
            <a:spLocks noGrp="1" noChangeArrowheads="1"/>
          </p:cNvSpPr>
          <p:nvPr>
            <p:ph type="dt" sz="half" idx="10"/>
          </p:nvPr>
        </p:nvSpPr>
        <p:spPr>
          <a:ln/>
        </p:spPr>
        <p:txBody>
          <a:bodyPr/>
          <a:lstStyle>
            <a:lvl1pPr>
              <a:defRPr/>
            </a:lvl1pPr>
          </a:lstStyle>
          <a:p>
            <a:pPr>
              <a:defRPr/>
            </a:pPr>
            <a:fld id="{E615E75F-8F70-4897-B0CB-CE4E4EEAC77A}" type="datetime1">
              <a:rPr lang="zh-CN" altLang="en-US"/>
              <a:pPr>
                <a:defRPr/>
              </a:pPr>
              <a:t>2023/10/24</a:t>
            </a:fld>
            <a:endParaRPr lang="en-US" altLang="zh-CN"/>
          </a:p>
        </p:txBody>
      </p:sp>
      <p:sp>
        <p:nvSpPr>
          <p:cNvPr id="6" name="Rectangle 5">
            <a:extLst>
              <a:ext uri="{FF2B5EF4-FFF2-40B4-BE49-F238E27FC236}">
                <a16:creationId xmlns:a16="http://schemas.microsoft.com/office/drawing/2014/main" id="{3784CC3C-E106-45D8-8172-207B2E7B4FA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0AF03F7-D2CE-4176-ADA4-9C0FFA4D5DD7}"/>
              </a:ext>
            </a:extLst>
          </p:cNvPr>
          <p:cNvSpPr>
            <a:spLocks noGrp="1" noChangeArrowheads="1"/>
          </p:cNvSpPr>
          <p:nvPr>
            <p:ph type="sldNum" sz="quarter" idx="12"/>
          </p:nvPr>
        </p:nvSpPr>
        <p:spPr>
          <a:ln/>
        </p:spPr>
        <p:txBody>
          <a:bodyPr/>
          <a:lstStyle>
            <a:lvl1pPr>
              <a:defRPr/>
            </a:lvl1pPr>
          </a:lstStyle>
          <a:p>
            <a:pPr>
              <a:defRPr/>
            </a:pPr>
            <a:fld id="{8D566AE1-B03C-457D-B884-E4AD7810C41E}" type="slidenum">
              <a:rPr lang="en-US" altLang="zh-CN"/>
              <a:pPr>
                <a:defRPr/>
              </a:pPr>
              <a:t>‹#›</a:t>
            </a:fld>
            <a:endParaRPr lang="en-US" altLang="zh-CN"/>
          </a:p>
        </p:txBody>
      </p:sp>
    </p:spTree>
    <p:extLst>
      <p:ext uri="{BB962C8B-B14F-4D97-AF65-F5344CB8AC3E}">
        <p14:creationId xmlns:p14="http://schemas.microsoft.com/office/powerpoint/2010/main" val="3691156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87963D4-6121-49D7-B7C6-9468FCCACAF7}"/>
              </a:ext>
            </a:extLst>
          </p:cNvPr>
          <p:cNvSpPr>
            <a:spLocks noGrp="1" noChangeArrowheads="1"/>
          </p:cNvSpPr>
          <p:nvPr>
            <p:ph type="dt" sz="half" idx="10"/>
          </p:nvPr>
        </p:nvSpPr>
        <p:spPr>
          <a:ln/>
        </p:spPr>
        <p:txBody>
          <a:bodyPr/>
          <a:lstStyle>
            <a:lvl1pPr>
              <a:defRPr/>
            </a:lvl1pPr>
          </a:lstStyle>
          <a:p>
            <a:pPr>
              <a:defRPr/>
            </a:pPr>
            <a:fld id="{8EE7123A-FDDC-4F81-AAC4-E699AB634720}" type="datetime1">
              <a:rPr lang="zh-CN" altLang="en-US"/>
              <a:pPr>
                <a:defRPr/>
              </a:pPr>
              <a:t>2023/10/24</a:t>
            </a:fld>
            <a:endParaRPr lang="en-US" altLang="zh-CN"/>
          </a:p>
        </p:txBody>
      </p:sp>
      <p:sp>
        <p:nvSpPr>
          <p:cNvPr id="5" name="Rectangle 5">
            <a:extLst>
              <a:ext uri="{FF2B5EF4-FFF2-40B4-BE49-F238E27FC236}">
                <a16:creationId xmlns:a16="http://schemas.microsoft.com/office/drawing/2014/main" id="{4278CF18-8D5A-40F9-99FB-ACC0FE5E2C4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31C337C-FD09-4F88-A44E-033D80307599}"/>
              </a:ext>
            </a:extLst>
          </p:cNvPr>
          <p:cNvSpPr>
            <a:spLocks noGrp="1" noChangeArrowheads="1"/>
          </p:cNvSpPr>
          <p:nvPr>
            <p:ph type="sldNum" sz="quarter" idx="12"/>
          </p:nvPr>
        </p:nvSpPr>
        <p:spPr>
          <a:ln/>
        </p:spPr>
        <p:txBody>
          <a:bodyPr/>
          <a:lstStyle>
            <a:lvl1pPr>
              <a:defRPr/>
            </a:lvl1pPr>
          </a:lstStyle>
          <a:p>
            <a:pPr>
              <a:defRPr/>
            </a:pPr>
            <a:fld id="{1CEE5F5D-67A2-44C0-AA22-D08D56571A75}" type="slidenum">
              <a:rPr lang="en-US" altLang="zh-CN"/>
              <a:pPr>
                <a:defRPr/>
              </a:pPr>
              <a:t>‹#›</a:t>
            </a:fld>
            <a:endParaRPr lang="en-US" altLang="zh-CN"/>
          </a:p>
        </p:txBody>
      </p:sp>
    </p:spTree>
    <p:extLst>
      <p:ext uri="{BB962C8B-B14F-4D97-AF65-F5344CB8AC3E}">
        <p14:creationId xmlns:p14="http://schemas.microsoft.com/office/powerpoint/2010/main" val="2614531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75AE036-ECF8-4695-964C-5E08BE0D8DE2}"/>
              </a:ext>
            </a:extLst>
          </p:cNvPr>
          <p:cNvSpPr>
            <a:spLocks noGrp="1" noChangeArrowheads="1"/>
          </p:cNvSpPr>
          <p:nvPr>
            <p:ph type="dt" sz="half" idx="10"/>
          </p:nvPr>
        </p:nvSpPr>
        <p:spPr>
          <a:ln/>
        </p:spPr>
        <p:txBody>
          <a:bodyPr/>
          <a:lstStyle>
            <a:lvl1pPr>
              <a:defRPr/>
            </a:lvl1pPr>
          </a:lstStyle>
          <a:p>
            <a:pPr>
              <a:defRPr/>
            </a:pPr>
            <a:fld id="{200D92CA-42BE-4475-BFE7-B09BB969B43F}" type="datetime1">
              <a:rPr lang="zh-CN" altLang="en-US"/>
              <a:pPr>
                <a:defRPr/>
              </a:pPr>
              <a:t>2023/10/24</a:t>
            </a:fld>
            <a:endParaRPr lang="en-US" altLang="zh-CN"/>
          </a:p>
        </p:txBody>
      </p:sp>
      <p:sp>
        <p:nvSpPr>
          <p:cNvPr id="5" name="Rectangle 5">
            <a:extLst>
              <a:ext uri="{FF2B5EF4-FFF2-40B4-BE49-F238E27FC236}">
                <a16:creationId xmlns:a16="http://schemas.microsoft.com/office/drawing/2014/main" id="{EA3E3B26-B395-4E14-BC06-62E19F61FE2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795B16C-F389-4298-A947-839616354780}"/>
              </a:ext>
            </a:extLst>
          </p:cNvPr>
          <p:cNvSpPr>
            <a:spLocks noGrp="1" noChangeArrowheads="1"/>
          </p:cNvSpPr>
          <p:nvPr>
            <p:ph type="sldNum" sz="quarter" idx="12"/>
          </p:nvPr>
        </p:nvSpPr>
        <p:spPr>
          <a:ln/>
        </p:spPr>
        <p:txBody>
          <a:bodyPr/>
          <a:lstStyle>
            <a:lvl1pPr>
              <a:defRPr/>
            </a:lvl1pPr>
          </a:lstStyle>
          <a:p>
            <a:pPr>
              <a:defRPr/>
            </a:pPr>
            <a:fld id="{DB50E6BF-FC58-4E55-9894-804226B487D1}" type="slidenum">
              <a:rPr lang="en-US" altLang="zh-CN"/>
              <a:pPr>
                <a:defRPr/>
              </a:pPr>
              <a:t>‹#›</a:t>
            </a:fld>
            <a:endParaRPr lang="en-US" altLang="zh-CN"/>
          </a:p>
        </p:txBody>
      </p:sp>
    </p:spTree>
    <p:extLst>
      <p:ext uri="{BB962C8B-B14F-4D97-AF65-F5344CB8AC3E}">
        <p14:creationId xmlns:p14="http://schemas.microsoft.com/office/powerpoint/2010/main" val="2409461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E8D6D909-BB01-481A-BD96-C815A003B998}"/>
              </a:ext>
            </a:extLst>
          </p:cNvPr>
          <p:cNvSpPr>
            <a:spLocks noGrp="1" noChangeArrowheads="1"/>
          </p:cNvSpPr>
          <p:nvPr>
            <p:ph type="dt" sz="half" idx="10"/>
          </p:nvPr>
        </p:nvSpPr>
        <p:spPr>
          <a:ln/>
        </p:spPr>
        <p:txBody>
          <a:bodyPr/>
          <a:lstStyle>
            <a:lvl1pPr>
              <a:defRPr/>
            </a:lvl1pPr>
          </a:lstStyle>
          <a:p>
            <a:pPr>
              <a:defRPr/>
            </a:pPr>
            <a:fld id="{97097BF3-08A9-4A96-8125-7D5BD6C93F9D}" type="datetime1">
              <a:rPr lang="zh-CN" altLang="en-US"/>
              <a:pPr>
                <a:defRPr/>
              </a:pPr>
              <a:t>2023/10/24</a:t>
            </a:fld>
            <a:endParaRPr lang="en-US" altLang="zh-CN"/>
          </a:p>
        </p:txBody>
      </p:sp>
      <p:sp>
        <p:nvSpPr>
          <p:cNvPr id="4" name="Rectangle 5">
            <a:extLst>
              <a:ext uri="{FF2B5EF4-FFF2-40B4-BE49-F238E27FC236}">
                <a16:creationId xmlns:a16="http://schemas.microsoft.com/office/drawing/2014/main" id="{D135286B-3A54-43D2-BC7E-2407B3AA66B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ECD1B36F-8D44-4B74-9C6A-2C8521C354D8}"/>
              </a:ext>
            </a:extLst>
          </p:cNvPr>
          <p:cNvSpPr>
            <a:spLocks noGrp="1" noChangeArrowheads="1"/>
          </p:cNvSpPr>
          <p:nvPr>
            <p:ph type="sldNum" sz="quarter" idx="12"/>
          </p:nvPr>
        </p:nvSpPr>
        <p:spPr>
          <a:ln/>
        </p:spPr>
        <p:txBody>
          <a:bodyPr/>
          <a:lstStyle>
            <a:lvl1pPr>
              <a:defRPr/>
            </a:lvl1pPr>
          </a:lstStyle>
          <a:p>
            <a:pPr>
              <a:defRPr/>
            </a:pPr>
            <a:fld id="{6F1921DD-D776-43C3-AA3A-294906878278}" type="slidenum">
              <a:rPr lang="en-US" altLang="zh-CN"/>
              <a:pPr>
                <a:defRPr/>
              </a:pPr>
              <a:t>‹#›</a:t>
            </a:fld>
            <a:endParaRPr lang="en-US" altLang="zh-CN"/>
          </a:p>
        </p:txBody>
      </p:sp>
    </p:spTree>
    <p:extLst>
      <p:ext uri="{BB962C8B-B14F-4D97-AF65-F5344CB8AC3E}">
        <p14:creationId xmlns:p14="http://schemas.microsoft.com/office/powerpoint/2010/main" val="1392177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D1E8FF"/>
            </a:gs>
            <a:gs pos="100000">
              <a:srgbClr val="FFFFFF"/>
            </a:gs>
          </a:gsLst>
          <a:lin ang="5400000" scaled="1"/>
        </a:gra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2CBCCCA-31C3-4EA5-AE43-1296D348FBF6}"/>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FA60AAAA-EE8A-49F0-9DD1-774210B7CA64}"/>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5BFB40E0-5F44-46CD-B2E9-923992E9811B}"/>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defRPr kumimoji="1" sz="1400">
                <a:latin typeface="+mn-lt"/>
                <a:ea typeface="+mn-ea"/>
              </a:defRPr>
            </a:lvl1pPr>
          </a:lstStyle>
          <a:p>
            <a:pPr>
              <a:defRPr/>
            </a:pPr>
            <a:fld id="{32AF7A33-652E-4F5F-9387-A1FDA1D491EB}" type="datetime1">
              <a:rPr lang="zh-CN" altLang="en-US"/>
              <a:pPr>
                <a:defRPr/>
              </a:pPr>
              <a:t>2023/10/24</a:t>
            </a:fld>
            <a:endParaRPr lang="en-US" altLang="zh-CN"/>
          </a:p>
        </p:txBody>
      </p:sp>
      <p:sp>
        <p:nvSpPr>
          <p:cNvPr id="1029" name="Rectangle 5">
            <a:extLst>
              <a:ext uri="{FF2B5EF4-FFF2-40B4-BE49-F238E27FC236}">
                <a16:creationId xmlns:a16="http://schemas.microsoft.com/office/drawing/2014/main" id="{9D4DE90F-BF39-4482-8658-C8932C8BB8B9}"/>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lnSpc>
                <a:spcPct val="100000"/>
              </a:lnSpc>
              <a:spcBef>
                <a:spcPct val="0"/>
              </a:spcBef>
              <a:defRPr kumimoji="1" sz="1400">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E581AE4E-1CB0-44BA-A2BC-4FE2FA0A8F1A}"/>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defRPr kumimoji="1" sz="1400">
                <a:latin typeface="Times New Roman" panose="02020603050405020304" pitchFamily="18" charset="0"/>
                <a:ea typeface="宋体" panose="02010600030101010101" pitchFamily="2" charset="-122"/>
              </a:defRPr>
            </a:lvl1pPr>
          </a:lstStyle>
          <a:p>
            <a:pPr>
              <a:defRPr/>
            </a:pPr>
            <a:fld id="{3BB97AD3-1A3B-4A93-A9AA-128CA2775F0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1.gif"/><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wmf"/></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12.jpeg"/><Relationship Id="rId5" Type="http://schemas.openxmlformats.org/officeDocument/2006/relationships/image" Target="../media/image1.gif"/><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13.png"/><Relationship Id="rId5" Type="http://schemas.openxmlformats.org/officeDocument/2006/relationships/image" Target="../media/image1.gif"/><Relationship Id="rId4" Type="http://schemas.openxmlformats.org/officeDocument/2006/relationships/image" Target="../media/image2.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15.png"/><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14.png"/><Relationship Id="rId5" Type="http://schemas.openxmlformats.org/officeDocument/2006/relationships/image" Target="../media/image1.gif"/><Relationship Id="rId4" Type="http://schemas.openxmlformats.org/officeDocument/2006/relationships/image" Target="../media/image2.wmf"/></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6.vml"/><Relationship Id="rId5" Type="http://schemas.openxmlformats.org/officeDocument/2006/relationships/image" Target="../media/image1.gif"/><Relationship Id="rId4" Type="http://schemas.openxmlformats.org/officeDocument/2006/relationships/image" Target="../media/image2.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7.vml"/><Relationship Id="rId5" Type="http://schemas.openxmlformats.org/officeDocument/2006/relationships/image" Target="../media/image17.png"/><Relationship Id="rId4" Type="http://schemas.openxmlformats.org/officeDocument/2006/relationships/image" Target="../media/image2.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8.vml"/><Relationship Id="rId5" Type="http://schemas.openxmlformats.org/officeDocument/2006/relationships/image" Target="../media/image18.wmf"/><Relationship Id="rId4" Type="http://schemas.openxmlformats.org/officeDocument/2006/relationships/image" Target="../media/image2.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20.png"/><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image" Target="../media/image19.wmf"/><Relationship Id="rId5" Type="http://schemas.openxmlformats.org/officeDocument/2006/relationships/oleObject" Target="../embeddings/oleObject9.bin"/><Relationship Id="rId4" Type="http://schemas.openxmlformats.org/officeDocument/2006/relationships/image" Target="../media/image2.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2.xml"/><Relationship Id="rId1" Type="http://schemas.openxmlformats.org/officeDocument/2006/relationships/vmlDrawing" Target="../drawings/vmlDrawing10.vml"/><Relationship Id="rId5" Type="http://schemas.openxmlformats.org/officeDocument/2006/relationships/image" Target="../media/image21.wmf"/><Relationship Id="rId4" Type="http://schemas.openxmlformats.org/officeDocument/2006/relationships/image" Target="../media/image2.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2.xml"/><Relationship Id="rId1" Type="http://schemas.openxmlformats.org/officeDocument/2006/relationships/vmlDrawing" Target="../drawings/vmlDrawing11.v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2.xml"/><Relationship Id="rId1" Type="http://schemas.openxmlformats.org/officeDocument/2006/relationships/vmlDrawing" Target="../drawings/vmlDrawing12.vml"/><Relationship Id="rId5" Type="http://schemas.openxmlformats.org/officeDocument/2006/relationships/image" Target="../media/image24.png"/><Relationship Id="rId4" Type="http://schemas.openxmlformats.org/officeDocument/2006/relationships/image" Target="../media/image2.w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vmlDrawing" Target="../drawings/vmlDrawing13.vml"/><Relationship Id="rId6" Type="http://schemas.openxmlformats.org/officeDocument/2006/relationships/image" Target="../media/image25.png"/><Relationship Id="rId5" Type="http://schemas.openxmlformats.org/officeDocument/2006/relationships/image" Target="../media/image2.wmf"/><Relationship Id="rId4" Type="http://schemas.openxmlformats.org/officeDocument/2006/relationships/oleObject" Target="../embeddings/oleObject13.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2.xml"/><Relationship Id="rId1" Type="http://schemas.openxmlformats.org/officeDocument/2006/relationships/vmlDrawing" Target="../drawings/vmlDrawing14.vml"/><Relationship Id="rId6" Type="http://schemas.openxmlformats.org/officeDocument/2006/relationships/image" Target="../media/image240.png"/><Relationship Id="rId5" Type="http://schemas.openxmlformats.org/officeDocument/2006/relationships/image" Target="../media/image26.png"/><Relationship Id="rId4" Type="http://schemas.openxmlformats.org/officeDocument/2006/relationships/image" Target="../media/image2.wmf"/></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vmlDrawing" Target="../drawings/vmlDrawing15.vml"/><Relationship Id="rId6" Type="http://schemas.openxmlformats.org/officeDocument/2006/relationships/image" Target="../media/image28.png"/><Relationship Id="rId5" Type="http://schemas.openxmlformats.org/officeDocument/2006/relationships/image" Target="../media/image2.wmf"/><Relationship Id="rId4" Type="http://schemas.openxmlformats.org/officeDocument/2006/relationships/oleObject" Target="../embeddings/oleObject15.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image" Target="../media/image29.wmf"/><Relationship Id="rId2" Type="http://schemas.openxmlformats.org/officeDocument/2006/relationships/slideLayout" Target="../slideLayouts/slideLayout12.xml"/><Relationship Id="rId1" Type="http://schemas.openxmlformats.org/officeDocument/2006/relationships/vmlDrawing" Target="../drawings/vmlDrawing16.vml"/><Relationship Id="rId6" Type="http://schemas.openxmlformats.org/officeDocument/2006/relationships/oleObject" Target="../embeddings/oleObject17.bin"/><Relationship Id="rId5" Type="http://schemas.openxmlformats.org/officeDocument/2006/relationships/image" Target="../media/image28.png"/><Relationship Id="rId4" Type="http://schemas.openxmlformats.org/officeDocument/2006/relationships/image" Target="../media/image2.wmf"/></Relationships>
</file>

<file path=ppt/slides/_rels/slide23.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23.bin"/><Relationship Id="rId18" Type="http://schemas.openxmlformats.org/officeDocument/2006/relationships/image" Target="../media/image36.wmf"/><Relationship Id="rId3" Type="http://schemas.openxmlformats.org/officeDocument/2006/relationships/oleObject" Target="../embeddings/oleObject18.bin"/><Relationship Id="rId21" Type="http://schemas.openxmlformats.org/officeDocument/2006/relationships/oleObject" Target="../embeddings/oleObject27.bin"/><Relationship Id="rId7" Type="http://schemas.openxmlformats.org/officeDocument/2006/relationships/oleObject" Target="../embeddings/oleObject20.bin"/><Relationship Id="rId12" Type="http://schemas.openxmlformats.org/officeDocument/2006/relationships/image" Target="../media/image33.wmf"/><Relationship Id="rId17" Type="http://schemas.openxmlformats.org/officeDocument/2006/relationships/oleObject" Target="../embeddings/oleObject25.bin"/><Relationship Id="rId2" Type="http://schemas.openxmlformats.org/officeDocument/2006/relationships/slideLayout" Target="../slideLayouts/slideLayout12.xml"/><Relationship Id="rId16" Type="http://schemas.openxmlformats.org/officeDocument/2006/relationships/image" Target="../media/image35.wmf"/><Relationship Id="rId20" Type="http://schemas.openxmlformats.org/officeDocument/2006/relationships/image" Target="../media/image37.wmf"/><Relationship Id="rId1" Type="http://schemas.openxmlformats.org/officeDocument/2006/relationships/vmlDrawing" Target="../drawings/vmlDrawing17.vml"/><Relationship Id="rId6" Type="http://schemas.openxmlformats.org/officeDocument/2006/relationships/image" Target="../media/image30.wmf"/><Relationship Id="rId11" Type="http://schemas.openxmlformats.org/officeDocument/2006/relationships/oleObject" Target="../embeddings/oleObject22.bin"/><Relationship Id="rId5" Type="http://schemas.openxmlformats.org/officeDocument/2006/relationships/oleObject" Target="../embeddings/oleObject19.bin"/><Relationship Id="rId15" Type="http://schemas.openxmlformats.org/officeDocument/2006/relationships/oleObject" Target="../embeddings/oleObject24.bin"/><Relationship Id="rId10" Type="http://schemas.openxmlformats.org/officeDocument/2006/relationships/image" Target="../media/image32.wmf"/><Relationship Id="rId19" Type="http://schemas.openxmlformats.org/officeDocument/2006/relationships/oleObject" Target="../embeddings/oleObject26.bin"/><Relationship Id="rId4" Type="http://schemas.openxmlformats.org/officeDocument/2006/relationships/image" Target="../media/image2.wmf"/><Relationship Id="rId9" Type="http://schemas.openxmlformats.org/officeDocument/2006/relationships/oleObject" Target="../embeddings/oleObject21.bin"/><Relationship Id="rId14" Type="http://schemas.openxmlformats.org/officeDocument/2006/relationships/image" Target="../media/image34.wmf"/><Relationship Id="rId22" Type="http://schemas.openxmlformats.org/officeDocument/2006/relationships/image" Target="../media/image38.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2.xml"/><Relationship Id="rId1" Type="http://schemas.openxmlformats.org/officeDocument/2006/relationships/vmlDrawing" Target="../drawings/vmlDrawing18.vml"/><Relationship Id="rId6" Type="http://schemas.openxmlformats.org/officeDocument/2006/relationships/image" Target="../media/image11.png"/><Relationship Id="rId5" Type="http://schemas.openxmlformats.org/officeDocument/2006/relationships/image" Target="../media/image1.gif"/><Relationship Id="rId4" Type="http://schemas.openxmlformats.org/officeDocument/2006/relationships/image" Target="../media/image2.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2.xml"/><Relationship Id="rId1" Type="http://schemas.openxmlformats.org/officeDocument/2006/relationships/vmlDrawing" Target="../drawings/vmlDrawing19.vml"/><Relationship Id="rId5" Type="http://schemas.openxmlformats.org/officeDocument/2006/relationships/image" Target="../media/image11.png"/><Relationship Id="rId4" Type="http://schemas.openxmlformats.org/officeDocument/2006/relationships/image" Target="../media/image39.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12.xml"/><Relationship Id="rId1" Type="http://schemas.openxmlformats.org/officeDocument/2006/relationships/vmlDrawing" Target="../drawings/vmlDrawing20.vml"/><Relationship Id="rId6" Type="http://schemas.openxmlformats.org/officeDocument/2006/relationships/image" Target="../media/image43.png"/><Relationship Id="rId5" Type="http://schemas.openxmlformats.org/officeDocument/2006/relationships/image" Target="../media/image41.wmf"/><Relationship Id="rId4" Type="http://schemas.openxmlformats.org/officeDocument/2006/relationships/oleObject" Target="../embeddings/oleObject30.bin"/></Relationships>
</file>

<file path=ppt/slides/_rels/slide29.x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image" Target="../media/image47.png"/><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46.png"/><Relationship Id="rId2" Type="http://schemas.openxmlformats.org/officeDocument/2006/relationships/slideLayout" Target="../slideLayouts/slideLayout12.xml"/><Relationship Id="rId1" Type="http://schemas.openxmlformats.org/officeDocument/2006/relationships/vmlDrawing" Target="../drawings/vmlDrawing21.vml"/><Relationship Id="rId6" Type="http://schemas.openxmlformats.org/officeDocument/2006/relationships/image" Target="../media/image45.wmf"/><Relationship Id="rId11" Type="http://schemas.openxmlformats.org/officeDocument/2006/relationships/image" Target="../media/image45.png"/><Relationship Id="rId5" Type="http://schemas.openxmlformats.org/officeDocument/2006/relationships/oleObject" Target="../embeddings/oleObject32.bin"/><Relationship Id="rId15" Type="http://schemas.openxmlformats.org/officeDocument/2006/relationships/image" Target="../media/image48.png"/><Relationship Id="rId4" Type="http://schemas.openxmlformats.org/officeDocument/2006/relationships/image" Target="../media/image44.wmf"/><Relationship Id="rId14"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12.xml"/><Relationship Id="rId1" Type="http://schemas.openxmlformats.org/officeDocument/2006/relationships/vmlDrawing" Target="../drawings/vmlDrawing22.vml"/><Relationship Id="rId5" Type="http://schemas.openxmlformats.org/officeDocument/2006/relationships/image" Target="../media/image49.wmf"/><Relationship Id="rId4" Type="http://schemas.openxmlformats.org/officeDocument/2006/relationships/oleObject" Target="../embeddings/oleObject34.bin"/></Relationships>
</file>

<file path=ppt/slides/_rels/slide3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12.xml"/><Relationship Id="rId1" Type="http://schemas.openxmlformats.org/officeDocument/2006/relationships/vmlDrawing" Target="../drawings/vmlDrawing23.vml"/><Relationship Id="rId4" Type="http://schemas.openxmlformats.org/officeDocument/2006/relationships/image" Target="../media/image52.wmf"/></Relationships>
</file>

<file path=ppt/slides/_rels/slide3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image" Target="../media/image63.e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62.wmf"/><Relationship Id="rId5" Type="http://schemas.openxmlformats.org/officeDocument/2006/relationships/oleObject" Target="../embeddings/oleObject37.bin"/><Relationship Id="rId4" Type="http://schemas.openxmlformats.org/officeDocument/2006/relationships/image" Target="../media/image61.wmf"/></Relationships>
</file>

<file path=ppt/slides/_rels/slide47.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slideLayout" Target="../slideLayouts/slideLayout7.xml"/><Relationship Id="rId1" Type="http://schemas.openxmlformats.org/officeDocument/2006/relationships/vmlDrawing" Target="../drawings/vmlDrawing25.vml"/><Relationship Id="rId5" Type="http://schemas.openxmlformats.org/officeDocument/2006/relationships/image" Target="../media/image64.wmf"/><Relationship Id="rId4" Type="http://schemas.openxmlformats.org/officeDocument/2006/relationships/oleObject" Target="../embeddings/oleObject39.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oleObject" Target="../embeddings/oleObject40.bin"/><Relationship Id="rId7" Type="http://schemas.openxmlformats.org/officeDocument/2006/relationships/image" Target="../media/image67.w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41.bin"/><Relationship Id="rId5" Type="http://schemas.openxmlformats.org/officeDocument/2006/relationships/image" Target="../media/image69.jpeg"/><Relationship Id="rId4" Type="http://schemas.openxmlformats.org/officeDocument/2006/relationships/image" Target="../media/image66.wmf"/><Relationship Id="rId9" Type="http://schemas.openxmlformats.org/officeDocument/2006/relationships/image" Target="../media/image68.wmf"/></Relationships>
</file>

<file path=ppt/slides/_rels/slide4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76.wmf"/><Relationship Id="rId5" Type="http://schemas.openxmlformats.org/officeDocument/2006/relationships/oleObject" Target="../embeddings/oleObject44.bin"/><Relationship Id="rId4" Type="http://schemas.openxmlformats.org/officeDocument/2006/relationships/image" Target="../media/image75.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28.vml"/><Relationship Id="rId4" Type="http://schemas.openxmlformats.org/officeDocument/2006/relationships/image" Target="../media/image77.wmf"/></Relationships>
</file>

<file path=ppt/slides/_rels/slide55.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82.wmf"/><Relationship Id="rId5" Type="http://schemas.openxmlformats.org/officeDocument/2006/relationships/oleObject" Target="../embeddings/oleObject47.bin"/><Relationship Id="rId4" Type="http://schemas.openxmlformats.org/officeDocument/2006/relationships/image" Target="../media/image81.wmf"/></Relationships>
</file>

<file path=ppt/slides/_rels/slide59.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85.wmf"/><Relationship Id="rId5" Type="http://schemas.openxmlformats.org/officeDocument/2006/relationships/oleObject" Target="../embeddings/oleObject49.bin"/><Relationship Id="rId4" Type="http://schemas.openxmlformats.org/officeDocument/2006/relationships/image" Target="../media/image84.wmf"/></Relationships>
</file>

<file path=ppt/slides/_rels/slide61.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image" Target="../media/image93.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31.vml"/><Relationship Id="rId4" Type="http://schemas.openxmlformats.org/officeDocument/2006/relationships/image" Target="../media/image95.wmf"/></Relationships>
</file>

<file path=ppt/slides/_rels/slide69.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oleObject" Target="../embeddings/oleObject51.bin"/><Relationship Id="rId7"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99.wmf"/><Relationship Id="rId5" Type="http://schemas.openxmlformats.org/officeDocument/2006/relationships/oleObject" Target="../embeddings/oleObject52.bin"/><Relationship Id="rId4" Type="http://schemas.openxmlformats.org/officeDocument/2006/relationships/image" Target="../media/image98.wmf"/></Relationships>
</file>

<file path=ppt/slides/_rels/slide73.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103.wmf"/><Relationship Id="rId5" Type="http://schemas.openxmlformats.org/officeDocument/2006/relationships/oleObject" Target="../embeddings/oleObject55.bin"/><Relationship Id="rId4" Type="http://schemas.openxmlformats.org/officeDocument/2006/relationships/image" Target="../media/image102.wmf"/></Relationships>
</file>

<file path=ppt/slides/_rels/slide75.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a:extLst>
              <a:ext uri="{FF2B5EF4-FFF2-40B4-BE49-F238E27FC236}">
                <a16:creationId xmlns:a16="http://schemas.microsoft.com/office/drawing/2014/main" id="{2911B8BE-6562-4494-9732-74679E4F5CC3}"/>
              </a:ext>
            </a:extLst>
          </p:cNvPr>
          <p:cNvSpPr>
            <a:spLocks noRot="1" noChangeArrowheads="1"/>
          </p:cNvSpPr>
          <p:nvPr/>
        </p:nvSpPr>
        <p:spPr bwMode="auto">
          <a:xfrm>
            <a:off x="381000" y="381000"/>
            <a:ext cx="8382000" cy="958850"/>
          </a:xfrm>
          <a:prstGeom prst="rect">
            <a:avLst/>
          </a:prstGeom>
          <a:gradFill rotWithShape="0">
            <a:gsLst>
              <a:gs pos="0">
                <a:srgbClr val="7FFF7F"/>
              </a:gs>
              <a:gs pos="50000">
                <a:schemeClr val="bg1"/>
              </a:gs>
              <a:gs pos="100000">
                <a:srgbClr val="7FFF7F"/>
              </a:gs>
            </a:gsLst>
            <a:lin ang="5400000" scaled="1"/>
          </a:gradFill>
          <a:ln w="57150">
            <a:solidFill>
              <a:srgbClr val="0000FF"/>
            </a:solidFill>
            <a:miter lim="800000"/>
            <a:headEnd/>
            <a:tailEnd/>
          </a:ln>
          <a:effectLst>
            <a:outerShdw dist="107763" dir="13500000" algn="ctr" rotWithShape="0">
              <a:schemeClr val="bg2"/>
            </a:outerShdw>
          </a:effectLst>
        </p:spPr>
        <p:txBody>
          <a:bodyPr anchor="ctr"/>
          <a:lstStyle/>
          <a:p>
            <a:pPr algn="ctr">
              <a:spcBef>
                <a:spcPct val="50000"/>
              </a:spcBef>
              <a:defRPr/>
            </a:pPr>
            <a:r>
              <a:rPr lang="zh-CN" altLang="en-US" sz="4400" b="1" dirty="0">
                <a:ea typeface="宋体" pitchFamily="2" charset="-122"/>
              </a:rPr>
              <a:t>第九章   光纤传感器</a:t>
            </a:r>
          </a:p>
        </p:txBody>
      </p:sp>
      <p:pic>
        <p:nvPicPr>
          <p:cNvPr id="3075" name="Picture 3" descr="ColorLinea.gif (4491 bytes)">
            <a:extLst>
              <a:ext uri="{FF2B5EF4-FFF2-40B4-BE49-F238E27FC236}">
                <a16:creationId xmlns:a16="http://schemas.microsoft.com/office/drawing/2014/main" id="{C4B00216-99A3-4385-B255-4594C10967FD}"/>
              </a:ext>
            </a:extLst>
          </p:cNvPr>
          <p:cNvPicPr preferRelativeResize="0">
            <a:picLocks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0163" y="1600200"/>
            <a:ext cx="9174163"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0308" name="Text Box 4">
            <a:extLst>
              <a:ext uri="{FF2B5EF4-FFF2-40B4-BE49-F238E27FC236}">
                <a16:creationId xmlns:a16="http://schemas.microsoft.com/office/drawing/2014/main" id="{C63D5E61-A301-49AE-9617-C332245CFEDA}"/>
              </a:ext>
            </a:extLst>
          </p:cNvPr>
          <p:cNvSpPr txBox="1">
            <a:spLocks noChangeArrowheads="1"/>
          </p:cNvSpPr>
          <p:nvPr/>
        </p:nvSpPr>
        <p:spPr bwMode="auto">
          <a:xfrm>
            <a:off x="1258888" y="1916113"/>
            <a:ext cx="6769100" cy="4186237"/>
          </a:xfrm>
          <a:prstGeom prst="rect">
            <a:avLst/>
          </a:prstGeom>
          <a:gradFill rotWithShape="0">
            <a:gsLst>
              <a:gs pos="0">
                <a:schemeClr val="bg1"/>
              </a:gs>
              <a:gs pos="100000">
                <a:srgbClr val="00FFFF"/>
              </a:gs>
            </a:gsLst>
            <a:lin ang="18900000" scaled="1"/>
          </a:gradFill>
          <a:ln w="34925">
            <a:solidFill>
              <a:srgbClr val="FF0000"/>
            </a:solidFill>
            <a:miter lim="800000"/>
            <a:headEnd/>
            <a:tailEnd/>
          </a:ln>
          <a:effectLst>
            <a:outerShdw dist="107763" dir="18900000" algn="ctr" rotWithShape="0">
              <a:schemeClr val="bg2"/>
            </a:outerShdw>
          </a:effectLst>
        </p:spPr>
        <p:txBody>
          <a:bodyPr>
            <a:spAutoFit/>
          </a:bodyPr>
          <a:lstStyle/>
          <a:p>
            <a:pPr marL="514350" indent="-514350" eaLnBrk="1" hangingPunct="1">
              <a:lnSpc>
                <a:spcPct val="150000"/>
              </a:lnSpc>
              <a:spcBef>
                <a:spcPct val="50000"/>
              </a:spcBef>
              <a:defRPr/>
            </a:pPr>
            <a:r>
              <a:rPr lang="en-US" altLang="zh-CN" sz="2800" b="1" dirty="0">
                <a:solidFill>
                  <a:schemeClr val="accent2"/>
                </a:solidFill>
                <a:ea typeface="宋体" pitchFamily="2" charset="-122"/>
                <a:cs typeface="Times New Roman" pitchFamily="18" charset="0"/>
              </a:rPr>
              <a:t>   1 </a:t>
            </a:r>
            <a:r>
              <a:rPr lang="zh-CN" altLang="en-US" sz="2800" b="1" dirty="0">
                <a:ea typeface="宋体" pitchFamily="2" charset="-122"/>
                <a:cs typeface="Times New Roman" pitchFamily="18" charset="0"/>
              </a:rPr>
              <a:t>概述</a:t>
            </a:r>
            <a:endParaRPr lang="zh-CN" altLang="en-US" sz="2800" b="1" dirty="0">
              <a:ea typeface="宋体" pitchFamily="2" charset="-122"/>
            </a:endParaRPr>
          </a:p>
          <a:p>
            <a:pPr marL="514350" indent="-514350" eaLnBrk="1" hangingPunct="1">
              <a:lnSpc>
                <a:spcPct val="150000"/>
              </a:lnSpc>
              <a:spcBef>
                <a:spcPct val="50000"/>
              </a:spcBef>
              <a:defRPr/>
            </a:pPr>
            <a:r>
              <a:rPr lang="en-US" altLang="zh-CN" sz="2800" b="1" dirty="0">
                <a:solidFill>
                  <a:schemeClr val="accent2"/>
                </a:solidFill>
                <a:ea typeface="宋体" pitchFamily="2" charset="-122"/>
                <a:cs typeface="Times New Roman" pitchFamily="18" charset="0"/>
              </a:rPr>
              <a:t>   2 </a:t>
            </a:r>
            <a:r>
              <a:rPr lang="zh-CN" altLang="en-US" sz="2800" b="1" dirty="0"/>
              <a:t>光纤传光原理</a:t>
            </a:r>
            <a:endParaRPr lang="zh-CN" altLang="en-US" sz="2800" b="1" dirty="0">
              <a:ea typeface="宋体" pitchFamily="2" charset="-122"/>
            </a:endParaRPr>
          </a:p>
          <a:p>
            <a:pPr marL="514350" indent="-514350" eaLnBrk="1" hangingPunct="1">
              <a:lnSpc>
                <a:spcPct val="150000"/>
              </a:lnSpc>
              <a:spcBef>
                <a:spcPct val="50000"/>
              </a:spcBef>
              <a:defRPr/>
            </a:pPr>
            <a:r>
              <a:rPr lang="en-US" altLang="zh-CN" sz="2800" b="1" dirty="0">
                <a:solidFill>
                  <a:schemeClr val="accent2"/>
                </a:solidFill>
                <a:ea typeface="宋体" pitchFamily="2" charset="-122"/>
                <a:cs typeface="Times New Roman" pitchFamily="18" charset="0"/>
              </a:rPr>
              <a:t>   3 </a:t>
            </a:r>
            <a:r>
              <a:rPr lang="zh-CN" altLang="en-US" sz="2800" b="1" dirty="0"/>
              <a:t>光纤传感器结构原理及分类</a:t>
            </a:r>
            <a:endParaRPr lang="zh-CN" altLang="en-US" sz="2800" b="1" dirty="0">
              <a:ea typeface="宋体" pitchFamily="2" charset="-122"/>
            </a:endParaRPr>
          </a:p>
          <a:p>
            <a:pPr marL="514350" indent="-514350" eaLnBrk="1" hangingPunct="1">
              <a:lnSpc>
                <a:spcPct val="150000"/>
              </a:lnSpc>
              <a:spcBef>
                <a:spcPct val="50000"/>
              </a:spcBef>
              <a:defRPr/>
            </a:pPr>
            <a:r>
              <a:rPr lang="en-US" altLang="zh-CN" sz="2800" b="1" dirty="0">
                <a:solidFill>
                  <a:schemeClr val="accent2"/>
                </a:solidFill>
                <a:ea typeface="宋体" pitchFamily="2" charset="-122"/>
                <a:cs typeface="Times New Roman" pitchFamily="18" charset="0"/>
              </a:rPr>
              <a:t>   4 </a:t>
            </a:r>
            <a:r>
              <a:rPr lang="zh-CN" altLang="en-US" sz="2800" b="1" dirty="0"/>
              <a:t>光纤传感器的主要元器件</a:t>
            </a:r>
            <a:endParaRPr lang="en-US" altLang="zh-CN" sz="2800" b="1" dirty="0"/>
          </a:p>
          <a:p>
            <a:pPr eaLnBrk="1" hangingPunct="1">
              <a:lnSpc>
                <a:spcPct val="150000"/>
              </a:lnSpc>
              <a:spcBef>
                <a:spcPct val="50000"/>
              </a:spcBef>
              <a:defRPr/>
            </a:pPr>
            <a:r>
              <a:rPr lang="en-US" altLang="zh-CN" sz="2800" b="1" dirty="0">
                <a:solidFill>
                  <a:schemeClr val="accent2"/>
                </a:solidFill>
                <a:ea typeface="宋体" pitchFamily="2" charset="-122"/>
                <a:cs typeface="Times New Roman" pitchFamily="18" charset="0"/>
              </a:rPr>
              <a:t>   5 </a:t>
            </a:r>
            <a:r>
              <a:rPr lang="zh-CN" altLang="en-US" sz="2800" b="1" dirty="0"/>
              <a:t>光纤传感器的应用</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E5B861F-029D-4B24-9A43-73050B87138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4099" name="Rectangle 3">
            <a:extLst>
              <a:ext uri="{FF2B5EF4-FFF2-40B4-BE49-F238E27FC236}">
                <a16:creationId xmlns:a16="http://schemas.microsoft.com/office/drawing/2014/main" id="{4F4B6D81-4444-415A-BF2E-B2543A8FBA4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408580" name="Text Box 4">
            <a:extLst>
              <a:ext uri="{FF2B5EF4-FFF2-40B4-BE49-F238E27FC236}">
                <a16:creationId xmlns:a16="http://schemas.microsoft.com/office/drawing/2014/main" id="{CD92EBB1-1E0A-4C61-BFB6-92580EA254F2}"/>
              </a:ext>
            </a:extLst>
          </p:cNvPr>
          <p:cNvSpPr txBox="1">
            <a:spLocks noChangeArrowheads="1"/>
          </p:cNvSpPr>
          <p:nvPr/>
        </p:nvSpPr>
        <p:spPr bwMode="auto">
          <a:xfrm>
            <a:off x="539750" y="908050"/>
            <a:ext cx="8353425" cy="557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spcAft>
                <a:spcPct val="50000"/>
              </a:spcAft>
              <a:buFontTx/>
              <a:buNone/>
            </a:pPr>
            <a:r>
              <a:rPr kumimoji="0" lang="en-US" altLang="zh-CN" sz="2000" b="1" dirty="0">
                <a:latin typeface="楷体_GB2312" pitchFamily="49" charset="-122"/>
                <a:ea typeface="楷体_GB2312" pitchFamily="49" charset="-122"/>
              </a:rPr>
              <a:t>1.1 </a:t>
            </a:r>
            <a:r>
              <a:rPr kumimoji="0" lang="zh-CN" altLang="en-US" sz="2000" b="1" dirty="0">
                <a:latin typeface="楷体_GB2312" pitchFamily="49" charset="-122"/>
                <a:ea typeface="楷体_GB2312" pitchFamily="49" charset="-122"/>
              </a:rPr>
              <a:t>特点</a:t>
            </a:r>
            <a:endParaRPr kumimoji="0" lang="en-US" altLang="zh-CN" sz="2000" b="1" dirty="0">
              <a:latin typeface="楷体_GB2312" pitchFamily="49" charset="-122"/>
              <a:ea typeface="楷体_GB2312" pitchFamily="49" charset="-122"/>
            </a:endParaRPr>
          </a:p>
          <a:p>
            <a:pPr eaLnBrk="1" hangingPunct="1">
              <a:lnSpc>
                <a:spcPct val="150000"/>
              </a:lnSpc>
              <a:spcBef>
                <a:spcPct val="50000"/>
              </a:spcBef>
              <a:spcAft>
                <a:spcPct val="50000"/>
              </a:spcAft>
              <a:buFontTx/>
              <a:buNone/>
            </a:pPr>
            <a:r>
              <a:rPr kumimoji="0" lang="zh-CN" altLang="en-US" sz="2000" b="1" dirty="0">
                <a:solidFill>
                  <a:srgbClr val="FF0000"/>
                </a:solidFill>
                <a:latin typeface="楷体_GB2312" pitchFamily="49" charset="-122"/>
                <a:ea typeface="楷体_GB2312" pitchFamily="49" charset="-122"/>
              </a:rPr>
              <a:t>①突出的优点</a:t>
            </a:r>
          </a:p>
          <a:p>
            <a:pPr eaLnBrk="1" hangingPunct="1">
              <a:lnSpc>
                <a:spcPct val="120000"/>
              </a:lnSpc>
              <a:spcBef>
                <a:spcPct val="0"/>
              </a:spcBef>
              <a:buFontTx/>
              <a:buNone/>
            </a:pPr>
            <a:r>
              <a:rPr kumimoji="0" lang="zh-CN" altLang="en-US" sz="2000" b="1" dirty="0">
                <a:solidFill>
                  <a:srgbClr val="0000FF"/>
                </a:solidFill>
                <a:latin typeface="楷体_GB2312" pitchFamily="49" charset="-122"/>
                <a:ea typeface="楷体_GB2312" pitchFamily="49" charset="-122"/>
              </a:rPr>
              <a:t>● 电绝缘</a:t>
            </a:r>
            <a:r>
              <a:rPr kumimoji="0" lang="zh-CN" altLang="en-US" sz="2000" b="1" dirty="0">
                <a:latin typeface="楷体_GB2312" pitchFamily="49" charset="-122"/>
                <a:ea typeface="楷体_GB2312" pitchFamily="49" charset="-122"/>
              </a:rPr>
              <a:t>。特别适用于高压供电系统及大容量电机的测试。</a:t>
            </a:r>
          </a:p>
          <a:p>
            <a:pPr eaLnBrk="1" hangingPunct="1">
              <a:lnSpc>
                <a:spcPct val="120000"/>
              </a:lnSpc>
              <a:spcBef>
                <a:spcPct val="0"/>
              </a:spcBef>
              <a:buFontTx/>
              <a:buNone/>
            </a:pPr>
            <a:r>
              <a:rPr kumimoji="0" lang="zh-CN" altLang="en-US" sz="2000" b="1" dirty="0">
                <a:solidFill>
                  <a:srgbClr val="0000FF"/>
                </a:solidFill>
                <a:latin typeface="楷体_GB2312" pitchFamily="49" charset="-122"/>
                <a:ea typeface="楷体_GB2312" pitchFamily="49" charset="-122"/>
              </a:rPr>
              <a:t>● 抗电磁干扰</a:t>
            </a:r>
            <a:r>
              <a:rPr kumimoji="0" lang="zh-CN" altLang="en-US" sz="2000" b="1" dirty="0">
                <a:latin typeface="楷体_GB2312" pitchFamily="49" charset="-122"/>
                <a:ea typeface="楷体_GB2312" pitchFamily="49" charset="-122"/>
              </a:rPr>
              <a:t>。适合于苛刻环境，</a:t>
            </a:r>
            <a:r>
              <a:rPr kumimoji="0" lang="zh-CN" altLang="zh-CN" sz="2000" b="1" dirty="0">
                <a:latin typeface="楷体_GB2312" pitchFamily="49" charset="-122"/>
                <a:ea typeface="楷体_GB2312" pitchFamily="49" charset="-122"/>
              </a:rPr>
              <a:t>用于各种大型机电、石油化工、矿井等强电磁干扰和易燃易爆等恶劣环境中</a:t>
            </a:r>
            <a:r>
              <a:rPr kumimoji="0" lang="zh-CN" altLang="en-US" sz="2000" b="1" dirty="0">
                <a:latin typeface="楷体_GB2312" pitchFamily="49" charset="-122"/>
                <a:ea typeface="楷体_GB2312" pitchFamily="49" charset="-122"/>
              </a:rPr>
              <a:t>。</a:t>
            </a:r>
          </a:p>
          <a:p>
            <a:pPr eaLnBrk="1" hangingPunct="1">
              <a:lnSpc>
                <a:spcPct val="120000"/>
              </a:lnSpc>
              <a:spcBef>
                <a:spcPct val="0"/>
              </a:spcBef>
              <a:buFontTx/>
              <a:buNone/>
            </a:pPr>
            <a:r>
              <a:rPr kumimoji="0" lang="zh-CN" altLang="en-US" sz="2000" b="1" dirty="0">
                <a:solidFill>
                  <a:srgbClr val="0000FF"/>
                </a:solidFill>
                <a:latin typeface="楷体_GB2312" pitchFamily="49" charset="-122"/>
                <a:ea typeface="楷体_GB2312" pitchFamily="49" charset="-122"/>
              </a:rPr>
              <a:t>●分布式传感。</a:t>
            </a:r>
            <a:r>
              <a:rPr kumimoji="0" lang="zh-CN" altLang="en-US" sz="2000" b="1" dirty="0">
                <a:latin typeface="楷体_GB2312" pitchFamily="49" charset="-122"/>
                <a:ea typeface="楷体_GB2312" pitchFamily="49" charset="-122"/>
              </a:rPr>
              <a:t>多个相似或不同传感器可以缚在单根光纤上。</a:t>
            </a:r>
          </a:p>
          <a:p>
            <a:pPr eaLnBrk="1" hangingPunct="1">
              <a:lnSpc>
                <a:spcPct val="200000"/>
              </a:lnSpc>
              <a:spcBef>
                <a:spcPct val="0"/>
              </a:spcBef>
              <a:spcAft>
                <a:spcPct val="50000"/>
              </a:spcAft>
              <a:buFontTx/>
              <a:buNone/>
            </a:pPr>
            <a:r>
              <a:rPr kumimoji="0" lang="zh-CN" altLang="en-US" sz="2000" b="1" dirty="0">
                <a:solidFill>
                  <a:srgbClr val="FF0000"/>
                </a:solidFill>
                <a:latin typeface="楷体_GB2312" pitchFamily="49" charset="-122"/>
                <a:ea typeface="楷体_GB2312" pitchFamily="49" charset="-122"/>
              </a:rPr>
              <a:t>②制约其大范围使用的原因</a:t>
            </a:r>
            <a:endParaRPr kumimoji="0" lang="en-US" altLang="en-US" sz="2000" b="1" dirty="0">
              <a:solidFill>
                <a:srgbClr val="FF0000"/>
              </a:solidFill>
              <a:latin typeface="楷体_GB2312" pitchFamily="49" charset="-122"/>
              <a:ea typeface="楷体_GB2312" pitchFamily="49" charset="-122"/>
            </a:endParaRPr>
          </a:p>
          <a:p>
            <a:pPr eaLnBrk="1" hangingPunct="1">
              <a:lnSpc>
                <a:spcPct val="120000"/>
              </a:lnSpc>
              <a:spcBef>
                <a:spcPct val="0"/>
              </a:spcBef>
              <a:buFontTx/>
              <a:buNone/>
            </a:pPr>
            <a:r>
              <a:rPr kumimoji="0" lang="zh-CN" altLang="zh-CN" sz="2000" b="1" dirty="0">
                <a:solidFill>
                  <a:srgbClr val="0000FF"/>
                </a:solidFill>
                <a:latin typeface="楷体_GB2312" pitchFamily="49" charset="-122"/>
                <a:ea typeface="楷体_GB2312" pitchFamily="49" charset="-122"/>
              </a:rPr>
              <a:t>●</a:t>
            </a:r>
            <a:r>
              <a:rPr kumimoji="0" lang="en-US" altLang="zh-CN" sz="2000" b="1" dirty="0">
                <a:solidFill>
                  <a:srgbClr val="0000FF"/>
                </a:solidFill>
                <a:latin typeface="楷体_GB2312" pitchFamily="49" charset="-122"/>
                <a:ea typeface="楷体_GB2312" pitchFamily="49" charset="-122"/>
              </a:rPr>
              <a:t> </a:t>
            </a:r>
            <a:r>
              <a:rPr kumimoji="0" lang="zh-CN" altLang="zh-CN" sz="2000" b="1" dirty="0">
                <a:solidFill>
                  <a:srgbClr val="0000FF"/>
                </a:solidFill>
                <a:latin typeface="楷体_GB2312" pitchFamily="49" charset="-122"/>
                <a:ea typeface="楷体_GB2312" pitchFamily="49" charset="-122"/>
              </a:rPr>
              <a:t>成本：</a:t>
            </a:r>
            <a:r>
              <a:rPr kumimoji="0" lang="zh-CN" altLang="en-US" sz="2000" b="1" dirty="0">
                <a:solidFill>
                  <a:srgbClr val="0000FF"/>
                </a:solidFill>
                <a:latin typeface="楷体_GB2312" pitchFamily="49" charset="-122"/>
                <a:ea typeface="楷体_GB2312" pitchFamily="49" charset="-122"/>
              </a:rPr>
              <a:t> </a:t>
            </a:r>
            <a:r>
              <a:rPr kumimoji="0" lang="zh-CN" altLang="zh-CN" sz="2000" b="1" dirty="0">
                <a:latin typeface="楷体_GB2312" pitchFamily="49" charset="-122"/>
                <a:ea typeface="楷体_GB2312" pitchFamily="49" charset="-122"/>
              </a:rPr>
              <a:t>与普通电传感器相比，光纤传感器价格</a:t>
            </a:r>
            <a:r>
              <a:rPr kumimoji="0" lang="zh-CN" altLang="en-US" sz="2000" b="1" dirty="0">
                <a:latin typeface="楷体_GB2312" pitchFamily="49" charset="-122"/>
                <a:ea typeface="楷体_GB2312" pitchFamily="49" charset="-122"/>
              </a:rPr>
              <a:t>很高</a:t>
            </a:r>
            <a:r>
              <a:rPr kumimoji="0" lang="zh-CN" altLang="zh-CN" sz="2000" b="1" dirty="0">
                <a:latin typeface="楷体_GB2312" pitchFamily="49" charset="-122"/>
                <a:ea typeface="楷体_GB2312" pitchFamily="49" charset="-122"/>
              </a:rPr>
              <a:t>；</a:t>
            </a:r>
            <a:endParaRPr kumimoji="0" lang="zh-CN" altLang="en-US" sz="2000" b="1" dirty="0">
              <a:latin typeface="楷体_GB2312" pitchFamily="49" charset="-122"/>
              <a:ea typeface="楷体_GB2312" pitchFamily="49" charset="-122"/>
            </a:endParaRPr>
          </a:p>
          <a:p>
            <a:pPr eaLnBrk="1" hangingPunct="1">
              <a:lnSpc>
                <a:spcPct val="120000"/>
              </a:lnSpc>
              <a:spcBef>
                <a:spcPct val="0"/>
              </a:spcBef>
              <a:buFontTx/>
              <a:buNone/>
            </a:pPr>
            <a:r>
              <a:rPr kumimoji="0" lang="zh-CN" altLang="zh-CN" sz="2000" b="1" dirty="0">
                <a:solidFill>
                  <a:srgbClr val="0000FF"/>
                </a:solidFill>
                <a:latin typeface="楷体_GB2312" pitchFamily="49" charset="-122"/>
                <a:ea typeface="楷体_GB2312" pitchFamily="49" charset="-122"/>
              </a:rPr>
              <a:t>● 耐用性：</a:t>
            </a:r>
            <a:r>
              <a:rPr kumimoji="0" lang="zh-CN" altLang="en-US" sz="2000" b="1" dirty="0">
                <a:solidFill>
                  <a:srgbClr val="0000FF"/>
                </a:solidFill>
                <a:latin typeface="楷体_GB2312" pitchFamily="49" charset="-122"/>
                <a:ea typeface="楷体_GB2312" pitchFamily="49" charset="-122"/>
              </a:rPr>
              <a:t> </a:t>
            </a:r>
            <a:r>
              <a:rPr kumimoji="0" lang="zh-CN" altLang="zh-CN" sz="2000" b="1" dirty="0">
                <a:latin typeface="楷体_GB2312" pitchFamily="49" charset="-122"/>
                <a:ea typeface="楷体_GB2312" pitchFamily="49" charset="-122"/>
              </a:rPr>
              <a:t>光纤传感器都十分脆弱，使用时必须加以防护；</a:t>
            </a:r>
            <a:endParaRPr kumimoji="0" lang="zh-CN" altLang="en-US" sz="2000" b="1" dirty="0">
              <a:latin typeface="楷体_GB2312" pitchFamily="49" charset="-122"/>
              <a:ea typeface="楷体_GB2312" pitchFamily="49" charset="-122"/>
            </a:endParaRPr>
          </a:p>
          <a:p>
            <a:pPr eaLnBrk="1" hangingPunct="1">
              <a:lnSpc>
                <a:spcPct val="120000"/>
              </a:lnSpc>
              <a:spcBef>
                <a:spcPct val="0"/>
              </a:spcBef>
              <a:buFontTx/>
              <a:buNone/>
            </a:pPr>
            <a:r>
              <a:rPr kumimoji="0" lang="zh-CN" altLang="zh-CN" sz="2000" b="1" dirty="0">
                <a:solidFill>
                  <a:srgbClr val="0000FF"/>
                </a:solidFill>
                <a:latin typeface="楷体_GB2312" pitchFamily="49" charset="-122"/>
                <a:ea typeface="楷体_GB2312" pitchFamily="49" charset="-122"/>
              </a:rPr>
              <a:t>● 数据解释：</a:t>
            </a:r>
            <a:r>
              <a:rPr kumimoji="0" lang="zh-CN" altLang="zh-CN" sz="2000" b="1" dirty="0">
                <a:latin typeface="楷体_GB2312" pitchFamily="49" charset="-122"/>
                <a:ea typeface="楷体_GB2312" pitchFamily="49" charset="-122"/>
              </a:rPr>
              <a:t>传感器输出受到光纤系统结构的轴向/径向/侧向应变、温度、热膨胀以及外部湿度的影响，造成传感器数据解释不直接。对于那些包括多个或复合传感器的系统，需要对数据进行还原和融合；</a:t>
            </a:r>
            <a:endParaRPr kumimoji="0" lang="zh-CN" altLang="en-US" sz="2000" b="1" dirty="0">
              <a:latin typeface="楷体_GB2312" pitchFamily="49" charset="-122"/>
              <a:ea typeface="楷体_GB2312" pitchFamily="49" charset="-122"/>
            </a:endParaRPr>
          </a:p>
        </p:txBody>
      </p:sp>
      <p:graphicFrame>
        <p:nvGraphicFramePr>
          <p:cNvPr id="4101" name="Object 5">
            <a:extLst>
              <a:ext uri="{FF2B5EF4-FFF2-40B4-BE49-F238E27FC236}">
                <a16:creationId xmlns:a16="http://schemas.microsoft.com/office/drawing/2014/main" id="{C95C867E-32E6-43A1-9C3D-B869B9575058}"/>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4123" name="Equation" r:id="rId3" imgW="435285" imgH="677109" progId="Equation.DSMT4">
                  <p:embed/>
                </p:oleObj>
              </mc:Choice>
              <mc:Fallback>
                <p:oleObj name="Equation" r:id="rId3" imgW="435285" imgH="67710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2" name="Rectangle 6">
            <a:extLst>
              <a:ext uri="{FF2B5EF4-FFF2-40B4-BE49-F238E27FC236}">
                <a16:creationId xmlns:a16="http://schemas.microsoft.com/office/drawing/2014/main" id="{C4FFCA80-AAF3-4921-AB1D-0FECFF36BEE5}"/>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latin typeface="楷体_GB2312" pitchFamily="49" charset="-122"/>
                <a:ea typeface="楷体_GB2312" pitchFamily="49" charset="-122"/>
                <a:cs typeface="Times New Roman" panose="02020603050405020304" pitchFamily="18" charset="0"/>
              </a:rPr>
              <a:t>：</a:t>
            </a:r>
            <a:endParaRPr kumimoji="0" lang="zh-CN" altLang="en-US" sz="1100">
              <a:latin typeface="楷体_GB2312" pitchFamily="49" charset="-122"/>
              <a:ea typeface="楷体_GB2312" pitchFamily="49" charset="-122"/>
              <a:cs typeface="Times New Roman" panose="02020603050405020304" pitchFamily="18" charset="0"/>
            </a:endParaRPr>
          </a:p>
          <a:p>
            <a:pPr>
              <a:spcBef>
                <a:spcPct val="0"/>
              </a:spcBef>
              <a:buFontTx/>
              <a:buNone/>
            </a:pPr>
            <a:endParaRPr kumimoji="0" lang="en-US" altLang="zh-CN" sz="1800">
              <a:latin typeface="楷体_GB2312" pitchFamily="49" charset="-122"/>
              <a:ea typeface="楷体_GB2312" pitchFamily="49" charset="-122"/>
              <a:cs typeface="Times New Roman" panose="02020603050405020304" pitchFamily="18" charset="0"/>
            </a:endParaRPr>
          </a:p>
        </p:txBody>
      </p:sp>
      <p:sp>
        <p:nvSpPr>
          <p:cNvPr id="4103" name="Rectangle 7">
            <a:extLst>
              <a:ext uri="{FF2B5EF4-FFF2-40B4-BE49-F238E27FC236}">
                <a16:creationId xmlns:a16="http://schemas.microsoft.com/office/drawing/2014/main" id="{E80EF164-3485-41FD-A3DF-D947D315C58B}"/>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4104" name="Rectangle 8">
            <a:extLst>
              <a:ext uri="{FF2B5EF4-FFF2-40B4-BE49-F238E27FC236}">
                <a16:creationId xmlns:a16="http://schemas.microsoft.com/office/drawing/2014/main" id="{F8605680-19FB-4213-AA71-7675E9A0C084}"/>
              </a:ext>
            </a:extLst>
          </p:cNvPr>
          <p:cNvSpPr>
            <a:spLocks noChangeArrowheads="1"/>
          </p:cNvSpPr>
          <p:nvPr/>
        </p:nvSpPr>
        <p:spPr bwMode="auto">
          <a:xfrm>
            <a:off x="0" y="835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4105" name="Text Box 4">
            <a:extLst>
              <a:ext uri="{FF2B5EF4-FFF2-40B4-BE49-F238E27FC236}">
                <a16:creationId xmlns:a16="http://schemas.microsoft.com/office/drawing/2014/main" id="{8E067915-A125-49EB-BF22-9A43D2EF6CFF}"/>
              </a:ext>
            </a:extLst>
          </p:cNvPr>
          <p:cNvSpPr txBox="1">
            <a:spLocks noChangeArrowheads="1"/>
          </p:cNvSpPr>
          <p:nvPr/>
        </p:nvSpPr>
        <p:spPr bwMode="auto">
          <a:xfrm>
            <a:off x="250825" y="115888"/>
            <a:ext cx="23764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spcAft>
                <a:spcPct val="50000"/>
              </a:spcAft>
              <a:buFontTx/>
              <a:buNone/>
            </a:pPr>
            <a:r>
              <a:rPr kumimoji="0" lang="en-US" altLang="zh-CN" b="1">
                <a:solidFill>
                  <a:srgbClr val="FF0000"/>
                </a:solidFill>
                <a:latin typeface="黑体" panose="02010609060101010101" pitchFamily="49" charset="-122"/>
                <a:ea typeface="黑体" panose="02010609060101010101" pitchFamily="49" charset="-122"/>
              </a:rPr>
              <a:t>1</a:t>
            </a:r>
            <a:r>
              <a:rPr kumimoji="0" lang="zh-CN" altLang="en-US" b="1">
                <a:solidFill>
                  <a:srgbClr val="FF0000"/>
                </a:solidFill>
                <a:latin typeface="黑体" panose="02010609060101010101" pitchFamily="49" charset="-122"/>
                <a:ea typeface="黑体" panose="02010609060101010101" pitchFamily="49" charset="-122"/>
              </a:rPr>
              <a:t>、概述</a:t>
            </a:r>
            <a:endParaRPr kumimoji="0" lang="en-US" altLang="zh-CN" b="1">
              <a:solidFill>
                <a:srgbClr val="FF0000"/>
              </a:solidFill>
              <a:latin typeface="黑体" panose="02010609060101010101" pitchFamily="49" charset="-122"/>
              <a:ea typeface="黑体" panose="02010609060101010101" pitchFamily="49" charset="-122"/>
            </a:endParaRPr>
          </a:p>
        </p:txBody>
      </p:sp>
      <p:pic>
        <p:nvPicPr>
          <p:cNvPr id="4106" name="Picture 3" descr="ColorLinea.gif (4491 bytes)">
            <a:extLst>
              <a:ext uri="{FF2B5EF4-FFF2-40B4-BE49-F238E27FC236}">
                <a16:creationId xmlns:a16="http://schemas.microsoft.com/office/drawing/2014/main" id="{B05E81C7-96C7-4E4D-888A-66965BFF1929}"/>
              </a:ext>
            </a:extLst>
          </p:cNvPr>
          <p:cNvPicPr preferRelativeResize="0">
            <a:picLocks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7938" y="917575"/>
            <a:ext cx="9174162"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8580">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8580">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8580">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08580">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08580">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08580">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0858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EAB264FE-8771-4962-93BF-56E6A8172E1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5123" name="Rectangle 3">
            <a:extLst>
              <a:ext uri="{FF2B5EF4-FFF2-40B4-BE49-F238E27FC236}">
                <a16:creationId xmlns:a16="http://schemas.microsoft.com/office/drawing/2014/main" id="{D8121AE2-06C0-41F0-A07F-3CC9449D10E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5124" name="Text Box 4">
            <a:extLst>
              <a:ext uri="{FF2B5EF4-FFF2-40B4-BE49-F238E27FC236}">
                <a16:creationId xmlns:a16="http://schemas.microsoft.com/office/drawing/2014/main" id="{BC889469-9AF6-46AC-B724-B7FF97D11A48}"/>
              </a:ext>
            </a:extLst>
          </p:cNvPr>
          <p:cNvSpPr txBox="1">
            <a:spLocks noChangeArrowheads="1"/>
          </p:cNvSpPr>
          <p:nvPr/>
        </p:nvSpPr>
        <p:spPr bwMode="auto">
          <a:xfrm>
            <a:off x="250825" y="115888"/>
            <a:ext cx="83534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400" b="1">
                <a:latin typeface="黑体" panose="02010609060101010101" pitchFamily="49" charset="-122"/>
                <a:ea typeface="黑体" panose="02010609060101010101" pitchFamily="49" charset="-122"/>
              </a:rPr>
              <a:t>1.2 </a:t>
            </a:r>
            <a:r>
              <a:rPr kumimoji="0" lang="zh-CN" altLang="en-US" sz="2400" b="1">
                <a:latin typeface="黑体" panose="02010609060101010101" pitchFamily="49" charset="-122"/>
                <a:ea typeface="黑体" panose="02010609060101010101" pitchFamily="49" charset="-122"/>
              </a:rPr>
              <a:t>光纤传感器与电类传感器比较</a:t>
            </a:r>
            <a:endParaRPr kumimoji="0" lang="en-US" altLang="en-US" sz="2400" b="1">
              <a:latin typeface="黑体" panose="02010609060101010101" pitchFamily="49" charset="-122"/>
              <a:ea typeface="黑体" panose="02010609060101010101" pitchFamily="49" charset="-122"/>
            </a:endParaRPr>
          </a:p>
        </p:txBody>
      </p:sp>
      <p:graphicFrame>
        <p:nvGraphicFramePr>
          <p:cNvPr id="5125" name="Object 5">
            <a:extLst>
              <a:ext uri="{FF2B5EF4-FFF2-40B4-BE49-F238E27FC236}">
                <a16:creationId xmlns:a16="http://schemas.microsoft.com/office/drawing/2014/main" id="{2EBC45BF-CA8B-481B-9D67-191CC43CBF20}"/>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5148" name="Equation" r:id="rId3" imgW="435285" imgH="677109" progId="Equation.DSMT4">
                  <p:embed/>
                </p:oleObj>
              </mc:Choice>
              <mc:Fallback>
                <p:oleObj name="Equation" r:id="rId3" imgW="435285" imgH="67710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6" name="Rectangle 6">
            <a:extLst>
              <a:ext uri="{FF2B5EF4-FFF2-40B4-BE49-F238E27FC236}">
                <a16:creationId xmlns:a16="http://schemas.microsoft.com/office/drawing/2014/main" id="{F4519946-B3E1-4C30-AA63-69538DBBC130}"/>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ea typeface="楷体_GB2312" pitchFamily="49" charset="-122"/>
                <a:cs typeface="Times New Roman" panose="02020603050405020304" pitchFamily="18" charset="0"/>
              </a:rPr>
              <a:t>：</a:t>
            </a:r>
            <a:endParaRPr kumimoji="0" lang="zh-CN" altLang="en-US" sz="1100">
              <a:latin typeface="Arial" panose="020B0604020202020204" pitchFamily="34" charset="0"/>
              <a:ea typeface="楷体_GB2312" pitchFamily="49" charset="-122"/>
              <a:cs typeface="Times New Roman" panose="02020603050405020304" pitchFamily="18" charset="0"/>
            </a:endParaRPr>
          </a:p>
          <a:p>
            <a:pPr>
              <a:spcBef>
                <a:spcPct val="0"/>
              </a:spcBef>
              <a:buFontTx/>
              <a:buNone/>
            </a:pPr>
            <a:endParaRPr kumimoji="0" lang="en-US" altLang="zh-CN" sz="1800">
              <a:latin typeface="Arial" panose="020B0604020202020204" pitchFamily="34" charset="0"/>
              <a:ea typeface="楷体_GB2312" pitchFamily="49" charset="-122"/>
              <a:cs typeface="Times New Roman" panose="02020603050405020304" pitchFamily="18" charset="0"/>
            </a:endParaRPr>
          </a:p>
        </p:txBody>
      </p:sp>
      <p:sp>
        <p:nvSpPr>
          <p:cNvPr id="5127" name="Rectangle 7">
            <a:extLst>
              <a:ext uri="{FF2B5EF4-FFF2-40B4-BE49-F238E27FC236}">
                <a16:creationId xmlns:a16="http://schemas.microsoft.com/office/drawing/2014/main" id="{BDFFA254-E97C-471E-A41D-AC5EC61908B4}"/>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5128" name="Rectangle 8">
            <a:extLst>
              <a:ext uri="{FF2B5EF4-FFF2-40B4-BE49-F238E27FC236}">
                <a16:creationId xmlns:a16="http://schemas.microsoft.com/office/drawing/2014/main" id="{16735218-F73C-48E0-93CA-EE6CE86EB290}"/>
              </a:ext>
            </a:extLst>
          </p:cNvPr>
          <p:cNvSpPr>
            <a:spLocks noChangeArrowheads="1"/>
          </p:cNvSpPr>
          <p:nvPr/>
        </p:nvSpPr>
        <p:spPr bwMode="auto">
          <a:xfrm>
            <a:off x="2209800" y="1990725"/>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indent="254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ea typeface="楷体_GB2312" pitchFamily="49" charset="-122"/>
                <a:cs typeface="Times New Roman" panose="02020603050405020304" pitchFamily="18" charset="0"/>
              </a:rPr>
              <a:t>。</a:t>
            </a:r>
            <a:endParaRPr kumimoji="0" lang="zh-CN" altLang="en-US" sz="1100">
              <a:latin typeface="Arial" panose="020B0604020202020204" pitchFamily="34" charset="0"/>
              <a:ea typeface="楷体_GB2312" pitchFamily="49" charset="-122"/>
              <a:cs typeface="Times New Roman" panose="02020603050405020304" pitchFamily="18" charset="0"/>
            </a:endParaRPr>
          </a:p>
          <a:p>
            <a:pPr>
              <a:spcBef>
                <a:spcPct val="0"/>
              </a:spcBef>
              <a:buFontTx/>
              <a:buNone/>
            </a:pPr>
            <a:endParaRPr kumimoji="0" lang="en-US" altLang="zh-CN" sz="1800">
              <a:latin typeface="Arial" panose="020B0604020202020204" pitchFamily="34" charset="0"/>
              <a:ea typeface="楷体_GB2312" pitchFamily="49" charset="-122"/>
              <a:cs typeface="Times New Roman" panose="02020603050405020304" pitchFamily="18" charset="0"/>
            </a:endParaRPr>
          </a:p>
        </p:txBody>
      </p:sp>
      <p:sp>
        <p:nvSpPr>
          <p:cNvPr id="5129" name="Rectangle 9">
            <a:extLst>
              <a:ext uri="{FF2B5EF4-FFF2-40B4-BE49-F238E27FC236}">
                <a16:creationId xmlns:a16="http://schemas.microsoft.com/office/drawing/2014/main" id="{B1CF0C38-08F1-4A80-BB39-81ED5B5B7FC5}"/>
              </a:ext>
            </a:extLst>
          </p:cNvPr>
          <p:cNvSpPr>
            <a:spLocks noChangeArrowheads="1"/>
          </p:cNvSpPr>
          <p:nvPr/>
        </p:nvSpPr>
        <p:spPr bwMode="auto">
          <a:xfrm>
            <a:off x="0" y="835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pic>
        <p:nvPicPr>
          <p:cNvPr id="5130" name="Picture 10">
            <a:extLst>
              <a:ext uri="{FF2B5EF4-FFF2-40B4-BE49-F238E27FC236}">
                <a16:creationId xmlns:a16="http://schemas.microsoft.com/office/drawing/2014/main" id="{05B3A68D-1D8C-4FF9-9346-925691D935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836613"/>
            <a:ext cx="5641975" cy="370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1" name="Picture 11">
            <a:extLst>
              <a:ext uri="{FF2B5EF4-FFF2-40B4-BE49-F238E27FC236}">
                <a16:creationId xmlns:a16="http://schemas.microsoft.com/office/drawing/2014/main" id="{B8B99FCF-7385-4335-AE91-13FCFDEAED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4581525"/>
            <a:ext cx="6165850"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5973763" y="981075"/>
            <a:ext cx="2486025" cy="3057525"/>
          </a:xfrm>
          <a:prstGeom prst="rect">
            <a:avLst/>
          </a:prstGeom>
        </p:spPr>
      </p:pic>
      <p:sp>
        <p:nvSpPr>
          <p:cNvPr id="513027" name="Rectangle 3"/>
          <p:cNvSpPr>
            <a:spLocks noChangeArrowheads="1"/>
          </p:cNvSpPr>
          <p:nvPr/>
        </p:nvSpPr>
        <p:spPr bwMode="auto">
          <a:xfrm>
            <a:off x="4445000" y="3898900"/>
            <a:ext cx="552450" cy="2698750"/>
          </a:xfrm>
          <a:prstGeom prst="rect">
            <a:avLst/>
          </a:prstGeom>
          <a:noFill/>
          <a:ln w="12700">
            <a:noFill/>
            <a:miter lim="800000"/>
          </a:ln>
          <a:effectLst/>
        </p:spPr>
        <p:txBody>
          <a:bodyPr wrap="none" anchor="ctr">
            <a:flatTx/>
          </a:bodyPr>
          <a:lstStyle/>
          <a:p>
            <a:endParaRPr lang="zh-CN" altLang="en-US"/>
          </a:p>
        </p:txBody>
      </p:sp>
      <p:sp>
        <p:nvSpPr>
          <p:cNvPr id="513028" name="Rectangle 4"/>
          <p:cNvSpPr>
            <a:spLocks noChangeArrowheads="1"/>
          </p:cNvSpPr>
          <p:nvPr/>
        </p:nvSpPr>
        <p:spPr bwMode="auto">
          <a:xfrm>
            <a:off x="4357686" y="4159250"/>
            <a:ext cx="552450" cy="2698750"/>
          </a:xfrm>
          <a:prstGeom prst="rect">
            <a:avLst/>
          </a:prstGeom>
          <a:noFill/>
          <a:ln w="12700">
            <a:noFill/>
            <a:miter lim="800000"/>
          </a:ln>
          <a:effectLst/>
        </p:spPr>
        <p:txBody>
          <a:bodyPr wrap="none" anchor="ctr">
            <a:flatTx/>
          </a:bodyPr>
          <a:lstStyle/>
          <a:p>
            <a:endParaRPr lang="zh-CN" altLang="en-US"/>
          </a:p>
        </p:txBody>
      </p:sp>
      <p:sp>
        <p:nvSpPr>
          <p:cNvPr id="513148" name="Text Box 124"/>
          <p:cNvSpPr txBox="1">
            <a:spLocks noChangeArrowheads="1"/>
          </p:cNvSpPr>
          <p:nvPr/>
        </p:nvSpPr>
        <p:spPr bwMode="auto">
          <a:xfrm>
            <a:off x="1763713" y="6053138"/>
            <a:ext cx="1295400" cy="457200"/>
          </a:xfrm>
          <a:prstGeom prst="rect">
            <a:avLst/>
          </a:prstGeom>
          <a:noFill/>
          <a:ln w="9525">
            <a:noFill/>
            <a:miter lim="800000"/>
          </a:ln>
          <a:effectLst/>
        </p:spPr>
        <p:txBody>
          <a:bodyPr>
            <a:spAutoFit/>
          </a:bodyPr>
          <a:lstStyle/>
          <a:p>
            <a:pPr>
              <a:lnSpc>
                <a:spcPct val="100000"/>
              </a:lnSpc>
            </a:pPr>
            <a:endParaRPr kumimoji="1" lang="zh-CN" altLang="zh-CN" sz="2400">
              <a:latin typeface="Times New Roman" panose="02020603050405020304" pitchFamily="18" charset="0"/>
              <a:ea typeface="宋体" panose="02010600030101010101" pitchFamily="2" charset="-122"/>
            </a:endParaRPr>
          </a:p>
        </p:txBody>
      </p:sp>
      <p:sp>
        <p:nvSpPr>
          <p:cNvPr id="130" name="Line 3"/>
          <p:cNvSpPr>
            <a:spLocks noChangeShapeType="1"/>
          </p:cNvSpPr>
          <p:nvPr/>
        </p:nvSpPr>
        <p:spPr bwMode="auto">
          <a:xfrm>
            <a:off x="1331913" y="981075"/>
            <a:ext cx="7127875" cy="0"/>
          </a:xfrm>
          <a:prstGeom prst="line">
            <a:avLst/>
          </a:prstGeom>
          <a:noFill/>
          <a:ln w="9525">
            <a:solidFill>
              <a:srgbClr val="33CCCC"/>
            </a:solidFill>
            <a:round/>
          </a:ln>
        </p:spPr>
        <p:txBody>
          <a:bodyPr/>
          <a:lstStyle/>
          <a:p>
            <a:endParaRPr lang="zh-CN" altLang="en-US"/>
          </a:p>
        </p:txBody>
      </p:sp>
      <p:sp>
        <p:nvSpPr>
          <p:cNvPr id="131" name="Rectangle 8"/>
          <p:cNvSpPr>
            <a:spLocks noChangeArrowheads="1"/>
          </p:cNvSpPr>
          <p:nvPr/>
        </p:nvSpPr>
        <p:spPr bwMode="auto">
          <a:xfrm>
            <a:off x="179512" y="1143627"/>
            <a:ext cx="6713831" cy="507831"/>
          </a:xfrm>
          <a:prstGeom prst="rect">
            <a:avLst/>
          </a:prstGeom>
          <a:noFill/>
          <a:ln w="9525">
            <a:noFill/>
            <a:miter lim="800000"/>
          </a:ln>
        </p:spPr>
        <p:txBody>
          <a:bodyPr wrap="square">
            <a:spAutoFit/>
          </a:bodyPr>
          <a:lstStyle/>
          <a:p>
            <a:pPr>
              <a:lnSpc>
                <a:spcPct val="125000"/>
              </a:lnSpc>
              <a:spcBef>
                <a:spcPct val="50000"/>
              </a:spcBef>
              <a:buSzPct val="85000"/>
            </a:pPr>
            <a:r>
              <a:rPr lang="zh-CN" altLang="en-US" sz="2400" b="1" dirty="0">
                <a:solidFill>
                  <a:srgbClr val="0070C0"/>
                </a:solidFill>
                <a:latin typeface="黑体" panose="02010609060101010101" pitchFamily="49" charset="-122"/>
                <a:ea typeface="黑体" panose="02010609060101010101" pitchFamily="49" charset="-122"/>
                <a:sym typeface="黑体" panose="02010609060101010101" pitchFamily="49" charset="-122"/>
              </a:rPr>
              <a:t> 斯奈尔定理（</a:t>
            </a:r>
            <a:r>
              <a:rPr lang="en-US" altLang="zh-CN" sz="2400" dirty="0"/>
              <a:t> S</a:t>
            </a:r>
            <a:r>
              <a:rPr lang="en-US" altLang="zh-CN" sz="2400" b="1" dirty="0"/>
              <a:t>nell</a:t>
            </a:r>
            <a:r>
              <a:rPr lang="en-US" altLang="zh-CN" sz="2400" dirty="0"/>
              <a:t>'s Refraction Law</a:t>
            </a:r>
            <a:r>
              <a:rPr lang="zh-CN" altLang="en-US" sz="2400" b="1" dirty="0">
                <a:solidFill>
                  <a:srgbClr val="0070C0"/>
                </a:solidFill>
                <a:latin typeface="黑体" panose="02010609060101010101" pitchFamily="49" charset="-122"/>
                <a:ea typeface="黑体" panose="02010609060101010101" pitchFamily="49" charset="-122"/>
                <a:sym typeface="黑体" panose="02010609060101010101" pitchFamily="49" charset="-122"/>
              </a:rPr>
              <a:t>）</a:t>
            </a:r>
          </a:p>
        </p:txBody>
      </p:sp>
      <mc:AlternateContent xmlns:mc="http://schemas.openxmlformats.org/markup-compatibility/2006" xmlns:a14="http://schemas.microsoft.com/office/drawing/2010/main">
        <mc:Choice Requires="a14">
          <p:sp>
            <p:nvSpPr>
              <p:cNvPr id="11" name="Text Box 7"/>
              <p:cNvSpPr txBox="1">
                <a:spLocks noChangeArrowheads="1"/>
              </p:cNvSpPr>
              <p:nvPr/>
            </p:nvSpPr>
            <p:spPr bwMode="auto">
              <a:xfrm>
                <a:off x="304679" y="1749429"/>
                <a:ext cx="5195889" cy="113107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lnSpc>
                    <a:spcPct val="150000"/>
                  </a:lnSpc>
                  <a:spcBef>
                    <a:spcPct val="50000"/>
                  </a:spcBef>
                </a:pPr>
                <a:r>
                  <a:rPr lang="zh-CN" altLang="en-US" sz="2400" b="1" dirty="0">
                    <a:solidFill>
                      <a:srgbClr val="FF0000"/>
                    </a:solidFill>
                  </a:rPr>
                  <a:t> 折射：</a:t>
                </a:r>
                <a:r>
                  <a:rPr lang="zh-CN" altLang="en-US" sz="2400" dirty="0"/>
                  <a:t>光由</a:t>
                </a:r>
                <a:r>
                  <a:rPr lang="zh-CN" altLang="en-US" sz="2400" dirty="0">
                    <a:solidFill>
                      <a:srgbClr val="0000FF"/>
                    </a:solidFill>
                  </a:rPr>
                  <a:t>光密物质（折射率</a:t>
                </a:r>
                <a14:m>
                  <m:oMath xmlns:m="http://schemas.openxmlformats.org/officeDocument/2006/math">
                    <m:sSub>
                      <m:sSubPr>
                        <m:ctrlPr>
                          <a:rPr lang="zh-CN" altLang="en-US" sz="2400" b="1" i="1">
                            <a:solidFill>
                              <a:srgbClr val="00B050"/>
                            </a:solidFill>
                            <a:latin typeface="Cambria Math" panose="02040503050406030204" pitchFamily="18" charset="0"/>
                          </a:rPr>
                        </m:ctrlPr>
                      </m:sSubPr>
                      <m:e>
                        <m:r>
                          <a:rPr lang="zh-CN" altLang="en-US" sz="2400" b="1" i="1">
                            <a:solidFill>
                              <a:srgbClr val="00B050"/>
                            </a:solidFill>
                            <a:latin typeface="Cambria Math" panose="02040503050406030204" pitchFamily="18" charset="0"/>
                          </a:rPr>
                          <m:t>𝒏</m:t>
                        </m:r>
                      </m:e>
                      <m:sub>
                        <m:r>
                          <a:rPr lang="zh-CN" altLang="en-US" sz="2400" b="1" i="1">
                            <a:solidFill>
                              <a:srgbClr val="00B050"/>
                            </a:solidFill>
                            <a:latin typeface="Cambria Math" panose="02040503050406030204" pitchFamily="18" charset="0"/>
                          </a:rPr>
                          <m:t>𝟏</m:t>
                        </m:r>
                      </m:sub>
                    </m:sSub>
                  </m:oMath>
                </a14:m>
                <a:r>
                  <a:rPr lang="zh-CN" altLang="en-US" sz="2400" dirty="0">
                    <a:solidFill>
                      <a:srgbClr val="0000FF"/>
                    </a:solidFill>
                  </a:rPr>
                  <a:t>大）</a:t>
                </a:r>
                <a:r>
                  <a:rPr lang="zh-CN" altLang="en-US" sz="2400" dirty="0"/>
                  <a:t>射出至</a:t>
                </a:r>
                <a:r>
                  <a:rPr lang="zh-CN" altLang="en-US" sz="2400" dirty="0">
                    <a:solidFill>
                      <a:srgbClr val="0000FF"/>
                    </a:solidFill>
                  </a:rPr>
                  <a:t>光疏物质（折射率</a:t>
                </a:r>
                <a14:m>
                  <m:oMath xmlns:m="http://schemas.openxmlformats.org/officeDocument/2006/math">
                    <m:sSub>
                      <m:sSubPr>
                        <m:ctrlPr>
                          <a:rPr lang="zh-CN" altLang="en-US" sz="2400" b="1" i="1">
                            <a:solidFill>
                              <a:srgbClr val="00B050"/>
                            </a:solidFill>
                            <a:latin typeface="Cambria Math" panose="02040503050406030204" pitchFamily="18" charset="0"/>
                          </a:rPr>
                        </m:ctrlPr>
                      </m:sSubPr>
                      <m:e>
                        <m:r>
                          <a:rPr lang="zh-CN" altLang="en-US" sz="2400" b="1" i="1">
                            <a:solidFill>
                              <a:srgbClr val="00B050"/>
                            </a:solidFill>
                            <a:latin typeface="Cambria Math" panose="02040503050406030204" pitchFamily="18" charset="0"/>
                          </a:rPr>
                          <m:t>𝒏</m:t>
                        </m:r>
                      </m:e>
                      <m:sub>
                        <m:r>
                          <a:rPr lang="en-US" altLang="zh-CN" sz="2400" b="1" i="1" smtClean="0">
                            <a:solidFill>
                              <a:srgbClr val="00B050"/>
                            </a:solidFill>
                            <a:latin typeface="Cambria Math" panose="02040503050406030204" pitchFamily="18" charset="0"/>
                          </a:rPr>
                          <m:t>𝟐</m:t>
                        </m:r>
                      </m:sub>
                    </m:sSub>
                  </m:oMath>
                </a14:m>
                <a:r>
                  <a:rPr lang="zh-CN" altLang="en-US" sz="2400" dirty="0">
                    <a:solidFill>
                      <a:srgbClr val="0000FF"/>
                    </a:solidFill>
                  </a:rPr>
                  <a:t>小）</a:t>
                </a:r>
                <a:r>
                  <a:rPr lang="zh-CN" altLang="en-US" sz="2400" dirty="0"/>
                  <a:t>时，</a:t>
                </a:r>
                <a:endParaRPr lang="zh-CN" altLang="el-GR" sz="2400" dirty="0">
                  <a:latin typeface="楷体_GB2312" pitchFamily="49" charset="-122"/>
                </a:endParaRPr>
              </a:p>
            </p:txBody>
          </p:sp>
        </mc:Choice>
        <mc:Fallback xmlns="">
          <p:sp>
            <p:nvSpPr>
              <p:cNvPr id="11" name="Text Box 7"/>
              <p:cNvSpPr txBox="1">
                <a:spLocks noRot="1" noChangeAspect="1" noMove="1" noResize="1" noEditPoints="1" noAdjustHandles="1" noChangeArrowheads="1" noChangeShapeType="1" noTextEdit="1"/>
              </p:cNvSpPr>
              <p:nvPr/>
            </p:nvSpPr>
            <p:spPr bwMode="auto">
              <a:xfrm>
                <a:off x="304679" y="1749429"/>
                <a:ext cx="5195889" cy="1131079"/>
              </a:xfrm>
              <a:prstGeom prst="rect">
                <a:avLst/>
              </a:prstGeom>
              <a:blipFill>
                <a:blip r:embed="rId4"/>
                <a:stretch>
                  <a:fillRect l="-1878" r="-1643" b="-1182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Object 12"/>
              <p:cNvSpPr txBox="1"/>
              <p:nvPr/>
            </p:nvSpPr>
            <p:spPr bwMode="auto">
              <a:xfrm>
                <a:off x="1234113" y="2844167"/>
                <a:ext cx="3337886" cy="745305"/>
              </a:xfrm>
              <a:prstGeom prst="rect">
                <a:avLst/>
              </a:prstGeom>
              <a:noFill/>
              <a:ln>
                <a:noFill/>
              </a:ln>
              <a:effectLst/>
              <a:extLst/>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sz="2800" b="1" i="1" smtClean="0">
                              <a:solidFill>
                                <a:srgbClr val="00B050"/>
                              </a:solidFill>
                              <a:latin typeface="Cambria Math" panose="02040503050406030204" pitchFamily="18" charset="0"/>
                            </a:rPr>
                          </m:ctrlPr>
                        </m:sSubPr>
                        <m:e>
                          <m:r>
                            <a:rPr lang="zh-CN" altLang="en-US" sz="2800" b="1" i="1">
                              <a:solidFill>
                                <a:srgbClr val="00B050"/>
                              </a:solidFill>
                              <a:latin typeface="Cambria Math" panose="02040503050406030204" pitchFamily="18" charset="0"/>
                            </a:rPr>
                            <m:t>𝒏</m:t>
                          </m:r>
                        </m:e>
                        <m:sub>
                          <m:r>
                            <a:rPr lang="zh-CN" altLang="en-US" sz="2800" b="1" i="1">
                              <a:solidFill>
                                <a:srgbClr val="00B050"/>
                              </a:solidFill>
                              <a:latin typeface="Cambria Math" panose="02040503050406030204" pitchFamily="18" charset="0"/>
                            </a:rPr>
                            <m:t>𝟏</m:t>
                          </m:r>
                        </m:sub>
                      </m:sSub>
                      <m:func>
                        <m:funcPr>
                          <m:ctrlPr>
                            <a:rPr lang="zh-CN" altLang="en-US" sz="2800" b="1" i="1">
                              <a:solidFill>
                                <a:srgbClr val="00B050"/>
                              </a:solidFill>
                              <a:latin typeface="Cambria Math" panose="02040503050406030204" pitchFamily="18" charset="0"/>
                            </a:rPr>
                          </m:ctrlPr>
                        </m:funcPr>
                        <m:fName>
                          <m:sSub>
                            <m:sSubPr>
                              <m:ctrlPr>
                                <a:rPr lang="zh-CN" altLang="en-US" sz="2800" b="1" i="1">
                                  <a:solidFill>
                                    <a:srgbClr val="00B050"/>
                                  </a:solidFill>
                                  <a:latin typeface="Cambria Math" panose="02040503050406030204" pitchFamily="18" charset="0"/>
                                </a:rPr>
                              </m:ctrlPr>
                            </m:sSubPr>
                            <m:e>
                              <m:r>
                                <a:rPr lang="zh-CN" altLang="en-US" sz="2800" b="1" i="0">
                                  <a:solidFill>
                                    <a:srgbClr val="00B050"/>
                                  </a:solidFill>
                                  <a:latin typeface="Cambria Math" panose="02040503050406030204" pitchFamily="18" charset="0"/>
                                </a:rPr>
                                <m:t>𝐬𝐢𝐧</m:t>
                              </m:r>
                              <m:r>
                                <a:rPr lang="zh-CN" altLang="en-US" sz="2800" b="1" i="1">
                                  <a:solidFill>
                                    <a:srgbClr val="00B050"/>
                                  </a:solidFill>
                                  <a:latin typeface="Cambria Math" panose="02040503050406030204" pitchFamily="18" charset="0"/>
                                </a:rPr>
                                <m:t>𝜽</m:t>
                              </m:r>
                            </m:e>
                            <m:sub>
                              <m:r>
                                <a:rPr lang="zh-CN" altLang="en-US" sz="2800" b="1" i="1">
                                  <a:solidFill>
                                    <a:srgbClr val="00B050"/>
                                  </a:solidFill>
                                  <a:latin typeface="Cambria Math" panose="02040503050406030204" pitchFamily="18" charset="0"/>
                                </a:rPr>
                                <m:t>𝒊</m:t>
                              </m:r>
                            </m:sub>
                          </m:sSub>
                        </m:fName>
                        <m:e>
                          <m:r>
                            <a:rPr lang="zh-CN" altLang="en-US" sz="2800" b="1" i="1">
                              <a:solidFill>
                                <a:srgbClr val="00B050"/>
                              </a:solidFill>
                              <a:latin typeface="Cambria Math" panose="02040503050406030204" pitchFamily="18" charset="0"/>
                            </a:rPr>
                            <m:t>=</m:t>
                          </m:r>
                        </m:e>
                      </m:func>
                      <m:sSub>
                        <m:sSubPr>
                          <m:ctrlPr>
                            <a:rPr lang="zh-CN" altLang="en-US" sz="2800" b="1" i="1">
                              <a:solidFill>
                                <a:srgbClr val="00B050"/>
                              </a:solidFill>
                              <a:latin typeface="Cambria Math" panose="02040503050406030204" pitchFamily="18" charset="0"/>
                            </a:rPr>
                          </m:ctrlPr>
                        </m:sSubPr>
                        <m:e>
                          <m:r>
                            <a:rPr lang="zh-CN" altLang="en-US" sz="2800" b="1" i="1">
                              <a:solidFill>
                                <a:srgbClr val="00B050"/>
                              </a:solidFill>
                              <a:latin typeface="Cambria Math" panose="02040503050406030204" pitchFamily="18" charset="0"/>
                            </a:rPr>
                            <m:t>𝒏</m:t>
                          </m:r>
                        </m:e>
                        <m:sub>
                          <m:r>
                            <a:rPr lang="zh-CN" altLang="en-US" sz="2800" b="1" i="1">
                              <a:solidFill>
                                <a:srgbClr val="00B050"/>
                              </a:solidFill>
                              <a:latin typeface="Cambria Math" panose="02040503050406030204" pitchFamily="18" charset="0"/>
                            </a:rPr>
                            <m:t>𝟐</m:t>
                          </m:r>
                        </m:sub>
                      </m:sSub>
                      <m:sSub>
                        <m:sSubPr>
                          <m:ctrlPr>
                            <a:rPr lang="zh-CN" altLang="en-US" sz="2800" b="1" i="1">
                              <a:solidFill>
                                <a:srgbClr val="00B050"/>
                              </a:solidFill>
                              <a:latin typeface="Cambria Math" panose="02040503050406030204" pitchFamily="18" charset="0"/>
                            </a:rPr>
                          </m:ctrlPr>
                        </m:sSubPr>
                        <m:e>
                          <m:r>
                            <a:rPr lang="zh-CN" altLang="en-US" sz="2800" b="1" i="1">
                              <a:solidFill>
                                <a:srgbClr val="00B050"/>
                              </a:solidFill>
                              <a:latin typeface="Cambria Math" panose="02040503050406030204" pitchFamily="18" charset="0"/>
                            </a:rPr>
                            <m:t>𝒔𝒊𝒏</m:t>
                          </m:r>
                          <m:r>
                            <a:rPr lang="zh-CN" altLang="en-US" sz="2800" b="1" i="1">
                              <a:solidFill>
                                <a:srgbClr val="00B050"/>
                              </a:solidFill>
                              <a:latin typeface="Cambria Math" panose="02040503050406030204" pitchFamily="18" charset="0"/>
                            </a:rPr>
                            <m:t>𝜽</m:t>
                          </m:r>
                        </m:e>
                        <m:sub>
                          <m:r>
                            <a:rPr lang="en-US" altLang="zh-CN" sz="2800" b="1" i="1" smtClean="0">
                              <a:solidFill>
                                <a:srgbClr val="00B050"/>
                              </a:solidFill>
                              <a:latin typeface="Cambria Math" panose="02040503050406030204" pitchFamily="18" charset="0"/>
                            </a:rPr>
                            <m:t>𝒓</m:t>
                          </m:r>
                        </m:sub>
                      </m:sSub>
                    </m:oMath>
                  </m:oMathPara>
                </a14:m>
                <a:endParaRPr lang="zh-CN" altLang="en-US" sz="2800" b="1" dirty="0">
                  <a:solidFill>
                    <a:srgbClr val="00B050"/>
                  </a:solidFill>
                </a:endParaRPr>
              </a:p>
            </p:txBody>
          </p:sp>
        </mc:Choice>
        <mc:Fallback xmlns="">
          <p:sp>
            <p:nvSpPr>
              <p:cNvPr id="15" name="Object 12"/>
              <p:cNvSpPr txBox="1">
                <a:spLocks noRot="1" noChangeAspect="1" noMove="1" noResize="1" noEditPoints="1" noAdjustHandles="1" noChangeArrowheads="1" noChangeShapeType="1" noTextEdit="1"/>
              </p:cNvSpPr>
              <p:nvPr/>
            </p:nvSpPr>
            <p:spPr bwMode="auto">
              <a:xfrm>
                <a:off x="1234113" y="2844167"/>
                <a:ext cx="3337886" cy="745305"/>
              </a:xfrm>
              <a:prstGeom prst="rect">
                <a:avLst/>
              </a:prstGeom>
              <a:blipFill>
                <a:blip r:embed="rId5"/>
                <a:stretch>
                  <a:fillRect/>
                </a:stretch>
              </a:blipFill>
              <a:ln>
                <a:noFill/>
              </a:ln>
              <a:effectLst/>
              <a:extLst/>
            </p:spPr>
            <p:txBody>
              <a:bodyPr/>
              <a:lstStyle/>
              <a:p>
                <a:r>
                  <a:rPr lang="zh-CN" altLang="en-US">
                    <a:noFill/>
                  </a:rPr>
                  <a:t> </a:t>
                </a:r>
              </a:p>
            </p:txBody>
          </p:sp>
        </mc:Fallback>
      </mc:AlternateContent>
      <p:sp>
        <p:nvSpPr>
          <p:cNvPr id="16" name="Text Box 4"/>
          <p:cNvSpPr txBox="1">
            <a:spLocks noChangeArrowheads="1"/>
          </p:cNvSpPr>
          <p:nvPr/>
        </p:nvSpPr>
        <p:spPr bwMode="auto">
          <a:xfrm>
            <a:off x="371439" y="3973287"/>
            <a:ext cx="4915810" cy="111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ct val="50000"/>
              </a:spcBef>
            </a:pPr>
            <a:r>
              <a:rPr lang="zh-CN" altLang="en-US" sz="2400" b="1" dirty="0">
                <a:solidFill>
                  <a:srgbClr val="FF0000"/>
                </a:solidFill>
              </a:rPr>
              <a:t>临界状态</a:t>
            </a:r>
            <a:r>
              <a:rPr lang="zh-CN" altLang="en-US" sz="2400" dirty="0"/>
              <a:t>：折射角</a:t>
            </a:r>
            <a:r>
              <a:rPr lang="el-GR" altLang="zh-CN" sz="2400" i="1" dirty="0"/>
              <a:t>θ</a:t>
            </a:r>
            <a:r>
              <a:rPr lang="en-US" altLang="zh-CN" sz="2400" i="1" baseline="-25000" dirty="0"/>
              <a:t>r </a:t>
            </a:r>
            <a:r>
              <a:rPr lang="en-US" altLang="zh-CN" sz="2400" dirty="0"/>
              <a:t>= 90</a:t>
            </a:r>
            <a:r>
              <a:rPr lang="el-GR" altLang="zh-CN" sz="2400" baseline="30000" dirty="0"/>
              <a:t>°</a:t>
            </a:r>
            <a:r>
              <a:rPr lang="zh-CN" altLang="en-US" sz="2400" dirty="0"/>
              <a:t>时，出射光线沿界面传播：</a:t>
            </a:r>
            <a:endParaRPr lang="zh-CN" altLang="el-GR" sz="2400" baseline="30000" dirty="0"/>
          </a:p>
        </p:txBody>
      </p:sp>
      <mc:AlternateContent xmlns:mc="http://schemas.openxmlformats.org/markup-compatibility/2006" xmlns:a14="http://schemas.microsoft.com/office/drawing/2010/main">
        <mc:Choice Requires="a14">
          <p:sp>
            <p:nvSpPr>
              <p:cNvPr id="17" name="Object 5"/>
              <p:cNvSpPr txBox="1"/>
              <p:nvPr/>
            </p:nvSpPr>
            <p:spPr bwMode="auto">
              <a:xfrm>
                <a:off x="1531938" y="5166574"/>
                <a:ext cx="3189287" cy="1463893"/>
              </a:xfrm>
              <a:prstGeom prst="rect">
                <a:avLst/>
              </a:prstGeom>
              <a:noFill/>
              <a:ln>
                <a:noFill/>
              </a:ln>
              <a:effectLst/>
              <a:extLst/>
            </p:spPr>
            <p:txBody>
              <a:bodyPr>
                <a:noAutofit/>
              </a:bodyPr>
              <a:lstStyle/>
              <a:p>
                <a:pPr/>
                <a14:m>
                  <m:oMathPara xmlns:m="http://schemas.openxmlformats.org/officeDocument/2006/math">
                    <m:oMathParaPr>
                      <m:jc m:val="centerGroup"/>
                    </m:oMathParaPr>
                    <m:oMath xmlns:m="http://schemas.openxmlformats.org/officeDocument/2006/math">
                      <m:func>
                        <m:funcPr>
                          <m:ctrlPr>
                            <a:rPr lang="zh-CN" altLang="en-US" sz="2400" b="1" i="1" smtClean="0">
                              <a:solidFill>
                                <a:srgbClr val="00B050"/>
                              </a:solidFill>
                              <a:latin typeface="Cambria Math" panose="02040503050406030204" pitchFamily="18" charset="0"/>
                            </a:rPr>
                          </m:ctrlPr>
                        </m:funcPr>
                        <m:fName>
                          <m:sSub>
                            <m:sSubPr>
                              <m:ctrlPr>
                                <a:rPr lang="zh-CN" altLang="en-US" sz="2400" b="1" i="1">
                                  <a:solidFill>
                                    <a:srgbClr val="00B050"/>
                                  </a:solidFill>
                                  <a:latin typeface="Cambria Math" panose="02040503050406030204" pitchFamily="18" charset="0"/>
                                </a:rPr>
                              </m:ctrlPr>
                            </m:sSubPr>
                            <m:e>
                              <m:r>
                                <a:rPr lang="zh-CN" altLang="en-US" sz="2400" b="1" i="0">
                                  <a:solidFill>
                                    <a:srgbClr val="00B050"/>
                                  </a:solidFill>
                                  <a:latin typeface="Cambria Math" panose="02040503050406030204" pitchFamily="18" charset="0"/>
                                </a:rPr>
                                <m:t>𝐬𝐢𝐧</m:t>
                              </m:r>
                              <m:r>
                                <a:rPr lang="zh-CN" altLang="en-US" sz="2400" b="1" i="1">
                                  <a:solidFill>
                                    <a:srgbClr val="00B050"/>
                                  </a:solidFill>
                                  <a:latin typeface="Cambria Math" panose="02040503050406030204" pitchFamily="18" charset="0"/>
                                </a:rPr>
                                <m:t>𝜽</m:t>
                              </m:r>
                            </m:e>
                            <m:sub>
                              <m:r>
                                <a:rPr lang="zh-CN" altLang="en-US" sz="2400" b="1" i="1">
                                  <a:solidFill>
                                    <a:srgbClr val="00B050"/>
                                  </a:solidFill>
                                  <a:latin typeface="Cambria Math" panose="02040503050406030204" pitchFamily="18" charset="0"/>
                                </a:rPr>
                                <m:t>𝒓</m:t>
                              </m:r>
                            </m:sub>
                          </m:sSub>
                        </m:fName>
                        <m:e>
                          <m:r>
                            <a:rPr lang="zh-CN" altLang="en-US" sz="2400" b="1" i="1">
                              <a:solidFill>
                                <a:srgbClr val="00B050"/>
                              </a:solidFill>
                              <a:latin typeface="Cambria Math" panose="02040503050406030204" pitchFamily="18" charset="0"/>
                            </a:rPr>
                            <m:t>=</m:t>
                          </m:r>
                        </m:e>
                      </m:func>
                      <m:func>
                        <m:funcPr>
                          <m:ctrlPr>
                            <a:rPr lang="zh-CN" altLang="en-US" sz="2400" b="1" i="1">
                              <a:solidFill>
                                <a:srgbClr val="00B050"/>
                              </a:solidFill>
                              <a:latin typeface="Cambria Math" panose="02040503050406030204" pitchFamily="18" charset="0"/>
                            </a:rPr>
                          </m:ctrlPr>
                        </m:funcPr>
                        <m:fName>
                          <m:r>
                            <a:rPr lang="zh-CN" altLang="en-US" sz="2400" b="1" i="0">
                              <a:solidFill>
                                <a:srgbClr val="00B050"/>
                              </a:solidFill>
                              <a:latin typeface="Cambria Math" panose="02040503050406030204" pitchFamily="18" charset="0"/>
                            </a:rPr>
                            <m:t>𝐬𝐢𝐧</m:t>
                          </m:r>
                        </m:fName>
                        <m:e>
                          <m:r>
                            <a:rPr lang="zh-CN" altLang="en-US" sz="2400" b="1" i="1">
                              <a:solidFill>
                                <a:srgbClr val="00B050"/>
                              </a:solidFill>
                              <a:latin typeface="Cambria Math" panose="02040503050406030204" pitchFamily="18" charset="0"/>
                            </a:rPr>
                            <m:t>𝟗</m:t>
                          </m:r>
                        </m:e>
                      </m:func>
                      <m:sSup>
                        <m:sSupPr>
                          <m:ctrlPr>
                            <a:rPr lang="zh-CN" altLang="en-US" sz="2400" b="1" i="1">
                              <a:solidFill>
                                <a:srgbClr val="00B050"/>
                              </a:solidFill>
                              <a:latin typeface="Cambria Math" panose="02040503050406030204" pitchFamily="18" charset="0"/>
                            </a:rPr>
                          </m:ctrlPr>
                        </m:sSupPr>
                        <m:e>
                          <m:r>
                            <a:rPr lang="zh-CN" altLang="en-US" sz="2400" b="1" i="1">
                              <a:solidFill>
                                <a:srgbClr val="00B050"/>
                              </a:solidFill>
                              <a:latin typeface="Cambria Math" panose="02040503050406030204" pitchFamily="18" charset="0"/>
                            </a:rPr>
                            <m:t>𝟎</m:t>
                          </m:r>
                        </m:e>
                        <m:sup>
                          <m:r>
                            <a:rPr lang="zh-CN" altLang="en-US" sz="2400" b="1" i="1">
                              <a:solidFill>
                                <a:srgbClr val="00B050"/>
                              </a:solidFill>
                              <a:latin typeface="Cambria Math" panose="02040503050406030204" pitchFamily="18" charset="0"/>
                            </a:rPr>
                            <m:t>∘</m:t>
                          </m:r>
                        </m:sup>
                      </m:sSup>
                      <m:r>
                        <a:rPr lang="zh-CN" altLang="en-US" sz="2400" b="1" i="1">
                          <a:solidFill>
                            <a:srgbClr val="00B050"/>
                          </a:solidFill>
                          <a:latin typeface="Cambria Math" panose="02040503050406030204" pitchFamily="18" charset="0"/>
                        </a:rPr>
                        <m:t>=</m:t>
                      </m:r>
                      <m:r>
                        <a:rPr lang="zh-CN" altLang="en-US" sz="2400" b="1" i="1">
                          <a:solidFill>
                            <a:srgbClr val="00B050"/>
                          </a:solidFill>
                          <a:latin typeface="Cambria Math" panose="02040503050406030204" pitchFamily="18" charset="0"/>
                        </a:rPr>
                        <m:t>𝟏</m:t>
                      </m:r>
                    </m:oMath>
                    <m:oMath xmlns:m="http://schemas.openxmlformats.org/officeDocument/2006/math">
                      <m:func>
                        <m:funcPr>
                          <m:ctrlPr>
                            <a:rPr lang="zh-CN" altLang="en-US" sz="2400" b="1" i="1">
                              <a:solidFill>
                                <a:srgbClr val="00B050"/>
                              </a:solidFill>
                              <a:latin typeface="Cambria Math" panose="02040503050406030204" pitchFamily="18" charset="0"/>
                            </a:rPr>
                          </m:ctrlPr>
                        </m:funcPr>
                        <m:fName>
                          <m:sSub>
                            <m:sSubPr>
                              <m:ctrlPr>
                                <a:rPr lang="zh-CN" altLang="en-US" sz="2400" b="1" i="1">
                                  <a:solidFill>
                                    <a:srgbClr val="00B050"/>
                                  </a:solidFill>
                                  <a:latin typeface="Cambria Math" panose="02040503050406030204" pitchFamily="18" charset="0"/>
                                </a:rPr>
                              </m:ctrlPr>
                            </m:sSubPr>
                            <m:e>
                              <m:r>
                                <a:rPr lang="zh-CN" altLang="en-US" sz="2400" b="1" i="0">
                                  <a:solidFill>
                                    <a:srgbClr val="00B050"/>
                                  </a:solidFill>
                                  <a:latin typeface="Cambria Math" panose="02040503050406030204" pitchFamily="18" charset="0"/>
                                </a:rPr>
                                <m:t>𝐬𝐢𝐧</m:t>
                              </m:r>
                              <m:r>
                                <a:rPr lang="zh-CN" altLang="en-US" sz="2400" b="1" i="1">
                                  <a:solidFill>
                                    <a:srgbClr val="00B050"/>
                                  </a:solidFill>
                                  <a:latin typeface="Cambria Math" panose="02040503050406030204" pitchFamily="18" charset="0"/>
                                </a:rPr>
                                <m:t>𝜽</m:t>
                              </m:r>
                            </m:e>
                            <m:sub>
                              <m:sSub>
                                <m:sSubPr>
                                  <m:ctrlPr>
                                    <a:rPr lang="zh-CN" altLang="en-US" sz="2400" b="1" i="1">
                                      <a:solidFill>
                                        <a:srgbClr val="00B050"/>
                                      </a:solidFill>
                                      <a:latin typeface="Cambria Math" panose="02040503050406030204" pitchFamily="18" charset="0"/>
                                    </a:rPr>
                                  </m:ctrlPr>
                                </m:sSubPr>
                                <m:e>
                                  <m:r>
                                    <a:rPr lang="zh-CN" altLang="en-US" sz="2400" b="1" i="1">
                                      <a:solidFill>
                                        <a:srgbClr val="00B050"/>
                                      </a:solidFill>
                                      <a:latin typeface="Cambria Math" panose="02040503050406030204" pitchFamily="18" charset="0"/>
                                    </a:rPr>
                                    <m:t>𝒊</m:t>
                                  </m:r>
                                </m:e>
                                <m:sub>
                                  <m:r>
                                    <a:rPr lang="zh-CN" altLang="en-US" sz="2400" b="1" i="1">
                                      <a:solidFill>
                                        <a:srgbClr val="00B050"/>
                                      </a:solidFill>
                                      <a:latin typeface="Cambria Math" panose="02040503050406030204" pitchFamily="18" charset="0"/>
                                    </a:rPr>
                                    <m:t>𝟎</m:t>
                                  </m:r>
                                </m:sub>
                              </m:sSub>
                            </m:sub>
                          </m:sSub>
                        </m:fName>
                        <m:e>
                          <m:r>
                            <a:rPr lang="zh-CN" altLang="en-US" sz="2400" b="1" i="1">
                              <a:solidFill>
                                <a:srgbClr val="00B050"/>
                              </a:solidFill>
                              <a:latin typeface="Cambria Math" panose="02040503050406030204" pitchFamily="18" charset="0"/>
                            </a:rPr>
                            <m:t>=</m:t>
                          </m:r>
                        </m:e>
                      </m:func>
                      <m:sSub>
                        <m:sSubPr>
                          <m:ctrlPr>
                            <a:rPr lang="zh-CN" altLang="en-US" sz="2400" b="1" i="1">
                              <a:solidFill>
                                <a:srgbClr val="00B050"/>
                              </a:solidFill>
                              <a:latin typeface="Cambria Math" panose="02040503050406030204" pitchFamily="18" charset="0"/>
                            </a:rPr>
                          </m:ctrlPr>
                        </m:sSubPr>
                        <m:e>
                          <m:r>
                            <a:rPr lang="zh-CN" altLang="en-US" sz="2400" b="1" i="1">
                              <a:solidFill>
                                <a:srgbClr val="00B050"/>
                              </a:solidFill>
                              <a:latin typeface="Cambria Math" panose="02040503050406030204" pitchFamily="18" charset="0"/>
                            </a:rPr>
                            <m:t>𝒏</m:t>
                          </m:r>
                        </m:e>
                        <m:sub>
                          <m:r>
                            <a:rPr lang="zh-CN" altLang="en-US" sz="2400" b="1" i="1">
                              <a:solidFill>
                                <a:srgbClr val="00B050"/>
                              </a:solidFill>
                              <a:latin typeface="Cambria Math" panose="02040503050406030204" pitchFamily="18" charset="0"/>
                            </a:rPr>
                            <m:t>𝟐</m:t>
                          </m:r>
                        </m:sub>
                      </m:sSub>
                      <m:r>
                        <a:rPr lang="zh-CN" altLang="en-US" sz="2400" b="1" i="1">
                          <a:solidFill>
                            <a:srgbClr val="00B050"/>
                          </a:solidFill>
                          <a:latin typeface="Cambria Math" panose="02040503050406030204" pitchFamily="18" charset="0"/>
                        </a:rPr>
                        <m:t>/</m:t>
                      </m:r>
                      <m:sSub>
                        <m:sSubPr>
                          <m:ctrlPr>
                            <a:rPr lang="zh-CN" altLang="en-US" sz="2400" b="1" i="1">
                              <a:solidFill>
                                <a:srgbClr val="00B050"/>
                              </a:solidFill>
                              <a:latin typeface="Cambria Math" panose="02040503050406030204" pitchFamily="18" charset="0"/>
                            </a:rPr>
                          </m:ctrlPr>
                        </m:sSubPr>
                        <m:e>
                          <m:r>
                            <a:rPr lang="zh-CN" altLang="en-US" sz="2400" b="1" i="1">
                              <a:solidFill>
                                <a:srgbClr val="00B050"/>
                              </a:solidFill>
                              <a:latin typeface="Cambria Math" panose="02040503050406030204" pitchFamily="18" charset="0"/>
                            </a:rPr>
                            <m:t>𝒏</m:t>
                          </m:r>
                        </m:e>
                        <m:sub>
                          <m:r>
                            <a:rPr lang="zh-CN" altLang="en-US" sz="2400" b="1" i="1">
                              <a:solidFill>
                                <a:srgbClr val="00B050"/>
                              </a:solidFill>
                              <a:latin typeface="Cambria Math" panose="02040503050406030204" pitchFamily="18" charset="0"/>
                            </a:rPr>
                            <m:t>𝟏</m:t>
                          </m:r>
                        </m:sub>
                      </m:sSub>
                    </m:oMath>
                    <m:oMath xmlns:m="http://schemas.openxmlformats.org/officeDocument/2006/math">
                      <m:sSub>
                        <m:sSubPr>
                          <m:ctrlPr>
                            <a:rPr lang="zh-CN" altLang="en-US" sz="2400" b="1" i="1">
                              <a:solidFill>
                                <a:srgbClr val="00B050"/>
                              </a:solidFill>
                              <a:latin typeface="Cambria Math" panose="02040503050406030204" pitchFamily="18" charset="0"/>
                            </a:rPr>
                          </m:ctrlPr>
                        </m:sSubPr>
                        <m:e>
                          <m:r>
                            <a:rPr lang="zh-CN" altLang="en-US" sz="2400" b="1" i="1">
                              <a:solidFill>
                                <a:srgbClr val="00B050"/>
                              </a:solidFill>
                              <a:latin typeface="Cambria Math" panose="02040503050406030204" pitchFamily="18" charset="0"/>
                            </a:rPr>
                            <m:t>𝜽</m:t>
                          </m:r>
                        </m:e>
                        <m:sub>
                          <m:sSub>
                            <m:sSubPr>
                              <m:ctrlPr>
                                <a:rPr lang="zh-CN" altLang="en-US" sz="2400" b="1" i="1">
                                  <a:solidFill>
                                    <a:srgbClr val="00B050"/>
                                  </a:solidFill>
                                  <a:latin typeface="Cambria Math" panose="02040503050406030204" pitchFamily="18" charset="0"/>
                                </a:rPr>
                              </m:ctrlPr>
                            </m:sSubPr>
                            <m:e>
                              <m:r>
                                <a:rPr lang="zh-CN" altLang="en-US" sz="2400" b="1" i="1">
                                  <a:solidFill>
                                    <a:srgbClr val="00B050"/>
                                  </a:solidFill>
                                  <a:latin typeface="Cambria Math" panose="02040503050406030204" pitchFamily="18" charset="0"/>
                                </a:rPr>
                                <m:t>𝒊</m:t>
                              </m:r>
                            </m:e>
                            <m:sub>
                              <m:r>
                                <a:rPr lang="zh-CN" altLang="en-US" sz="2400" b="1" i="1">
                                  <a:solidFill>
                                    <a:srgbClr val="00B050"/>
                                  </a:solidFill>
                                  <a:latin typeface="Cambria Math" panose="02040503050406030204" pitchFamily="18" charset="0"/>
                                </a:rPr>
                                <m:t>𝟎</m:t>
                              </m:r>
                            </m:sub>
                          </m:sSub>
                        </m:sub>
                      </m:sSub>
                      <m:r>
                        <m:rPr>
                          <m:nor/>
                        </m:rPr>
                        <a:rPr lang="zh-CN" altLang="en-US" sz="2400" b="1" i="0">
                          <a:solidFill>
                            <a:srgbClr val="00B050"/>
                          </a:solidFill>
                          <a:latin typeface="Cambria Math" panose="02040503050406030204" pitchFamily="18" charset="0"/>
                        </a:rPr>
                        <m:t>=</m:t>
                      </m:r>
                      <m:r>
                        <m:rPr>
                          <m:nor/>
                        </m:rPr>
                        <a:rPr lang="zh-CN" altLang="en-US" sz="2400" b="1" i="0">
                          <a:solidFill>
                            <a:srgbClr val="00B050"/>
                          </a:solidFill>
                          <a:latin typeface="Cambria Math" panose="02040503050406030204" pitchFamily="18" charset="0"/>
                        </a:rPr>
                        <m:t>arcsin</m:t>
                      </m:r>
                      <m:r>
                        <a:rPr lang="zh-CN" altLang="en-US" sz="2400" b="1" i="1">
                          <a:solidFill>
                            <a:srgbClr val="00B050"/>
                          </a:solidFill>
                          <a:latin typeface="Cambria Math" panose="02040503050406030204" pitchFamily="18" charset="0"/>
                        </a:rPr>
                        <m:t>(</m:t>
                      </m:r>
                      <m:f>
                        <m:fPr>
                          <m:ctrlPr>
                            <a:rPr lang="zh-CN" altLang="en-US" sz="2400" b="1" i="1">
                              <a:solidFill>
                                <a:srgbClr val="00B050"/>
                              </a:solidFill>
                              <a:latin typeface="Cambria Math" panose="02040503050406030204" pitchFamily="18" charset="0"/>
                            </a:rPr>
                          </m:ctrlPr>
                        </m:fPr>
                        <m:num>
                          <m:sSub>
                            <m:sSubPr>
                              <m:ctrlPr>
                                <a:rPr lang="zh-CN" altLang="en-US" sz="2400" b="1" i="1">
                                  <a:solidFill>
                                    <a:srgbClr val="00B050"/>
                                  </a:solidFill>
                                  <a:latin typeface="Cambria Math" panose="02040503050406030204" pitchFamily="18" charset="0"/>
                                </a:rPr>
                              </m:ctrlPr>
                            </m:sSubPr>
                            <m:e>
                              <m:r>
                                <a:rPr lang="zh-CN" altLang="en-US" sz="2400" b="1" i="1">
                                  <a:solidFill>
                                    <a:srgbClr val="00B050"/>
                                  </a:solidFill>
                                  <a:latin typeface="Cambria Math" panose="02040503050406030204" pitchFamily="18" charset="0"/>
                                </a:rPr>
                                <m:t>𝒏</m:t>
                              </m:r>
                            </m:e>
                            <m:sub>
                              <m:r>
                                <a:rPr lang="zh-CN" altLang="en-US" sz="2400" b="1" i="1">
                                  <a:solidFill>
                                    <a:srgbClr val="00B050"/>
                                  </a:solidFill>
                                  <a:latin typeface="Cambria Math" panose="02040503050406030204" pitchFamily="18" charset="0"/>
                                </a:rPr>
                                <m:t>𝟐</m:t>
                              </m:r>
                            </m:sub>
                          </m:sSub>
                        </m:num>
                        <m:den>
                          <m:sSub>
                            <m:sSubPr>
                              <m:ctrlPr>
                                <a:rPr lang="zh-CN" altLang="en-US" sz="2400" b="1" i="1">
                                  <a:solidFill>
                                    <a:srgbClr val="00B050"/>
                                  </a:solidFill>
                                  <a:latin typeface="Cambria Math" panose="02040503050406030204" pitchFamily="18" charset="0"/>
                                </a:rPr>
                              </m:ctrlPr>
                            </m:sSubPr>
                            <m:e>
                              <m:r>
                                <a:rPr lang="zh-CN" altLang="en-US" sz="2400" b="1" i="1">
                                  <a:solidFill>
                                    <a:srgbClr val="00B050"/>
                                  </a:solidFill>
                                  <a:latin typeface="Cambria Math" panose="02040503050406030204" pitchFamily="18" charset="0"/>
                                </a:rPr>
                                <m:t>𝒏</m:t>
                              </m:r>
                            </m:e>
                            <m:sub>
                              <m:r>
                                <a:rPr lang="zh-CN" altLang="en-US" sz="2400" b="1" i="1">
                                  <a:solidFill>
                                    <a:srgbClr val="00B050"/>
                                  </a:solidFill>
                                  <a:latin typeface="Cambria Math" panose="02040503050406030204" pitchFamily="18" charset="0"/>
                                </a:rPr>
                                <m:t>𝟏</m:t>
                              </m:r>
                            </m:sub>
                          </m:sSub>
                        </m:den>
                      </m:f>
                      <m:r>
                        <a:rPr lang="zh-CN" altLang="en-US" sz="2400" b="1" i="1">
                          <a:solidFill>
                            <a:srgbClr val="00B050"/>
                          </a:solidFill>
                          <a:latin typeface="Cambria Math" panose="02040503050406030204" pitchFamily="18" charset="0"/>
                        </a:rPr>
                        <m:t>)</m:t>
                      </m:r>
                    </m:oMath>
                  </m:oMathPara>
                </a14:m>
                <a:endParaRPr lang="zh-CN" altLang="en-US" sz="2400" b="1" dirty="0">
                  <a:solidFill>
                    <a:srgbClr val="00B050"/>
                  </a:solidFill>
                </a:endParaRPr>
              </a:p>
            </p:txBody>
          </p:sp>
        </mc:Choice>
        <mc:Fallback xmlns="">
          <p:sp>
            <p:nvSpPr>
              <p:cNvPr id="17" name="Object 5"/>
              <p:cNvSpPr txBox="1">
                <a:spLocks noRot="1" noChangeAspect="1" noMove="1" noResize="1" noEditPoints="1" noAdjustHandles="1" noChangeArrowheads="1" noChangeShapeType="1" noTextEdit="1"/>
              </p:cNvSpPr>
              <p:nvPr/>
            </p:nvSpPr>
            <p:spPr bwMode="auto">
              <a:xfrm>
                <a:off x="1531938" y="5166574"/>
                <a:ext cx="3189287" cy="1463893"/>
              </a:xfrm>
              <a:prstGeom prst="rect">
                <a:avLst/>
              </a:prstGeom>
              <a:blipFill>
                <a:blip r:embed="rId6"/>
                <a:stretch>
                  <a:fillRect b="-2500"/>
                </a:stretch>
              </a:blipFill>
              <a:ln>
                <a:noFill/>
              </a:ln>
              <a:effectLst/>
              <a:extLst/>
            </p:spPr>
            <p:txBody>
              <a:bodyPr/>
              <a:lstStyle/>
              <a:p>
                <a:r>
                  <a:rPr lang="zh-CN" altLang="en-US">
                    <a:noFill/>
                  </a:rPr>
                  <a:t> </a:t>
                </a:r>
              </a:p>
            </p:txBody>
          </p:sp>
        </mc:Fallback>
      </mc:AlternateContent>
      <p:pic>
        <p:nvPicPr>
          <p:cNvPr id="5" name="图片 4"/>
          <p:cNvPicPr>
            <a:picLocks noChangeAspect="1"/>
          </p:cNvPicPr>
          <p:nvPr/>
        </p:nvPicPr>
        <p:blipFill>
          <a:blip r:embed="rId7"/>
          <a:stretch>
            <a:fillRect/>
          </a:stretch>
        </p:blipFill>
        <p:spPr>
          <a:xfrm>
            <a:off x="5927812" y="4038599"/>
            <a:ext cx="2486025" cy="2799989"/>
          </a:xfrm>
          <a:prstGeom prst="rect">
            <a:avLst/>
          </a:prstGeom>
        </p:spPr>
      </p:pic>
      <p:sp>
        <p:nvSpPr>
          <p:cNvPr id="6" name="矩形 5">
            <a:extLst>
              <a:ext uri="{FF2B5EF4-FFF2-40B4-BE49-F238E27FC236}">
                <a16:creationId xmlns:a16="http://schemas.microsoft.com/office/drawing/2014/main" id="{906793BF-3DF7-4704-B7D3-1FB07F63C3B9}"/>
              </a:ext>
            </a:extLst>
          </p:cNvPr>
          <p:cNvSpPr/>
          <p:nvPr/>
        </p:nvSpPr>
        <p:spPr>
          <a:xfrm>
            <a:off x="380546" y="3387786"/>
            <a:ext cx="5229317" cy="576248"/>
          </a:xfrm>
          <a:prstGeom prst="rect">
            <a:avLst/>
          </a:prstGeom>
        </p:spPr>
        <p:txBody>
          <a:bodyPr wrap="none">
            <a:spAutoFit/>
          </a:bodyPr>
          <a:lstStyle/>
          <a:p>
            <a:pPr>
              <a:lnSpc>
                <a:spcPct val="150000"/>
              </a:lnSpc>
              <a:spcBef>
                <a:spcPct val="50000"/>
              </a:spcBef>
            </a:pPr>
            <a:r>
              <a:rPr lang="zh-CN" altLang="en-US" sz="2400" dirty="0">
                <a:solidFill>
                  <a:srgbClr val="00B0F0"/>
                </a:solidFill>
                <a:latin typeface="Times New Roman" panose="02020603050405020304" pitchFamily="18" charset="0"/>
                <a:ea typeface="楷体" panose="02010609060101010101" pitchFamily="49" charset="-122"/>
              </a:rPr>
              <a:t>入射角</a:t>
            </a:r>
            <a:r>
              <a:rPr lang="el-GR" altLang="zh-CN" sz="2400" i="1" dirty="0">
                <a:solidFill>
                  <a:srgbClr val="00B0F0"/>
                </a:solidFill>
                <a:latin typeface="Times New Roman" panose="02020603050405020304" pitchFamily="18" charset="0"/>
                <a:ea typeface="楷体" panose="02010609060101010101" pitchFamily="49" charset="-122"/>
              </a:rPr>
              <a:t>θ</a:t>
            </a:r>
            <a:r>
              <a:rPr lang="en-US" altLang="zh-CN" sz="2400" i="1" baseline="-25000" dirty="0" err="1">
                <a:solidFill>
                  <a:srgbClr val="00B0F0"/>
                </a:solidFill>
                <a:latin typeface="Times New Roman" panose="02020603050405020304" pitchFamily="18" charset="0"/>
                <a:ea typeface="楷体" panose="02010609060101010101" pitchFamily="49" charset="-122"/>
              </a:rPr>
              <a:t>i</a:t>
            </a:r>
            <a:r>
              <a:rPr lang="zh-CN" altLang="en-US" sz="2400" dirty="0">
                <a:solidFill>
                  <a:srgbClr val="00B0F0"/>
                </a:solidFill>
                <a:latin typeface="Times New Roman" panose="02020603050405020304" pitchFamily="18" charset="0"/>
                <a:ea typeface="楷体" panose="02010609060101010101" pitchFamily="49" charset="-122"/>
              </a:rPr>
              <a:t>增大时，折射角</a:t>
            </a:r>
            <a:r>
              <a:rPr lang="el-GR" altLang="zh-CN" sz="2400" i="1" dirty="0">
                <a:solidFill>
                  <a:srgbClr val="00B0F0"/>
                </a:solidFill>
                <a:latin typeface="Times New Roman" panose="02020603050405020304" pitchFamily="18" charset="0"/>
                <a:ea typeface="楷体" panose="02010609060101010101" pitchFamily="49" charset="-122"/>
              </a:rPr>
              <a:t>θ</a:t>
            </a:r>
            <a:r>
              <a:rPr lang="en-US" altLang="zh-CN" sz="2400" i="1" baseline="-25000" dirty="0">
                <a:solidFill>
                  <a:srgbClr val="00B0F0"/>
                </a:solidFill>
                <a:latin typeface="Times New Roman" panose="02020603050405020304" pitchFamily="18" charset="0"/>
                <a:ea typeface="楷体" panose="02010609060101010101" pitchFamily="49" charset="-122"/>
              </a:rPr>
              <a:t>r</a:t>
            </a:r>
            <a:r>
              <a:rPr lang="zh-CN" altLang="en-US" sz="2400" dirty="0">
                <a:solidFill>
                  <a:srgbClr val="00B0F0"/>
                </a:solidFill>
                <a:latin typeface="Times New Roman" panose="02020603050405020304" pitchFamily="18" charset="0"/>
                <a:ea typeface="楷体" panose="02010609060101010101" pitchFamily="49" charset="-122"/>
              </a:rPr>
              <a:t>也随之增大</a:t>
            </a:r>
            <a:endParaRPr lang="en-US" altLang="zh-CN" sz="2400" dirty="0">
              <a:solidFill>
                <a:srgbClr val="00B0F0"/>
              </a:solidFill>
              <a:latin typeface="Times New Roman" panose="02020603050405020304" pitchFamily="18" charset="0"/>
              <a:ea typeface="楷体" panose="02010609060101010101" pitchFamily="49" charset="-122"/>
            </a:endParaRPr>
          </a:p>
        </p:txBody>
      </p:sp>
      <p:sp>
        <p:nvSpPr>
          <p:cNvPr id="14" name="Text Box 4">
            <a:extLst>
              <a:ext uri="{FF2B5EF4-FFF2-40B4-BE49-F238E27FC236}">
                <a16:creationId xmlns:a16="http://schemas.microsoft.com/office/drawing/2014/main" id="{23552950-2783-4146-8684-D87AE3313396}"/>
              </a:ext>
            </a:extLst>
          </p:cNvPr>
          <p:cNvSpPr txBox="1">
            <a:spLocks noChangeArrowheads="1"/>
          </p:cNvSpPr>
          <p:nvPr/>
        </p:nvSpPr>
        <p:spPr bwMode="auto">
          <a:xfrm>
            <a:off x="395287" y="125814"/>
            <a:ext cx="83534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b="1" dirty="0">
                <a:solidFill>
                  <a:srgbClr val="FF0000"/>
                </a:solidFill>
                <a:latin typeface="黑体" panose="02010609060101010101" pitchFamily="49" charset="-122"/>
                <a:ea typeface="黑体" panose="02010609060101010101" pitchFamily="49" charset="-122"/>
              </a:rPr>
              <a:t>2 </a:t>
            </a:r>
            <a:r>
              <a:rPr kumimoji="0" lang="zh-CN" altLang="en-US" b="1" dirty="0">
                <a:solidFill>
                  <a:srgbClr val="FF0000"/>
                </a:solidFill>
                <a:latin typeface="黑体" panose="02010609060101010101" pitchFamily="49" charset="-122"/>
                <a:ea typeface="黑体" panose="02010609060101010101" pitchFamily="49" charset="-122"/>
              </a:rPr>
              <a:t>光纤传光原理</a:t>
            </a:r>
          </a:p>
        </p:txBody>
      </p:sp>
    </p:spTree>
  </p:cSld>
  <p:clrMapOvr>
    <a:masterClrMapping/>
  </p:clrMapOvr>
  <p:transition advTm="14750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7" name="Rectangle 3"/>
          <p:cNvSpPr>
            <a:spLocks noChangeArrowheads="1"/>
          </p:cNvSpPr>
          <p:nvPr/>
        </p:nvSpPr>
        <p:spPr bwMode="auto">
          <a:xfrm>
            <a:off x="4445000" y="3898900"/>
            <a:ext cx="552450" cy="2698750"/>
          </a:xfrm>
          <a:prstGeom prst="rect">
            <a:avLst/>
          </a:prstGeom>
          <a:noFill/>
          <a:ln w="12700">
            <a:noFill/>
            <a:miter lim="800000"/>
          </a:ln>
          <a:effectLst/>
        </p:spPr>
        <p:txBody>
          <a:bodyPr wrap="none" anchor="ctr">
            <a:flatTx/>
          </a:bodyPr>
          <a:lstStyle/>
          <a:p>
            <a:endParaRPr lang="zh-CN" altLang="en-US"/>
          </a:p>
        </p:txBody>
      </p:sp>
      <p:sp>
        <p:nvSpPr>
          <p:cNvPr id="513028" name="Rectangle 4"/>
          <p:cNvSpPr>
            <a:spLocks noChangeArrowheads="1"/>
          </p:cNvSpPr>
          <p:nvPr/>
        </p:nvSpPr>
        <p:spPr bwMode="auto">
          <a:xfrm>
            <a:off x="4357686" y="4159250"/>
            <a:ext cx="552450" cy="2698750"/>
          </a:xfrm>
          <a:prstGeom prst="rect">
            <a:avLst/>
          </a:prstGeom>
          <a:noFill/>
          <a:ln w="12700">
            <a:noFill/>
            <a:miter lim="800000"/>
          </a:ln>
          <a:effectLst/>
        </p:spPr>
        <p:txBody>
          <a:bodyPr wrap="none" anchor="ctr">
            <a:flatTx/>
          </a:bodyPr>
          <a:lstStyle/>
          <a:p>
            <a:endParaRPr lang="zh-CN" altLang="en-US"/>
          </a:p>
        </p:txBody>
      </p:sp>
      <p:sp>
        <p:nvSpPr>
          <p:cNvPr id="513148" name="Text Box 124"/>
          <p:cNvSpPr txBox="1">
            <a:spLocks noChangeArrowheads="1"/>
          </p:cNvSpPr>
          <p:nvPr/>
        </p:nvSpPr>
        <p:spPr bwMode="auto">
          <a:xfrm>
            <a:off x="1763713" y="6053138"/>
            <a:ext cx="1295400" cy="457200"/>
          </a:xfrm>
          <a:prstGeom prst="rect">
            <a:avLst/>
          </a:prstGeom>
          <a:noFill/>
          <a:ln w="9525">
            <a:noFill/>
            <a:miter lim="800000"/>
          </a:ln>
          <a:effectLst/>
        </p:spPr>
        <p:txBody>
          <a:bodyPr>
            <a:spAutoFit/>
          </a:bodyPr>
          <a:lstStyle/>
          <a:p>
            <a:pPr>
              <a:lnSpc>
                <a:spcPct val="100000"/>
              </a:lnSpc>
            </a:pPr>
            <a:endParaRPr kumimoji="1" lang="zh-CN" altLang="zh-CN" sz="2400">
              <a:latin typeface="Times New Roman" panose="02020603050405020304" pitchFamily="18" charset="0"/>
              <a:ea typeface="宋体" panose="02010600030101010101" pitchFamily="2" charset="-122"/>
            </a:endParaRPr>
          </a:p>
        </p:txBody>
      </p:sp>
      <p:sp>
        <p:nvSpPr>
          <p:cNvPr id="130" name="Line 3"/>
          <p:cNvSpPr>
            <a:spLocks noChangeShapeType="1"/>
          </p:cNvSpPr>
          <p:nvPr/>
        </p:nvSpPr>
        <p:spPr bwMode="auto">
          <a:xfrm>
            <a:off x="1331913" y="981075"/>
            <a:ext cx="7127875" cy="0"/>
          </a:xfrm>
          <a:prstGeom prst="line">
            <a:avLst/>
          </a:prstGeom>
          <a:noFill/>
          <a:ln w="9525">
            <a:solidFill>
              <a:srgbClr val="33CCCC"/>
            </a:solidFill>
            <a:round/>
          </a:ln>
        </p:spPr>
        <p:txBody>
          <a:bodyPr/>
          <a:lstStyle/>
          <a:p>
            <a:endParaRPr lang="zh-CN" altLang="en-US"/>
          </a:p>
        </p:txBody>
      </p:sp>
      <p:sp>
        <p:nvSpPr>
          <p:cNvPr id="131" name="Rectangle 8"/>
          <p:cNvSpPr>
            <a:spLocks noChangeArrowheads="1"/>
          </p:cNvSpPr>
          <p:nvPr/>
        </p:nvSpPr>
        <p:spPr bwMode="auto">
          <a:xfrm>
            <a:off x="1187450" y="223838"/>
            <a:ext cx="6099194" cy="556884"/>
          </a:xfrm>
          <a:prstGeom prst="rect">
            <a:avLst/>
          </a:prstGeom>
          <a:noFill/>
          <a:ln w="9525">
            <a:noFill/>
            <a:miter lim="800000"/>
          </a:ln>
        </p:spPr>
        <p:txBody>
          <a:bodyPr wrap="square">
            <a:spAutoFit/>
          </a:bodyPr>
          <a:lstStyle/>
          <a:p>
            <a:pPr>
              <a:lnSpc>
                <a:spcPct val="125000"/>
              </a:lnSpc>
              <a:spcBef>
                <a:spcPct val="50000"/>
              </a:spcBef>
              <a:buSzPct val="85000"/>
            </a:pPr>
            <a:r>
              <a:rPr lang="zh-CN" altLang="en-US" sz="2800" b="1" dirty="0">
                <a:solidFill>
                  <a:srgbClr val="0070C0"/>
                </a:solidFill>
                <a:latin typeface="黑体" panose="02010609060101010101" pitchFamily="49" charset="-122"/>
                <a:ea typeface="黑体" panose="02010609060101010101" pitchFamily="49" charset="-122"/>
                <a:sym typeface="黑体" panose="02010609060101010101" pitchFamily="49" charset="-122"/>
              </a:rPr>
              <a:t>斯奈尔定理</a:t>
            </a:r>
          </a:p>
        </p:txBody>
      </p:sp>
      <p:sp>
        <p:nvSpPr>
          <p:cNvPr id="16" name="Text Box 6"/>
          <p:cNvSpPr txBox="1">
            <a:spLocks noChangeArrowheads="1"/>
          </p:cNvSpPr>
          <p:nvPr/>
        </p:nvSpPr>
        <p:spPr bwMode="auto">
          <a:xfrm>
            <a:off x="250020" y="1613132"/>
            <a:ext cx="3987027" cy="166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ct val="50000"/>
              </a:spcBef>
            </a:pPr>
            <a:r>
              <a:rPr lang="zh-CN" altLang="en-US" sz="2400" dirty="0"/>
              <a:t>       </a:t>
            </a:r>
            <a:r>
              <a:rPr lang="zh-CN" altLang="en-US" sz="2400" dirty="0">
                <a:latin typeface="Times New Roman" panose="02020603050405020304" pitchFamily="18" charset="0"/>
              </a:rPr>
              <a:t>当</a:t>
            </a:r>
            <a:r>
              <a:rPr lang="el-GR" altLang="zh-CN" sz="2400" i="1" dirty="0">
                <a:latin typeface="Times New Roman" panose="02020603050405020304" pitchFamily="18" charset="0"/>
              </a:rPr>
              <a:t>θ</a:t>
            </a:r>
            <a:r>
              <a:rPr lang="en-US" altLang="zh-CN" sz="2400" i="1" baseline="-25000" dirty="0" err="1">
                <a:latin typeface="Times New Roman" panose="02020603050405020304" pitchFamily="18" charset="0"/>
              </a:rPr>
              <a:t>i</a:t>
            </a:r>
            <a:r>
              <a:rPr lang="en-US" altLang="zh-CN" sz="2400" i="1" baseline="-25000" dirty="0">
                <a:latin typeface="Times New Roman" panose="02020603050405020304" pitchFamily="18" charset="0"/>
              </a:rPr>
              <a:t> </a:t>
            </a:r>
            <a:r>
              <a:rPr lang="en-US" altLang="zh-CN" sz="2400" dirty="0">
                <a:latin typeface="Times New Roman" panose="02020603050405020304" pitchFamily="18" charset="0"/>
              </a:rPr>
              <a:t>&gt; </a:t>
            </a:r>
            <a:r>
              <a:rPr lang="el-GR" altLang="zh-CN" sz="2400" i="1" dirty="0">
                <a:latin typeface="Times New Roman" panose="02020603050405020304" pitchFamily="18" charset="0"/>
              </a:rPr>
              <a:t>θ</a:t>
            </a:r>
            <a:r>
              <a:rPr lang="en-US" altLang="zh-CN" sz="2400" i="1" baseline="-25000" dirty="0">
                <a:latin typeface="Times New Roman" panose="02020603050405020304" pitchFamily="18" charset="0"/>
              </a:rPr>
              <a:t>i0</a:t>
            </a:r>
            <a:r>
              <a:rPr lang="zh-CN" altLang="en-US" sz="2400" dirty="0">
                <a:latin typeface="Times New Roman" panose="02020603050405020304" pitchFamily="18" charset="0"/>
              </a:rPr>
              <a:t>时</a:t>
            </a:r>
            <a:r>
              <a:rPr lang="en-US" altLang="zh-CN" sz="2400" dirty="0">
                <a:latin typeface="Times New Roman" panose="02020603050405020304" pitchFamily="18" charset="0"/>
              </a:rPr>
              <a:t>,</a:t>
            </a:r>
            <a:r>
              <a:rPr lang="el-GR" altLang="zh-CN" sz="2400" i="1" dirty="0">
                <a:latin typeface="Times New Roman" panose="02020603050405020304" pitchFamily="18" charset="0"/>
              </a:rPr>
              <a:t>θ</a:t>
            </a:r>
            <a:r>
              <a:rPr lang="en-US" altLang="zh-CN" sz="2400" i="1" baseline="-25000" dirty="0">
                <a:latin typeface="Times New Roman" panose="02020603050405020304" pitchFamily="18" charset="0"/>
              </a:rPr>
              <a:t>r </a:t>
            </a:r>
            <a:r>
              <a:rPr lang="en-US" altLang="zh-CN" sz="2400" dirty="0">
                <a:latin typeface="Times New Roman" panose="02020603050405020304" pitchFamily="18" charset="0"/>
              </a:rPr>
              <a:t>&gt; 90</a:t>
            </a:r>
            <a:r>
              <a:rPr lang="el-GR" altLang="zh-CN" sz="2400" baseline="30000" dirty="0">
                <a:latin typeface="Times New Roman" panose="02020603050405020304" pitchFamily="18" charset="0"/>
              </a:rPr>
              <a:t>°</a:t>
            </a:r>
            <a:r>
              <a:rPr lang="zh-CN" altLang="en-US" sz="2400" dirty="0">
                <a:latin typeface="Times New Roman" panose="02020603050405020304" pitchFamily="18" charset="0"/>
              </a:rPr>
              <a:t>，发生全反射现象，其出射光不再折射。</a:t>
            </a:r>
            <a:endParaRPr lang="zh-CN" altLang="el-GR" sz="2400" baseline="30000" dirty="0">
              <a:latin typeface="Times New Roman" panose="02020603050405020304" pitchFamily="18" charset="0"/>
            </a:endParaRPr>
          </a:p>
        </p:txBody>
      </p:sp>
      <p:sp>
        <p:nvSpPr>
          <p:cNvPr id="2" name="矩形 1">
            <a:extLst>
              <a:ext uri="{FF2B5EF4-FFF2-40B4-BE49-F238E27FC236}">
                <a16:creationId xmlns:a16="http://schemas.microsoft.com/office/drawing/2014/main" id="{1CDF54F2-1FB0-4B85-9251-4484964809BF}"/>
              </a:ext>
            </a:extLst>
          </p:cNvPr>
          <p:cNvSpPr/>
          <p:nvPr/>
        </p:nvSpPr>
        <p:spPr>
          <a:xfrm>
            <a:off x="291975" y="1147456"/>
            <a:ext cx="2040943" cy="461665"/>
          </a:xfrm>
          <a:prstGeom prst="rect">
            <a:avLst/>
          </a:prstGeom>
        </p:spPr>
        <p:txBody>
          <a:bodyPr wrap="none">
            <a:spAutoFit/>
          </a:bodyPr>
          <a:lstStyle/>
          <a:p>
            <a:r>
              <a:rPr lang="zh-CN" altLang="en-US" sz="2400" b="1" dirty="0">
                <a:solidFill>
                  <a:srgbClr val="FF0000"/>
                </a:solidFill>
              </a:rPr>
              <a:t>全反射状态</a:t>
            </a:r>
            <a:r>
              <a:rPr lang="zh-CN" altLang="en-US" sz="2400" b="1" dirty="0"/>
              <a:t>：</a:t>
            </a:r>
          </a:p>
        </p:txBody>
      </p:sp>
      <p:pic>
        <p:nvPicPr>
          <p:cNvPr id="5" name="图片 4">
            <a:extLst>
              <a:ext uri="{FF2B5EF4-FFF2-40B4-BE49-F238E27FC236}">
                <a16:creationId xmlns:a16="http://schemas.microsoft.com/office/drawing/2014/main" id="{E004E83F-5F93-4A2F-8877-7ED0E2A13125}"/>
              </a:ext>
            </a:extLst>
          </p:cNvPr>
          <p:cNvPicPr>
            <a:picLocks noChangeAspect="1"/>
          </p:cNvPicPr>
          <p:nvPr/>
        </p:nvPicPr>
        <p:blipFill>
          <a:blip r:embed="rId3"/>
          <a:stretch>
            <a:fillRect/>
          </a:stretch>
        </p:blipFill>
        <p:spPr>
          <a:xfrm>
            <a:off x="6023675" y="223838"/>
            <a:ext cx="2495550" cy="2419350"/>
          </a:xfrm>
          <a:prstGeom prst="rect">
            <a:avLst/>
          </a:prstGeom>
        </p:spPr>
      </p:pic>
      <p:sp>
        <p:nvSpPr>
          <p:cNvPr id="15" name="Rectangle 4">
            <a:extLst>
              <a:ext uri="{FF2B5EF4-FFF2-40B4-BE49-F238E27FC236}">
                <a16:creationId xmlns:a16="http://schemas.microsoft.com/office/drawing/2014/main" id="{3E634081-443B-4318-9B47-EFC2F49F6A03}"/>
              </a:ext>
            </a:extLst>
          </p:cNvPr>
          <p:cNvSpPr>
            <a:spLocks noChangeArrowheads="1"/>
          </p:cNvSpPr>
          <p:nvPr/>
        </p:nvSpPr>
        <p:spPr bwMode="auto">
          <a:xfrm>
            <a:off x="4357686" y="4202793"/>
            <a:ext cx="552450" cy="2698750"/>
          </a:xfrm>
          <a:prstGeom prst="rect">
            <a:avLst/>
          </a:prstGeom>
          <a:noFill/>
          <a:ln w="12700">
            <a:noFill/>
            <a:miter lim="800000"/>
          </a:ln>
          <a:effectLst/>
        </p:spPr>
        <p:txBody>
          <a:bodyPr wrap="none" anchor="ctr">
            <a:flatTx/>
          </a:bodyPr>
          <a:lstStyle/>
          <a:p>
            <a:endParaRPr lang="zh-CN" altLang="en-US"/>
          </a:p>
        </p:txBody>
      </p:sp>
      <p:pic>
        <p:nvPicPr>
          <p:cNvPr id="6" name="图片 5">
            <a:extLst>
              <a:ext uri="{FF2B5EF4-FFF2-40B4-BE49-F238E27FC236}">
                <a16:creationId xmlns:a16="http://schemas.microsoft.com/office/drawing/2014/main" id="{8532CF06-3C85-4401-8036-766E9F318373}"/>
              </a:ext>
            </a:extLst>
          </p:cNvPr>
          <p:cNvPicPr>
            <a:picLocks noChangeAspect="1"/>
          </p:cNvPicPr>
          <p:nvPr/>
        </p:nvPicPr>
        <p:blipFill>
          <a:blip r:embed="rId4"/>
          <a:stretch>
            <a:fillRect/>
          </a:stretch>
        </p:blipFill>
        <p:spPr>
          <a:xfrm>
            <a:off x="4236532" y="3154483"/>
            <a:ext cx="4826614" cy="3259532"/>
          </a:xfrm>
          <a:prstGeom prst="rect">
            <a:avLst/>
          </a:prstGeom>
        </p:spPr>
      </p:pic>
      <mc:AlternateContent xmlns:mc="http://schemas.openxmlformats.org/markup-compatibility/2006" xmlns:a14="http://schemas.microsoft.com/office/drawing/2010/main">
        <mc:Choice Requires="a14">
          <p:sp>
            <p:nvSpPr>
              <p:cNvPr id="18" name="Text Box 6">
                <a:extLst>
                  <a:ext uri="{FF2B5EF4-FFF2-40B4-BE49-F238E27FC236}">
                    <a16:creationId xmlns:a16="http://schemas.microsoft.com/office/drawing/2014/main" id="{BEA069D8-E3E2-4D18-8D0B-D45B0A473482}"/>
                  </a:ext>
                </a:extLst>
              </p:cNvPr>
              <p:cNvSpPr txBox="1">
                <a:spLocks noChangeArrowheads="1"/>
              </p:cNvSpPr>
              <p:nvPr/>
            </p:nvSpPr>
            <p:spPr bwMode="auto">
              <a:xfrm>
                <a:off x="283345" y="4635243"/>
                <a:ext cx="3987027" cy="131491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lnSpc>
                    <a:spcPct val="150000"/>
                  </a:lnSpc>
                  <a:spcBef>
                    <a:spcPct val="50000"/>
                  </a:spcBef>
                </a:pPr>
                <a:r>
                  <a:rPr lang="zh-CN" altLang="en-US" sz="2400" dirty="0">
                    <a:latin typeface="Times New Roman" panose="02020603050405020304" pitchFamily="18" charset="0"/>
                  </a:rPr>
                  <a:t>玻璃纤维</a:t>
                </a:r>
                <a:r>
                  <a:rPr lang="en-US" altLang="zh-CN" sz="2400" dirty="0">
                    <a:latin typeface="Times New Roman" panose="02020603050405020304" pitchFamily="18" charset="0"/>
                  </a:rPr>
                  <a:t>—</a:t>
                </a:r>
                <a:r>
                  <a:rPr lang="zh-CN" altLang="en-US" sz="2400" dirty="0">
                    <a:latin typeface="Times New Roman" panose="02020603050405020304" pitchFamily="18" charset="0"/>
                  </a:rPr>
                  <a:t>光密介质</a:t>
                </a:r>
                <a:r>
                  <a:rPr lang="en-US" altLang="zh-CN" sz="2400" dirty="0">
                    <a:latin typeface="Times New Roman" panose="02020603050405020304" pitchFamily="18" charset="0"/>
                  </a:rPr>
                  <a:t>—</a:t>
                </a:r>
                <a14:m>
                  <m:oMath xmlns:m="http://schemas.openxmlformats.org/officeDocument/2006/math">
                    <m:sSub>
                      <m:sSubPr>
                        <m:ctrlPr>
                          <a:rPr lang="zh-CN" altLang="en-US" sz="2400" b="1" i="1">
                            <a:solidFill>
                              <a:srgbClr val="00B050"/>
                            </a:solidFill>
                            <a:latin typeface="Cambria Math" panose="02040503050406030204" pitchFamily="18" charset="0"/>
                          </a:rPr>
                        </m:ctrlPr>
                      </m:sSubPr>
                      <m:e>
                        <m:r>
                          <a:rPr lang="zh-CN" altLang="en-US" sz="2400" b="1" i="1">
                            <a:solidFill>
                              <a:srgbClr val="00B050"/>
                            </a:solidFill>
                            <a:latin typeface="Cambria Math" panose="02040503050406030204" pitchFamily="18" charset="0"/>
                          </a:rPr>
                          <m:t>𝒏</m:t>
                        </m:r>
                      </m:e>
                      <m:sub>
                        <m:r>
                          <a:rPr lang="zh-CN" altLang="en-US" sz="2400" b="1" i="1">
                            <a:solidFill>
                              <a:srgbClr val="00B050"/>
                            </a:solidFill>
                            <a:latin typeface="Cambria Math" panose="02040503050406030204" pitchFamily="18" charset="0"/>
                          </a:rPr>
                          <m:t>𝟏</m:t>
                        </m:r>
                      </m:sub>
                    </m:sSub>
                  </m:oMath>
                </a14:m>
                <a:endParaRPr lang="en-US" altLang="zh-CN" sz="2400" dirty="0">
                  <a:latin typeface="Times New Roman" panose="02020603050405020304" pitchFamily="18" charset="0"/>
                </a:endParaRPr>
              </a:p>
              <a:p>
                <a:pPr>
                  <a:lnSpc>
                    <a:spcPct val="150000"/>
                  </a:lnSpc>
                  <a:spcBef>
                    <a:spcPct val="50000"/>
                  </a:spcBef>
                </a:pPr>
                <a:r>
                  <a:rPr lang="zh-CN" altLang="en-US" sz="2400" dirty="0">
                    <a:latin typeface="Times New Roman" panose="02020603050405020304" pitchFamily="18" charset="0"/>
                  </a:rPr>
                  <a:t>包层</a:t>
                </a:r>
                <a:r>
                  <a:rPr lang="en-US" altLang="zh-CN" sz="2400" dirty="0">
                    <a:latin typeface="Times New Roman" panose="02020603050405020304" pitchFamily="18" charset="0"/>
                  </a:rPr>
                  <a:t>——</a:t>
                </a:r>
                <a:r>
                  <a:rPr lang="zh-CN" altLang="en-US" sz="2400" dirty="0">
                    <a:latin typeface="Times New Roman" panose="02020603050405020304" pitchFamily="18" charset="0"/>
                  </a:rPr>
                  <a:t>光疏介质</a:t>
                </a:r>
                <a:r>
                  <a:rPr lang="en-US" altLang="zh-CN" sz="2400" dirty="0">
                    <a:latin typeface="Times New Roman" panose="02020603050405020304" pitchFamily="18" charset="0"/>
                  </a:rPr>
                  <a:t>——</a:t>
                </a:r>
                <a14:m>
                  <m:oMath xmlns:m="http://schemas.openxmlformats.org/officeDocument/2006/math">
                    <m:sSub>
                      <m:sSubPr>
                        <m:ctrlPr>
                          <a:rPr lang="zh-CN" altLang="en-US" sz="2400" b="1" i="1">
                            <a:solidFill>
                              <a:srgbClr val="00B050"/>
                            </a:solidFill>
                            <a:latin typeface="Cambria Math" panose="02040503050406030204" pitchFamily="18" charset="0"/>
                          </a:rPr>
                        </m:ctrlPr>
                      </m:sSubPr>
                      <m:e>
                        <m:r>
                          <a:rPr lang="zh-CN" altLang="en-US" sz="2400" b="1" i="1">
                            <a:solidFill>
                              <a:srgbClr val="00B050"/>
                            </a:solidFill>
                            <a:latin typeface="Cambria Math" panose="02040503050406030204" pitchFamily="18" charset="0"/>
                          </a:rPr>
                          <m:t>𝒏</m:t>
                        </m:r>
                      </m:e>
                      <m:sub>
                        <m:r>
                          <a:rPr lang="en-US" altLang="zh-CN" sz="2400" b="1" i="1" smtClean="0">
                            <a:solidFill>
                              <a:srgbClr val="00B050"/>
                            </a:solidFill>
                            <a:latin typeface="Cambria Math" panose="02040503050406030204" pitchFamily="18" charset="0"/>
                          </a:rPr>
                          <m:t>𝟐</m:t>
                        </m:r>
                      </m:sub>
                    </m:sSub>
                  </m:oMath>
                </a14:m>
                <a:endParaRPr lang="en-US" altLang="zh-CN" sz="2400" dirty="0">
                  <a:latin typeface="Times New Roman" panose="02020603050405020304" pitchFamily="18" charset="0"/>
                </a:endParaRPr>
              </a:p>
            </p:txBody>
          </p:sp>
        </mc:Choice>
        <mc:Fallback xmlns="">
          <p:sp>
            <p:nvSpPr>
              <p:cNvPr id="18" name="Text Box 6">
                <a:extLst>
                  <a:ext uri="{FF2B5EF4-FFF2-40B4-BE49-F238E27FC236}">
                    <a16:creationId xmlns:a16="http://schemas.microsoft.com/office/drawing/2014/main" id="{BEA069D8-E3E2-4D18-8D0B-D45B0A473482}"/>
                  </a:ext>
                </a:extLst>
              </p:cNvPr>
              <p:cNvSpPr txBox="1">
                <a:spLocks noRot="1" noChangeAspect="1" noMove="1" noResize="1" noEditPoints="1" noAdjustHandles="1" noChangeArrowheads="1" noChangeShapeType="1" noTextEdit="1"/>
              </p:cNvSpPr>
              <p:nvPr/>
            </p:nvSpPr>
            <p:spPr bwMode="auto">
              <a:xfrm>
                <a:off x="283345" y="4635243"/>
                <a:ext cx="3987027" cy="1314912"/>
              </a:xfrm>
              <a:prstGeom prst="rect">
                <a:avLst/>
              </a:prstGeom>
              <a:blipFill>
                <a:blip r:embed="rId5"/>
                <a:stretch>
                  <a:fillRect l="-2290" b="-1018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752F3F34-5D6B-4AFB-B336-61E26B8C1822}"/>
              </a:ext>
            </a:extLst>
          </p:cNvPr>
          <p:cNvSpPr/>
          <p:nvPr/>
        </p:nvSpPr>
        <p:spPr>
          <a:xfrm>
            <a:off x="291975" y="4155624"/>
            <a:ext cx="2646878" cy="461665"/>
          </a:xfrm>
          <a:prstGeom prst="rect">
            <a:avLst/>
          </a:prstGeom>
        </p:spPr>
        <p:txBody>
          <a:bodyPr wrap="none">
            <a:spAutoFit/>
          </a:bodyPr>
          <a:lstStyle/>
          <a:p>
            <a:r>
              <a:rPr lang="zh-CN" altLang="en-US" sz="2400" b="1" dirty="0">
                <a:solidFill>
                  <a:srgbClr val="FF0000"/>
                </a:solidFill>
              </a:rPr>
              <a:t>光纤的传光原理</a:t>
            </a:r>
            <a:r>
              <a:rPr lang="zh-CN" altLang="en-US" sz="2400" b="1" dirty="0"/>
              <a:t>：</a:t>
            </a:r>
          </a:p>
        </p:txBody>
      </p:sp>
    </p:spTree>
  </p:cSld>
  <p:clrMapOvr>
    <a:masterClrMapping/>
  </p:clrMapOvr>
  <p:transition advTm="1475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ppt_x"/>
                                          </p:val>
                                        </p:tav>
                                        <p:tav tm="100000">
                                          <p:val>
                                            <p:strVal val="#ppt_x"/>
                                          </p:val>
                                        </p:tav>
                                      </p:tavLst>
                                    </p:anim>
                                    <p:anim calcmode="lin" valueType="num">
                                      <p:cBhvr additive="base">
                                        <p:cTn id="1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3"/>
          <p:cNvSpPr>
            <a:spLocks noChangeArrowheads="1"/>
          </p:cNvSpPr>
          <p:nvPr/>
        </p:nvSpPr>
        <p:spPr bwMode="auto">
          <a:xfrm>
            <a:off x="1906779" y="4043890"/>
            <a:ext cx="6120100" cy="2236574"/>
          </a:xfrm>
          <a:prstGeom prst="rect">
            <a:avLst/>
          </a:prstGeom>
          <a:noFill/>
          <a:ln w="9525">
            <a:noFill/>
            <a:miter lim="800000"/>
          </a:ln>
        </p:spPr>
        <p:txBody>
          <a:bodyPr wrap="square" anchor="ctr">
            <a:spAutoFit/>
          </a:bodyPr>
          <a:lstStyle/>
          <a:p>
            <a:pPr marL="342900" indent="-342900">
              <a:lnSpc>
                <a:spcPct val="150000"/>
              </a:lnSpc>
              <a:buFont typeface="Wingdings" panose="05000000000000000000" pitchFamily="2" charset="2"/>
              <a:buChar char="u"/>
            </a:pPr>
            <a:r>
              <a:rPr lang="zh-CN" altLang="en-US" sz="2400" dirty="0">
                <a:solidFill>
                  <a:srgbClr val="FF0000"/>
                </a:solidFill>
              </a:rPr>
              <a:t> </a:t>
            </a:r>
            <a:r>
              <a:rPr lang="zh-CN" altLang="en-US" sz="2400" dirty="0"/>
              <a:t>光纤呈圆柱形，通常由</a:t>
            </a:r>
            <a:r>
              <a:rPr lang="zh-CN" altLang="en-US" sz="2400" b="1" dirty="0">
                <a:solidFill>
                  <a:srgbClr val="0000FF"/>
                </a:solidFill>
              </a:rPr>
              <a:t>玻璃纤维芯</a:t>
            </a:r>
            <a:r>
              <a:rPr lang="zh-CN" altLang="en-US" sz="2400" dirty="0"/>
              <a:t>和</a:t>
            </a:r>
            <a:r>
              <a:rPr lang="zh-CN" altLang="en-US" sz="2400" b="1" dirty="0">
                <a:solidFill>
                  <a:srgbClr val="0000FF"/>
                </a:solidFill>
              </a:rPr>
              <a:t>玻璃包层</a:t>
            </a:r>
            <a:r>
              <a:rPr lang="zh-CN" altLang="en-US" sz="2400" dirty="0"/>
              <a:t>的双层结构组成。</a:t>
            </a:r>
            <a:endParaRPr lang="en-US" altLang="zh-CN" sz="2400" dirty="0"/>
          </a:p>
          <a:p>
            <a:pPr marL="342900" indent="-342900">
              <a:lnSpc>
                <a:spcPct val="150000"/>
              </a:lnSpc>
              <a:buFont typeface="Wingdings" panose="05000000000000000000" pitchFamily="2" charset="2"/>
              <a:buChar char="u"/>
            </a:pPr>
            <a:r>
              <a:rPr lang="zh-CN" altLang="en-US" sz="2400" dirty="0">
                <a:solidFill>
                  <a:srgbClr val="FF0000"/>
                </a:solidFill>
              </a:rPr>
              <a:t> </a:t>
            </a:r>
            <a:r>
              <a:rPr lang="zh-CN" altLang="en-US" sz="2400" dirty="0"/>
              <a:t>光在玻璃纤芯中以全反射模式传导</a:t>
            </a:r>
            <a:endParaRPr lang="en-US" altLang="zh-CN" sz="2400" dirty="0"/>
          </a:p>
          <a:p>
            <a:pPr marL="342900" indent="-342900">
              <a:lnSpc>
                <a:spcPct val="150000"/>
              </a:lnSpc>
              <a:buFont typeface="Wingdings" panose="05000000000000000000" pitchFamily="2" charset="2"/>
              <a:buChar char="u"/>
            </a:pPr>
            <a:r>
              <a:rPr lang="zh-CN" altLang="en-US" sz="2400" dirty="0">
                <a:solidFill>
                  <a:srgbClr val="FF0000"/>
                </a:solidFill>
              </a:rPr>
              <a:t> </a:t>
            </a:r>
            <a:r>
              <a:rPr lang="zh-CN" altLang="en-US" sz="2400" dirty="0"/>
              <a:t>再外加</a:t>
            </a:r>
            <a:r>
              <a:rPr lang="zh-CN" altLang="en-US" sz="2400" b="1" dirty="0">
                <a:solidFill>
                  <a:srgbClr val="0000FF"/>
                </a:solidFill>
              </a:rPr>
              <a:t>涂敷层</a:t>
            </a:r>
            <a:r>
              <a:rPr lang="zh-CN" altLang="en-US" sz="2400" dirty="0"/>
              <a:t>和</a:t>
            </a:r>
            <a:r>
              <a:rPr lang="zh-CN" altLang="en-US" sz="2400" b="1" dirty="0">
                <a:solidFill>
                  <a:srgbClr val="0000FF"/>
                </a:solidFill>
              </a:rPr>
              <a:t>尼龙外层</a:t>
            </a:r>
            <a:r>
              <a:rPr lang="zh-CN" altLang="en-US" sz="2400" dirty="0"/>
              <a:t>作为保护层　　</a:t>
            </a:r>
          </a:p>
        </p:txBody>
      </p:sp>
      <p:sp>
        <p:nvSpPr>
          <p:cNvPr id="2055" name="Rectangle 5"/>
          <p:cNvSpPr>
            <a:spLocks noChangeArrowheads="1"/>
          </p:cNvSpPr>
          <p:nvPr/>
        </p:nvSpPr>
        <p:spPr bwMode="auto">
          <a:xfrm>
            <a:off x="0" y="3319463"/>
            <a:ext cx="9144000" cy="0"/>
          </a:xfrm>
          <a:prstGeom prst="rect">
            <a:avLst/>
          </a:prstGeom>
          <a:noFill/>
          <a:ln w="9525">
            <a:noFill/>
            <a:miter lim="800000"/>
          </a:ln>
        </p:spPr>
        <p:txBody>
          <a:bodyPr wrap="none" anchor="ctr">
            <a:spAutoFit/>
          </a:bodyPr>
          <a:lstStyle/>
          <a:p>
            <a:endParaRPr lang="zh-CN" altLang="en-US"/>
          </a:p>
        </p:txBody>
      </p:sp>
      <p:sp>
        <p:nvSpPr>
          <p:cNvPr id="2056" name="Rectangle 7"/>
          <p:cNvSpPr>
            <a:spLocks noChangeArrowheads="1"/>
          </p:cNvSpPr>
          <p:nvPr/>
        </p:nvSpPr>
        <p:spPr bwMode="auto">
          <a:xfrm>
            <a:off x="0" y="3319463"/>
            <a:ext cx="9144000" cy="0"/>
          </a:xfrm>
          <a:prstGeom prst="rect">
            <a:avLst/>
          </a:prstGeom>
          <a:noFill/>
          <a:ln w="9525">
            <a:noFill/>
            <a:miter lim="800000"/>
          </a:ln>
        </p:spPr>
        <p:txBody>
          <a:bodyPr wrap="none" anchor="ctr">
            <a:spAutoFit/>
          </a:bodyPr>
          <a:lstStyle/>
          <a:p>
            <a:endParaRPr lang="zh-CN" altLang="en-US"/>
          </a:p>
        </p:txBody>
      </p:sp>
      <p:sp>
        <p:nvSpPr>
          <p:cNvPr id="14" name="Rectangle 8"/>
          <p:cNvSpPr>
            <a:spLocks noChangeArrowheads="1"/>
          </p:cNvSpPr>
          <p:nvPr/>
        </p:nvSpPr>
        <p:spPr bwMode="auto">
          <a:xfrm>
            <a:off x="539552" y="299094"/>
            <a:ext cx="6099194" cy="556884"/>
          </a:xfrm>
          <a:prstGeom prst="rect">
            <a:avLst/>
          </a:prstGeom>
          <a:noFill/>
          <a:ln w="9525">
            <a:noFill/>
            <a:miter lim="800000"/>
          </a:ln>
        </p:spPr>
        <p:txBody>
          <a:bodyPr wrap="square">
            <a:spAutoFit/>
          </a:bodyPr>
          <a:lstStyle/>
          <a:p>
            <a:pPr>
              <a:lnSpc>
                <a:spcPct val="125000"/>
              </a:lnSpc>
              <a:spcBef>
                <a:spcPct val="50000"/>
              </a:spcBef>
              <a:buSzPct val="85000"/>
            </a:pPr>
            <a:r>
              <a:rPr lang="zh-CN" altLang="en-US" sz="2800" b="1" dirty="0">
                <a:solidFill>
                  <a:srgbClr val="FF0000"/>
                </a:solidFill>
                <a:latin typeface="黑体" panose="02010609060101010101" pitchFamily="49" charset="-122"/>
                <a:ea typeface="黑体" panose="02010609060101010101" pitchFamily="49" charset="-122"/>
                <a:sym typeface="黑体" panose="02010609060101010101" pitchFamily="49" charset="-122"/>
              </a:rPr>
              <a:t>光纤结构</a:t>
            </a:r>
          </a:p>
        </p:txBody>
      </p:sp>
      <p:pic>
        <p:nvPicPr>
          <p:cNvPr id="3" name="图片 2">
            <a:extLst>
              <a:ext uri="{FF2B5EF4-FFF2-40B4-BE49-F238E27FC236}">
                <a16:creationId xmlns:a16="http://schemas.microsoft.com/office/drawing/2014/main" id="{F4A93650-C8C0-452C-9C66-7750BC922230}"/>
              </a:ext>
            </a:extLst>
          </p:cNvPr>
          <p:cNvPicPr>
            <a:picLocks noChangeAspect="1"/>
          </p:cNvPicPr>
          <p:nvPr/>
        </p:nvPicPr>
        <p:blipFill>
          <a:blip r:embed="rId3"/>
          <a:stretch>
            <a:fillRect/>
          </a:stretch>
        </p:blipFill>
        <p:spPr>
          <a:xfrm>
            <a:off x="1802248" y="1163779"/>
            <a:ext cx="6120101" cy="2697408"/>
          </a:xfrm>
          <a:prstGeom prst="rect">
            <a:avLst/>
          </a:prstGeom>
          <a:effectLst/>
          <a:scene3d>
            <a:camera prst="orthographicFront"/>
            <a:lightRig rig="threePt" dir="t"/>
          </a:scene3d>
          <a:sp3d>
            <a:bevelT/>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A45CBE1-1890-47EE-9533-BE4F5D7A30A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8195" name="Rectangle 3">
            <a:extLst>
              <a:ext uri="{FF2B5EF4-FFF2-40B4-BE49-F238E27FC236}">
                <a16:creationId xmlns:a16="http://schemas.microsoft.com/office/drawing/2014/main" id="{BDDE7954-6187-490D-8FEE-FC15927641B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8196" name="Text Box 4">
            <a:extLst>
              <a:ext uri="{FF2B5EF4-FFF2-40B4-BE49-F238E27FC236}">
                <a16:creationId xmlns:a16="http://schemas.microsoft.com/office/drawing/2014/main" id="{1790C2CB-B161-4AD5-8A1E-688DC59C8DD5}"/>
              </a:ext>
            </a:extLst>
          </p:cNvPr>
          <p:cNvSpPr txBox="1">
            <a:spLocks noChangeArrowheads="1"/>
          </p:cNvSpPr>
          <p:nvPr/>
        </p:nvSpPr>
        <p:spPr bwMode="auto">
          <a:xfrm>
            <a:off x="358775" y="215639"/>
            <a:ext cx="8353425"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defRPr/>
            </a:pPr>
            <a:r>
              <a:rPr kumimoji="0" lang="en-US" altLang="zh-CN" b="1" dirty="0">
                <a:solidFill>
                  <a:srgbClr val="FF0000"/>
                </a:solidFill>
                <a:latin typeface="黑体" panose="02010609060101010101" pitchFamily="49" charset="-122"/>
                <a:ea typeface="黑体" panose="02010609060101010101" pitchFamily="49" charset="-122"/>
              </a:rPr>
              <a:t>3 </a:t>
            </a:r>
            <a:r>
              <a:rPr kumimoji="0" lang="zh-CN" altLang="en-US" b="1" dirty="0">
                <a:solidFill>
                  <a:srgbClr val="FF0000"/>
                </a:solidFill>
                <a:latin typeface="黑体" panose="02010609060101010101" pitchFamily="49" charset="-122"/>
                <a:ea typeface="黑体" panose="02010609060101010101" pitchFamily="49" charset="-122"/>
              </a:rPr>
              <a:t>光纤传感器结构原理及分类</a:t>
            </a:r>
            <a:endParaRPr kumimoji="0" lang="zh-CN" altLang="en-US" sz="2800" b="1" dirty="0">
              <a:solidFill>
                <a:schemeClr val="accent1">
                  <a:lumMod val="50000"/>
                </a:schemeClr>
              </a:solidFill>
              <a:latin typeface="黑体" panose="02010609060101010101" pitchFamily="49" charset="-122"/>
              <a:ea typeface="黑体" panose="02010609060101010101" pitchFamily="49" charset="-122"/>
            </a:endParaRPr>
          </a:p>
        </p:txBody>
      </p:sp>
      <p:graphicFrame>
        <p:nvGraphicFramePr>
          <p:cNvPr id="8197" name="Object 5">
            <a:extLst>
              <a:ext uri="{FF2B5EF4-FFF2-40B4-BE49-F238E27FC236}">
                <a16:creationId xmlns:a16="http://schemas.microsoft.com/office/drawing/2014/main" id="{BB0287A4-62C1-4CBC-9735-5DAB7B2A15E3}"/>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8218" name="Equation" r:id="rId3" imgW="435285" imgH="677109" progId="Equation.DSMT4">
                  <p:embed/>
                </p:oleObj>
              </mc:Choice>
              <mc:Fallback>
                <p:oleObj name="Equation" r:id="rId3" imgW="435285" imgH="67710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8" name="Rectangle 6">
            <a:extLst>
              <a:ext uri="{FF2B5EF4-FFF2-40B4-BE49-F238E27FC236}">
                <a16:creationId xmlns:a16="http://schemas.microsoft.com/office/drawing/2014/main" id="{5508663A-0BBE-424C-92AA-9FADC722A771}"/>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latin typeface="楷体_GB2312" pitchFamily="49" charset="-122"/>
                <a:ea typeface="楷体_GB2312" pitchFamily="49" charset="-122"/>
                <a:cs typeface="Times New Roman" panose="02020603050405020304" pitchFamily="18" charset="0"/>
              </a:rPr>
              <a:t>：</a:t>
            </a:r>
            <a:endParaRPr kumimoji="0" lang="zh-CN" altLang="en-US" sz="1100">
              <a:latin typeface="楷体_GB2312" pitchFamily="49" charset="-122"/>
              <a:ea typeface="楷体_GB2312" pitchFamily="49" charset="-122"/>
              <a:cs typeface="Times New Roman" panose="02020603050405020304" pitchFamily="18" charset="0"/>
            </a:endParaRPr>
          </a:p>
          <a:p>
            <a:pPr>
              <a:spcBef>
                <a:spcPct val="0"/>
              </a:spcBef>
              <a:buFontTx/>
              <a:buNone/>
            </a:pPr>
            <a:endParaRPr kumimoji="0" lang="en-US" altLang="zh-CN" sz="1800">
              <a:latin typeface="楷体_GB2312" pitchFamily="49" charset="-122"/>
              <a:ea typeface="楷体_GB2312" pitchFamily="49" charset="-122"/>
              <a:cs typeface="Times New Roman" panose="02020603050405020304" pitchFamily="18" charset="0"/>
            </a:endParaRPr>
          </a:p>
        </p:txBody>
      </p:sp>
      <p:pic>
        <p:nvPicPr>
          <p:cNvPr id="8201" name="Picture 3" descr="ColorLinea.gif (4491 bytes)">
            <a:extLst>
              <a:ext uri="{FF2B5EF4-FFF2-40B4-BE49-F238E27FC236}">
                <a16:creationId xmlns:a16="http://schemas.microsoft.com/office/drawing/2014/main" id="{F38C8042-44B4-4AB7-BD0F-E918EF729BEA}"/>
              </a:ext>
            </a:extLst>
          </p:cNvPr>
          <p:cNvPicPr preferRelativeResize="0">
            <a:picLocks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0163" y="1217613"/>
            <a:ext cx="9174163"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10">
            <a:extLst>
              <a:ext uri="{FF2B5EF4-FFF2-40B4-BE49-F238E27FC236}">
                <a16:creationId xmlns:a16="http://schemas.microsoft.com/office/drawing/2014/main" id="{FB62C601-258C-4F52-B378-7151A062AD6B}"/>
              </a:ext>
            </a:extLst>
          </p:cNvPr>
          <p:cNvSpPr txBox="1">
            <a:spLocks noChangeArrowheads="1"/>
          </p:cNvSpPr>
          <p:nvPr/>
        </p:nvSpPr>
        <p:spPr bwMode="auto">
          <a:xfrm>
            <a:off x="755650" y="4860691"/>
            <a:ext cx="7843838"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zh-CN" altLang="en-US" sz="2400" b="1" dirty="0">
                <a:solidFill>
                  <a:srgbClr val="FF0000"/>
                </a:solidFill>
                <a:ea typeface="楷体_GB2312" pitchFamily="49" charset="-122"/>
              </a:rPr>
              <a:t>光纤传感器</a:t>
            </a:r>
            <a:r>
              <a:rPr kumimoji="0" lang="zh-CN" altLang="en-US" sz="2400" b="1" dirty="0">
                <a:ea typeface="楷体_GB2312" pitchFamily="49" charset="-122"/>
              </a:rPr>
              <a:t>：把被测量的状态转换成可测的光信号的装置。</a:t>
            </a:r>
          </a:p>
          <a:p>
            <a:pPr eaLnBrk="1" hangingPunct="1">
              <a:lnSpc>
                <a:spcPct val="130000"/>
              </a:lnSpc>
              <a:spcBef>
                <a:spcPct val="50000"/>
              </a:spcBef>
              <a:buFontTx/>
              <a:buNone/>
            </a:pPr>
            <a:r>
              <a:rPr kumimoji="0" lang="zh-CN" altLang="en-US" sz="2400" b="1" dirty="0">
                <a:ea typeface="楷体_GB2312" pitchFamily="49" charset="-122"/>
              </a:rPr>
              <a:t>由光发送器、敏感元件（光纤或非光纤）、光接收器、信号处理系统以及光纤构成。</a:t>
            </a:r>
          </a:p>
        </p:txBody>
      </p:sp>
      <p:pic>
        <p:nvPicPr>
          <p:cNvPr id="11" name="Picture 11" descr="IMG_3911">
            <a:extLst>
              <a:ext uri="{FF2B5EF4-FFF2-40B4-BE49-F238E27FC236}">
                <a16:creationId xmlns:a16="http://schemas.microsoft.com/office/drawing/2014/main" id="{CA1C0C9C-DE4D-42F5-AC9D-3668CC983E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785" t="54387" r="6387" b="10938"/>
          <a:stretch>
            <a:fillRect/>
          </a:stretch>
        </p:blipFill>
        <p:spPr bwMode="auto">
          <a:xfrm>
            <a:off x="939007" y="2253191"/>
            <a:ext cx="7554912"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484A33DA-6B83-4B4C-B27F-C74D18F97806}"/>
              </a:ext>
            </a:extLst>
          </p:cNvPr>
          <p:cNvSpPr/>
          <p:nvPr/>
        </p:nvSpPr>
        <p:spPr>
          <a:xfrm>
            <a:off x="683568" y="1346532"/>
            <a:ext cx="2246128" cy="584775"/>
          </a:xfrm>
          <a:prstGeom prst="rect">
            <a:avLst/>
          </a:prstGeom>
        </p:spPr>
        <p:txBody>
          <a:bodyPr wrap="none">
            <a:spAutoFit/>
          </a:bodyPr>
          <a:lstStyle/>
          <a:p>
            <a:r>
              <a:rPr lang="en-US" altLang="zh-CN" sz="3200" b="1" dirty="0">
                <a:solidFill>
                  <a:schemeClr val="accent1">
                    <a:lumMod val="50000"/>
                  </a:schemeClr>
                </a:solidFill>
                <a:latin typeface="黑体" panose="02010609060101010101" pitchFamily="49" charset="-122"/>
                <a:ea typeface="黑体" panose="02010609060101010101" pitchFamily="49" charset="-122"/>
              </a:rPr>
              <a:t>1 </a:t>
            </a:r>
            <a:r>
              <a:rPr lang="zh-CN" altLang="en-US" sz="3200" b="1" dirty="0">
                <a:solidFill>
                  <a:schemeClr val="accent1">
                    <a:lumMod val="50000"/>
                  </a:schemeClr>
                </a:solidFill>
                <a:latin typeface="黑体" panose="02010609060101010101" pitchFamily="49" charset="-122"/>
                <a:ea typeface="黑体" panose="02010609060101010101" pitchFamily="49" charset="-122"/>
              </a:rPr>
              <a:t>结构原理</a:t>
            </a:r>
            <a:endParaRPr lang="zh-CN" altLang="en-US" sz="3200" dirty="0"/>
          </a:p>
        </p:txBody>
      </p:sp>
      <p:sp>
        <p:nvSpPr>
          <p:cNvPr id="12" name="Text Box 6">
            <a:extLst>
              <a:ext uri="{FF2B5EF4-FFF2-40B4-BE49-F238E27FC236}">
                <a16:creationId xmlns:a16="http://schemas.microsoft.com/office/drawing/2014/main" id="{B06F4B14-F526-4FAD-AA8A-E56FBA9066F1}"/>
              </a:ext>
            </a:extLst>
          </p:cNvPr>
          <p:cNvSpPr txBox="1">
            <a:spLocks noChangeArrowheads="1"/>
          </p:cNvSpPr>
          <p:nvPr/>
        </p:nvSpPr>
        <p:spPr bwMode="auto">
          <a:xfrm>
            <a:off x="4572000" y="4226669"/>
            <a:ext cx="4176017" cy="430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000" dirty="0">
                <a:solidFill>
                  <a:srgbClr val="FF0000"/>
                </a:solidFill>
                <a:ea typeface="楷体_GB2312" pitchFamily="49" charset="-122"/>
              </a:rPr>
              <a:t>传光型</a:t>
            </a:r>
            <a:r>
              <a:rPr kumimoji="0" lang="en-US" altLang="zh-CN" sz="2000" dirty="0">
                <a:solidFill>
                  <a:srgbClr val="FF0000"/>
                </a:solidFill>
                <a:ea typeface="楷体_GB2312" pitchFamily="49" charset="-122"/>
              </a:rPr>
              <a:t>(</a:t>
            </a:r>
            <a:r>
              <a:rPr kumimoji="0" lang="zh-CN" altLang="en-US" sz="2000" dirty="0">
                <a:solidFill>
                  <a:srgbClr val="FF0000"/>
                </a:solidFill>
                <a:ea typeface="楷体_GB2312" pitchFamily="49" charset="-122"/>
              </a:rPr>
              <a:t>非功能型</a:t>
            </a:r>
            <a:r>
              <a:rPr kumimoji="0" lang="en-US" altLang="zh-CN" sz="2000" dirty="0">
                <a:solidFill>
                  <a:srgbClr val="FF0000"/>
                </a:solidFill>
                <a:ea typeface="楷体_GB2312" pitchFamily="49" charset="-122"/>
              </a:rPr>
              <a:t>)</a:t>
            </a:r>
            <a:r>
              <a:rPr kumimoji="0" lang="zh-CN" altLang="en-US" sz="2000" dirty="0">
                <a:solidFill>
                  <a:srgbClr val="FF0000"/>
                </a:solidFill>
                <a:ea typeface="楷体_GB2312" pitchFamily="49" charset="-122"/>
              </a:rPr>
              <a:t>光纤传感器结构</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A6FFD27-E0BB-496F-9792-C1D4E99DCC2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0243" name="Rectangle 3">
            <a:extLst>
              <a:ext uri="{FF2B5EF4-FFF2-40B4-BE49-F238E27FC236}">
                <a16:creationId xmlns:a16="http://schemas.microsoft.com/office/drawing/2014/main" id="{A95CB7E2-352E-40F1-9CD3-68B176A7E24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0244" name="Text Box 4">
            <a:extLst>
              <a:ext uri="{FF2B5EF4-FFF2-40B4-BE49-F238E27FC236}">
                <a16:creationId xmlns:a16="http://schemas.microsoft.com/office/drawing/2014/main" id="{D9F8F61D-68B3-4571-A655-D87E85E0E5E9}"/>
              </a:ext>
            </a:extLst>
          </p:cNvPr>
          <p:cNvSpPr txBox="1">
            <a:spLocks noChangeArrowheads="1"/>
          </p:cNvSpPr>
          <p:nvPr/>
        </p:nvSpPr>
        <p:spPr bwMode="auto">
          <a:xfrm>
            <a:off x="468313" y="1397210"/>
            <a:ext cx="21256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defRPr/>
            </a:pPr>
            <a:r>
              <a:rPr kumimoji="0" lang="en-US" altLang="zh-CN" b="1" dirty="0">
                <a:solidFill>
                  <a:schemeClr val="accent1">
                    <a:lumMod val="50000"/>
                  </a:schemeClr>
                </a:solidFill>
                <a:latin typeface="黑体" panose="02010609060101010101" pitchFamily="49" charset="-122"/>
                <a:ea typeface="黑体" panose="02010609060101010101" pitchFamily="49" charset="-122"/>
              </a:rPr>
              <a:t>3.2 </a:t>
            </a:r>
            <a:r>
              <a:rPr kumimoji="0" lang="zh-CN" altLang="en-US" b="1" dirty="0">
                <a:solidFill>
                  <a:schemeClr val="accent1">
                    <a:lumMod val="50000"/>
                  </a:schemeClr>
                </a:solidFill>
                <a:latin typeface="黑体" panose="02010609060101010101" pitchFamily="49" charset="-122"/>
                <a:ea typeface="黑体" panose="02010609060101010101" pitchFamily="49" charset="-122"/>
              </a:rPr>
              <a:t>分类</a:t>
            </a:r>
          </a:p>
        </p:txBody>
      </p:sp>
      <p:graphicFrame>
        <p:nvGraphicFramePr>
          <p:cNvPr id="10245" name="Object 5">
            <a:extLst>
              <a:ext uri="{FF2B5EF4-FFF2-40B4-BE49-F238E27FC236}">
                <a16:creationId xmlns:a16="http://schemas.microsoft.com/office/drawing/2014/main" id="{95766139-A5F0-4D6D-A4DD-29C1C3F4EE6D}"/>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10268" name="Equation" r:id="rId3" imgW="435285" imgH="677109" progId="Equation.DSMT4">
                  <p:embed/>
                </p:oleObj>
              </mc:Choice>
              <mc:Fallback>
                <p:oleObj name="Equation" r:id="rId3" imgW="435285" imgH="67710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6" name="Rectangle 6">
            <a:extLst>
              <a:ext uri="{FF2B5EF4-FFF2-40B4-BE49-F238E27FC236}">
                <a16:creationId xmlns:a16="http://schemas.microsoft.com/office/drawing/2014/main" id="{82073AC8-9839-4BD0-BB57-75BFF5622768}"/>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latin typeface="楷体_GB2312" pitchFamily="49" charset="-122"/>
                <a:ea typeface="楷体_GB2312" pitchFamily="49" charset="-122"/>
                <a:cs typeface="Times New Roman" panose="02020603050405020304" pitchFamily="18" charset="0"/>
              </a:rPr>
              <a:t>：</a:t>
            </a:r>
            <a:endParaRPr kumimoji="0" lang="zh-CN" altLang="en-US" sz="1100">
              <a:latin typeface="楷体_GB2312" pitchFamily="49" charset="-122"/>
              <a:ea typeface="楷体_GB2312" pitchFamily="49" charset="-122"/>
              <a:cs typeface="Times New Roman" panose="02020603050405020304" pitchFamily="18" charset="0"/>
            </a:endParaRPr>
          </a:p>
          <a:p>
            <a:pPr>
              <a:spcBef>
                <a:spcPct val="0"/>
              </a:spcBef>
              <a:buFontTx/>
              <a:buNone/>
            </a:pPr>
            <a:endParaRPr kumimoji="0" lang="en-US" altLang="zh-CN" sz="1800">
              <a:latin typeface="楷体_GB2312" pitchFamily="49" charset="-122"/>
              <a:ea typeface="楷体_GB2312" pitchFamily="49" charset="-122"/>
              <a:cs typeface="Times New Roman" panose="02020603050405020304" pitchFamily="18" charset="0"/>
            </a:endParaRPr>
          </a:p>
        </p:txBody>
      </p:sp>
      <p:sp>
        <p:nvSpPr>
          <p:cNvPr id="10247" name="Rectangle 7">
            <a:extLst>
              <a:ext uri="{FF2B5EF4-FFF2-40B4-BE49-F238E27FC236}">
                <a16:creationId xmlns:a16="http://schemas.microsoft.com/office/drawing/2014/main" id="{2F1F7991-082B-436F-856F-6278FFECC342}"/>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0248" name="Text Box 8">
            <a:extLst>
              <a:ext uri="{FF2B5EF4-FFF2-40B4-BE49-F238E27FC236}">
                <a16:creationId xmlns:a16="http://schemas.microsoft.com/office/drawing/2014/main" id="{8A12BDDA-115D-46B5-B614-C452DAC01891}"/>
              </a:ext>
            </a:extLst>
          </p:cNvPr>
          <p:cNvSpPr txBox="1">
            <a:spLocks noChangeArrowheads="1"/>
          </p:cNvSpPr>
          <p:nvPr/>
        </p:nvSpPr>
        <p:spPr bwMode="auto">
          <a:xfrm>
            <a:off x="611188" y="2427497"/>
            <a:ext cx="59055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800" dirty="0">
                <a:ea typeface="楷体_GB2312" pitchFamily="49" charset="-122"/>
              </a:rPr>
              <a:t>3.2.1 </a:t>
            </a:r>
            <a:r>
              <a:rPr kumimoji="0" lang="zh-CN" altLang="en-US" sz="2800" dirty="0">
                <a:ea typeface="楷体_GB2312" pitchFamily="49" charset="-122"/>
              </a:rPr>
              <a:t>根据光纤在传感器中的作用</a:t>
            </a:r>
          </a:p>
        </p:txBody>
      </p:sp>
      <p:sp>
        <p:nvSpPr>
          <p:cNvPr id="10249" name="Text Box 9">
            <a:extLst>
              <a:ext uri="{FF2B5EF4-FFF2-40B4-BE49-F238E27FC236}">
                <a16:creationId xmlns:a16="http://schemas.microsoft.com/office/drawing/2014/main" id="{C71DE03C-D20C-4FB4-AB14-80EC3FAA2F3F}"/>
              </a:ext>
            </a:extLst>
          </p:cNvPr>
          <p:cNvSpPr txBox="1">
            <a:spLocks noChangeArrowheads="1"/>
          </p:cNvSpPr>
          <p:nvPr/>
        </p:nvSpPr>
        <p:spPr bwMode="auto">
          <a:xfrm>
            <a:off x="468313" y="3415184"/>
            <a:ext cx="7993062" cy="3166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kumimoji="0" lang="en-US" altLang="zh-CN" sz="2400" b="1" dirty="0">
                <a:latin typeface="楷体_GB2312" pitchFamily="49" charset="-122"/>
                <a:ea typeface="楷体_GB2312" pitchFamily="49" charset="-122"/>
              </a:rPr>
              <a:t>①</a:t>
            </a:r>
            <a:r>
              <a:rPr kumimoji="0" lang="zh-CN" altLang="zh-CN" sz="2400" b="1" dirty="0">
                <a:solidFill>
                  <a:srgbClr val="FF0000"/>
                </a:solidFill>
                <a:latin typeface="楷体_GB2312" pitchFamily="49" charset="-122"/>
                <a:ea typeface="楷体_GB2312" pitchFamily="49" charset="-122"/>
              </a:rPr>
              <a:t>传感型光纤传感器</a:t>
            </a:r>
            <a:r>
              <a:rPr kumimoji="0" lang="en-US" altLang="zh-CN" sz="2400" b="1" dirty="0">
                <a:solidFill>
                  <a:srgbClr val="FF0000"/>
                </a:solidFill>
                <a:latin typeface="楷体_GB2312" pitchFamily="49" charset="-122"/>
                <a:ea typeface="楷体_GB2312" pitchFamily="49" charset="-122"/>
              </a:rPr>
              <a:t>(</a:t>
            </a:r>
            <a:r>
              <a:rPr kumimoji="0" lang="zh-CN" altLang="en-US" sz="2400" b="1" dirty="0">
                <a:solidFill>
                  <a:srgbClr val="FF0000"/>
                </a:solidFill>
                <a:latin typeface="楷体_GB2312" pitchFamily="49" charset="-122"/>
                <a:ea typeface="楷体_GB2312" pitchFamily="49" charset="-122"/>
              </a:rPr>
              <a:t>功能型</a:t>
            </a:r>
            <a:r>
              <a:rPr kumimoji="0" lang="en-US" altLang="zh-CN" sz="2400" b="1" dirty="0">
                <a:solidFill>
                  <a:srgbClr val="FF0000"/>
                </a:solidFill>
                <a:latin typeface="楷体_GB2312" pitchFamily="49" charset="-122"/>
                <a:ea typeface="楷体_GB2312" pitchFamily="49" charset="-122"/>
              </a:rPr>
              <a:t>)</a:t>
            </a:r>
            <a:endParaRPr kumimoji="0" lang="zh-CN" altLang="en-US" sz="2400" b="1" dirty="0">
              <a:solidFill>
                <a:srgbClr val="FF0000"/>
              </a:solidFill>
              <a:latin typeface="楷体_GB2312" pitchFamily="49" charset="-122"/>
              <a:ea typeface="楷体_GB2312" pitchFamily="49" charset="-122"/>
            </a:endParaRPr>
          </a:p>
          <a:p>
            <a:pPr eaLnBrk="1" hangingPunct="1">
              <a:lnSpc>
                <a:spcPct val="150000"/>
              </a:lnSpc>
              <a:spcBef>
                <a:spcPct val="50000"/>
              </a:spcBef>
              <a:buFontTx/>
              <a:buNone/>
            </a:pPr>
            <a:r>
              <a:rPr kumimoji="0" lang="zh-CN" altLang="en-US" sz="2400" dirty="0">
                <a:latin typeface="楷体_GB2312" pitchFamily="49" charset="-122"/>
                <a:ea typeface="楷体_GB2312" pitchFamily="49" charset="-122"/>
              </a:rPr>
              <a:t>●</a:t>
            </a:r>
            <a:r>
              <a:rPr kumimoji="0" lang="zh-CN" altLang="zh-CN" sz="2400" b="1" dirty="0">
                <a:latin typeface="楷体_GB2312" pitchFamily="49" charset="-122"/>
                <a:ea typeface="楷体_GB2312" pitchFamily="49" charset="-122"/>
              </a:rPr>
              <a:t>利用外界因素</a:t>
            </a:r>
            <a:r>
              <a:rPr kumimoji="0" lang="zh-CN" altLang="zh-CN" sz="2400" b="1" dirty="0">
                <a:highlight>
                  <a:srgbClr val="FFFF00"/>
                </a:highlight>
                <a:latin typeface="楷体_GB2312" pitchFamily="49" charset="-122"/>
                <a:ea typeface="楷体_GB2312" pitchFamily="49" charset="-122"/>
              </a:rPr>
              <a:t>改变光纤中光的特征参量</a:t>
            </a:r>
            <a:r>
              <a:rPr kumimoji="0" lang="zh-CN" altLang="zh-CN" sz="2400" b="1" dirty="0">
                <a:latin typeface="楷体_GB2312" pitchFamily="49" charset="-122"/>
                <a:ea typeface="楷体_GB2312" pitchFamily="49" charset="-122"/>
              </a:rPr>
              <a:t>，从而对外界因素进行计量和数据传输的，称为传感型光纤传感器；</a:t>
            </a:r>
            <a:endParaRPr kumimoji="0" lang="zh-CN" altLang="en-US" sz="2400" b="1" dirty="0">
              <a:latin typeface="楷体_GB2312" pitchFamily="49" charset="-122"/>
              <a:ea typeface="楷体_GB2312" pitchFamily="49" charset="-122"/>
            </a:endParaRPr>
          </a:p>
          <a:p>
            <a:pPr eaLnBrk="1" hangingPunct="1">
              <a:lnSpc>
                <a:spcPct val="150000"/>
              </a:lnSpc>
              <a:spcBef>
                <a:spcPct val="50000"/>
              </a:spcBef>
              <a:buFontTx/>
              <a:buNone/>
            </a:pPr>
            <a:r>
              <a:rPr kumimoji="0" lang="zh-CN" altLang="en-US" sz="2400" b="1" dirty="0">
                <a:latin typeface="楷体_GB2312" pitchFamily="49" charset="-122"/>
                <a:ea typeface="楷体_GB2312" pitchFamily="49" charset="-122"/>
              </a:rPr>
              <a:t>●</a:t>
            </a:r>
            <a:r>
              <a:rPr kumimoji="0" lang="zh-CN" altLang="zh-CN" sz="2400" b="1" dirty="0">
                <a:latin typeface="楷体_GB2312" pitchFamily="49" charset="-122"/>
                <a:ea typeface="楷体_GB2312" pitchFamily="49" charset="-122"/>
              </a:rPr>
              <a:t>具有</a:t>
            </a:r>
            <a:r>
              <a:rPr kumimoji="0" lang="zh-CN" altLang="en-US" sz="2400" b="1" dirty="0">
                <a:latin typeface="楷体_GB2312" pitchFamily="49" charset="-122"/>
                <a:ea typeface="楷体_GB2312" pitchFamily="49" charset="-122"/>
              </a:rPr>
              <a:t>传输</a:t>
            </a:r>
            <a:r>
              <a:rPr kumimoji="0" lang="zh-CN" altLang="zh-CN" sz="2400" b="1" dirty="0">
                <a:latin typeface="楷体_GB2312" pitchFamily="49" charset="-122"/>
                <a:ea typeface="楷体_GB2312" pitchFamily="49" charset="-122"/>
              </a:rPr>
              <a:t>传感合一的特点，</a:t>
            </a:r>
            <a:r>
              <a:rPr kumimoji="0" lang="zh-CN" altLang="zh-CN" sz="2400" b="1" dirty="0">
                <a:solidFill>
                  <a:srgbClr val="0000FF"/>
                </a:solidFill>
                <a:latin typeface="楷体_GB2312" pitchFamily="49" charset="-122"/>
                <a:ea typeface="楷体_GB2312" pitchFamily="49" charset="-122"/>
              </a:rPr>
              <a:t>信息的获取和传输都在光纤之中</a:t>
            </a:r>
            <a:r>
              <a:rPr kumimoji="0" lang="zh-CN" altLang="zh-CN" sz="2400" b="1" dirty="0">
                <a:latin typeface="楷体_GB2312" pitchFamily="49" charset="-122"/>
                <a:ea typeface="楷体_GB2312" pitchFamily="49" charset="-122"/>
              </a:rPr>
              <a:t>。</a:t>
            </a:r>
            <a:endParaRPr kumimoji="0" lang="zh-CN" altLang="en-US" sz="2400" b="1" dirty="0">
              <a:latin typeface="楷体_GB2312" pitchFamily="49" charset="-122"/>
              <a:ea typeface="楷体_GB2312" pitchFamily="49" charset="-122"/>
            </a:endParaRPr>
          </a:p>
        </p:txBody>
      </p:sp>
      <p:pic>
        <p:nvPicPr>
          <p:cNvPr id="10250" name="Picture 3" descr="ColorLinea.gif (4491 bytes)">
            <a:extLst>
              <a:ext uri="{FF2B5EF4-FFF2-40B4-BE49-F238E27FC236}">
                <a16:creationId xmlns:a16="http://schemas.microsoft.com/office/drawing/2014/main" id="{62BC9307-1F1F-4DFE-B43B-2AA0B2E19858}"/>
              </a:ext>
            </a:extLst>
          </p:cNvPr>
          <p:cNvPicPr preferRelativeResize="0">
            <a:picLocks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1750" y="1027113"/>
            <a:ext cx="9174163"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4">
            <a:extLst>
              <a:ext uri="{FF2B5EF4-FFF2-40B4-BE49-F238E27FC236}">
                <a16:creationId xmlns:a16="http://schemas.microsoft.com/office/drawing/2014/main" id="{40DFA201-10F4-4653-805E-ADEAFFC36913}"/>
              </a:ext>
            </a:extLst>
          </p:cNvPr>
          <p:cNvSpPr txBox="1">
            <a:spLocks noChangeArrowheads="1"/>
          </p:cNvSpPr>
          <p:nvPr/>
        </p:nvSpPr>
        <p:spPr bwMode="auto">
          <a:xfrm>
            <a:off x="358775" y="215639"/>
            <a:ext cx="8353425"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defRPr/>
            </a:pPr>
            <a:r>
              <a:rPr kumimoji="0" lang="en-US" altLang="zh-CN" b="1" dirty="0">
                <a:solidFill>
                  <a:srgbClr val="FF0000"/>
                </a:solidFill>
                <a:latin typeface="黑体" panose="02010609060101010101" pitchFamily="49" charset="-122"/>
                <a:ea typeface="黑体" panose="02010609060101010101" pitchFamily="49" charset="-122"/>
              </a:rPr>
              <a:t>3 </a:t>
            </a:r>
            <a:r>
              <a:rPr kumimoji="0" lang="zh-CN" altLang="en-US" b="1" dirty="0">
                <a:solidFill>
                  <a:srgbClr val="FF0000"/>
                </a:solidFill>
                <a:latin typeface="黑体" panose="02010609060101010101" pitchFamily="49" charset="-122"/>
                <a:ea typeface="黑体" panose="02010609060101010101" pitchFamily="49" charset="-122"/>
              </a:rPr>
              <a:t>光纤传感器结构原理及分类</a:t>
            </a:r>
            <a:endParaRPr kumimoji="0" lang="zh-CN" altLang="en-US" sz="2800" b="1" dirty="0">
              <a:solidFill>
                <a:schemeClr val="accent1">
                  <a:lumMod val="50000"/>
                </a:schemeClr>
              </a:solidFill>
              <a:latin typeface="黑体" panose="02010609060101010101" pitchFamily="49" charset="-122"/>
              <a:ea typeface="黑体" panose="02010609060101010101" pitchFamily="49" charset="-122"/>
            </a:endParaRPr>
          </a:p>
        </p:txBody>
      </p:sp>
      <p:pic>
        <p:nvPicPr>
          <p:cNvPr id="2" name="图片 1">
            <a:extLst>
              <a:ext uri="{FF2B5EF4-FFF2-40B4-BE49-F238E27FC236}">
                <a16:creationId xmlns:a16="http://schemas.microsoft.com/office/drawing/2014/main" id="{7BA33963-EFDE-4D88-A582-9CC8D5600AFB}"/>
              </a:ext>
            </a:extLst>
          </p:cNvPr>
          <p:cNvPicPr>
            <a:picLocks noChangeAspect="1"/>
          </p:cNvPicPr>
          <p:nvPr/>
        </p:nvPicPr>
        <p:blipFill>
          <a:blip r:embed="rId6"/>
          <a:stretch>
            <a:fillRect/>
          </a:stretch>
        </p:blipFill>
        <p:spPr>
          <a:xfrm>
            <a:off x="1426369" y="1358519"/>
            <a:ext cx="6076950" cy="202882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A6FFD27-E0BB-496F-9792-C1D4E99DCC2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0243" name="Rectangle 3">
            <a:extLst>
              <a:ext uri="{FF2B5EF4-FFF2-40B4-BE49-F238E27FC236}">
                <a16:creationId xmlns:a16="http://schemas.microsoft.com/office/drawing/2014/main" id="{A95CB7E2-352E-40F1-9CD3-68B176A7E24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aphicFrame>
        <p:nvGraphicFramePr>
          <p:cNvPr id="10245" name="Object 5">
            <a:extLst>
              <a:ext uri="{FF2B5EF4-FFF2-40B4-BE49-F238E27FC236}">
                <a16:creationId xmlns:a16="http://schemas.microsoft.com/office/drawing/2014/main" id="{95766139-A5F0-4D6D-A4DD-29C1C3F4EE6D}"/>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82952" name="Equation" r:id="rId3" imgW="435285" imgH="677109" progId="Equation.DSMT4">
                  <p:embed/>
                </p:oleObj>
              </mc:Choice>
              <mc:Fallback>
                <p:oleObj name="Equation" r:id="rId3" imgW="435285" imgH="677109" progId="Equation.DSMT4">
                  <p:embed/>
                  <p:pic>
                    <p:nvPicPr>
                      <p:cNvPr id="10245" name="Object 5">
                        <a:extLst>
                          <a:ext uri="{FF2B5EF4-FFF2-40B4-BE49-F238E27FC236}">
                            <a16:creationId xmlns:a16="http://schemas.microsoft.com/office/drawing/2014/main" id="{95766139-A5F0-4D6D-A4DD-29C1C3F4EE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6" name="Rectangle 6">
            <a:extLst>
              <a:ext uri="{FF2B5EF4-FFF2-40B4-BE49-F238E27FC236}">
                <a16:creationId xmlns:a16="http://schemas.microsoft.com/office/drawing/2014/main" id="{82073AC8-9839-4BD0-BB57-75BFF5622768}"/>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latin typeface="楷体_GB2312" pitchFamily="49" charset="-122"/>
                <a:ea typeface="楷体_GB2312" pitchFamily="49" charset="-122"/>
                <a:cs typeface="Times New Roman" panose="02020603050405020304" pitchFamily="18" charset="0"/>
              </a:rPr>
              <a:t>：</a:t>
            </a:r>
            <a:endParaRPr kumimoji="0" lang="zh-CN" altLang="en-US" sz="1100">
              <a:latin typeface="楷体_GB2312" pitchFamily="49" charset="-122"/>
              <a:ea typeface="楷体_GB2312" pitchFamily="49" charset="-122"/>
              <a:cs typeface="Times New Roman" panose="02020603050405020304" pitchFamily="18" charset="0"/>
            </a:endParaRPr>
          </a:p>
          <a:p>
            <a:pPr>
              <a:spcBef>
                <a:spcPct val="0"/>
              </a:spcBef>
              <a:buFontTx/>
              <a:buNone/>
            </a:pPr>
            <a:endParaRPr kumimoji="0" lang="en-US" altLang="zh-CN" sz="1800">
              <a:latin typeface="楷体_GB2312" pitchFamily="49" charset="-122"/>
              <a:ea typeface="楷体_GB2312" pitchFamily="49" charset="-122"/>
              <a:cs typeface="Times New Roman" panose="02020603050405020304" pitchFamily="18" charset="0"/>
            </a:endParaRPr>
          </a:p>
        </p:txBody>
      </p:sp>
      <p:sp>
        <p:nvSpPr>
          <p:cNvPr id="10247" name="Rectangle 7">
            <a:extLst>
              <a:ext uri="{FF2B5EF4-FFF2-40B4-BE49-F238E27FC236}">
                <a16:creationId xmlns:a16="http://schemas.microsoft.com/office/drawing/2014/main" id="{2F1F7991-082B-436F-856F-6278FFECC342}"/>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0248" name="Text Box 8">
            <a:extLst>
              <a:ext uri="{FF2B5EF4-FFF2-40B4-BE49-F238E27FC236}">
                <a16:creationId xmlns:a16="http://schemas.microsoft.com/office/drawing/2014/main" id="{8A12BDDA-115D-46B5-B614-C452DAC01891}"/>
              </a:ext>
            </a:extLst>
          </p:cNvPr>
          <p:cNvSpPr txBox="1">
            <a:spLocks noChangeArrowheads="1"/>
          </p:cNvSpPr>
          <p:nvPr/>
        </p:nvSpPr>
        <p:spPr bwMode="auto">
          <a:xfrm>
            <a:off x="485449" y="1235547"/>
            <a:ext cx="59055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800" dirty="0">
                <a:ea typeface="楷体_GB2312" pitchFamily="49" charset="-122"/>
              </a:rPr>
              <a:t>3.2.1 </a:t>
            </a:r>
            <a:r>
              <a:rPr kumimoji="0" lang="zh-CN" altLang="en-US" sz="2800" dirty="0">
                <a:ea typeface="楷体_GB2312" pitchFamily="49" charset="-122"/>
              </a:rPr>
              <a:t>根据光纤在传感器中的作用</a:t>
            </a:r>
          </a:p>
        </p:txBody>
      </p:sp>
      <p:pic>
        <p:nvPicPr>
          <p:cNvPr id="10250" name="Picture 3" descr="ColorLinea.gif (4491 bytes)">
            <a:extLst>
              <a:ext uri="{FF2B5EF4-FFF2-40B4-BE49-F238E27FC236}">
                <a16:creationId xmlns:a16="http://schemas.microsoft.com/office/drawing/2014/main" id="{62BC9307-1F1F-4DFE-B43B-2AA0B2E19858}"/>
              </a:ext>
            </a:extLst>
          </p:cNvPr>
          <p:cNvPicPr preferRelativeResize="0">
            <a:picLocks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1750" y="1027113"/>
            <a:ext cx="9174163"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4">
            <a:extLst>
              <a:ext uri="{FF2B5EF4-FFF2-40B4-BE49-F238E27FC236}">
                <a16:creationId xmlns:a16="http://schemas.microsoft.com/office/drawing/2014/main" id="{40DFA201-10F4-4653-805E-ADEAFFC36913}"/>
              </a:ext>
            </a:extLst>
          </p:cNvPr>
          <p:cNvSpPr txBox="1">
            <a:spLocks noChangeArrowheads="1"/>
          </p:cNvSpPr>
          <p:nvPr/>
        </p:nvSpPr>
        <p:spPr bwMode="auto">
          <a:xfrm>
            <a:off x="358775" y="215639"/>
            <a:ext cx="8353425"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defRPr/>
            </a:pPr>
            <a:r>
              <a:rPr kumimoji="0" lang="en-US" altLang="zh-CN" b="1" dirty="0">
                <a:solidFill>
                  <a:srgbClr val="FF0000"/>
                </a:solidFill>
                <a:latin typeface="黑体" panose="02010609060101010101" pitchFamily="49" charset="-122"/>
                <a:ea typeface="黑体" panose="02010609060101010101" pitchFamily="49" charset="-122"/>
              </a:rPr>
              <a:t>3 </a:t>
            </a:r>
            <a:r>
              <a:rPr kumimoji="0" lang="zh-CN" altLang="en-US" b="1" dirty="0">
                <a:solidFill>
                  <a:srgbClr val="FF0000"/>
                </a:solidFill>
                <a:latin typeface="黑体" panose="02010609060101010101" pitchFamily="49" charset="-122"/>
                <a:ea typeface="黑体" panose="02010609060101010101" pitchFamily="49" charset="-122"/>
              </a:rPr>
              <a:t>光纤传感器结构原理及分类</a:t>
            </a:r>
            <a:endParaRPr kumimoji="0" lang="zh-CN" altLang="en-US" sz="2800" b="1" dirty="0">
              <a:solidFill>
                <a:schemeClr val="accent1">
                  <a:lumMod val="50000"/>
                </a:schemeClr>
              </a:solidFill>
              <a:latin typeface="黑体" panose="02010609060101010101" pitchFamily="49" charset="-122"/>
              <a:ea typeface="黑体" panose="02010609060101010101" pitchFamily="49" charset="-122"/>
            </a:endParaRPr>
          </a:p>
        </p:txBody>
      </p:sp>
      <p:sp>
        <p:nvSpPr>
          <p:cNvPr id="12" name="Text Box 9">
            <a:extLst>
              <a:ext uri="{FF2B5EF4-FFF2-40B4-BE49-F238E27FC236}">
                <a16:creationId xmlns:a16="http://schemas.microsoft.com/office/drawing/2014/main" id="{2C54A6DA-6F18-47FF-B5B6-29F068BBD521}"/>
              </a:ext>
            </a:extLst>
          </p:cNvPr>
          <p:cNvSpPr txBox="1">
            <a:spLocks noChangeArrowheads="1"/>
          </p:cNvSpPr>
          <p:nvPr/>
        </p:nvSpPr>
        <p:spPr bwMode="auto">
          <a:xfrm>
            <a:off x="542642" y="5076825"/>
            <a:ext cx="3382962"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400" b="1" dirty="0">
                <a:solidFill>
                  <a:srgbClr val="FF0000"/>
                </a:solidFill>
                <a:latin typeface="楷体_GB2312" pitchFamily="49" charset="-122"/>
                <a:ea typeface="楷体_GB2312" pitchFamily="49" charset="-122"/>
              </a:rPr>
              <a:t>③</a:t>
            </a:r>
            <a:r>
              <a:rPr kumimoji="0" lang="zh-CN" altLang="en-US" sz="2400" b="1" dirty="0">
                <a:solidFill>
                  <a:srgbClr val="FF0000"/>
                </a:solidFill>
                <a:ea typeface="楷体_GB2312" pitchFamily="49" charset="-122"/>
              </a:rPr>
              <a:t>拾光型光纤传感器</a:t>
            </a:r>
          </a:p>
        </p:txBody>
      </p:sp>
      <p:sp>
        <p:nvSpPr>
          <p:cNvPr id="13" name="Text Box 10">
            <a:extLst>
              <a:ext uri="{FF2B5EF4-FFF2-40B4-BE49-F238E27FC236}">
                <a16:creationId xmlns:a16="http://schemas.microsoft.com/office/drawing/2014/main" id="{A0087569-A6FE-45A5-977F-1C3D5A0D2718}"/>
              </a:ext>
            </a:extLst>
          </p:cNvPr>
          <p:cNvSpPr txBox="1">
            <a:spLocks noChangeArrowheads="1"/>
          </p:cNvSpPr>
          <p:nvPr/>
        </p:nvSpPr>
        <p:spPr bwMode="auto">
          <a:xfrm>
            <a:off x="687104" y="5726112"/>
            <a:ext cx="7561263"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400" dirty="0">
                <a:latin typeface="楷体_GB2312" pitchFamily="49" charset="-122"/>
                <a:ea typeface="楷体_GB2312" pitchFamily="49" charset="-122"/>
              </a:rPr>
              <a:t>●</a:t>
            </a:r>
            <a:r>
              <a:rPr kumimoji="0" lang="zh-CN" altLang="en-US" sz="2400" b="1" dirty="0">
                <a:ea typeface="楷体_GB2312" pitchFamily="49" charset="-122"/>
              </a:rPr>
              <a:t>用光纤作为探头，接收由被测对象辐射的光或被其反射、散射的光。</a:t>
            </a:r>
          </a:p>
        </p:txBody>
      </p:sp>
      <p:sp>
        <p:nvSpPr>
          <p:cNvPr id="14" name="Text Box 11">
            <a:extLst>
              <a:ext uri="{FF2B5EF4-FFF2-40B4-BE49-F238E27FC236}">
                <a16:creationId xmlns:a16="http://schemas.microsoft.com/office/drawing/2014/main" id="{2363EA8B-A34D-47EB-B339-0C13862F8E57}"/>
              </a:ext>
            </a:extLst>
          </p:cNvPr>
          <p:cNvSpPr txBox="1">
            <a:spLocks noChangeArrowheads="1"/>
          </p:cNvSpPr>
          <p:nvPr/>
        </p:nvSpPr>
        <p:spPr bwMode="auto">
          <a:xfrm>
            <a:off x="463965" y="2351088"/>
            <a:ext cx="8353425" cy="22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kumimoji="0" lang="en-US" altLang="zh-CN" sz="2400" b="1" dirty="0">
                <a:solidFill>
                  <a:srgbClr val="FF0000"/>
                </a:solidFill>
                <a:latin typeface="楷体_GB2312" pitchFamily="49" charset="-122"/>
                <a:ea typeface="楷体_GB2312" pitchFamily="49" charset="-122"/>
              </a:rPr>
              <a:t>②</a:t>
            </a:r>
            <a:r>
              <a:rPr kumimoji="0" lang="zh-CN" altLang="zh-CN" sz="2400" b="1" dirty="0">
                <a:solidFill>
                  <a:srgbClr val="FF0000"/>
                </a:solidFill>
                <a:latin typeface="楷体_GB2312" pitchFamily="49" charset="-122"/>
                <a:ea typeface="楷体_GB2312" pitchFamily="49" charset="-122"/>
              </a:rPr>
              <a:t>传光型光纤传感器</a:t>
            </a:r>
            <a:r>
              <a:rPr kumimoji="0" lang="zh-CN" altLang="en-US" sz="2400" b="1" dirty="0">
                <a:solidFill>
                  <a:srgbClr val="FF0000"/>
                </a:solidFill>
                <a:latin typeface="楷体_GB2312" pitchFamily="49" charset="-122"/>
                <a:ea typeface="楷体_GB2312" pitchFamily="49" charset="-122"/>
              </a:rPr>
              <a:t>（非功能型）</a:t>
            </a:r>
          </a:p>
          <a:p>
            <a:pPr eaLnBrk="1" hangingPunct="1">
              <a:lnSpc>
                <a:spcPct val="150000"/>
              </a:lnSpc>
              <a:spcBef>
                <a:spcPts val="0"/>
              </a:spcBef>
              <a:buFontTx/>
              <a:buNone/>
            </a:pPr>
            <a:r>
              <a:rPr kumimoji="0" lang="zh-CN" altLang="en-US" sz="2400" dirty="0">
                <a:latin typeface="楷体_GB2312" pitchFamily="49" charset="-122"/>
                <a:ea typeface="楷体_GB2312" pitchFamily="49" charset="-122"/>
              </a:rPr>
              <a:t>●</a:t>
            </a:r>
            <a:r>
              <a:rPr kumimoji="0" lang="zh-CN" altLang="zh-CN" sz="2400" b="1" dirty="0">
                <a:latin typeface="楷体_GB2312" pitchFamily="49" charset="-122"/>
                <a:ea typeface="楷体_GB2312" pitchFamily="49" charset="-122"/>
              </a:rPr>
              <a:t>传光型光纤传感器是指利用其它敏感元件测得的特征量，由光纤进行数据传输；</a:t>
            </a:r>
            <a:endParaRPr kumimoji="0" lang="zh-CN" altLang="en-US" sz="2400" b="1" dirty="0">
              <a:latin typeface="楷体_GB2312" pitchFamily="49" charset="-122"/>
              <a:ea typeface="楷体_GB2312" pitchFamily="49" charset="-122"/>
            </a:endParaRPr>
          </a:p>
          <a:p>
            <a:pPr eaLnBrk="1" hangingPunct="1">
              <a:lnSpc>
                <a:spcPct val="150000"/>
              </a:lnSpc>
              <a:spcBef>
                <a:spcPts val="0"/>
              </a:spcBef>
              <a:buFontTx/>
              <a:buNone/>
            </a:pPr>
            <a:r>
              <a:rPr kumimoji="0" lang="zh-CN" altLang="en-US" sz="2400" b="1" dirty="0">
                <a:latin typeface="楷体_GB2312" pitchFamily="49" charset="-122"/>
                <a:ea typeface="楷体_GB2312" pitchFamily="49" charset="-122"/>
              </a:rPr>
              <a:t>●</a:t>
            </a:r>
            <a:r>
              <a:rPr kumimoji="0" lang="zh-CN" altLang="zh-CN" sz="2400" b="1" dirty="0">
                <a:latin typeface="楷体_GB2312" pitchFamily="49" charset="-122"/>
                <a:ea typeface="楷体_GB2312" pitchFamily="49" charset="-122"/>
              </a:rPr>
              <a:t>特点是充分利用现有的传感器，便于推广应用。</a:t>
            </a:r>
            <a:r>
              <a:rPr kumimoji="0" lang="zh-CN" altLang="en-US" sz="2400" b="1" dirty="0">
                <a:latin typeface="楷体_GB2312" pitchFamily="49" charset="-122"/>
                <a:ea typeface="楷体_GB2312" pitchFamily="49" charset="-122"/>
              </a:rPr>
              <a:t> </a:t>
            </a:r>
            <a:endParaRPr kumimoji="0" lang="zh-CN" altLang="zh-CN" sz="2400" b="1" dirty="0">
              <a:latin typeface="楷体_GB2312" pitchFamily="49" charset="-122"/>
              <a:ea typeface="楷体_GB2312" pitchFamily="49" charset="-122"/>
            </a:endParaRPr>
          </a:p>
        </p:txBody>
      </p:sp>
      <p:sp>
        <p:nvSpPr>
          <p:cNvPr id="15" name="Text Box 9">
            <a:extLst>
              <a:ext uri="{FF2B5EF4-FFF2-40B4-BE49-F238E27FC236}">
                <a16:creationId xmlns:a16="http://schemas.microsoft.com/office/drawing/2014/main" id="{89B20B9C-01A7-4003-8A6B-592F43C202D9}"/>
              </a:ext>
            </a:extLst>
          </p:cNvPr>
          <p:cNvSpPr txBox="1">
            <a:spLocks noChangeArrowheads="1"/>
          </p:cNvSpPr>
          <p:nvPr/>
        </p:nvSpPr>
        <p:spPr bwMode="auto">
          <a:xfrm>
            <a:off x="463965" y="1821871"/>
            <a:ext cx="6052251" cy="58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kumimoji="0" lang="en-US" altLang="zh-CN" sz="2400" b="1" dirty="0">
                <a:solidFill>
                  <a:srgbClr val="FF0000"/>
                </a:solidFill>
                <a:latin typeface="楷体_GB2312" pitchFamily="49" charset="-122"/>
                <a:ea typeface="楷体_GB2312" pitchFamily="49" charset="-122"/>
              </a:rPr>
              <a:t>①</a:t>
            </a:r>
            <a:r>
              <a:rPr kumimoji="0" lang="zh-CN" altLang="zh-CN" sz="2400" b="1" dirty="0">
                <a:solidFill>
                  <a:srgbClr val="FF0000"/>
                </a:solidFill>
                <a:latin typeface="楷体_GB2312" pitchFamily="49" charset="-122"/>
                <a:ea typeface="楷体_GB2312" pitchFamily="49" charset="-122"/>
              </a:rPr>
              <a:t>传感型光纤传感器</a:t>
            </a:r>
            <a:r>
              <a:rPr kumimoji="0" lang="en-US" altLang="zh-CN" sz="2400" b="1" dirty="0">
                <a:solidFill>
                  <a:srgbClr val="FF0000"/>
                </a:solidFill>
                <a:latin typeface="楷体_GB2312" pitchFamily="49" charset="-122"/>
                <a:ea typeface="楷体_GB2312" pitchFamily="49" charset="-122"/>
              </a:rPr>
              <a:t>(</a:t>
            </a:r>
            <a:r>
              <a:rPr kumimoji="0" lang="zh-CN" altLang="en-US" sz="2400" b="1" dirty="0">
                <a:solidFill>
                  <a:srgbClr val="FF0000"/>
                </a:solidFill>
                <a:latin typeface="楷体_GB2312" pitchFamily="49" charset="-122"/>
                <a:ea typeface="楷体_GB2312" pitchFamily="49" charset="-122"/>
              </a:rPr>
              <a:t>功能型</a:t>
            </a:r>
            <a:r>
              <a:rPr kumimoji="0" lang="en-US" altLang="zh-CN" sz="2400" b="1" dirty="0">
                <a:solidFill>
                  <a:srgbClr val="FF0000"/>
                </a:solidFill>
                <a:latin typeface="楷体_GB2312" pitchFamily="49" charset="-122"/>
                <a:ea typeface="楷体_GB2312" pitchFamily="49" charset="-122"/>
              </a:rPr>
              <a:t>)</a:t>
            </a:r>
            <a:endParaRPr kumimoji="0" lang="zh-CN" altLang="en-US" sz="2400" b="1" dirty="0">
              <a:solidFill>
                <a:srgbClr val="FF0000"/>
              </a:solidFill>
              <a:latin typeface="楷体_GB2312" pitchFamily="49" charset="-122"/>
              <a:ea typeface="楷体_GB2312" pitchFamily="49" charset="-122"/>
            </a:endParaRPr>
          </a:p>
        </p:txBody>
      </p:sp>
      <p:pic>
        <p:nvPicPr>
          <p:cNvPr id="2" name="图片 1">
            <a:extLst>
              <a:ext uri="{FF2B5EF4-FFF2-40B4-BE49-F238E27FC236}">
                <a16:creationId xmlns:a16="http://schemas.microsoft.com/office/drawing/2014/main" id="{5C8DFF25-A727-43CD-9E83-64672F6EB9F0}"/>
              </a:ext>
            </a:extLst>
          </p:cNvPr>
          <p:cNvPicPr>
            <a:picLocks noChangeAspect="1"/>
          </p:cNvPicPr>
          <p:nvPr/>
        </p:nvPicPr>
        <p:blipFill>
          <a:blip r:embed="rId6"/>
          <a:stretch>
            <a:fillRect/>
          </a:stretch>
        </p:blipFill>
        <p:spPr>
          <a:xfrm>
            <a:off x="1187624" y="4618819"/>
            <a:ext cx="6200775" cy="2095500"/>
          </a:xfrm>
          <a:prstGeom prst="rect">
            <a:avLst/>
          </a:prstGeom>
        </p:spPr>
      </p:pic>
      <p:pic>
        <p:nvPicPr>
          <p:cNvPr id="3" name="图片 2">
            <a:extLst>
              <a:ext uri="{FF2B5EF4-FFF2-40B4-BE49-F238E27FC236}">
                <a16:creationId xmlns:a16="http://schemas.microsoft.com/office/drawing/2014/main" id="{8563821E-9B51-4785-B46F-AFBA6DCCB9AB}"/>
              </a:ext>
            </a:extLst>
          </p:cNvPr>
          <p:cNvPicPr>
            <a:picLocks noChangeAspect="1"/>
          </p:cNvPicPr>
          <p:nvPr/>
        </p:nvPicPr>
        <p:blipFill>
          <a:blip r:embed="rId7"/>
          <a:stretch>
            <a:fillRect/>
          </a:stretch>
        </p:blipFill>
        <p:spPr>
          <a:xfrm>
            <a:off x="1135236" y="2542369"/>
            <a:ext cx="6305550" cy="2076450"/>
          </a:xfrm>
          <a:prstGeom prst="rect">
            <a:avLst/>
          </a:prstGeom>
        </p:spPr>
      </p:pic>
    </p:spTree>
    <p:extLst>
      <p:ext uri="{BB962C8B-B14F-4D97-AF65-F5344CB8AC3E}">
        <p14:creationId xmlns:p14="http://schemas.microsoft.com/office/powerpoint/2010/main" val="14025812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1"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xit" presetSubtype="4" fill="hold" nodeType="clickEffect">
                                  <p:stCondLst>
                                    <p:cond delay="0"/>
                                  </p:stCondLst>
                                  <p:childTnLst>
                                    <p:anim calcmode="lin" valueType="num">
                                      <p:cBhvr additive="base">
                                        <p:cTn id="26" dur="500"/>
                                        <p:tgtEl>
                                          <p:spTgt spid="2"/>
                                        </p:tgtEl>
                                        <p:attrNameLst>
                                          <p:attrName>ppt_x</p:attrName>
                                        </p:attrNameLst>
                                      </p:cBhvr>
                                      <p:tavLst>
                                        <p:tav tm="0">
                                          <p:val>
                                            <p:strVal val="ppt_x"/>
                                          </p:val>
                                        </p:tav>
                                        <p:tav tm="100000">
                                          <p:val>
                                            <p:strVal val="ppt_x"/>
                                          </p:val>
                                        </p:tav>
                                      </p:tavLst>
                                    </p:anim>
                                    <p:anim calcmode="lin" valueType="num">
                                      <p:cBhvr additive="base">
                                        <p:cTn id="27" dur="500"/>
                                        <p:tgtEl>
                                          <p:spTgt spid="2"/>
                                        </p:tgtEl>
                                        <p:attrNameLst>
                                          <p:attrName>ppt_y</p:attrName>
                                        </p:attrNameLst>
                                      </p:cBhvr>
                                      <p:tavLst>
                                        <p:tav tm="0">
                                          <p:val>
                                            <p:strVal val="ppt_y"/>
                                          </p:val>
                                        </p:tav>
                                        <p:tav tm="100000">
                                          <p:val>
                                            <p:strVal val="1+ppt_h/2"/>
                                          </p:val>
                                        </p:tav>
                                      </p:tavLst>
                                    </p:anim>
                                    <p:set>
                                      <p:cBhvr>
                                        <p:cTn id="28" dur="1" fill="hold">
                                          <p:stCondLst>
                                            <p:cond delay="499"/>
                                          </p:stCondLst>
                                        </p:cTn>
                                        <p:tgtEl>
                                          <p:spTgt spid="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additive="base">
                                        <p:cTn id="43" dur="500" fill="hold"/>
                                        <p:tgtEl>
                                          <p:spTgt spid="3"/>
                                        </p:tgtEl>
                                        <p:attrNameLst>
                                          <p:attrName>ppt_x</p:attrName>
                                        </p:attrNameLst>
                                      </p:cBhvr>
                                      <p:tavLst>
                                        <p:tav tm="0">
                                          <p:val>
                                            <p:strVal val="#ppt_x"/>
                                          </p:val>
                                        </p:tav>
                                        <p:tav tm="100000">
                                          <p:val>
                                            <p:strVal val="#ppt_x"/>
                                          </p:val>
                                        </p:tav>
                                      </p:tavLst>
                                    </p:anim>
                                    <p:anim calcmode="lin" valueType="num">
                                      <p:cBhvr additive="base">
                                        <p:cTn id="44"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0" name="Group 2">
            <a:extLst>
              <a:ext uri="{FF2B5EF4-FFF2-40B4-BE49-F238E27FC236}">
                <a16:creationId xmlns:a16="http://schemas.microsoft.com/office/drawing/2014/main" id="{E8B2FF50-780D-4FB3-82D7-5C4030229D04}"/>
              </a:ext>
            </a:extLst>
          </p:cNvPr>
          <p:cNvGrpSpPr>
            <a:grpSpLocks/>
          </p:cNvGrpSpPr>
          <p:nvPr/>
        </p:nvGrpSpPr>
        <p:grpSpPr bwMode="auto">
          <a:xfrm>
            <a:off x="1331913" y="215900"/>
            <a:ext cx="6335712" cy="6507163"/>
            <a:chOff x="839" y="136"/>
            <a:chExt cx="3991" cy="4099"/>
          </a:xfrm>
        </p:grpSpPr>
        <p:pic>
          <p:nvPicPr>
            <p:cNvPr id="12291" name="Picture 3" descr="IMG_3913">
              <a:extLst>
                <a:ext uri="{FF2B5EF4-FFF2-40B4-BE49-F238E27FC236}">
                  <a16:creationId xmlns:a16="http://schemas.microsoft.com/office/drawing/2014/main" id="{D85661E9-5276-40B3-8CC8-3A8D356AD3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9" t="2306" r="916" b="2278"/>
            <a:stretch>
              <a:fillRect/>
            </a:stretch>
          </p:blipFill>
          <p:spPr bwMode="auto">
            <a:xfrm>
              <a:off x="884" y="136"/>
              <a:ext cx="3856" cy="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 Box 4">
              <a:extLst>
                <a:ext uri="{FF2B5EF4-FFF2-40B4-BE49-F238E27FC236}">
                  <a16:creationId xmlns:a16="http://schemas.microsoft.com/office/drawing/2014/main" id="{E5D4AB4F-DBA2-4E43-B97F-5DE150314CC2}"/>
                </a:ext>
              </a:extLst>
            </p:cNvPr>
            <p:cNvSpPr txBox="1">
              <a:spLocks noChangeArrowheads="1"/>
            </p:cNvSpPr>
            <p:nvPr/>
          </p:nvSpPr>
          <p:spPr bwMode="auto">
            <a:xfrm>
              <a:off x="839" y="3901"/>
              <a:ext cx="3901"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50000"/>
                </a:spcBef>
                <a:buFontTx/>
                <a:buNone/>
              </a:pPr>
              <a:r>
                <a:rPr kumimoji="0" lang="zh-CN" altLang="en-US" sz="2400">
                  <a:ea typeface="楷体_GB2312" pitchFamily="49" charset="-122"/>
                </a:rPr>
                <a:t>图</a:t>
              </a:r>
              <a:r>
                <a:rPr kumimoji="0" lang="en-US" altLang="zh-CN" sz="2400">
                  <a:ea typeface="楷体_GB2312" pitchFamily="49" charset="-122"/>
                </a:rPr>
                <a:t>9-5 </a:t>
              </a:r>
              <a:r>
                <a:rPr kumimoji="0" lang="zh-CN" altLang="en-US" sz="2400">
                  <a:ea typeface="楷体_GB2312" pitchFamily="49" charset="-122"/>
                </a:rPr>
                <a:t>根据光纤在传感器中作用分类</a:t>
              </a:r>
            </a:p>
          </p:txBody>
        </p:sp>
        <p:sp>
          <p:nvSpPr>
            <p:cNvPr id="12293" name="Text Box 5">
              <a:extLst>
                <a:ext uri="{FF2B5EF4-FFF2-40B4-BE49-F238E27FC236}">
                  <a16:creationId xmlns:a16="http://schemas.microsoft.com/office/drawing/2014/main" id="{EC66889C-B70C-42A2-BB0D-AE6D3FC15BE0}"/>
                </a:ext>
              </a:extLst>
            </p:cNvPr>
            <p:cNvSpPr txBox="1">
              <a:spLocks noChangeArrowheads="1"/>
            </p:cNvSpPr>
            <p:nvPr/>
          </p:nvSpPr>
          <p:spPr bwMode="auto">
            <a:xfrm>
              <a:off x="2971" y="935"/>
              <a:ext cx="1859"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dirty="0">
                  <a:solidFill>
                    <a:srgbClr val="FF0000"/>
                  </a:solidFill>
                  <a:ea typeface="楷体_GB2312" pitchFamily="49" charset="-122"/>
                </a:rPr>
                <a:t>功能型</a:t>
              </a:r>
            </a:p>
          </p:txBody>
        </p:sp>
        <p:sp>
          <p:nvSpPr>
            <p:cNvPr id="12294" name="Text Box 6">
              <a:extLst>
                <a:ext uri="{FF2B5EF4-FFF2-40B4-BE49-F238E27FC236}">
                  <a16:creationId xmlns:a16="http://schemas.microsoft.com/office/drawing/2014/main" id="{8D722C93-C026-4EA5-8C21-933472B6AA0F}"/>
                </a:ext>
              </a:extLst>
            </p:cNvPr>
            <p:cNvSpPr txBox="1">
              <a:spLocks noChangeArrowheads="1"/>
            </p:cNvSpPr>
            <p:nvPr/>
          </p:nvSpPr>
          <p:spPr bwMode="auto">
            <a:xfrm>
              <a:off x="2971" y="2205"/>
              <a:ext cx="1859"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dirty="0">
                  <a:solidFill>
                    <a:srgbClr val="FF0000"/>
                  </a:solidFill>
                  <a:ea typeface="楷体_GB2312" pitchFamily="49" charset="-122"/>
                </a:rPr>
                <a:t>传光型</a:t>
              </a:r>
              <a:r>
                <a:rPr kumimoji="0" lang="en-US" altLang="zh-CN" sz="2400" dirty="0">
                  <a:solidFill>
                    <a:srgbClr val="FF0000"/>
                  </a:solidFill>
                  <a:ea typeface="楷体_GB2312" pitchFamily="49" charset="-122"/>
                </a:rPr>
                <a:t>(</a:t>
              </a:r>
              <a:r>
                <a:rPr kumimoji="0" lang="zh-CN" altLang="en-US" sz="2400" dirty="0">
                  <a:solidFill>
                    <a:srgbClr val="FF0000"/>
                  </a:solidFill>
                  <a:ea typeface="楷体_GB2312" pitchFamily="49" charset="-122"/>
                </a:rPr>
                <a:t>非功能型</a:t>
              </a:r>
              <a:r>
                <a:rPr kumimoji="0" lang="en-US" altLang="zh-CN" sz="2400" dirty="0">
                  <a:solidFill>
                    <a:srgbClr val="FF0000"/>
                  </a:solidFill>
                  <a:ea typeface="楷体_GB2312" pitchFamily="49" charset="-122"/>
                </a:rPr>
                <a:t>)</a:t>
              </a:r>
              <a:endParaRPr kumimoji="0" lang="zh-CN" altLang="en-US" sz="2400" dirty="0">
                <a:solidFill>
                  <a:srgbClr val="FF0000"/>
                </a:solidFill>
                <a:ea typeface="楷体_GB2312" pitchFamily="49" charset="-122"/>
              </a:endParaRPr>
            </a:p>
          </p:txBody>
        </p:sp>
        <p:sp>
          <p:nvSpPr>
            <p:cNvPr id="12295" name="Text Box 7">
              <a:extLst>
                <a:ext uri="{FF2B5EF4-FFF2-40B4-BE49-F238E27FC236}">
                  <a16:creationId xmlns:a16="http://schemas.microsoft.com/office/drawing/2014/main" id="{C454F5CB-ECC1-429C-B019-B32E7CAE1BD4}"/>
                </a:ext>
              </a:extLst>
            </p:cNvPr>
            <p:cNvSpPr txBox="1">
              <a:spLocks noChangeArrowheads="1"/>
            </p:cNvSpPr>
            <p:nvPr/>
          </p:nvSpPr>
          <p:spPr bwMode="auto">
            <a:xfrm>
              <a:off x="2971" y="3566"/>
              <a:ext cx="1859"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dirty="0">
                  <a:solidFill>
                    <a:srgbClr val="FF0000"/>
                  </a:solidFill>
                  <a:ea typeface="楷体_GB2312" pitchFamily="49" charset="-122"/>
                </a:rPr>
                <a:t>拾光型</a:t>
              </a:r>
              <a:endParaRPr kumimoji="0" lang="zh-CN" altLang="en-US" sz="2400" b="1" u="sng" dirty="0">
                <a:solidFill>
                  <a:srgbClr val="FF0000"/>
                </a:solidFill>
                <a:ea typeface="楷体_GB2312" pitchFamily="49" charset="-122"/>
              </a:endParaRPr>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B3026C0E-37DC-4A14-B6EE-AE37110F46B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4339" name="Rectangle 3">
            <a:extLst>
              <a:ext uri="{FF2B5EF4-FFF2-40B4-BE49-F238E27FC236}">
                <a16:creationId xmlns:a16="http://schemas.microsoft.com/office/drawing/2014/main" id="{F7924510-970C-49E3-B018-1DEEBDAE20B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4340" name="Text Box 4">
            <a:extLst>
              <a:ext uri="{FF2B5EF4-FFF2-40B4-BE49-F238E27FC236}">
                <a16:creationId xmlns:a16="http://schemas.microsoft.com/office/drawing/2014/main" id="{46CD30AE-C7E2-4C93-8CED-23B290C3A3F1}"/>
              </a:ext>
            </a:extLst>
          </p:cNvPr>
          <p:cNvSpPr txBox="1">
            <a:spLocks noChangeArrowheads="1"/>
          </p:cNvSpPr>
          <p:nvPr/>
        </p:nvSpPr>
        <p:spPr bwMode="auto">
          <a:xfrm>
            <a:off x="323850" y="203200"/>
            <a:ext cx="7381875" cy="375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kumimoji="0" lang="en-US" altLang="zh-CN" sz="2800" b="1">
                <a:latin typeface="楷体_GB2312" pitchFamily="49" charset="-122"/>
                <a:ea typeface="楷体_GB2312" pitchFamily="49" charset="-122"/>
              </a:rPr>
              <a:t>3.2.2 </a:t>
            </a:r>
            <a:r>
              <a:rPr kumimoji="0" lang="zh-CN" altLang="en-US" sz="2800" b="1">
                <a:latin typeface="楷体_GB2312" pitchFamily="49" charset="-122"/>
                <a:ea typeface="楷体_GB2312" pitchFamily="49" charset="-122"/>
              </a:rPr>
              <a:t>调制方式（光纤传感原理）</a:t>
            </a:r>
          </a:p>
          <a:p>
            <a:pPr eaLnBrk="1" hangingPunct="1">
              <a:lnSpc>
                <a:spcPct val="150000"/>
              </a:lnSpc>
              <a:spcBef>
                <a:spcPct val="50000"/>
              </a:spcBef>
              <a:buFontTx/>
              <a:buNone/>
            </a:pPr>
            <a:r>
              <a:rPr lang="zh-CN" altLang="en-US" sz="2000">
                <a:latin typeface="楷体_GB2312" pitchFamily="49" charset="-122"/>
                <a:ea typeface="楷体_GB2312" pitchFamily="49" charset="-122"/>
              </a:rPr>
              <a:t>    </a:t>
            </a:r>
          </a:p>
          <a:p>
            <a:pPr eaLnBrk="1" hangingPunct="1">
              <a:lnSpc>
                <a:spcPct val="150000"/>
              </a:lnSpc>
              <a:spcBef>
                <a:spcPct val="50000"/>
              </a:spcBef>
              <a:buFontTx/>
              <a:buNone/>
            </a:pPr>
            <a:r>
              <a:rPr lang="zh-CN" altLang="en-US" sz="2000">
                <a:latin typeface="楷体_GB2312" pitchFamily="49" charset="-122"/>
                <a:ea typeface="楷体_GB2312" pitchFamily="49" charset="-122"/>
              </a:rPr>
              <a:t>    </a:t>
            </a:r>
            <a:r>
              <a:rPr lang="zh-CN" altLang="en-US" sz="2400" b="1">
                <a:latin typeface="楷体_GB2312" pitchFamily="49" charset="-122"/>
                <a:ea typeface="楷体_GB2312" pitchFamily="49" charset="-122"/>
              </a:rPr>
              <a:t>光纤传感器的核心就是光被外界输入参数的调制。外界信号可能引起光的某些特性</a:t>
            </a:r>
            <a:r>
              <a:rPr lang="en-US" altLang="zh-CN" sz="2400" b="1">
                <a:latin typeface="楷体_GB2312" pitchFamily="49" charset="-122"/>
                <a:ea typeface="楷体_GB2312" pitchFamily="49" charset="-122"/>
              </a:rPr>
              <a:t>(</a:t>
            </a:r>
            <a:r>
              <a:rPr lang="zh-CN" altLang="en-US" sz="2400" b="1">
                <a:latin typeface="楷体_GB2312" pitchFamily="49" charset="-122"/>
                <a:ea typeface="楷体_GB2312" pitchFamily="49" charset="-122"/>
              </a:rPr>
              <a:t>如</a:t>
            </a:r>
            <a:r>
              <a:rPr lang="zh-CN" altLang="en-US" sz="2400" b="1">
                <a:solidFill>
                  <a:srgbClr val="FF0000"/>
                </a:solidFill>
                <a:latin typeface="楷体_GB2312" pitchFamily="49" charset="-122"/>
                <a:ea typeface="楷体_GB2312" pitchFamily="49" charset="-122"/>
              </a:rPr>
              <a:t>强度、波长、频率、相位、偏振态</a:t>
            </a:r>
            <a:r>
              <a:rPr lang="zh-CN" altLang="en-US" sz="2400" b="1">
                <a:latin typeface="楷体_GB2312" pitchFamily="49" charset="-122"/>
                <a:ea typeface="楷体_GB2312" pitchFamily="49" charset="-122"/>
              </a:rPr>
              <a:t>等</a:t>
            </a:r>
            <a:r>
              <a:rPr lang="en-US" altLang="zh-CN" sz="2400" b="1">
                <a:latin typeface="楷体_GB2312" pitchFamily="49" charset="-122"/>
                <a:ea typeface="楷体_GB2312" pitchFamily="49" charset="-122"/>
              </a:rPr>
              <a:t>)</a:t>
            </a:r>
            <a:r>
              <a:rPr lang="zh-CN" altLang="en-US" sz="2400" b="1">
                <a:latin typeface="楷体_GB2312" pitchFamily="49" charset="-122"/>
                <a:ea typeface="楷体_GB2312" pitchFamily="49" charset="-122"/>
              </a:rPr>
              <a:t>变化，从而构成强度、波长、频率、相位和偏振态等调制。</a:t>
            </a:r>
          </a:p>
        </p:txBody>
      </p:sp>
      <p:graphicFrame>
        <p:nvGraphicFramePr>
          <p:cNvPr id="14341" name="Object 5">
            <a:extLst>
              <a:ext uri="{FF2B5EF4-FFF2-40B4-BE49-F238E27FC236}">
                <a16:creationId xmlns:a16="http://schemas.microsoft.com/office/drawing/2014/main" id="{503AA2E2-23CE-4542-A7EE-1BC36CC261B8}"/>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14362" name="Equation" r:id="rId3" imgW="435285" imgH="677109" progId="Equation.DSMT4">
                  <p:embed/>
                </p:oleObj>
              </mc:Choice>
              <mc:Fallback>
                <p:oleObj name="Equation" r:id="rId3" imgW="435285" imgH="67710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2" name="Rectangle 6">
            <a:extLst>
              <a:ext uri="{FF2B5EF4-FFF2-40B4-BE49-F238E27FC236}">
                <a16:creationId xmlns:a16="http://schemas.microsoft.com/office/drawing/2014/main" id="{1E564244-3274-49B4-BFCE-7996C8DF936D}"/>
              </a:ext>
            </a:extLst>
          </p:cNvPr>
          <p:cNvSpPr>
            <a:spLocks noChangeArrowheads="1"/>
          </p:cNvSpPr>
          <p:nvPr/>
        </p:nvSpPr>
        <p:spPr bwMode="auto">
          <a:xfrm>
            <a:off x="-2600325" y="-314325"/>
            <a:ext cx="43815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kumimoji="0" lang="zh-CN" altLang="en-US" sz="2000">
                <a:latin typeface="楷体_GB2312" pitchFamily="49" charset="-122"/>
                <a:ea typeface="楷体_GB2312" pitchFamily="49" charset="-122"/>
                <a:cs typeface="Times New Roman" panose="02020603050405020304" pitchFamily="18" charset="0"/>
              </a:rPr>
              <a:t>：</a:t>
            </a:r>
          </a:p>
          <a:p>
            <a:pPr>
              <a:lnSpc>
                <a:spcPct val="150000"/>
              </a:lnSpc>
              <a:spcBef>
                <a:spcPct val="50000"/>
              </a:spcBef>
              <a:buFontTx/>
              <a:buNone/>
            </a:pPr>
            <a:endParaRPr kumimoji="0" lang="en-US" altLang="zh-CN" sz="2000">
              <a:latin typeface="楷体_GB2312" pitchFamily="49" charset="-122"/>
              <a:ea typeface="楷体_GB2312" pitchFamily="49" charset="-122"/>
              <a:cs typeface="Times New Roman" panose="02020603050405020304" pitchFamily="18" charset="0"/>
            </a:endParaRPr>
          </a:p>
        </p:txBody>
      </p:sp>
      <p:sp>
        <p:nvSpPr>
          <p:cNvPr id="14343" name="Rectangle 7">
            <a:extLst>
              <a:ext uri="{FF2B5EF4-FFF2-40B4-BE49-F238E27FC236}">
                <a16:creationId xmlns:a16="http://schemas.microsoft.com/office/drawing/2014/main" id="{2474DD63-C513-42E4-A2CF-318EA8B0CC76}"/>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4344" name="Rectangle 9">
            <a:extLst>
              <a:ext uri="{FF2B5EF4-FFF2-40B4-BE49-F238E27FC236}">
                <a16:creationId xmlns:a16="http://schemas.microsoft.com/office/drawing/2014/main" id="{7B2BD79F-08FD-496F-B174-F935DE39C5BE}"/>
              </a:ext>
            </a:extLst>
          </p:cNvPr>
          <p:cNvSpPr>
            <a:spLocks noChangeArrowheads="1"/>
          </p:cNvSpPr>
          <p:nvPr/>
        </p:nvSpPr>
        <p:spPr bwMode="auto">
          <a:xfrm>
            <a:off x="0" y="8366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pic>
        <p:nvPicPr>
          <p:cNvPr id="14345" name="Picture 3" descr="ColorLinea.gif (4491 bytes)">
            <a:extLst>
              <a:ext uri="{FF2B5EF4-FFF2-40B4-BE49-F238E27FC236}">
                <a16:creationId xmlns:a16="http://schemas.microsoft.com/office/drawing/2014/main" id="{D24DCBC0-2291-4D2A-A815-7316DCE9C618}"/>
              </a:ext>
            </a:extLst>
          </p:cNvPr>
          <p:cNvPicPr preferRelativeResize="0">
            <a:picLocks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1750" y="1027113"/>
            <a:ext cx="9174163"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EEE87A87-79BF-48A9-821C-E01987105C6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5363" name="Rectangle 3">
            <a:extLst>
              <a:ext uri="{FF2B5EF4-FFF2-40B4-BE49-F238E27FC236}">
                <a16:creationId xmlns:a16="http://schemas.microsoft.com/office/drawing/2014/main" id="{C17912A6-5764-4124-96CA-8290C2C4454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5364" name="Text Box 4">
            <a:extLst>
              <a:ext uri="{FF2B5EF4-FFF2-40B4-BE49-F238E27FC236}">
                <a16:creationId xmlns:a16="http://schemas.microsoft.com/office/drawing/2014/main" id="{5DEF2213-8B7A-4DF6-964F-4A70939E2930}"/>
              </a:ext>
            </a:extLst>
          </p:cNvPr>
          <p:cNvSpPr txBox="1">
            <a:spLocks noChangeArrowheads="1"/>
          </p:cNvSpPr>
          <p:nvPr/>
        </p:nvSpPr>
        <p:spPr bwMode="auto">
          <a:xfrm>
            <a:off x="179388" y="171450"/>
            <a:ext cx="83534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zh-CN" altLang="en-US" sz="2800" b="1">
                <a:solidFill>
                  <a:srgbClr val="C00000"/>
                </a:solidFill>
                <a:latin typeface="黑体" panose="02010609060101010101" pitchFamily="49" charset="-122"/>
                <a:ea typeface="黑体" panose="02010609060101010101" pitchFamily="49" charset="-122"/>
              </a:rPr>
              <a:t>（</a:t>
            </a:r>
            <a:r>
              <a:rPr kumimoji="0" lang="en-US" altLang="zh-CN" sz="2800" b="1">
                <a:solidFill>
                  <a:srgbClr val="C00000"/>
                </a:solidFill>
                <a:latin typeface="黑体" panose="02010609060101010101" pitchFamily="49" charset="-122"/>
                <a:ea typeface="黑体" panose="02010609060101010101" pitchFamily="49" charset="-122"/>
              </a:rPr>
              <a:t>1</a:t>
            </a:r>
            <a:r>
              <a:rPr kumimoji="0" lang="zh-CN" altLang="en-US" sz="2800" b="1">
                <a:solidFill>
                  <a:srgbClr val="C00000"/>
                </a:solidFill>
                <a:latin typeface="黑体" panose="02010609060101010101" pitchFamily="49" charset="-122"/>
                <a:ea typeface="黑体" panose="02010609060101010101" pitchFamily="49" charset="-122"/>
              </a:rPr>
              <a:t>） </a:t>
            </a:r>
            <a:r>
              <a:rPr kumimoji="0" lang="zh-CN" altLang="zh-CN" sz="2800" b="1">
                <a:solidFill>
                  <a:srgbClr val="C00000"/>
                </a:solidFill>
                <a:latin typeface="黑体" panose="02010609060101010101" pitchFamily="49" charset="-122"/>
                <a:ea typeface="黑体" panose="02010609060101010101" pitchFamily="49" charset="-122"/>
              </a:rPr>
              <a:t>光强度调制</a:t>
            </a:r>
            <a:endParaRPr kumimoji="0" lang="zh-CN" altLang="en-US" sz="2800" b="1">
              <a:solidFill>
                <a:srgbClr val="C00000"/>
              </a:solidFill>
              <a:latin typeface="黑体" panose="02010609060101010101" pitchFamily="49" charset="-122"/>
              <a:ea typeface="黑体" panose="02010609060101010101" pitchFamily="49" charset="-122"/>
            </a:endParaRPr>
          </a:p>
          <a:p>
            <a:pPr eaLnBrk="1" hangingPunct="1">
              <a:lnSpc>
                <a:spcPct val="150000"/>
              </a:lnSpc>
              <a:spcBef>
                <a:spcPct val="0"/>
              </a:spcBef>
              <a:buFontTx/>
              <a:buNone/>
            </a:pPr>
            <a:r>
              <a:rPr kumimoji="0" lang="zh-CN" altLang="en-US" sz="2400">
                <a:latin typeface="楷体_GB2312" pitchFamily="49" charset="-122"/>
                <a:ea typeface="楷体_GB2312" pitchFamily="49" charset="-122"/>
              </a:rPr>
              <a:t>     </a:t>
            </a:r>
            <a:r>
              <a:rPr kumimoji="0" lang="zh-CN" altLang="en-US" sz="2400" b="1">
                <a:latin typeface="楷体_GB2312" pitchFamily="49" charset="-122"/>
                <a:ea typeface="楷体_GB2312" pitchFamily="49" charset="-122"/>
              </a:rPr>
              <a:t>利用被测量的作用改变光纤中光的强度，再通过测量光强的变化来测量被测量的原理称为强度调制。</a:t>
            </a:r>
          </a:p>
          <a:p>
            <a:pPr eaLnBrk="1" hangingPunct="1">
              <a:lnSpc>
                <a:spcPct val="150000"/>
              </a:lnSpc>
              <a:spcBef>
                <a:spcPct val="0"/>
              </a:spcBef>
              <a:buFontTx/>
              <a:buNone/>
            </a:pPr>
            <a:endParaRPr kumimoji="0" lang="en-US" altLang="zh-CN" sz="2000">
              <a:latin typeface="楷体_GB2312" pitchFamily="49" charset="-122"/>
              <a:ea typeface="楷体_GB2312" pitchFamily="49" charset="-122"/>
            </a:endParaRPr>
          </a:p>
        </p:txBody>
      </p:sp>
      <p:graphicFrame>
        <p:nvGraphicFramePr>
          <p:cNvPr id="15365" name="Object 5">
            <a:extLst>
              <a:ext uri="{FF2B5EF4-FFF2-40B4-BE49-F238E27FC236}">
                <a16:creationId xmlns:a16="http://schemas.microsoft.com/office/drawing/2014/main" id="{791867C8-E7C9-4D9D-8F7E-AB7EC79A0C0F}"/>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15387" name="Equation" r:id="rId3" imgW="435285" imgH="677109" progId="Equation.DSMT4">
                  <p:embed/>
                </p:oleObj>
              </mc:Choice>
              <mc:Fallback>
                <p:oleObj name="Equation" r:id="rId3" imgW="435285" imgH="67710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6" name="Rectangle 6">
            <a:extLst>
              <a:ext uri="{FF2B5EF4-FFF2-40B4-BE49-F238E27FC236}">
                <a16:creationId xmlns:a16="http://schemas.microsoft.com/office/drawing/2014/main" id="{784C326C-5CFB-4136-986C-318147A16D37}"/>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latin typeface="楷体_GB2312" pitchFamily="49" charset="-122"/>
                <a:ea typeface="楷体_GB2312" pitchFamily="49" charset="-122"/>
                <a:cs typeface="Times New Roman" panose="02020603050405020304" pitchFamily="18" charset="0"/>
              </a:rPr>
              <a:t>：</a:t>
            </a:r>
            <a:endParaRPr kumimoji="0" lang="zh-CN" altLang="en-US" sz="1100">
              <a:latin typeface="楷体_GB2312" pitchFamily="49" charset="-122"/>
              <a:ea typeface="楷体_GB2312" pitchFamily="49" charset="-122"/>
              <a:cs typeface="Times New Roman" panose="02020603050405020304" pitchFamily="18" charset="0"/>
            </a:endParaRPr>
          </a:p>
          <a:p>
            <a:pPr>
              <a:spcBef>
                <a:spcPct val="0"/>
              </a:spcBef>
              <a:buFontTx/>
              <a:buNone/>
            </a:pPr>
            <a:endParaRPr kumimoji="0" lang="en-US" altLang="zh-CN" sz="1800">
              <a:latin typeface="楷体_GB2312" pitchFamily="49" charset="-122"/>
              <a:ea typeface="楷体_GB2312" pitchFamily="49" charset="-122"/>
              <a:cs typeface="Times New Roman" panose="02020603050405020304" pitchFamily="18" charset="0"/>
            </a:endParaRPr>
          </a:p>
        </p:txBody>
      </p:sp>
      <p:sp>
        <p:nvSpPr>
          <p:cNvPr id="15367" name="Rectangle 7">
            <a:extLst>
              <a:ext uri="{FF2B5EF4-FFF2-40B4-BE49-F238E27FC236}">
                <a16:creationId xmlns:a16="http://schemas.microsoft.com/office/drawing/2014/main" id="{DF2E21A8-9875-4F9C-A971-C66AE7BB2748}"/>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5368" name="Rectangle 8">
            <a:extLst>
              <a:ext uri="{FF2B5EF4-FFF2-40B4-BE49-F238E27FC236}">
                <a16:creationId xmlns:a16="http://schemas.microsoft.com/office/drawing/2014/main" id="{19FB0BA5-80AB-4EFC-BE5F-EF819B8122AE}"/>
              </a:ext>
            </a:extLst>
          </p:cNvPr>
          <p:cNvSpPr>
            <a:spLocks noChangeArrowheads="1"/>
          </p:cNvSpPr>
          <p:nvPr/>
        </p:nvSpPr>
        <p:spPr bwMode="auto">
          <a:xfrm>
            <a:off x="2209800" y="1990725"/>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indent="254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latin typeface="楷体_GB2312" pitchFamily="49" charset="-122"/>
                <a:ea typeface="楷体_GB2312" pitchFamily="49" charset="-122"/>
                <a:cs typeface="Times New Roman" panose="02020603050405020304" pitchFamily="18" charset="0"/>
              </a:rPr>
              <a:t>。</a:t>
            </a:r>
            <a:endParaRPr kumimoji="0" lang="zh-CN" altLang="en-US" sz="1100">
              <a:latin typeface="楷体_GB2312" pitchFamily="49" charset="-122"/>
              <a:ea typeface="楷体_GB2312" pitchFamily="49" charset="-122"/>
              <a:cs typeface="Times New Roman" panose="02020603050405020304" pitchFamily="18" charset="0"/>
            </a:endParaRPr>
          </a:p>
          <a:p>
            <a:pPr>
              <a:spcBef>
                <a:spcPct val="0"/>
              </a:spcBef>
              <a:buFontTx/>
              <a:buNone/>
            </a:pPr>
            <a:endParaRPr kumimoji="0" lang="en-US" altLang="zh-CN" sz="1800">
              <a:latin typeface="楷体_GB2312" pitchFamily="49" charset="-122"/>
              <a:ea typeface="楷体_GB2312" pitchFamily="49" charset="-122"/>
              <a:cs typeface="Times New Roman" panose="02020603050405020304" pitchFamily="18" charset="0"/>
            </a:endParaRPr>
          </a:p>
        </p:txBody>
      </p:sp>
      <p:sp>
        <p:nvSpPr>
          <p:cNvPr id="15369" name="Rectangle 9">
            <a:extLst>
              <a:ext uri="{FF2B5EF4-FFF2-40B4-BE49-F238E27FC236}">
                <a16:creationId xmlns:a16="http://schemas.microsoft.com/office/drawing/2014/main" id="{5FAE3A9A-8650-4E14-8E92-53BBF079A756}"/>
              </a:ext>
            </a:extLst>
          </p:cNvPr>
          <p:cNvSpPr>
            <a:spLocks noChangeArrowheads="1"/>
          </p:cNvSpPr>
          <p:nvPr/>
        </p:nvSpPr>
        <p:spPr bwMode="auto">
          <a:xfrm>
            <a:off x="0" y="835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pic>
        <p:nvPicPr>
          <p:cNvPr id="15370" name="Picture 10">
            <a:extLst>
              <a:ext uri="{FF2B5EF4-FFF2-40B4-BE49-F238E27FC236}">
                <a16:creationId xmlns:a16="http://schemas.microsoft.com/office/drawing/2014/main" id="{B3EB8798-7E44-45DE-B3F0-8C5A13D8AE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2109788"/>
            <a:ext cx="7616825"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D9AB573-9019-47AC-BB21-9FAE73432C2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6387" name="Rectangle 3">
            <a:extLst>
              <a:ext uri="{FF2B5EF4-FFF2-40B4-BE49-F238E27FC236}">
                <a16:creationId xmlns:a16="http://schemas.microsoft.com/office/drawing/2014/main" id="{DF9972C6-76D2-4682-983F-83CD9AE6E93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6388" name="Text Box 4">
            <a:extLst>
              <a:ext uri="{FF2B5EF4-FFF2-40B4-BE49-F238E27FC236}">
                <a16:creationId xmlns:a16="http://schemas.microsoft.com/office/drawing/2014/main" id="{A962D617-D24D-4814-AD3D-B705C0C3C294}"/>
              </a:ext>
            </a:extLst>
          </p:cNvPr>
          <p:cNvSpPr txBox="1">
            <a:spLocks noChangeArrowheads="1"/>
          </p:cNvSpPr>
          <p:nvPr/>
        </p:nvSpPr>
        <p:spPr bwMode="auto">
          <a:xfrm>
            <a:off x="0" y="115888"/>
            <a:ext cx="8353425"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400" b="1">
                <a:solidFill>
                  <a:srgbClr val="FF0000"/>
                </a:solidFill>
                <a:latin typeface="楷体_GB2312" pitchFamily="49" charset="-122"/>
                <a:ea typeface="楷体_GB2312" pitchFamily="49" charset="-122"/>
              </a:rPr>
              <a:t>①</a:t>
            </a:r>
            <a:r>
              <a:rPr kumimoji="0" lang="zh-CN" altLang="en-US" sz="2400" b="1">
                <a:solidFill>
                  <a:srgbClr val="FF0000"/>
                </a:solidFill>
                <a:latin typeface="楷体_GB2312" pitchFamily="49" charset="-122"/>
                <a:ea typeface="楷体_GB2312" pitchFamily="49" charset="-122"/>
              </a:rPr>
              <a:t>利用微小的线性位移和角位移进行调制</a:t>
            </a:r>
          </a:p>
        </p:txBody>
      </p:sp>
      <p:graphicFrame>
        <p:nvGraphicFramePr>
          <p:cNvPr id="16389" name="Object 5">
            <a:extLst>
              <a:ext uri="{FF2B5EF4-FFF2-40B4-BE49-F238E27FC236}">
                <a16:creationId xmlns:a16="http://schemas.microsoft.com/office/drawing/2014/main" id="{389A0CCE-5794-4947-AF90-A9335D0E4A0B}"/>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16412" name="Equation" r:id="rId3" imgW="435285" imgH="677109" progId="Equation.DSMT4">
                  <p:embed/>
                </p:oleObj>
              </mc:Choice>
              <mc:Fallback>
                <p:oleObj name="Equation" r:id="rId3" imgW="435285" imgH="67710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0" name="Rectangle 6">
            <a:extLst>
              <a:ext uri="{FF2B5EF4-FFF2-40B4-BE49-F238E27FC236}">
                <a16:creationId xmlns:a16="http://schemas.microsoft.com/office/drawing/2014/main" id="{DEB5E505-99E4-479F-9FED-C5CAB318D231}"/>
              </a:ext>
            </a:extLst>
          </p:cNvPr>
          <p:cNvSpPr>
            <a:spLocks noChangeArrowheads="1"/>
          </p:cNvSpPr>
          <p:nvPr/>
        </p:nvSpPr>
        <p:spPr bwMode="auto">
          <a:xfrm>
            <a:off x="-2600325" y="-85725"/>
            <a:ext cx="438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000">
                <a:latin typeface="楷体_GB2312" pitchFamily="49" charset="-122"/>
                <a:ea typeface="楷体_GB2312" pitchFamily="49" charset="-122"/>
                <a:cs typeface="Times New Roman" panose="02020603050405020304" pitchFamily="18" charset="0"/>
              </a:rPr>
              <a:t>：</a:t>
            </a:r>
          </a:p>
          <a:p>
            <a:pPr>
              <a:spcBef>
                <a:spcPct val="0"/>
              </a:spcBef>
              <a:buFontTx/>
              <a:buNone/>
            </a:pPr>
            <a:endParaRPr kumimoji="0" lang="en-US" altLang="zh-CN" sz="2000">
              <a:latin typeface="楷体_GB2312" pitchFamily="49" charset="-122"/>
              <a:ea typeface="楷体_GB2312" pitchFamily="49" charset="-122"/>
              <a:cs typeface="Times New Roman" panose="02020603050405020304" pitchFamily="18" charset="0"/>
            </a:endParaRPr>
          </a:p>
        </p:txBody>
      </p:sp>
      <p:sp>
        <p:nvSpPr>
          <p:cNvPr id="16391" name="Rectangle 7">
            <a:extLst>
              <a:ext uri="{FF2B5EF4-FFF2-40B4-BE49-F238E27FC236}">
                <a16:creationId xmlns:a16="http://schemas.microsoft.com/office/drawing/2014/main" id="{30EFFB03-E6F7-4FC2-A420-0951156A0B06}"/>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6392" name="Rectangle 8">
            <a:extLst>
              <a:ext uri="{FF2B5EF4-FFF2-40B4-BE49-F238E27FC236}">
                <a16:creationId xmlns:a16="http://schemas.microsoft.com/office/drawing/2014/main" id="{9809520C-2732-41A5-BD53-C0000E369451}"/>
              </a:ext>
            </a:extLst>
          </p:cNvPr>
          <p:cNvSpPr>
            <a:spLocks noChangeArrowheads="1"/>
          </p:cNvSpPr>
          <p:nvPr/>
        </p:nvSpPr>
        <p:spPr bwMode="auto">
          <a:xfrm>
            <a:off x="2209800" y="1900238"/>
            <a:ext cx="692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indent="254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000">
                <a:latin typeface="楷体_GB2312" pitchFamily="49" charset="-122"/>
                <a:ea typeface="楷体_GB2312" pitchFamily="49" charset="-122"/>
                <a:cs typeface="Times New Roman" panose="02020603050405020304" pitchFamily="18" charset="0"/>
              </a:rPr>
              <a:t>。</a:t>
            </a:r>
          </a:p>
          <a:p>
            <a:pPr>
              <a:spcBef>
                <a:spcPct val="0"/>
              </a:spcBef>
              <a:buFontTx/>
              <a:buNone/>
            </a:pPr>
            <a:endParaRPr kumimoji="0" lang="en-US" altLang="zh-CN" sz="2000">
              <a:latin typeface="楷体_GB2312" pitchFamily="49" charset="-122"/>
              <a:ea typeface="楷体_GB2312" pitchFamily="49" charset="-122"/>
              <a:cs typeface="Times New Roman" panose="02020603050405020304" pitchFamily="18" charset="0"/>
            </a:endParaRPr>
          </a:p>
        </p:txBody>
      </p:sp>
      <p:sp>
        <p:nvSpPr>
          <p:cNvPr id="16393" name="Rectangle 9">
            <a:extLst>
              <a:ext uri="{FF2B5EF4-FFF2-40B4-BE49-F238E27FC236}">
                <a16:creationId xmlns:a16="http://schemas.microsoft.com/office/drawing/2014/main" id="{4F9318E7-10A7-4535-972B-A8C97697E984}"/>
              </a:ext>
            </a:extLst>
          </p:cNvPr>
          <p:cNvSpPr>
            <a:spLocks noChangeArrowheads="1"/>
          </p:cNvSpPr>
          <p:nvPr/>
        </p:nvSpPr>
        <p:spPr bwMode="auto">
          <a:xfrm>
            <a:off x="0" y="835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pic>
        <p:nvPicPr>
          <p:cNvPr id="16394" name="Picture 10">
            <a:extLst>
              <a:ext uri="{FF2B5EF4-FFF2-40B4-BE49-F238E27FC236}">
                <a16:creationId xmlns:a16="http://schemas.microsoft.com/office/drawing/2014/main" id="{57BCACE3-FDA7-460D-8C46-60E45A553B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88" y="908050"/>
            <a:ext cx="8208962" cy="331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6395" name="Rectangle 11">
            <a:extLst>
              <a:ext uri="{FF2B5EF4-FFF2-40B4-BE49-F238E27FC236}">
                <a16:creationId xmlns:a16="http://schemas.microsoft.com/office/drawing/2014/main" id="{0BC14FB8-0F52-49A9-BAA0-5B5E58EAB922}"/>
              </a:ext>
            </a:extLst>
          </p:cNvPr>
          <p:cNvSpPr>
            <a:spLocks noChangeArrowheads="1"/>
          </p:cNvSpPr>
          <p:nvPr/>
        </p:nvSpPr>
        <p:spPr bwMode="auto">
          <a:xfrm>
            <a:off x="3348038" y="4581525"/>
            <a:ext cx="410527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zh-CN" altLang="en-US" sz="2000" b="1">
                <a:latin typeface="楷体_GB2312" pitchFamily="49" charset="-122"/>
                <a:ea typeface="楷体_GB2312" pitchFamily="49" charset="-122"/>
              </a:rPr>
              <a:t>距离</a:t>
            </a:r>
            <a:r>
              <a:rPr kumimoji="0" lang="en-US" altLang="zh-CN" sz="2000" b="1">
                <a:latin typeface="楷体_GB2312" pitchFamily="49" charset="-122"/>
                <a:ea typeface="楷体_GB2312" pitchFamily="49" charset="-122"/>
              </a:rPr>
              <a:t>X</a:t>
            </a:r>
            <a:r>
              <a:rPr kumimoji="0" lang="zh-CN" altLang="en-US" sz="2000" b="1">
                <a:latin typeface="楷体_GB2312" pitchFamily="49" charset="-122"/>
                <a:ea typeface="楷体_GB2312" pitchFamily="49" charset="-122"/>
              </a:rPr>
              <a:t>变化时，出射光也不同，</a:t>
            </a:r>
            <a:r>
              <a:rPr kumimoji="0" lang="en-US" altLang="zh-CN" sz="2000" b="1">
                <a:latin typeface="楷体_GB2312" pitchFamily="49" charset="-122"/>
                <a:ea typeface="楷体_GB2312" pitchFamily="49" charset="-122"/>
              </a:rPr>
              <a:t>X</a:t>
            </a:r>
            <a:r>
              <a:rPr kumimoji="0" lang="zh-CN" altLang="en-US" sz="2000" b="1">
                <a:latin typeface="楷体_GB2312" pitchFamily="49" charset="-122"/>
                <a:ea typeface="楷体_GB2312" pitchFamily="49" charset="-122"/>
              </a:rPr>
              <a:t>变小出射光变强</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33D6BDC7-2A5C-429C-9FE4-A86BF4794BF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7411" name="Rectangle 3">
            <a:extLst>
              <a:ext uri="{FF2B5EF4-FFF2-40B4-BE49-F238E27FC236}">
                <a16:creationId xmlns:a16="http://schemas.microsoft.com/office/drawing/2014/main" id="{90F0549F-EB17-464A-ABD7-41F80BC0391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450564" name="Text Box 4">
            <a:extLst>
              <a:ext uri="{FF2B5EF4-FFF2-40B4-BE49-F238E27FC236}">
                <a16:creationId xmlns:a16="http://schemas.microsoft.com/office/drawing/2014/main" id="{B267CE84-3330-4BEC-A2F1-CC4FBBC85BBD}"/>
              </a:ext>
            </a:extLst>
          </p:cNvPr>
          <p:cNvSpPr txBox="1">
            <a:spLocks noChangeArrowheads="1"/>
          </p:cNvSpPr>
          <p:nvPr/>
        </p:nvSpPr>
        <p:spPr bwMode="auto">
          <a:xfrm>
            <a:off x="250825" y="333375"/>
            <a:ext cx="8353425" cy="420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000" dirty="0">
                <a:latin typeface="楷体_GB2312" pitchFamily="49" charset="-122"/>
                <a:ea typeface="楷体_GB2312" pitchFamily="49" charset="-122"/>
              </a:rPr>
              <a:t>●</a:t>
            </a:r>
            <a:r>
              <a:rPr kumimoji="0" lang="zh-CN" altLang="en-US" sz="2000" b="1" dirty="0">
                <a:latin typeface="楷体_GB2312" pitchFamily="49" charset="-122"/>
                <a:ea typeface="楷体_GB2312" pitchFamily="49" charset="-122"/>
              </a:rPr>
              <a:t>入射光纤和出射光纤的间距为</a:t>
            </a:r>
            <a:r>
              <a:rPr kumimoji="0" lang="en-US" altLang="zh-CN" sz="2000" b="1" dirty="0">
                <a:latin typeface="楷体_GB2312" pitchFamily="49" charset="-122"/>
                <a:ea typeface="楷体_GB2312" pitchFamily="49" charset="-122"/>
              </a:rPr>
              <a:t>2</a:t>
            </a:r>
            <a:r>
              <a:rPr kumimoji="0" lang="zh-CN" altLang="en-US" sz="2000" b="1" dirty="0">
                <a:latin typeface="楷体_GB2312" pitchFamily="49" charset="-122"/>
                <a:ea typeface="楷体_GB2312" pitchFamily="49" charset="-122"/>
              </a:rPr>
              <a:t>～</a:t>
            </a:r>
            <a:r>
              <a:rPr kumimoji="0" lang="en-US" altLang="zh-CN" sz="2000" b="1" dirty="0">
                <a:latin typeface="楷体_GB2312" pitchFamily="49" charset="-122"/>
                <a:ea typeface="楷体_GB2312" pitchFamily="49" charset="-122"/>
              </a:rPr>
              <a:t>3μm</a:t>
            </a:r>
            <a:r>
              <a:rPr kumimoji="0" lang="zh-CN" altLang="en-US" sz="2000" b="1" dirty="0">
                <a:latin typeface="楷体_GB2312" pitchFamily="49" charset="-122"/>
                <a:ea typeface="楷体_GB2312" pitchFamily="49" charset="-122"/>
              </a:rPr>
              <a:t>，端面为平面，两者对置；</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●入射光纤固定；</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●外界作用（如压力、张力等）使得出射光纤作横向或纵向位移或转动；</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a:t>
            </a:r>
            <a:r>
              <a:rPr kumimoji="0" lang="zh-CN" altLang="en-US" sz="2000" b="1" dirty="0">
                <a:highlight>
                  <a:srgbClr val="FFFF00"/>
                </a:highlight>
                <a:latin typeface="楷体_GB2312" pitchFamily="49" charset="-122"/>
                <a:ea typeface="楷体_GB2312" pitchFamily="49" charset="-122"/>
              </a:rPr>
              <a:t>径向位移 </a:t>
            </a:r>
            <a:r>
              <a:rPr kumimoji="0" lang="en-US" altLang="zh-CN" sz="2000" b="1" dirty="0">
                <a:highlight>
                  <a:srgbClr val="FFFF00"/>
                </a:highlight>
                <a:latin typeface="楷体_GB2312" pitchFamily="49" charset="-122"/>
                <a:ea typeface="楷体_GB2312" pitchFamily="49" charset="-122"/>
              </a:rPr>
              <a:t>d </a:t>
            </a:r>
            <a:r>
              <a:rPr kumimoji="0" lang="zh-CN" altLang="en-US" sz="2000" b="1" dirty="0">
                <a:latin typeface="楷体_GB2312" pitchFamily="49" charset="-122"/>
                <a:ea typeface="楷体_GB2312" pitchFamily="49" charset="-122"/>
              </a:rPr>
              <a:t>与功率耦合系数 </a:t>
            </a:r>
            <a:r>
              <a:rPr kumimoji="0" lang="en-US" altLang="zh-CN" sz="2000" b="1" dirty="0">
                <a:latin typeface="楷体_GB2312" pitchFamily="49" charset="-122"/>
                <a:ea typeface="楷体_GB2312" pitchFamily="49" charset="-122"/>
              </a:rPr>
              <a:t>T </a:t>
            </a:r>
            <a:r>
              <a:rPr kumimoji="0" lang="zh-CN" altLang="en-US" sz="2000" b="1" dirty="0">
                <a:latin typeface="楷体_GB2312" pitchFamily="49" charset="-122"/>
                <a:ea typeface="楷体_GB2312" pitchFamily="49" charset="-122"/>
              </a:rPr>
              <a:t>之间存在下列关系：</a:t>
            </a:r>
          </a:p>
          <a:p>
            <a:pPr eaLnBrk="1" hangingPunct="1">
              <a:lnSpc>
                <a:spcPct val="150000"/>
              </a:lnSpc>
              <a:spcBef>
                <a:spcPct val="0"/>
              </a:spcBef>
              <a:buFontTx/>
              <a:buNone/>
            </a:pPr>
            <a:endParaRPr kumimoji="0" lang="zh-CN" altLang="en-US" sz="2000" b="1" dirty="0">
              <a:latin typeface="楷体_GB2312" pitchFamily="49" charset="-122"/>
              <a:ea typeface="楷体_GB2312" pitchFamily="49" charset="-122"/>
            </a:endParaRPr>
          </a:p>
          <a:p>
            <a:pPr eaLnBrk="1" hangingPunct="1">
              <a:lnSpc>
                <a:spcPct val="150000"/>
              </a:lnSpc>
              <a:spcBef>
                <a:spcPct val="0"/>
              </a:spcBef>
              <a:buFontTx/>
              <a:buNone/>
            </a:pPr>
            <a:endParaRPr kumimoji="0" lang="zh-CN" altLang="en-US" sz="2000" b="1" dirty="0">
              <a:latin typeface="楷体_GB2312" pitchFamily="49" charset="-122"/>
              <a:ea typeface="楷体_GB2312" pitchFamily="49" charset="-122"/>
            </a:endParaRP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     式中</a:t>
            </a:r>
            <a:r>
              <a:rPr kumimoji="0" lang="en-US" altLang="zh-CN" sz="2000" b="1" dirty="0">
                <a:highlight>
                  <a:srgbClr val="FFFF00"/>
                </a:highlight>
                <a:latin typeface="楷体_GB2312" pitchFamily="49" charset="-122"/>
                <a:ea typeface="楷体_GB2312" pitchFamily="49" charset="-122"/>
              </a:rPr>
              <a:t>S</a:t>
            </a:r>
            <a:r>
              <a:rPr kumimoji="0" lang="en-US" altLang="zh-CN" sz="2000" b="1" baseline="-25000" dirty="0">
                <a:highlight>
                  <a:srgbClr val="FFFF00"/>
                </a:highlight>
                <a:latin typeface="楷体_GB2312" pitchFamily="49" charset="-122"/>
                <a:ea typeface="楷体_GB2312" pitchFamily="49" charset="-122"/>
              </a:rPr>
              <a:t>0</a:t>
            </a:r>
            <a:r>
              <a:rPr kumimoji="0" lang="zh-CN" altLang="en-US" sz="2000" b="1" dirty="0">
                <a:highlight>
                  <a:srgbClr val="FFFF00"/>
                </a:highlight>
                <a:latin typeface="楷体_GB2312" pitchFamily="49" charset="-122"/>
                <a:ea typeface="楷体_GB2312" pitchFamily="49" charset="-122"/>
              </a:rPr>
              <a:t>为光纤中的光斑尺寸</a:t>
            </a:r>
            <a:r>
              <a:rPr kumimoji="0" lang="zh-CN" altLang="en-US" sz="2000" b="1" dirty="0">
                <a:latin typeface="楷体_GB2312" pitchFamily="49" charset="-122"/>
                <a:ea typeface="楷体_GB2312" pitchFamily="49" charset="-122"/>
              </a:rPr>
              <a:t>；</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●出射光纤输出的光强被其位移所调制；</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●这种调制方法可以测量</a:t>
            </a:r>
            <a:r>
              <a:rPr kumimoji="0" lang="en-US" altLang="zh-CN" sz="2000" b="1" dirty="0">
                <a:latin typeface="楷体_GB2312" pitchFamily="49" charset="-122"/>
                <a:ea typeface="楷体_GB2312" pitchFamily="49" charset="-122"/>
              </a:rPr>
              <a:t>10μm</a:t>
            </a:r>
            <a:r>
              <a:rPr kumimoji="0" lang="zh-CN" altLang="en-US" sz="2000" b="1" dirty="0">
                <a:latin typeface="楷体_GB2312" pitchFamily="49" charset="-122"/>
                <a:ea typeface="楷体_GB2312" pitchFamily="49" charset="-122"/>
              </a:rPr>
              <a:t>以内的位移量。</a:t>
            </a:r>
          </a:p>
        </p:txBody>
      </p:sp>
      <p:graphicFrame>
        <p:nvGraphicFramePr>
          <p:cNvPr id="17413" name="Object 5">
            <a:extLst>
              <a:ext uri="{FF2B5EF4-FFF2-40B4-BE49-F238E27FC236}">
                <a16:creationId xmlns:a16="http://schemas.microsoft.com/office/drawing/2014/main" id="{49219CC8-97D2-4248-ABA5-0A9C2152D919}"/>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17451" name="Equation" r:id="rId3" imgW="435285" imgH="677109" progId="Equation.DSMT4">
                  <p:embed/>
                </p:oleObj>
              </mc:Choice>
              <mc:Fallback>
                <p:oleObj name="Equation" r:id="rId3" imgW="435285" imgH="67710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4" name="Rectangle 6">
            <a:extLst>
              <a:ext uri="{FF2B5EF4-FFF2-40B4-BE49-F238E27FC236}">
                <a16:creationId xmlns:a16="http://schemas.microsoft.com/office/drawing/2014/main" id="{C09DDD91-B079-4B11-AD10-64C415B6B223}"/>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cs typeface="Times New Roman" panose="02020603050405020304" pitchFamily="18" charset="0"/>
              </a:rPr>
              <a:t>：</a:t>
            </a:r>
            <a:endParaRPr kumimoji="0" lang="zh-CN" altLang="en-US" sz="1100">
              <a:latin typeface="Arial" panose="020B0604020202020204" pitchFamily="34" charset="0"/>
              <a:cs typeface="Times New Roman" panose="02020603050405020304" pitchFamily="18" charset="0"/>
            </a:endParaRPr>
          </a:p>
          <a:p>
            <a:pPr>
              <a:spcBef>
                <a:spcPct val="0"/>
              </a:spcBef>
              <a:buFontTx/>
              <a:buNone/>
            </a:pPr>
            <a:endParaRPr kumimoji="0" lang="en-US" altLang="zh-CN" sz="1800">
              <a:latin typeface="Arial" panose="020B0604020202020204" pitchFamily="34" charset="0"/>
              <a:cs typeface="Times New Roman" panose="02020603050405020304" pitchFamily="18" charset="0"/>
            </a:endParaRPr>
          </a:p>
        </p:txBody>
      </p:sp>
      <p:sp>
        <p:nvSpPr>
          <p:cNvPr id="17415" name="Rectangle 7">
            <a:extLst>
              <a:ext uri="{FF2B5EF4-FFF2-40B4-BE49-F238E27FC236}">
                <a16:creationId xmlns:a16="http://schemas.microsoft.com/office/drawing/2014/main" id="{A7412DB4-F575-4ABC-B545-14B4F6DD3AC5}"/>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7416" name="Rectangle 8">
            <a:extLst>
              <a:ext uri="{FF2B5EF4-FFF2-40B4-BE49-F238E27FC236}">
                <a16:creationId xmlns:a16="http://schemas.microsoft.com/office/drawing/2014/main" id="{62126F68-54B2-4956-B619-44EE0D89074E}"/>
              </a:ext>
            </a:extLst>
          </p:cNvPr>
          <p:cNvSpPr>
            <a:spLocks noChangeArrowheads="1"/>
          </p:cNvSpPr>
          <p:nvPr/>
        </p:nvSpPr>
        <p:spPr bwMode="auto">
          <a:xfrm>
            <a:off x="0" y="835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aphicFrame>
        <p:nvGraphicFramePr>
          <p:cNvPr id="450569" name="Object 9">
            <a:extLst>
              <a:ext uri="{FF2B5EF4-FFF2-40B4-BE49-F238E27FC236}">
                <a16:creationId xmlns:a16="http://schemas.microsoft.com/office/drawing/2014/main" id="{9C802321-DC64-43C8-BD01-0699A90257B4}"/>
              </a:ext>
            </a:extLst>
          </p:cNvPr>
          <p:cNvGraphicFramePr>
            <a:graphicFrameLocks noChangeAspect="1"/>
          </p:cNvGraphicFramePr>
          <p:nvPr/>
        </p:nvGraphicFramePr>
        <p:xfrm>
          <a:off x="3262313" y="2276475"/>
          <a:ext cx="1533525" cy="773113"/>
        </p:xfrm>
        <a:graphic>
          <a:graphicData uri="http://schemas.openxmlformats.org/presentationml/2006/ole">
            <mc:AlternateContent xmlns:mc="http://schemas.openxmlformats.org/markup-compatibility/2006">
              <mc:Choice xmlns:v="urn:schemas-microsoft-com:vml" Requires="v">
                <p:oleObj spid="_x0000_s17452" name="Equation" r:id="rId5" imgW="901700" imgH="457200" progId="Equation.DSMT4">
                  <p:embed/>
                </p:oleObj>
              </mc:Choice>
              <mc:Fallback>
                <p:oleObj name="Equation" r:id="rId5" imgW="901700" imgH="4572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2313" y="2276475"/>
                        <a:ext cx="1533525" cy="7731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7418" name="Picture 10">
            <a:extLst>
              <a:ext uri="{FF2B5EF4-FFF2-40B4-BE49-F238E27FC236}">
                <a16:creationId xmlns:a16="http://schemas.microsoft.com/office/drawing/2014/main" id="{FC953710-77FD-4A8B-98E1-B9E3772D8FA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875" y="4873625"/>
            <a:ext cx="5133975"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056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5056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5056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50564">
                                            <p:txEl>
                                              <p:pRg st="3" end="3"/>
                                            </p:txEl>
                                          </p:spTgt>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fill="hold" nodeType="afterEffect">
                                  <p:stCondLst>
                                    <p:cond delay="0"/>
                                  </p:stCondLst>
                                  <p:childTnLst>
                                    <p:set>
                                      <p:cBhvr>
                                        <p:cTn id="21" dur="1" fill="hold">
                                          <p:stCondLst>
                                            <p:cond delay="0"/>
                                          </p:stCondLst>
                                        </p:cTn>
                                        <p:tgtEl>
                                          <p:spTgt spid="450569"/>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450564">
                                            <p:txEl>
                                              <p:pRg st="6" end="6"/>
                                            </p:txEl>
                                          </p:spTgt>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450564">
                                            <p:txEl>
                                              <p:pRg st="7" end="7"/>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45056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190E463A-F485-4964-A9FA-7C66D4DF77D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8435" name="Rectangle 3">
            <a:extLst>
              <a:ext uri="{FF2B5EF4-FFF2-40B4-BE49-F238E27FC236}">
                <a16:creationId xmlns:a16="http://schemas.microsoft.com/office/drawing/2014/main" id="{DD246A66-DEA1-463C-ACA4-D9AD88571AF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8436" name="Text Box 4">
            <a:extLst>
              <a:ext uri="{FF2B5EF4-FFF2-40B4-BE49-F238E27FC236}">
                <a16:creationId xmlns:a16="http://schemas.microsoft.com/office/drawing/2014/main" id="{1A23B2B0-E69D-4646-8E07-E43DB5AA6509}"/>
              </a:ext>
            </a:extLst>
          </p:cNvPr>
          <p:cNvSpPr txBox="1">
            <a:spLocks noChangeArrowheads="1"/>
          </p:cNvSpPr>
          <p:nvPr/>
        </p:nvSpPr>
        <p:spPr bwMode="auto">
          <a:xfrm>
            <a:off x="323850" y="117475"/>
            <a:ext cx="2663825"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zh-CN" altLang="en-US" sz="2800" b="1">
                <a:solidFill>
                  <a:srgbClr val="FF0000"/>
                </a:solidFill>
                <a:latin typeface="黑体" panose="02010609060101010101" pitchFamily="49" charset="-122"/>
                <a:ea typeface="黑体" panose="02010609060101010101" pitchFamily="49" charset="-122"/>
              </a:rPr>
              <a:t>光纤压力测量：</a:t>
            </a:r>
            <a:endParaRPr kumimoji="0" lang="zh-CN" altLang="en-US" sz="2800">
              <a:solidFill>
                <a:srgbClr val="FF0000"/>
              </a:solidFill>
              <a:latin typeface="黑体" panose="02010609060101010101" pitchFamily="49" charset="-122"/>
              <a:ea typeface="黑体" panose="02010609060101010101" pitchFamily="49" charset="-122"/>
            </a:endParaRPr>
          </a:p>
        </p:txBody>
      </p:sp>
      <p:graphicFrame>
        <p:nvGraphicFramePr>
          <p:cNvPr id="18437" name="Object 5">
            <a:extLst>
              <a:ext uri="{FF2B5EF4-FFF2-40B4-BE49-F238E27FC236}">
                <a16:creationId xmlns:a16="http://schemas.microsoft.com/office/drawing/2014/main" id="{C89A5E48-A53C-4FD3-87A6-2BE61C2B5B42}"/>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18460" name="Equation" r:id="rId3" imgW="435285" imgH="677109" progId="Equation.DSMT4">
                  <p:embed/>
                </p:oleObj>
              </mc:Choice>
              <mc:Fallback>
                <p:oleObj name="Equation" r:id="rId3" imgW="435285" imgH="67710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8" name="Rectangle 6">
            <a:extLst>
              <a:ext uri="{FF2B5EF4-FFF2-40B4-BE49-F238E27FC236}">
                <a16:creationId xmlns:a16="http://schemas.microsoft.com/office/drawing/2014/main" id="{3A7171D8-01E3-4120-B511-DA620FBCE5B5}"/>
              </a:ext>
            </a:extLst>
          </p:cNvPr>
          <p:cNvSpPr>
            <a:spLocks noChangeArrowheads="1"/>
          </p:cNvSpPr>
          <p:nvPr/>
        </p:nvSpPr>
        <p:spPr bwMode="auto">
          <a:xfrm>
            <a:off x="-2600325" y="-85725"/>
            <a:ext cx="438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000">
                <a:latin typeface="楷体_GB2312" pitchFamily="49" charset="-122"/>
                <a:ea typeface="楷体_GB2312" pitchFamily="49" charset="-122"/>
                <a:cs typeface="Times New Roman" panose="02020603050405020304" pitchFamily="18" charset="0"/>
              </a:rPr>
              <a:t>：</a:t>
            </a:r>
          </a:p>
          <a:p>
            <a:pPr>
              <a:spcBef>
                <a:spcPct val="0"/>
              </a:spcBef>
              <a:buFontTx/>
              <a:buNone/>
            </a:pPr>
            <a:endParaRPr kumimoji="0" lang="en-US" altLang="zh-CN" sz="2000">
              <a:latin typeface="楷体_GB2312" pitchFamily="49" charset="-122"/>
              <a:ea typeface="楷体_GB2312" pitchFamily="49" charset="-122"/>
              <a:cs typeface="Times New Roman" panose="02020603050405020304" pitchFamily="18" charset="0"/>
            </a:endParaRPr>
          </a:p>
        </p:txBody>
      </p:sp>
      <p:sp>
        <p:nvSpPr>
          <p:cNvPr id="18439" name="Rectangle 7">
            <a:extLst>
              <a:ext uri="{FF2B5EF4-FFF2-40B4-BE49-F238E27FC236}">
                <a16:creationId xmlns:a16="http://schemas.microsoft.com/office/drawing/2014/main" id="{0B5149B3-C657-4584-842F-06E389E6578E}"/>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8440" name="Rectangle 8">
            <a:extLst>
              <a:ext uri="{FF2B5EF4-FFF2-40B4-BE49-F238E27FC236}">
                <a16:creationId xmlns:a16="http://schemas.microsoft.com/office/drawing/2014/main" id="{25057078-6320-4F72-88EB-1CEA9243402E}"/>
              </a:ext>
            </a:extLst>
          </p:cNvPr>
          <p:cNvSpPr>
            <a:spLocks noChangeArrowheads="1"/>
          </p:cNvSpPr>
          <p:nvPr/>
        </p:nvSpPr>
        <p:spPr bwMode="auto">
          <a:xfrm>
            <a:off x="2209800" y="1900238"/>
            <a:ext cx="692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indent="254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000">
                <a:latin typeface="楷体_GB2312" pitchFamily="49" charset="-122"/>
                <a:ea typeface="楷体_GB2312" pitchFamily="49" charset="-122"/>
                <a:cs typeface="Times New Roman" panose="02020603050405020304" pitchFamily="18" charset="0"/>
              </a:rPr>
              <a:t>。</a:t>
            </a:r>
          </a:p>
          <a:p>
            <a:pPr>
              <a:spcBef>
                <a:spcPct val="0"/>
              </a:spcBef>
              <a:buFontTx/>
              <a:buNone/>
            </a:pPr>
            <a:endParaRPr kumimoji="0" lang="en-US" altLang="zh-CN" sz="2000">
              <a:latin typeface="楷体_GB2312" pitchFamily="49" charset="-122"/>
              <a:ea typeface="楷体_GB2312" pitchFamily="49" charset="-122"/>
              <a:cs typeface="Times New Roman" panose="02020603050405020304" pitchFamily="18" charset="0"/>
            </a:endParaRPr>
          </a:p>
        </p:txBody>
      </p:sp>
      <p:sp>
        <p:nvSpPr>
          <p:cNvPr id="18441" name="Rectangle 9">
            <a:extLst>
              <a:ext uri="{FF2B5EF4-FFF2-40B4-BE49-F238E27FC236}">
                <a16:creationId xmlns:a16="http://schemas.microsoft.com/office/drawing/2014/main" id="{C682E376-8783-4DD5-B2D6-80A7766A07F3}"/>
              </a:ext>
            </a:extLst>
          </p:cNvPr>
          <p:cNvSpPr>
            <a:spLocks noChangeArrowheads="1"/>
          </p:cNvSpPr>
          <p:nvPr/>
        </p:nvSpPr>
        <p:spPr bwMode="auto">
          <a:xfrm>
            <a:off x="0" y="835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pic>
        <p:nvPicPr>
          <p:cNvPr id="18442" name="Picture 10">
            <a:extLst>
              <a:ext uri="{FF2B5EF4-FFF2-40B4-BE49-F238E27FC236}">
                <a16:creationId xmlns:a16="http://schemas.microsoft.com/office/drawing/2014/main" id="{E8F63D9A-0C33-4579-B1B9-DBC8D9A244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1143000"/>
            <a:ext cx="7616825"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8443" name="Rectangle 11">
            <a:extLst>
              <a:ext uri="{FF2B5EF4-FFF2-40B4-BE49-F238E27FC236}">
                <a16:creationId xmlns:a16="http://schemas.microsoft.com/office/drawing/2014/main" id="{0124B9C2-994C-44E3-A1DE-39741482C0CB}"/>
              </a:ext>
            </a:extLst>
          </p:cNvPr>
          <p:cNvSpPr>
            <a:spLocks noChangeArrowheads="1"/>
          </p:cNvSpPr>
          <p:nvPr/>
        </p:nvSpPr>
        <p:spPr bwMode="auto">
          <a:xfrm>
            <a:off x="533400" y="4876800"/>
            <a:ext cx="8305800" cy="140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zh-CN" altLang="en-US" sz="2000" b="1">
                <a:latin typeface="楷体_GB2312" pitchFamily="49" charset="-122"/>
                <a:ea typeface="楷体_GB2312" pitchFamily="49" charset="-122"/>
              </a:rPr>
              <a:t>当膜片不受压时入射光纤和出射光纤正对，入射光全能通过出射光纤输出当传感器的膜片受压，弹簧片变形，出射光纤与入射光纤不正对，入射光不能全部通过出射光纤输出，只能小部分输出。</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F13E402-D758-43A3-AD44-4C723E94061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9459" name="Rectangle 3">
            <a:extLst>
              <a:ext uri="{FF2B5EF4-FFF2-40B4-BE49-F238E27FC236}">
                <a16:creationId xmlns:a16="http://schemas.microsoft.com/office/drawing/2014/main" id="{FF56AC75-B6AD-4CCE-A453-61ED1D0E7C1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9460" name="Text Box 4">
            <a:extLst>
              <a:ext uri="{FF2B5EF4-FFF2-40B4-BE49-F238E27FC236}">
                <a16:creationId xmlns:a16="http://schemas.microsoft.com/office/drawing/2014/main" id="{EEF94EF8-623E-4D92-94A1-0AEDB38032BB}"/>
              </a:ext>
            </a:extLst>
          </p:cNvPr>
          <p:cNvSpPr txBox="1">
            <a:spLocks noChangeArrowheads="1"/>
          </p:cNvSpPr>
          <p:nvPr/>
        </p:nvSpPr>
        <p:spPr bwMode="auto">
          <a:xfrm>
            <a:off x="250825" y="260350"/>
            <a:ext cx="8353425"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kumimoji="0" lang="en-US" altLang="zh-CN" sz="2400" b="1" dirty="0">
                <a:solidFill>
                  <a:srgbClr val="FF0000"/>
                </a:solidFill>
                <a:latin typeface="楷体_GB2312" pitchFamily="49" charset="-122"/>
                <a:ea typeface="楷体_GB2312" pitchFamily="49" charset="-122"/>
              </a:rPr>
              <a:t>②</a:t>
            </a:r>
            <a:r>
              <a:rPr kumimoji="0" lang="zh-CN" altLang="en-US" sz="2400" b="1" dirty="0">
                <a:solidFill>
                  <a:srgbClr val="FF0000"/>
                </a:solidFill>
                <a:latin typeface="楷体_GB2312" pitchFamily="49" charset="-122"/>
                <a:ea typeface="楷体_GB2312" pitchFamily="49" charset="-122"/>
              </a:rPr>
              <a:t>利用光纤微弯产生的损耗进行光强调制</a:t>
            </a:r>
          </a:p>
          <a:p>
            <a:pPr eaLnBrk="1" hangingPunct="1">
              <a:lnSpc>
                <a:spcPct val="150000"/>
              </a:lnSpc>
              <a:spcBef>
                <a:spcPct val="50000"/>
              </a:spcBef>
              <a:buFontTx/>
              <a:buNone/>
            </a:pPr>
            <a:r>
              <a:rPr kumimoji="0" lang="zh-CN" altLang="en-US" sz="2000" dirty="0">
                <a:latin typeface="楷体_GB2312" pitchFamily="49" charset="-122"/>
                <a:ea typeface="楷体_GB2312" pitchFamily="49" charset="-122"/>
              </a:rPr>
              <a:t>    </a:t>
            </a:r>
            <a:r>
              <a:rPr kumimoji="0" lang="zh-CN" altLang="en-US" sz="2000" b="1" dirty="0">
                <a:latin typeface="楷体_GB2312" pitchFamily="49" charset="-122"/>
                <a:ea typeface="楷体_GB2312" pitchFamily="49" charset="-122"/>
              </a:rPr>
              <a:t>当光纤轴向受力而发生</a:t>
            </a:r>
            <a:r>
              <a:rPr kumimoji="0" lang="zh-CN" altLang="en-US" sz="2000" b="1" dirty="0">
                <a:highlight>
                  <a:srgbClr val="FFFF00"/>
                </a:highlight>
                <a:latin typeface="楷体_GB2312" pitchFamily="49" charset="-122"/>
                <a:ea typeface="楷体_GB2312" pitchFamily="49" charset="-122"/>
              </a:rPr>
              <a:t>微小弯曲时，光纤中的部分光会折射到纤芯的包层中去，不产生全反射</a:t>
            </a:r>
            <a:r>
              <a:rPr kumimoji="0" lang="zh-CN" altLang="en-US" sz="2000" b="1" dirty="0">
                <a:latin typeface="楷体_GB2312" pitchFamily="49" charset="-122"/>
                <a:ea typeface="楷体_GB2312" pitchFamily="49" charset="-122"/>
              </a:rPr>
              <a:t>，这样将引起纤芯中的光强发生变化。因此，可测量外界作用，如应力、重量、加速度等物理量。</a:t>
            </a:r>
          </a:p>
        </p:txBody>
      </p:sp>
      <p:graphicFrame>
        <p:nvGraphicFramePr>
          <p:cNvPr id="19461" name="Object 5">
            <a:extLst>
              <a:ext uri="{FF2B5EF4-FFF2-40B4-BE49-F238E27FC236}">
                <a16:creationId xmlns:a16="http://schemas.microsoft.com/office/drawing/2014/main" id="{12B4B750-FFE4-4AED-BF41-06615EA4D102}"/>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19484" name="Equation" r:id="rId3" imgW="435285" imgH="677109" progId="Equation.DSMT4">
                  <p:embed/>
                </p:oleObj>
              </mc:Choice>
              <mc:Fallback>
                <p:oleObj name="Equation" r:id="rId3" imgW="435285" imgH="67710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2" name="Rectangle 6">
            <a:extLst>
              <a:ext uri="{FF2B5EF4-FFF2-40B4-BE49-F238E27FC236}">
                <a16:creationId xmlns:a16="http://schemas.microsoft.com/office/drawing/2014/main" id="{C9CFD593-1BDF-4AAD-85FA-DCD7B7A7320B}"/>
              </a:ext>
            </a:extLst>
          </p:cNvPr>
          <p:cNvSpPr>
            <a:spLocks noChangeArrowheads="1"/>
          </p:cNvSpPr>
          <p:nvPr/>
        </p:nvSpPr>
        <p:spPr bwMode="auto">
          <a:xfrm>
            <a:off x="-2600325" y="-85725"/>
            <a:ext cx="438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000">
                <a:latin typeface="楷体_GB2312" pitchFamily="49" charset="-122"/>
                <a:ea typeface="楷体_GB2312" pitchFamily="49" charset="-122"/>
                <a:cs typeface="Times New Roman" panose="02020603050405020304" pitchFamily="18" charset="0"/>
              </a:rPr>
              <a:t>：</a:t>
            </a:r>
          </a:p>
          <a:p>
            <a:pPr>
              <a:spcBef>
                <a:spcPct val="0"/>
              </a:spcBef>
              <a:buFontTx/>
              <a:buNone/>
            </a:pPr>
            <a:endParaRPr kumimoji="0" lang="en-US" altLang="zh-CN" sz="2000">
              <a:latin typeface="楷体_GB2312" pitchFamily="49" charset="-122"/>
              <a:ea typeface="楷体_GB2312" pitchFamily="49" charset="-122"/>
              <a:cs typeface="Times New Roman" panose="02020603050405020304" pitchFamily="18" charset="0"/>
            </a:endParaRPr>
          </a:p>
        </p:txBody>
      </p:sp>
      <p:sp>
        <p:nvSpPr>
          <p:cNvPr id="19463" name="Rectangle 7">
            <a:extLst>
              <a:ext uri="{FF2B5EF4-FFF2-40B4-BE49-F238E27FC236}">
                <a16:creationId xmlns:a16="http://schemas.microsoft.com/office/drawing/2014/main" id="{A659D0A2-B61A-4980-8A79-184DA60B65C8}"/>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19464" name="Rectangle 8">
            <a:extLst>
              <a:ext uri="{FF2B5EF4-FFF2-40B4-BE49-F238E27FC236}">
                <a16:creationId xmlns:a16="http://schemas.microsoft.com/office/drawing/2014/main" id="{9A227147-B665-4409-8E75-9F93388C2134}"/>
              </a:ext>
            </a:extLst>
          </p:cNvPr>
          <p:cNvSpPr>
            <a:spLocks noChangeArrowheads="1"/>
          </p:cNvSpPr>
          <p:nvPr/>
        </p:nvSpPr>
        <p:spPr bwMode="auto">
          <a:xfrm>
            <a:off x="2209800" y="1900238"/>
            <a:ext cx="692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indent="254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000">
                <a:latin typeface="楷体_GB2312" pitchFamily="49" charset="-122"/>
                <a:ea typeface="楷体_GB2312" pitchFamily="49" charset="-122"/>
                <a:cs typeface="Times New Roman" panose="02020603050405020304" pitchFamily="18" charset="0"/>
              </a:rPr>
              <a:t>。</a:t>
            </a:r>
          </a:p>
          <a:p>
            <a:pPr>
              <a:spcBef>
                <a:spcPct val="0"/>
              </a:spcBef>
              <a:buFontTx/>
              <a:buNone/>
            </a:pPr>
            <a:endParaRPr kumimoji="0" lang="en-US" altLang="zh-CN" sz="2000">
              <a:latin typeface="楷体_GB2312" pitchFamily="49" charset="-122"/>
              <a:ea typeface="楷体_GB2312" pitchFamily="49" charset="-122"/>
              <a:cs typeface="Times New Roman" panose="02020603050405020304" pitchFamily="18" charset="0"/>
            </a:endParaRPr>
          </a:p>
        </p:txBody>
      </p:sp>
      <p:sp>
        <p:nvSpPr>
          <p:cNvPr id="19465" name="Rectangle 9">
            <a:extLst>
              <a:ext uri="{FF2B5EF4-FFF2-40B4-BE49-F238E27FC236}">
                <a16:creationId xmlns:a16="http://schemas.microsoft.com/office/drawing/2014/main" id="{C774CEB2-D0FE-4F5F-A7DE-596F4DE59B6C}"/>
              </a:ext>
            </a:extLst>
          </p:cNvPr>
          <p:cNvSpPr>
            <a:spLocks noChangeArrowheads="1"/>
          </p:cNvSpPr>
          <p:nvPr/>
        </p:nvSpPr>
        <p:spPr bwMode="auto">
          <a:xfrm>
            <a:off x="0" y="835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pic>
        <p:nvPicPr>
          <p:cNvPr id="19466" name="Picture 10">
            <a:extLst>
              <a:ext uri="{FF2B5EF4-FFF2-40B4-BE49-F238E27FC236}">
                <a16:creationId xmlns:a16="http://schemas.microsoft.com/office/drawing/2014/main" id="{221FF526-FBF3-4C6E-AB5C-7020E2DD02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2997199"/>
            <a:ext cx="4391025"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72138FB2-9F1D-4A69-A326-66074617BBFF}"/>
              </a:ext>
            </a:extLst>
          </p:cNvPr>
          <p:cNvPicPr>
            <a:picLocks noChangeAspect="1"/>
          </p:cNvPicPr>
          <p:nvPr/>
        </p:nvPicPr>
        <p:blipFill>
          <a:blip r:embed="rId6"/>
          <a:stretch>
            <a:fillRect/>
          </a:stretch>
        </p:blipFill>
        <p:spPr>
          <a:xfrm>
            <a:off x="678214" y="2992275"/>
            <a:ext cx="2609850" cy="1885950"/>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0B7B337-45F5-4F9B-B394-23D1AFCFF67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0483" name="Rectangle 3">
            <a:extLst>
              <a:ext uri="{FF2B5EF4-FFF2-40B4-BE49-F238E27FC236}">
                <a16:creationId xmlns:a16="http://schemas.microsoft.com/office/drawing/2014/main" id="{5CE140B5-8052-4FF6-AF77-4396797C639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0484" name="Text Box 4">
            <a:extLst>
              <a:ext uri="{FF2B5EF4-FFF2-40B4-BE49-F238E27FC236}">
                <a16:creationId xmlns:a16="http://schemas.microsoft.com/office/drawing/2014/main" id="{E996A91B-4D49-4070-BAC6-C1635BE88C0A}"/>
              </a:ext>
            </a:extLst>
          </p:cNvPr>
          <p:cNvSpPr txBox="1">
            <a:spLocks noChangeArrowheads="1"/>
          </p:cNvSpPr>
          <p:nvPr/>
        </p:nvSpPr>
        <p:spPr bwMode="auto">
          <a:xfrm>
            <a:off x="358775" y="358775"/>
            <a:ext cx="8353425" cy="246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400" b="1" dirty="0">
                <a:solidFill>
                  <a:srgbClr val="FF0000"/>
                </a:solidFill>
                <a:latin typeface="楷体_GB2312" pitchFamily="49" charset="-122"/>
                <a:ea typeface="楷体_GB2312" pitchFamily="49" charset="-122"/>
              </a:rPr>
              <a:t>③</a:t>
            </a:r>
            <a:r>
              <a:rPr kumimoji="0" lang="zh-CN" altLang="en-US" sz="2400" b="1" dirty="0">
                <a:solidFill>
                  <a:srgbClr val="FF0000"/>
                </a:solidFill>
                <a:latin typeface="楷体_GB2312" pitchFamily="49" charset="-122"/>
                <a:ea typeface="楷体_GB2312" pitchFamily="49" charset="-122"/>
              </a:rPr>
              <a:t>利用光纤吸收特性的强度调制</a:t>
            </a:r>
          </a:p>
          <a:p>
            <a:pPr eaLnBrk="1" hangingPunct="1">
              <a:lnSpc>
                <a:spcPct val="150000"/>
              </a:lnSpc>
              <a:spcBef>
                <a:spcPct val="0"/>
              </a:spcBef>
              <a:buFontTx/>
              <a:buNone/>
            </a:pPr>
            <a:r>
              <a:rPr kumimoji="0" lang="zh-CN" altLang="en-US" sz="2000" dirty="0">
                <a:latin typeface="楷体_GB2312" pitchFamily="49" charset="-122"/>
                <a:ea typeface="楷体_GB2312" pitchFamily="49" charset="-122"/>
              </a:rPr>
              <a:t>● </a:t>
            </a:r>
            <a:r>
              <a:rPr kumimoji="0" lang="en-US" altLang="zh-CN" sz="2000" b="1" dirty="0">
                <a:highlight>
                  <a:srgbClr val="FFFF00"/>
                </a:highlight>
                <a:latin typeface="楷体_GB2312" pitchFamily="49" charset="-122"/>
                <a:ea typeface="楷体_GB2312" pitchFamily="49" charset="-122"/>
              </a:rPr>
              <a:t>x</a:t>
            </a:r>
            <a:r>
              <a:rPr kumimoji="0" lang="zh-CN" altLang="en-US" sz="2000" b="1" dirty="0">
                <a:highlight>
                  <a:srgbClr val="FFFF00"/>
                </a:highlight>
                <a:latin typeface="楷体_GB2312" pitchFamily="49" charset="-122"/>
                <a:ea typeface="楷体_GB2312" pitchFamily="49" charset="-122"/>
              </a:rPr>
              <a:t>、</a:t>
            </a:r>
            <a:r>
              <a:rPr kumimoji="0" lang="en-US" altLang="zh-CN" sz="2000" b="1" dirty="0">
                <a:highlight>
                  <a:srgbClr val="FFFF00"/>
                </a:highlight>
                <a:latin typeface="楷体_GB2312" pitchFamily="49" charset="-122"/>
                <a:ea typeface="楷体_GB2312" pitchFamily="49" charset="-122"/>
              </a:rPr>
              <a:t>γ</a:t>
            </a:r>
            <a:r>
              <a:rPr kumimoji="0" lang="zh-CN" altLang="en-US" sz="2000" b="1" dirty="0">
                <a:highlight>
                  <a:srgbClr val="FFFF00"/>
                </a:highlight>
                <a:latin typeface="楷体_GB2312" pitchFamily="49" charset="-122"/>
                <a:ea typeface="楷体_GB2312" pitchFamily="49" charset="-122"/>
              </a:rPr>
              <a:t>射线等辐射会引起光纤材料的吸收损耗增加</a:t>
            </a:r>
            <a:r>
              <a:rPr kumimoji="0" lang="zh-CN" altLang="en-US" sz="2000" b="1" dirty="0">
                <a:latin typeface="楷体_GB2312" pitchFamily="49" charset="-122"/>
                <a:ea typeface="楷体_GB2312" pitchFamily="49" charset="-122"/>
              </a:rPr>
              <a:t>，使光纤的输出功率降低，从而可以构成强度调制器，用来测量各种辐射量</a:t>
            </a:r>
            <a:r>
              <a:rPr kumimoji="0" lang="en-US" altLang="zh-CN" sz="2000" b="1" dirty="0">
                <a:latin typeface="楷体_GB2312" pitchFamily="49" charset="-122"/>
                <a:ea typeface="楷体_GB2312" pitchFamily="49" charset="-122"/>
              </a:rPr>
              <a:t>;</a:t>
            </a:r>
          </a:p>
          <a:p>
            <a:pPr eaLnBrk="1" hangingPunct="1">
              <a:lnSpc>
                <a:spcPct val="150000"/>
              </a:lnSpc>
              <a:spcBef>
                <a:spcPct val="0"/>
              </a:spcBef>
              <a:buFontTx/>
              <a:buNone/>
            </a:pPr>
            <a:r>
              <a:rPr kumimoji="0" lang="en-US" altLang="zh-CN" sz="2000" b="1" dirty="0">
                <a:latin typeface="楷体_GB2312" pitchFamily="49" charset="-122"/>
                <a:ea typeface="楷体_GB2312" pitchFamily="49" charset="-122"/>
              </a:rPr>
              <a:t>●</a:t>
            </a:r>
            <a:r>
              <a:rPr kumimoji="0" lang="zh-CN" altLang="en-US" sz="2000" b="1" dirty="0">
                <a:latin typeface="楷体_GB2312" pitchFamily="49" charset="-122"/>
                <a:ea typeface="楷体_GB2312" pitchFamily="49" charset="-122"/>
              </a:rPr>
              <a:t>用不同材料制成的光纤对不同射线的敏感程度是不一样的，由此还可以鉴别不同的射线</a:t>
            </a:r>
            <a:r>
              <a:rPr kumimoji="0" lang="en-US" altLang="zh-CN" sz="2000" b="1" dirty="0">
                <a:latin typeface="楷体_GB2312" pitchFamily="49" charset="-122"/>
                <a:ea typeface="楷体_GB2312" pitchFamily="49" charset="-122"/>
              </a:rPr>
              <a:t>.</a:t>
            </a:r>
          </a:p>
        </p:txBody>
      </p:sp>
      <p:graphicFrame>
        <p:nvGraphicFramePr>
          <p:cNvPr id="20485" name="Object 5">
            <a:extLst>
              <a:ext uri="{FF2B5EF4-FFF2-40B4-BE49-F238E27FC236}">
                <a16:creationId xmlns:a16="http://schemas.microsoft.com/office/drawing/2014/main" id="{6B2733E7-B4BC-4ACE-A137-78B26BCF22E4}"/>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20510" name="Equation" r:id="rId3" imgW="435285" imgH="677109" progId="Equation.DSMT4">
                  <p:embed/>
                </p:oleObj>
              </mc:Choice>
              <mc:Fallback>
                <p:oleObj name="Equation" r:id="rId3" imgW="435285" imgH="67710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6" name="Rectangle 6">
            <a:extLst>
              <a:ext uri="{FF2B5EF4-FFF2-40B4-BE49-F238E27FC236}">
                <a16:creationId xmlns:a16="http://schemas.microsoft.com/office/drawing/2014/main" id="{78678E34-4AAB-4AB1-A36F-47822C82862A}"/>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latin typeface="楷体_GB2312" pitchFamily="49" charset="-122"/>
                <a:ea typeface="楷体_GB2312" pitchFamily="49" charset="-122"/>
                <a:cs typeface="Times New Roman" panose="02020603050405020304" pitchFamily="18" charset="0"/>
              </a:rPr>
              <a:t>：</a:t>
            </a:r>
            <a:endParaRPr kumimoji="0" lang="zh-CN" altLang="en-US" sz="1100">
              <a:latin typeface="楷体_GB2312" pitchFamily="49" charset="-122"/>
              <a:ea typeface="楷体_GB2312" pitchFamily="49" charset="-122"/>
              <a:cs typeface="Times New Roman" panose="02020603050405020304" pitchFamily="18" charset="0"/>
            </a:endParaRPr>
          </a:p>
          <a:p>
            <a:pPr>
              <a:spcBef>
                <a:spcPct val="0"/>
              </a:spcBef>
              <a:buFontTx/>
              <a:buNone/>
            </a:pPr>
            <a:endParaRPr kumimoji="0" lang="en-US" altLang="zh-CN" sz="1800">
              <a:latin typeface="楷体_GB2312" pitchFamily="49" charset="-122"/>
              <a:ea typeface="楷体_GB2312" pitchFamily="49" charset="-122"/>
              <a:cs typeface="Times New Roman" panose="02020603050405020304" pitchFamily="18" charset="0"/>
            </a:endParaRPr>
          </a:p>
        </p:txBody>
      </p:sp>
      <p:sp>
        <p:nvSpPr>
          <p:cNvPr id="20487" name="Rectangle 7">
            <a:extLst>
              <a:ext uri="{FF2B5EF4-FFF2-40B4-BE49-F238E27FC236}">
                <a16:creationId xmlns:a16="http://schemas.microsoft.com/office/drawing/2014/main" id="{71F25BE7-5572-4D1A-B232-A538D3916A89}"/>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0488" name="Rectangle 8">
            <a:extLst>
              <a:ext uri="{FF2B5EF4-FFF2-40B4-BE49-F238E27FC236}">
                <a16:creationId xmlns:a16="http://schemas.microsoft.com/office/drawing/2014/main" id="{B7E6EBF1-0C92-4162-A41F-8BB5992E604D}"/>
              </a:ext>
            </a:extLst>
          </p:cNvPr>
          <p:cNvSpPr>
            <a:spLocks noChangeArrowheads="1"/>
          </p:cNvSpPr>
          <p:nvPr/>
        </p:nvSpPr>
        <p:spPr bwMode="auto">
          <a:xfrm>
            <a:off x="0" y="835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pSp>
        <p:nvGrpSpPr>
          <p:cNvPr id="20489" name="Group 9">
            <a:extLst>
              <a:ext uri="{FF2B5EF4-FFF2-40B4-BE49-F238E27FC236}">
                <a16:creationId xmlns:a16="http://schemas.microsoft.com/office/drawing/2014/main" id="{F81B40B1-5D0D-4251-B9CD-6D67CEC679EA}"/>
              </a:ext>
            </a:extLst>
          </p:cNvPr>
          <p:cNvGrpSpPr>
            <a:grpSpLocks/>
          </p:cNvGrpSpPr>
          <p:nvPr/>
        </p:nvGrpSpPr>
        <p:grpSpPr bwMode="auto">
          <a:xfrm>
            <a:off x="1066800" y="2743200"/>
            <a:ext cx="7353300" cy="3505200"/>
            <a:chOff x="576" y="1638"/>
            <a:chExt cx="4920" cy="2566"/>
          </a:xfrm>
        </p:grpSpPr>
        <p:pic>
          <p:nvPicPr>
            <p:cNvPr id="20490" name="Picture 10" descr="图12-10">
              <a:extLst>
                <a:ext uri="{FF2B5EF4-FFF2-40B4-BE49-F238E27FC236}">
                  <a16:creationId xmlns:a16="http://schemas.microsoft.com/office/drawing/2014/main" id="{9AE0ABEC-9355-4DAD-9AC5-5E1DB38F9D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 y="1638"/>
              <a:ext cx="4920" cy="2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1" name="Rectangle 11">
              <a:extLst>
                <a:ext uri="{FF2B5EF4-FFF2-40B4-BE49-F238E27FC236}">
                  <a16:creationId xmlns:a16="http://schemas.microsoft.com/office/drawing/2014/main" id="{54F6AAD9-338B-4876-8C6E-B88A031DF3E4}"/>
                </a:ext>
              </a:extLst>
            </p:cNvPr>
            <p:cNvSpPr>
              <a:spLocks noChangeArrowheads="1"/>
            </p:cNvSpPr>
            <p:nvPr/>
          </p:nvSpPr>
          <p:spPr bwMode="auto">
            <a:xfrm>
              <a:off x="2112" y="3984"/>
              <a:ext cx="576"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8000" tIns="10800" rIns="18000" bIns="10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42DC720C-59B5-4643-B257-D5D0498D86E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1507" name="Rectangle 3">
            <a:extLst>
              <a:ext uri="{FF2B5EF4-FFF2-40B4-BE49-F238E27FC236}">
                <a16:creationId xmlns:a16="http://schemas.microsoft.com/office/drawing/2014/main" id="{B64FF56F-BEDF-4FA3-AEDD-94105EB2AF4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1508" name="Text Box 4">
            <a:extLst>
              <a:ext uri="{FF2B5EF4-FFF2-40B4-BE49-F238E27FC236}">
                <a16:creationId xmlns:a16="http://schemas.microsoft.com/office/drawing/2014/main" id="{5377FA37-D38E-467D-A5FF-26F5BD0E864D}"/>
              </a:ext>
            </a:extLst>
          </p:cNvPr>
          <p:cNvSpPr txBox="1">
            <a:spLocks noChangeArrowheads="1"/>
          </p:cNvSpPr>
          <p:nvPr/>
        </p:nvSpPr>
        <p:spPr bwMode="auto">
          <a:xfrm>
            <a:off x="358775" y="358775"/>
            <a:ext cx="8353425"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400" b="1">
                <a:solidFill>
                  <a:srgbClr val="FF0000"/>
                </a:solidFill>
                <a:latin typeface="楷体_GB2312" pitchFamily="49" charset="-122"/>
                <a:ea typeface="楷体_GB2312" pitchFamily="49" charset="-122"/>
              </a:rPr>
              <a:t>④</a:t>
            </a:r>
            <a:r>
              <a:rPr kumimoji="0" lang="zh-CN" altLang="en-US" sz="2400" b="1">
                <a:solidFill>
                  <a:srgbClr val="FF0000"/>
                </a:solidFill>
                <a:latin typeface="楷体_GB2312" pitchFamily="49" charset="-122"/>
                <a:ea typeface="楷体_GB2312" pitchFamily="49" charset="-122"/>
              </a:rPr>
              <a:t>反射式强度调制</a:t>
            </a:r>
          </a:p>
        </p:txBody>
      </p:sp>
      <p:graphicFrame>
        <p:nvGraphicFramePr>
          <p:cNvPr id="21509" name="Object 5">
            <a:extLst>
              <a:ext uri="{FF2B5EF4-FFF2-40B4-BE49-F238E27FC236}">
                <a16:creationId xmlns:a16="http://schemas.microsoft.com/office/drawing/2014/main" id="{16C5428F-530D-4F65-BDB3-FD86D776AF40}"/>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21537" name="Equation" r:id="rId4" imgW="435285" imgH="677109" progId="Equation.DSMT4">
                  <p:embed/>
                </p:oleObj>
              </mc:Choice>
              <mc:Fallback>
                <p:oleObj name="Equation" r:id="rId4" imgW="435285" imgH="677109"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0" name="Rectangle 6">
            <a:extLst>
              <a:ext uri="{FF2B5EF4-FFF2-40B4-BE49-F238E27FC236}">
                <a16:creationId xmlns:a16="http://schemas.microsoft.com/office/drawing/2014/main" id="{D686FC27-0D7A-42A7-9FFD-335880133929}"/>
              </a:ext>
            </a:extLst>
          </p:cNvPr>
          <p:cNvSpPr>
            <a:spLocks noChangeArrowheads="1"/>
          </p:cNvSpPr>
          <p:nvPr/>
        </p:nvSpPr>
        <p:spPr bwMode="auto">
          <a:xfrm>
            <a:off x="-2600325" y="-85725"/>
            <a:ext cx="438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000">
                <a:latin typeface="楷体_GB2312" pitchFamily="49" charset="-122"/>
                <a:ea typeface="楷体_GB2312" pitchFamily="49" charset="-122"/>
                <a:cs typeface="Times New Roman" panose="02020603050405020304" pitchFamily="18" charset="0"/>
              </a:rPr>
              <a:t>：</a:t>
            </a:r>
          </a:p>
          <a:p>
            <a:pPr>
              <a:spcBef>
                <a:spcPct val="0"/>
              </a:spcBef>
              <a:buFontTx/>
              <a:buNone/>
            </a:pPr>
            <a:endParaRPr kumimoji="0" lang="en-US" altLang="zh-CN" sz="2000">
              <a:latin typeface="楷体_GB2312" pitchFamily="49" charset="-122"/>
              <a:ea typeface="楷体_GB2312" pitchFamily="49" charset="-122"/>
              <a:cs typeface="Times New Roman" panose="02020603050405020304" pitchFamily="18" charset="0"/>
            </a:endParaRPr>
          </a:p>
        </p:txBody>
      </p:sp>
      <p:sp>
        <p:nvSpPr>
          <p:cNvPr id="21511" name="Rectangle 7">
            <a:extLst>
              <a:ext uri="{FF2B5EF4-FFF2-40B4-BE49-F238E27FC236}">
                <a16:creationId xmlns:a16="http://schemas.microsoft.com/office/drawing/2014/main" id="{0DFA4B16-6432-452C-9D2F-473B72EDA32F}"/>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1512" name="Rectangle 8">
            <a:extLst>
              <a:ext uri="{FF2B5EF4-FFF2-40B4-BE49-F238E27FC236}">
                <a16:creationId xmlns:a16="http://schemas.microsoft.com/office/drawing/2014/main" id="{EF427B9C-A9CA-4E0C-826F-B17331E7A7DC}"/>
              </a:ext>
            </a:extLst>
          </p:cNvPr>
          <p:cNvSpPr>
            <a:spLocks noChangeArrowheads="1"/>
          </p:cNvSpPr>
          <p:nvPr/>
        </p:nvSpPr>
        <p:spPr bwMode="auto">
          <a:xfrm>
            <a:off x="0" y="835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pic>
        <p:nvPicPr>
          <p:cNvPr id="21513" name="Picture 11">
            <a:extLst>
              <a:ext uri="{FF2B5EF4-FFF2-40B4-BE49-F238E27FC236}">
                <a16:creationId xmlns:a16="http://schemas.microsoft.com/office/drawing/2014/main" id="{58A2018D-FD15-45D3-B83F-C821111E58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1341438"/>
            <a:ext cx="6810375" cy="277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1514" name="Rectangle 12">
            <a:extLst>
              <a:ext uri="{FF2B5EF4-FFF2-40B4-BE49-F238E27FC236}">
                <a16:creationId xmlns:a16="http://schemas.microsoft.com/office/drawing/2014/main" id="{B5D80EAE-976D-4141-882F-323F79CA1260}"/>
              </a:ext>
            </a:extLst>
          </p:cNvPr>
          <p:cNvSpPr>
            <a:spLocks noChangeArrowheads="1"/>
          </p:cNvSpPr>
          <p:nvPr/>
        </p:nvSpPr>
        <p:spPr bwMode="auto">
          <a:xfrm>
            <a:off x="2195513" y="4508500"/>
            <a:ext cx="52578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zh-CN" altLang="en-US" sz="2000" b="1">
                <a:latin typeface="楷体_GB2312" pitchFamily="49" charset="-122"/>
                <a:ea typeface="楷体_GB2312" pitchFamily="49" charset="-122"/>
              </a:rPr>
              <a:t>位移：当光纤测头与物体的距离</a:t>
            </a:r>
            <a:r>
              <a:rPr kumimoji="0" lang="en-US" altLang="zh-CN" sz="2000" b="1">
                <a:latin typeface="楷体_GB2312" pitchFamily="49" charset="-122"/>
                <a:ea typeface="楷体_GB2312" pitchFamily="49" charset="-122"/>
              </a:rPr>
              <a:t>X</a:t>
            </a:r>
            <a:r>
              <a:rPr kumimoji="0" lang="zh-CN" altLang="en-US" sz="2000" b="1">
                <a:latin typeface="楷体_GB2312" pitchFamily="49" charset="-122"/>
                <a:ea typeface="楷体_GB2312" pitchFamily="49" charset="-122"/>
              </a:rPr>
              <a:t>变大时，接收光纤上的返回信号会变小</a:t>
            </a:r>
          </a:p>
        </p:txBody>
      </p:sp>
      <p:sp>
        <p:nvSpPr>
          <p:cNvPr id="21515" name="Rectangle 12">
            <a:extLst>
              <a:ext uri="{FF2B5EF4-FFF2-40B4-BE49-F238E27FC236}">
                <a16:creationId xmlns:a16="http://schemas.microsoft.com/office/drawing/2014/main" id="{FFF2B057-BECA-4AB1-92AC-317187E5D7DE}"/>
              </a:ext>
            </a:extLst>
          </p:cNvPr>
          <p:cNvSpPr>
            <a:spLocks noChangeArrowheads="1"/>
          </p:cNvSpPr>
          <p:nvPr/>
        </p:nvSpPr>
        <p:spPr bwMode="auto">
          <a:xfrm>
            <a:off x="2160588" y="5732463"/>
            <a:ext cx="3706812"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000" b="1" dirty="0">
                <a:latin typeface="楷体_GB2312" pitchFamily="49" charset="-122"/>
                <a:ea typeface="楷体_GB2312" pitchFamily="49" charset="-122"/>
              </a:rPr>
              <a:t>* </a:t>
            </a:r>
            <a:r>
              <a:rPr kumimoji="0" lang="zh-CN" altLang="en-US" sz="2000" b="1" dirty="0">
                <a:latin typeface="楷体_GB2312" pitchFamily="49" charset="-122"/>
                <a:ea typeface="楷体_GB2312" pitchFamily="49" charset="-122"/>
              </a:rPr>
              <a:t>半坡特性</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A4ADB0D-F285-401F-9EE1-6E29DB0533C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3555" name="Rectangle 3">
            <a:extLst>
              <a:ext uri="{FF2B5EF4-FFF2-40B4-BE49-F238E27FC236}">
                <a16:creationId xmlns:a16="http://schemas.microsoft.com/office/drawing/2014/main" id="{FAF207BE-7D26-4D6A-BDB4-E1802F5563B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3556" name="Text Box 4">
            <a:extLst>
              <a:ext uri="{FF2B5EF4-FFF2-40B4-BE49-F238E27FC236}">
                <a16:creationId xmlns:a16="http://schemas.microsoft.com/office/drawing/2014/main" id="{EF795200-C726-489C-9C13-9F5D42A23350}"/>
              </a:ext>
            </a:extLst>
          </p:cNvPr>
          <p:cNvSpPr txBox="1">
            <a:spLocks noChangeArrowheads="1"/>
          </p:cNvSpPr>
          <p:nvPr/>
        </p:nvSpPr>
        <p:spPr bwMode="auto">
          <a:xfrm>
            <a:off x="468313" y="1484313"/>
            <a:ext cx="201612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zh-CN" altLang="en-US" sz="2000" b="1">
                <a:latin typeface="楷体_GB2312" pitchFamily="49" charset="-122"/>
                <a:ea typeface="楷体_GB2312" pitchFamily="49" charset="-122"/>
              </a:rPr>
              <a:t>光纤液位测量：</a:t>
            </a:r>
          </a:p>
        </p:txBody>
      </p:sp>
      <p:graphicFrame>
        <p:nvGraphicFramePr>
          <p:cNvPr id="23557" name="Object 5">
            <a:extLst>
              <a:ext uri="{FF2B5EF4-FFF2-40B4-BE49-F238E27FC236}">
                <a16:creationId xmlns:a16="http://schemas.microsoft.com/office/drawing/2014/main" id="{8EA31DA2-9249-4A67-B0EF-513AB304FAC8}"/>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23580" name="Equation" r:id="rId3" imgW="435285" imgH="677109" progId="Equation.DSMT4">
                  <p:embed/>
                </p:oleObj>
              </mc:Choice>
              <mc:Fallback>
                <p:oleObj name="Equation" r:id="rId3" imgW="435285" imgH="67710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8" name="Rectangle 6">
            <a:extLst>
              <a:ext uri="{FF2B5EF4-FFF2-40B4-BE49-F238E27FC236}">
                <a16:creationId xmlns:a16="http://schemas.microsoft.com/office/drawing/2014/main" id="{FFF1F09F-18B9-4DC3-8902-61545FE0FBC5}"/>
              </a:ext>
            </a:extLst>
          </p:cNvPr>
          <p:cNvSpPr>
            <a:spLocks noChangeArrowheads="1"/>
          </p:cNvSpPr>
          <p:nvPr/>
        </p:nvSpPr>
        <p:spPr bwMode="auto">
          <a:xfrm>
            <a:off x="-2600325" y="-85725"/>
            <a:ext cx="438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000">
                <a:latin typeface="楷体_GB2312" pitchFamily="49" charset="-122"/>
                <a:ea typeface="楷体_GB2312" pitchFamily="49" charset="-122"/>
                <a:cs typeface="Times New Roman" panose="02020603050405020304" pitchFamily="18" charset="0"/>
              </a:rPr>
              <a:t>：</a:t>
            </a:r>
          </a:p>
          <a:p>
            <a:pPr>
              <a:spcBef>
                <a:spcPct val="0"/>
              </a:spcBef>
              <a:buFontTx/>
              <a:buNone/>
            </a:pPr>
            <a:endParaRPr kumimoji="0" lang="en-US" altLang="zh-CN" sz="2000">
              <a:latin typeface="楷体_GB2312" pitchFamily="49" charset="-122"/>
              <a:ea typeface="楷体_GB2312" pitchFamily="49" charset="-122"/>
              <a:cs typeface="Times New Roman" panose="02020603050405020304" pitchFamily="18" charset="0"/>
            </a:endParaRPr>
          </a:p>
        </p:txBody>
      </p:sp>
      <p:sp>
        <p:nvSpPr>
          <p:cNvPr id="23559" name="Rectangle 7">
            <a:extLst>
              <a:ext uri="{FF2B5EF4-FFF2-40B4-BE49-F238E27FC236}">
                <a16:creationId xmlns:a16="http://schemas.microsoft.com/office/drawing/2014/main" id="{A2B05C6A-E551-4B82-A973-F5526F625628}"/>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3560" name="Rectangle 8">
            <a:extLst>
              <a:ext uri="{FF2B5EF4-FFF2-40B4-BE49-F238E27FC236}">
                <a16:creationId xmlns:a16="http://schemas.microsoft.com/office/drawing/2014/main" id="{B764140B-005E-45B2-9336-712F07E48DD1}"/>
              </a:ext>
            </a:extLst>
          </p:cNvPr>
          <p:cNvSpPr>
            <a:spLocks noChangeArrowheads="1"/>
          </p:cNvSpPr>
          <p:nvPr/>
        </p:nvSpPr>
        <p:spPr bwMode="auto">
          <a:xfrm>
            <a:off x="0" y="835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pic>
        <p:nvPicPr>
          <p:cNvPr id="23561" name="Picture 9">
            <a:extLst>
              <a:ext uri="{FF2B5EF4-FFF2-40B4-BE49-F238E27FC236}">
                <a16:creationId xmlns:a16="http://schemas.microsoft.com/office/drawing/2014/main" id="{B8E18BAC-B429-48F7-A2F2-5FB2E01227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5816" y="1378953"/>
            <a:ext cx="586105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2" name="Text Box 12">
            <a:extLst>
              <a:ext uri="{FF2B5EF4-FFF2-40B4-BE49-F238E27FC236}">
                <a16:creationId xmlns:a16="http://schemas.microsoft.com/office/drawing/2014/main" id="{3F9ADEE0-2D5C-4CA6-B922-8B69F9E493D0}"/>
              </a:ext>
            </a:extLst>
          </p:cNvPr>
          <p:cNvSpPr txBox="1">
            <a:spLocks noChangeArrowheads="1"/>
          </p:cNvSpPr>
          <p:nvPr/>
        </p:nvSpPr>
        <p:spPr bwMode="auto">
          <a:xfrm>
            <a:off x="179388" y="260350"/>
            <a:ext cx="8353425"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000" b="1">
                <a:solidFill>
                  <a:srgbClr val="FF0000"/>
                </a:solidFill>
                <a:latin typeface="楷体_GB2312" pitchFamily="49" charset="-122"/>
                <a:ea typeface="楷体_GB2312" pitchFamily="49" charset="-122"/>
              </a:rPr>
              <a:t>⑤</a:t>
            </a:r>
            <a:r>
              <a:rPr kumimoji="0" lang="zh-CN" altLang="en-US" sz="2400" b="1">
                <a:solidFill>
                  <a:srgbClr val="FF0000"/>
                </a:solidFill>
                <a:latin typeface="楷体_GB2312" pitchFamily="49" charset="-122"/>
                <a:ea typeface="楷体_GB2312" pitchFamily="49" charset="-122"/>
              </a:rPr>
              <a:t>利用折射率的变化进行强度调制</a:t>
            </a:r>
          </a:p>
        </p:txBody>
      </p:sp>
      <p:sp>
        <p:nvSpPr>
          <p:cNvPr id="23563" name="Text Box 13">
            <a:extLst>
              <a:ext uri="{FF2B5EF4-FFF2-40B4-BE49-F238E27FC236}">
                <a16:creationId xmlns:a16="http://schemas.microsoft.com/office/drawing/2014/main" id="{D8E65A69-DBD4-48EE-BF82-42A8E2F26FB8}"/>
              </a:ext>
            </a:extLst>
          </p:cNvPr>
          <p:cNvSpPr txBox="1">
            <a:spLocks noChangeArrowheads="1"/>
          </p:cNvSpPr>
          <p:nvPr/>
        </p:nvSpPr>
        <p:spPr bwMode="auto">
          <a:xfrm>
            <a:off x="611188" y="5516563"/>
            <a:ext cx="42481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kumimoji="0" lang="zh-CN" altLang="en-US" sz="2000" b="1">
                <a:latin typeface="楷体_GB2312" pitchFamily="49" charset="-122"/>
                <a:ea typeface="楷体_GB2312" pitchFamily="49" charset="-122"/>
              </a:rPr>
              <a:t>温度测量、水中含油量测量等</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70FE849-E5CB-4A00-A4B0-356B004408C3}"/>
                  </a:ext>
                </a:extLst>
              </p:cNvPr>
              <p:cNvSpPr/>
              <p:nvPr/>
            </p:nvSpPr>
            <p:spPr>
              <a:xfrm>
                <a:off x="68562" y="2533988"/>
                <a:ext cx="2993063" cy="1200329"/>
              </a:xfrm>
              <a:prstGeom prst="rect">
                <a:avLst/>
              </a:prstGeom>
            </p:spPr>
            <p:txBody>
              <a:bodyPr wrap="none">
                <a:spAutoFit/>
              </a:bodyPr>
              <a:lstStyle/>
              <a:p>
                <a:r>
                  <a:rPr lang="zh-CN" altLang="en-US" sz="2400" dirty="0">
                    <a:solidFill>
                      <a:srgbClr val="0000FF"/>
                    </a:solidFill>
                  </a:rPr>
                  <a:t>光疏物质折射率</a:t>
                </a:r>
                <a14:m>
                  <m:oMath xmlns:m="http://schemas.openxmlformats.org/officeDocument/2006/math">
                    <m:sSub>
                      <m:sSubPr>
                        <m:ctrlPr>
                          <a:rPr lang="zh-CN" altLang="en-US" sz="2400" b="1" i="1">
                            <a:solidFill>
                              <a:srgbClr val="00B050"/>
                            </a:solidFill>
                            <a:latin typeface="Cambria Math" panose="02040503050406030204" pitchFamily="18" charset="0"/>
                          </a:rPr>
                        </m:ctrlPr>
                      </m:sSubPr>
                      <m:e>
                        <m:r>
                          <a:rPr lang="zh-CN" altLang="en-US" sz="2400" b="1" i="1">
                            <a:solidFill>
                              <a:srgbClr val="00B050"/>
                            </a:solidFill>
                            <a:latin typeface="Cambria Math" panose="02040503050406030204" pitchFamily="18" charset="0"/>
                          </a:rPr>
                          <m:t>𝒏</m:t>
                        </m:r>
                      </m:e>
                      <m:sub>
                        <m:r>
                          <a:rPr lang="en-US" altLang="zh-CN" sz="2400" b="1" i="1">
                            <a:solidFill>
                              <a:srgbClr val="00B050"/>
                            </a:solidFill>
                            <a:latin typeface="Cambria Math" panose="02040503050406030204" pitchFamily="18" charset="0"/>
                          </a:rPr>
                          <m:t>𝟐</m:t>
                        </m:r>
                      </m:sub>
                    </m:sSub>
                  </m:oMath>
                </a14:m>
                <a:r>
                  <a:rPr lang="zh-CN" altLang="en-US" sz="2400" dirty="0">
                    <a:solidFill>
                      <a:srgbClr val="0000FF"/>
                    </a:solidFill>
                  </a:rPr>
                  <a:t>：</a:t>
                </a:r>
                <a:endParaRPr lang="en-US" altLang="zh-CN" sz="2400" dirty="0">
                  <a:solidFill>
                    <a:srgbClr val="0000FF"/>
                  </a:solidFill>
                </a:endParaRPr>
              </a:p>
              <a:p>
                <a:r>
                  <a:rPr lang="en-US" altLang="zh-CN" sz="2400" dirty="0">
                    <a:solidFill>
                      <a:srgbClr val="0000FF"/>
                    </a:solidFill>
                  </a:rPr>
                  <a:t>       </a:t>
                </a:r>
              </a:p>
              <a:p>
                <a:r>
                  <a:rPr lang="en-US" altLang="zh-CN" sz="2400" dirty="0">
                    <a:solidFill>
                      <a:srgbClr val="0000FF"/>
                    </a:solidFill>
                  </a:rPr>
                  <a:t>   </a:t>
                </a:r>
                <a:r>
                  <a:rPr lang="zh-CN" altLang="en-US" sz="2400" dirty="0">
                    <a:solidFill>
                      <a:srgbClr val="0000FF"/>
                    </a:solidFill>
                  </a:rPr>
                  <a:t>空气 </a:t>
                </a:r>
                <a:r>
                  <a:rPr lang="en-US" altLang="zh-CN" sz="2400" dirty="0">
                    <a:solidFill>
                      <a:srgbClr val="0000FF"/>
                    </a:solidFill>
                    <a:sym typeface="Wingdings" panose="05000000000000000000" pitchFamily="2" charset="2"/>
                  </a:rPr>
                  <a:t> </a:t>
                </a:r>
                <a:r>
                  <a:rPr lang="zh-CN" altLang="en-US" sz="2400" dirty="0">
                    <a:solidFill>
                      <a:srgbClr val="0000FF"/>
                    </a:solidFill>
                  </a:rPr>
                  <a:t>液体</a:t>
                </a:r>
                <a:endParaRPr lang="zh-CN" altLang="en-US" sz="2400" dirty="0"/>
              </a:p>
            </p:txBody>
          </p:sp>
        </mc:Choice>
        <mc:Fallback xmlns="">
          <p:sp>
            <p:nvSpPr>
              <p:cNvPr id="2" name="矩形 1">
                <a:extLst>
                  <a:ext uri="{FF2B5EF4-FFF2-40B4-BE49-F238E27FC236}">
                    <a16:creationId xmlns:a16="http://schemas.microsoft.com/office/drawing/2014/main" id="{770FE849-E5CB-4A00-A4B0-356B004408C3}"/>
                  </a:ext>
                </a:extLst>
              </p:cNvPr>
              <p:cNvSpPr>
                <a:spLocks noRot="1" noChangeAspect="1" noMove="1" noResize="1" noEditPoints="1" noAdjustHandles="1" noChangeArrowheads="1" noChangeShapeType="1" noTextEdit="1"/>
              </p:cNvSpPr>
              <p:nvPr/>
            </p:nvSpPr>
            <p:spPr>
              <a:xfrm>
                <a:off x="68562" y="2533988"/>
                <a:ext cx="2993063" cy="1200329"/>
              </a:xfrm>
              <a:prstGeom prst="rect">
                <a:avLst/>
              </a:prstGeom>
              <a:blipFill>
                <a:blip r:embed="rId6"/>
                <a:stretch>
                  <a:fillRect l="-3055" t="-4061" r="-2240" b="-10660"/>
                </a:stretch>
              </a:blipFill>
            </p:spPr>
            <p:txBody>
              <a:bodyPr/>
              <a:lstStyle/>
              <a:p>
                <a:r>
                  <a:rPr lang="zh-CN" altLang="en-US">
                    <a:noFill/>
                  </a:rPr>
                  <a:t> </a:t>
                </a:r>
              </a:p>
            </p:txBody>
          </p:sp>
        </mc:Fallback>
      </mc:AlternateContent>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CD38B47C-EF6B-4616-BDE6-6DF34614555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4579" name="Rectangle 3">
            <a:extLst>
              <a:ext uri="{FF2B5EF4-FFF2-40B4-BE49-F238E27FC236}">
                <a16:creationId xmlns:a16="http://schemas.microsoft.com/office/drawing/2014/main" id="{1C6B8DE4-D957-460C-AF0E-F426038D1F7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4580" name="Text Box 4">
            <a:extLst>
              <a:ext uri="{FF2B5EF4-FFF2-40B4-BE49-F238E27FC236}">
                <a16:creationId xmlns:a16="http://schemas.microsoft.com/office/drawing/2014/main" id="{1ECD8E9D-A558-4692-BF7D-8F23416B88B6}"/>
              </a:ext>
            </a:extLst>
          </p:cNvPr>
          <p:cNvSpPr txBox="1">
            <a:spLocks noChangeArrowheads="1"/>
          </p:cNvSpPr>
          <p:nvPr/>
        </p:nvSpPr>
        <p:spPr bwMode="auto">
          <a:xfrm>
            <a:off x="179388" y="115888"/>
            <a:ext cx="8353425" cy="2223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kumimoji="0" lang="zh-CN" altLang="en-US" sz="2800" b="1" dirty="0">
                <a:solidFill>
                  <a:srgbClr val="C00000"/>
                </a:solidFill>
                <a:latin typeface="黑体" panose="02010609060101010101" pitchFamily="49" charset="-122"/>
                <a:ea typeface="黑体" panose="02010609060101010101" pitchFamily="49" charset="-122"/>
              </a:rPr>
              <a:t>（</a:t>
            </a:r>
            <a:r>
              <a:rPr kumimoji="0" lang="en-US" altLang="zh-CN" sz="2800" b="1" dirty="0">
                <a:solidFill>
                  <a:srgbClr val="C00000"/>
                </a:solidFill>
                <a:latin typeface="黑体" panose="02010609060101010101" pitchFamily="49" charset="-122"/>
                <a:ea typeface="黑体" panose="02010609060101010101" pitchFamily="49" charset="-122"/>
              </a:rPr>
              <a:t>2</a:t>
            </a:r>
            <a:r>
              <a:rPr kumimoji="0" lang="zh-CN" altLang="en-US" sz="2800" b="1" dirty="0">
                <a:solidFill>
                  <a:srgbClr val="C00000"/>
                </a:solidFill>
                <a:latin typeface="黑体" panose="02010609060101010101" pitchFamily="49" charset="-122"/>
                <a:ea typeface="黑体" panose="02010609060101010101" pitchFamily="49" charset="-122"/>
              </a:rPr>
              <a:t>） </a:t>
            </a:r>
            <a:r>
              <a:rPr kumimoji="0" lang="zh-CN" altLang="zh-CN" sz="2800" b="1" dirty="0">
                <a:solidFill>
                  <a:srgbClr val="C00000"/>
                </a:solidFill>
                <a:latin typeface="黑体" panose="02010609060101010101" pitchFamily="49" charset="-122"/>
                <a:ea typeface="黑体" panose="02010609060101010101" pitchFamily="49" charset="-122"/>
              </a:rPr>
              <a:t>波长调制</a:t>
            </a:r>
            <a:r>
              <a:rPr kumimoji="0" lang="zh-CN" altLang="en-US" sz="2800" b="1" dirty="0">
                <a:solidFill>
                  <a:srgbClr val="C00000"/>
                </a:solidFill>
                <a:latin typeface="黑体" panose="02010609060101010101" pitchFamily="49" charset="-122"/>
                <a:ea typeface="黑体" panose="02010609060101010101" pitchFamily="49" charset="-122"/>
              </a:rPr>
              <a:t>（颜色调制）</a:t>
            </a:r>
          </a:p>
          <a:p>
            <a:pPr eaLnBrk="1" hangingPunct="1">
              <a:lnSpc>
                <a:spcPct val="150000"/>
              </a:lnSpc>
              <a:spcBef>
                <a:spcPct val="50000"/>
              </a:spcBef>
              <a:buFontTx/>
              <a:buNone/>
            </a:pPr>
            <a:r>
              <a:rPr kumimoji="0" lang="zh-CN" altLang="en-US" sz="2000" dirty="0">
                <a:latin typeface="楷体_GB2312" pitchFamily="49" charset="-122"/>
                <a:ea typeface="楷体_GB2312" pitchFamily="49" charset="-122"/>
              </a:rPr>
              <a:t>    </a:t>
            </a:r>
            <a:r>
              <a:rPr kumimoji="0" lang="zh-CN" altLang="en-US" sz="2000" b="1" dirty="0">
                <a:latin typeface="楷体_GB2312" pitchFamily="49" charset="-122"/>
                <a:ea typeface="楷体_GB2312" pitchFamily="49" charset="-122"/>
              </a:rPr>
              <a:t>利用外界作用</a:t>
            </a:r>
            <a:r>
              <a:rPr kumimoji="0" lang="zh-CN" altLang="en-US" sz="2000" b="1" dirty="0">
                <a:highlight>
                  <a:srgbClr val="FFFF00"/>
                </a:highlight>
                <a:latin typeface="楷体_GB2312" pitchFamily="49" charset="-122"/>
                <a:ea typeface="楷体_GB2312" pitchFamily="49" charset="-122"/>
              </a:rPr>
              <a:t>改变光纤中光的波长</a:t>
            </a:r>
            <a:r>
              <a:rPr kumimoji="0" lang="zh-CN" altLang="en-US" sz="2000" b="1" dirty="0">
                <a:latin typeface="楷体_GB2312" pitchFamily="49" charset="-122"/>
                <a:ea typeface="楷体_GB2312" pitchFamily="49" charset="-122"/>
              </a:rPr>
              <a:t>，通过检测光纤中光的波长变化来测量各种物理量的原理。例如，</a:t>
            </a:r>
            <a:r>
              <a:rPr kumimoji="0" lang="zh-CN" altLang="en-US" sz="2000" b="1" dirty="0">
                <a:highlight>
                  <a:srgbClr val="FFFF00"/>
                </a:highlight>
                <a:latin typeface="楷体_GB2312" pitchFamily="49" charset="-122"/>
                <a:ea typeface="楷体_GB2312" pitchFamily="49" charset="-122"/>
              </a:rPr>
              <a:t>利用在</a:t>
            </a:r>
            <a:r>
              <a:rPr kumimoji="0" lang="en-US" altLang="zh-CN" sz="2000" b="1" dirty="0">
                <a:highlight>
                  <a:srgbClr val="FFFF00"/>
                </a:highlight>
                <a:latin typeface="楷体_GB2312" pitchFamily="49" charset="-122"/>
                <a:ea typeface="楷体_GB2312" pitchFamily="49" charset="-122"/>
              </a:rPr>
              <a:t>7℃</a:t>
            </a:r>
            <a:r>
              <a:rPr kumimoji="0" lang="zh-CN" altLang="en-US" sz="2000" b="1" dirty="0">
                <a:highlight>
                  <a:srgbClr val="FFFF00"/>
                </a:highlight>
                <a:latin typeface="楷体_GB2312" pitchFamily="49" charset="-122"/>
                <a:ea typeface="楷体_GB2312" pitchFamily="49" charset="-122"/>
              </a:rPr>
              <a:t>时甲烷气体对</a:t>
            </a:r>
            <a:r>
              <a:rPr kumimoji="0" lang="en-US" altLang="zh-CN" sz="2000" b="1" dirty="0">
                <a:highlight>
                  <a:srgbClr val="FFFF00"/>
                </a:highlight>
                <a:latin typeface="楷体_GB2312" pitchFamily="49" charset="-122"/>
                <a:ea typeface="楷体_GB2312" pitchFamily="49" charset="-122"/>
              </a:rPr>
              <a:t>1650nm</a:t>
            </a:r>
            <a:r>
              <a:rPr kumimoji="0" lang="zh-CN" altLang="en-US" sz="2000" b="1" dirty="0">
                <a:highlight>
                  <a:srgbClr val="FFFF00"/>
                </a:highlight>
                <a:latin typeface="楷体_GB2312" pitchFamily="49" charset="-122"/>
                <a:ea typeface="楷体_GB2312" pitchFamily="49" charset="-122"/>
              </a:rPr>
              <a:t>有最强的吸收的特性来测量甲烷气体含量</a:t>
            </a:r>
            <a:r>
              <a:rPr kumimoji="0" lang="zh-CN" altLang="en-US" sz="2000" b="1" dirty="0">
                <a:latin typeface="楷体_GB2312" pitchFamily="49" charset="-122"/>
                <a:ea typeface="楷体_GB2312" pitchFamily="49" charset="-122"/>
              </a:rPr>
              <a:t>。</a:t>
            </a:r>
          </a:p>
        </p:txBody>
      </p:sp>
      <p:sp>
        <p:nvSpPr>
          <p:cNvPr id="24582" name="Rectangle 6">
            <a:extLst>
              <a:ext uri="{FF2B5EF4-FFF2-40B4-BE49-F238E27FC236}">
                <a16:creationId xmlns:a16="http://schemas.microsoft.com/office/drawing/2014/main" id="{9CA859CF-989F-4530-A3CE-AD0CEF5A02B0}"/>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latin typeface="楷体_GB2312" pitchFamily="49" charset="-122"/>
                <a:ea typeface="楷体_GB2312" pitchFamily="49" charset="-122"/>
                <a:cs typeface="Times New Roman" panose="02020603050405020304" pitchFamily="18" charset="0"/>
              </a:rPr>
              <a:t>：</a:t>
            </a:r>
            <a:endParaRPr kumimoji="0" lang="zh-CN" altLang="en-US" sz="1100">
              <a:latin typeface="楷体_GB2312" pitchFamily="49" charset="-122"/>
              <a:ea typeface="楷体_GB2312" pitchFamily="49" charset="-122"/>
              <a:cs typeface="Times New Roman" panose="02020603050405020304" pitchFamily="18" charset="0"/>
            </a:endParaRPr>
          </a:p>
          <a:p>
            <a:pPr>
              <a:spcBef>
                <a:spcPct val="0"/>
              </a:spcBef>
              <a:buFontTx/>
              <a:buNone/>
            </a:pPr>
            <a:endParaRPr kumimoji="0" lang="en-US" altLang="zh-CN" sz="1800">
              <a:latin typeface="楷体_GB2312" pitchFamily="49" charset="-122"/>
              <a:ea typeface="楷体_GB2312" pitchFamily="49" charset="-122"/>
              <a:cs typeface="Times New Roman" panose="02020603050405020304" pitchFamily="18" charset="0"/>
            </a:endParaRPr>
          </a:p>
        </p:txBody>
      </p:sp>
      <p:sp>
        <p:nvSpPr>
          <p:cNvPr id="24583" name="Rectangle 7">
            <a:extLst>
              <a:ext uri="{FF2B5EF4-FFF2-40B4-BE49-F238E27FC236}">
                <a16:creationId xmlns:a16="http://schemas.microsoft.com/office/drawing/2014/main" id="{3DDA1ABA-9FC3-4F65-969E-A94C693584C6}"/>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pic>
        <p:nvPicPr>
          <p:cNvPr id="24584" name="图片 7">
            <a:extLst>
              <a:ext uri="{FF2B5EF4-FFF2-40B4-BE49-F238E27FC236}">
                <a16:creationId xmlns:a16="http://schemas.microsoft.com/office/drawing/2014/main" id="{5E97D9F4-CC65-4763-B2AD-AAF506C57B8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1188" y="2420938"/>
            <a:ext cx="499110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4">
            <a:extLst>
              <a:ext uri="{FF2B5EF4-FFF2-40B4-BE49-F238E27FC236}">
                <a16:creationId xmlns:a16="http://schemas.microsoft.com/office/drawing/2014/main" id="{D2D7041C-60A1-4208-BC52-3BC5519D6C9C}"/>
              </a:ext>
            </a:extLst>
          </p:cNvPr>
          <p:cNvSpPr txBox="1">
            <a:spLocks noChangeArrowheads="1"/>
          </p:cNvSpPr>
          <p:nvPr/>
        </p:nvSpPr>
        <p:spPr bwMode="auto">
          <a:xfrm>
            <a:off x="5795963" y="2049463"/>
            <a:ext cx="3097212" cy="393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kumimoji="0" lang="zh-CN" altLang="en-US" sz="2000" b="1" dirty="0">
                <a:latin typeface="楷体_GB2312" pitchFamily="49" charset="-122"/>
                <a:ea typeface="楷体_GB2312" pitchFamily="49" charset="-122"/>
              </a:rPr>
              <a:t>●波长调制（</a:t>
            </a:r>
            <a:r>
              <a:rPr kumimoji="0" lang="en-US" altLang="zh-CN" sz="2000" b="1" dirty="0">
                <a:latin typeface="楷体_GB2312" pitchFamily="49" charset="-122"/>
                <a:ea typeface="楷体_GB2312" pitchFamily="49" charset="-122"/>
              </a:rPr>
              <a:t>wavelength modulation</a:t>
            </a:r>
            <a:r>
              <a:rPr kumimoji="0" lang="zh-CN" altLang="en-US" sz="2000" b="1" dirty="0">
                <a:latin typeface="楷体_GB2312" pitchFamily="49" charset="-122"/>
                <a:ea typeface="楷体_GB2312" pitchFamily="49" charset="-122"/>
              </a:rPr>
              <a:t>）技术比强度调制技术用得少，其原因是解调技术比较复杂，一般需要用</a:t>
            </a:r>
            <a:r>
              <a:rPr kumimoji="0" lang="zh-CN" altLang="en-US" sz="2000" b="1" dirty="0">
                <a:solidFill>
                  <a:srgbClr val="0000FF"/>
                </a:solidFill>
                <a:latin typeface="楷体_GB2312" pitchFamily="49" charset="-122"/>
                <a:ea typeface="楷体_GB2312" pitchFamily="49" charset="-122"/>
              </a:rPr>
              <a:t>分光仪</a:t>
            </a:r>
            <a:r>
              <a:rPr kumimoji="0" lang="en-US" altLang="zh-CN" sz="2000" b="1" dirty="0">
                <a:latin typeface="楷体_GB2312" pitchFamily="49" charset="-122"/>
                <a:ea typeface="楷体_GB2312" pitchFamily="49" charset="-122"/>
              </a:rPr>
              <a:t>;</a:t>
            </a:r>
          </a:p>
          <a:p>
            <a:pPr eaLnBrk="1" hangingPunct="1">
              <a:lnSpc>
                <a:spcPct val="150000"/>
              </a:lnSpc>
              <a:spcBef>
                <a:spcPct val="50000"/>
              </a:spcBef>
              <a:buFontTx/>
              <a:buNone/>
            </a:pPr>
            <a:r>
              <a:rPr kumimoji="0" lang="en-US" altLang="zh-CN" sz="2000" b="1" dirty="0">
                <a:latin typeface="楷体_GB2312" pitchFamily="49" charset="-122"/>
                <a:ea typeface="楷体_GB2312" pitchFamily="49" charset="-122"/>
              </a:rPr>
              <a:t>●</a:t>
            </a:r>
            <a:r>
              <a:rPr kumimoji="0" lang="zh-CN" altLang="en-US" sz="2000" b="1" dirty="0">
                <a:latin typeface="楷体_GB2312" pitchFamily="49" charset="-122"/>
                <a:ea typeface="楷体_GB2312" pitchFamily="49" charset="-122"/>
              </a:rPr>
              <a:t>优点在于</a:t>
            </a:r>
            <a:r>
              <a:rPr kumimoji="0" lang="zh-CN" altLang="en-US" sz="2000" b="1" dirty="0">
                <a:highlight>
                  <a:srgbClr val="FFFF00"/>
                </a:highlight>
                <a:latin typeface="楷体_GB2312" pitchFamily="49" charset="-122"/>
                <a:ea typeface="楷体_GB2312" pitchFamily="49" charset="-122"/>
              </a:rPr>
              <a:t>它对引起光纤或连接器损耗增加的某些器件的稳定性不敏感</a:t>
            </a:r>
            <a:r>
              <a:rPr kumimoji="0" lang="zh-CN" altLang="en-US" sz="2000" b="1" dirty="0">
                <a:latin typeface="楷体_GB2312" pitchFamily="49" charset="-122"/>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A5D349A-04C0-4D99-BF3E-9DB9C1C5636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5603" name="Rectangle 3">
            <a:extLst>
              <a:ext uri="{FF2B5EF4-FFF2-40B4-BE49-F238E27FC236}">
                <a16:creationId xmlns:a16="http://schemas.microsoft.com/office/drawing/2014/main" id="{6A107223-6E5C-4CF0-89D9-3A430B6EE96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aphicFrame>
        <p:nvGraphicFramePr>
          <p:cNvPr id="25604" name="Object 5">
            <a:extLst>
              <a:ext uri="{FF2B5EF4-FFF2-40B4-BE49-F238E27FC236}">
                <a16:creationId xmlns:a16="http://schemas.microsoft.com/office/drawing/2014/main" id="{B6A28BBD-66A2-4FD7-9AD8-BD2D2AF5CAA2}"/>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25634" name="Equation" r:id="rId4" imgW="435285" imgH="677109" progId="Equation.DSMT4">
                  <p:embed/>
                </p:oleObj>
              </mc:Choice>
              <mc:Fallback>
                <p:oleObj name="Equation" r:id="rId4" imgW="435285" imgH="677109"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5" name="Rectangle 6">
            <a:extLst>
              <a:ext uri="{FF2B5EF4-FFF2-40B4-BE49-F238E27FC236}">
                <a16:creationId xmlns:a16="http://schemas.microsoft.com/office/drawing/2014/main" id="{9786AF91-EE8D-4B33-BF36-4B31140907F4}"/>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latin typeface="楷体_GB2312" pitchFamily="49" charset="-122"/>
                <a:ea typeface="楷体_GB2312" pitchFamily="49" charset="-122"/>
                <a:cs typeface="Times New Roman" panose="02020603050405020304" pitchFamily="18" charset="0"/>
              </a:rPr>
              <a:t>：</a:t>
            </a:r>
            <a:endParaRPr kumimoji="0" lang="zh-CN" altLang="en-US" sz="1100">
              <a:latin typeface="楷体_GB2312" pitchFamily="49" charset="-122"/>
              <a:ea typeface="楷体_GB2312" pitchFamily="49" charset="-122"/>
              <a:cs typeface="Times New Roman" panose="02020603050405020304" pitchFamily="18" charset="0"/>
            </a:endParaRPr>
          </a:p>
          <a:p>
            <a:pPr>
              <a:spcBef>
                <a:spcPct val="0"/>
              </a:spcBef>
              <a:buFontTx/>
              <a:buNone/>
            </a:pPr>
            <a:endParaRPr kumimoji="0" lang="en-US" altLang="zh-CN" sz="1800">
              <a:latin typeface="楷体_GB2312" pitchFamily="49" charset="-122"/>
              <a:ea typeface="楷体_GB2312" pitchFamily="49" charset="-122"/>
              <a:cs typeface="Times New Roman" panose="02020603050405020304" pitchFamily="18" charset="0"/>
            </a:endParaRPr>
          </a:p>
        </p:txBody>
      </p:sp>
      <p:sp>
        <p:nvSpPr>
          <p:cNvPr id="25606" name="Rectangle 7">
            <a:extLst>
              <a:ext uri="{FF2B5EF4-FFF2-40B4-BE49-F238E27FC236}">
                <a16:creationId xmlns:a16="http://schemas.microsoft.com/office/drawing/2014/main" id="{A7BB5387-1ED1-4F38-8C8F-627164C479D8}"/>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5607" name="Rectangle 8">
            <a:extLst>
              <a:ext uri="{FF2B5EF4-FFF2-40B4-BE49-F238E27FC236}">
                <a16:creationId xmlns:a16="http://schemas.microsoft.com/office/drawing/2014/main" id="{132C4B7E-2296-4BF7-B3CA-51FB4C4F9C56}"/>
              </a:ext>
            </a:extLst>
          </p:cNvPr>
          <p:cNvSpPr>
            <a:spLocks noChangeArrowheads="1"/>
          </p:cNvSpPr>
          <p:nvPr/>
        </p:nvSpPr>
        <p:spPr bwMode="auto">
          <a:xfrm>
            <a:off x="0" y="835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pSp>
        <p:nvGrpSpPr>
          <p:cNvPr id="25608" name="Group 9">
            <a:extLst>
              <a:ext uri="{FF2B5EF4-FFF2-40B4-BE49-F238E27FC236}">
                <a16:creationId xmlns:a16="http://schemas.microsoft.com/office/drawing/2014/main" id="{0F54B4CE-AC7A-4F68-9498-D3FD61B7615B}"/>
              </a:ext>
            </a:extLst>
          </p:cNvPr>
          <p:cNvGrpSpPr>
            <a:grpSpLocks/>
          </p:cNvGrpSpPr>
          <p:nvPr/>
        </p:nvGrpSpPr>
        <p:grpSpPr bwMode="auto">
          <a:xfrm>
            <a:off x="1979613" y="3716338"/>
            <a:ext cx="4464050" cy="2474912"/>
            <a:chOff x="3414" y="1496"/>
            <a:chExt cx="2346" cy="1060"/>
          </a:xfrm>
        </p:grpSpPr>
        <p:pic>
          <p:nvPicPr>
            <p:cNvPr id="25610" name="Picture 10" descr="图12-12">
              <a:extLst>
                <a:ext uri="{FF2B5EF4-FFF2-40B4-BE49-F238E27FC236}">
                  <a16:creationId xmlns:a16="http://schemas.microsoft.com/office/drawing/2014/main" id="{BC951616-3FAE-437F-A14A-700EC5C2C0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4" y="1496"/>
              <a:ext cx="2346" cy="1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1" name="Rectangle 11">
              <a:extLst>
                <a:ext uri="{FF2B5EF4-FFF2-40B4-BE49-F238E27FC236}">
                  <a16:creationId xmlns:a16="http://schemas.microsoft.com/office/drawing/2014/main" id="{E5C77D16-6F5D-446B-A615-C69B6733CA89}"/>
                </a:ext>
              </a:extLst>
            </p:cNvPr>
            <p:cNvSpPr>
              <a:spLocks noChangeArrowheads="1"/>
            </p:cNvSpPr>
            <p:nvPr/>
          </p:nvSpPr>
          <p:spPr bwMode="auto">
            <a:xfrm>
              <a:off x="3696" y="2304"/>
              <a:ext cx="624"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8000" tIns="10800" rIns="18000" bIns="10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pSp>
      <p:sp>
        <p:nvSpPr>
          <p:cNvPr id="25609" name="Rectangle 49">
            <a:extLst>
              <a:ext uri="{FF2B5EF4-FFF2-40B4-BE49-F238E27FC236}">
                <a16:creationId xmlns:a16="http://schemas.microsoft.com/office/drawing/2014/main" id="{CF19CCF3-3003-4AE8-8618-FA5F39678430}"/>
              </a:ext>
            </a:extLst>
          </p:cNvPr>
          <p:cNvSpPr>
            <a:spLocks noChangeArrowheads="1"/>
          </p:cNvSpPr>
          <p:nvPr/>
        </p:nvSpPr>
        <p:spPr bwMode="auto">
          <a:xfrm>
            <a:off x="395288" y="188913"/>
            <a:ext cx="8208962" cy="347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kumimoji="0" lang="zh-CN" altLang="en-US" sz="2800" b="1" dirty="0">
                <a:solidFill>
                  <a:srgbClr val="FF0000"/>
                </a:solidFill>
                <a:latin typeface="楷体_GB2312" pitchFamily="49" charset="-122"/>
                <a:ea typeface="楷体_GB2312" pitchFamily="49" charset="-122"/>
              </a:rPr>
              <a:t>（</a:t>
            </a:r>
            <a:r>
              <a:rPr kumimoji="0" lang="en-US" altLang="zh-CN" sz="2800" b="1" dirty="0">
                <a:solidFill>
                  <a:srgbClr val="FF0000"/>
                </a:solidFill>
                <a:latin typeface="楷体_GB2312" pitchFamily="49" charset="-122"/>
                <a:ea typeface="楷体_GB2312" pitchFamily="49" charset="-122"/>
              </a:rPr>
              <a:t>3</a:t>
            </a:r>
            <a:r>
              <a:rPr kumimoji="0" lang="zh-CN" altLang="en-US" sz="2800" b="1" dirty="0">
                <a:solidFill>
                  <a:srgbClr val="FF0000"/>
                </a:solidFill>
                <a:latin typeface="楷体_GB2312" pitchFamily="49" charset="-122"/>
                <a:ea typeface="楷体_GB2312" pitchFamily="49" charset="-122"/>
              </a:rPr>
              <a:t>）频率调制</a:t>
            </a:r>
            <a:r>
              <a:rPr kumimoji="0" lang="en-US" altLang="zh-CN" sz="2800" b="1" dirty="0">
                <a:solidFill>
                  <a:srgbClr val="FF0000"/>
                </a:solidFill>
                <a:latin typeface="楷体_GB2312" pitchFamily="49" charset="-122"/>
                <a:ea typeface="楷体_GB2312" pitchFamily="49" charset="-122"/>
              </a:rPr>
              <a:t>(</a:t>
            </a:r>
            <a:r>
              <a:rPr kumimoji="0" lang="zh-CN" altLang="en-US" sz="2800" b="1" dirty="0">
                <a:solidFill>
                  <a:srgbClr val="0000FF"/>
                </a:solidFill>
                <a:latin typeface="楷体_GB2312" pitchFamily="49" charset="-122"/>
                <a:ea typeface="楷体_GB2312" pitchFamily="49" charset="-122"/>
              </a:rPr>
              <a:t>了解</a:t>
            </a:r>
            <a:r>
              <a:rPr kumimoji="0" lang="en-US" altLang="zh-CN" sz="2800" b="1" dirty="0">
                <a:solidFill>
                  <a:srgbClr val="FF0000"/>
                </a:solidFill>
                <a:latin typeface="楷体_GB2312" pitchFamily="49" charset="-122"/>
                <a:ea typeface="楷体_GB2312" pitchFamily="49" charset="-122"/>
              </a:rPr>
              <a:t>)</a:t>
            </a:r>
            <a:endParaRPr kumimoji="0" lang="zh-CN" altLang="en-US" sz="2800" b="1" dirty="0">
              <a:solidFill>
                <a:srgbClr val="FF0000"/>
              </a:solidFill>
              <a:latin typeface="楷体_GB2312" pitchFamily="49" charset="-122"/>
              <a:ea typeface="楷体_GB2312" pitchFamily="49" charset="-122"/>
            </a:endParaRPr>
          </a:p>
          <a:p>
            <a:pPr eaLnBrk="1" hangingPunct="1">
              <a:lnSpc>
                <a:spcPct val="150000"/>
              </a:lnSpc>
              <a:spcBef>
                <a:spcPct val="50000"/>
              </a:spcBef>
              <a:buFontTx/>
              <a:buNone/>
            </a:pPr>
            <a:r>
              <a:rPr kumimoji="0" lang="zh-CN" altLang="en-US" sz="2000" dirty="0">
                <a:latin typeface="楷体_GB2312" pitchFamily="49" charset="-122"/>
                <a:ea typeface="楷体_GB2312" pitchFamily="49" charset="-122"/>
              </a:rPr>
              <a:t>    </a:t>
            </a:r>
            <a:r>
              <a:rPr kumimoji="0" lang="zh-CN" altLang="en-US" sz="2000" b="1" dirty="0">
                <a:latin typeface="楷体_GB2312" pitchFamily="49" charset="-122"/>
                <a:ea typeface="楷体_GB2312" pitchFamily="49" charset="-122"/>
              </a:rPr>
              <a:t>利用外界因素改变光的频率，通过检测光的频率变化来测量外界物理量的原理。</a:t>
            </a:r>
          </a:p>
          <a:p>
            <a:pPr eaLnBrk="1" hangingPunct="1">
              <a:lnSpc>
                <a:spcPct val="150000"/>
              </a:lnSpc>
              <a:spcBef>
                <a:spcPct val="50000"/>
              </a:spcBef>
              <a:buFontTx/>
              <a:buNone/>
            </a:pPr>
            <a:r>
              <a:rPr kumimoji="0" lang="zh-CN" altLang="en-US" sz="2000" b="1" dirty="0">
                <a:latin typeface="楷体_GB2312" pitchFamily="49" charset="-122"/>
                <a:ea typeface="楷体_GB2312" pitchFamily="49" charset="-122"/>
              </a:rPr>
              <a:t>    频率调制基于</a:t>
            </a:r>
            <a:r>
              <a:rPr kumimoji="0" lang="zh-CN" altLang="en-US" sz="2000" b="1" dirty="0">
                <a:solidFill>
                  <a:srgbClr val="FF0000"/>
                </a:solidFill>
                <a:latin typeface="楷体_GB2312" pitchFamily="49" charset="-122"/>
                <a:ea typeface="楷体_GB2312" pitchFamily="49" charset="-122"/>
              </a:rPr>
              <a:t>光学多普勒效应</a:t>
            </a:r>
            <a:r>
              <a:rPr kumimoji="0" lang="zh-CN" altLang="en-US" sz="2000" b="1" dirty="0">
                <a:latin typeface="楷体_GB2312" pitchFamily="49" charset="-122"/>
                <a:ea typeface="楷体_GB2312" pitchFamily="49" charset="-122"/>
              </a:rPr>
              <a:t>。</a:t>
            </a:r>
          </a:p>
          <a:p>
            <a:pPr eaLnBrk="1" hangingPunct="1">
              <a:lnSpc>
                <a:spcPct val="150000"/>
              </a:lnSpc>
              <a:spcBef>
                <a:spcPct val="50000"/>
              </a:spcBef>
              <a:buFontTx/>
              <a:buNone/>
            </a:pPr>
            <a:r>
              <a:rPr kumimoji="0" lang="zh-CN" altLang="en-US" sz="2000" b="1" dirty="0">
                <a:latin typeface="楷体_GB2312" pitchFamily="49" charset="-122"/>
                <a:ea typeface="楷体_GB2312" pitchFamily="49" charset="-122"/>
              </a:rPr>
              <a:t>光学多普勒效应：当光源</a:t>
            </a:r>
            <a:r>
              <a:rPr kumimoji="0" lang="en-US" altLang="zh-CN" sz="2000" b="1" dirty="0">
                <a:latin typeface="楷体_GB2312" pitchFamily="49" charset="-122"/>
                <a:ea typeface="楷体_GB2312" pitchFamily="49" charset="-122"/>
              </a:rPr>
              <a:t>S</a:t>
            </a:r>
            <a:r>
              <a:rPr kumimoji="0" lang="zh-CN" altLang="en-US" sz="2000" b="1" dirty="0">
                <a:latin typeface="楷体_GB2312" pitchFamily="49" charset="-122"/>
                <a:ea typeface="楷体_GB2312" pitchFamily="49" charset="-122"/>
              </a:rPr>
              <a:t>发射出的光，经</a:t>
            </a:r>
            <a:r>
              <a:rPr kumimoji="0" lang="zh-CN" altLang="en-US" sz="2000" b="1" dirty="0">
                <a:highlight>
                  <a:srgbClr val="FFFF00"/>
                </a:highlight>
                <a:latin typeface="楷体_GB2312" pitchFamily="49" charset="-122"/>
                <a:ea typeface="楷体_GB2312" pitchFamily="49" charset="-122"/>
              </a:rPr>
              <a:t>运动的物体散射</a:t>
            </a:r>
            <a:r>
              <a:rPr kumimoji="0" lang="zh-CN" altLang="en-US" sz="2000" b="1" dirty="0">
                <a:latin typeface="楷体_GB2312" pitchFamily="49" charset="-122"/>
                <a:ea typeface="楷体_GB2312" pitchFamily="49" charset="-122"/>
              </a:rPr>
              <a:t>后，观察者所见到的光波频率 </a:t>
            </a:r>
            <a:r>
              <a:rPr kumimoji="0" lang="en-US" altLang="zh-CN" sz="2000" b="1" dirty="0">
                <a:latin typeface="楷体_GB2312" pitchFamily="49" charset="-122"/>
                <a:ea typeface="楷体_GB2312" pitchFamily="49" charset="-122"/>
              </a:rPr>
              <a:t>F</a:t>
            </a:r>
            <a:r>
              <a:rPr kumimoji="0" lang="en-US" altLang="zh-CN" sz="2000" b="1" baseline="-25000" dirty="0">
                <a:latin typeface="楷体_GB2312" pitchFamily="49" charset="-122"/>
                <a:ea typeface="楷体_GB2312" pitchFamily="49" charset="-122"/>
              </a:rPr>
              <a:t>L </a:t>
            </a:r>
            <a:r>
              <a:rPr kumimoji="0" lang="zh-CN" altLang="en-US" sz="2000" b="1" dirty="0">
                <a:latin typeface="楷体_GB2312" pitchFamily="49" charset="-122"/>
                <a:ea typeface="楷体_GB2312" pitchFamily="49" charset="-122"/>
              </a:rPr>
              <a:t>相对于原频率 </a:t>
            </a:r>
            <a:r>
              <a:rPr kumimoji="0" lang="en-US" altLang="zh-CN" sz="2000" b="1" dirty="0">
                <a:latin typeface="楷体_GB2312" pitchFamily="49" charset="-122"/>
                <a:ea typeface="楷体_GB2312" pitchFamily="49" charset="-122"/>
              </a:rPr>
              <a:t>f</a:t>
            </a:r>
            <a:r>
              <a:rPr kumimoji="0" lang="en-US" altLang="zh-CN" sz="2000" b="1" baseline="-25000" dirty="0">
                <a:latin typeface="楷体_GB2312" pitchFamily="49" charset="-122"/>
                <a:ea typeface="楷体_GB2312" pitchFamily="49" charset="-122"/>
              </a:rPr>
              <a:t>0 </a:t>
            </a:r>
            <a:r>
              <a:rPr kumimoji="0" lang="zh-CN" altLang="en-US" sz="2000" b="1" dirty="0">
                <a:latin typeface="楷体_GB2312" pitchFamily="49" charset="-122"/>
                <a:ea typeface="楷体_GB2312" pitchFamily="49" charset="-122"/>
              </a:rPr>
              <a:t>发生了变化。</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C28E34B-3B5A-4221-8BEC-A1A0A9B4A97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7651" name="Rectangle 3">
            <a:extLst>
              <a:ext uri="{FF2B5EF4-FFF2-40B4-BE49-F238E27FC236}">
                <a16:creationId xmlns:a16="http://schemas.microsoft.com/office/drawing/2014/main" id="{43B9FE15-AA36-4099-BB07-311F29E3887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7652" name="Text Box 4">
            <a:extLst>
              <a:ext uri="{FF2B5EF4-FFF2-40B4-BE49-F238E27FC236}">
                <a16:creationId xmlns:a16="http://schemas.microsoft.com/office/drawing/2014/main" id="{13917E9F-D36A-4F5F-931D-7BAA4495C14A}"/>
              </a:ext>
            </a:extLst>
          </p:cNvPr>
          <p:cNvSpPr txBox="1">
            <a:spLocks noChangeArrowheads="1"/>
          </p:cNvSpPr>
          <p:nvPr/>
        </p:nvSpPr>
        <p:spPr bwMode="auto">
          <a:xfrm>
            <a:off x="250825" y="836613"/>
            <a:ext cx="4357688"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000" dirty="0">
                <a:latin typeface="楷体_GB2312" pitchFamily="49" charset="-122"/>
                <a:ea typeface="楷体_GB2312" pitchFamily="49" charset="-122"/>
              </a:rPr>
              <a:t>    </a:t>
            </a:r>
            <a:r>
              <a:rPr kumimoji="0" lang="en-US" altLang="zh-CN" sz="2000" b="1" dirty="0">
                <a:latin typeface="楷体_GB2312" pitchFamily="49" charset="-122"/>
                <a:ea typeface="楷体_GB2312" pitchFamily="49" charset="-122"/>
              </a:rPr>
              <a:t>S</a:t>
            </a:r>
            <a:r>
              <a:rPr kumimoji="0" lang="zh-CN" altLang="en-US" sz="2000" b="1" dirty="0">
                <a:latin typeface="楷体_GB2312" pitchFamily="49" charset="-122"/>
                <a:ea typeface="楷体_GB2312" pitchFamily="49" charset="-122"/>
              </a:rPr>
              <a:t>为光源，</a:t>
            </a:r>
            <a:r>
              <a:rPr kumimoji="0" lang="en-US" altLang="zh-CN" sz="2000" b="1" dirty="0">
                <a:latin typeface="楷体_GB2312" pitchFamily="49" charset="-122"/>
                <a:ea typeface="楷体_GB2312" pitchFamily="49" charset="-122"/>
              </a:rPr>
              <a:t>N</a:t>
            </a:r>
            <a:r>
              <a:rPr kumimoji="0" lang="zh-CN" altLang="en-US" sz="2000" b="1" dirty="0">
                <a:latin typeface="楷体_GB2312" pitchFamily="49" charset="-122"/>
                <a:ea typeface="楷体_GB2312" pitchFamily="49" charset="-122"/>
              </a:rPr>
              <a:t>为运动物体，</a:t>
            </a:r>
            <a:r>
              <a:rPr kumimoji="0" lang="en-US" altLang="zh-CN" sz="2000" b="1" dirty="0">
                <a:latin typeface="楷体_GB2312" pitchFamily="49" charset="-122"/>
                <a:ea typeface="楷体_GB2312" pitchFamily="49" charset="-122"/>
              </a:rPr>
              <a:t>M</a:t>
            </a:r>
            <a:r>
              <a:rPr kumimoji="0" lang="zh-CN" altLang="en-US" sz="2000" b="1" dirty="0">
                <a:latin typeface="楷体_GB2312" pitchFamily="49" charset="-122"/>
                <a:ea typeface="楷体_GB2312" pitchFamily="49" charset="-122"/>
              </a:rPr>
              <a:t>为观察者所处的位置。</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    若物体</a:t>
            </a:r>
            <a:r>
              <a:rPr kumimoji="0" lang="en-US" altLang="zh-CN" sz="2000" b="1" dirty="0">
                <a:latin typeface="楷体_GB2312" pitchFamily="49" charset="-122"/>
                <a:ea typeface="楷体_GB2312" pitchFamily="49" charset="-122"/>
              </a:rPr>
              <a:t>N</a:t>
            </a:r>
            <a:r>
              <a:rPr kumimoji="0" lang="zh-CN" altLang="en-US" sz="2000" b="1" dirty="0">
                <a:latin typeface="楷体_GB2312" pitchFamily="49" charset="-122"/>
                <a:ea typeface="楷体_GB2312" pitchFamily="49" charset="-122"/>
              </a:rPr>
              <a:t>的运动速度为</a:t>
            </a:r>
            <a:r>
              <a:rPr kumimoji="0" lang="en-US" altLang="zh-CN" sz="2000" b="1" i="1" dirty="0">
                <a:latin typeface="楷体_GB2312" pitchFamily="49" charset="-122"/>
                <a:ea typeface="楷体_GB2312" pitchFamily="49" charset="-122"/>
              </a:rPr>
              <a:t>v</a:t>
            </a:r>
            <a:r>
              <a:rPr kumimoji="0" lang="zh-CN" altLang="en-US" sz="2000" b="1" dirty="0">
                <a:latin typeface="楷体_GB2312" pitchFamily="49" charset="-122"/>
                <a:ea typeface="楷体_GB2312" pitchFamily="49" charset="-122"/>
              </a:rPr>
              <a:t>，其运动方向与</a:t>
            </a:r>
            <a:r>
              <a:rPr kumimoji="0" lang="en-US" altLang="zh-CN" sz="2000" b="1" dirty="0">
                <a:latin typeface="楷体_GB2312" pitchFamily="49" charset="-122"/>
                <a:ea typeface="楷体_GB2312" pitchFamily="49" charset="-122"/>
              </a:rPr>
              <a:t>NS</a:t>
            </a:r>
            <a:r>
              <a:rPr kumimoji="0" lang="zh-CN" altLang="en-US" sz="2000" b="1" dirty="0">
                <a:latin typeface="楷体_GB2312" pitchFamily="49" charset="-122"/>
                <a:ea typeface="楷体_GB2312" pitchFamily="49" charset="-122"/>
              </a:rPr>
              <a:t>和</a:t>
            </a:r>
            <a:r>
              <a:rPr kumimoji="0" lang="en-US" altLang="zh-CN" sz="2000" b="1" dirty="0">
                <a:latin typeface="楷体_GB2312" pitchFamily="49" charset="-122"/>
                <a:ea typeface="楷体_GB2312" pitchFamily="49" charset="-122"/>
              </a:rPr>
              <a:t>MN</a:t>
            </a:r>
            <a:r>
              <a:rPr kumimoji="0" lang="zh-CN" altLang="en-US" sz="2000" b="1" dirty="0">
                <a:latin typeface="楷体_GB2312" pitchFamily="49" charset="-122"/>
                <a:ea typeface="楷体_GB2312" pitchFamily="49" charset="-122"/>
              </a:rPr>
              <a:t>的夹角分别为</a:t>
            </a:r>
            <a:r>
              <a:rPr kumimoji="0" lang="en-US" altLang="zh-CN" sz="2000" b="1" dirty="0">
                <a:latin typeface="楷体_GB2312" pitchFamily="49" charset="-122"/>
                <a:ea typeface="楷体_GB2312" pitchFamily="49" charset="-122"/>
              </a:rPr>
              <a:t>φ</a:t>
            </a:r>
            <a:r>
              <a:rPr kumimoji="0" lang="en-US" altLang="zh-CN" sz="2000" b="1" baseline="-25000" dirty="0">
                <a:latin typeface="楷体_GB2312" pitchFamily="49" charset="-122"/>
                <a:ea typeface="楷体_GB2312" pitchFamily="49" charset="-122"/>
              </a:rPr>
              <a:t>1</a:t>
            </a:r>
            <a:r>
              <a:rPr kumimoji="0" lang="zh-CN" altLang="en-US" sz="2000" b="1" dirty="0">
                <a:latin typeface="楷体_GB2312" pitchFamily="49" charset="-122"/>
                <a:ea typeface="楷体_GB2312" pitchFamily="49" charset="-122"/>
              </a:rPr>
              <a:t>和</a:t>
            </a:r>
            <a:r>
              <a:rPr kumimoji="0" lang="en-US" altLang="zh-CN" sz="2000" b="1" dirty="0">
                <a:latin typeface="楷体_GB2312" pitchFamily="49" charset="-122"/>
                <a:ea typeface="楷体_GB2312" pitchFamily="49" charset="-122"/>
              </a:rPr>
              <a:t>φ</a:t>
            </a:r>
            <a:r>
              <a:rPr kumimoji="0" lang="en-US" altLang="zh-CN" sz="2000" b="1" baseline="-25000" dirty="0">
                <a:latin typeface="楷体_GB2312" pitchFamily="49" charset="-122"/>
                <a:ea typeface="楷体_GB2312" pitchFamily="49" charset="-122"/>
              </a:rPr>
              <a:t>2</a:t>
            </a:r>
            <a:r>
              <a:rPr kumimoji="0" lang="zh-CN" altLang="en-US" sz="2000" b="1" dirty="0">
                <a:latin typeface="楷体_GB2312" pitchFamily="49" charset="-122"/>
                <a:ea typeface="楷体_GB2312" pitchFamily="49" charset="-122"/>
              </a:rPr>
              <a:t>，则从</a:t>
            </a:r>
            <a:r>
              <a:rPr kumimoji="0" lang="en-US" altLang="zh-CN" sz="2000" b="1" dirty="0">
                <a:latin typeface="楷体_GB2312" pitchFamily="49" charset="-122"/>
                <a:ea typeface="楷体_GB2312" pitchFamily="49" charset="-122"/>
              </a:rPr>
              <a:t>S</a:t>
            </a:r>
            <a:r>
              <a:rPr kumimoji="0" lang="zh-CN" altLang="en-US" sz="2000" b="1" dirty="0">
                <a:latin typeface="楷体_GB2312" pitchFamily="49" charset="-122"/>
                <a:ea typeface="楷体_GB2312" pitchFamily="49" charset="-122"/>
              </a:rPr>
              <a:t>发出的光频率</a:t>
            </a:r>
            <a:r>
              <a:rPr kumimoji="0" lang="en-US" altLang="zh-CN" sz="2000" b="1" i="1" dirty="0">
                <a:latin typeface="楷体_GB2312" pitchFamily="49" charset="-122"/>
                <a:ea typeface="楷体_GB2312" pitchFamily="49" charset="-122"/>
              </a:rPr>
              <a:t>f</a:t>
            </a:r>
            <a:r>
              <a:rPr kumimoji="0" lang="en-US" altLang="zh-CN" sz="2000" b="1" i="1" baseline="-25000" dirty="0">
                <a:latin typeface="楷体_GB2312" pitchFamily="49" charset="-122"/>
                <a:ea typeface="楷体_GB2312" pitchFamily="49" charset="-122"/>
              </a:rPr>
              <a:t>0 </a:t>
            </a:r>
            <a:r>
              <a:rPr kumimoji="0" lang="zh-CN" altLang="en-US" sz="2000" b="1" dirty="0">
                <a:latin typeface="楷体_GB2312" pitchFamily="49" charset="-122"/>
                <a:ea typeface="楷体_GB2312" pitchFamily="49" charset="-122"/>
              </a:rPr>
              <a:t>经运动物体</a:t>
            </a:r>
            <a:r>
              <a:rPr kumimoji="0" lang="en-US" altLang="zh-CN" sz="2000" b="1" dirty="0">
                <a:latin typeface="楷体_GB2312" pitchFamily="49" charset="-122"/>
                <a:ea typeface="楷体_GB2312" pitchFamily="49" charset="-122"/>
              </a:rPr>
              <a:t>N</a:t>
            </a:r>
            <a:r>
              <a:rPr kumimoji="0" lang="zh-CN" altLang="en-US" sz="2000" b="1" dirty="0">
                <a:highlight>
                  <a:srgbClr val="FFFF00"/>
                </a:highlight>
                <a:latin typeface="楷体_GB2312" pitchFamily="49" charset="-122"/>
                <a:ea typeface="楷体_GB2312" pitchFamily="49" charset="-122"/>
              </a:rPr>
              <a:t>散射</a:t>
            </a:r>
            <a:r>
              <a:rPr kumimoji="0" lang="zh-CN" altLang="en-US" sz="2000" b="1" dirty="0">
                <a:latin typeface="楷体_GB2312" pitchFamily="49" charset="-122"/>
                <a:ea typeface="楷体_GB2312" pitchFamily="49" charset="-122"/>
              </a:rPr>
              <a:t>后，观察者在</a:t>
            </a:r>
            <a:r>
              <a:rPr kumimoji="0" lang="en-US" altLang="zh-CN" sz="2000" b="1" dirty="0">
                <a:latin typeface="楷体_GB2312" pitchFamily="49" charset="-122"/>
                <a:ea typeface="楷体_GB2312" pitchFamily="49" charset="-122"/>
              </a:rPr>
              <a:t>M</a:t>
            </a:r>
            <a:r>
              <a:rPr kumimoji="0" lang="zh-CN" altLang="en-US" sz="2000" b="1" dirty="0">
                <a:latin typeface="楷体_GB2312" pitchFamily="49" charset="-122"/>
                <a:ea typeface="楷体_GB2312" pitchFamily="49" charset="-122"/>
              </a:rPr>
              <a:t>处观察到的运动物体反射的频率为  </a:t>
            </a:r>
            <a:r>
              <a:rPr kumimoji="0" lang="en-US" altLang="zh-CN" sz="2000" b="1" i="1" dirty="0" err="1">
                <a:latin typeface="楷体_GB2312" pitchFamily="49" charset="-122"/>
                <a:ea typeface="楷体_GB2312" pitchFamily="49" charset="-122"/>
              </a:rPr>
              <a:t>f</a:t>
            </a:r>
            <a:r>
              <a:rPr kumimoji="0" lang="en-US" altLang="zh-CN" sz="2000" b="1" i="1" baseline="-25000" dirty="0" err="1">
                <a:latin typeface="楷体_GB2312" pitchFamily="49" charset="-122"/>
                <a:ea typeface="楷体_GB2312" pitchFamily="49" charset="-122"/>
              </a:rPr>
              <a:t>l</a:t>
            </a:r>
            <a:r>
              <a:rPr kumimoji="0" lang="zh-CN" altLang="en-US" sz="2000" b="1" dirty="0">
                <a:latin typeface="楷体_GB2312" pitchFamily="49" charset="-122"/>
                <a:ea typeface="楷体_GB2312" pitchFamily="49" charset="-122"/>
              </a:rPr>
              <a:t>，根据多普勒效应，它们之间有如下关系：</a:t>
            </a:r>
          </a:p>
        </p:txBody>
      </p:sp>
      <p:graphicFrame>
        <p:nvGraphicFramePr>
          <p:cNvPr id="27653" name="Object 5">
            <a:extLst>
              <a:ext uri="{FF2B5EF4-FFF2-40B4-BE49-F238E27FC236}">
                <a16:creationId xmlns:a16="http://schemas.microsoft.com/office/drawing/2014/main" id="{70A73804-A9B2-4B53-BB82-5A9598930097}"/>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27695" name="Equation" r:id="rId3" imgW="435285" imgH="677109" progId="Equation.DSMT4">
                  <p:embed/>
                </p:oleObj>
              </mc:Choice>
              <mc:Fallback>
                <p:oleObj name="Equation" r:id="rId3" imgW="435285" imgH="67710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4" name="Rectangle 6">
            <a:extLst>
              <a:ext uri="{FF2B5EF4-FFF2-40B4-BE49-F238E27FC236}">
                <a16:creationId xmlns:a16="http://schemas.microsoft.com/office/drawing/2014/main" id="{2B5BE0CA-FC2C-4CD6-8ACC-F0C03374DA4E}"/>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latin typeface="楷体_GB2312" pitchFamily="49" charset="-122"/>
                <a:ea typeface="楷体_GB2312" pitchFamily="49" charset="-122"/>
                <a:cs typeface="Times New Roman" panose="02020603050405020304" pitchFamily="18" charset="0"/>
              </a:rPr>
              <a:t>：</a:t>
            </a:r>
            <a:endParaRPr kumimoji="0" lang="zh-CN" altLang="en-US" sz="1100">
              <a:latin typeface="楷体_GB2312" pitchFamily="49" charset="-122"/>
              <a:ea typeface="楷体_GB2312" pitchFamily="49" charset="-122"/>
              <a:cs typeface="Times New Roman" panose="02020603050405020304" pitchFamily="18" charset="0"/>
            </a:endParaRPr>
          </a:p>
          <a:p>
            <a:pPr>
              <a:spcBef>
                <a:spcPct val="0"/>
              </a:spcBef>
              <a:buFontTx/>
              <a:buNone/>
            </a:pPr>
            <a:endParaRPr kumimoji="0" lang="en-US" altLang="zh-CN" sz="1800">
              <a:latin typeface="楷体_GB2312" pitchFamily="49" charset="-122"/>
              <a:ea typeface="楷体_GB2312" pitchFamily="49" charset="-122"/>
              <a:cs typeface="Times New Roman" panose="02020603050405020304" pitchFamily="18" charset="0"/>
            </a:endParaRPr>
          </a:p>
        </p:txBody>
      </p:sp>
      <p:sp>
        <p:nvSpPr>
          <p:cNvPr id="27655" name="Rectangle 7">
            <a:extLst>
              <a:ext uri="{FF2B5EF4-FFF2-40B4-BE49-F238E27FC236}">
                <a16:creationId xmlns:a16="http://schemas.microsoft.com/office/drawing/2014/main" id="{7F3CCB99-4BF4-4DF0-8936-96A996D7B15B}"/>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7656" name="Rectangle 8">
            <a:extLst>
              <a:ext uri="{FF2B5EF4-FFF2-40B4-BE49-F238E27FC236}">
                <a16:creationId xmlns:a16="http://schemas.microsoft.com/office/drawing/2014/main" id="{17D319C6-FAB9-42B4-BCD6-235164D018DF}"/>
              </a:ext>
            </a:extLst>
          </p:cNvPr>
          <p:cNvSpPr>
            <a:spLocks noChangeArrowheads="1"/>
          </p:cNvSpPr>
          <p:nvPr/>
        </p:nvSpPr>
        <p:spPr bwMode="auto">
          <a:xfrm>
            <a:off x="0" y="835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pSp>
        <p:nvGrpSpPr>
          <p:cNvPr id="27657" name="Group 9">
            <a:extLst>
              <a:ext uri="{FF2B5EF4-FFF2-40B4-BE49-F238E27FC236}">
                <a16:creationId xmlns:a16="http://schemas.microsoft.com/office/drawing/2014/main" id="{64445859-8FE2-4BC1-9C09-669786CCCE9D}"/>
              </a:ext>
            </a:extLst>
          </p:cNvPr>
          <p:cNvGrpSpPr>
            <a:grpSpLocks/>
          </p:cNvGrpSpPr>
          <p:nvPr/>
        </p:nvGrpSpPr>
        <p:grpSpPr bwMode="auto">
          <a:xfrm>
            <a:off x="4716463" y="1628775"/>
            <a:ext cx="4011612" cy="2520950"/>
            <a:chOff x="3414" y="1496"/>
            <a:chExt cx="2346" cy="1060"/>
          </a:xfrm>
        </p:grpSpPr>
        <p:pic>
          <p:nvPicPr>
            <p:cNvPr id="27659" name="Picture 10" descr="图12-12">
              <a:extLst>
                <a:ext uri="{FF2B5EF4-FFF2-40B4-BE49-F238E27FC236}">
                  <a16:creationId xmlns:a16="http://schemas.microsoft.com/office/drawing/2014/main" id="{0D6FD133-9C62-4016-BCF0-1EB87722E7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4" y="1496"/>
              <a:ext cx="2346" cy="1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0" name="Rectangle 11">
              <a:extLst>
                <a:ext uri="{FF2B5EF4-FFF2-40B4-BE49-F238E27FC236}">
                  <a16:creationId xmlns:a16="http://schemas.microsoft.com/office/drawing/2014/main" id="{F27C18C7-E1EF-4810-B607-5727C88A0793}"/>
                </a:ext>
              </a:extLst>
            </p:cNvPr>
            <p:cNvSpPr>
              <a:spLocks noChangeArrowheads="1"/>
            </p:cNvSpPr>
            <p:nvPr/>
          </p:nvSpPr>
          <p:spPr bwMode="auto">
            <a:xfrm>
              <a:off x="3696" y="2304"/>
              <a:ext cx="624"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8000" tIns="10800" rIns="18000" bIns="10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pSp>
      <p:graphicFrame>
        <p:nvGraphicFramePr>
          <p:cNvPr id="27658" name="Object 12">
            <a:extLst>
              <a:ext uri="{FF2B5EF4-FFF2-40B4-BE49-F238E27FC236}">
                <a16:creationId xmlns:a16="http://schemas.microsoft.com/office/drawing/2014/main" id="{4F4DFA1C-2B45-4DE8-8D9B-C3B96FD53904}"/>
              </a:ext>
            </a:extLst>
          </p:cNvPr>
          <p:cNvGraphicFramePr>
            <a:graphicFrameLocks noChangeAspect="1"/>
          </p:cNvGraphicFramePr>
          <p:nvPr/>
        </p:nvGraphicFramePr>
        <p:xfrm>
          <a:off x="539750" y="4941888"/>
          <a:ext cx="3962400" cy="904875"/>
        </p:xfrm>
        <a:graphic>
          <a:graphicData uri="http://schemas.openxmlformats.org/presentationml/2006/ole">
            <mc:AlternateContent xmlns:mc="http://schemas.openxmlformats.org/markup-compatibility/2006">
              <mc:Choice xmlns:v="urn:schemas-microsoft-com:vml" Requires="v">
                <p:oleObj spid="_x0000_s27696" name="Equation" r:id="rId6" imgW="1892300" imgH="431800" progId="Equation.DSMT4">
                  <p:embed/>
                </p:oleObj>
              </mc:Choice>
              <mc:Fallback>
                <p:oleObj name="Equation" r:id="rId6" imgW="1892300" imgH="431800" progId="Equation.DSMT4">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750" y="4941888"/>
                        <a:ext cx="3962400"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7116259-DFFA-4F81-8766-EF2301639E6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8675" name="Rectangle 3">
            <a:extLst>
              <a:ext uri="{FF2B5EF4-FFF2-40B4-BE49-F238E27FC236}">
                <a16:creationId xmlns:a16="http://schemas.microsoft.com/office/drawing/2014/main" id="{F6469739-3801-4CA6-A785-C9329B11AFD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429060" name="Text Box 4">
            <a:extLst>
              <a:ext uri="{FF2B5EF4-FFF2-40B4-BE49-F238E27FC236}">
                <a16:creationId xmlns:a16="http://schemas.microsoft.com/office/drawing/2014/main" id="{853E9FCB-285B-4EC6-B8A7-21AEA7FA85A4}"/>
              </a:ext>
            </a:extLst>
          </p:cNvPr>
          <p:cNvSpPr txBox="1">
            <a:spLocks noChangeArrowheads="1"/>
          </p:cNvSpPr>
          <p:nvPr/>
        </p:nvSpPr>
        <p:spPr bwMode="auto">
          <a:xfrm>
            <a:off x="358775" y="358775"/>
            <a:ext cx="8556625" cy="449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zh-CN" altLang="en-US" sz="2400" b="1" dirty="0">
                <a:solidFill>
                  <a:srgbClr val="FF0000"/>
                </a:solidFill>
                <a:latin typeface="楷体_GB2312" pitchFamily="49" charset="-122"/>
                <a:ea typeface="楷体_GB2312" pitchFamily="49" charset="-122"/>
              </a:rPr>
              <a:t>激光多普勒光纤流速测量系统</a:t>
            </a:r>
          </a:p>
          <a:p>
            <a:pPr eaLnBrk="1" hangingPunct="1">
              <a:lnSpc>
                <a:spcPct val="150000"/>
              </a:lnSpc>
              <a:spcBef>
                <a:spcPts val="1200"/>
              </a:spcBef>
              <a:buFontTx/>
              <a:buNone/>
            </a:pPr>
            <a:r>
              <a:rPr kumimoji="0" lang="zh-CN" altLang="en-US" sz="2000" b="1" dirty="0">
                <a:latin typeface="楷体_GB2312" pitchFamily="49" charset="-122"/>
                <a:ea typeface="楷体_GB2312" pitchFamily="49" charset="-122"/>
              </a:rPr>
              <a:t>●设激光光源频率为</a:t>
            </a:r>
            <a:r>
              <a:rPr kumimoji="0" lang="en-US" altLang="zh-CN" sz="2000" b="1" i="1" dirty="0">
                <a:latin typeface="楷体_GB2312" pitchFamily="49" charset="-122"/>
                <a:ea typeface="楷体_GB2312" pitchFamily="49" charset="-122"/>
              </a:rPr>
              <a:t>f</a:t>
            </a:r>
            <a:r>
              <a:rPr kumimoji="0" lang="en-US" altLang="zh-CN" sz="2000" b="1" i="1" baseline="-25000" dirty="0">
                <a:latin typeface="楷体_GB2312" pitchFamily="49" charset="-122"/>
                <a:ea typeface="楷体_GB2312" pitchFamily="49" charset="-122"/>
              </a:rPr>
              <a:t> 0</a:t>
            </a:r>
            <a:r>
              <a:rPr kumimoji="0" lang="zh-CN" altLang="en-US" sz="2000" b="1" dirty="0">
                <a:latin typeface="楷体_GB2312" pitchFamily="49" charset="-122"/>
                <a:ea typeface="楷体_GB2312" pitchFamily="49" charset="-122"/>
              </a:rPr>
              <a:t>，经半反射镜和聚焦透镜进入光纤射入到被测流体；</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●流体以速度</a:t>
            </a:r>
            <a:r>
              <a:rPr kumimoji="0" lang="en-US" altLang="zh-CN" sz="2000" b="1" i="1" dirty="0">
                <a:latin typeface="楷体_GB2312" pitchFamily="49" charset="-122"/>
                <a:ea typeface="楷体_GB2312" pitchFamily="49" charset="-122"/>
              </a:rPr>
              <a:t>v</a:t>
            </a:r>
            <a:r>
              <a:rPr kumimoji="0" lang="zh-CN" altLang="en-US" sz="2000" b="1" dirty="0">
                <a:latin typeface="楷体_GB2312" pitchFamily="49" charset="-122"/>
                <a:ea typeface="楷体_GB2312" pitchFamily="49" charset="-122"/>
              </a:rPr>
              <a:t>运动时，</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●根据多普勒效应，其向后散射光的</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频率为</a:t>
            </a:r>
            <a:r>
              <a:rPr kumimoji="0" lang="en-US" altLang="zh-CN" sz="2000" b="1" i="1" dirty="0">
                <a:latin typeface="楷体_GB2312" pitchFamily="49" charset="-122"/>
                <a:ea typeface="楷体_GB2312" pitchFamily="49" charset="-122"/>
              </a:rPr>
              <a:t>f </a:t>
            </a:r>
            <a:r>
              <a:rPr kumimoji="0" lang="en-US" altLang="zh-CN" sz="2000" b="1" i="1" baseline="-25000" dirty="0">
                <a:latin typeface="楷体_GB2312" pitchFamily="49" charset="-122"/>
                <a:ea typeface="楷体_GB2312" pitchFamily="49" charset="-122"/>
              </a:rPr>
              <a:t>0</a:t>
            </a:r>
            <a:r>
              <a:rPr kumimoji="0" lang="en-US" altLang="zh-CN" sz="2000" b="1" i="1" dirty="0">
                <a:latin typeface="楷体_GB2312" pitchFamily="49" charset="-122"/>
                <a:ea typeface="楷体_GB2312" pitchFamily="49" charset="-122"/>
              </a:rPr>
              <a:t>+Δf </a:t>
            </a:r>
            <a:r>
              <a:rPr kumimoji="0" lang="zh-CN" altLang="en-US" sz="2000" b="1" dirty="0">
                <a:latin typeface="楷体_GB2312" pitchFamily="49" charset="-122"/>
                <a:ea typeface="楷体_GB2312" pitchFamily="49" charset="-122"/>
              </a:rPr>
              <a:t>或</a:t>
            </a:r>
            <a:r>
              <a:rPr kumimoji="0" lang="en-US" altLang="zh-CN" sz="2000" b="1" i="1" dirty="0">
                <a:latin typeface="楷体_GB2312" pitchFamily="49" charset="-122"/>
                <a:ea typeface="楷体_GB2312" pitchFamily="49" charset="-122"/>
              </a:rPr>
              <a:t>f</a:t>
            </a:r>
            <a:r>
              <a:rPr kumimoji="0" lang="en-US" altLang="zh-CN" sz="2000" b="1" i="1" baseline="-25000" dirty="0">
                <a:latin typeface="楷体_GB2312" pitchFamily="49" charset="-122"/>
                <a:ea typeface="楷体_GB2312" pitchFamily="49" charset="-122"/>
              </a:rPr>
              <a:t>0</a:t>
            </a:r>
            <a:r>
              <a:rPr kumimoji="0" lang="en-US" altLang="zh-CN" sz="2000" b="1" i="1" dirty="0">
                <a:latin typeface="楷体_GB2312" pitchFamily="49" charset="-122"/>
                <a:ea typeface="楷体_GB2312" pitchFamily="49" charset="-122"/>
              </a:rPr>
              <a:t>-Δf</a:t>
            </a:r>
            <a:r>
              <a:rPr kumimoji="0" lang="zh-CN" altLang="en-US" sz="2000" b="1" dirty="0">
                <a:latin typeface="楷体_GB2312" pitchFamily="49" charset="-122"/>
                <a:ea typeface="楷体_GB2312" pitchFamily="49" charset="-122"/>
              </a:rPr>
              <a:t>（视流向）；</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●探测器检测出端面反射</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光</a:t>
            </a:r>
            <a:r>
              <a:rPr kumimoji="0" lang="en-US" altLang="zh-CN" sz="2000" b="1" i="1" dirty="0">
                <a:latin typeface="楷体_GB2312" pitchFamily="49" charset="-122"/>
                <a:ea typeface="楷体_GB2312" pitchFamily="49" charset="-122"/>
              </a:rPr>
              <a:t>f </a:t>
            </a:r>
            <a:r>
              <a:rPr kumimoji="0" lang="en-US" altLang="zh-CN" sz="2000" b="1" i="1" baseline="-25000" dirty="0">
                <a:latin typeface="楷体_GB2312" pitchFamily="49" charset="-122"/>
                <a:ea typeface="楷体_GB2312" pitchFamily="49" charset="-122"/>
              </a:rPr>
              <a:t>0</a:t>
            </a:r>
            <a:r>
              <a:rPr kumimoji="0" lang="zh-CN" altLang="en-US" sz="2000" b="1" dirty="0">
                <a:latin typeface="楷体_GB2312" pitchFamily="49" charset="-122"/>
                <a:ea typeface="楷体_GB2312" pitchFamily="49" charset="-122"/>
              </a:rPr>
              <a:t>与向后散射光</a:t>
            </a:r>
            <a:r>
              <a:rPr kumimoji="0" lang="en-US" altLang="zh-CN" sz="2000" b="1" i="1" dirty="0">
                <a:latin typeface="楷体_GB2312" pitchFamily="49" charset="-122"/>
                <a:ea typeface="楷体_GB2312" pitchFamily="49" charset="-122"/>
              </a:rPr>
              <a:t>f</a:t>
            </a:r>
            <a:r>
              <a:rPr kumimoji="0" lang="en-US" altLang="zh-CN" sz="2000" b="1" i="1" baseline="-25000" dirty="0">
                <a:latin typeface="楷体_GB2312" pitchFamily="49" charset="-122"/>
                <a:ea typeface="楷体_GB2312" pitchFamily="49" charset="-122"/>
              </a:rPr>
              <a:t>0</a:t>
            </a:r>
            <a:r>
              <a:rPr kumimoji="0" lang="en-US" altLang="zh-CN" sz="2000" b="1" i="1" dirty="0">
                <a:latin typeface="楷体_GB2312" pitchFamily="49" charset="-122"/>
                <a:ea typeface="楷体_GB2312" pitchFamily="49" charset="-122"/>
              </a:rPr>
              <a:t>+Δf</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或</a:t>
            </a:r>
            <a:r>
              <a:rPr kumimoji="0" lang="en-US" altLang="zh-CN" sz="2000" b="1" i="1" dirty="0">
                <a:latin typeface="楷体_GB2312" pitchFamily="49" charset="-122"/>
                <a:ea typeface="楷体_GB2312" pitchFamily="49" charset="-122"/>
              </a:rPr>
              <a:t>f </a:t>
            </a:r>
            <a:r>
              <a:rPr kumimoji="0" lang="en-US" altLang="zh-CN" sz="2000" b="1" i="1" baseline="-25000" dirty="0">
                <a:latin typeface="楷体_GB2312" pitchFamily="49" charset="-122"/>
                <a:ea typeface="楷体_GB2312" pitchFamily="49" charset="-122"/>
              </a:rPr>
              <a:t>0</a:t>
            </a:r>
            <a:r>
              <a:rPr kumimoji="0" lang="en-US" altLang="zh-CN" sz="2000" b="1" i="1" dirty="0">
                <a:latin typeface="楷体_GB2312" pitchFamily="49" charset="-122"/>
                <a:ea typeface="楷体_GB2312" pitchFamily="49" charset="-122"/>
              </a:rPr>
              <a:t>-Δf </a:t>
            </a:r>
            <a:r>
              <a:rPr kumimoji="0" lang="zh-CN" altLang="en-US" sz="2000" b="1" dirty="0">
                <a:latin typeface="楷体_GB2312" pitchFamily="49" charset="-122"/>
                <a:ea typeface="楷体_GB2312" pitchFamily="49" charset="-122"/>
              </a:rPr>
              <a:t>的差拍的拍频</a:t>
            </a:r>
            <a:r>
              <a:rPr kumimoji="0" lang="en-US" altLang="zh-CN" sz="2000" b="1" i="1" dirty="0" err="1">
                <a:latin typeface="楷体_GB2312" pitchFamily="49" charset="-122"/>
                <a:ea typeface="楷体_GB2312" pitchFamily="49" charset="-122"/>
              </a:rPr>
              <a:t>Δf</a:t>
            </a:r>
            <a:r>
              <a:rPr kumimoji="0" lang="zh-CN" altLang="en-US" sz="2000" b="1" dirty="0">
                <a:latin typeface="楷体_GB2312" pitchFamily="49" charset="-122"/>
                <a:ea typeface="楷体_GB2312" pitchFamily="49" charset="-122"/>
              </a:rPr>
              <a:t>，</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由此可知流体的的流速</a:t>
            </a:r>
            <a:r>
              <a:rPr kumimoji="0" lang="zh-CN" altLang="en-US" sz="2000" dirty="0">
                <a:latin typeface="楷体_GB2312" pitchFamily="49" charset="-122"/>
                <a:ea typeface="楷体_GB2312" pitchFamily="49" charset="-122"/>
              </a:rPr>
              <a:t>。 </a:t>
            </a:r>
          </a:p>
        </p:txBody>
      </p:sp>
      <p:graphicFrame>
        <p:nvGraphicFramePr>
          <p:cNvPr id="28677" name="Object 5">
            <a:extLst>
              <a:ext uri="{FF2B5EF4-FFF2-40B4-BE49-F238E27FC236}">
                <a16:creationId xmlns:a16="http://schemas.microsoft.com/office/drawing/2014/main" id="{BAAABCDA-8922-4009-9AD0-FE6C6C14A98B}"/>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28877" name="Equation" r:id="rId3" imgW="435285" imgH="677109" progId="Equation.DSMT4">
                  <p:embed/>
                </p:oleObj>
              </mc:Choice>
              <mc:Fallback>
                <p:oleObj name="Equation" r:id="rId3" imgW="435285" imgH="67710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8" name="Rectangle 6">
            <a:extLst>
              <a:ext uri="{FF2B5EF4-FFF2-40B4-BE49-F238E27FC236}">
                <a16:creationId xmlns:a16="http://schemas.microsoft.com/office/drawing/2014/main" id="{2E72E7A9-19C8-44CB-8179-79343BA3532F}"/>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latin typeface="楷体_GB2312" pitchFamily="49" charset="-122"/>
                <a:ea typeface="楷体_GB2312" pitchFamily="49" charset="-122"/>
                <a:cs typeface="Times New Roman" panose="02020603050405020304" pitchFamily="18" charset="0"/>
              </a:rPr>
              <a:t>：</a:t>
            </a:r>
            <a:endParaRPr kumimoji="0" lang="zh-CN" altLang="en-US" sz="1100">
              <a:latin typeface="楷体_GB2312" pitchFamily="49" charset="-122"/>
              <a:ea typeface="楷体_GB2312" pitchFamily="49" charset="-122"/>
              <a:cs typeface="Times New Roman" panose="02020603050405020304" pitchFamily="18" charset="0"/>
            </a:endParaRPr>
          </a:p>
          <a:p>
            <a:pPr>
              <a:spcBef>
                <a:spcPct val="0"/>
              </a:spcBef>
              <a:buFontTx/>
              <a:buNone/>
            </a:pPr>
            <a:endParaRPr kumimoji="0" lang="en-US" altLang="zh-CN" sz="1800">
              <a:latin typeface="楷体_GB2312" pitchFamily="49" charset="-122"/>
              <a:ea typeface="楷体_GB2312" pitchFamily="49" charset="-122"/>
              <a:cs typeface="Times New Roman" panose="02020603050405020304" pitchFamily="18" charset="0"/>
            </a:endParaRPr>
          </a:p>
        </p:txBody>
      </p:sp>
      <p:sp>
        <p:nvSpPr>
          <p:cNvPr id="28679" name="Rectangle 7">
            <a:extLst>
              <a:ext uri="{FF2B5EF4-FFF2-40B4-BE49-F238E27FC236}">
                <a16:creationId xmlns:a16="http://schemas.microsoft.com/office/drawing/2014/main" id="{77C92A72-9AC7-4E7E-82D4-48CE35283A14}"/>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8680" name="Rectangle 8">
            <a:extLst>
              <a:ext uri="{FF2B5EF4-FFF2-40B4-BE49-F238E27FC236}">
                <a16:creationId xmlns:a16="http://schemas.microsoft.com/office/drawing/2014/main" id="{139D7AC4-0B83-4539-9E09-E159176B6401}"/>
              </a:ext>
            </a:extLst>
          </p:cNvPr>
          <p:cNvSpPr>
            <a:spLocks noChangeArrowheads="1"/>
          </p:cNvSpPr>
          <p:nvPr/>
        </p:nvSpPr>
        <p:spPr bwMode="auto">
          <a:xfrm>
            <a:off x="0" y="835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pSp>
        <p:nvGrpSpPr>
          <p:cNvPr id="28681" name="Group 45">
            <a:extLst>
              <a:ext uri="{FF2B5EF4-FFF2-40B4-BE49-F238E27FC236}">
                <a16:creationId xmlns:a16="http://schemas.microsoft.com/office/drawing/2014/main" id="{EC76CE85-11D3-4245-95B5-1A4AF4E94AB9}"/>
              </a:ext>
            </a:extLst>
          </p:cNvPr>
          <p:cNvGrpSpPr>
            <a:grpSpLocks/>
          </p:cNvGrpSpPr>
          <p:nvPr/>
        </p:nvGrpSpPr>
        <p:grpSpPr bwMode="auto">
          <a:xfrm>
            <a:off x="4673600" y="1922463"/>
            <a:ext cx="4416425" cy="3759200"/>
            <a:chOff x="2304" y="1440"/>
            <a:chExt cx="3264" cy="2400"/>
          </a:xfrm>
        </p:grpSpPr>
        <p:sp>
          <p:nvSpPr>
            <p:cNvPr id="28682" name="Rectangle 46">
              <a:extLst>
                <a:ext uri="{FF2B5EF4-FFF2-40B4-BE49-F238E27FC236}">
                  <a16:creationId xmlns:a16="http://schemas.microsoft.com/office/drawing/2014/main" id="{AFB4AC87-C4C2-46ED-AE3D-6DE0C11C2D03}"/>
                </a:ext>
              </a:extLst>
            </p:cNvPr>
            <p:cNvSpPr>
              <a:spLocks noChangeArrowheads="1"/>
            </p:cNvSpPr>
            <p:nvPr/>
          </p:nvSpPr>
          <p:spPr bwMode="auto">
            <a:xfrm>
              <a:off x="2304" y="1440"/>
              <a:ext cx="3264" cy="2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pSp>
          <p:nvGrpSpPr>
            <p:cNvPr id="28683" name="Group 47">
              <a:extLst>
                <a:ext uri="{FF2B5EF4-FFF2-40B4-BE49-F238E27FC236}">
                  <a16:creationId xmlns:a16="http://schemas.microsoft.com/office/drawing/2014/main" id="{5888DE89-2120-4EFF-8661-2CF60F053B9A}"/>
                </a:ext>
              </a:extLst>
            </p:cNvPr>
            <p:cNvGrpSpPr>
              <a:grpSpLocks/>
            </p:cNvGrpSpPr>
            <p:nvPr/>
          </p:nvGrpSpPr>
          <p:grpSpPr bwMode="auto">
            <a:xfrm>
              <a:off x="2544" y="1536"/>
              <a:ext cx="2928" cy="2256"/>
              <a:chOff x="6675" y="11738"/>
              <a:chExt cx="4153" cy="3618"/>
            </a:xfrm>
          </p:grpSpPr>
          <p:sp>
            <p:nvSpPr>
              <p:cNvPr id="28684" name="Rectangle 48" descr="大纸屑">
                <a:extLst>
                  <a:ext uri="{FF2B5EF4-FFF2-40B4-BE49-F238E27FC236}">
                    <a16:creationId xmlns:a16="http://schemas.microsoft.com/office/drawing/2014/main" id="{F41D7CFD-A22A-4DB0-9F42-C840532B12E4}"/>
                  </a:ext>
                </a:extLst>
              </p:cNvPr>
              <p:cNvSpPr>
                <a:spLocks noChangeArrowheads="1"/>
              </p:cNvSpPr>
              <p:nvPr/>
            </p:nvSpPr>
            <p:spPr bwMode="auto">
              <a:xfrm>
                <a:off x="9696" y="13237"/>
                <a:ext cx="950" cy="421"/>
              </a:xfrm>
              <a:prstGeom prst="rect">
                <a:avLst/>
              </a:prstGeom>
              <a:pattFill prst="lgConfetti">
                <a:fgClr>
                  <a:srgbClr val="000000"/>
                </a:fgClr>
                <a:bgClr>
                  <a:srgbClr val="FFFF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8685" name="Line 49">
                <a:extLst>
                  <a:ext uri="{FF2B5EF4-FFF2-40B4-BE49-F238E27FC236}">
                    <a16:creationId xmlns:a16="http://schemas.microsoft.com/office/drawing/2014/main" id="{1B0B9EB8-3A67-40EF-BE5B-25D9EC3EDC3C}"/>
                  </a:ext>
                </a:extLst>
              </p:cNvPr>
              <p:cNvSpPr>
                <a:spLocks noChangeShapeType="1"/>
              </p:cNvSpPr>
              <p:nvPr/>
            </p:nvSpPr>
            <p:spPr bwMode="auto">
              <a:xfrm flipH="1">
                <a:off x="8247" y="12206"/>
                <a:ext cx="475" cy="7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6" name="Freeform 50">
                <a:extLst>
                  <a:ext uri="{FF2B5EF4-FFF2-40B4-BE49-F238E27FC236}">
                    <a16:creationId xmlns:a16="http://schemas.microsoft.com/office/drawing/2014/main" id="{824A150C-9C83-438F-ABA4-AB09644A7432}"/>
                  </a:ext>
                </a:extLst>
              </p:cNvPr>
              <p:cNvSpPr>
                <a:spLocks/>
              </p:cNvSpPr>
              <p:nvPr/>
            </p:nvSpPr>
            <p:spPr bwMode="auto">
              <a:xfrm>
                <a:off x="7586" y="12563"/>
                <a:ext cx="1723" cy="3"/>
              </a:xfrm>
              <a:custGeom>
                <a:avLst/>
                <a:gdLst>
                  <a:gd name="T0" fmla="*/ 0 w 1723"/>
                  <a:gd name="T1" fmla="*/ 3 h 3"/>
                  <a:gd name="T2" fmla="*/ 1723 w 1723"/>
                  <a:gd name="T3" fmla="*/ 0 h 3"/>
                  <a:gd name="T4" fmla="*/ 0 60000 65536"/>
                  <a:gd name="T5" fmla="*/ 0 60000 65536"/>
                  <a:gd name="T6" fmla="*/ 0 w 1723"/>
                  <a:gd name="T7" fmla="*/ 0 h 3"/>
                  <a:gd name="T8" fmla="*/ 1723 w 1723"/>
                  <a:gd name="T9" fmla="*/ 3 h 3"/>
                </a:gdLst>
                <a:ahLst/>
                <a:cxnLst>
                  <a:cxn ang="T4">
                    <a:pos x="T0" y="T1"/>
                  </a:cxn>
                  <a:cxn ang="T5">
                    <a:pos x="T2" y="T3"/>
                  </a:cxn>
                </a:cxnLst>
                <a:rect l="T6" t="T7" r="T8" b="T9"/>
                <a:pathLst>
                  <a:path w="1723" h="3">
                    <a:moveTo>
                      <a:pt x="0" y="3"/>
                    </a:moveTo>
                    <a:lnTo>
                      <a:pt x="1723" y="0"/>
                    </a:lnTo>
                  </a:path>
                </a:pathLst>
              </a:custGeom>
              <a:noFill/>
              <a:ln w="12700" cmpd="sng">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687" name="Freeform 51">
                <a:extLst>
                  <a:ext uri="{FF2B5EF4-FFF2-40B4-BE49-F238E27FC236}">
                    <a16:creationId xmlns:a16="http://schemas.microsoft.com/office/drawing/2014/main" id="{F1630063-34B2-46A9-82D1-D21377D3843D}"/>
                  </a:ext>
                </a:extLst>
              </p:cNvPr>
              <p:cNvSpPr>
                <a:spLocks/>
              </p:cNvSpPr>
              <p:nvPr/>
            </p:nvSpPr>
            <p:spPr bwMode="auto">
              <a:xfrm>
                <a:off x="9589" y="12533"/>
                <a:ext cx="774" cy="749"/>
              </a:xfrm>
              <a:custGeom>
                <a:avLst/>
                <a:gdLst>
                  <a:gd name="T0" fmla="*/ 0 w 774"/>
                  <a:gd name="T1" fmla="*/ 35 h 749"/>
                  <a:gd name="T2" fmla="*/ 83 w 774"/>
                  <a:gd name="T3" fmla="*/ 29 h 749"/>
                  <a:gd name="T4" fmla="*/ 250 w 774"/>
                  <a:gd name="T5" fmla="*/ 2 h 749"/>
                  <a:gd name="T6" fmla="*/ 416 w 774"/>
                  <a:gd name="T7" fmla="*/ 38 h 749"/>
                  <a:gd name="T8" fmla="*/ 618 w 774"/>
                  <a:gd name="T9" fmla="*/ 128 h 749"/>
                  <a:gd name="T10" fmla="*/ 750 w 774"/>
                  <a:gd name="T11" fmla="*/ 185 h 749"/>
                  <a:gd name="T12" fmla="*/ 765 w 774"/>
                  <a:gd name="T13" fmla="*/ 320 h 749"/>
                  <a:gd name="T14" fmla="*/ 717 w 774"/>
                  <a:gd name="T15" fmla="*/ 402 h 749"/>
                  <a:gd name="T16" fmla="*/ 713 w 774"/>
                  <a:gd name="T17" fmla="*/ 461 h 749"/>
                  <a:gd name="T18" fmla="*/ 697 w 774"/>
                  <a:gd name="T19" fmla="*/ 567 h 749"/>
                  <a:gd name="T20" fmla="*/ 618 w 774"/>
                  <a:gd name="T21" fmla="*/ 627 h 749"/>
                  <a:gd name="T22" fmla="*/ 551 w 774"/>
                  <a:gd name="T23" fmla="*/ 672 h 749"/>
                  <a:gd name="T24" fmla="*/ 479 w 774"/>
                  <a:gd name="T25" fmla="*/ 749 h 7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74"/>
                  <a:gd name="T40" fmla="*/ 0 h 749"/>
                  <a:gd name="T41" fmla="*/ 774 w 774"/>
                  <a:gd name="T42" fmla="*/ 749 h 7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74" h="749">
                    <a:moveTo>
                      <a:pt x="0" y="35"/>
                    </a:moveTo>
                    <a:cubicBezTo>
                      <a:pt x="32" y="35"/>
                      <a:pt x="41" y="35"/>
                      <a:pt x="83" y="29"/>
                    </a:cubicBezTo>
                    <a:cubicBezTo>
                      <a:pt x="125" y="23"/>
                      <a:pt x="194" y="0"/>
                      <a:pt x="250" y="2"/>
                    </a:cubicBezTo>
                    <a:cubicBezTo>
                      <a:pt x="337" y="3"/>
                      <a:pt x="355" y="17"/>
                      <a:pt x="416" y="38"/>
                    </a:cubicBezTo>
                    <a:cubicBezTo>
                      <a:pt x="477" y="59"/>
                      <a:pt x="562" y="104"/>
                      <a:pt x="618" y="128"/>
                    </a:cubicBezTo>
                    <a:cubicBezTo>
                      <a:pt x="659" y="159"/>
                      <a:pt x="726" y="153"/>
                      <a:pt x="750" y="185"/>
                    </a:cubicBezTo>
                    <a:cubicBezTo>
                      <a:pt x="774" y="217"/>
                      <a:pt x="770" y="284"/>
                      <a:pt x="765" y="320"/>
                    </a:cubicBezTo>
                    <a:cubicBezTo>
                      <a:pt x="760" y="356"/>
                      <a:pt x="726" y="379"/>
                      <a:pt x="717" y="402"/>
                    </a:cubicBezTo>
                    <a:cubicBezTo>
                      <a:pt x="716" y="422"/>
                      <a:pt x="717" y="441"/>
                      <a:pt x="713" y="461"/>
                    </a:cubicBezTo>
                    <a:cubicBezTo>
                      <a:pt x="704" y="503"/>
                      <a:pt x="721" y="540"/>
                      <a:pt x="697" y="567"/>
                    </a:cubicBezTo>
                    <a:cubicBezTo>
                      <a:pt x="675" y="597"/>
                      <a:pt x="635" y="603"/>
                      <a:pt x="618" y="627"/>
                    </a:cubicBezTo>
                    <a:cubicBezTo>
                      <a:pt x="610" y="636"/>
                      <a:pt x="559" y="663"/>
                      <a:pt x="551" y="672"/>
                    </a:cubicBezTo>
                    <a:cubicBezTo>
                      <a:pt x="547" y="677"/>
                      <a:pt x="479" y="749"/>
                      <a:pt x="479" y="749"/>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688" name="Line 52">
                <a:extLst>
                  <a:ext uri="{FF2B5EF4-FFF2-40B4-BE49-F238E27FC236}">
                    <a16:creationId xmlns:a16="http://schemas.microsoft.com/office/drawing/2014/main" id="{3CA7B2F1-3316-4BF1-B38F-A5579FF98084}"/>
                  </a:ext>
                </a:extLst>
              </p:cNvPr>
              <p:cNvSpPr>
                <a:spLocks noChangeShapeType="1"/>
              </p:cNvSpPr>
              <p:nvPr/>
            </p:nvSpPr>
            <p:spPr bwMode="auto">
              <a:xfrm>
                <a:off x="9684" y="13232"/>
                <a:ext cx="9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9" name="Line 53">
                <a:extLst>
                  <a:ext uri="{FF2B5EF4-FFF2-40B4-BE49-F238E27FC236}">
                    <a16:creationId xmlns:a16="http://schemas.microsoft.com/office/drawing/2014/main" id="{2989F02D-9D2F-4FAE-B825-2536D6FFA241}"/>
                  </a:ext>
                </a:extLst>
              </p:cNvPr>
              <p:cNvSpPr>
                <a:spLocks noChangeShapeType="1"/>
              </p:cNvSpPr>
              <p:nvPr/>
            </p:nvSpPr>
            <p:spPr bwMode="auto">
              <a:xfrm>
                <a:off x="9690" y="13658"/>
                <a:ext cx="95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0" name="Line 54">
                <a:extLst>
                  <a:ext uri="{FF2B5EF4-FFF2-40B4-BE49-F238E27FC236}">
                    <a16:creationId xmlns:a16="http://schemas.microsoft.com/office/drawing/2014/main" id="{851872DD-A24B-487F-969A-2C589560BEA4}"/>
                  </a:ext>
                </a:extLst>
              </p:cNvPr>
              <p:cNvSpPr>
                <a:spLocks noChangeShapeType="1"/>
              </p:cNvSpPr>
              <p:nvPr/>
            </p:nvSpPr>
            <p:spPr bwMode="auto">
              <a:xfrm>
                <a:off x="10108" y="13440"/>
                <a:ext cx="475"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8691" name="Line 55">
                <a:extLst>
                  <a:ext uri="{FF2B5EF4-FFF2-40B4-BE49-F238E27FC236}">
                    <a16:creationId xmlns:a16="http://schemas.microsoft.com/office/drawing/2014/main" id="{279AB886-3488-4BF5-B959-9967B4049AA2}"/>
                  </a:ext>
                </a:extLst>
              </p:cNvPr>
              <p:cNvSpPr>
                <a:spLocks noChangeShapeType="1"/>
              </p:cNvSpPr>
              <p:nvPr/>
            </p:nvSpPr>
            <p:spPr bwMode="auto">
              <a:xfrm>
                <a:off x="8528" y="12566"/>
                <a:ext cx="896" cy="0"/>
              </a:xfrm>
              <a:prstGeom prst="line">
                <a:avLst/>
              </a:prstGeom>
              <a:noFill/>
              <a:ln w="76200" cmpd="tri">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2" name="AutoShape 56">
                <a:extLst>
                  <a:ext uri="{FF2B5EF4-FFF2-40B4-BE49-F238E27FC236}">
                    <a16:creationId xmlns:a16="http://schemas.microsoft.com/office/drawing/2014/main" id="{29101D99-55DB-4345-B764-BE4811E356C4}"/>
                  </a:ext>
                </a:extLst>
              </p:cNvPr>
              <p:cNvSpPr>
                <a:spLocks noChangeArrowheads="1"/>
              </p:cNvSpPr>
              <p:nvPr/>
            </p:nvSpPr>
            <p:spPr bwMode="auto">
              <a:xfrm>
                <a:off x="9241" y="12098"/>
                <a:ext cx="237" cy="936"/>
              </a:xfrm>
              <a:prstGeom prst="moon">
                <a:avLst>
                  <a:gd name="adj" fmla="val 70000"/>
                </a:avLst>
              </a:prstGeom>
              <a:solidFill>
                <a:srgbClr val="FFFFFF"/>
              </a:solidFill>
              <a:ln w="9525">
                <a:solidFill>
                  <a:srgbClr val="000000"/>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8693" name="Line 57">
                <a:extLst>
                  <a:ext uri="{FF2B5EF4-FFF2-40B4-BE49-F238E27FC236}">
                    <a16:creationId xmlns:a16="http://schemas.microsoft.com/office/drawing/2014/main" id="{0D694035-B783-4CB1-BE69-416B6ABFA69A}"/>
                  </a:ext>
                </a:extLst>
              </p:cNvPr>
              <p:cNvSpPr>
                <a:spLocks noChangeShapeType="1"/>
              </p:cNvSpPr>
              <p:nvPr/>
            </p:nvSpPr>
            <p:spPr bwMode="auto">
              <a:xfrm>
                <a:off x="8525" y="12566"/>
                <a:ext cx="0" cy="1225"/>
              </a:xfrm>
              <a:prstGeom prst="line">
                <a:avLst/>
              </a:prstGeom>
              <a:noFill/>
              <a:ln w="76200" cmpd="tri">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4" name="AutoShape 58">
                <a:extLst>
                  <a:ext uri="{FF2B5EF4-FFF2-40B4-BE49-F238E27FC236}">
                    <a16:creationId xmlns:a16="http://schemas.microsoft.com/office/drawing/2014/main" id="{314FE037-22B8-4C20-94FC-040297C95D12}"/>
                  </a:ext>
                </a:extLst>
              </p:cNvPr>
              <p:cNvSpPr>
                <a:spLocks noChangeArrowheads="1"/>
              </p:cNvSpPr>
              <p:nvPr/>
            </p:nvSpPr>
            <p:spPr bwMode="auto">
              <a:xfrm rot="5400000" flipV="1">
                <a:off x="8390" y="13489"/>
                <a:ext cx="270" cy="823"/>
              </a:xfrm>
              <a:prstGeom prst="moon">
                <a:avLst>
                  <a:gd name="adj" fmla="val 70000"/>
                </a:avLst>
              </a:prstGeom>
              <a:solidFill>
                <a:srgbClr val="FFFFFF"/>
              </a:solidFill>
              <a:ln w="9525">
                <a:solidFill>
                  <a:srgbClr val="000000"/>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8695" name="Freeform 59">
                <a:extLst>
                  <a:ext uri="{FF2B5EF4-FFF2-40B4-BE49-F238E27FC236}">
                    <a16:creationId xmlns:a16="http://schemas.microsoft.com/office/drawing/2014/main" id="{869EADA6-08DE-401C-A87F-E5098CB3F2C2}"/>
                  </a:ext>
                </a:extLst>
              </p:cNvPr>
              <p:cNvSpPr>
                <a:spLocks/>
              </p:cNvSpPr>
              <p:nvPr/>
            </p:nvSpPr>
            <p:spPr bwMode="auto">
              <a:xfrm>
                <a:off x="8530" y="13960"/>
                <a:ext cx="74" cy="274"/>
              </a:xfrm>
              <a:custGeom>
                <a:avLst/>
                <a:gdLst>
                  <a:gd name="T0" fmla="*/ 3678 w 56"/>
                  <a:gd name="T1" fmla="*/ 0 h 183"/>
                  <a:gd name="T2" fmla="*/ 0 w 56"/>
                  <a:gd name="T3" fmla="*/ 77901 h 183"/>
                  <a:gd name="T4" fmla="*/ 0 60000 65536"/>
                  <a:gd name="T5" fmla="*/ 0 60000 65536"/>
                  <a:gd name="T6" fmla="*/ 0 w 56"/>
                  <a:gd name="T7" fmla="*/ 0 h 183"/>
                  <a:gd name="T8" fmla="*/ 56 w 56"/>
                  <a:gd name="T9" fmla="*/ 183 h 183"/>
                </a:gdLst>
                <a:ahLst/>
                <a:cxnLst>
                  <a:cxn ang="T4">
                    <a:pos x="T0" y="T1"/>
                  </a:cxn>
                  <a:cxn ang="T5">
                    <a:pos x="T2" y="T3"/>
                  </a:cxn>
                </a:cxnLst>
                <a:rect l="T6" t="T7" r="T8" b="T9"/>
                <a:pathLst>
                  <a:path w="56" h="183">
                    <a:moveTo>
                      <a:pt x="56" y="0"/>
                    </a:moveTo>
                    <a:lnTo>
                      <a:pt x="0" y="183"/>
                    </a:lnTo>
                  </a:path>
                </a:pathLst>
              </a:custGeom>
              <a:noFill/>
              <a:ln w="9525">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696" name="Freeform 60">
                <a:extLst>
                  <a:ext uri="{FF2B5EF4-FFF2-40B4-BE49-F238E27FC236}">
                    <a16:creationId xmlns:a16="http://schemas.microsoft.com/office/drawing/2014/main" id="{6E555A11-DDEB-46A1-BE4F-35B9B7967063}"/>
                  </a:ext>
                </a:extLst>
              </p:cNvPr>
              <p:cNvSpPr>
                <a:spLocks/>
              </p:cNvSpPr>
              <p:nvPr/>
            </p:nvSpPr>
            <p:spPr bwMode="auto">
              <a:xfrm flipH="1">
                <a:off x="8455" y="13960"/>
                <a:ext cx="73" cy="274"/>
              </a:xfrm>
              <a:custGeom>
                <a:avLst/>
                <a:gdLst>
                  <a:gd name="T0" fmla="*/ 2989 w 56"/>
                  <a:gd name="T1" fmla="*/ 0 h 183"/>
                  <a:gd name="T2" fmla="*/ 0 w 56"/>
                  <a:gd name="T3" fmla="*/ 77901 h 183"/>
                  <a:gd name="T4" fmla="*/ 0 60000 65536"/>
                  <a:gd name="T5" fmla="*/ 0 60000 65536"/>
                  <a:gd name="T6" fmla="*/ 0 w 56"/>
                  <a:gd name="T7" fmla="*/ 0 h 183"/>
                  <a:gd name="T8" fmla="*/ 56 w 56"/>
                  <a:gd name="T9" fmla="*/ 183 h 183"/>
                </a:gdLst>
                <a:ahLst/>
                <a:cxnLst>
                  <a:cxn ang="T4">
                    <a:pos x="T0" y="T1"/>
                  </a:cxn>
                  <a:cxn ang="T5">
                    <a:pos x="T2" y="T3"/>
                  </a:cxn>
                </a:cxnLst>
                <a:rect l="T6" t="T7" r="T8" b="T9"/>
                <a:pathLst>
                  <a:path w="56" h="183">
                    <a:moveTo>
                      <a:pt x="56" y="0"/>
                    </a:moveTo>
                    <a:lnTo>
                      <a:pt x="0" y="183"/>
                    </a:lnTo>
                  </a:path>
                </a:pathLst>
              </a:custGeom>
              <a:noFill/>
              <a:ln w="9525">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697" name="Rectangle 61">
                <a:extLst>
                  <a:ext uri="{FF2B5EF4-FFF2-40B4-BE49-F238E27FC236}">
                    <a16:creationId xmlns:a16="http://schemas.microsoft.com/office/drawing/2014/main" id="{EBDE0359-2511-42AD-AFB3-E6B7547ACF8B}"/>
                  </a:ext>
                </a:extLst>
              </p:cNvPr>
              <p:cNvSpPr>
                <a:spLocks noChangeArrowheads="1"/>
              </p:cNvSpPr>
              <p:nvPr/>
            </p:nvSpPr>
            <p:spPr bwMode="auto">
              <a:xfrm>
                <a:off x="8291" y="14234"/>
                <a:ext cx="475" cy="234"/>
              </a:xfrm>
              <a:prstGeom prst="rect">
                <a:avLst/>
              </a:prstGeom>
              <a:solidFill>
                <a:srgbClr val="FFFFFF"/>
              </a:solidFill>
              <a:ln w="9525">
                <a:solidFill>
                  <a:srgbClr val="000000"/>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8698" name="Line 62">
                <a:extLst>
                  <a:ext uri="{FF2B5EF4-FFF2-40B4-BE49-F238E27FC236}">
                    <a16:creationId xmlns:a16="http://schemas.microsoft.com/office/drawing/2014/main" id="{CD36F36B-4B87-4516-8523-709E8A184529}"/>
                  </a:ext>
                </a:extLst>
              </p:cNvPr>
              <p:cNvSpPr>
                <a:spLocks noChangeShapeType="1"/>
              </p:cNvSpPr>
              <p:nvPr/>
            </p:nvSpPr>
            <p:spPr bwMode="auto">
              <a:xfrm>
                <a:off x="8528" y="14468"/>
                <a:ext cx="0" cy="2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9" name="Rectangle 63">
                <a:extLst>
                  <a:ext uri="{FF2B5EF4-FFF2-40B4-BE49-F238E27FC236}">
                    <a16:creationId xmlns:a16="http://schemas.microsoft.com/office/drawing/2014/main" id="{9547B6C1-FC48-4C9E-84D3-BD8D06084134}"/>
                  </a:ext>
                </a:extLst>
              </p:cNvPr>
              <p:cNvSpPr>
                <a:spLocks noChangeArrowheads="1"/>
              </p:cNvSpPr>
              <p:nvPr/>
            </p:nvSpPr>
            <p:spPr bwMode="auto">
              <a:xfrm>
                <a:off x="8053" y="14702"/>
                <a:ext cx="950" cy="234"/>
              </a:xfrm>
              <a:prstGeom prst="rect">
                <a:avLst/>
              </a:prstGeom>
              <a:solidFill>
                <a:srgbClr val="FFFFFF"/>
              </a:solidFill>
              <a:ln w="9525">
                <a:solidFill>
                  <a:srgbClr val="000000"/>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8700" name="Rectangle 64">
                <a:extLst>
                  <a:ext uri="{FF2B5EF4-FFF2-40B4-BE49-F238E27FC236}">
                    <a16:creationId xmlns:a16="http://schemas.microsoft.com/office/drawing/2014/main" id="{AA88B25D-86ED-4918-9E72-94804DA653DE}"/>
                  </a:ext>
                </a:extLst>
              </p:cNvPr>
              <p:cNvSpPr>
                <a:spLocks noChangeArrowheads="1"/>
              </p:cNvSpPr>
              <p:nvPr/>
            </p:nvSpPr>
            <p:spPr bwMode="auto">
              <a:xfrm>
                <a:off x="6686" y="12410"/>
                <a:ext cx="900" cy="312"/>
              </a:xfrm>
              <a:prstGeom prst="rect">
                <a:avLst/>
              </a:prstGeom>
              <a:solidFill>
                <a:srgbClr val="FFFFFF"/>
              </a:solidFill>
              <a:ln w="9525">
                <a:solidFill>
                  <a:srgbClr val="000000"/>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aphicFrame>
            <p:nvGraphicFramePr>
              <p:cNvPr id="28701" name="Object 65">
                <a:extLst>
                  <a:ext uri="{FF2B5EF4-FFF2-40B4-BE49-F238E27FC236}">
                    <a16:creationId xmlns:a16="http://schemas.microsoft.com/office/drawing/2014/main" id="{01F430D3-A810-4F8B-A07A-D2663C51C988}"/>
                  </a:ext>
                </a:extLst>
              </p:cNvPr>
              <p:cNvGraphicFramePr>
                <a:graphicFrameLocks noChangeAspect="1"/>
              </p:cNvGraphicFramePr>
              <p:nvPr/>
            </p:nvGraphicFramePr>
            <p:xfrm>
              <a:off x="6686" y="12074"/>
              <a:ext cx="803" cy="323"/>
            </p:xfrm>
            <a:graphic>
              <a:graphicData uri="http://schemas.openxmlformats.org/presentationml/2006/ole">
                <mc:AlternateContent xmlns:mc="http://schemas.openxmlformats.org/markup-compatibility/2006">
                  <mc:Choice xmlns:v="urn:schemas-microsoft-com:vml" Requires="v">
                    <p:oleObj spid="_x0000_s28878" name="公式" r:id="rId5" imgW="507780" imgH="203112" progId="Equation.3">
                      <p:embed/>
                    </p:oleObj>
                  </mc:Choice>
                  <mc:Fallback>
                    <p:oleObj name="公式" r:id="rId5" imgW="507780" imgH="203112" progId="Equation.3">
                      <p:embed/>
                      <p:pic>
                        <p:nvPicPr>
                          <p:cNvPr id="0" name="Object 6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86" y="12074"/>
                            <a:ext cx="803"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702" name="Object 66">
                <a:extLst>
                  <a:ext uri="{FF2B5EF4-FFF2-40B4-BE49-F238E27FC236}">
                    <a16:creationId xmlns:a16="http://schemas.microsoft.com/office/drawing/2014/main" id="{BCDED4DE-FDEC-4974-A0FE-D2C474116B70}"/>
                  </a:ext>
                </a:extLst>
              </p:cNvPr>
              <p:cNvGraphicFramePr>
                <a:graphicFrameLocks noChangeAspect="1"/>
              </p:cNvGraphicFramePr>
              <p:nvPr/>
            </p:nvGraphicFramePr>
            <p:xfrm>
              <a:off x="8126" y="11862"/>
              <a:ext cx="1024" cy="323"/>
            </p:xfrm>
            <a:graphic>
              <a:graphicData uri="http://schemas.openxmlformats.org/presentationml/2006/ole">
                <mc:AlternateContent xmlns:mc="http://schemas.openxmlformats.org/markup-compatibility/2006">
                  <mc:Choice xmlns:v="urn:schemas-microsoft-com:vml" Requires="v">
                    <p:oleObj spid="_x0000_s28879" name="公式" r:id="rId7" imgW="647419" imgH="203112" progId="Equation.3">
                      <p:embed/>
                    </p:oleObj>
                  </mc:Choice>
                  <mc:Fallback>
                    <p:oleObj name="公式" r:id="rId7" imgW="647419" imgH="203112" progId="Equation.3">
                      <p:embed/>
                      <p:pic>
                        <p:nvPicPr>
                          <p:cNvPr id="0" name="Object 6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26" y="11862"/>
                            <a:ext cx="1024"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703" name="Object 67">
                <a:extLst>
                  <a:ext uri="{FF2B5EF4-FFF2-40B4-BE49-F238E27FC236}">
                    <a16:creationId xmlns:a16="http://schemas.microsoft.com/office/drawing/2014/main" id="{83F9F46C-E50E-4BBC-96DE-BD0129DD582C}"/>
                  </a:ext>
                </a:extLst>
              </p:cNvPr>
              <p:cNvGraphicFramePr>
                <a:graphicFrameLocks noChangeAspect="1"/>
              </p:cNvGraphicFramePr>
              <p:nvPr/>
            </p:nvGraphicFramePr>
            <p:xfrm>
              <a:off x="9238" y="11738"/>
              <a:ext cx="542" cy="323"/>
            </p:xfrm>
            <a:graphic>
              <a:graphicData uri="http://schemas.openxmlformats.org/presentationml/2006/ole">
                <mc:AlternateContent xmlns:mc="http://schemas.openxmlformats.org/markup-compatibility/2006">
                  <mc:Choice xmlns:v="urn:schemas-microsoft-com:vml" Requires="v">
                    <p:oleObj spid="_x0000_s28880" name="公式" r:id="rId9" imgW="342751" imgH="203112" progId="Equation.3">
                      <p:embed/>
                    </p:oleObj>
                  </mc:Choice>
                  <mc:Fallback>
                    <p:oleObj name="公式" r:id="rId9" imgW="342751" imgH="203112" progId="Equation.3">
                      <p:embed/>
                      <p:pic>
                        <p:nvPicPr>
                          <p:cNvPr id="0" name="Object 6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38" y="11738"/>
                            <a:ext cx="542"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704" name="Object 68">
                <a:extLst>
                  <a:ext uri="{FF2B5EF4-FFF2-40B4-BE49-F238E27FC236}">
                    <a16:creationId xmlns:a16="http://schemas.microsoft.com/office/drawing/2014/main" id="{4A1DE1B7-62C0-425D-A174-DC68CFD7C5C3}"/>
                  </a:ext>
                </a:extLst>
              </p:cNvPr>
              <p:cNvGraphicFramePr>
                <a:graphicFrameLocks noChangeAspect="1"/>
              </p:cNvGraphicFramePr>
              <p:nvPr/>
            </p:nvGraphicFramePr>
            <p:xfrm>
              <a:off x="8986" y="13812"/>
              <a:ext cx="542" cy="323"/>
            </p:xfrm>
            <a:graphic>
              <a:graphicData uri="http://schemas.openxmlformats.org/presentationml/2006/ole">
                <mc:AlternateContent xmlns:mc="http://schemas.openxmlformats.org/markup-compatibility/2006">
                  <mc:Choice xmlns:v="urn:schemas-microsoft-com:vml" Requires="v">
                    <p:oleObj spid="_x0000_s28881" name="公式" r:id="rId11" imgW="342751" imgH="203112" progId="Equation.3">
                      <p:embed/>
                    </p:oleObj>
                  </mc:Choice>
                  <mc:Fallback>
                    <p:oleObj name="公式" r:id="rId11" imgW="342751" imgH="203112" progId="Equation.3">
                      <p:embed/>
                      <p:pic>
                        <p:nvPicPr>
                          <p:cNvPr id="0" name="Object 6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986" y="13812"/>
                            <a:ext cx="542"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705" name="Object 69">
                <a:extLst>
                  <a:ext uri="{FF2B5EF4-FFF2-40B4-BE49-F238E27FC236}">
                    <a16:creationId xmlns:a16="http://schemas.microsoft.com/office/drawing/2014/main" id="{B2EAE09B-5397-4D7B-81A9-A3F3D3074254}"/>
                  </a:ext>
                </a:extLst>
              </p:cNvPr>
              <p:cNvGraphicFramePr>
                <a:graphicFrameLocks noChangeAspect="1"/>
              </p:cNvGraphicFramePr>
              <p:nvPr/>
            </p:nvGraphicFramePr>
            <p:xfrm>
              <a:off x="7406" y="14156"/>
              <a:ext cx="783" cy="323"/>
            </p:xfrm>
            <a:graphic>
              <a:graphicData uri="http://schemas.openxmlformats.org/presentationml/2006/ole">
                <mc:AlternateContent xmlns:mc="http://schemas.openxmlformats.org/markup-compatibility/2006">
                  <mc:Choice xmlns:v="urn:schemas-microsoft-com:vml" Requires="v">
                    <p:oleObj spid="_x0000_s28882" name="公式" r:id="rId13" imgW="494870" imgH="203024" progId="Equation.3">
                      <p:embed/>
                    </p:oleObj>
                  </mc:Choice>
                  <mc:Fallback>
                    <p:oleObj name="公式" r:id="rId13" imgW="494870" imgH="203024" progId="Equation.3">
                      <p:embed/>
                      <p:pic>
                        <p:nvPicPr>
                          <p:cNvPr id="0" name="Object 6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06" y="14156"/>
                            <a:ext cx="783"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706" name="Object 70">
                <a:extLst>
                  <a:ext uri="{FF2B5EF4-FFF2-40B4-BE49-F238E27FC236}">
                    <a16:creationId xmlns:a16="http://schemas.microsoft.com/office/drawing/2014/main" id="{6785D72A-D2EE-4ED2-BA02-F92CC788F1B0}"/>
                  </a:ext>
                </a:extLst>
              </p:cNvPr>
              <p:cNvGraphicFramePr>
                <a:graphicFrameLocks noChangeAspect="1"/>
              </p:cNvGraphicFramePr>
              <p:nvPr/>
            </p:nvGraphicFramePr>
            <p:xfrm>
              <a:off x="9026" y="14624"/>
              <a:ext cx="783" cy="323"/>
            </p:xfrm>
            <a:graphic>
              <a:graphicData uri="http://schemas.openxmlformats.org/presentationml/2006/ole">
                <mc:AlternateContent xmlns:mc="http://schemas.openxmlformats.org/markup-compatibility/2006">
                  <mc:Choice xmlns:v="urn:schemas-microsoft-com:vml" Requires="v">
                    <p:oleObj spid="_x0000_s28883" name="公式" r:id="rId15" imgW="494870" imgH="203024" progId="Equation.3">
                      <p:embed/>
                    </p:oleObj>
                  </mc:Choice>
                  <mc:Fallback>
                    <p:oleObj name="公式" r:id="rId15" imgW="494870" imgH="203024" progId="Equation.3">
                      <p:embed/>
                      <p:pic>
                        <p:nvPicPr>
                          <p:cNvPr id="0" name="Object 7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026" y="14624"/>
                            <a:ext cx="783"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707" name="Object 71">
                <a:extLst>
                  <a:ext uri="{FF2B5EF4-FFF2-40B4-BE49-F238E27FC236}">
                    <a16:creationId xmlns:a16="http://schemas.microsoft.com/office/drawing/2014/main" id="{C33357C6-05F0-4F92-9FB9-9FADD3C61051}"/>
                  </a:ext>
                </a:extLst>
              </p:cNvPr>
              <p:cNvGraphicFramePr>
                <a:graphicFrameLocks noChangeAspect="1"/>
              </p:cNvGraphicFramePr>
              <p:nvPr/>
            </p:nvGraphicFramePr>
            <p:xfrm>
              <a:off x="10286" y="12410"/>
              <a:ext cx="542" cy="323"/>
            </p:xfrm>
            <a:graphic>
              <a:graphicData uri="http://schemas.openxmlformats.org/presentationml/2006/ole">
                <mc:AlternateContent xmlns:mc="http://schemas.openxmlformats.org/markup-compatibility/2006">
                  <mc:Choice xmlns:v="urn:schemas-microsoft-com:vml" Requires="v">
                    <p:oleObj spid="_x0000_s28884" name="公式" r:id="rId17" imgW="342751" imgH="203112" progId="Equation.3">
                      <p:embed/>
                    </p:oleObj>
                  </mc:Choice>
                  <mc:Fallback>
                    <p:oleObj name="公式" r:id="rId17" imgW="342751" imgH="203112" progId="Equation.3">
                      <p:embed/>
                      <p:pic>
                        <p:nvPicPr>
                          <p:cNvPr id="0" name="Object 7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286" y="12410"/>
                            <a:ext cx="542"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708" name="Freeform 72">
                <a:extLst>
                  <a:ext uri="{FF2B5EF4-FFF2-40B4-BE49-F238E27FC236}">
                    <a16:creationId xmlns:a16="http://schemas.microsoft.com/office/drawing/2014/main" id="{548EECC4-B86E-40F7-9C2B-37A76750D225}"/>
                  </a:ext>
                </a:extLst>
              </p:cNvPr>
              <p:cNvSpPr>
                <a:spLocks/>
              </p:cNvSpPr>
              <p:nvPr/>
            </p:nvSpPr>
            <p:spPr bwMode="auto">
              <a:xfrm>
                <a:off x="9419" y="12515"/>
                <a:ext cx="162" cy="54"/>
              </a:xfrm>
              <a:custGeom>
                <a:avLst/>
                <a:gdLst>
                  <a:gd name="T0" fmla="*/ 0 w 162"/>
                  <a:gd name="T1" fmla="*/ 0 h 54"/>
                  <a:gd name="T2" fmla="*/ 162 w 162"/>
                  <a:gd name="T3" fmla="*/ 54 h 54"/>
                  <a:gd name="T4" fmla="*/ 0 60000 65536"/>
                  <a:gd name="T5" fmla="*/ 0 60000 65536"/>
                  <a:gd name="T6" fmla="*/ 0 w 162"/>
                  <a:gd name="T7" fmla="*/ 0 h 54"/>
                  <a:gd name="T8" fmla="*/ 162 w 162"/>
                  <a:gd name="T9" fmla="*/ 54 h 54"/>
                </a:gdLst>
                <a:ahLst/>
                <a:cxnLst>
                  <a:cxn ang="T4">
                    <a:pos x="T0" y="T1"/>
                  </a:cxn>
                  <a:cxn ang="T5">
                    <a:pos x="T2" y="T3"/>
                  </a:cxn>
                </a:cxnLst>
                <a:rect l="T6" t="T7" r="T8" b="T9"/>
                <a:pathLst>
                  <a:path w="162" h="54">
                    <a:moveTo>
                      <a:pt x="0" y="0"/>
                    </a:moveTo>
                    <a:lnTo>
                      <a:pt x="162" y="54"/>
                    </a:lnTo>
                  </a:path>
                </a:pathLst>
              </a:custGeom>
              <a:noFill/>
              <a:ln w="9525">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09" name="Freeform 73">
                <a:extLst>
                  <a:ext uri="{FF2B5EF4-FFF2-40B4-BE49-F238E27FC236}">
                    <a16:creationId xmlns:a16="http://schemas.microsoft.com/office/drawing/2014/main" id="{EF832C9C-5DFC-4453-BE3D-263F3944B856}"/>
                  </a:ext>
                </a:extLst>
              </p:cNvPr>
              <p:cNvSpPr>
                <a:spLocks/>
              </p:cNvSpPr>
              <p:nvPr/>
            </p:nvSpPr>
            <p:spPr bwMode="auto">
              <a:xfrm flipV="1">
                <a:off x="9410" y="12572"/>
                <a:ext cx="162" cy="54"/>
              </a:xfrm>
              <a:custGeom>
                <a:avLst/>
                <a:gdLst>
                  <a:gd name="T0" fmla="*/ 0 w 162"/>
                  <a:gd name="T1" fmla="*/ 0 h 54"/>
                  <a:gd name="T2" fmla="*/ 162 w 162"/>
                  <a:gd name="T3" fmla="*/ 54 h 54"/>
                  <a:gd name="T4" fmla="*/ 0 60000 65536"/>
                  <a:gd name="T5" fmla="*/ 0 60000 65536"/>
                  <a:gd name="T6" fmla="*/ 0 w 162"/>
                  <a:gd name="T7" fmla="*/ 0 h 54"/>
                  <a:gd name="T8" fmla="*/ 162 w 162"/>
                  <a:gd name="T9" fmla="*/ 54 h 54"/>
                </a:gdLst>
                <a:ahLst/>
                <a:cxnLst>
                  <a:cxn ang="T4">
                    <a:pos x="T0" y="T1"/>
                  </a:cxn>
                  <a:cxn ang="T5">
                    <a:pos x="T2" y="T3"/>
                  </a:cxn>
                </a:cxnLst>
                <a:rect l="T6" t="T7" r="T8" b="T9"/>
                <a:pathLst>
                  <a:path w="162" h="54">
                    <a:moveTo>
                      <a:pt x="0" y="0"/>
                    </a:moveTo>
                    <a:lnTo>
                      <a:pt x="162" y="54"/>
                    </a:lnTo>
                  </a:path>
                </a:pathLst>
              </a:custGeom>
              <a:noFill/>
              <a:ln w="9525">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10" name="Text Box 74">
                <a:extLst>
                  <a:ext uri="{FF2B5EF4-FFF2-40B4-BE49-F238E27FC236}">
                    <a16:creationId xmlns:a16="http://schemas.microsoft.com/office/drawing/2014/main" id="{07303D0F-080A-4D7E-BDBE-0BA2578F7705}"/>
                  </a:ext>
                </a:extLst>
              </p:cNvPr>
              <p:cNvSpPr txBox="1">
                <a:spLocks noChangeArrowheads="1"/>
              </p:cNvSpPr>
              <p:nvPr/>
            </p:nvSpPr>
            <p:spPr bwMode="auto">
              <a:xfrm>
                <a:off x="6675" y="15044"/>
                <a:ext cx="3611"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1800">
                    <a:latin typeface="楷体_GB2312" pitchFamily="49" charset="-122"/>
                    <a:ea typeface="楷体_GB2312" pitchFamily="49" charset="-122"/>
                  </a:rPr>
                  <a:t>光纤多普勒流速测量系统</a:t>
                </a:r>
              </a:p>
            </p:txBody>
          </p:sp>
          <p:sp>
            <p:nvSpPr>
              <p:cNvPr id="28711" name="Rectangle 75">
                <a:extLst>
                  <a:ext uri="{FF2B5EF4-FFF2-40B4-BE49-F238E27FC236}">
                    <a16:creationId xmlns:a16="http://schemas.microsoft.com/office/drawing/2014/main" id="{BC585CD6-4B08-42D3-8517-D2B431052C84}"/>
                  </a:ext>
                </a:extLst>
              </p:cNvPr>
              <p:cNvSpPr>
                <a:spLocks noChangeArrowheads="1"/>
              </p:cNvSpPr>
              <p:nvPr/>
            </p:nvSpPr>
            <p:spPr bwMode="auto">
              <a:xfrm>
                <a:off x="8288" y="13270"/>
                <a:ext cx="475" cy="234"/>
              </a:xfrm>
              <a:prstGeom prst="rect">
                <a:avLst/>
              </a:prstGeom>
              <a:solidFill>
                <a:srgbClr val="FFFFFF"/>
              </a:solidFill>
              <a:ln w="9525">
                <a:solidFill>
                  <a:srgbClr val="000000"/>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8712" name="Line 76">
                <a:extLst>
                  <a:ext uri="{FF2B5EF4-FFF2-40B4-BE49-F238E27FC236}">
                    <a16:creationId xmlns:a16="http://schemas.microsoft.com/office/drawing/2014/main" id="{3D8EAE96-A4AE-4E09-BDF7-DCF0B36DE234}"/>
                  </a:ext>
                </a:extLst>
              </p:cNvPr>
              <p:cNvSpPr>
                <a:spLocks noChangeShapeType="1"/>
              </p:cNvSpPr>
              <p:nvPr/>
            </p:nvSpPr>
            <p:spPr bwMode="auto">
              <a:xfrm>
                <a:off x="8288" y="13270"/>
                <a:ext cx="475" cy="2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8713" name="Object 77">
                <a:extLst>
                  <a:ext uri="{FF2B5EF4-FFF2-40B4-BE49-F238E27FC236}">
                    <a16:creationId xmlns:a16="http://schemas.microsoft.com/office/drawing/2014/main" id="{2E01C290-1400-4447-987D-A6911A622915}"/>
                  </a:ext>
                </a:extLst>
              </p:cNvPr>
              <p:cNvGraphicFramePr>
                <a:graphicFrameLocks noChangeAspect="1"/>
              </p:cNvGraphicFramePr>
              <p:nvPr/>
            </p:nvGraphicFramePr>
            <p:xfrm>
              <a:off x="7495" y="13248"/>
              <a:ext cx="783" cy="323"/>
            </p:xfrm>
            <a:graphic>
              <a:graphicData uri="http://schemas.openxmlformats.org/presentationml/2006/ole">
                <mc:AlternateContent xmlns:mc="http://schemas.openxmlformats.org/markup-compatibility/2006">
                  <mc:Choice xmlns:v="urn:schemas-microsoft-com:vml" Requires="v">
                    <p:oleObj spid="_x0000_s28885" name="公式" r:id="rId19" imgW="494870" imgH="203024" progId="Equation.3">
                      <p:embed/>
                    </p:oleObj>
                  </mc:Choice>
                  <mc:Fallback>
                    <p:oleObj name="公式" r:id="rId19" imgW="494870" imgH="203024" progId="Equation.3">
                      <p:embed/>
                      <p:pic>
                        <p:nvPicPr>
                          <p:cNvPr id="0" name="Object 7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495" y="13248"/>
                            <a:ext cx="783"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714" name="Rectangle 78">
                <a:extLst>
                  <a:ext uri="{FF2B5EF4-FFF2-40B4-BE49-F238E27FC236}">
                    <a16:creationId xmlns:a16="http://schemas.microsoft.com/office/drawing/2014/main" id="{C23B29D3-25E6-4FD5-A9E9-3E72C54E83D0}"/>
                  </a:ext>
                </a:extLst>
              </p:cNvPr>
              <p:cNvSpPr>
                <a:spLocks noChangeArrowheads="1"/>
              </p:cNvSpPr>
              <p:nvPr/>
            </p:nvSpPr>
            <p:spPr bwMode="auto">
              <a:xfrm>
                <a:off x="7766" y="12323"/>
                <a:ext cx="181" cy="468"/>
              </a:xfrm>
              <a:prstGeom prst="rect">
                <a:avLst/>
              </a:prstGeom>
              <a:solidFill>
                <a:srgbClr val="FFFFFF"/>
              </a:solidFill>
              <a:ln w="9525">
                <a:solidFill>
                  <a:srgbClr val="000000"/>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8715" name="Line 79">
                <a:extLst>
                  <a:ext uri="{FF2B5EF4-FFF2-40B4-BE49-F238E27FC236}">
                    <a16:creationId xmlns:a16="http://schemas.microsoft.com/office/drawing/2014/main" id="{BDA9C255-677A-4E7A-86A7-118DFB1CF354}"/>
                  </a:ext>
                </a:extLst>
              </p:cNvPr>
              <p:cNvSpPr>
                <a:spLocks noChangeShapeType="1"/>
              </p:cNvSpPr>
              <p:nvPr/>
            </p:nvSpPr>
            <p:spPr bwMode="auto">
              <a:xfrm flipH="1">
                <a:off x="7766" y="12322"/>
                <a:ext cx="18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8716" name="Object 80">
                <a:extLst>
                  <a:ext uri="{FF2B5EF4-FFF2-40B4-BE49-F238E27FC236}">
                    <a16:creationId xmlns:a16="http://schemas.microsoft.com/office/drawing/2014/main" id="{7C69223B-6BFD-433E-A502-5185393FD968}"/>
                  </a:ext>
                </a:extLst>
              </p:cNvPr>
              <p:cNvGraphicFramePr>
                <a:graphicFrameLocks noChangeAspect="1"/>
              </p:cNvGraphicFramePr>
              <p:nvPr/>
            </p:nvGraphicFramePr>
            <p:xfrm>
              <a:off x="7406" y="12830"/>
              <a:ext cx="803" cy="323"/>
            </p:xfrm>
            <a:graphic>
              <a:graphicData uri="http://schemas.openxmlformats.org/presentationml/2006/ole">
                <mc:AlternateContent xmlns:mc="http://schemas.openxmlformats.org/markup-compatibility/2006">
                  <mc:Choice xmlns:v="urn:schemas-microsoft-com:vml" Requires="v">
                    <p:oleObj spid="_x0000_s28886" name="公式" r:id="rId21" imgW="507780" imgH="203112" progId="Equation.3">
                      <p:embed/>
                    </p:oleObj>
                  </mc:Choice>
                  <mc:Fallback>
                    <p:oleObj name="公式" r:id="rId21" imgW="507780" imgH="203112" progId="Equation.3">
                      <p:embed/>
                      <p:pic>
                        <p:nvPicPr>
                          <p:cNvPr id="0" name="Object 8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406" y="12830"/>
                            <a:ext cx="803"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29060">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29060">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29060">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9060">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29060">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906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301E6D21-19F1-4EBE-9689-5AE8DB3A076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9699" name="Rectangle 3">
            <a:extLst>
              <a:ext uri="{FF2B5EF4-FFF2-40B4-BE49-F238E27FC236}">
                <a16:creationId xmlns:a16="http://schemas.microsoft.com/office/drawing/2014/main" id="{C228B7D1-7C1F-4094-A82C-5E3CD2C4D67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413700" name="Text Box 4">
            <a:extLst>
              <a:ext uri="{FF2B5EF4-FFF2-40B4-BE49-F238E27FC236}">
                <a16:creationId xmlns:a16="http://schemas.microsoft.com/office/drawing/2014/main" id="{1F660FB6-71BE-43EB-8C78-9F4F165F4F6C}"/>
              </a:ext>
            </a:extLst>
          </p:cNvPr>
          <p:cNvSpPr txBox="1">
            <a:spLocks noChangeArrowheads="1"/>
          </p:cNvSpPr>
          <p:nvPr/>
        </p:nvSpPr>
        <p:spPr bwMode="auto">
          <a:xfrm>
            <a:off x="323850" y="1722438"/>
            <a:ext cx="8353425" cy="394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zh-CN" altLang="en-US" sz="2000" b="1" dirty="0">
                <a:solidFill>
                  <a:srgbClr val="C00000"/>
                </a:solidFill>
                <a:latin typeface="楷体_GB2312" pitchFamily="49" charset="-122"/>
                <a:ea typeface="楷体_GB2312" pitchFamily="49" charset="-122"/>
              </a:rPr>
              <a:t>光纤结构：</a:t>
            </a:r>
          </a:p>
          <a:p>
            <a:pPr eaLnBrk="1" hangingPunct="1">
              <a:lnSpc>
                <a:spcPct val="150000"/>
              </a:lnSpc>
              <a:spcBef>
                <a:spcPct val="0"/>
              </a:spcBef>
              <a:buFontTx/>
              <a:buNone/>
            </a:pPr>
            <a:r>
              <a:rPr lang="zh-CN" altLang="en-US" sz="1800" b="1" dirty="0">
                <a:latin typeface="楷体_GB2312" pitchFamily="49" charset="-122"/>
                <a:ea typeface="楷体_GB2312" pitchFamily="49" charset="-122"/>
              </a:rPr>
              <a:t>●主体 </a:t>
            </a:r>
            <a:r>
              <a:rPr lang="en-US" altLang="zh-CN" sz="1800" b="1" dirty="0">
                <a:latin typeface="楷体_GB2312" pitchFamily="49" charset="-122"/>
                <a:ea typeface="楷体_GB2312" pitchFamily="49" charset="-122"/>
              </a:rPr>
              <a:t>---- </a:t>
            </a:r>
            <a:r>
              <a:rPr lang="zh-CN" altLang="en-US" sz="1800" b="1" dirty="0">
                <a:latin typeface="楷体_GB2312" pitchFamily="49" charset="-122"/>
                <a:ea typeface="楷体_GB2312" pitchFamily="49" charset="-122"/>
              </a:rPr>
              <a:t>纤芯与包层</a:t>
            </a:r>
          </a:p>
          <a:p>
            <a:pPr eaLnBrk="1" hangingPunct="1">
              <a:lnSpc>
                <a:spcPct val="150000"/>
              </a:lnSpc>
              <a:spcBef>
                <a:spcPct val="0"/>
              </a:spcBef>
              <a:buFontTx/>
              <a:buNone/>
            </a:pPr>
            <a:r>
              <a:rPr lang="zh-CN" altLang="en-US" sz="1800" b="1" dirty="0">
                <a:latin typeface="楷体_GB2312" pitchFamily="49" charset="-122"/>
                <a:ea typeface="楷体_GB2312" pitchFamily="49" charset="-122"/>
              </a:rPr>
              <a:t>●纤芯 </a:t>
            </a:r>
            <a:r>
              <a:rPr lang="en-US" altLang="zh-CN" sz="1800" b="1" dirty="0">
                <a:latin typeface="楷体_GB2312" pitchFamily="49" charset="-122"/>
                <a:ea typeface="楷体_GB2312" pitchFamily="49" charset="-122"/>
              </a:rPr>
              <a:t>--- </a:t>
            </a:r>
            <a:r>
              <a:rPr lang="zh-CN" altLang="en-US" sz="1800" b="1" dirty="0">
                <a:latin typeface="楷体_GB2312" pitchFamily="49" charset="-122"/>
                <a:ea typeface="楷体_GB2312" pitchFamily="49" charset="-122"/>
              </a:rPr>
              <a:t>石英玻璃，掺杂其他微量元素以提高折射率</a:t>
            </a:r>
          </a:p>
          <a:p>
            <a:pPr eaLnBrk="1" hangingPunct="1">
              <a:lnSpc>
                <a:spcPct val="150000"/>
              </a:lnSpc>
              <a:spcBef>
                <a:spcPct val="0"/>
              </a:spcBef>
              <a:buFontTx/>
              <a:buNone/>
            </a:pPr>
            <a:r>
              <a:rPr lang="zh-CN" altLang="en-US" sz="1800" b="1" dirty="0">
                <a:latin typeface="楷体_GB2312" pitchFamily="49" charset="-122"/>
                <a:ea typeface="楷体_GB2312" pitchFamily="49" charset="-122"/>
              </a:rPr>
              <a:t>●包层 </a:t>
            </a:r>
            <a:r>
              <a:rPr lang="en-US" altLang="zh-CN" sz="1800" b="1" dirty="0">
                <a:latin typeface="楷体_GB2312" pitchFamily="49" charset="-122"/>
                <a:ea typeface="楷体_GB2312" pitchFamily="49" charset="-122"/>
              </a:rPr>
              <a:t>--- </a:t>
            </a:r>
            <a:r>
              <a:rPr lang="zh-CN" altLang="en-US" sz="1800" b="1" dirty="0">
                <a:highlight>
                  <a:srgbClr val="FFFF00"/>
                </a:highlight>
                <a:latin typeface="楷体_GB2312" pitchFamily="49" charset="-122"/>
                <a:ea typeface="楷体_GB2312" pitchFamily="49" charset="-122"/>
              </a:rPr>
              <a:t>折射率略低于纤芯</a:t>
            </a:r>
            <a:r>
              <a:rPr lang="zh-CN" altLang="en-US" sz="1800" b="1" dirty="0">
                <a:latin typeface="楷体_GB2312" pitchFamily="49" charset="-122"/>
                <a:ea typeface="楷体_GB2312" pitchFamily="49" charset="-122"/>
              </a:rPr>
              <a:t>。</a:t>
            </a:r>
            <a:endParaRPr lang="zh-CN" altLang="en-US" sz="1800" b="1" u="sng" dirty="0">
              <a:solidFill>
                <a:srgbClr val="FF0000"/>
              </a:solidFill>
              <a:latin typeface="楷体_GB2312" pitchFamily="49" charset="-122"/>
              <a:ea typeface="楷体_GB2312" pitchFamily="49" charset="-122"/>
            </a:endParaRPr>
          </a:p>
          <a:p>
            <a:pPr eaLnBrk="1" hangingPunct="1">
              <a:lnSpc>
                <a:spcPct val="150000"/>
              </a:lnSpc>
              <a:spcBef>
                <a:spcPct val="0"/>
              </a:spcBef>
              <a:buFontTx/>
              <a:buNone/>
            </a:pPr>
            <a:r>
              <a:rPr lang="zh-CN" altLang="en-US" sz="1800" b="1" dirty="0">
                <a:latin typeface="楷体_GB2312" pitchFamily="49" charset="-122"/>
                <a:ea typeface="楷体_GB2312" pitchFamily="49" charset="-122"/>
              </a:rPr>
              <a:t>●涂敷层</a:t>
            </a:r>
            <a:r>
              <a:rPr lang="en-US" altLang="zh-CN" sz="1800" b="1" dirty="0">
                <a:latin typeface="楷体_GB2312" pitchFamily="49" charset="-122"/>
                <a:ea typeface="楷体_GB2312" pitchFamily="49" charset="-122"/>
              </a:rPr>
              <a:t>--- </a:t>
            </a:r>
            <a:r>
              <a:rPr lang="zh-CN" altLang="en-US" sz="1800" b="1" dirty="0">
                <a:latin typeface="楷体_GB2312" pitchFamily="49" charset="-122"/>
                <a:ea typeface="楷体_GB2312" pitchFamily="49" charset="-122"/>
              </a:rPr>
              <a:t>硅酮或丙烯酸盐</a:t>
            </a:r>
            <a:r>
              <a:rPr lang="en-US" altLang="zh-CN" sz="1800" b="1" dirty="0">
                <a:latin typeface="楷体_GB2312" pitchFamily="49" charset="-122"/>
                <a:ea typeface="楷体_GB2312" pitchFamily="49" charset="-122"/>
              </a:rPr>
              <a:t>--- </a:t>
            </a:r>
            <a:r>
              <a:rPr lang="zh-CN" altLang="en-US" sz="1800" b="1" dirty="0">
                <a:latin typeface="楷体_GB2312" pitchFamily="49" charset="-122"/>
                <a:ea typeface="楷体_GB2312" pitchFamily="49" charset="-122"/>
              </a:rPr>
              <a:t>隔离杂光。</a:t>
            </a:r>
          </a:p>
          <a:p>
            <a:pPr eaLnBrk="1" hangingPunct="1">
              <a:lnSpc>
                <a:spcPct val="150000"/>
              </a:lnSpc>
              <a:spcBef>
                <a:spcPct val="0"/>
              </a:spcBef>
              <a:buFontTx/>
              <a:buNone/>
            </a:pPr>
            <a:r>
              <a:rPr lang="zh-CN" altLang="en-US" sz="1800" b="1" dirty="0">
                <a:latin typeface="楷体_GB2312" pitchFamily="49" charset="-122"/>
                <a:ea typeface="楷体_GB2312" pitchFamily="49" charset="-122"/>
              </a:rPr>
              <a:t>●护套 </a:t>
            </a:r>
            <a:r>
              <a:rPr lang="en-US" altLang="zh-CN" sz="1800" b="1" dirty="0">
                <a:latin typeface="楷体_GB2312" pitchFamily="49" charset="-122"/>
                <a:ea typeface="楷体_GB2312" pitchFamily="49" charset="-122"/>
              </a:rPr>
              <a:t>--- :</a:t>
            </a:r>
            <a:r>
              <a:rPr lang="zh-CN" altLang="en-US" sz="1800" b="1" dirty="0">
                <a:latin typeface="楷体_GB2312" pitchFamily="49" charset="-122"/>
                <a:ea typeface="楷体_GB2312" pitchFamily="49" charset="-122"/>
              </a:rPr>
              <a:t>尼龙</a:t>
            </a:r>
            <a:r>
              <a:rPr lang="en-US" altLang="zh-CN" sz="1800" b="1" dirty="0">
                <a:latin typeface="楷体_GB2312" pitchFamily="49" charset="-122"/>
                <a:ea typeface="楷体_GB2312" pitchFamily="49" charset="-122"/>
              </a:rPr>
              <a:t>/</a:t>
            </a:r>
            <a:r>
              <a:rPr lang="zh-CN" altLang="en-US" sz="1800" b="1" dirty="0">
                <a:latin typeface="楷体_GB2312" pitchFamily="49" charset="-122"/>
                <a:ea typeface="楷体_GB2312" pitchFamily="49" charset="-122"/>
              </a:rPr>
              <a:t>其他有机材料 </a:t>
            </a:r>
            <a:r>
              <a:rPr lang="en-US" altLang="zh-CN" sz="1800" b="1" dirty="0">
                <a:latin typeface="楷体_GB2312" pitchFamily="49" charset="-122"/>
                <a:ea typeface="楷体_GB2312" pitchFamily="49" charset="-122"/>
              </a:rPr>
              <a:t>--- </a:t>
            </a:r>
            <a:r>
              <a:rPr lang="zh-CN" altLang="en-US" sz="1800" b="1" dirty="0">
                <a:latin typeface="楷体_GB2312" pitchFamily="49" charset="-122"/>
                <a:ea typeface="楷体_GB2312" pitchFamily="49" charset="-122"/>
              </a:rPr>
              <a:t>提高机械强度，保护光纤</a:t>
            </a:r>
          </a:p>
          <a:p>
            <a:pPr eaLnBrk="1" hangingPunct="1">
              <a:lnSpc>
                <a:spcPct val="150000"/>
              </a:lnSpc>
              <a:spcBef>
                <a:spcPct val="0"/>
              </a:spcBef>
              <a:buFontTx/>
              <a:buNone/>
            </a:pPr>
            <a:r>
              <a:rPr lang="zh-CN" altLang="en-US" sz="1800" b="1" dirty="0">
                <a:latin typeface="楷体_GB2312" pitchFamily="49" charset="-122"/>
                <a:ea typeface="楷体_GB2312" pitchFamily="49" charset="-122"/>
              </a:rPr>
              <a:t>●特殊场合：没有涂敷层和护套 </a:t>
            </a:r>
            <a:r>
              <a:rPr lang="en-US" altLang="zh-CN" sz="1800" b="1" dirty="0">
                <a:latin typeface="楷体_GB2312" pitchFamily="49" charset="-122"/>
                <a:ea typeface="楷体_GB2312" pitchFamily="49" charset="-122"/>
              </a:rPr>
              <a:t>--- </a:t>
            </a:r>
            <a:r>
              <a:rPr lang="zh-CN" altLang="en-US" sz="1800" b="1" dirty="0">
                <a:latin typeface="楷体_GB2312" pitchFamily="49" charset="-122"/>
                <a:ea typeface="楷体_GB2312" pitchFamily="49" charset="-122"/>
              </a:rPr>
              <a:t>裸纤</a:t>
            </a:r>
          </a:p>
          <a:p>
            <a:pPr eaLnBrk="1" hangingPunct="1">
              <a:lnSpc>
                <a:spcPct val="150000"/>
              </a:lnSpc>
              <a:spcBef>
                <a:spcPct val="0"/>
              </a:spcBef>
              <a:buFontTx/>
              <a:buNone/>
            </a:pPr>
            <a:endParaRPr lang="zh-CN" altLang="en-US" sz="1800" dirty="0">
              <a:latin typeface="楷体_GB2312" pitchFamily="49" charset="-122"/>
              <a:ea typeface="楷体_GB2312" pitchFamily="49" charset="-122"/>
            </a:endParaRPr>
          </a:p>
          <a:p>
            <a:pPr eaLnBrk="1" hangingPunct="1">
              <a:lnSpc>
                <a:spcPct val="150000"/>
              </a:lnSpc>
              <a:spcBef>
                <a:spcPct val="0"/>
              </a:spcBef>
              <a:buFontTx/>
              <a:buNone/>
            </a:pPr>
            <a:endParaRPr lang="en-US" altLang="zh-CN" sz="1800" dirty="0">
              <a:latin typeface="楷体_GB2312" pitchFamily="49" charset="-122"/>
              <a:ea typeface="楷体_GB2312" pitchFamily="49" charset="-122"/>
            </a:endParaRPr>
          </a:p>
        </p:txBody>
      </p:sp>
      <p:graphicFrame>
        <p:nvGraphicFramePr>
          <p:cNvPr id="29701" name="Object 2">
            <a:extLst>
              <a:ext uri="{FF2B5EF4-FFF2-40B4-BE49-F238E27FC236}">
                <a16:creationId xmlns:a16="http://schemas.microsoft.com/office/drawing/2014/main" id="{19DC9DE7-1775-4969-9C9C-E4605F2788E8}"/>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29755" name="Equation" r:id="rId3" imgW="435285" imgH="677109" progId="Equation.DSMT4">
                  <p:embed/>
                </p:oleObj>
              </mc:Choice>
              <mc:Fallback>
                <p:oleObj name="Equation" r:id="rId3" imgW="435285" imgH="677109"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2" name="Rectangle 6">
            <a:extLst>
              <a:ext uri="{FF2B5EF4-FFF2-40B4-BE49-F238E27FC236}">
                <a16:creationId xmlns:a16="http://schemas.microsoft.com/office/drawing/2014/main" id="{D0083632-E9E0-4665-A875-13BFB5DFB244}"/>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latin typeface="楷体_GB2312" pitchFamily="49" charset="-122"/>
                <a:ea typeface="楷体_GB2312" pitchFamily="49" charset="-122"/>
                <a:cs typeface="Times New Roman" panose="02020603050405020304" pitchFamily="18" charset="0"/>
              </a:rPr>
              <a:t>：</a:t>
            </a:r>
            <a:endParaRPr kumimoji="0" lang="zh-CN" altLang="en-US" sz="1100">
              <a:latin typeface="楷体_GB2312" pitchFamily="49" charset="-122"/>
              <a:ea typeface="楷体_GB2312" pitchFamily="49" charset="-122"/>
              <a:cs typeface="Times New Roman" panose="02020603050405020304" pitchFamily="18" charset="0"/>
            </a:endParaRPr>
          </a:p>
          <a:p>
            <a:pPr>
              <a:spcBef>
                <a:spcPct val="0"/>
              </a:spcBef>
              <a:buFontTx/>
              <a:buNone/>
            </a:pPr>
            <a:endParaRPr kumimoji="0" lang="en-US" altLang="zh-CN" sz="1800">
              <a:latin typeface="楷体_GB2312" pitchFamily="49" charset="-122"/>
              <a:ea typeface="楷体_GB2312" pitchFamily="49" charset="-122"/>
              <a:cs typeface="Times New Roman" panose="02020603050405020304" pitchFamily="18" charset="0"/>
            </a:endParaRPr>
          </a:p>
        </p:txBody>
      </p:sp>
      <p:sp>
        <p:nvSpPr>
          <p:cNvPr id="29703" name="Rectangle 7">
            <a:extLst>
              <a:ext uri="{FF2B5EF4-FFF2-40B4-BE49-F238E27FC236}">
                <a16:creationId xmlns:a16="http://schemas.microsoft.com/office/drawing/2014/main" id="{915A1342-552A-4D5C-B91F-673CF21A105C}"/>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9704" name="Rectangle 8">
            <a:extLst>
              <a:ext uri="{FF2B5EF4-FFF2-40B4-BE49-F238E27FC236}">
                <a16:creationId xmlns:a16="http://schemas.microsoft.com/office/drawing/2014/main" id="{5C472E99-1510-4C5A-976D-35BAE7894A9C}"/>
              </a:ext>
            </a:extLst>
          </p:cNvPr>
          <p:cNvSpPr>
            <a:spLocks noChangeArrowheads="1"/>
          </p:cNvSpPr>
          <p:nvPr/>
        </p:nvSpPr>
        <p:spPr bwMode="auto">
          <a:xfrm>
            <a:off x="2209800" y="1990725"/>
            <a:ext cx="56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indent="254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latin typeface="楷体_GB2312" pitchFamily="49" charset="-122"/>
                <a:ea typeface="楷体_GB2312" pitchFamily="49" charset="-122"/>
                <a:cs typeface="Times New Roman" panose="02020603050405020304" pitchFamily="18" charset="0"/>
              </a:rPr>
              <a:t>。</a:t>
            </a:r>
            <a:endParaRPr kumimoji="0" lang="zh-CN" altLang="en-US" sz="1100">
              <a:latin typeface="楷体_GB2312" pitchFamily="49" charset="-122"/>
              <a:ea typeface="楷体_GB2312" pitchFamily="49" charset="-122"/>
              <a:cs typeface="Times New Roman" panose="02020603050405020304" pitchFamily="18" charset="0"/>
            </a:endParaRPr>
          </a:p>
          <a:p>
            <a:pPr>
              <a:spcBef>
                <a:spcPct val="0"/>
              </a:spcBef>
              <a:buFontTx/>
              <a:buNone/>
            </a:pPr>
            <a:endParaRPr kumimoji="0" lang="en-US" altLang="zh-CN" sz="1800">
              <a:latin typeface="楷体_GB2312" pitchFamily="49" charset="-122"/>
              <a:ea typeface="楷体_GB2312" pitchFamily="49" charset="-122"/>
              <a:cs typeface="Times New Roman" panose="02020603050405020304" pitchFamily="18" charset="0"/>
            </a:endParaRPr>
          </a:p>
        </p:txBody>
      </p:sp>
      <p:sp>
        <p:nvSpPr>
          <p:cNvPr id="29705" name="Rectangle 9">
            <a:extLst>
              <a:ext uri="{FF2B5EF4-FFF2-40B4-BE49-F238E27FC236}">
                <a16:creationId xmlns:a16="http://schemas.microsoft.com/office/drawing/2014/main" id="{B7808B83-2BEB-4CDE-B99B-96BA375662B1}"/>
              </a:ext>
            </a:extLst>
          </p:cNvPr>
          <p:cNvSpPr>
            <a:spLocks noChangeArrowheads="1"/>
          </p:cNvSpPr>
          <p:nvPr/>
        </p:nvSpPr>
        <p:spPr bwMode="auto">
          <a:xfrm>
            <a:off x="0" y="835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29707" name="Text Box 4">
            <a:extLst>
              <a:ext uri="{FF2B5EF4-FFF2-40B4-BE49-F238E27FC236}">
                <a16:creationId xmlns:a16="http://schemas.microsoft.com/office/drawing/2014/main" id="{6553C304-310C-444D-9DDC-3E3E88AA04B3}"/>
              </a:ext>
            </a:extLst>
          </p:cNvPr>
          <p:cNvSpPr txBox="1">
            <a:spLocks noChangeArrowheads="1"/>
          </p:cNvSpPr>
          <p:nvPr/>
        </p:nvSpPr>
        <p:spPr bwMode="auto">
          <a:xfrm>
            <a:off x="179388" y="0"/>
            <a:ext cx="5364162" cy="219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800" b="1" dirty="0">
                <a:solidFill>
                  <a:srgbClr val="FF0000"/>
                </a:solidFill>
                <a:latin typeface="楷体_GB2312" pitchFamily="49" charset="-122"/>
                <a:ea typeface="楷体_GB2312" pitchFamily="49" charset="-122"/>
              </a:rPr>
              <a:t>4 </a:t>
            </a:r>
            <a:r>
              <a:rPr kumimoji="0" lang="zh-CN" altLang="en-US" sz="2800" b="1" dirty="0">
                <a:solidFill>
                  <a:srgbClr val="FF0000"/>
                </a:solidFill>
                <a:latin typeface="楷体_GB2312" pitchFamily="49" charset="-122"/>
                <a:ea typeface="楷体_GB2312" pitchFamily="49" charset="-122"/>
              </a:rPr>
              <a:t>光纤传感器的主要元器件</a:t>
            </a:r>
          </a:p>
          <a:p>
            <a:pPr eaLnBrk="1" hangingPunct="1">
              <a:lnSpc>
                <a:spcPct val="150000"/>
              </a:lnSpc>
              <a:spcBef>
                <a:spcPct val="0"/>
              </a:spcBef>
              <a:buFontTx/>
              <a:buNone/>
            </a:pPr>
            <a:r>
              <a:rPr kumimoji="0" lang="en-US" altLang="zh-CN" sz="2400" b="1" dirty="0">
                <a:latin typeface="楷体_GB2312" pitchFamily="49" charset="-122"/>
                <a:ea typeface="楷体_GB2312" pitchFamily="49" charset="-122"/>
              </a:rPr>
              <a:t>4.1 </a:t>
            </a:r>
            <a:r>
              <a:rPr kumimoji="0" lang="zh-CN" altLang="zh-CN" sz="2400" b="1" dirty="0">
                <a:latin typeface="楷体_GB2312" pitchFamily="49" charset="-122"/>
                <a:ea typeface="楷体_GB2312" pitchFamily="49" charset="-122"/>
              </a:rPr>
              <a:t>光纤</a:t>
            </a:r>
            <a:endParaRPr kumimoji="0" lang="zh-CN" altLang="en-US" sz="2400" b="1" dirty="0">
              <a:latin typeface="楷体_GB2312" pitchFamily="49" charset="-122"/>
              <a:ea typeface="楷体_GB2312" pitchFamily="49" charset="-122"/>
            </a:endParaRPr>
          </a:p>
          <a:p>
            <a:pPr eaLnBrk="1" hangingPunct="1">
              <a:lnSpc>
                <a:spcPct val="150000"/>
              </a:lnSpc>
              <a:spcBef>
                <a:spcPct val="0"/>
              </a:spcBef>
              <a:buFontTx/>
              <a:buNone/>
            </a:pPr>
            <a:r>
              <a:rPr kumimoji="0" lang="en-US" altLang="zh-CN" sz="2400" b="1" dirty="0">
                <a:latin typeface="楷体_GB2312" pitchFamily="49" charset="-122"/>
                <a:ea typeface="楷体_GB2312" pitchFamily="49" charset="-122"/>
              </a:rPr>
              <a:t>4.1.1 </a:t>
            </a:r>
            <a:r>
              <a:rPr kumimoji="0" lang="zh-CN" altLang="en-US" sz="2400" b="1" dirty="0">
                <a:latin typeface="楷体_GB2312" pitchFamily="49" charset="-122"/>
                <a:ea typeface="楷体_GB2312" pitchFamily="49" charset="-122"/>
              </a:rPr>
              <a:t>结构与分类</a:t>
            </a:r>
          </a:p>
          <a:p>
            <a:pPr eaLnBrk="1" hangingPunct="1">
              <a:lnSpc>
                <a:spcPct val="150000"/>
              </a:lnSpc>
              <a:spcBef>
                <a:spcPct val="0"/>
              </a:spcBef>
              <a:buFontTx/>
              <a:buNone/>
            </a:pPr>
            <a:endParaRPr kumimoji="0" lang="zh-CN" altLang="zh-CN" sz="2400" baseline="-25000" dirty="0">
              <a:latin typeface="Arial" panose="020B0604020202020204" pitchFamily="34" charset="0"/>
            </a:endParaRPr>
          </a:p>
        </p:txBody>
      </p:sp>
      <p:pic>
        <p:nvPicPr>
          <p:cNvPr id="29708" name="Picture 3" descr="ColorLinea.gif (4491 bytes)">
            <a:extLst>
              <a:ext uri="{FF2B5EF4-FFF2-40B4-BE49-F238E27FC236}">
                <a16:creationId xmlns:a16="http://schemas.microsoft.com/office/drawing/2014/main" id="{5D03AD30-567A-4F73-B4F2-9F8A99452BF9}"/>
              </a:ext>
            </a:extLst>
          </p:cNvPr>
          <p:cNvPicPr preferRelativeResize="0">
            <a:picLocks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0" y="719138"/>
            <a:ext cx="9174163"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图片 41">
            <a:extLst>
              <a:ext uri="{FF2B5EF4-FFF2-40B4-BE49-F238E27FC236}">
                <a16:creationId xmlns:a16="http://schemas.microsoft.com/office/drawing/2014/main" id="{EE2C636B-A386-459D-AE59-114B392BAAAE}"/>
              </a:ext>
            </a:extLst>
          </p:cNvPr>
          <p:cNvPicPr>
            <a:picLocks noChangeAspect="1"/>
          </p:cNvPicPr>
          <p:nvPr/>
        </p:nvPicPr>
        <p:blipFill>
          <a:blip r:embed="rId6"/>
          <a:stretch>
            <a:fillRect/>
          </a:stretch>
        </p:blipFill>
        <p:spPr>
          <a:xfrm>
            <a:off x="2077099" y="4781112"/>
            <a:ext cx="4500211" cy="1983449"/>
          </a:xfrm>
          <a:prstGeom prst="rect">
            <a:avLst/>
          </a:prstGeom>
          <a:effectLst/>
          <a:scene3d>
            <a:camera prst="orthographicFront"/>
            <a:lightRig rig="threePt" dir="t"/>
          </a:scene3d>
          <a:sp3d>
            <a:bevelT/>
          </a:sp3d>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370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3700">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3700">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13700">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13700">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1370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F2FAE999-E397-4E53-B5E1-C493BB4E1F4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0723" name="Rectangle 3">
            <a:extLst>
              <a:ext uri="{FF2B5EF4-FFF2-40B4-BE49-F238E27FC236}">
                <a16:creationId xmlns:a16="http://schemas.microsoft.com/office/drawing/2014/main" id="{C67EF7F4-B10A-4584-B590-4EC603136E4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0724" name="Rectangle 5">
            <a:extLst>
              <a:ext uri="{FF2B5EF4-FFF2-40B4-BE49-F238E27FC236}">
                <a16:creationId xmlns:a16="http://schemas.microsoft.com/office/drawing/2014/main" id="{39E8468A-3A19-419D-936F-9ECF836401AA}"/>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cs typeface="Times New Roman" panose="02020603050405020304" pitchFamily="18" charset="0"/>
              </a:rPr>
              <a:t>：</a:t>
            </a:r>
            <a:endParaRPr kumimoji="0" lang="zh-CN" altLang="en-US" sz="1100">
              <a:latin typeface="Arial" panose="020B0604020202020204" pitchFamily="34" charset="0"/>
              <a:cs typeface="Times New Roman" panose="02020603050405020304" pitchFamily="18" charset="0"/>
            </a:endParaRPr>
          </a:p>
          <a:p>
            <a:pPr>
              <a:spcBef>
                <a:spcPct val="0"/>
              </a:spcBef>
              <a:buFontTx/>
              <a:buNone/>
            </a:pPr>
            <a:endParaRPr kumimoji="0" lang="en-US" altLang="zh-CN" sz="1800">
              <a:latin typeface="Arial" panose="020B0604020202020204" pitchFamily="34" charset="0"/>
              <a:cs typeface="Times New Roman" panose="02020603050405020304" pitchFamily="18" charset="0"/>
            </a:endParaRPr>
          </a:p>
        </p:txBody>
      </p:sp>
      <p:sp>
        <p:nvSpPr>
          <p:cNvPr id="30726" name="Rectangle 11">
            <a:extLst>
              <a:ext uri="{FF2B5EF4-FFF2-40B4-BE49-F238E27FC236}">
                <a16:creationId xmlns:a16="http://schemas.microsoft.com/office/drawing/2014/main" id="{BB82994A-E182-49A6-BE25-B279E79F9696}"/>
              </a:ext>
            </a:extLst>
          </p:cNvPr>
          <p:cNvSpPr>
            <a:spLocks noChangeArrowheads="1"/>
          </p:cNvSpPr>
          <p:nvPr/>
        </p:nvSpPr>
        <p:spPr bwMode="auto">
          <a:xfrm>
            <a:off x="363124" y="2079004"/>
            <a:ext cx="32766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光纤的结构一般用它的</a:t>
            </a:r>
            <a:r>
              <a:rPr lang="zh-CN" altLang="en-US" sz="2000" b="1" dirty="0">
                <a:solidFill>
                  <a:srgbClr val="FF0000"/>
                </a:solidFill>
                <a:latin typeface="楷体_GB2312" pitchFamily="49" charset="-122"/>
                <a:ea typeface="楷体_GB2312" pitchFamily="49" charset="-122"/>
              </a:rPr>
              <a:t>折射率分布函数</a:t>
            </a:r>
            <a:r>
              <a:rPr lang="zh-CN" altLang="en-US" sz="2000" b="1" dirty="0">
                <a:latin typeface="楷体_GB2312" pitchFamily="49" charset="-122"/>
                <a:ea typeface="楷体_GB2312" pitchFamily="49" charset="-122"/>
              </a:rPr>
              <a:t>来表征，而在光纤的横截面上它的折射率通常都是对称分布的，只和径向坐标有关，因而通常用</a:t>
            </a:r>
            <a:r>
              <a:rPr lang="en-US" altLang="zh-CN" sz="2000" b="1" dirty="0">
                <a:latin typeface="楷体_GB2312" pitchFamily="49" charset="-122"/>
                <a:ea typeface="楷体_GB2312" pitchFamily="49" charset="-122"/>
              </a:rPr>
              <a:t>n(r)</a:t>
            </a:r>
            <a:r>
              <a:rPr lang="zh-CN" altLang="en-US" sz="2000" b="1" dirty="0">
                <a:latin typeface="楷体_GB2312" pitchFamily="49" charset="-122"/>
                <a:ea typeface="楷体_GB2312" pitchFamily="49" charset="-122"/>
              </a:rPr>
              <a:t>来表示折射率分布函数，这种分布函数也被称为光纤的</a:t>
            </a:r>
            <a:r>
              <a:rPr lang="zh-CN" altLang="en-US" sz="2000" b="1" dirty="0">
                <a:solidFill>
                  <a:srgbClr val="FF0000"/>
                </a:solidFill>
                <a:latin typeface="楷体_GB2312" pitchFamily="49" charset="-122"/>
                <a:ea typeface="楷体_GB2312" pitchFamily="49" charset="-122"/>
              </a:rPr>
              <a:t>折射率剖面</a:t>
            </a:r>
            <a:r>
              <a:rPr lang="zh-CN" altLang="en-US" sz="2000" b="1" dirty="0">
                <a:latin typeface="楷体_GB2312" pitchFamily="49" charset="-122"/>
                <a:ea typeface="楷体_GB2312" pitchFamily="49" charset="-122"/>
              </a:rPr>
              <a:t>，光纤的特性在很大程度上是由折射率分布来决定的。 </a:t>
            </a:r>
          </a:p>
        </p:txBody>
      </p:sp>
      <p:graphicFrame>
        <p:nvGraphicFramePr>
          <p:cNvPr id="30728" name="Object 12">
            <a:extLst>
              <a:ext uri="{FF2B5EF4-FFF2-40B4-BE49-F238E27FC236}">
                <a16:creationId xmlns:a16="http://schemas.microsoft.com/office/drawing/2014/main" id="{F3FFBF61-C1D0-47F2-AEAC-398DA1300C2C}"/>
              </a:ext>
            </a:extLst>
          </p:cNvPr>
          <p:cNvGraphicFramePr>
            <a:graphicFrameLocks noChangeAspect="1"/>
          </p:cNvGraphicFramePr>
          <p:nvPr>
            <p:extLst>
              <p:ext uri="{D42A27DB-BD31-4B8C-83A1-F6EECF244321}">
                <p14:modId xmlns:p14="http://schemas.microsoft.com/office/powerpoint/2010/main" val="3560242395"/>
              </p:ext>
            </p:extLst>
          </p:nvPr>
        </p:nvGraphicFramePr>
        <p:xfrm>
          <a:off x="3708400" y="2294979"/>
          <a:ext cx="5184775" cy="3870325"/>
        </p:xfrm>
        <a:graphic>
          <a:graphicData uri="http://schemas.openxmlformats.org/presentationml/2006/ole">
            <mc:AlternateContent xmlns:mc="http://schemas.openxmlformats.org/markup-compatibility/2006">
              <mc:Choice xmlns:v="urn:schemas-microsoft-com:vml" Requires="v">
                <p:oleObj spid="_x0000_s30746" r:id="rId3" imgW="6062258" imgH="4518013" progId="Visio.Drawing.11">
                  <p:embed/>
                </p:oleObj>
              </mc:Choice>
              <mc:Fallback>
                <p:oleObj r:id="rId3" imgW="6062258" imgH="4518013" progId="Visio.Drawing.11">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8400" y="2294979"/>
                        <a:ext cx="5184775" cy="387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9" name="Rectangle 14">
            <a:extLst>
              <a:ext uri="{FF2B5EF4-FFF2-40B4-BE49-F238E27FC236}">
                <a16:creationId xmlns:a16="http://schemas.microsoft.com/office/drawing/2014/main" id="{73BC8127-57AF-4C39-AC15-BF7841353717}"/>
              </a:ext>
            </a:extLst>
          </p:cNvPr>
          <p:cNvSpPr>
            <a:spLocks noChangeArrowheads="1"/>
          </p:cNvSpPr>
          <p:nvPr/>
        </p:nvSpPr>
        <p:spPr bwMode="auto">
          <a:xfrm>
            <a:off x="395288" y="549275"/>
            <a:ext cx="297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solidFill>
                  <a:srgbClr val="FF0000"/>
                </a:solidFill>
                <a:latin typeface="楷体_GB2312" pitchFamily="49" charset="-122"/>
                <a:ea typeface="楷体_GB2312" pitchFamily="49" charset="-122"/>
              </a:rPr>
              <a:t>光纤的折射率分布：</a:t>
            </a:r>
          </a:p>
        </p:txBody>
      </p:sp>
      <p:pic>
        <p:nvPicPr>
          <p:cNvPr id="10" name="图片 9">
            <a:extLst>
              <a:ext uri="{FF2B5EF4-FFF2-40B4-BE49-F238E27FC236}">
                <a16:creationId xmlns:a16="http://schemas.microsoft.com/office/drawing/2014/main" id="{0B3D2E0F-D864-46ED-8DC0-C736BF002FA5}"/>
              </a:ext>
            </a:extLst>
          </p:cNvPr>
          <p:cNvPicPr>
            <a:picLocks noChangeAspect="1"/>
          </p:cNvPicPr>
          <p:nvPr/>
        </p:nvPicPr>
        <p:blipFill>
          <a:blip r:embed="rId5"/>
          <a:stretch>
            <a:fillRect/>
          </a:stretch>
        </p:blipFill>
        <p:spPr>
          <a:xfrm>
            <a:off x="4280665" y="122155"/>
            <a:ext cx="4500211" cy="1983449"/>
          </a:xfrm>
          <a:prstGeom prst="rect">
            <a:avLst/>
          </a:prstGeom>
          <a:effectLst/>
          <a:scene3d>
            <a:camera prst="orthographicFront"/>
            <a:lightRig rig="threePt" dir="t"/>
          </a:scene3d>
          <a:sp3d>
            <a:bevelT/>
          </a:sp3d>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AE870FA2-93BD-4E55-94C1-CBCA193B33D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1747" name="Rectangle 3">
            <a:extLst>
              <a:ext uri="{FF2B5EF4-FFF2-40B4-BE49-F238E27FC236}">
                <a16:creationId xmlns:a16="http://schemas.microsoft.com/office/drawing/2014/main" id="{E63DAB64-9380-4711-97D1-D52C4151BBB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1748" name="Rectangle 4">
            <a:extLst>
              <a:ext uri="{FF2B5EF4-FFF2-40B4-BE49-F238E27FC236}">
                <a16:creationId xmlns:a16="http://schemas.microsoft.com/office/drawing/2014/main" id="{F68F6977-36F7-472F-AA7B-62AF5DD65137}"/>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cs typeface="Times New Roman" panose="02020603050405020304" pitchFamily="18" charset="0"/>
              </a:rPr>
              <a:t>：</a:t>
            </a:r>
            <a:endParaRPr kumimoji="0" lang="zh-CN" altLang="en-US" sz="1100">
              <a:latin typeface="Arial" panose="020B0604020202020204" pitchFamily="34" charset="0"/>
              <a:cs typeface="Times New Roman" panose="02020603050405020304" pitchFamily="18" charset="0"/>
            </a:endParaRPr>
          </a:p>
          <a:p>
            <a:pPr>
              <a:spcBef>
                <a:spcPct val="0"/>
              </a:spcBef>
              <a:buFontTx/>
              <a:buNone/>
            </a:pPr>
            <a:endParaRPr kumimoji="0" lang="en-US" altLang="zh-CN" sz="1800">
              <a:latin typeface="Arial" panose="020B0604020202020204" pitchFamily="34" charset="0"/>
              <a:cs typeface="Times New Roman" panose="02020603050405020304" pitchFamily="18" charset="0"/>
            </a:endParaRPr>
          </a:p>
        </p:txBody>
      </p:sp>
      <p:sp>
        <p:nvSpPr>
          <p:cNvPr id="31749" name="Rectangle 5">
            <a:extLst>
              <a:ext uri="{FF2B5EF4-FFF2-40B4-BE49-F238E27FC236}">
                <a16:creationId xmlns:a16="http://schemas.microsoft.com/office/drawing/2014/main" id="{0D88D812-CD83-4E0A-B953-E4DC03DC129C}"/>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0726" name="Rectangle 6">
            <a:extLst>
              <a:ext uri="{FF2B5EF4-FFF2-40B4-BE49-F238E27FC236}">
                <a16:creationId xmlns:a16="http://schemas.microsoft.com/office/drawing/2014/main" id="{6A3FCD81-AA54-44C3-A939-8BADE0D27918}"/>
              </a:ext>
            </a:extLst>
          </p:cNvPr>
          <p:cNvSpPr>
            <a:spLocks noChangeArrowheads="1"/>
          </p:cNvSpPr>
          <p:nvPr/>
        </p:nvSpPr>
        <p:spPr bwMode="auto">
          <a:xfrm>
            <a:off x="323850" y="417513"/>
            <a:ext cx="8424863" cy="48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defRPr/>
            </a:pPr>
            <a:r>
              <a:rPr lang="zh-CN" altLang="en-US" sz="2800" b="1" dirty="0">
                <a:solidFill>
                  <a:srgbClr val="C00000"/>
                </a:solidFill>
                <a:latin typeface="楷体_GB2312" pitchFamily="49" charset="-122"/>
                <a:ea typeface="楷体_GB2312" pitchFamily="49" charset="-122"/>
              </a:rPr>
              <a:t>光纤的分类：</a:t>
            </a:r>
            <a:r>
              <a:rPr lang="zh-CN" altLang="en-US" sz="2800" dirty="0">
                <a:solidFill>
                  <a:srgbClr val="C00000"/>
                </a:solidFill>
                <a:latin typeface="楷体_GB2312" pitchFamily="49" charset="-122"/>
                <a:ea typeface="楷体_GB2312" pitchFamily="49" charset="-122"/>
              </a:rPr>
              <a:t>    </a:t>
            </a:r>
          </a:p>
          <a:p>
            <a:pPr eaLnBrk="1" hangingPunct="1">
              <a:lnSpc>
                <a:spcPct val="150000"/>
              </a:lnSpc>
              <a:spcBef>
                <a:spcPct val="50000"/>
              </a:spcBef>
              <a:buFontTx/>
              <a:buNone/>
              <a:defRPr/>
            </a:pPr>
            <a:r>
              <a:rPr lang="zh-CN" altLang="en-US" sz="2400" b="1" dirty="0">
                <a:solidFill>
                  <a:schemeClr val="accent1">
                    <a:lumMod val="75000"/>
                  </a:schemeClr>
                </a:solidFill>
                <a:latin typeface="楷体_GB2312" pitchFamily="49" charset="-122"/>
                <a:ea typeface="楷体_GB2312" pitchFamily="49" charset="-122"/>
              </a:rPr>
              <a:t>（</a:t>
            </a:r>
            <a:r>
              <a:rPr lang="en-US" altLang="zh-CN" sz="2400" b="1" dirty="0">
                <a:solidFill>
                  <a:schemeClr val="accent1">
                    <a:lumMod val="75000"/>
                  </a:schemeClr>
                </a:solidFill>
                <a:latin typeface="楷体_GB2312" pitchFamily="49" charset="-122"/>
                <a:ea typeface="楷体_GB2312" pitchFamily="49" charset="-122"/>
              </a:rPr>
              <a:t>1</a:t>
            </a:r>
            <a:r>
              <a:rPr lang="zh-CN" altLang="en-US" sz="2400" b="1" dirty="0">
                <a:solidFill>
                  <a:schemeClr val="accent1">
                    <a:lumMod val="75000"/>
                  </a:schemeClr>
                </a:solidFill>
                <a:latin typeface="楷体_GB2312" pitchFamily="49" charset="-122"/>
                <a:ea typeface="楷体_GB2312" pitchFamily="49" charset="-122"/>
              </a:rPr>
              <a:t>）按纤芯的折射率分布分</a:t>
            </a:r>
          </a:p>
          <a:p>
            <a:pPr eaLnBrk="1" hangingPunct="1">
              <a:lnSpc>
                <a:spcPct val="150000"/>
              </a:lnSpc>
              <a:spcBef>
                <a:spcPct val="50000"/>
              </a:spcBef>
              <a:buFontTx/>
              <a:buNone/>
              <a:defRPr/>
            </a:pPr>
            <a:r>
              <a:rPr lang="zh-CN" altLang="en-US" sz="2000" b="1" dirty="0">
                <a:latin typeface="楷体_GB2312" pitchFamily="49" charset="-122"/>
                <a:ea typeface="楷体_GB2312" pitchFamily="49" charset="-122"/>
              </a:rPr>
              <a:t>按纤芯的折射率可分为</a:t>
            </a:r>
            <a:r>
              <a:rPr lang="zh-CN" altLang="en-US" sz="2000" b="1" dirty="0">
                <a:solidFill>
                  <a:srgbClr val="FF0000"/>
                </a:solidFill>
                <a:latin typeface="楷体_GB2312" pitchFamily="49" charset="-122"/>
                <a:ea typeface="楷体_GB2312" pitchFamily="49" charset="-122"/>
              </a:rPr>
              <a:t>阶跃型</a:t>
            </a:r>
            <a:r>
              <a:rPr lang="zh-CN" altLang="en-US" sz="2000" b="1" dirty="0">
                <a:latin typeface="楷体_GB2312" pitchFamily="49" charset="-122"/>
                <a:ea typeface="楷体_GB2312" pitchFamily="49" charset="-122"/>
              </a:rPr>
              <a:t>光纤、</a:t>
            </a:r>
            <a:r>
              <a:rPr lang="zh-CN" altLang="en-US" sz="2000" b="1" dirty="0">
                <a:solidFill>
                  <a:srgbClr val="FF0000"/>
                </a:solidFill>
                <a:latin typeface="楷体_GB2312" pitchFamily="49" charset="-122"/>
                <a:ea typeface="楷体_GB2312" pitchFamily="49" charset="-122"/>
              </a:rPr>
              <a:t>梯度型</a:t>
            </a:r>
            <a:r>
              <a:rPr lang="zh-CN" altLang="en-US" sz="2000" b="1" dirty="0">
                <a:latin typeface="楷体_GB2312" pitchFamily="49" charset="-122"/>
                <a:ea typeface="楷体_GB2312" pitchFamily="49" charset="-122"/>
              </a:rPr>
              <a:t>光纤、</a:t>
            </a:r>
            <a:r>
              <a:rPr lang="zh-CN" altLang="en-US" sz="2000" b="1" dirty="0">
                <a:solidFill>
                  <a:srgbClr val="FF0000"/>
                </a:solidFill>
                <a:latin typeface="楷体_GB2312" pitchFamily="49" charset="-122"/>
                <a:ea typeface="楷体_GB2312" pitchFamily="49" charset="-122"/>
              </a:rPr>
              <a:t>环型</a:t>
            </a:r>
            <a:r>
              <a:rPr lang="zh-CN" altLang="en-US" sz="2000" b="1" dirty="0">
                <a:latin typeface="楷体_GB2312" pitchFamily="49" charset="-122"/>
                <a:ea typeface="楷体_GB2312" pitchFamily="49" charset="-122"/>
              </a:rPr>
              <a:t>光纤、</a:t>
            </a:r>
            <a:r>
              <a:rPr lang="en-US" altLang="zh-CN" sz="2000" b="1" dirty="0">
                <a:solidFill>
                  <a:srgbClr val="FF0000"/>
                </a:solidFill>
                <a:latin typeface="楷体_GB2312" pitchFamily="49" charset="-122"/>
                <a:ea typeface="楷体_GB2312" pitchFamily="49" charset="-122"/>
              </a:rPr>
              <a:t>Ω</a:t>
            </a:r>
            <a:r>
              <a:rPr lang="zh-CN" altLang="en-US" sz="2000" b="1" dirty="0">
                <a:solidFill>
                  <a:srgbClr val="FF0000"/>
                </a:solidFill>
                <a:latin typeface="楷体_GB2312" pitchFamily="49" charset="-122"/>
                <a:ea typeface="楷体_GB2312" pitchFamily="49" charset="-122"/>
              </a:rPr>
              <a:t>型</a:t>
            </a:r>
            <a:r>
              <a:rPr lang="zh-CN" altLang="en-US" sz="2000" b="1" dirty="0">
                <a:latin typeface="楷体_GB2312" pitchFamily="49" charset="-122"/>
                <a:ea typeface="楷体_GB2312" pitchFamily="49" charset="-122"/>
              </a:rPr>
              <a:t>光纤、</a:t>
            </a:r>
            <a:r>
              <a:rPr lang="en-US" altLang="zh-CN" sz="2000" b="1" dirty="0">
                <a:solidFill>
                  <a:srgbClr val="FF0000"/>
                </a:solidFill>
                <a:latin typeface="楷体_GB2312" pitchFamily="49" charset="-122"/>
                <a:ea typeface="楷体_GB2312" pitchFamily="49" charset="-122"/>
              </a:rPr>
              <a:t>w</a:t>
            </a:r>
            <a:r>
              <a:rPr lang="zh-CN" altLang="en-US" sz="2000" b="1" dirty="0">
                <a:solidFill>
                  <a:srgbClr val="FF0000"/>
                </a:solidFill>
                <a:latin typeface="楷体_GB2312" pitchFamily="49" charset="-122"/>
                <a:ea typeface="楷体_GB2312" pitchFamily="49" charset="-122"/>
              </a:rPr>
              <a:t>型</a:t>
            </a:r>
            <a:r>
              <a:rPr lang="zh-CN" altLang="en-US" sz="2000" b="1" dirty="0">
                <a:latin typeface="楷体_GB2312" pitchFamily="49" charset="-122"/>
                <a:ea typeface="楷体_GB2312" pitchFamily="49" charset="-122"/>
              </a:rPr>
              <a:t>光纤和</a:t>
            </a:r>
            <a:r>
              <a:rPr lang="zh-CN" altLang="en-US" sz="2000" b="1" dirty="0">
                <a:solidFill>
                  <a:srgbClr val="FF0000"/>
                </a:solidFill>
                <a:latin typeface="楷体_GB2312" pitchFamily="49" charset="-122"/>
                <a:ea typeface="楷体_GB2312" pitchFamily="49" charset="-122"/>
              </a:rPr>
              <a:t>凹陷包层</a:t>
            </a:r>
            <a:r>
              <a:rPr lang="zh-CN" altLang="en-US" sz="2000" b="1" dirty="0">
                <a:latin typeface="楷体_GB2312" pitchFamily="49" charset="-122"/>
                <a:ea typeface="楷体_GB2312" pitchFamily="49" charset="-122"/>
              </a:rPr>
              <a:t>等，不同的折射率分布可满足不同的光传输需要。</a:t>
            </a:r>
          </a:p>
          <a:p>
            <a:pPr eaLnBrk="1" hangingPunct="1">
              <a:lnSpc>
                <a:spcPct val="150000"/>
              </a:lnSpc>
              <a:spcBef>
                <a:spcPct val="50000"/>
              </a:spcBef>
              <a:buFontTx/>
              <a:buNone/>
              <a:defRPr/>
            </a:pPr>
            <a:r>
              <a:rPr lang="zh-CN" altLang="en-US" sz="2400" b="1" dirty="0">
                <a:solidFill>
                  <a:schemeClr val="accent1">
                    <a:lumMod val="75000"/>
                  </a:schemeClr>
                </a:solidFill>
                <a:latin typeface="楷体_GB2312" pitchFamily="49" charset="-122"/>
                <a:ea typeface="楷体_GB2312" pitchFamily="49" charset="-122"/>
              </a:rPr>
              <a:t>（</a:t>
            </a:r>
            <a:r>
              <a:rPr lang="en-US" altLang="zh-CN" sz="2400" b="1" dirty="0">
                <a:solidFill>
                  <a:schemeClr val="accent1">
                    <a:lumMod val="75000"/>
                  </a:schemeClr>
                </a:solidFill>
                <a:latin typeface="楷体_GB2312" pitchFamily="49" charset="-122"/>
                <a:ea typeface="楷体_GB2312" pitchFamily="49" charset="-122"/>
              </a:rPr>
              <a:t>2</a:t>
            </a:r>
            <a:r>
              <a:rPr lang="zh-CN" altLang="en-US" sz="2400" b="1" dirty="0">
                <a:solidFill>
                  <a:schemeClr val="accent1">
                    <a:lumMod val="75000"/>
                  </a:schemeClr>
                </a:solidFill>
                <a:latin typeface="楷体_GB2312" pitchFamily="49" charset="-122"/>
                <a:ea typeface="楷体_GB2312" pitchFamily="49" charset="-122"/>
              </a:rPr>
              <a:t>）按构成光纤的材料分</a:t>
            </a:r>
          </a:p>
          <a:p>
            <a:pPr eaLnBrk="1" hangingPunct="1">
              <a:lnSpc>
                <a:spcPct val="150000"/>
              </a:lnSpc>
              <a:spcBef>
                <a:spcPct val="50000"/>
              </a:spcBef>
              <a:buFontTx/>
              <a:buNone/>
              <a:defRPr/>
            </a:pPr>
            <a:r>
              <a:rPr lang="zh-CN" altLang="en-US" sz="2000" b="1" dirty="0">
                <a:latin typeface="楷体_GB2312" pitchFamily="49" charset="-122"/>
                <a:ea typeface="楷体_GB2312" pitchFamily="49" charset="-122"/>
              </a:rPr>
              <a:t>按构成光纤的材料可分为</a:t>
            </a:r>
            <a:r>
              <a:rPr lang="zh-CN" altLang="en-US" sz="2000" b="1" dirty="0">
                <a:solidFill>
                  <a:srgbClr val="FF0000"/>
                </a:solidFill>
                <a:latin typeface="楷体_GB2312" pitchFamily="49" charset="-122"/>
                <a:ea typeface="楷体_GB2312" pitchFamily="49" charset="-122"/>
              </a:rPr>
              <a:t>硅酸盐</a:t>
            </a:r>
            <a:r>
              <a:rPr lang="zh-CN" altLang="en-US" sz="2000" b="1" dirty="0">
                <a:latin typeface="楷体_GB2312" pitchFamily="49" charset="-122"/>
                <a:ea typeface="楷体_GB2312" pitchFamily="49" charset="-122"/>
              </a:rPr>
              <a:t>光纤</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包括高纯石英光纤和多组分玻璃光纤等</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a:t>
            </a:r>
            <a:r>
              <a:rPr lang="zh-CN" altLang="en-US" sz="2000" b="1" dirty="0">
                <a:solidFill>
                  <a:srgbClr val="FF0000"/>
                </a:solidFill>
                <a:latin typeface="楷体_GB2312" pitchFamily="49" charset="-122"/>
                <a:ea typeface="楷体_GB2312" pitchFamily="49" charset="-122"/>
              </a:rPr>
              <a:t>塑料</a:t>
            </a:r>
            <a:r>
              <a:rPr lang="zh-CN" altLang="en-US" sz="2000" b="1" dirty="0">
                <a:latin typeface="楷体_GB2312" pitchFamily="49" charset="-122"/>
                <a:ea typeface="楷体_GB2312" pitchFamily="49" charset="-122"/>
              </a:rPr>
              <a:t>光纤和</a:t>
            </a:r>
            <a:r>
              <a:rPr lang="zh-CN" altLang="en-US" sz="2000" b="1" dirty="0">
                <a:solidFill>
                  <a:srgbClr val="FF0000"/>
                </a:solidFill>
                <a:latin typeface="楷体_GB2312" pitchFamily="49" charset="-122"/>
                <a:ea typeface="楷体_GB2312" pitchFamily="49" charset="-122"/>
              </a:rPr>
              <a:t>液芯</a:t>
            </a:r>
            <a:r>
              <a:rPr lang="zh-CN" altLang="en-US" sz="2000" b="1" dirty="0">
                <a:latin typeface="楷体_GB2312" pitchFamily="49" charset="-122"/>
                <a:ea typeface="楷体_GB2312" pitchFamily="49" charset="-122"/>
              </a:rPr>
              <a:t>光纤等。硅酸盐光纤损耗很低，可用于长距离传输；塑料光纤的价格非常便宜。</a:t>
            </a:r>
          </a:p>
        </p:txBody>
      </p:sp>
      <p:sp>
        <p:nvSpPr>
          <p:cNvPr id="31751" name="Rectangle 7">
            <a:extLst>
              <a:ext uri="{FF2B5EF4-FFF2-40B4-BE49-F238E27FC236}">
                <a16:creationId xmlns:a16="http://schemas.microsoft.com/office/drawing/2014/main" id="{EF4EACFB-F98B-4D61-B941-8B1F6AE8B846}"/>
              </a:ext>
            </a:extLst>
          </p:cNvPr>
          <p:cNvSpPr>
            <a:spLocks noChangeArrowheads="1"/>
          </p:cNvSpPr>
          <p:nvPr/>
        </p:nvSpPr>
        <p:spPr bwMode="auto">
          <a:xfrm>
            <a:off x="0" y="2362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AF3DD71-C032-4E42-9596-D8C9B464FC5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2771" name="Rectangle 3">
            <a:extLst>
              <a:ext uri="{FF2B5EF4-FFF2-40B4-BE49-F238E27FC236}">
                <a16:creationId xmlns:a16="http://schemas.microsoft.com/office/drawing/2014/main" id="{EA2081A0-48E7-493A-8366-9B0B42E57A1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2772" name="Rectangle 5">
            <a:extLst>
              <a:ext uri="{FF2B5EF4-FFF2-40B4-BE49-F238E27FC236}">
                <a16:creationId xmlns:a16="http://schemas.microsoft.com/office/drawing/2014/main" id="{6CAAEFFA-95D6-424D-8EC3-3389BD94B7F6}"/>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cs typeface="Times New Roman" panose="02020603050405020304" pitchFamily="18" charset="0"/>
              </a:rPr>
              <a:t>：</a:t>
            </a:r>
            <a:endParaRPr kumimoji="0" lang="zh-CN" altLang="en-US" sz="1100">
              <a:latin typeface="Arial" panose="020B0604020202020204" pitchFamily="34" charset="0"/>
              <a:cs typeface="Times New Roman" panose="02020603050405020304" pitchFamily="18" charset="0"/>
            </a:endParaRPr>
          </a:p>
          <a:p>
            <a:pPr>
              <a:spcBef>
                <a:spcPct val="0"/>
              </a:spcBef>
              <a:buFontTx/>
              <a:buNone/>
            </a:pPr>
            <a:endParaRPr kumimoji="0" lang="en-US" altLang="zh-CN" sz="1800">
              <a:latin typeface="Arial" panose="020B0604020202020204" pitchFamily="34" charset="0"/>
              <a:cs typeface="Times New Roman" panose="02020603050405020304" pitchFamily="18" charset="0"/>
            </a:endParaRPr>
          </a:p>
        </p:txBody>
      </p:sp>
      <p:sp>
        <p:nvSpPr>
          <p:cNvPr id="32773" name="Rectangle 6">
            <a:extLst>
              <a:ext uri="{FF2B5EF4-FFF2-40B4-BE49-F238E27FC236}">
                <a16:creationId xmlns:a16="http://schemas.microsoft.com/office/drawing/2014/main" id="{A756EE8B-92E5-4294-BCFF-187A7DB828B9}"/>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1750" name="Rectangle 7">
            <a:extLst>
              <a:ext uri="{FF2B5EF4-FFF2-40B4-BE49-F238E27FC236}">
                <a16:creationId xmlns:a16="http://schemas.microsoft.com/office/drawing/2014/main" id="{236749AA-FCC5-46BE-BA00-4E78C9138109}"/>
              </a:ext>
            </a:extLst>
          </p:cNvPr>
          <p:cNvSpPr>
            <a:spLocks noChangeArrowheads="1"/>
          </p:cNvSpPr>
          <p:nvPr/>
        </p:nvSpPr>
        <p:spPr bwMode="auto">
          <a:xfrm>
            <a:off x="611188" y="869950"/>
            <a:ext cx="8208962"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defRPr/>
            </a:pPr>
            <a:r>
              <a:rPr lang="zh-CN" altLang="en-US" sz="2400" b="1" dirty="0">
                <a:solidFill>
                  <a:schemeClr val="accent1">
                    <a:lumMod val="75000"/>
                  </a:schemeClr>
                </a:solidFill>
                <a:latin typeface="楷体_GB2312" pitchFamily="49" charset="-122"/>
                <a:ea typeface="楷体_GB2312" pitchFamily="49" charset="-122"/>
              </a:rPr>
              <a:t>（</a:t>
            </a:r>
            <a:r>
              <a:rPr lang="en-US" altLang="zh-CN" sz="2400" b="1" dirty="0">
                <a:solidFill>
                  <a:schemeClr val="accent1">
                    <a:lumMod val="75000"/>
                  </a:schemeClr>
                </a:solidFill>
                <a:latin typeface="楷体_GB2312" pitchFamily="49" charset="-122"/>
                <a:ea typeface="楷体_GB2312" pitchFamily="49" charset="-122"/>
              </a:rPr>
              <a:t>3</a:t>
            </a:r>
            <a:r>
              <a:rPr lang="zh-CN" altLang="en-US" sz="2400" b="1" dirty="0">
                <a:solidFill>
                  <a:schemeClr val="accent1">
                    <a:lumMod val="75000"/>
                  </a:schemeClr>
                </a:solidFill>
                <a:latin typeface="楷体_GB2312" pitchFamily="49" charset="-122"/>
                <a:ea typeface="楷体_GB2312" pitchFamily="49" charset="-122"/>
              </a:rPr>
              <a:t>）按传导模式分： </a:t>
            </a:r>
            <a:r>
              <a:rPr lang="en-US" altLang="zh-CN" sz="2400" b="1" dirty="0">
                <a:solidFill>
                  <a:srgbClr val="C00000"/>
                </a:solidFill>
                <a:latin typeface="楷体_GB2312" pitchFamily="49" charset="-122"/>
                <a:ea typeface="楷体_GB2312" pitchFamily="49" charset="-122"/>
              </a:rPr>
              <a:t>——</a:t>
            </a:r>
            <a:r>
              <a:rPr lang="zh-CN" altLang="en-US" sz="2400" b="1" dirty="0">
                <a:solidFill>
                  <a:srgbClr val="C00000"/>
                </a:solidFill>
                <a:latin typeface="楷体_GB2312" pitchFamily="49" charset="-122"/>
                <a:ea typeface="楷体_GB2312" pitchFamily="49" charset="-122"/>
              </a:rPr>
              <a:t>“什么是传导模式？”</a:t>
            </a:r>
          </a:p>
          <a:p>
            <a:pPr eaLnBrk="1" hangingPunct="1">
              <a:lnSpc>
                <a:spcPct val="150000"/>
              </a:lnSpc>
              <a:spcBef>
                <a:spcPct val="50000"/>
              </a:spcBef>
              <a:buFontTx/>
              <a:buNone/>
              <a:defRPr/>
            </a:pPr>
            <a:r>
              <a:rPr lang="zh-CN" altLang="en-US" sz="2400" b="1" dirty="0">
                <a:latin typeface="楷体_GB2312" pitchFamily="49" charset="-122"/>
                <a:ea typeface="楷体_GB2312" pitchFamily="49" charset="-122"/>
              </a:rPr>
              <a:t>按传导模式可分为</a:t>
            </a:r>
            <a:r>
              <a:rPr lang="zh-CN" altLang="en-US" sz="2400" b="1" dirty="0">
                <a:solidFill>
                  <a:srgbClr val="FF0000"/>
                </a:solidFill>
                <a:latin typeface="楷体_GB2312" pitchFamily="49" charset="-122"/>
                <a:ea typeface="楷体_GB2312" pitchFamily="49" charset="-122"/>
              </a:rPr>
              <a:t>单模</a:t>
            </a:r>
            <a:r>
              <a:rPr lang="zh-CN" altLang="en-US" sz="2400" b="1" dirty="0">
                <a:latin typeface="楷体_GB2312" pitchFamily="49" charset="-122"/>
                <a:ea typeface="楷体_GB2312" pitchFamily="49" charset="-122"/>
              </a:rPr>
              <a:t>光纤和</a:t>
            </a:r>
            <a:r>
              <a:rPr lang="zh-CN" altLang="en-US" sz="2400" b="1" dirty="0">
                <a:solidFill>
                  <a:srgbClr val="FF0000"/>
                </a:solidFill>
                <a:latin typeface="楷体_GB2312" pitchFamily="49" charset="-122"/>
                <a:ea typeface="楷体_GB2312" pitchFamily="49" charset="-122"/>
              </a:rPr>
              <a:t>多模</a:t>
            </a:r>
            <a:r>
              <a:rPr lang="zh-CN" altLang="en-US" sz="2400" b="1" dirty="0">
                <a:latin typeface="楷体_GB2312" pitchFamily="49" charset="-122"/>
                <a:ea typeface="楷体_GB2312" pitchFamily="49" charset="-122"/>
              </a:rPr>
              <a:t>光纤。单模光纤的</a:t>
            </a:r>
            <a:r>
              <a:rPr lang="zh-CN" altLang="en-US" sz="2400" b="1" dirty="0">
                <a:highlight>
                  <a:srgbClr val="FFFF00"/>
                </a:highlight>
                <a:latin typeface="楷体_GB2312" pitchFamily="49" charset="-122"/>
                <a:ea typeface="楷体_GB2312" pitchFamily="49" charset="-122"/>
              </a:rPr>
              <a:t>纤芯直径仅几个微米</a:t>
            </a:r>
            <a:r>
              <a:rPr lang="zh-CN" altLang="en-US" sz="2400" b="1" dirty="0">
                <a:latin typeface="楷体_GB2312" pitchFamily="49" charset="-122"/>
                <a:ea typeface="楷体_GB2312" pitchFamily="49" charset="-122"/>
              </a:rPr>
              <a:t>，光波在光纤中只能以一种模式传导，其信号畸变很小，可传输大容量信息。多模光纤的</a:t>
            </a:r>
            <a:r>
              <a:rPr lang="zh-CN" altLang="en-US" sz="2400" b="1" dirty="0">
                <a:highlight>
                  <a:srgbClr val="FFFF00"/>
                </a:highlight>
                <a:latin typeface="楷体_GB2312" pitchFamily="49" charset="-122"/>
                <a:ea typeface="楷体_GB2312" pitchFamily="49" charset="-122"/>
              </a:rPr>
              <a:t>纤芯直径较大</a:t>
            </a:r>
            <a:r>
              <a:rPr lang="zh-CN" altLang="en-US" sz="2400" b="1" dirty="0">
                <a:latin typeface="楷体_GB2312" pitchFamily="49" charset="-122"/>
                <a:ea typeface="楷体_GB2312" pitchFamily="49" charset="-122"/>
              </a:rPr>
              <a:t>，光波在光纤中能以多种模式传导，具有信号强的优点。</a:t>
            </a:r>
          </a:p>
          <a:p>
            <a:pPr eaLnBrk="1" hangingPunct="1">
              <a:lnSpc>
                <a:spcPct val="150000"/>
              </a:lnSpc>
              <a:spcBef>
                <a:spcPct val="50000"/>
              </a:spcBef>
              <a:buFontTx/>
              <a:buNone/>
              <a:defRPr/>
            </a:pPr>
            <a:r>
              <a:rPr lang="zh-CN" altLang="en-US" sz="2400" b="1" dirty="0">
                <a:solidFill>
                  <a:schemeClr val="accent1">
                    <a:lumMod val="75000"/>
                  </a:schemeClr>
                </a:solidFill>
                <a:latin typeface="楷体_GB2312" pitchFamily="49" charset="-122"/>
                <a:ea typeface="楷体_GB2312" pitchFamily="49" charset="-122"/>
              </a:rPr>
              <a:t>（</a:t>
            </a:r>
            <a:r>
              <a:rPr lang="en-US" altLang="zh-CN" sz="2400" b="1" dirty="0">
                <a:solidFill>
                  <a:schemeClr val="accent1">
                    <a:lumMod val="75000"/>
                  </a:schemeClr>
                </a:solidFill>
                <a:latin typeface="楷体_GB2312" pitchFamily="49" charset="-122"/>
                <a:ea typeface="楷体_GB2312" pitchFamily="49" charset="-122"/>
              </a:rPr>
              <a:t>4</a:t>
            </a:r>
            <a:r>
              <a:rPr lang="zh-CN" altLang="en-US" sz="2400" b="1" dirty="0">
                <a:solidFill>
                  <a:schemeClr val="accent1">
                    <a:lumMod val="75000"/>
                  </a:schemeClr>
                </a:solidFill>
                <a:latin typeface="楷体_GB2312" pitchFamily="49" charset="-122"/>
                <a:ea typeface="楷体_GB2312" pitchFamily="49" charset="-122"/>
              </a:rPr>
              <a:t>）按用途分：</a:t>
            </a:r>
          </a:p>
          <a:p>
            <a:pPr eaLnBrk="1" hangingPunct="1">
              <a:lnSpc>
                <a:spcPct val="150000"/>
              </a:lnSpc>
              <a:spcBef>
                <a:spcPct val="50000"/>
              </a:spcBef>
              <a:buFontTx/>
              <a:buNone/>
              <a:defRPr/>
            </a:pPr>
            <a:r>
              <a:rPr lang="zh-CN" altLang="en-US" sz="2400" b="1" dirty="0">
                <a:latin typeface="楷体_GB2312" pitchFamily="49" charset="-122"/>
                <a:ea typeface="楷体_GB2312" pitchFamily="49" charset="-122"/>
              </a:rPr>
              <a:t>按用途可分为</a:t>
            </a:r>
            <a:r>
              <a:rPr lang="zh-CN" altLang="en-US" sz="2400" b="1" dirty="0">
                <a:solidFill>
                  <a:srgbClr val="FF0000"/>
                </a:solidFill>
                <a:latin typeface="楷体_GB2312" pitchFamily="49" charset="-122"/>
                <a:ea typeface="楷体_GB2312" pitchFamily="49" charset="-122"/>
              </a:rPr>
              <a:t>传感器</a:t>
            </a:r>
            <a:r>
              <a:rPr lang="zh-CN" altLang="en-US" sz="2400" b="1" dirty="0">
                <a:latin typeface="楷体_GB2312" pitchFamily="49" charset="-122"/>
                <a:ea typeface="楷体_GB2312" pitchFamily="49" charset="-122"/>
              </a:rPr>
              <a:t>光纤、</a:t>
            </a:r>
            <a:r>
              <a:rPr lang="zh-CN" altLang="en-US" sz="2400" b="1" dirty="0">
                <a:solidFill>
                  <a:srgbClr val="FF0000"/>
                </a:solidFill>
                <a:latin typeface="楷体_GB2312" pitchFamily="49" charset="-122"/>
                <a:ea typeface="楷体_GB2312" pitchFamily="49" charset="-122"/>
              </a:rPr>
              <a:t>通信</a:t>
            </a:r>
            <a:r>
              <a:rPr lang="zh-CN" altLang="en-US" sz="2400" b="1" dirty="0">
                <a:latin typeface="楷体_GB2312" pitchFamily="49" charset="-122"/>
                <a:ea typeface="楷体_GB2312" pitchFamily="49" charset="-122"/>
              </a:rPr>
              <a:t>光纤等。</a:t>
            </a:r>
          </a:p>
        </p:txBody>
      </p:sp>
      <p:sp>
        <p:nvSpPr>
          <p:cNvPr id="32775" name="Rectangle 8">
            <a:extLst>
              <a:ext uri="{FF2B5EF4-FFF2-40B4-BE49-F238E27FC236}">
                <a16:creationId xmlns:a16="http://schemas.microsoft.com/office/drawing/2014/main" id="{9B999820-C9B1-4D93-BA27-558813F5D072}"/>
              </a:ext>
            </a:extLst>
          </p:cNvPr>
          <p:cNvSpPr>
            <a:spLocks noChangeArrowheads="1"/>
          </p:cNvSpPr>
          <p:nvPr/>
        </p:nvSpPr>
        <p:spPr bwMode="auto">
          <a:xfrm>
            <a:off x="0" y="2362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pic>
        <p:nvPicPr>
          <p:cNvPr id="83972" name="Picture 4" descr="Fibre Channel光纤通道系统基础（二）_龙虾天天的博客-CSDN博客">
            <a:extLst>
              <a:ext uri="{FF2B5EF4-FFF2-40B4-BE49-F238E27FC236}">
                <a16:creationId xmlns:a16="http://schemas.microsoft.com/office/drawing/2014/main" id="{409A8177-9AB5-46AE-95C5-46F13DA69D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337" y="2282472"/>
            <a:ext cx="7994978" cy="37276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3972"/>
                                        </p:tgtEl>
                                        <p:attrNameLst>
                                          <p:attrName>style.visibility</p:attrName>
                                        </p:attrNameLst>
                                      </p:cBhvr>
                                      <p:to>
                                        <p:strVal val="visible"/>
                                      </p:to>
                                    </p:set>
                                    <p:anim calcmode="lin" valueType="num">
                                      <p:cBhvr additive="base">
                                        <p:cTn id="7" dur="500" fill="hold"/>
                                        <p:tgtEl>
                                          <p:spTgt spid="83972"/>
                                        </p:tgtEl>
                                        <p:attrNameLst>
                                          <p:attrName>ppt_x</p:attrName>
                                        </p:attrNameLst>
                                      </p:cBhvr>
                                      <p:tavLst>
                                        <p:tav tm="0">
                                          <p:val>
                                            <p:strVal val="#ppt_x"/>
                                          </p:val>
                                        </p:tav>
                                        <p:tav tm="100000">
                                          <p:val>
                                            <p:strVal val="#ppt_x"/>
                                          </p:val>
                                        </p:tav>
                                      </p:tavLst>
                                    </p:anim>
                                    <p:anim calcmode="lin" valueType="num">
                                      <p:cBhvr additive="base">
                                        <p:cTn id="8" dur="500" fill="hold"/>
                                        <p:tgtEl>
                                          <p:spTgt spid="8397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83972"/>
                                        </p:tgtEl>
                                        <p:attrNameLst>
                                          <p:attrName>ppt_x</p:attrName>
                                        </p:attrNameLst>
                                      </p:cBhvr>
                                      <p:tavLst>
                                        <p:tav tm="0">
                                          <p:val>
                                            <p:strVal val="ppt_x"/>
                                          </p:val>
                                        </p:tav>
                                        <p:tav tm="100000">
                                          <p:val>
                                            <p:strVal val="ppt_x"/>
                                          </p:val>
                                        </p:tav>
                                      </p:tavLst>
                                    </p:anim>
                                    <p:anim calcmode="lin" valueType="num">
                                      <p:cBhvr additive="base">
                                        <p:cTn id="13" dur="500"/>
                                        <p:tgtEl>
                                          <p:spTgt spid="83972"/>
                                        </p:tgtEl>
                                        <p:attrNameLst>
                                          <p:attrName>ppt_y</p:attrName>
                                        </p:attrNameLst>
                                      </p:cBhvr>
                                      <p:tavLst>
                                        <p:tav tm="0">
                                          <p:val>
                                            <p:strVal val="ppt_y"/>
                                          </p:val>
                                        </p:tav>
                                        <p:tav tm="100000">
                                          <p:val>
                                            <p:strVal val="1+ppt_h/2"/>
                                          </p:val>
                                        </p:tav>
                                      </p:tavLst>
                                    </p:anim>
                                    <p:set>
                                      <p:cBhvr>
                                        <p:cTn id="14" dur="1" fill="hold">
                                          <p:stCondLst>
                                            <p:cond delay="499"/>
                                          </p:stCondLst>
                                        </p:cTn>
                                        <p:tgtEl>
                                          <p:spTgt spid="8397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8F87BAC-CFA1-48F8-B3FA-258D85E812B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3795" name="Rectangle 3">
            <a:extLst>
              <a:ext uri="{FF2B5EF4-FFF2-40B4-BE49-F238E27FC236}">
                <a16:creationId xmlns:a16="http://schemas.microsoft.com/office/drawing/2014/main" id="{26905A7D-E944-4CEA-969E-E13B6123CB3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506884" name="Text Box 4">
            <a:extLst>
              <a:ext uri="{FF2B5EF4-FFF2-40B4-BE49-F238E27FC236}">
                <a16:creationId xmlns:a16="http://schemas.microsoft.com/office/drawing/2014/main" id="{AA65CC67-3C8A-4C3A-8E50-B7317C47F90F}"/>
              </a:ext>
            </a:extLst>
          </p:cNvPr>
          <p:cNvSpPr txBox="1">
            <a:spLocks noChangeArrowheads="1"/>
          </p:cNvSpPr>
          <p:nvPr/>
        </p:nvSpPr>
        <p:spPr bwMode="auto">
          <a:xfrm>
            <a:off x="28575" y="207963"/>
            <a:ext cx="8785225" cy="4301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800" b="1" dirty="0">
                <a:latin typeface="黑体" panose="02010609060101010101" pitchFamily="49" charset="-122"/>
                <a:ea typeface="黑体" panose="02010609060101010101" pitchFamily="49" charset="-122"/>
              </a:rPr>
              <a:t>4.1.2 </a:t>
            </a:r>
            <a:r>
              <a:rPr kumimoji="0" lang="zh-CN" altLang="zh-CN" sz="2800" b="1" dirty="0">
                <a:latin typeface="黑体" panose="02010609060101010101" pitchFamily="49" charset="-122"/>
                <a:ea typeface="黑体" panose="02010609060101010101" pitchFamily="49" charset="-122"/>
              </a:rPr>
              <a:t>光纤的</a:t>
            </a:r>
            <a:r>
              <a:rPr kumimoji="0" lang="zh-CN" altLang="zh-CN" sz="2800" b="1" dirty="0">
                <a:solidFill>
                  <a:srgbClr val="FF0000"/>
                </a:solidFill>
                <a:latin typeface="黑体" panose="02010609060101010101" pitchFamily="49" charset="-122"/>
                <a:ea typeface="黑体" panose="02010609060101010101" pitchFamily="49" charset="-122"/>
              </a:rPr>
              <a:t>数值孔径NA</a:t>
            </a:r>
            <a:r>
              <a:rPr kumimoji="0" lang="zh-CN" altLang="en-US" sz="2800" b="1" dirty="0">
                <a:solidFill>
                  <a:srgbClr val="0000FF"/>
                </a:solidFill>
                <a:latin typeface="黑体" panose="02010609060101010101" pitchFamily="49" charset="-122"/>
                <a:ea typeface="黑体" panose="02010609060101010101" pitchFamily="49" charset="-122"/>
              </a:rPr>
              <a:t>（重要）</a:t>
            </a:r>
            <a:endParaRPr kumimoji="0" lang="en-US" altLang="zh-CN" sz="2800" b="1" dirty="0">
              <a:solidFill>
                <a:srgbClr val="0000FF"/>
              </a:solidFill>
              <a:latin typeface="黑体" panose="02010609060101010101" pitchFamily="49" charset="-122"/>
              <a:ea typeface="黑体" panose="02010609060101010101" pitchFamily="49" charset="-122"/>
            </a:endParaRPr>
          </a:p>
          <a:p>
            <a:pPr eaLnBrk="1" hangingPunct="1">
              <a:lnSpc>
                <a:spcPct val="150000"/>
              </a:lnSpc>
              <a:spcBef>
                <a:spcPct val="0"/>
              </a:spcBef>
              <a:buFontTx/>
              <a:buNone/>
            </a:pPr>
            <a:endParaRPr kumimoji="0" lang="en-US" altLang="zh-CN" sz="2400" dirty="0">
              <a:latin typeface="楷体_GB2312" pitchFamily="49" charset="-122"/>
              <a:ea typeface="楷体_GB2312" pitchFamily="49" charset="-122"/>
            </a:endParaRPr>
          </a:p>
          <a:p>
            <a:pPr eaLnBrk="1" hangingPunct="1">
              <a:lnSpc>
                <a:spcPct val="150000"/>
              </a:lnSpc>
              <a:spcBef>
                <a:spcPct val="0"/>
              </a:spcBef>
              <a:buFontTx/>
              <a:buNone/>
            </a:pPr>
            <a:endParaRPr kumimoji="0" lang="en-US" altLang="zh-CN" sz="2000" dirty="0">
              <a:latin typeface="楷体_GB2312" pitchFamily="49" charset="-122"/>
              <a:ea typeface="楷体_GB2312" pitchFamily="49" charset="-122"/>
            </a:endParaRPr>
          </a:p>
          <a:p>
            <a:pPr eaLnBrk="1" hangingPunct="1">
              <a:lnSpc>
                <a:spcPct val="150000"/>
              </a:lnSpc>
              <a:spcBef>
                <a:spcPct val="0"/>
              </a:spcBef>
              <a:buFontTx/>
              <a:buNone/>
            </a:pPr>
            <a:endParaRPr kumimoji="0" lang="en-US" altLang="zh-CN" sz="2000" dirty="0">
              <a:latin typeface="楷体_GB2312" pitchFamily="49" charset="-122"/>
              <a:ea typeface="楷体_GB2312" pitchFamily="49" charset="-122"/>
            </a:endParaRPr>
          </a:p>
          <a:p>
            <a:pPr eaLnBrk="1" hangingPunct="1">
              <a:lnSpc>
                <a:spcPct val="150000"/>
              </a:lnSpc>
              <a:spcBef>
                <a:spcPct val="0"/>
              </a:spcBef>
              <a:buFontTx/>
              <a:buNone/>
            </a:pPr>
            <a:endParaRPr kumimoji="0" lang="en-US" altLang="zh-CN" sz="2000" dirty="0">
              <a:latin typeface="楷体_GB2312" pitchFamily="49" charset="-122"/>
              <a:ea typeface="楷体_GB2312" pitchFamily="49" charset="-122"/>
            </a:endParaRPr>
          </a:p>
          <a:p>
            <a:pPr eaLnBrk="1" hangingPunct="1">
              <a:lnSpc>
                <a:spcPct val="150000"/>
              </a:lnSpc>
              <a:spcBef>
                <a:spcPct val="0"/>
              </a:spcBef>
              <a:buFontTx/>
              <a:buNone/>
            </a:pPr>
            <a:r>
              <a:rPr kumimoji="0" lang="en-US" altLang="zh-CN" sz="2000" dirty="0">
                <a:latin typeface="楷体_GB2312" pitchFamily="49" charset="-122"/>
                <a:ea typeface="楷体_GB2312" pitchFamily="49" charset="-122"/>
              </a:rPr>
              <a:t>●</a:t>
            </a:r>
            <a:r>
              <a:rPr kumimoji="0" lang="zh-CN" altLang="en-US" sz="2000" b="1" dirty="0">
                <a:latin typeface="楷体_GB2312" pitchFamily="49" charset="-122"/>
                <a:ea typeface="楷体_GB2312" pitchFamily="49" charset="-122"/>
              </a:rPr>
              <a:t>数值孔径是</a:t>
            </a:r>
            <a:r>
              <a:rPr kumimoji="0" lang="zh-CN" altLang="en-US" sz="2000" b="1" dirty="0">
                <a:solidFill>
                  <a:srgbClr val="FF0000"/>
                </a:solidFill>
                <a:latin typeface="楷体_GB2312" pitchFamily="49" charset="-122"/>
                <a:ea typeface="楷体_GB2312" pitchFamily="49" charset="-122"/>
              </a:rPr>
              <a:t>衡量光纤聚光能力</a:t>
            </a:r>
            <a:r>
              <a:rPr kumimoji="0" lang="zh-CN" altLang="en-US" sz="2000" b="1" dirty="0">
                <a:latin typeface="楷体_GB2312" pitchFamily="49" charset="-122"/>
                <a:ea typeface="楷体_GB2312" pitchFamily="49" charset="-122"/>
              </a:rPr>
              <a:t>的参量，说明</a:t>
            </a:r>
            <a:r>
              <a:rPr kumimoji="0" lang="zh-CN" altLang="en-US" sz="2000" b="1" dirty="0">
                <a:highlight>
                  <a:srgbClr val="FFFF00"/>
                </a:highlight>
                <a:latin typeface="楷体_GB2312" pitchFamily="49" charset="-122"/>
                <a:ea typeface="楷体_GB2312" pitchFamily="49" charset="-122"/>
              </a:rPr>
              <a:t>光源和光纤之间的耦合效率</a:t>
            </a:r>
            <a:r>
              <a:rPr kumimoji="0" lang="zh-CN" altLang="en-US" sz="2000" b="1" dirty="0">
                <a:latin typeface="楷体_GB2312" pitchFamily="49" charset="-122"/>
                <a:ea typeface="楷体_GB2312" pitchFamily="49" charset="-122"/>
              </a:rPr>
              <a:t>。</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●当入射角</a:t>
            </a:r>
            <a:r>
              <a:rPr kumimoji="0" lang="el-GR" altLang="zh-CN" sz="2000" b="1" dirty="0">
                <a:latin typeface="楷体_GB2312" pitchFamily="49" charset="-122"/>
                <a:ea typeface="楷体_GB2312" pitchFamily="49" charset="-122"/>
              </a:rPr>
              <a:t>θ</a:t>
            </a:r>
            <a:r>
              <a:rPr kumimoji="0" lang="el-GR" altLang="zh-CN" sz="2000" b="1" baseline="-25000" dirty="0">
                <a:latin typeface="楷体_GB2312" pitchFamily="49" charset="-122"/>
                <a:ea typeface="楷体_GB2312" pitchFamily="49" charset="-122"/>
              </a:rPr>
              <a:t>0</a:t>
            </a:r>
            <a:r>
              <a:rPr kumimoji="0" lang="zh-CN" altLang="el-GR" sz="2000" b="1" dirty="0">
                <a:latin typeface="楷体_GB2312" pitchFamily="49" charset="-122"/>
                <a:ea typeface="楷体_GB2312" pitchFamily="49" charset="-122"/>
              </a:rPr>
              <a:t>大于</a:t>
            </a:r>
            <a:r>
              <a:rPr kumimoji="0" lang="el-GR" altLang="zh-CN" sz="2000" b="1" dirty="0"/>
              <a:t>θ</a:t>
            </a:r>
            <a:r>
              <a:rPr kumimoji="0" lang="en-US" altLang="zh-CN" sz="2000" b="1" dirty="0"/>
              <a:t>m</a:t>
            </a:r>
            <a:r>
              <a:rPr kumimoji="0" lang="zh-CN" altLang="el-GR" sz="2000" b="1" dirty="0">
                <a:latin typeface="楷体_GB2312" pitchFamily="49" charset="-122"/>
                <a:ea typeface="楷体_GB2312" pitchFamily="49" charset="-122"/>
              </a:rPr>
              <a:t>时，光线不能在光纤中传播而在包层内消失；</a:t>
            </a:r>
            <a:endParaRPr kumimoji="0" lang="en-US" altLang="zh-CN" sz="2000" b="1" dirty="0">
              <a:latin typeface="楷体_GB2312" pitchFamily="49" charset="-122"/>
              <a:ea typeface="楷体_GB2312" pitchFamily="49" charset="-122"/>
            </a:endParaRPr>
          </a:p>
          <a:p>
            <a:pPr eaLnBrk="1" hangingPunct="1">
              <a:spcBef>
                <a:spcPct val="0"/>
              </a:spcBef>
              <a:buFontTx/>
              <a:buNone/>
            </a:pPr>
            <a:r>
              <a:rPr kumimoji="0" lang="zh-CN" altLang="en-US" sz="2000" b="1" dirty="0">
                <a:latin typeface="楷体_GB2312" pitchFamily="49" charset="-122"/>
                <a:ea typeface="楷体_GB2312" pitchFamily="49" charset="-122"/>
              </a:rPr>
              <a:t>●只有当入射角</a:t>
            </a:r>
            <a:r>
              <a:rPr kumimoji="0" lang="el-GR" altLang="zh-CN" sz="2000" b="1" dirty="0">
                <a:latin typeface="楷体_GB2312" pitchFamily="49" charset="-122"/>
                <a:ea typeface="楷体_GB2312" pitchFamily="49" charset="-122"/>
              </a:rPr>
              <a:t>θ</a:t>
            </a:r>
            <a:r>
              <a:rPr kumimoji="0" lang="el-GR" altLang="zh-CN" sz="2000" b="1" baseline="-25000" dirty="0">
                <a:latin typeface="楷体_GB2312" pitchFamily="49" charset="-122"/>
                <a:ea typeface="楷体_GB2312" pitchFamily="49" charset="-122"/>
              </a:rPr>
              <a:t>0</a:t>
            </a:r>
            <a:r>
              <a:rPr kumimoji="0" lang="zh-CN" altLang="el-GR" sz="2000" b="1" dirty="0">
                <a:latin typeface="楷体_GB2312" pitchFamily="49" charset="-122"/>
                <a:ea typeface="楷体_GB2312" pitchFamily="49" charset="-122"/>
              </a:rPr>
              <a:t>小于</a:t>
            </a:r>
            <a:r>
              <a:rPr kumimoji="0" lang="el-GR" altLang="zh-CN" sz="2400" b="1" dirty="0"/>
              <a:t>θ</a:t>
            </a:r>
            <a:r>
              <a:rPr kumimoji="0" lang="en-US" altLang="zh-CN" sz="2000" b="1" baseline="-25000" dirty="0"/>
              <a:t>m</a:t>
            </a:r>
            <a:r>
              <a:rPr kumimoji="0" lang="zh-CN" altLang="el-GR" sz="2000" b="1" dirty="0">
                <a:latin typeface="楷体_GB2312" pitchFamily="49" charset="-122"/>
                <a:ea typeface="楷体_GB2312" pitchFamily="49" charset="-122"/>
              </a:rPr>
              <a:t>时，光线才能在光纤中传播。</a:t>
            </a:r>
          </a:p>
          <a:p>
            <a:pPr eaLnBrk="1" hangingPunct="1">
              <a:lnSpc>
                <a:spcPct val="150000"/>
              </a:lnSpc>
              <a:spcBef>
                <a:spcPct val="0"/>
              </a:spcBef>
              <a:buFontTx/>
              <a:buNone/>
            </a:pPr>
            <a:endParaRPr kumimoji="0" lang="zh-CN" altLang="zh-CN" sz="2000" baseline="-25000" dirty="0">
              <a:latin typeface="Arial" panose="020B0604020202020204" pitchFamily="34" charset="0"/>
            </a:endParaRPr>
          </a:p>
        </p:txBody>
      </p:sp>
      <p:sp>
        <p:nvSpPr>
          <p:cNvPr id="33797" name="Rectangle 5">
            <a:extLst>
              <a:ext uri="{FF2B5EF4-FFF2-40B4-BE49-F238E27FC236}">
                <a16:creationId xmlns:a16="http://schemas.microsoft.com/office/drawing/2014/main" id="{7C369F5A-EBD5-4DDC-8FA5-A9BB527BFDA3}"/>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cs typeface="Times New Roman" panose="02020603050405020304" pitchFamily="18" charset="0"/>
              </a:rPr>
              <a:t>：</a:t>
            </a:r>
            <a:endParaRPr kumimoji="0" lang="zh-CN" altLang="en-US" sz="1100">
              <a:latin typeface="Arial" panose="020B0604020202020204" pitchFamily="34" charset="0"/>
              <a:cs typeface="Times New Roman" panose="02020603050405020304" pitchFamily="18" charset="0"/>
            </a:endParaRPr>
          </a:p>
          <a:p>
            <a:pPr>
              <a:spcBef>
                <a:spcPct val="0"/>
              </a:spcBef>
              <a:buFontTx/>
              <a:buNone/>
            </a:pPr>
            <a:endParaRPr kumimoji="0" lang="en-US" altLang="zh-CN" sz="1800">
              <a:latin typeface="Arial" panose="020B0604020202020204" pitchFamily="34" charset="0"/>
              <a:cs typeface="Times New Roman" panose="02020603050405020304" pitchFamily="18" charset="0"/>
            </a:endParaRPr>
          </a:p>
        </p:txBody>
      </p:sp>
      <p:sp>
        <p:nvSpPr>
          <p:cNvPr id="33798" name="Rectangle 6">
            <a:extLst>
              <a:ext uri="{FF2B5EF4-FFF2-40B4-BE49-F238E27FC236}">
                <a16:creationId xmlns:a16="http://schemas.microsoft.com/office/drawing/2014/main" id="{AAEA71F4-A4B8-48CA-A772-DB2BD2C18ED7}"/>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pic>
        <p:nvPicPr>
          <p:cNvPr id="33799" name="Picture 7">
            <a:extLst>
              <a:ext uri="{FF2B5EF4-FFF2-40B4-BE49-F238E27FC236}">
                <a16:creationId xmlns:a16="http://schemas.microsoft.com/office/drawing/2014/main" id="{CC461908-6A50-4B6C-B8E0-F1739B7943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3531" y="4143374"/>
            <a:ext cx="5976938"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3800" name="Object 8">
            <a:extLst>
              <a:ext uri="{FF2B5EF4-FFF2-40B4-BE49-F238E27FC236}">
                <a16:creationId xmlns:a16="http://schemas.microsoft.com/office/drawing/2014/main" id="{E2BBCAC7-1D73-444C-84BF-F29B832A55E4}"/>
              </a:ext>
            </a:extLst>
          </p:cNvPr>
          <p:cNvGraphicFramePr>
            <a:graphicFrameLocks noGrp="1" noChangeAspect="1"/>
          </p:cNvGraphicFramePr>
          <p:nvPr>
            <p:ph/>
            <p:extLst>
              <p:ext uri="{D42A27DB-BD31-4B8C-83A1-F6EECF244321}">
                <p14:modId xmlns:p14="http://schemas.microsoft.com/office/powerpoint/2010/main" val="1270763566"/>
              </p:ext>
            </p:extLst>
          </p:nvPr>
        </p:nvGraphicFramePr>
        <p:xfrm>
          <a:off x="1061978" y="1577298"/>
          <a:ext cx="2255837" cy="700087"/>
        </p:xfrm>
        <a:graphic>
          <a:graphicData uri="http://schemas.openxmlformats.org/presentationml/2006/ole">
            <mc:AlternateContent xmlns:mc="http://schemas.openxmlformats.org/markup-compatibility/2006">
              <mc:Choice xmlns:v="urn:schemas-microsoft-com:vml" Requires="v">
                <p:oleObj spid="_x0000_s33823" name="公式" r:id="rId4" imgW="736600" imgH="228600" progId="Equation.3">
                  <p:embed/>
                </p:oleObj>
              </mc:Choice>
              <mc:Fallback>
                <p:oleObj name="公式" r:id="rId4" imgW="736600" imgH="2286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1978" y="1577298"/>
                        <a:ext cx="2255837" cy="700087"/>
                      </a:xfrm>
                      <a:prstGeom prst="rect">
                        <a:avLst/>
                      </a:prstGeom>
                      <a:noFill/>
                      <a:ln w="12700">
                        <a:solidFill>
                          <a:srgbClr val="FF66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3801" name="Picture 9" descr="3-9">
            <a:extLst>
              <a:ext uri="{FF2B5EF4-FFF2-40B4-BE49-F238E27FC236}">
                <a16:creationId xmlns:a16="http://schemas.microsoft.com/office/drawing/2014/main" id="{87B136A9-796D-4279-AC77-57057C3C43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48150" y="825500"/>
            <a:ext cx="4824413"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6884">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688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688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CDC6F02-7C72-46B4-BC18-302662C08F4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4819" name="Rectangle 3">
            <a:extLst>
              <a:ext uri="{FF2B5EF4-FFF2-40B4-BE49-F238E27FC236}">
                <a16:creationId xmlns:a16="http://schemas.microsoft.com/office/drawing/2014/main" id="{01C03F8C-371A-4242-9580-86A74A89F6D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4820" name="Rectangle 4">
            <a:extLst>
              <a:ext uri="{FF2B5EF4-FFF2-40B4-BE49-F238E27FC236}">
                <a16:creationId xmlns:a16="http://schemas.microsoft.com/office/drawing/2014/main" id="{A31EDC49-B5AA-4CC9-B57D-01EF1622B642}"/>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cs typeface="Times New Roman" panose="02020603050405020304" pitchFamily="18" charset="0"/>
              </a:rPr>
              <a:t>：</a:t>
            </a:r>
            <a:endParaRPr kumimoji="0" lang="zh-CN" altLang="en-US" sz="1100">
              <a:latin typeface="Arial" panose="020B0604020202020204" pitchFamily="34" charset="0"/>
              <a:cs typeface="Times New Roman" panose="02020603050405020304" pitchFamily="18" charset="0"/>
            </a:endParaRPr>
          </a:p>
          <a:p>
            <a:pPr>
              <a:spcBef>
                <a:spcPct val="0"/>
              </a:spcBef>
              <a:buFontTx/>
              <a:buNone/>
            </a:pPr>
            <a:endParaRPr kumimoji="0" lang="en-US" altLang="zh-CN" sz="1800">
              <a:latin typeface="Arial" panose="020B0604020202020204" pitchFamily="34" charset="0"/>
              <a:cs typeface="Times New Roman" panose="02020603050405020304" pitchFamily="18" charset="0"/>
            </a:endParaRPr>
          </a:p>
        </p:txBody>
      </p:sp>
      <p:sp>
        <p:nvSpPr>
          <p:cNvPr id="34821" name="Rectangle 5">
            <a:extLst>
              <a:ext uri="{FF2B5EF4-FFF2-40B4-BE49-F238E27FC236}">
                <a16:creationId xmlns:a16="http://schemas.microsoft.com/office/drawing/2014/main" id="{5FA4E9B5-77E1-43C3-BD8E-004B4C14768B}"/>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4824" name="Rectangle 8">
            <a:extLst>
              <a:ext uri="{FF2B5EF4-FFF2-40B4-BE49-F238E27FC236}">
                <a16:creationId xmlns:a16="http://schemas.microsoft.com/office/drawing/2014/main" id="{92B514DE-7BF0-4B78-AEF3-4D24535C85D0}"/>
              </a:ext>
            </a:extLst>
          </p:cNvPr>
          <p:cNvSpPr>
            <a:spLocks noChangeArrowheads="1"/>
          </p:cNvSpPr>
          <p:nvPr/>
        </p:nvSpPr>
        <p:spPr bwMode="auto">
          <a:xfrm>
            <a:off x="5724525" y="4005263"/>
            <a:ext cx="2597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latin typeface="楷体_GB2312" pitchFamily="49" charset="-122"/>
                <a:ea typeface="楷体_GB2312" pitchFamily="49" charset="-122"/>
              </a:rPr>
              <a:t>阶跃光纤的数值孔径 </a:t>
            </a:r>
          </a:p>
        </p:txBody>
      </p:sp>
      <p:sp>
        <p:nvSpPr>
          <p:cNvPr id="34825" name="Rectangle 10">
            <a:extLst>
              <a:ext uri="{FF2B5EF4-FFF2-40B4-BE49-F238E27FC236}">
                <a16:creationId xmlns:a16="http://schemas.microsoft.com/office/drawing/2014/main" id="{DF888810-3BD5-4C5C-AF64-0A88B8C352A8}"/>
              </a:ext>
            </a:extLst>
          </p:cNvPr>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aphicFrame>
        <p:nvGraphicFramePr>
          <p:cNvPr id="34826" name="Object 9">
            <a:extLst>
              <a:ext uri="{FF2B5EF4-FFF2-40B4-BE49-F238E27FC236}">
                <a16:creationId xmlns:a16="http://schemas.microsoft.com/office/drawing/2014/main" id="{BDA20455-14F1-4AE4-B019-6C87575BD0A7}"/>
              </a:ext>
            </a:extLst>
          </p:cNvPr>
          <p:cNvGraphicFramePr>
            <a:graphicFrameLocks noChangeAspect="1"/>
          </p:cNvGraphicFramePr>
          <p:nvPr/>
        </p:nvGraphicFramePr>
        <p:xfrm>
          <a:off x="971550" y="476250"/>
          <a:ext cx="2447925" cy="757238"/>
        </p:xfrm>
        <a:graphic>
          <a:graphicData uri="http://schemas.openxmlformats.org/presentationml/2006/ole">
            <mc:AlternateContent xmlns:mc="http://schemas.openxmlformats.org/markup-compatibility/2006">
              <mc:Choice xmlns:v="urn:schemas-microsoft-com:vml" Requires="v">
                <p:oleObj spid="_x0000_s34918" name="公式" r:id="rId3" imgW="1447172" imgH="444307" progId="Equation.3">
                  <p:embed/>
                </p:oleObj>
              </mc:Choice>
              <mc:Fallback>
                <p:oleObj name="公式" r:id="rId3" imgW="1447172" imgH="444307"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476250"/>
                        <a:ext cx="2447925"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7" name="Rectangle 11">
            <a:extLst>
              <a:ext uri="{FF2B5EF4-FFF2-40B4-BE49-F238E27FC236}">
                <a16:creationId xmlns:a16="http://schemas.microsoft.com/office/drawing/2014/main" id="{A50DCD6E-6424-418E-B432-DAA31D7841E6}"/>
              </a:ext>
            </a:extLst>
          </p:cNvPr>
          <p:cNvSpPr>
            <a:spLocks noChangeArrowheads="1"/>
          </p:cNvSpPr>
          <p:nvPr/>
        </p:nvSpPr>
        <p:spPr bwMode="auto">
          <a:xfrm>
            <a:off x="347163" y="1335439"/>
            <a:ext cx="433863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latin typeface="楷体_GB2312" pitchFamily="49" charset="-122"/>
                <a:ea typeface="楷体_GB2312" pitchFamily="49" charset="-122"/>
              </a:rPr>
              <a:t>而光是由折射率为 </a:t>
            </a:r>
            <a:r>
              <a:rPr lang="en-US" altLang="zh-CN" sz="2400" b="1" dirty="0">
                <a:latin typeface="楷体_GB2312" pitchFamily="49" charset="-122"/>
                <a:ea typeface="楷体_GB2312" pitchFamily="49" charset="-122"/>
              </a:rPr>
              <a:t>n</a:t>
            </a:r>
            <a:r>
              <a:rPr lang="en-US" altLang="zh-CN" sz="2000" b="1" baseline="-25000" dirty="0">
                <a:latin typeface="楷体_GB2312" pitchFamily="49" charset="-122"/>
                <a:ea typeface="楷体_GB2312" pitchFamily="49" charset="-122"/>
              </a:rPr>
              <a:t>0 </a:t>
            </a:r>
            <a:r>
              <a:rPr lang="zh-CN" altLang="en-US" sz="2000" b="1" dirty="0">
                <a:latin typeface="楷体_GB2312" pitchFamily="49" charset="-122"/>
                <a:ea typeface="楷体_GB2312" pitchFamily="49" charset="-122"/>
              </a:rPr>
              <a:t>的空气中入射的，根据折射定律可得： </a:t>
            </a:r>
          </a:p>
        </p:txBody>
      </p:sp>
      <p:sp>
        <p:nvSpPr>
          <p:cNvPr id="34828" name="Rectangle 13">
            <a:extLst>
              <a:ext uri="{FF2B5EF4-FFF2-40B4-BE49-F238E27FC236}">
                <a16:creationId xmlns:a16="http://schemas.microsoft.com/office/drawing/2014/main" id="{392FFCDE-D33E-410C-87A5-511F66A8129F}"/>
              </a:ext>
            </a:extLst>
          </p:cNvPr>
          <p:cNvSpPr>
            <a:spLocks noChangeArrowheads="1"/>
          </p:cNvSpPr>
          <p:nvPr/>
        </p:nvSpPr>
        <p:spPr bwMode="auto">
          <a:xfrm>
            <a:off x="0" y="3128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aphicFrame>
        <p:nvGraphicFramePr>
          <p:cNvPr id="34829" name="Object 12">
            <a:extLst>
              <a:ext uri="{FF2B5EF4-FFF2-40B4-BE49-F238E27FC236}">
                <a16:creationId xmlns:a16="http://schemas.microsoft.com/office/drawing/2014/main" id="{AA5B91EF-26F3-4EB2-B61C-DA39389149DD}"/>
              </a:ext>
            </a:extLst>
          </p:cNvPr>
          <p:cNvGraphicFramePr>
            <a:graphicFrameLocks noChangeAspect="1"/>
          </p:cNvGraphicFramePr>
          <p:nvPr/>
        </p:nvGraphicFramePr>
        <p:xfrm>
          <a:off x="1187450" y="2349500"/>
          <a:ext cx="1790700" cy="939800"/>
        </p:xfrm>
        <a:graphic>
          <a:graphicData uri="http://schemas.openxmlformats.org/presentationml/2006/ole">
            <mc:AlternateContent xmlns:mc="http://schemas.openxmlformats.org/markup-compatibility/2006">
              <mc:Choice xmlns:v="urn:schemas-microsoft-com:vml" Requires="v">
                <p:oleObj spid="_x0000_s34919" name="公式" r:id="rId5" imgW="1143000" imgH="596900" progId="Equation.3">
                  <p:embed/>
                </p:oleObj>
              </mc:Choice>
              <mc:Fallback>
                <p:oleObj name="公式" r:id="rId5" imgW="1143000" imgH="5969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2349500"/>
                        <a:ext cx="17907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30" name="Rectangle 14">
            <a:extLst>
              <a:ext uri="{FF2B5EF4-FFF2-40B4-BE49-F238E27FC236}">
                <a16:creationId xmlns:a16="http://schemas.microsoft.com/office/drawing/2014/main" id="{34FA83CC-263E-4443-9F2D-3AD82B566F09}"/>
              </a:ext>
            </a:extLst>
          </p:cNvPr>
          <p:cNvSpPr>
            <a:spLocks noChangeArrowheads="1"/>
          </p:cNvSpPr>
          <p:nvPr/>
        </p:nvSpPr>
        <p:spPr bwMode="auto">
          <a:xfrm>
            <a:off x="539750" y="3396606"/>
            <a:ext cx="16898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latin typeface="楷体_GB2312" pitchFamily="49" charset="-122"/>
                <a:ea typeface="楷体_GB2312" pitchFamily="49" charset="-122"/>
              </a:rPr>
              <a:t>令 </a:t>
            </a:r>
            <a:r>
              <a:rPr lang="en-US" altLang="zh-CN" sz="2400" b="1" dirty="0">
                <a:latin typeface="楷体_GB2312" pitchFamily="49" charset="-122"/>
                <a:ea typeface="楷体_GB2312" pitchFamily="49" charset="-122"/>
              </a:rPr>
              <a:t>n</a:t>
            </a:r>
            <a:r>
              <a:rPr lang="en-US" altLang="zh-CN" sz="2000" b="1" baseline="-25000" dirty="0">
                <a:latin typeface="楷体_GB2312" pitchFamily="49" charset="-122"/>
                <a:ea typeface="楷体_GB2312" pitchFamily="49" charset="-122"/>
              </a:rPr>
              <a:t>0</a:t>
            </a: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，则</a:t>
            </a:r>
          </a:p>
        </p:txBody>
      </p:sp>
      <p:sp>
        <p:nvSpPr>
          <p:cNvPr id="34831" name="Rectangle 16">
            <a:extLst>
              <a:ext uri="{FF2B5EF4-FFF2-40B4-BE49-F238E27FC236}">
                <a16:creationId xmlns:a16="http://schemas.microsoft.com/office/drawing/2014/main" id="{30F8528A-7A5B-4B52-9EC5-20C4E92FB892}"/>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aphicFrame>
        <p:nvGraphicFramePr>
          <p:cNvPr id="34832" name="Object 15">
            <a:extLst>
              <a:ext uri="{FF2B5EF4-FFF2-40B4-BE49-F238E27FC236}">
                <a16:creationId xmlns:a16="http://schemas.microsoft.com/office/drawing/2014/main" id="{FA9509E2-E276-4ADF-8727-0AEF1FF66EFD}"/>
              </a:ext>
            </a:extLst>
          </p:cNvPr>
          <p:cNvGraphicFramePr>
            <a:graphicFrameLocks noChangeAspect="1"/>
          </p:cNvGraphicFramePr>
          <p:nvPr/>
        </p:nvGraphicFramePr>
        <p:xfrm>
          <a:off x="1116013" y="3933825"/>
          <a:ext cx="4032250" cy="619125"/>
        </p:xfrm>
        <a:graphic>
          <a:graphicData uri="http://schemas.openxmlformats.org/presentationml/2006/ole">
            <mc:AlternateContent xmlns:mc="http://schemas.openxmlformats.org/markup-compatibility/2006">
              <mc:Choice xmlns:v="urn:schemas-microsoft-com:vml" Requires="v">
                <p:oleObj spid="_x0000_s34920" name="公式" r:id="rId7" imgW="2540000" imgH="393700" progId="Equation.3">
                  <p:embed/>
                </p:oleObj>
              </mc:Choice>
              <mc:Fallback>
                <p:oleObj name="公式" r:id="rId7" imgW="2540000" imgH="39370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3" y="3933825"/>
                        <a:ext cx="40322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33" name="Rectangle 18">
            <a:extLst>
              <a:ext uri="{FF2B5EF4-FFF2-40B4-BE49-F238E27FC236}">
                <a16:creationId xmlns:a16="http://schemas.microsoft.com/office/drawing/2014/main" id="{8D4ED51F-3B32-4FEF-93DB-578DAD430DAC}"/>
              </a:ext>
            </a:extLst>
          </p:cNvPr>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mc:AlternateContent xmlns:mc="http://schemas.openxmlformats.org/markup-compatibility/2006" xmlns:a14="http://schemas.microsoft.com/office/drawing/2010/main">
        <mc:Choice Requires="a14">
          <p:sp>
            <p:nvSpPr>
              <p:cNvPr id="34834" name="Object 17">
                <a:extLst>
                  <a:ext uri="{FF2B5EF4-FFF2-40B4-BE49-F238E27FC236}">
                    <a16:creationId xmlns:a16="http://schemas.microsoft.com/office/drawing/2014/main" id="{814301EC-2B93-44D5-B5FA-16957AEDE813}"/>
                  </a:ext>
                </a:extLst>
              </p:cNvPr>
              <p:cNvSpPr txBox="1"/>
              <p:nvPr/>
            </p:nvSpPr>
            <p:spPr bwMode="auto">
              <a:xfrm>
                <a:off x="1062037" y="4605538"/>
                <a:ext cx="3941763" cy="735013"/>
              </a:xfrm>
              <a:prstGeom prst="rect">
                <a:avLst/>
              </a:prstGeom>
              <a:noFill/>
              <a:ln>
                <a:noFill/>
              </a:ln>
              <a:extLst/>
            </p:spPr>
            <p:txBody>
              <a:bodyPr>
                <a:noAutofit/>
              </a:bodyPr>
              <a:lstStyle/>
              <a:p>
                <a:pPr/>
                <a14:m>
                  <m:oMathPara xmlns:m="http://schemas.openxmlformats.org/officeDocument/2006/math">
                    <m:oMathParaPr>
                      <m:jc m:val="centerGroup"/>
                    </m:oMathParaPr>
                    <m:oMath xmlns:m="http://schemas.openxmlformats.org/officeDocument/2006/math">
                      <m:r>
                        <a:rPr lang="zh-CN" altLang="en-US"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1−(</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den>
                          </m:f>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e>
                      </m:rad>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r>
                            <m:rPr>
                              <m:sty m:val="p"/>
                            </m:rPr>
                            <a:rPr lang="zh-CN" altLang="en-US" i="1">
                              <a:solidFill>
                                <a:srgbClr val="000000"/>
                              </a:solidFill>
                              <a:latin typeface="Cambria Math" panose="02040503050406030204" pitchFamily="18" charset="0"/>
                            </a:rPr>
                            <m:t>Δ</m:t>
                          </m:r>
                        </m:e>
                      </m:ra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𝑁𝐴</m:t>
                      </m:r>
                    </m:oMath>
                  </m:oMathPara>
                </a14:m>
                <a:endParaRPr lang="zh-CN" altLang="en-US" dirty="0"/>
              </a:p>
            </p:txBody>
          </p:sp>
        </mc:Choice>
        <mc:Fallback xmlns="">
          <p:sp>
            <p:nvSpPr>
              <p:cNvPr id="34834" name="Object 17">
                <a:extLst>
                  <a:ext uri="{FF2B5EF4-FFF2-40B4-BE49-F238E27FC236}">
                    <a16:creationId xmlns:a16="http://schemas.microsoft.com/office/drawing/2014/main" id="{814301EC-2B93-44D5-B5FA-16957AEDE813}"/>
                  </a:ext>
                </a:extLst>
              </p:cNvPr>
              <p:cNvSpPr txBox="1">
                <a:spLocks noRot="1" noChangeAspect="1" noMove="1" noResize="1" noEditPoints="1" noAdjustHandles="1" noChangeArrowheads="1" noChangeShapeType="1" noTextEdit="1"/>
              </p:cNvSpPr>
              <p:nvPr/>
            </p:nvSpPr>
            <p:spPr bwMode="auto">
              <a:xfrm>
                <a:off x="1062037" y="4605538"/>
                <a:ext cx="3941763" cy="735013"/>
              </a:xfrm>
              <a:prstGeom prst="rect">
                <a:avLst/>
              </a:prstGeom>
              <a:blipFill>
                <a:blip r:embed="rId11"/>
                <a:stretch>
                  <a:fillRect b="-30000"/>
                </a:stretch>
              </a:blipFill>
              <a:ln>
                <a:noFill/>
              </a:ln>
              <a:extLst/>
            </p:spPr>
            <p:txBody>
              <a:bodyPr/>
              <a:lstStyle/>
              <a:p>
                <a:r>
                  <a:rPr lang="zh-CN" altLang="en-US">
                    <a:noFill/>
                  </a:rPr>
                  <a:t> </a:t>
                </a:r>
              </a:p>
            </p:txBody>
          </p:sp>
        </mc:Fallback>
      </mc:AlternateContent>
      <p:sp>
        <p:nvSpPr>
          <p:cNvPr id="34835" name="Rectangle 20">
            <a:extLst>
              <a:ext uri="{FF2B5EF4-FFF2-40B4-BE49-F238E27FC236}">
                <a16:creationId xmlns:a16="http://schemas.microsoft.com/office/drawing/2014/main" id="{A9E282F4-F43E-4F8C-8F72-0BC9BFC7BE26}"/>
              </a:ext>
            </a:extLst>
          </p:cNvPr>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mc:AlternateContent xmlns:mc="http://schemas.openxmlformats.org/markup-compatibility/2006" xmlns:a14="http://schemas.microsoft.com/office/drawing/2010/main">
        <mc:Choice Requires="a14">
          <p:sp>
            <p:nvSpPr>
              <p:cNvPr id="34836" name="Object 19">
                <a:extLst>
                  <a:ext uri="{FF2B5EF4-FFF2-40B4-BE49-F238E27FC236}">
                    <a16:creationId xmlns:a16="http://schemas.microsoft.com/office/drawing/2014/main" id="{DC688C99-4F1A-47E5-80EA-E745155C4B2D}"/>
                  </a:ext>
                </a:extLst>
              </p:cNvPr>
              <p:cNvSpPr txBox="1"/>
              <p:nvPr/>
            </p:nvSpPr>
            <p:spPr bwMode="auto">
              <a:xfrm>
                <a:off x="1403350" y="5873750"/>
                <a:ext cx="2304554" cy="514350"/>
              </a:xfrm>
              <a:prstGeom prst="rect">
                <a:avLst/>
              </a:prstGeom>
              <a:noFill/>
              <a:ln>
                <a:noFill/>
              </a:ln>
              <a:extLst/>
            </p:spPr>
            <p:txBody>
              <a:bodyPr>
                <a:noAutofit/>
              </a:bodyPr>
              <a:lstStyle/>
              <a:p>
                <a:pPr/>
                <a14:m>
                  <m:oMathPara xmlns:m="http://schemas.openxmlformats.org/officeDocument/2006/math">
                    <m:oMathParaPr>
                      <m:jc m:val="centerGroup"/>
                    </m:oMathParaPr>
                    <m:oMath xmlns:m="http://schemas.openxmlformats.org/officeDocument/2006/math">
                      <m:r>
                        <m:rPr>
                          <m:sty m:val="p"/>
                        </m:rPr>
                        <a:rPr lang="zh-CN" altLang="en-US" sz="2400" i="1">
                          <a:solidFill>
                            <a:srgbClr val="000000"/>
                          </a:solidFill>
                          <a:latin typeface="Cambria Math" panose="02040503050406030204" pitchFamily="18" charset="0"/>
                        </a:rPr>
                        <m:t>Δ</m:t>
                      </m:r>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𝑛</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𝑛</m:t>
                              </m:r>
                            </m:e>
                            <m:sub>
                              <m:r>
                                <a:rPr lang="zh-CN" altLang="en-US" sz="2400" i="1">
                                  <a:solidFill>
                                    <a:srgbClr val="000000"/>
                                  </a:solidFill>
                                  <a:latin typeface="Cambria Math" panose="02040503050406030204" pitchFamily="18" charset="0"/>
                                </a:rPr>
                                <m:t>2</m:t>
                              </m:r>
                            </m:sub>
                          </m:sSub>
                        </m:num>
                        <m:den>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𝑛</m:t>
                              </m:r>
                            </m:e>
                            <m:sub>
                              <m:r>
                                <a:rPr lang="zh-CN" altLang="en-US" sz="2400" i="1">
                                  <a:solidFill>
                                    <a:srgbClr val="000000"/>
                                  </a:solidFill>
                                  <a:latin typeface="Cambria Math" panose="02040503050406030204" pitchFamily="18" charset="0"/>
                                </a:rPr>
                                <m:t>1</m:t>
                              </m:r>
                            </m:sub>
                          </m:sSub>
                        </m:den>
                      </m:f>
                    </m:oMath>
                  </m:oMathPara>
                </a14:m>
                <a:endParaRPr lang="zh-CN" altLang="en-US" sz="2400" dirty="0"/>
              </a:p>
            </p:txBody>
          </p:sp>
        </mc:Choice>
        <mc:Fallback xmlns="">
          <p:sp>
            <p:nvSpPr>
              <p:cNvPr id="34836" name="Object 19">
                <a:extLst>
                  <a:ext uri="{FF2B5EF4-FFF2-40B4-BE49-F238E27FC236}">
                    <a16:creationId xmlns:a16="http://schemas.microsoft.com/office/drawing/2014/main" id="{DC688C99-4F1A-47E5-80EA-E745155C4B2D}"/>
                  </a:ext>
                </a:extLst>
              </p:cNvPr>
              <p:cNvSpPr txBox="1">
                <a:spLocks noRot="1" noChangeAspect="1" noMove="1" noResize="1" noEditPoints="1" noAdjustHandles="1" noChangeArrowheads="1" noChangeShapeType="1" noTextEdit="1"/>
              </p:cNvSpPr>
              <p:nvPr/>
            </p:nvSpPr>
            <p:spPr bwMode="auto">
              <a:xfrm>
                <a:off x="1403350" y="5873750"/>
                <a:ext cx="2304554" cy="514350"/>
              </a:xfrm>
              <a:prstGeom prst="rect">
                <a:avLst/>
              </a:prstGeom>
              <a:blipFill>
                <a:blip r:embed="rId12"/>
                <a:stretch>
                  <a:fillRect b="-42857"/>
                </a:stretch>
              </a:blipFill>
              <a:ln>
                <a:noFill/>
              </a:ln>
              <a:extLst/>
            </p:spPr>
            <p:txBody>
              <a:bodyPr/>
              <a:lstStyle/>
              <a:p>
                <a:r>
                  <a:rPr lang="zh-CN" altLang="en-US">
                    <a:noFill/>
                  </a:rPr>
                  <a:t> </a:t>
                </a:r>
              </a:p>
            </p:txBody>
          </p:sp>
        </mc:Fallback>
      </mc:AlternateContent>
      <p:sp>
        <p:nvSpPr>
          <p:cNvPr id="34837" name="Rectangle 22">
            <a:extLst>
              <a:ext uri="{FF2B5EF4-FFF2-40B4-BE49-F238E27FC236}">
                <a16:creationId xmlns:a16="http://schemas.microsoft.com/office/drawing/2014/main" id="{2EABA547-C200-4FFA-B27D-711767481531}"/>
              </a:ext>
            </a:extLst>
          </p:cNvPr>
          <p:cNvSpPr>
            <a:spLocks noChangeArrowheads="1"/>
          </p:cNvSpPr>
          <p:nvPr/>
        </p:nvSpPr>
        <p:spPr bwMode="auto">
          <a:xfrm>
            <a:off x="755427" y="5873751"/>
            <a:ext cx="792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a:t>其中</a:t>
            </a:r>
          </a:p>
        </p:txBody>
      </p:sp>
      <p:sp>
        <p:nvSpPr>
          <p:cNvPr id="34838" name="Rectangle 23">
            <a:extLst>
              <a:ext uri="{FF2B5EF4-FFF2-40B4-BE49-F238E27FC236}">
                <a16:creationId xmlns:a16="http://schemas.microsoft.com/office/drawing/2014/main" id="{1AA51780-9B5B-4320-B6AB-8CB0FB6E0462}"/>
              </a:ext>
            </a:extLst>
          </p:cNvPr>
          <p:cNvSpPr>
            <a:spLocks noChangeArrowheads="1"/>
          </p:cNvSpPr>
          <p:nvPr/>
        </p:nvSpPr>
        <p:spPr bwMode="auto">
          <a:xfrm>
            <a:off x="3707904" y="5660819"/>
            <a:ext cx="612068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ym typeface="Symbol" panose="05050102010706020507" pitchFamily="18" charset="2"/>
              </a:rPr>
              <a:t>       </a:t>
            </a:r>
            <a:r>
              <a:rPr lang="zh-CN" altLang="en-US" sz="2000" b="1" dirty="0"/>
              <a:t>称为光纤的相对折射率差</a:t>
            </a:r>
            <a:endParaRPr lang="en-US" altLang="zh-CN" sz="2000" b="1" dirty="0"/>
          </a:p>
          <a:p>
            <a:pPr eaLnBrk="1" hangingPunct="1">
              <a:spcBef>
                <a:spcPct val="0"/>
              </a:spcBef>
              <a:buFontTx/>
              <a:buNone/>
            </a:pPr>
            <a:r>
              <a:rPr lang="zh-CN" altLang="en-US" sz="2000" b="1" dirty="0">
                <a:solidFill>
                  <a:srgbClr val="00B0F0"/>
                </a:solidFill>
              </a:rPr>
              <a:t>结论：数值孔径</a:t>
            </a:r>
            <a:r>
              <a:rPr lang="en-US" altLang="zh-CN" sz="2000" b="1" dirty="0">
                <a:solidFill>
                  <a:srgbClr val="00B0F0"/>
                </a:solidFill>
              </a:rPr>
              <a:t>NA</a:t>
            </a:r>
            <a:r>
              <a:rPr lang="zh-CN" altLang="en-US" sz="2000" b="1" dirty="0">
                <a:solidFill>
                  <a:srgbClr val="00B0F0"/>
                </a:solidFill>
              </a:rPr>
              <a:t>与纤芯和包层</a:t>
            </a:r>
            <a:endParaRPr lang="en-US" altLang="zh-CN" sz="2000" b="1" dirty="0">
              <a:solidFill>
                <a:srgbClr val="00B0F0"/>
              </a:solidFill>
            </a:endParaRPr>
          </a:p>
          <a:p>
            <a:pPr eaLnBrk="1" hangingPunct="1">
              <a:spcBef>
                <a:spcPct val="0"/>
              </a:spcBef>
              <a:buFontTx/>
              <a:buNone/>
            </a:pPr>
            <a:r>
              <a:rPr lang="en-US" altLang="zh-CN" sz="2000" b="1" dirty="0">
                <a:solidFill>
                  <a:srgbClr val="00B0F0"/>
                </a:solidFill>
              </a:rPr>
              <a:t>            </a:t>
            </a:r>
            <a:r>
              <a:rPr lang="zh-CN" altLang="en-US" sz="2000" b="1" dirty="0">
                <a:solidFill>
                  <a:srgbClr val="00B0F0"/>
                </a:solidFill>
              </a:rPr>
              <a:t>材料的折射率有关</a:t>
            </a:r>
            <a:endParaRPr lang="en-US" altLang="zh-CN" sz="2000" b="1" dirty="0">
              <a:solidFill>
                <a:srgbClr val="00B0F0"/>
              </a:solidFill>
            </a:endParaRPr>
          </a:p>
          <a:p>
            <a:pPr eaLnBrk="1" hangingPunct="1">
              <a:spcBef>
                <a:spcPct val="0"/>
              </a:spcBef>
              <a:buFontTx/>
              <a:buNone/>
            </a:pPr>
            <a:endParaRPr lang="zh-CN" altLang="en-US" sz="2000" b="1" dirty="0"/>
          </a:p>
        </p:txBody>
      </p:sp>
      <mc:AlternateContent xmlns:mc="http://schemas.openxmlformats.org/markup-compatibility/2006" xmlns:a14="http://schemas.microsoft.com/office/drawing/2010/main">
        <mc:Choice Requires="a14">
          <p:sp>
            <p:nvSpPr>
              <p:cNvPr id="34839" name="Object 24">
                <a:extLst>
                  <a:ext uri="{FF2B5EF4-FFF2-40B4-BE49-F238E27FC236}">
                    <a16:creationId xmlns:a16="http://schemas.microsoft.com/office/drawing/2014/main" id="{81AAD3D6-007A-4A4F-99F7-916EDEB3E9C5}"/>
                  </a:ext>
                </a:extLst>
              </p:cNvPr>
              <p:cNvSpPr txBox="1">
                <a:spLocks noGrp="1"/>
              </p:cNvSpPr>
              <p:nvPr>
                <p:ph/>
              </p:nvPr>
            </p:nvSpPr>
            <p:spPr bwMode="auto">
              <a:xfrm>
                <a:off x="5793991" y="4919491"/>
                <a:ext cx="2458218" cy="617537"/>
              </a:xfrm>
              <a:prstGeom prst="rect">
                <a:avLst/>
              </a:prstGeom>
              <a:noFill/>
              <a:ln>
                <a:noFill/>
              </a:ln>
              <a:effectLst/>
              <a:extLst/>
            </p:spPr>
            <p:txBody>
              <a:bodyPr>
                <a:noAutofit/>
              </a:bodyPr>
              <a:lstStyle/>
              <a:p>
                <a:pPr>
                  <a:buNone/>
                </a:pPr>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𝑛</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𝑛</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34839" name="Object 24">
                <a:extLst>
                  <a:ext uri="{FF2B5EF4-FFF2-40B4-BE49-F238E27FC236}">
                    <a16:creationId xmlns:a16="http://schemas.microsoft.com/office/drawing/2014/main" id="{81AAD3D6-007A-4A4F-99F7-916EDEB3E9C5}"/>
                  </a:ext>
                </a:extLst>
              </p:cNvPr>
              <p:cNvSpPr txBox="1">
                <a:spLocks noRot="1" noChangeAspect="1" noMove="1" noResize="1" noEditPoints="1" noAdjustHandles="1" noChangeArrowheads="1" noChangeShapeType="1" noTextEdit="1"/>
              </p:cNvSpPr>
              <p:nvPr>
                <p:ph/>
              </p:nvPr>
            </p:nvSpPr>
            <p:spPr bwMode="auto">
              <a:xfrm>
                <a:off x="5793991" y="4919491"/>
                <a:ext cx="2458218" cy="617537"/>
              </a:xfrm>
              <a:prstGeom prst="rect">
                <a:avLst/>
              </a:prstGeom>
              <a:blipFill>
                <a:blip r:embed="rId13"/>
                <a:stretch>
                  <a:fillRect/>
                </a:stretch>
              </a:blipFill>
              <a:ln>
                <a:noFill/>
              </a:ln>
              <a:effectLst/>
              <a:extLst/>
            </p:spPr>
            <p:txBody>
              <a:bodyPr/>
              <a:lstStyle/>
              <a:p>
                <a:r>
                  <a:rPr lang="zh-CN" altLang="en-US">
                    <a:noFill/>
                  </a:rPr>
                  <a:t> </a:t>
                </a:r>
              </a:p>
            </p:txBody>
          </p:sp>
        </mc:Fallback>
      </mc:AlternateContent>
      <p:pic>
        <p:nvPicPr>
          <p:cNvPr id="24" name="Picture 6">
            <a:extLst>
              <a:ext uri="{FF2B5EF4-FFF2-40B4-BE49-F238E27FC236}">
                <a16:creationId xmlns:a16="http://schemas.microsoft.com/office/drawing/2014/main" id="{468E5FD9-8CFA-4684-8673-4111BB9271D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32963" y="61119"/>
            <a:ext cx="3889375"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7" descr="3-5">
            <a:extLst>
              <a:ext uri="{FF2B5EF4-FFF2-40B4-BE49-F238E27FC236}">
                <a16:creationId xmlns:a16="http://schemas.microsoft.com/office/drawing/2014/main" id="{E69ABD6F-20A4-44E5-91E2-CCBB4C9A466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95936" y="2369071"/>
            <a:ext cx="4897239" cy="1570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8A9A4E53-4F4E-461A-BB49-D2424B00142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5843" name="Rectangle 3">
            <a:extLst>
              <a:ext uri="{FF2B5EF4-FFF2-40B4-BE49-F238E27FC236}">
                <a16:creationId xmlns:a16="http://schemas.microsoft.com/office/drawing/2014/main" id="{67165E10-EDEE-4873-9DCA-62E8EAE04FE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5844" name="Rectangle 4">
            <a:extLst>
              <a:ext uri="{FF2B5EF4-FFF2-40B4-BE49-F238E27FC236}">
                <a16:creationId xmlns:a16="http://schemas.microsoft.com/office/drawing/2014/main" id="{3B0A8F6E-E358-47B4-81CB-4C74667058E7}"/>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cs typeface="Times New Roman" panose="02020603050405020304" pitchFamily="18" charset="0"/>
              </a:rPr>
              <a:t>：</a:t>
            </a:r>
            <a:endParaRPr kumimoji="0" lang="zh-CN" altLang="en-US" sz="1100">
              <a:latin typeface="Arial" panose="020B0604020202020204" pitchFamily="34" charset="0"/>
              <a:cs typeface="Times New Roman" panose="02020603050405020304" pitchFamily="18" charset="0"/>
            </a:endParaRPr>
          </a:p>
          <a:p>
            <a:pPr>
              <a:spcBef>
                <a:spcPct val="0"/>
              </a:spcBef>
              <a:buFontTx/>
              <a:buNone/>
            </a:pPr>
            <a:endParaRPr kumimoji="0" lang="en-US" altLang="zh-CN" sz="1800">
              <a:latin typeface="Arial" panose="020B0604020202020204" pitchFamily="34" charset="0"/>
              <a:cs typeface="Times New Roman" panose="02020603050405020304" pitchFamily="18" charset="0"/>
            </a:endParaRPr>
          </a:p>
        </p:txBody>
      </p:sp>
      <p:sp>
        <p:nvSpPr>
          <p:cNvPr id="35845" name="Rectangle 5">
            <a:extLst>
              <a:ext uri="{FF2B5EF4-FFF2-40B4-BE49-F238E27FC236}">
                <a16:creationId xmlns:a16="http://schemas.microsoft.com/office/drawing/2014/main" id="{A13FF179-0BA5-420D-B7F5-6007EA4FC174}"/>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5846" name="Rectangle 6">
            <a:extLst>
              <a:ext uri="{FF2B5EF4-FFF2-40B4-BE49-F238E27FC236}">
                <a16:creationId xmlns:a16="http://schemas.microsoft.com/office/drawing/2014/main" id="{9E3C7420-5A6B-47D7-A9E0-FE7EB416B9B5}"/>
              </a:ext>
            </a:extLst>
          </p:cNvPr>
          <p:cNvSpPr>
            <a:spLocks noChangeArrowheads="1"/>
          </p:cNvSpPr>
          <p:nvPr/>
        </p:nvSpPr>
        <p:spPr bwMode="auto">
          <a:xfrm>
            <a:off x="444500" y="692696"/>
            <a:ext cx="825500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en-US" altLang="zh-CN" sz="2000">
                <a:latin typeface="楷体_GB2312" pitchFamily="49" charset="-122"/>
                <a:ea typeface="楷体_GB2312" pitchFamily="49" charset="-122"/>
              </a:rPr>
              <a:t>  </a:t>
            </a:r>
            <a:r>
              <a:rPr lang="zh-CN" altLang="en-US" sz="2000" b="1">
                <a:latin typeface="楷体_GB2312" pitchFamily="49" charset="-122"/>
                <a:ea typeface="楷体_GB2312" pitchFamily="49" charset="-122"/>
              </a:rPr>
              <a:t>对于上述直径不变的光纤，其两端具有相同的光收集特性，也就是说光纤两端的</a:t>
            </a:r>
            <a:r>
              <a:rPr lang="en-US" altLang="zh-CN" sz="2000" b="1">
                <a:latin typeface="楷体_GB2312" pitchFamily="49" charset="-122"/>
                <a:ea typeface="楷体_GB2312" pitchFamily="49" charset="-122"/>
              </a:rPr>
              <a:t>NA</a:t>
            </a:r>
            <a:r>
              <a:rPr lang="zh-CN" altLang="en-US" sz="2000" b="1">
                <a:latin typeface="楷体_GB2312" pitchFamily="49" charset="-122"/>
                <a:ea typeface="楷体_GB2312" pitchFamily="49" charset="-122"/>
              </a:rPr>
              <a:t>相等。如果希望改变光纤的</a:t>
            </a:r>
            <a:r>
              <a:rPr lang="en-US" altLang="zh-CN" sz="2000" b="1">
                <a:latin typeface="楷体_GB2312" pitchFamily="49" charset="-122"/>
                <a:ea typeface="楷体_GB2312" pitchFamily="49" charset="-122"/>
              </a:rPr>
              <a:t>NA</a:t>
            </a:r>
            <a:r>
              <a:rPr lang="zh-CN" altLang="en-US" sz="2000" b="1">
                <a:latin typeface="楷体_GB2312" pitchFamily="49" charset="-122"/>
                <a:ea typeface="楷体_GB2312" pitchFamily="49" charset="-122"/>
              </a:rPr>
              <a:t>，可以利用</a:t>
            </a:r>
            <a:r>
              <a:rPr lang="zh-CN" altLang="en-US" sz="2000" b="1" u="sng">
                <a:solidFill>
                  <a:srgbClr val="FF0000"/>
                </a:solidFill>
                <a:latin typeface="楷体_GB2312" pitchFamily="49" charset="-122"/>
                <a:ea typeface="楷体_GB2312" pitchFamily="49" charset="-122"/>
              </a:rPr>
              <a:t>光锥</a:t>
            </a:r>
            <a:r>
              <a:rPr lang="zh-CN" altLang="en-US" sz="2000" b="1">
                <a:latin typeface="楷体_GB2312" pitchFamily="49" charset="-122"/>
                <a:ea typeface="楷体_GB2312" pitchFamily="49" charset="-122"/>
              </a:rPr>
              <a:t>。光锥是有一定锥度的光纤，也称锥形光纤，如图所示。光锥遵从下面极其重要的规律：</a:t>
            </a:r>
          </a:p>
        </p:txBody>
      </p:sp>
      <p:pic>
        <p:nvPicPr>
          <p:cNvPr id="35847" name="Picture 7" descr="3-6">
            <a:extLst>
              <a:ext uri="{FF2B5EF4-FFF2-40B4-BE49-F238E27FC236}">
                <a16:creationId xmlns:a16="http://schemas.microsoft.com/office/drawing/2014/main" id="{5ACB191A-A253-4ABD-AED2-661F3E4471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9562" y="3489871"/>
            <a:ext cx="5564188" cy="223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5849" name="Object 8">
            <a:extLst>
              <a:ext uri="{FF2B5EF4-FFF2-40B4-BE49-F238E27FC236}">
                <a16:creationId xmlns:a16="http://schemas.microsoft.com/office/drawing/2014/main" id="{21F7BED2-34A3-4B73-8601-2F6E9FD3C114}"/>
              </a:ext>
            </a:extLst>
          </p:cNvPr>
          <p:cNvGraphicFramePr>
            <a:graphicFrameLocks noChangeAspect="1"/>
          </p:cNvGraphicFramePr>
          <p:nvPr>
            <p:extLst>
              <p:ext uri="{D42A27DB-BD31-4B8C-83A1-F6EECF244321}">
                <p14:modId xmlns:p14="http://schemas.microsoft.com/office/powerpoint/2010/main" val="1703912117"/>
              </p:ext>
            </p:extLst>
          </p:nvPr>
        </p:nvGraphicFramePr>
        <p:xfrm>
          <a:off x="2876550" y="2305596"/>
          <a:ext cx="3921125" cy="719138"/>
        </p:xfrm>
        <a:graphic>
          <a:graphicData uri="http://schemas.openxmlformats.org/presentationml/2006/ole">
            <mc:AlternateContent xmlns:mc="http://schemas.openxmlformats.org/markup-compatibility/2006">
              <mc:Choice xmlns:v="urn:schemas-microsoft-com:vml" Requires="v">
                <p:oleObj spid="_x0000_s35868" name="公式" r:id="rId4" imgW="1193800" imgH="215900" progId="Equation.3">
                  <p:embed/>
                </p:oleObj>
              </mc:Choice>
              <mc:Fallback>
                <p:oleObj name="公式" r:id="rId4" imgW="1193800" imgH="2159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6550" y="2305596"/>
                        <a:ext cx="392112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0" name="Rectangle 10">
            <a:extLst>
              <a:ext uri="{FF2B5EF4-FFF2-40B4-BE49-F238E27FC236}">
                <a16:creationId xmlns:a16="http://schemas.microsoft.com/office/drawing/2014/main" id="{402142C5-8F90-42D9-9D2F-5E61F461C03E}"/>
              </a:ext>
            </a:extLst>
          </p:cNvPr>
          <p:cNvSpPr>
            <a:spLocks noChangeArrowheads="1"/>
          </p:cNvSpPr>
          <p:nvPr/>
        </p:nvSpPr>
        <p:spPr bwMode="auto">
          <a:xfrm>
            <a:off x="4837112" y="6082259"/>
            <a:ext cx="1296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latin typeface="楷体_GB2312" pitchFamily="49" charset="-122"/>
                <a:ea typeface="楷体_GB2312" pitchFamily="49" charset="-122"/>
              </a:rPr>
              <a:t>锥形光纤 </a:t>
            </a:r>
          </a:p>
        </p:txBody>
      </p:sp>
      <p:sp>
        <p:nvSpPr>
          <p:cNvPr id="2" name="矩形 1">
            <a:extLst>
              <a:ext uri="{FF2B5EF4-FFF2-40B4-BE49-F238E27FC236}">
                <a16:creationId xmlns:a16="http://schemas.microsoft.com/office/drawing/2014/main" id="{759DA35A-DF2A-42C8-A8F1-9B4B0969870E}"/>
              </a:ext>
            </a:extLst>
          </p:cNvPr>
          <p:cNvSpPr/>
          <p:nvPr/>
        </p:nvSpPr>
        <p:spPr>
          <a:xfrm>
            <a:off x="444500" y="256631"/>
            <a:ext cx="2954655" cy="461665"/>
          </a:xfrm>
          <a:prstGeom prst="rect">
            <a:avLst/>
          </a:prstGeom>
        </p:spPr>
        <p:txBody>
          <a:bodyPr wrap="none">
            <a:spAutoFit/>
          </a:bodyPr>
          <a:lstStyle/>
          <a:p>
            <a:r>
              <a:rPr lang="zh-CN" altLang="en-US" sz="2400" b="1" dirty="0">
                <a:solidFill>
                  <a:srgbClr val="C00000"/>
                </a:solidFill>
              </a:rPr>
              <a:t>特殊的光锥（</a:t>
            </a:r>
            <a:r>
              <a:rPr lang="zh-CN" altLang="en-US" sz="2400" b="1" dirty="0">
                <a:solidFill>
                  <a:srgbClr val="0000FF"/>
                </a:solidFill>
              </a:rPr>
              <a:t>了解</a:t>
            </a:r>
            <a:r>
              <a:rPr lang="zh-CN" altLang="en-US" sz="2400" b="1" dirty="0">
                <a:solidFill>
                  <a:srgbClr val="C00000"/>
                </a:solidFill>
              </a:rPr>
              <a:t>）</a:t>
            </a:r>
            <a:endParaRPr lang="zh-CN" altLang="en-US" sz="2400" dirty="0">
              <a:solidFill>
                <a:srgbClr val="C00000"/>
              </a:solidFill>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85468CA9-A8DA-4656-897C-6326F60B7BD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6867" name="Rectangle 3">
            <a:extLst>
              <a:ext uri="{FF2B5EF4-FFF2-40B4-BE49-F238E27FC236}">
                <a16:creationId xmlns:a16="http://schemas.microsoft.com/office/drawing/2014/main" id="{AE77D6C2-273D-4BDA-A8FC-EE6D37979FF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6868" name="Rectangle 5">
            <a:extLst>
              <a:ext uri="{FF2B5EF4-FFF2-40B4-BE49-F238E27FC236}">
                <a16:creationId xmlns:a16="http://schemas.microsoft.com/office/drawing/2014/main" id="{9BC8198D-F71D-4383-9280-3384FA234D98}"/>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cs typeface="Times New Roman" panose="02020603050405020304" pitchFamily="18" charset="0"/>
              </a:rPr>
              <a:t>：</a:t>
            </a:r>
            <a:endParaRPr kumimoji="0" lang="zh-CN" altLang="en-US" sz="1100">
              <a:latin typeface="Arial" panose="020B0604020202020204" pitchFamily="34" charset="0"/>
              <a:cs typeface="Times New Roman" panose="02020603050405020304" pitchFamily="18" charset="0"/>
            </a:endParaRPr>
          </a:p>
          <a:p>
            <a:pPr>
              <a:spcBef>
                <a:spcPct val="0"/>
              </a:spcBef>
              <a:buFontTx/>
              <a:buNone/>
            </a:pPr>
            <a:endParaRPr kumimoji="0" lang="en-US" altLang="zh-CN" sz="1800">
              <a:latin typeface="Arial" panose="020B0604020202020204" pitchFamily="34" charset="0"/>
              <a:cs typeface="Times New Roman" panose="02020603050405020304" pitchFamily="18" charset="0"/>
            </a:endParaRPr>
          </a:p>
        </p:txBody>
      </p:sp>
      <p:sp>
        <p:nvSpPr>
          <p:cNvPr id="36869" name="Rectangle 6">
            <a:extLst>
              <a:ext uri="{FF2B5EF4-FFF2-40B4-BE49-F238E27FC236}">
                <a16:creationId xmlns:a16="http://schemas.microsoft.com/office/drawing/2014/main" id="{338D7153-CC73-4F6D-B07B-4E2E4BB685D1}"/>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6870" name="Rectangle 10">
            <a:extLst>
              <a:ext uri="{FF2B5EF4-FFF2-40B4-BE49-F238E27FC236}">
                <a16:creationId xmlns:a16="http://schemas.microsoft.com/office/drawing/2014/main" id="{E3A28697-7C76-4A4A-9E52-8DBE50C40DF0}"/>
              </a:ext>
            </a:extLst>
          </p:cNvPr>
          <p:cNvSpPr>
            <a:spLocks noChangeArrowheads="1"/>
          </p:cNvSpPr>
          <p:nvPr/>
        </p:nvSpPr>
        <p:spPr bwMode="auto">
          <a:xfrm>
            <a:off x="395287" y="1449236"/>
            <a:ext cx="8353425" cy="517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en-US" altLang="zh-CN" sz="2000" b="1" dirty="0">
                <a:latin typeface="楷体_GB2312" pitchFamily="49" charset="-122"/>
                <a:ea typeface="楷体_GB2312" pitchFamily="49" charset="-122"/>
              </a:rPr>
              <a:t>β1</a:t>
            </a:r>
            <a:r>
              <a:rPr lang="zh-CN" altLang="en-US" sz="2000" b="1" dirty="0">
                <a:latin typeface="楷体_GB2312" pitchFamily="49" charset="-122"/>
                <a:ea typeface="楷体_GB2312" pitchFamily="49" charset="-122"/>
              </a:rPr>
              <a:t>和</a:t>
            </a:r>
            <a:r>
              <a:rPr lang="en-US" altLang="zh-CN" sz="2000" b="1" dirty="0">
                <a:latin typeface="楷体_GB2312" pitchFamily="49" charset="-122"/>
                <a:ea typeface="楷体_GB2312" pitchFamily="49" charset="-122"/>
              </a:rPr>
              <a:t>β2</a:t>
            </a:r>
            <a:r>
              <a:rPr lang="zh-CN" altLang="en-US" sz="2000" b="1" dirty="0">
                <a:latin typeface="楷体_GB2312" pitchFamily="49" charset="-122"/>
                <a:ea typeface="楷体_GB2312" pitchFamily="49" charset="-122"/>
              </a:rPr>
              <a:t>是在光锥侧面光线的入射角。因反射表面是光锥的侧面，它并不和光锥的轴线平行，所以</a:t>
            </a:r>
            <a:r>
              <a:rPr lang="en-US" altLang="zh-CN" sz="2000" b="1" dirty="0">
                <a:latin typeface="楷体_GB2312" pitchFamily="49" charset="-122"/>
                <a:ea typeface="楷体_GB2312" pitchFamily="49" charset="-122"/>
              </a:rPr>
              <a:t>β2&gt;β1</a:t>
            </a:r>
            <a:r>
              <a:rPr lang="zh-CN" altLang="en-US" sz="2000" b="1" dirty="0">
                <a:latin typeface="楷体_GB2312" pitchFamily="49" charset="-122"/>
                <a:ea typeface="楷体_GB2312" pitchFamily="49" charset="-122"/>
              </a:rPr>
              <a:t>。这表明当</a:t>
            </a:r>
            <a:r>
              <a:rPr lang="zh-CN" altLang="en-US" sz="2000" b="1" dirty="0">
                <a:highlight>
                  <a:srgbClr val="FFFF00"/>
                </a:highlight>
                <a:latin typeface="楷体_GB2312" pitchFamily="49" charset="-122"/>
                <a:ea typeface="楷体_GB2312" pitchFamily="49" charset="-122"/>
              </a:rPr>
              <a:t>光线从光纤直径小的一端射入时，随着光纤直径越来越大，光线与光锥轴线间的夹角越来越小，光线变得越来越准直</a:t>
            </a:r>
            <a:r>
              <a:rPr lang="zh-CN" altLang="en-US" sz="2000" b="1" dirty="0">
                <a:latin typeface="楷体_GB2312" pitchFamily="49" charset="-122"/>
                <a:ea typeface="楷体_GB2312" pitchFamily="49" charset="-122"/>
              </a:rPr>
              <a:t>。反之，当光线从光锥直径大的一端射入时，随着光锥直径越来越小，光线的准直情况变得越来越差，光线与光锥轴线间的夹角将越来越大，甚至有可能发展到在光锥侧面的某一点入射角小于临界角，此时光线会从光锥的侧面穿出去。因此，虽然看起来光线似乎进入了光锥，但实际上在不一定能够传输到另一端。由此可见，</a:t>
            </a:r>
            <a:r>
              <a:rPr lang="zh-CN" altLang="en-US" sz="2000" b="1" dirty="0">
                <a:highlight>
                  <a:srgbClr val="FFFF00"/>
                </a:highlight>
                <a:latin typeface="楷体_GB2312" pitchFamily="49" charset="-122"/>
                <a:ea typeface="楷体_GB2312" pitchFamily="49" charset="-122"/>
              </a:rPr>
              <a:t>光锥在直径小的端面有较好的光收集特性</a:t>
            </a:r>
            <a:r>
              <a:rPr lang="zh-CN" altLang="en-US" sz="2000" b="1" dirty="0">
                <a:latin typeface="楷体_GB2312" pitchFamily="49" charset="-122"/>
                <a:ea typeface="楷体_GB2312" pitchFamily="49" charset="-122"/>
              </a:rPr>
              <a:t>，即</a:t>
            </a:r>
            <a:r>
              <a:rPr lang="zh-CN" altLang="en-US" sz="2000" b="1" dirty="0">
                <a:solidFill>
                  <a:srgbClr val="0000FF"/>
                </a:solidFill>
                <a:latin typeface="楷体_GB2312" pitchFamily="49" charset="-122"/>
                <a:ea typeface="楷体_GB2312" pitchFamily="49" charset="-122"/>
              </a:rPr>
              <a:t>小直径端面的数值孔径较大</a:t>
            </a:r>
            <a:r>
              <a:rPr lang="zh-CN" altLang="en-US" sz="2000" b="1" dirty="0">
                <a:latin typeface="楷体_GB2312" pitchFamily="49" charset="-122"/>
                <a:ea typeface="楷体_GB2312" pitchFamily="49" charset="-122"/>
              </a:rPr>
              <a:t>。</a:t>
            </a:r>
            <a:r>
              <a:rPr lang="zh-CN" altLang="en-US" sz="2000" b="1" dirty="0">
                <a:solidFill>
                  <a:srgbClr val="FF0000"/>
                </a:solidFill>
                <a:latin typeface="楷体_GB2312" pitchFamily="49" charset="-122"/>
                <a:ea typeface="楷体_GB2312" pitchFamily="49" charset="-122"/>
              </a:rPr>
              <a:t>因而在实际应用中应当用光锥直径小的一端对着光源，光锥直径大的一端去对着光纤，以提高光源和光纤之间的耦合效率</a:t>
            </a:r>
            <a:r>
              <a:rPr lang="zh-CN" altLang="en-US" sz="2000" b="1" dirty="0">
                <a:latin typeface="楷体_GB2312" pitchFamily="49" charset="-122"/>
                <a:ea typeface="楷体_GB2312" pitchFamily="49" charset="-122"/>
              </a:rPr>
              <a:t>。 </a:t>
            </a:r>
          </a:p>
        </p:txBody>
      </p:sp>
      <p:pic>
        <p:nvPicPr>
          <p:cNvPr id="7" name="Picture 7" descr="3-6">
            <a:extLst>
              <a:ext uri="{FF2B5EF4-FFF2-40B4-BE49-F238E27FC236}">
                <a16:creationId xmlns:a16="http://schemas.microsoft.com/office/drawing/2014/main" id="{2823F3D5-B277-46E5-873B-685A915BDD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156134"/>
            <a:ext cx="3318100" cy="1331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B81D7789-EBDA-4BC9-9BC9-A1166B2F5F62}"/>
              </a:ext>
            </a:extLst>
          </p:cNvPr>
          <p:cNvSpPr/>
          <p:nvPr/>
        </p:nvSpPr>
        <p:spPr>
          <a:xfrm>
            <a:off x="470699" y="551291"/>
            <a:ext cx="2031325" cy="461665"/>
          </a:xfrm>
          <a:prstGeom prst="rect">
            <a:avLst/>
          </a:prstGeom>
        </p:spPr>
        <p:txBody>
          <a:bodyPr wrap="none">
            <a:spAutoFit/>
          </a:bodyPr>
          <a:lstStyle/>
          <a:p>
            <a:r>
              <a:rPr lang="zh-CN" altLang="en-US" sz="2400" b="1" dirty="0">
                <a:solidFill>
                  <a:srgbClr val="C00000"/>
                </a:solidFill>
              </a:rPr>
              <a:t>光锥的作用：</a:t>
            </a:r>
            <a:endParaRPr lang="zh-CN" altLang="en-US" sz="2400" dirty="0">
              <a:solidFill>
                <a:srgbClr val="C00000"/>
              </a:solidFill>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E906A95A-5DA1-4C37-887D-B13EBD7647A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7891" name="Rectangle 3">
            <a:extLst>
              <a:ext uri="{FF2B5EF4-FFF2-40B4-BE49-F238E27FC236}">
                <a16:creationId xmlns:a16="http://schemas.microsoft.com/office/drawing/2014/main" id="{2521EAAA-49CD-4466-91C3-89B1F680DA3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441348" name="Text Box 4">
            <a:extLst>
              <a:ext uri="{FF2B5EF4-FFF2-40B4-BE49-F238E27FC236}">
                <a16:creationId xmlns:a16="http://schemas.microsoft.com/office/drawing/2014/main" id="{6B64897E-893D-4EAA-82B6-F6C4AF068D51}"/>
              </a:ext>
            </a:extLst>
          </p:cNvPr>
          <p:cNvSpPr txBox="1">
            <a:spLocks noChangeArrowheads="1"/>
          </p:cNvSpPr>
          <p:nvPr/>
        </p:nvSpPr>
        <p:spPr bwMode="auto">
          <a:xfrm>
            <a:off x="358775" y="134938"/>
            <a:ext cx="8785225"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800" b="1" dirty="0">
                <a:solidFill>
                  <a:srgbClr val="FF0000"/>
                </a:solidFill>
                <a:latin typeface="黑体" panose="02010609060101010101" pitchFamily="49" charset="-122"/>
                <a:ea typeface="黑体" panose="02010609060101010101" pitchFamily="49" charset="-122"/>
              </a:rPr>
              <a:t>4.1.3 </a:t>
            </a:r>
            <a:r>
              <a:rPr kumimoji="0" lang="zh-CN" altLang="zh-CN" sz="2800" b="1" dirty="0">
                <a:solidFill>
                  <a:srgbClr val="FF0000"/>
                </a:solidFill>
                <a:latin typeface="黑体" panose="02010609060101010101" pitchFamily="49" charset="-122"/>
                <a:ea typeface="黑体" panose="02010609060101010101" pitchFamily="49" charset="-122"/>
              </a:rPr>
              <a:t>光纤的模</a:t>
            </a:r>
            <a:endParaRPr kumimoji="0" lang="zh-CN" altLang="en-US" sz="2800" b="1" dirty="0">
              <a:solidFill>
                <a:srgbClr val="FF0000"/>
              </a:solidFill>
              <a:latin typeface="黑体" panose="02010609060101010101" pitchFamily="49" charset="-122"/>
              <a:ea typeface="黑体" panose="02010609060101010101" pitchFamily="49" charset="-122"/>
            </a:endParaRPr>
          </a:p>
          <a:p>
            <a:pPr eaLnBrk="1" hangingPunct="1">
              <a:lnSpc>
                <a:spcPct val="150000"/>
              </a:lnSpc>
              <a:spcBef>
                <a:spcPts val="1200"/>
              </a:spcBef>
              <a:buFontTx/>
              <a:buNone/>
            </a:pPr>
            <a:r>
              <a:rPr kumimoji="0" lang="zh-CN" altLang="zh-CN" sz="2000" b="1" dirty="0">
                <a:latin typeface="楷体_GB2312" pitchFamily="49" charset="-122"/>
                <a:ea typeface="楷体_GB2312" pitchFamily="49" charset="-122"/>
              </a:rPr>
              <a:t>●沿纤芯中传输的光可以分解为沿轴向与沿截面传输的两种平面波成分；</a:t>
            </a:r>
            <a:endParaRPr kumimoji="0" lang="zh-CN" altLang="en-US" sz="2000" b="1" dirty="0">
              <a:latin typeface="楷体_GB2312" pitchFamily="49" charset="-122"/>
              <a:ea typeface="楷体_GB2312" pitchFamily="49" charset="-122"/>
            </a:endParaRPr>
          </a:p>
          <a:p>
            <a:pPr eaLnBrk="1" hangingPunct="1">
              <a:lnSpc>
                <a:spcPct val="150000"/>
              </a:lnSpc>
              <a:spcBef>
                <a:spcPct val="0"/>
              </a:spcBef>
              <a:buFontTx/>
              <a:buNone/>
            </a:pPr>
            <a:r>
              <a:rPr kumimoji="0" lang="zh-CN" altLang="zh-CN" sz="2000" b="1" dirty="0">
                <a:latin typeface="楷体_GB2312" pitchFamily="49" charset="-122"/>
                <a:ea typeface="楷体_GB2312" pitchFamily="49" charset="-122"/>
              </a:rPr>
              <a:t>●沿截面传输的平面波是在纤芯与包层的界面处全反射，</a:t>
            </a:r>
            <a:r>
              <a:rPr kumimoji="0" lang="zh-CN" altLang="zh-CN" sz="2000" b="1" dirty="0">
                <a:highlight>
                  <a:srgbClr val="FFFF00"/>
                </a:highlight>
                <a:latin typeface="楷体_GB2312" pitchFamily="49" charset="-122"/>
                <a:ea typeface="楷体_GB2312" pitchFamily="49" charset="-122"/>
              </a:rPr>
              <a:t>每一往复传输的相位变化是2</a:t>
            </a:r>
            <a:r>
              <a:rPr kumimoji="0" lang="ru-RU" altLang="zh-CN" sz="2000" b="1" dirty="0">
                <a:highlight>
                  <a:srgbClr val="FFFF00"/>
                </a:highlight>
                <a:latin typeface="楷体_GB2312" pitchFamily="49" charset="-122"/>
                <a:ea typeface="楷体_GB2312" pitchFamily="49" charset="-122"/>
              </a:rPr>
              <a:t>п</a:t>
            </a:r>
            <a:r>
              <a:rPr kumimoji="0" lang="zh-CN" altLang="zh-CN" sz="2000" b="1" dirty="0">
                <a:highlight>
                  <a:srgbClr val="FFFF00"/>
                </a:highlight>
                <a:latin typeface="楷体_GB2312" pitchFamily="49" charset="-122"/>
                <a:ea typeface="楷体_GB2312" pitchFamily="49" charset="-122"/>
              </a:rPr>
              <a:t>的整数倍时，就可以在截面内形成驻波，这样的驻波光线组称</a:t>
            </a:r>
          </a:p>
          <a:p>
            <a:pPr eaLnBrk="1" hangingPunct="1">
              <a:lnSpc>
                <a:spcPct val="150000"/>
              </a:lnSpc>
              <a:spcBef>
                <a:spcPct val="0"/>
              </a:spcBef>
              <a:buFontTx/>
              <a:buNone/>
            </a:pPr>
            <a:r>
              <a:rPr kumimoji="0" lang="zh-CN" altLang="zh-CN" sz="2000" b="1" dirty="0">
                <a:highlight>
                  <a:srgbClr val="FFFF00"/>
                </a:highlight>
                <a:latin typeface="楷体_GB2312" pitchFamily="49" charset="-122"/>
                <a:ea typeface="楷体_GB2312" pitchFamily="49" charset="-122"/>
              </a:rPr>
              <a:t>为</a:t>
            </a:r>
            <a:r>
              <a:rPr kumimoji="0" lang="zh-CN" altLang="zh-CN" sz="2000" b="1" dirty="0">
                <a:highlight>
                  <a:srgbClr val="FFFF00"/>
                </a:highlight>
                <a:latin typeface="Arial" panose="020B0604020202020204" pitchFamily="34" charset="0"/>
                <a:ea typeface="楷体_GB2312" pitchFamily="49" charset="-122"/>
              </a:rPr>
              <a:t>“</a:t>
            </a:r>
            <a:r>
              <a:rPr kumimoji="0" lang="zh-CN" altLang="zh-CN" sz="2000" b="1" dirty="0">
                <a:highlight>
                  <a:srgbClr val="FFFF00"/>
                </a:highlight>
                <a:latin typeface="楷体_GB2312" pitchFamily="49" charset="-122"/>
                <a:ea typeface="楷体_GB2312" pitchFamily="49" charset="-122"/>
              </a:rPr>
              <a:t>模</a:t>
            </a:r>
            <a:r>
              <a:rPr kumimoji="0" lang="zh-CN" altLang="zh-CN" sz="2000" b="1" dirty="0">
                <a:highlight>
                  <a:srgbClr val="FFFF00"/>
                </a:highlight>
                <a:latin typeface="Arial" panose="020B0604020202020204" pitchFamily="34" charset="0"/>
                <a:ea typeface="楷体_GB2312" pitchFamily="49" charset="-122"/>
              </a:rPr>
              <a:t>”</a:t>
            </a:r>
            <a:r>
              <a:rPr kumimoji="0" lang="zh-CN" altLang="zh-CN" sz="2000" b="1" dirty="0">
                <a:latin typeface="楷体_GB2312" pitchFamily="49" charset="-122"/>
                <a:ea typeface="楷体_GB2312" pitchFamily="49" charset="-122"/>
              </a:rPr>
              <a:t>。光纤内传输模式的总数通常根据波导V参数来确定。</a:t>
            </a:r>
            <a:endParaRPr kumimoji="0" lang="zh-CN" altLang="en-US" sz="2000" b="1" dirty="0">
              <a:latin typeface="楷体_GB2312" pitchFamily="49" charset="-122"/>
              <a:ea typeface="楷体_GB2312" pitchFamily="49" charset="-122"/>
            </a:endParaRPr>
          </a:p>
          <a:p>
            <a:pPr eaLnBrk="1" hangingPunct="1">
              <a:lnSpc>
                <a:spcPct val="150000"/>
              </a:lnSpc>
              <a:spcBef>
                <a:spcPct val="0"/>
              </a:spcBef>
              <a:buFontTx/>
              <a:buNone/>
            </a:pPr>
            <a:endParaRPr kumimoji="0" lang="zh-CN" altLang="en-US" sz="2000" b="1" dirty="0">
              <a:latin typeface="楷体_GB2312" pitchFamily="49" charset="-122"/>
              <a:ea typeface="楷体_GB2312" pitchFamily="49" charset="-122"/>
            </a:endParaRPr>
          </a:p>
          <a:p>
            <a:pPr eaLnBrk="1" hangingPunct="1">
              <a:lnSpc>
                <a:spcPct val="150000"/>
              </a:lnSpc>
              <a:spcBef>
                <a:spcPct val="0"/>
              </a:spcBef>
              <a:buFontTx/>
              <a:buNone/>
            </a:pPr>
            <a:endParaRPr kumimoji="0" lang="zh-CN" altLang="en-US" sz="2000" b="1" dirty="0">
              <a:latin typeface="楷体_GB2312" pitchFamily="49" charset="-122"/>
              <a:ea typeface="楷体_GB2312" pitchFamily="49" charset="-122"/>
            </a:endParaRPr>
          </a:p>
          <a:p>
            <a:pPr eaLnBrk="1" hangingPunct="1">
              <a:lnSpc>
                <a:spcPct val="150000"/>
              </a:lnSpc>
              <a:spcBef>
                <a:spcPct val="0"/>
              </a:spcBef>
              <a:buFontTx/>
              <a:buNone/>
            </a:pPr>
            <a:endParaRPr kumimoji="0" lang="zh-CN" altLang="en-US" sz="2000" b="1" dirty="0">
              <a:latin typeface="楷体_GB2312" pitchFamily="49" charset="-122"/>
              <a:ea typeface="楷体_GB2312" pitchFamily="49" charset="-122"/>
            </a:endParaRPr>
          </a:p>
          <a:p>
            <a:pPr eaLnBrk="1" hangingPunct="1">
              <a:lnSpc>
                <a:spcPct val="150000"/>
              </a:lnSpc>
              <a:spcBef>
                <a:spcPct val="0"/>
              </a:spcBef>
              <a:buFontTx/>
              <a:buNone/>
            </a:pPr>
            <a:endParaRPr kumimoji="0" lang="zh-CN" altLang="en-US" sz="2000" b="1" dirty="0">
              <a:latin typeface="楷体_GB2312" pitchFamily="49" charset="-122"/>
              <a:ea typeface="楷体_GB2312" pitchFamily="49" charset="-122"/>
            </a:endParaRPr>
          </a:p>
          <a:p>
            <a:pPr eaLnBrk="1" hangingPunct="1">
              <a:lnSpc>
                <a:spcPct val="150000"/>
              </a:lnSpc>
              <a:spcBef>
                <a:spcPct val="0"/>
              </a:spcBef>
              <a:buFontTx/>
              <a:buNone/>
            </a:pPr>
            <a:endParaRPr kumimoji="0" lang="zh-CN" altLang="en-US" sz="2000" b="1" dirty="0">
              <a:latin typeface="楷体_GB2312" pitchFamily="49" charset="-122"/>
              <a:ea typeface="楷体_GB2312" pitchFamily="49" charset="-122"/>
            </a:endParaRPr>
          </a:p>
          <a:p>
            <a:pPr eaLnBrk="1" hangingPunct="1">
              <a:lnSpc>
                <a:spcPct val="150000"/>
              </a:lnSpc>
              <a:spcBef>
                <a:spcPct val="0"/>
              </a:spcBef>
              <a:buFontTx/>
              <a:buNone/>
            </a:pPr>
            <a:r>
              <a:rPr kumimoji="0" lang="zh-CN" altLang="zh-CN" sz="2000" b="1" dirty="0">
                <a:latin typeface="楷体_GB2312" pitchFamily="49" charset="-122"/>
                <a:ea typeface="楷体_GB2312" pitchFamily="49" charset="-122"/>
              </a:rPr>
              <a:t>●V参数越大，光纤能容许传播的模式也越多。</a:t>
            </a:r>
          </a:p>
        </p:txBody>
      </p:sp>
      <p:sp>
        <p:nvSpPr>
          <p:cNvPr id="37893" name="Rectangle 5">
            <a:extLst>
              <a:ext uri="{FF2B5EF4-FFF2-40B4-BE49-F238E27FC236}">
                <a16:creationId xmlns:a16="http://schemas.microsoft.com/office/drawing/2014/main" id="{40536C98-7A6D-4719-9973-BD774F4EDAC4}"/>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cs typeface="Times New Roman" panose="02020603050405020304" pitchFamily="18" charset="0"/>
              </a:rPr>
              <a:t>：</a:t>
            </a:r>
            <a:endParaRPr kumimoji="0" lang="zh-CN" altLang="en-US" sz="1100">
              <a:latin typeface="Arial" panose="020B0604020202020204" pitchFamily="34" charset="0"/>
              <a:cs typeface="Times New Roman" panose="02020603050405020304" pitchFamily="18" charset="0"/>
            </a:endParaRPr>
          </a:p>
          <a:p>
            <a:pPr>
              <a:spcBef>
                <a:spcPct val="0"/>
              </a:spcBef>
              <a:buFontTx/>
              <a:buNone/>
            </a:pPr>
            <a:endParaRPr kumimoji="0" lang="en-US" altLang="zh-CN" sz="1800">
              <a:latin typeface="Arial" panose="020B0604020202020204" pitchFamily="34" charset="0"/>
              <a:cs typeface="Times New Roman" panose="02020603050405020304" pitchFamily="18" charset="0"/>
            </a:endParaRPr>
          </a:p>
        </p:txBody>
      </p:sp>
      <p:sp>
        <p:nvSpPr>
          <p:cNvPr id="37894" name="Rectangle 6">
            <a:extLst>
              <a:ext uri="{FF2B5EF4-FFF2-40B4-BE49-F238E27FC236}">
                <a16:creationId xmlns:a16="http://schemas.microsoft.com/office/drawing/2014/main" id="{A1595AEA-9B9B-4FFE-AAD1-F732C6B8E828}"/>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graphicFrame>
        <p:nvGraphicFramePr>
          <p:cNvPr id="441351" name="Object 7">
            <a:extLst>
              <a:ext uri="{FF2B5EF4-FFF2-40B4-BE49-F238E27FC236}">
                <a16:creationId xmlns:a16="http://schemas.microsoft.com/office/drawing/2014/main" id="{97C810AA-2C89-4FC2-908E-91598D107F72}"/>
              </a:ext>
            </a:extLst>
          </p:cNvPr>
          <p:cNvGraphicFramePr>
            <a:graphicFrameLocks noChangeAspect="1"/>
          </p:cNvGraphicFramePr>
          <p:nvPr/>
        </p:nvGraphicFramePr>
        <p:xfrm>
          <a:off x="2484438" y="2852738"/>
          <a:ext cx="3146425" cy="2022475"/>
        </p:xfrm>
        <a:graphic>
          <a:graphicData uri="http://schemas.openxmlformats.org/presentationml/2006/ole">
            <mc:AlternateContent xmlns:mc="http://schemas.openxmlformats.org/markup-compatibility/2006">
              <mc:Choice xmlns:v="urn:schemas-microsoft-com:vml" Requires="v">
                <p:oleObj spid="_x0000_s37913" name="Equation" r:id="rId3" imgW="1778000" imgH="1143000" progId="Equation.DSMT4">
                  <p:embed/>
                </p:oleObj>
              </mc:Choice>
              <mc:Fallback>
                <p:oleObj name="Equation" r:id="rId3" imgW="1778000" imgH="11430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2852738"/>
                        <a:ext cx="3146425" cy="202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134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134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1348">
                                            <p:txEl>
                                              <p:pRg st="3" end="3"/>
                                            </p:txEl>
                                          </p:spTgt>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nodeType="afterEffect">
                                  <p:stCondLst>
                                    <p:cond delay="0"/>
                                  </p:stCondLst>
                                  <p:childTnLst>
                                    <p:set>
                                      <p:cBhvr>
                                        <p:cTn id="15" dur="1" fill="hold">
                                          <p:stCondLst>
                                            <p:cond delay="0"/>
                                          </p:stCondLst>
                                        </p:cTn>
                                        <p:tgtEl>
                                          <p:spTgt spid="441351"/>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44134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274C7149-8C93-4131-BEDB-94BD9477873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8915" name="Rectangle 3">
            <a:extLst>
              <a:ext uri="{FF2B5EF4-FFF2-40B4-BE49-F238E27FC236}">
                <a16:creationId xmlns:a16="http://schemas.microsoft.com/office/drawing/2014/main" id="{A8AC9E6F-CC7B-4AA2-BCCD-4E3268BC826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442372" name="Text Box 4">
            <a:extLst>
              <a:ext uri="{FF2B5EF4-FFF2-40B4-BE49-F238E27FC236}">
                <a16:creationId xmlns:a16="http://schemas.microsoft.com/office/drawing/2014/main" id="{971F90D9-E21E-49C5-9F9A-07B756D9D716}"/>
              </a:ext>
            </a:extLst>
          </p:cNvPr>
          <p:cNvSpPr txBox="1">
            <a:spLocks noChangeArrowheads="1"/>
          </p:cNvSpPr>
          <p:nvPr/>
        </p:nvSpPr>
        <p:spPr bwMode="auto">
          <a:xfrm>
            <a:off x="358775" y="358775"/>
            <a:ext cx="8785225"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zh-CN" altLang="zh-CN" sz="2000" dirty="0">
                <a:latin typeface="楷体_GB2312" pitchFamily="49" charset="-122"/>
                <a:ea typeface="楷体_GB2312" pitchFamily="49" charset="-122"/>
              </a:rPr>
              <a:t>●</a:t>
            </a:r>
            <a:r>
              <a:rPr kumimoji="0" lang="zh-CN" altLang="zh-CN" sz="2000" b="1" dirty="0">
                <a:highlight>
                  <a:srgbClr val="FFFF00"/>
                </a:highlight>
                <a:latin typeface="楷体_GB2312" pitchFamily="49" charset="-122"/>
                <a:ea typeface="楷体_GB2312" pitchFamily="49" charset="-122"/>
              </a:rPr>
              <a:t>V</a:t>
            </a:r>
            <a:r>
              <a:rPr kumimoji="0" lang="en-US" altLang="zh-CN" sz="2000" b="1" dirty="0">
                <a:highlight>
                  <a:srgbClr val="FFFF00"/>
                </a:highlight>
                <a:latin typeface="楷体_GB2312" pitchFamily="49" charset="-122"/>
                <a:ea typeface="楷体_GB2312" pitchFamily="49" charset="-122"/>
              </a:rPr>
              <a:t>&lt;</a:t>
            </a:r>
            <a:r>
              <a:rPr kumimoji="0" lang="zh-CN" altLang="zh-CN" sz="2000" b="1" dirty="0">
                <a:highlight>
                  <a:srgbClr val="FFFF00"/>
                </a:highlight>
                <a:latin typeface="楷体_GB2312" pitchFamily="49" charset="-122"/>
                <a:ea typeface="楷体_GB2312" pitchFamily="49" charset="-122"/>
              </a:rPr>
              <a:t>2</a:t>
            </a:r>
            <a:r>
              <a:rPr kumimoji="0" lang="en-US" altLang="zh-CN" sz="2000" b="1" dirty="0">
                <a:highlight>
                  <a:srgbClr val="FFFF00"/>
                </a:highlight>
                <a:latin typeface="楷体_GB2312" pitchFamily="49" charset="-122"/>
                <a:ea typeface="楷体_GB2312" pitchFamily="49" charset="-122"/>
              </a:rPr>
              <a:t>.</a:t>
            </a:r>
            <a:r>
              <a:rPr kumimoji="0" lang="zh-CN" altLang="zh-CN" sz="2000" b="1" dirty="0">
                <a:highlight>
                  <a:srgbClr val="FFFF00"/>
                </a:highlight>
                <a:latin typeface="楷体_GB2312" pitchFamily="49" charset="-122"/>
                <a:ea typeface="楷体_GB2312" pitchFamily="49" charset="-122"/>
              </a:rPr>
              <a:t>40时只允许一个模存在，称为基模</a:t>
            </a:r>
            <a:r>
              <a:rPr kumimoji="0" lang="zh-CN" altLang="zh-CN" sz="2000" b="1" dirty="0">
                <a:latin typeface="楷体_GB2312" pitchFamily="49" charset="-122"/>
                <a:ea typeface="楷体_GB2312" pitchFamily="49" charset="-122"/>
              </a:rPr>
              <a:t>，这种情况的光纤称为单模光纤。</a:t>
            </a:r>
            <a:endParaRPr kumimoji="0" lang="zh-CN" altLang="en-US" sz="2000" b="1" dirty="0">
              <a:latin typeface="楷体_GB2312" pitchFamily="49" charset="-122"/>
              <a:ea typeface="楷体_GB2312" pitchFamily="49" charset="-122"/>
            </a:endParaRPr>
          </a:p>
          <a:p>
            <a:pPr eaLnBrk="1" hangingPunct="1">
              <a:lnSpc>
                <a:spcPct val="150000"/>
              </a:lnSpc>
              <a:spcBef>
                <a:spcPct val="0"/>
              </a:spcBef>
              <a:buFontTx/>
              <a:buNone/>
            </a:pPr>
            <a:r>
              <a:rPr kumimoji="0" lang="zh-CN" altLang="zh-CN" sz="2000" b="1" dirty="0">
                <a:latin typeface="楷体_GB2312" pitchFamily="49" charset="-122"/>
                <a:ea typeface="楷体_GB2312" pitchFamily="49" charset="-122"/>
              </a:rPr>
              <a:t>●</a:t>
            </a:r>
            <a:r>
              <a:rPr kumimoji="0" lang="zh-CN" altLang="zh-CN" sz="2000" b="1" dirty="0">
                <a:highlight>
                  <a:srgbClr val="FFFF00"/>
                </a:highlight>
                <a:latin typeface="楷体_GB2312" pitchFamily="49" charset="-122"/>
                <a:ea typeface="楷体_GB2312" pitchFamily="49" charset="-122"/>
              </a:rPr>
              <a:t>V≥2．40时能够传输较多的模</a:t>
            </a:r>
            <a:r>
              <a:rPr kumimoji="0" lang="zh-CN" altLang="zh-CN" sz="2000" b="1" dirty="0">
                <a:latin typeface="楷体_GB2312" pitchFamily="49" charset="-122"/>
                <a:ea typeface="楷体_GB2312" pitchFamily="49" charset="-122"/>
              </a:rPr>
              <a:t>，这种情况的光纤称为多模光纤。</a:t>
            </a:r>
            <a:endParaRPr kumimoji="0" lang="zh-CN" altLang="en-US" sz="2000" b="1" dirty="0">
              <a:latin typeface="楷体_GB2312" pitchFamily="49" charset="-122"/>
              <a:ea typeface="楷体_GB2312" pitchFamily="49" charset="-122"/>
            </a:endParaRPr>
          </a:p>
          <a:p>
            <a:pPr eaLnBrk="1" hangingPunct="1">
              <a:lnSpc>
                <a:spcPct val="150000"/>
              </a:lnSpc>
              <a:spcBef>
                <a:spcPct val="0"/>
              </a:spcBef>
              <a:buFontTx/>
              <a:buNone/>
            </a:pPr>
            <a:r>
              <a:rPr kumimoji="0" lang="zh-CN" altLang="zh-CN" sz="2000" b="1" dirty="0">
                <a:latin typeface="楷体_GB2312" pitchFamily="49" charset="-122"/>
                <a:ea typeface="楷体_GB2312" pitchFamily="49" charset="-122"/>
              </a:rPr>
              <a:t>●各个模的传播路径不一样传输速度也不相同，它们到达光导纤维另一端的时间也参差不齐，传输的信导将发生失真，传输的图像产生畸变。</a:t>
            </a:r>
            <a:endParaRPr kumimoji="0" lang="zh-CN" altLang="en-US" sz="2000" b="1" dirty="0">
              <a:latin typeface="楷体_GB2312" pitchFamily="49" charset="-122"/>
              <a:ea typeface="楷体_GB2312" pitchFamily="49" charset="-122"/>
            </a:endParaRPr>
          </a:p>
          <a:p>
            <a:pPr eaLnBrk="1" hangingPunct="1">
              <a:lnSpc>
                <a:spcPct val="150000"/>
              </a:lnSpc>
              <a:spcBef>
                <a:spcPct val="0"/>
              </a:spcBef>
              <a:buFontTx/>
              <a:buNone/>
            </a:pPr>
            <a:r>
              <a:rPr kumimoji="0" lang="zh-CN" altLang="zh-CN" sz="2000" b="1" dirty="0">
                <a:latin typeface="楷体_GB2312" pitchFamily="49" charset="-122"/>
                <a:ea typeface="楷体_GB2312" pitchFamily="49" charset="-122"/>
              </a:rPr>
              <a:t>●单模光纤和多模光纤结构上也有不同之处，一般纤芯的直径只有传输光波波长几倍的光纤就是单模光纤；</a:t>
            </a:r>
            <a:endParaRPr kumimoji="0" lang="zh-CN" altLang="en-US" sz="2000" b="1" dirty="0">
              <a:latin typeface="楷体_GB2312" pitchFamily="49" charset="-122"/>
              <a:ea typeface="楷体_GB2312" pitchFamily="49" charset="-122"/>
            </a:endParaRPr>
          </a:p>
          <a:p>
            <a:pPr eaLnBrk="1" hangingPunct="1">
              <a:lnSpc>
                <a:spcPct val="150000"/>
              </a:lnSpc>
              <a:spcBef>
                <a:spcPct val="0"/>
              </a:spcBef>
              <a:buFontTx/>
              <a:buNone/>
            </a:pPr>
            <a:r>
              <a:rPr kumimoji="0" lang="zh-CN" altLang="zh-CN" sz="2000" b="1" dirty="0">
                <a:latin typeface="楷体_GB2312" pitchFamily="49" charset="-122"/>
                <a:ea typeface="楷体_GB2312" pitchFamily="49" charset="-122"/>
              </a:rPr>
              <a:t>●当纤芯的直径比光波波长大很多倍时，这就是多模光纤。断面结构上有明</a:t>
            </a:r>
          </a:p>
          <a:p>
            <a:pPr eaLnBrk="1" hangingPunct="1">
              <a:lnSpc>
                <a:spcPct val="150000"/>
              </a:lnSpc>
              <a:spcBef>
                <a:spcPct val="0"/>
              </a:spcBef>
              <a:buFontTx/>
              <a:buNone/>
            </a:pPr>
            <a:r>
              <a:rPr kumimoji="0" lang="zh-CN" altLang="zh-CN" sz="2000" b="1" dirty="0">
                <a:latin typeface="楷体_GB2312" pitchFamily="49" charset="-122"/>
                <a:ea typeface="楷体_GB2312" pitchFamily="49" charset="-122"/>
              </a:rPr>
              <a:t>显的不同。</a:t>
            </a:r>
          </a:p>
        </p:txBody>
      </p:sp>
      <p:sp>
        <p:nvSpPr>
          <p:cNvPr id="38917" name="Rectangle 5">
            <a:extLst>
              <a:ext uri="{FF2B5EF4-FFF2-40B4-BE49-F238E27FC236}">
                <a16:creationId xmlns:a16="http://schemas.microsoft.com/office/drawing/2014/main" id="{C3EC658F-D074-4DDA-B91D-98424273E4D6}"/>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cs typeface="Times New Roman" panose="02020603050405020304" pitchFamily="18" charset="0"/>
              </a:rPr>
              <a:t>：</a:t>
            </a:r>
            <a:endParaRPr kumimoji="0" lang="zh-CN" altLang="en-US" sz="1100">
              <a:latin typeface="Arial" panose="020B0604020202020204" pitchFamily="34" charset="0"/>
              <a:cs typeface="Times New Roman" panose="02020603050405020304" pitchFamily="18" charset="0"/>
            </a:endParaRPr>
          </a:p>
          <a:p>
            <a:pPr>
              <a:spcBef>
                <a:spcPct val="0"/>
              </a:spcBef>
              <a:buFontTx/>
              <a:buNone/>
            </a:pPr>
            <a:endParaRPr kumimoji="0" lang="en-US" altLang="zh-CN" sz="1800">
              <a:latin typeface="Arial" panose="020B0604020202020204" pitchFamily="34" charset="0"/>
              <a:cs typeface="Times New Roman" panose="02020603050405020304" pitchFamily="18" charset="0"/>
            </a:endParaRPr>
          </a:p>
        </p:txBody>
      </p:sp>
      <p:sp>
        <p:nvSpPr>
          <p:cNvPr id="38918" name="Rectangle 6">
            <a:extLst>
              <a:ext uri="{FF2B5EF4-FFF2-40B4-BE49-F238E27FC236}">
                <a16:creationId xmlns:a16="http://schemas.microsoft.com/office/drawing/2014/main" id="{8E7EBB36-DF81-4EF3-9493-098453CA2A2D}"/>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pic>
        <p:nvPicPr>
          <p:cNvPr id="442375" name="Picture 7">
            <a:extLst>
              <a:ext uri="{FF2B5EF4-FFF2-40B4-BE49-F238E27FC236}">
                <a16:creationId xmlns:a16="http://schemas.microsoft.com/office/drawing/2014/main" id="{035E8F2E-4C97-4210-AEB7-7DDE4B56A8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3860800"/>
            <a:ext cx="7283450"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237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237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237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2372">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237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2372">
                                            <p:txEl>
                                              <p:pRg st="5" end="5"/>
                                            </p:txEl>
                                          </p:spTgt>
                                        </p:tgtEl>
                                        <p:attrNameLst>
                                          <p:attrName>style.visibility</p:attrName>
                                        </p:attrNameLst>
                                      </p:cBhvr>
                                      <p:to>
                                        <p:strVal val="visible"/>
                                      </p:to>
                                    </p:set>
                                  </p:childTnLst>
                                </p:cTn>
                              </p:par>
                            </p:childTnLst>
                          </p:cTn>
                        </p:par>
                        <p:par>
                          <p:cTn id="25" fill="hold" nodeType="afterGroup">
                            <p:stCondLst>
                              <p:cond delay="0"/>
                            </p:stCondLst>
                            <p:childTnLst>
                              <p:par>
                                <p:cTn id="26" presetID="1" presetClass="entr" presetSubtype="0" fill="hold" nodeType="afterEffect">
                                  <p:stCondLst>
                                    <p:cond delay="0"/>
                                  </p:stCondLst>
                                  <p:childTnLst>
                                    <p:set>
                                      <p:cBhvr>
                                        <p:cTn id="27" dur="1" fill="hold">
                                          <p:stCondLst>
                                            <p:cond delay="0"/>
                                          </p:stCondLst>
                                        </p:cTn>
                                        <p:tgtEl>
                                          <p:spTgt spid="4423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E8B2C12-77C9-4499-84DB-E5173B971B9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9939" name="Rectangle 3">
            <a:extLst>
              <a:ext uri="{FF2B5EF4-FFF2-40B4-BE49-F238E27FC236}">
                <a16:creationId xmlns:a16="http://schemas.microsoft.com/office/drawing/2014/main" id="{B1D85295-D92E-4225-814F-37E69008629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39940" name="Text Box 4">
            <a:extLst>
              <a:ext uri="{FF2B5EF4-FFF2-40B4-BE49-F238E27FC236}">
                <a16:creationId xmlns:a16="http://schemas.microsoft.com/office/drawing/2014/main" id="{5A3D3FA5-1B59-4F7A-BAB6-31476E8D8A54}"/>
              </a:ext>
            </a:extLst>
          </p:cNvPr>
          <p:cNvSpPr txBox="1">
            <a:spLocks noChangeArrowheads="1"/>
          </p:cNvSpPr>
          <p:nvPr/>
        </p:nvSpPr>
        <p:spPr bwMode="auto">
          <a:xfrm>
            <a:off x="179388" y="115888"/>
            <a:ext cx="795655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400" b="1">
                <a:solidFill>
                  <a:srgbClr val="FF0000"/>
                </a:solidFill>
                <a:latin typeface="楷体_GB2312" pitchFamily="49" charset="-122"/>
                <a:ea typeface="楷体_GB2312" pitchFamily="49" charset="-122"/>
              </a:rPr>
              <a:t>4.1.4 </a:t>
            </a:r>
            <a:r>
              <a:rPr kumimoji="0" lang="zh-CN" altLang="zh-CN" sz="2400" b="1">
                <a:solidFill>
                  <a:srgbClr val="FF0000"/>
                </a:solidFill>
                <a:latin typeface="楷体_GB2312" pitchFamily="49" charset="-122"/>
                <a:ea typeface="楷体_GB2312" pitchFamily="49" charset="-122"/>
              </a:rPr>
              <a:t>光纤的传输损耗</a:t>
            </a:r>
            <a:endParaRPr kumimoji="0" lang="zh-CN" altLang="en-US" sz="2400" b="1">
              <a:solidFill>
                <a:srgbClr val="FF0000"/>
              </a:solidFill>
              <a:latin typeface="楷体_GB2312" pitchFamily="49" charset="-122"/>
              <a:ea typeface="楷体_GB2312" pitchFamily="49" charset="-122"/>
            </a:endParaRPr>
          </a:p>
          <a:p>
            <a:pPr eaLnBrk="1" hangingPunct="1">
              <a:lnSpc>
                <a:spcPct val="150000"/>
              </a:lnSpc>
              <a:spcBef>
                <a:spcPct val="0"/>
              </a:spcBef>
              <a:buFontTx/>
              <a:buNone/>
            </a:pPr>
            <a:endParaRPr kumimoji="0" lang="zh-CN" altLang="en-US" sz="2000" b="1">
              <a:latin typeface="楷体_GB2312" pitchFamily="49" charset="-122"/>
              <a:ea typeface="楷体_GB2312" pitchFamily="49" charset="-122"/>
            </a:endParaRPr>
          </a:p>
          <a:p>
            <a:pPr eaLnBrk="1" hangingPunct="1">
              <a:lnSpc>
                <a:spcPct val="150000"/>
              </a:lnSpc>
              <a:spcBef>
                <a:spcPct val="0"/>
              </a:spcBef>
              <a:buFontTx/>
              <a:buNone/>
            </a:pPr>
            <a:endParaRPr kumimoji="0" lang="zh-CN" altLang="en-US" sz="2000">
              <a:latin typeface="楷体_GB2312" pitchFamily="49" charset="-122"/>
              <a:ea typeface="楷体_GB2312" pitchFamily="49" charset="-122"/>
            </a:endParaRPr>
          </a:p>
          <a:p>
            <a:pPr eaLnBrk="1" hangingPunct="1">
              <a:lnSpc>
                <a:spcPct val="150000"/>
              </a:lnSpc>
              <a:spcBef>
                <a:spcPct val="0"/>
              </a:spcBef>
              <a:buFontTx/>
              <a:buNone/>
            </a:pPr>
            <a:r>
              <a:rPr kumimoji="0" lang="zh-CN" altLang="en-US" sz="2000" b="1">
                <a:latin typeface="楷体_GB2312" pitchFamily="49" charset="-122"/>
                <a:ea typeface="楷体_GB2312" pitchFamily="49" charset="-122"/>
              </a:rPr>
              <a:t>传输损耗的大小是评定光纤优劣的重要指标。光纤的损耗通常用每公里的分贝数来表示，记作</a:t>
            </a:r>
            <a:r>
              <a:rPr kumimoji="0" lang="en-US" altLang="zh-CN" sz="2000" b="1">
                <a:latin typeface="楷体_GB2312" pitchFamily="49" charset="-122"/>
                <a:ea typeface="楷体_GB2312" pitchFamily="49" charset="-122"/>
              </a:rPr>
              <a:t>dB/km</a:t>
            </a:r>
            <a:r>
              <a:rPr kumimoji="0" lang="zh-CN" altLang="en-US" sz="2000" b="1">
                <a:latin typeface="楷体_GB2312" pitchFamily="49" charset="-122"/>
                <a:ea typeface="楷体_GB2312" pitchFamily="49" charset="-122"/>
              </a:rPr>
              <a:t>。 </a:t>
            </a:r>
          </a:p>
        </p:txBody>
      </p:sp>
      <p:sp>
        <p:nvSpPr>
          <p:cNvPr id="39941" name="Rectangle 5">
            <a:extLst>
              <a:ext uri="{FF2B5EF4-FFF2-40B4-BE49-F238E27FC236}">
                <a16:creationId xmlns:a16="http://schemas.microsoft.com/office/drawing/2014/main" id="{2D5EB963-1F78-470E-BA80-27C53A374F1A}"/>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cs typeface="Times New Roman" panose="02020603050405020304" pitchFamily="18" charset="0"/>
              </a:rPr>
              <a:t>：</a:t>
            </a:r>
            <a:endParaRPr kumimoji="0" lang="zh-CN" altLang="en-US" sz="1100">
              <a:latin typeface="Arial" panose="020B0604020202020204" pitchFamily="34" charset="0"/>
              <a:cs typeface="Times New Roman" panose="02020603050405020304" pitchFamily="18" charset="0"/>
            </a:endParaRPr>
          </a:p>
          <a:p>
            <a:pPr>
              <a:spcBef>
                <a:spcPct val="0"/>
              </a:spcBef>
              <a:buFontTx/>
              <a:buNone/>
            </a:pPr>
            <a:endParaRPr kumimoji="0" lang="en-US" altLang="zh-CN" sz="1800">
              <a:latin typeface="Arial" panose="020B0604020202020204" pitchFamily="34" charset="0"/>
              <a:cs typeface="Times New Roman" panose="02020603050405020304" pitchFamily="18" charset="0"/>
            </a:endParaRPr>
          </a:p>
        </p:txBody>
      </p:sp>
      <p:sp>
        <p:nvSpPr>
          <p:cNvPr id="39942" name="Rectangle 6">
            <a:extLst>
              <a:ext uri="{FF2B5EF4-FFF2-40B4-BE49-F238E27FC236}">
                <a16:creationId xmlns:a16="http://schemas.microsoft.com/office/drawing/2014/main" id="{D86AF305-C8B2-4A16-A384-5CDC7DB33109}"/>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pic>
        <p:nvPicPr>
          <p:cNvPr id="39943" name="Picture 7" descr="3-7">
            <a:extLst>
              <a:ext uri="{FF2B5EF4-FFF2-40B4-BE49-F238E27FC236}">
                <a16:creationId xmlns:a16="http://schemas.microsoft.com/office/drawing/2014/main" id="{202146ED-0676-4EB9-9F95-54196A204B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404813"/>
            <a:ext cx="5259388"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4" name="Rectangle 9">
            <a:extLst>
              <a:ext uri="{FF2B5EF4-FFF2-40B4-BE49-F238E27FC236}">
                <a16:creationId xmlns:a16="http://schemas.microsoft.com/office/drawing/2014/main" id="{394BCE88-23B8-48C5-9F81-69DA645EF201}"/>
              </a:ext>
            </a:extLst>
          </p:cNvPr>
          <p:cNvSpPr>
            <a:spLocks noChangeArrowheads="1"/>
          </p:cNvSpPr>
          <p:nvPr/>
        </p:nvSpPr>
        <p:spPr bwMode="auto">
          <a:xfrm>
            <a:off x="5435600" y="1268413"/>
            <a:ext cx="158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latin typeface="楷体_GB2312" pitchFamily="49" charset="-122"/>
                <a:ea typeface="楷体_GB2312" pitchFamily="49" charset="-122"/>
              </a:rPr>
              <a:t>光纤的损耗 </a:t>
            </a:r>
          </a:p>
        </p:txBody>
      </p:sp>
      <p:pic>
        <p:nvPicPr>
          <p:cNvPr id="39945" name="Picture 10" descr="未标题-2">
            <a:extLst>
              <a:ext uri="{FF2B5EF4-FFF2-40B4-BE49-F238E27FC236}">
                <a16:creationId xmlns:a16="http://schemas.microsoft.com/office/drawing/2014/main" id="{316CE655-6B32-48BA-85E6-F57B3A70C3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175" y="2357438"/>
            <a:ext cx="3816350" cy="328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6" name="Rectangle 11">
            <a:extLst>
              <a:ext uri="{FF2B5EF4-FFF2-40B4-BE49-F238E27FC236}">
                <a16:creationId xmlns:a16="http://schemas.microsoft.com/office/drawing/2014/main" id="{875DE3BC-2826-438B-A39A-DF02316B4315}"/>
              </a:ext>
            </a:extLst>
          </p:cNvPr>
          <p:cNvSpPr>
            <a:spLocks noChangeArrowheads="1"/>
          </p:cNvSpPr>
          <p:nvPr/>
        </p:nvSpPr>
        <p:spPr bwMode="auto">
          <a:xfrm>
            <a:off x="5003800" y="5805488"/>
            <a:ext cx="285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latin typeface="楷体_GB2312" pitchFamily="49" charset="-122"/>
                <a:ea typeface="楷体_GB2312" pitchFamily="49" charset="-122"/>
              </a:rPr>
              <a:t>多模光纤的损耗谱曲线 </a:t>
            </a:r>
          </a:p>
        </p:txBody>
      </p:sp>
      <p:sp>
        <p:nvSpPr>
          <p:cNvPr id="39947" name="Rectangle 12">
            <a:extLst>
              <a:ext uri="{FF2B5EF4-FFF2-40B4-BE49-F238E27FC236}">
                <a16:creationId xmlns:a16="http://schemas.microsoft.com/office/drawing/2014/main" id="{7C768C50-E4A5-477B-BD4B-8043D25C5253}"/>
              </a:ext>
            </a:extLst>
          </p:cNvPr>
          <p:cNvSpPr>
            <a:spLocks noChangeArrowheads="1"/>
          </p:cNvSpPr>
          <p:nvPr/>
        </p:nvSpPr>
        <p:spPr bwMode="auto">
          <a:xfrm>
            <a:off x="684213" y="2997200"/>
            <a:ext cx="2808287"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rgbClr val="FF0000"/>
                </a:solidFill>
                <a:latin typeface="楷体_GB2312" pitchFamily="49" charset="-122"/>
                <a:ea typeface="楷体_GB2312" pitchFamily="49" charset="-122"/>
              </a:rPr>
              <a:t>光纤的损耗和波长有关。</a:t>
            </a:r>
            <a:r>
              <a:rPr lang="zh-CN" altLang="en-US" sz="2000" b="1" dirty="0">
                <a:latin typeface="楷体_GB2312" pitchFamily="49" charset="-122"/>
                <a:ea typeface="楷体_GB2312" pitchFamily="49" charset="-122"/>
              </a:rPr>
              <a:t>对于不同的波长，光纤有不同的损耗值，也就是说，光纤的损耗是波长</a:t>
            </a:r>
            <a:r>
              <a:rPr lang="en-US" altLang="zh-CN" sz="2000" b="1" dirty="0">
                <a:latin typeface="楷体_GB2312" pitchFamily="49" charset="-122"/>
                <a:ea typeface="楷体_GB2312" pitchFamily="49" charset="-122"/>
              </a:rPr>
              <a:t>λ</a:t>
            </a:r>
            <a:r>
              <a:rPr lang="zh-CN" altLang="en-US" sz="2000" b="1" dirty="0">
                <a:latin typeface="楷体_GB2312" pitchFamily="49" charset="-122"/>
                <a:ea typeface="楷体_GB2312" pitchFamily="49" charset="-122"/>
              </a:rPr>
              <a:t>的函数。</a:t>
            </a:r>
            <a:endParaRPr lang="en-US" altLang="zh-CN" sz="2000" b="1" dirty="0">
              <a:latin typeface="楷体_GB2312" pitchFamily="49" charset="-122"/>
              <a:ea typeface="楷体_GB2312" pitchFamily="49" charset="-122"/>
            </a:endParaRPr>
          </a:p>
          <a:p>
            <a:pPr eaLnBrk="1" hangingPunct="1">
              <a:spcBef>
                <a:spcPct val="0"/>
              </a:spcBef>
              <a:buFontTx/>
              <a:buNone/>
            </a:pPr>
            <a:r>
              <a:rPr lang="zh-CN" altLang="en-US" sz="2000" b="1" dirty="0">
                <a:latin typeface="楷体_GB2312" pitchFamily="49" charset="-122"/>
                <a:ea typeface="楷体_GB2312" pitchFamily="49" charset="-122"/>
              </a:rPr>
              <a:t>损耗来源：</a:t>
            </a:r>
            <a:r>
              <a:rPr lang="zh-CN" altLang="en-US" sz="2000" b="1" dirty="0">
                <a:solidFill>
                  <a:srgbClr val="0000FF"/>
                </a:solidFill>
                <a:latin typeface="楷体_GB2312" pitchFamily="49" charset="-122"/>
                <a:ea typeface="楷体_GB2312" pitchFamily="49" charset="-122"/>
              </a:rPr>
              <a:t>吸收、散射、弯曲</a:t>
            </a:r>
            <a:endParaRPr lang="en-US" altLang="zh-CN" sz="2000" b="1" dirty="0">
              <a:solidFill>
                <a:srgbClr val="0000FF"/>
              </a:solidFill>
              <a:latin typeface="楷体_GB2312" pitchFamily="49" charset="-122"/>
              <a:ea typeface="楷体_GB2312" pitchFamily="49"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5D4B0CB-EB2E-4DAC-A236-7FF0CA9F2A3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40963" name="Rectangle 3">
            <a:extLst>
              <a:ext uri="{FF2B5EF4-FFF2-40B4-BE49-F238E27FC236}">
                <a16:creationId xmlns:a16="http://schemas.microsoft.com/office/drawing/2014/main" id="{401D1EFA-7533-4ACE-B0EA-69EC84F1156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40964" name="Rectangle 5">
            <a:extLst>
              <a:ext uri="{FF2B5EF4-FFF2-40B4-BE49-F238E27FC236}">
                <a16:creationId xmlns:a16="http://schemas.microsoft.com/office/drawing/2014/main" id="{B9EC2462-E881-4FFF-A36A-FB460C3E08B0}"/>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cs typeface="Times New Roman" panose="02020603050405020304" pitchFamily="18" charset="0"/>
              </a:rPr>
              <a:t>：</a:t>
            </a:r>
            <a:endParaRPr kumimoji="0" lang="zh-CN" altLang="en-US" sz="1100">
              <a:latin typeface="Arial" panose="020B0604020202020204" pitchFamily="34" charset="0"/>
              <a:cs typeface="Times New Roman" panose="02020603050405020304" pitchFamily="18" charset="0"/>
            </a:endParaRPr>
          </a:p>
          <a:p>
            <a:pPr>
              <a:spcBef>
                <a:spcPct val="0"/>
              </a:spcBef>
              <a:buFontTx/>
              <a:buNone/>
            </a:pPr>
            <a:endParaRPr kumimoji="0" lang="en-US" altLang="zh-CN" sz="1800">
              <a:latin typeface="Arial" panose="020B0604020202020204" pitchFamily="34" charset="0"/>
              <a:cs typeface="Times New Roman" panose="02020603050405020304" pitchFamily="18" charset="0"/>
            </a:endParaRPr>
          </a:p>
        </p:txBody>
      </p:sp>
      <p:sp>
        <p:nvSpPr>
          <p:cNvPr id="40965" name="Rectangle 6">
            <a:extLst>
              <a:ext uri="{FF2B5EF4-FFF2-40B4-BE49-F238E27FC236}">
                <a16:creationId xmlns:a16="http://schemas.microsoft.com/office/drawing/2014/main" id="{C1F2FB96-6D07-4067-AEEB-12F508F9DA37}"/>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40966" name="Text Box 8">
            <a:extLst>
              <a:ext uri="{FF2B5EF4-FFF2-40B4-BE49-F238E27FC236}">
                <a16:creationId xmlns:a16="http://schemas.microsoft.com/office/drawing/2014/main" id="{D64CD659-656B-41F4-8F33-ADD9988DCD62}"/>
              </a:ext>
            </a:extLst>
          </p:cNvPr>
          <p:cNvSpPr txBox="1">
            <a:spLocks noChangeArrowheads="1"/>
          </p:cNvSpPr>
          <p:nvPr/>
        </p:nvSpPr>
        <p:spPr bwMode="auto">
          <a:xfrm>
            <a:off x="323850" y="476250"/>
            <a:ext cx="7056438"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zh-CN" altLang="en-US" sz="2000" b="1">
                <a:latin typeface="楷体_GB2312" pitchFamily="49" charset="-122"/>
                <a:ea typeface="楷体_GB2312" pitchFamily="49" charset="-122"/>
              </a:rPr>
              <a:t>传输损耗主要原因可分为三类</a:t>
            </a:r>
          </a:p>
          <a:p>
            <a:pPr eaLnBrk="1" hangingPunct="1">
              <a:lnSpc>
                <a:spcPct val="150000"/>
              </a:lnSpc>
              <a:spcBef>
                <a:spcPct val="0"/>
              </a:spcBef>
              <a:buFontTx/>
              <a:buNone/>
            </a:pPr>
            <a:r>
              <a:rPr kumimoji="0" lang="zh-CN" altLang="en-US" sz="2000" b="1">
                <a:latin typeface="楷体_GB2312" pitchFamily="49" charset="-122"/>
                <a:ea typeface="楷体_GB2312" pitchFamily="49" charset="-122"/>
              </a:rPr>
              <a:t>●材料吸收 </a:t>
            </a:r>
            <a:r>
              <a:rPr kumimoji="0" lang="en-US" altLang="zh-CN" sz="2000" b="1">
                <a:latin typeface="Arial" panose="020B0604020202020204" pitchFamily="34" charset="0"/>
                <a:ea typeface="楷体_GB2312" pitchFamily="49" charset="-122"/>
              </a:rPr>
              <a:t>–</a:t>
            </a:r>
            <a:r>
              <a:rPr kumimoji="0" lang="zh-CN" altLang="en-US" sz="2000" b="1">
                <a:latin typeface="楷体_GB2312" pitchFamily="49" charset="-122"/>
                <a:ea typeface="楷体_GB2312" pitchFamily="49" charset="-122"/>
              </a:rPr>
              <a:t>金属杂质吸收散射光</a:t>
            </a:r>
          </a:p>
          <a:p>
            <a:pPr eaLnBrk="1" hangingPunct="1">
              <a:lnSpc>
                <a:spcPct val="150000"/>
              </a:lnSpc>
              <a:spcBef>
                <a:spcPct val="0"/>
              </a:spcBef>
              <a:buFontTx/>
              <a:buNone/>
            </a:pPr>
            <a:r>
              <a:rPr kumimoji="0" lang="zh-CN" altLang="en-US" sz="2000" b="1">
                <a:latin typeface="楷体_GB2312" pitchFamily="49" charset="-122"/>
                <a:ea typeface="楷体_GB2312" pitchFamily="49" charset="-122"/>
              </a:rPr>
              <a:t>●散射损耗</a:t>
            </a:r>
            <a:r>
              <a:rPr kumimoji="0" lang="en-US" altLang="zh-CN" sz="2000" b="1">
                <a:latin typeface="Arial" panose="020B0604020202020204" pitchFamily="34" charset="0"/>
                <a:ea typeface="楷体_GB2312" pitchFamily="49" charset="-122"/>
              </a:rPr>
              <a:t>—</a:t>
            </a:r>
            <a:r>
              <a:rPr kumimoji="0" lang="zh-CN" altLang="en-US" sz="2000" b="1">
                <a:latin typeface="楷体_GB2312" pitchFamily="49" charset="-122"/>
                <a:ea typeface="楷体_GB2312" pitchFamily="49" charset="-122"/>
              </a:rPr>
              <a:t>密度不均匀造成的散射；</a:t>
            </a:r>
          </a:p>
          <a:p>
            <a:pPr eaLnBrk="1" hangingPunct="1">
              <a:lnSpc>
                <a:spcPct val="150000"/>
              </a:lnSpc>
              <a:spcBef>
                <a:spcPct val="0"/>
              </a:spcBef>
              <a:buFontTx/>
              <a:buNone/>
            </a:pPr>
            <a:r>
              <a:rPr kumimoji="0" lang="zh-CN" altLang="en-US" sz="2000" b="1">
                <a:latin typeface="楷体_GB2312" pitchFamily="49" charset="-122"/>
                <a:ea typeface="楷体_GB2312" pitchFamily="49" charset="-122"/>
              </a:rPr>
              <a:t>●弯曲损耗</a:t>
            </a:r>
            <a:r>
              <a:rPr kumimoji="0" lang="en-US" altLang="zh-CN" sz="2000" b="1">
                <a:latin typeface="Arial" panose="020B0604020202020204" pitchFamily="34" charset="0"/>
                <a:ea typeface="楷体_GB2312" pitchFamily="49" charset="-122"/>
              </a:rPr>
              <a:t>—</a:t>
            </a:r>
            <a:r>
              <a:rPr kumimoji="0" lang="zh-CN" altLang="en-US" sz="2000" b="1">
                <a:latin typeface="楷体_GB2312" pitchFamily="49" charset="-122"/>
                <a:ea typeface="楷体_GB2312" pitchFamily="49" charset="-122"/>
              </a:rPr>
              <a:t>弯曲段出现入射角小于折射角的情况。</a:t>
            </a:r>
          </a:p>
        </p:txBody>
      </p:sp>
      <p:sp>
        <p:nvSpPr>
          <p:cNvPr id="40967" name="Rectangle 10">
            <a:extLst>
              <a:ext uri="{FF2B5EF4-FFF2-40B4-BE49-F238E27FC236}">
                <a16:creationId xmlns:a16="http://schemas.microsoft.com/office/drawing/2014/main" id="{42937656-0A99-4650-A9A9-958384FF64E0}"/>
              </a:ext>
            </a:extLst>
          </p:cNvPr>
          <p:cNvSpPr>
            <a:spLocks noChangeArrowheads="1"/>
          </p:cNvSpPr>
          <p:nvPr/>
        </p:nvSpPr>
        <p:spPr bwMode="auto">
          <a:xfrm>
            <a:off x="327025" y="2878138"/>
            <a:ext cx="390207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400" b="1">
                <a:solidFill>
                  <a:srgbClr val="FF0000"/>
                </a:solidFill>
                <a:latin typeface="楷体_GB2312" pitchFamily="49" charset="-122"/>
                <a:ea typeface="楷体_GB2312" pitchFamily="49" charset="-122"/>
              </a:rPr>
              <a:t>4.1.5 </a:t>
            </a:r>
            <a:r>
              <a:rPr kumimoji="0" lang="zh-CN" altLang="zh-CN" sz="2400" b="1">
                <a:solidFill>
                  <a:srgbClr val="FF0000"/>
                </a:solidFill>
                <a:latin typeface="楷体_GB2312" pitchFamily="49" charset="-122"/>
                <a:ea typeface="楷体_GB2312" pitchFamily="49" charset="-122"/>
              </a:rPr>
              <a:t>光纤的传输频带特性</a:t>
            </a:r>
            <a:endParaRPr kumimoji="0" lang="zh-CN" altLang="en-US" sz="2400" b="1">
              <a:solidFill>
                <a:srgbClr val="FF0000"/>
              </a:solidFill>
              <a:latin typeface="楷体_GB2312" pitchFamily="49" charset="-122"/>
              <a:ea typeface="楷体_GB2312" pitchFamily="49" charset="-122"/>
            </a:endParaRPr>
          </a:p>
        </p:txBody>
      </p:sp>
      <p:pic>
        <p:nvPicPr>
          <p:cNvPr id="40968" name="Picture 11" descr="3-8">
            <a:extLst>
              <a:ext uri="{FF2B5EF4-FFF2-40B4-BE49-F238E27FC236}">
                <a16:creationId xmlns:a16="http://schemas.microsoft.com/office/drawing/2014/main" id="{A099F9C7-2EEE-4E80-9C2D-55F1039026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8113" y="3573463"/>
            <a:ext cx="5710237"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9" name="Rectangle 13">
            <a:extLst>
              <a:ext uri="{FF2B5EF4-FFF2-40B4-BE49-F238E27FC236}">
                <a16:creationId xmlns:a16="http://schemas.microsoft.com/office/drawing/2014/main" id="{BE6F86DB-6743-424D-83C3-B287DE6042DC}"/>
              </a:ext>
            </a:extLst>
          </p:cNvPr>
          <p:cNvSpPr>
            <a:spLocks noChangeArrowheads="1"/>
          </p:cNvSpPr>
          <p:nvPr/>
        </p:nvSpPr>
        <p:spPr bwMode="auto">
          <a:xfrm>
            <a:off x="827088" y="4868863"/>
            <a:ext cx="7748587" cy="1422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kumimoji="0" lang="en-US" altLang="zh-CN" sz="2000" b="1" dirty="0">
                <a:latin typeface="楷体_GB2312" pitchFamily="49" charset="-122"/>
                <a:ea typeface="楷体_GB2312" pitchFamily="49" charset="-122"/>
              </a:rPr>
              <a:t>●</a:t>
            </a:r>
            <a:r>
              <a:rPr kumimoji="0" lang="zh-CN" altLang="en-US" sz="2000" b="1" dirty="0">
                <a:latin typeface="楷体_GB2312" pitchFamily="49" charset="-122"/>
                <a:ea typeface="楷体_GB2312" pitchFamily="49" charset="-122"/>
              </a:rPr>
              <a:t>当光信号以</a:t>
            </a:r>
            <a:r>
              <a:rPr kumimoji="0" lang="zh-CN" altLang="en-US" sz="2000" b="1" dirty="0">
                <a:highlight>
                  <a:srgbClr val="FFFF00"/>
                </a:highlight>
                <a:latin typeface="楷体_GB2312" pitchFamily="49" charset="-122"/>
                <a:ea typeface="楷体_GB2312" pitchFamily="49" charset="-122"/>
              </a:rPr>
              <a:t>光脉冲形式</a:t>
            </a:r>
            <a:r>
              <a:rPr kumimoji="0" lang="zh-CN" altLang="en-US" sz="2000" b="1" dirty="0">
                <a:latin typeface="楷体_GB2312" pitchFamily="49" charset="-122"/>
                <a:ea typeface="楷体_GB2312" pitchFamily="49" charset="-122"/>
              </a:rPr>
              <a:t>输入到光导纤维，经过光导纤维传输后，若脉冲严重变宽则脉冲之间就会互相重迭，以致分辨不清，从而产生</a:t>
            </a:r>
            <a:r>
              <a:rPr kumimoji="0" lang="zh-CN" altLang="en-US" sz="2000" b="1" dirty="0">
                <a:ea typeface="楷体_GB2312" pitchFamily="49" charset="-122"/>
              </a:rPr>
              <a:t>“</a:t>
            </a:r>
            <a:r>
              <a:rPr kumimoji="0" lang="zh-CN" altLang="en-US" sz="2000" b="1" dirty="0">
                <a:latin typeface="楷体_GB2312" pitchFamily="49" charset="-122"/>
                <a:ea typeface="楷体_GB2312" pitchFamily="49" charset="-122"/>
              </a:rPr>
              <a:t>误码</a:t>
            </a:r>
            <a:r>
              <a:rPr kumimoji="0" lang="zh-CN" altLang="en-US" sz="2000" b="1" dirty="0">
                <a:ea typeface="楷体_GB2312" pitchFamily="49" charset="-122"/>
              </a:rPr>
              <a:t>”</a:t>
            </a:r>
            <a:r>
              <a:rPr kumimoji="0" lang="zh-CN" altLang="en-US" sz="2000" b="1" dirty="0">
                <a:latin typeface="楷体_GB2312" pitchFamily="49" charset="-122"/>
                <a:ea typeface="楷体_GB2312" pitchFamily="49" charset="-122"/>
              </a:rPr>
              <a:t>，正常的传输就无法实现；</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47B643C-14E4-49D5-9E87-6D939F97B0B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41987" name="Rectangle 3">
            <a:extLst>
              <a:ext uri="{FF2B5EF4-FFF2-40B4-BE49-F238E27FC236}">
                <a16:creationId xmlns:a16="http://schemas.microsoft.com/office/drawing/2014/main" id="{84D07C0B-CC35-4D31-9F99-7C81F2848C8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sp>
        <p:nvSpPr>
          <p:cNvPr id="444420" name="Text Box 4">
            <a:extLst>
              <a:ext uri="{FF2B5EF4-FFF2-40B4-BE49-F238E27FC236}">
                <a16:creationId xmlns:a16="http://schemas.microsoft.com/office/drawing/2014/main" id="{F1A8B507-59E6-4292-9FF4-620354F5219B}"/>
              </a:ext>
            </a:extLst>
          </p:cNvPr>
          <p:cNvSpPr txBox="1">
            <a:spLocks noChangeArrowheads="1"/>
          </p:cNvSpPr>
          <p:nvPr/>
        </p:nvSpPr>
        <p:spPr bwMode="auto">
          <a:xfrm>
            <a:off x="250825" y="333375"/>
            <a:ext cx="7958138"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000" b="1" dirty="0">
                <a:latin typeface="楷体_GB2312" pitchFamily="49" charset="-122"/>
                <a:ea typeface="楷体_GB2312" pitchFamily="49" charset="-122"/>
              </a:rPr>
              <a:t>●</a:t>
            </a:r>
            <a:r>
              <a:rPr kumimoji="0" lang="zh-CN" altLang="en-US" sz="2000" b="1" dirty="0">
                <a:highlight>
                  <a:srgbClr val="FFFF00"/>
                </a:highlight>
                <a:latin typeface="楷体_GB2312" pitchFamily="49" charset="-122"/>
                <a:ea typeface="楷体_GB2312" pitchFamily="49" charset="-122"/>
              </a:rPr>
              <a:t>脉冲展宽的主要原因是色散</a:t>
            </a:r>
            <a:r>
              <a:rPr kumimoji="0" lang="zh-CN" altLang="en-US" sz="2000" b="1" dirty="0">
                <a:latin typeface="楷体_GB2312" pitchFamily="49" charset="-122"/>
                <a:ea typeface="楷体_GB2312" pitchFamily="49" charset="-122"/>
              </a:rPr>
              <a:t>；光的色散是由于光在物质中的速度以及物质的折射率与光的波长有关而发生的现象；</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●光纤中的色散根据其产生原因有：模式色散、材料色散和波导色散。</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●在多模光导纤维中，模式色散则是主要的影响因素。</a:t>
            </a:r>
          </a:p>
          <a:p>
            <a:pPr eaLnBrk="1" hangingPunct="1">
              <a:lnSpc>
                <a:spcPct val="150000"/>
              </a:lnSpc>
              <a:spcBef>
                <a:spcPct val="0"/>
              </a:spcBef>
              <a:buFontTx/>
              <a:buNone/>
            </a:pPr>
            <a:r>
              <a:rPr kumimoji="0" lang="zh-CN" altLang="en-US" sz="2000" b="1" dirty="0">
                <a:latin typeface="楷体_GB2312" pitchFamily="49" charset="-122"/>
                <a:ea typeface="楷体_GB2312" pitchFamily="49" charset="-122"/>
              </a:rPr>
              <a:t>单模光纤不存在模式色散，单模传输的模式单纯，能层集中，失真小，光脉冲频率高，通信容量大；但是由于它的</a:t>
            </a:r>
            <a:r>
              <a:rPr kumimoji="0" lang="zh-CN" altLang="en-US" sz="2000" b="1" dirty="0">
                <a:highlight>
                  <a:srgbClr val="FFFF00"/>
                </a:highlight>
                <a:latin typeface="楷体_GB2312" pitchFamily="49" charset="-122"/>
                <a:ea typeface="楷体_GB2312" pitchFamily="49" charset="-122"/>
              </a:rPr>
              <a:t>芯径太细，制造工艺要求高</a:t>
            </a:r>
            <a:r>
              <a:rPr kumimoji="0" lang="zh-CN" altLang="en-US" sz="2000" b="1" dirty="0">
                <a:latin typeface="楷体_GB2312" pitchFamily="49" charset="-122"/>
                <a:ea typeface="楷体_GB2312" pitchFamily="49" charset="-122"/>
              </a:rPr>
              <a:t>，所以目前大量应用的仍多采用芯径较大的多模光导纤维。</a:t>
            </a:r>
          </a:p>
        </p:txBody>
      </p:sp>
      <p:sp>
        <p:nvSpPr>
          <p:cNvPr id="41989" name="Rectangle 5">
            <a:extLst>
              <a:ext uri="{FF2B5EF4-FFF2-40B4-BE49-F238E27FC236}">
                <a16:creationId xmlns:a16="http://schemas.microsoft.com/office/drawing/2014/main" id="{3049B493-C491-40F9-8078-9AA9B29B160C}"/>
              </a:ext>
            </a:extLst>
          </p:cNvPr>
          <p:cNvSpPr>
            <a:spLocks noChangeArrowheads="1"/>
          </p:cNvSpPr>
          <p:nvPr/>
        </p:nvSpPr>
        <p:spPr bwMode="auto">
          <a:xfrm>
            <a:off x="-2600325" y="4763"/>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000">
                <a:cs typeface="Times New Roman" panose="02020603050405020304" pitchFamily="18" charset="0"/>
              </a:rPr>
              <a:t>：</a:t>
            </a:r>
            <a:endParaRPr kumimoji="0" lang="zh-CN" altLang="en-US" sz="1100">
              <a:latin typeface="Arial" panose="020B0604020202020204" pitchFamily="34" charset="0"/>
              <a:cs typeface="Times New Roman" panose="02020603050405020304" pitchFamily="18" charset="0"/>
            </a:endParaRPr>
          </a:p>
          <a:p>
            <a:pPr>
              <a:spcBef>
                <a:spcPct val="0"/>
              </a:spcBef>
              <a:buFontTx/>
              <a:buNone/>
            </a:pPr>
            <a:endParaRPr kumimoji="0" lang="en-US" altLang="zh-CN" sz="1800">
              <a:latin typeface="Arial" panose="020B0604020202020204" pitchFamily="34" charset="0"/>
              <a:cs typeface="Times New Roman" panose="02020603050405020304" pitchFamily="18" charset="0"/>
            </a:endParaRPr>
          </a:p>
        </p:txBody>
      </p:sp>
      <p:sp>
        <p:nvSpPr>
          <p:cNvPr id="41990" name="Rectangle 6">
            <a:extLst>
              <a:ext uri="{FF2B5EF4-FFF2-40B4-BE49-F238E27FC236}">
                <a16:creationId xmlns:a16="http://schemas.microsoft.com/office/drawing/2014/main" id="{993C7D6A-C8E1-4950-94AA-D7D24A49DA0E}"/>
              </a:ext>
            </a:extLst>
          </p:cNvPr>
          <p:cNvSpPr>
            <a:spLocks noChangeArrowheads="1"/>
          </p:cNvSpPr>
          <p:nvPr/>
        </p:nvSpPr>
        <p:spPr bwMode="auto">
          <a:xfrm>
            <a:off x="0" y="1408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endParaRPr kumimoji="0" lang="zh-CN" altLang="en-US" sz="2000">
              <a:latin typeface="楷体_GB2312" pitchFamily="49" charset="-122"/>
              <a:ea typeface="楷体_GB2312" pitchFamily="49" charset="-122"/>
            </a:endParaRPr>
          </a:p>
        </p:txBody>
      </p:sp>
      <p:pic>
        <p:nvPicPr>
          <p:cNvPr id="41991" name="Picture 7" descr="3-8">
            <a:extLst>
              <a:ext uri="{FF2B5EF4-FFF2-40B4-BE49-F238E27FC236}">
                <a16:creationId xmlns:a16="http://schemas.microsoft.com/office/drawing/2014/main" id="{47CEA1AF-913D-471A-88CB-29FF565D2F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4149725"/>
            <a:ext cx="5903912"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2" name="Rectangle 8">
            <a:extLst>
              <a:ext uri="{FF2B5EF4-FFF2-40B4-BE49-F238E27FC236}">
                <a16:creationId xmlns:a16="http://schemas.microsoft.com/office/drawing/2014/main" id="{2B6E036C-A65A-464B-93E4-9135EFB34897}"/>
              </a:ext>
            </a:extLst>
          </p:cNvPr>
          <p:cNvSpPr>
            <a:spLocks noChangeArrowheads="1"/>
          </p:cNvSpPr>
          <p:nvPr/>
        </p:nvSpPr>
        <p:spPr bwMode="auto">
          <a:xfrm>
            <a:off x="4572000" y="5445125"/>
            <a:ext cx="158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latin typeface="楷体_GB2312" pitchFamily="49" charset="-122"/>
                <a:ea typeface="楷体_GB2312" pitchFamily="49" charset="-122"/>
              </a:rPr>
              <a:t>光纤的色散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442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442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442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442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a:extLst>
              <a:ext uri="{FF2B5EF4-FFF2-40B4-BE49-F238E27FC236}">
                <a16:creationId xmlns:a16="http://schemas.microsoft.com/office/drawing/2014/main" id="{43FC0AF8-FD05-4C10-A911-C1F9D78A3802}"/>
              </a:ext>
            </a:extLst>
          </p:cNvPr>
          <p:cNvSpPr txBox="1">
            <a:spLocks noChangeArrowheads="1"/>
          </p:cNvSpPr>
          <p:nvPr/>
        </p:nvSpPr>
        <p:spPr bwMode="auto">
          <a:xfrm>
            <a:off x="323850" y="265113"/>
            <a:ext cx="546100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800" b="1" dirty="0">
                <a:solidFill>
                  <a:srgbClr val="FF0000"/>
                </a:solidFill>
                <a:latin typeface="楷体_GB2312" pitchFamily="49" charset="-122"/>
                <a:ea typeface="楷体_GB2312" pitchFamily="49" charset="-122"/>
              </a:rPr>
              <a:t>4.2 </a:t>
            </a:r>
            <a:r>
              <a:rPr kumimoji="0" lang="zh-CN" altLang="en-US" sz="2800" b="1" dirty="0">
                <a:solidFill>
                  <a:srgbClr val="FF0000"/>
                </a:solidFill>
                <a:latin typeface="楷体_GB2312" pitchFamily="49" charset="-122"/>
                <a:ea typeface="楷体_GB2312" pitchFamily="49" charset="-122"/>
              </a:rPr>
              <a:t>光源</a:t>
            </a:r>
          </a:p>
        </p:txBody>
      </p:sp>
      <p:sp>
        <p:nvSpPr>
          <p:cNvPr id="41987" name="Text Box 3">
            <a:extLst>
              <a:ext uri="{FF2B5EF4-FFF2-40B4-BE49-F238E27FC236}">
                <a16:creationId xmlns:a16="http://schemas.microsoft.com/office/drawing/2014/main" id="{95CD2F36-7A2E-4FD0-BCD5-AC9CC985384D}"/>
              </a:ext>
            </a:extLst>
          </p:cNvPr>
          <p:cNvSpPr txBox="1">
            <a:spLocks noChangeArrowheads="1"/>
          </p:cNvSpPr>
          <p:nvPr/>
        </p:nvSpPr>
        <p:spPr bwMode="auto">
          <a:xfrm>
            <a:off x="398463" y="884238"/>
            <a:ext cx="496728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defRPr/>
            </a:pPr>
            <a:r>
              <a:rPr kumimoji="0" lang="en-US" altLang="zh-CN" sz="2400" b="1" dirty="0">
                <a:solidFill>
                  <a:schemeClr val="accent1">
                    <a:lumMod val="75000"/>
                  </a:schemeClr>
                </a:solidFill>
                <a:ea typeface="楷体_GB2312" pitchFamily="49" charset="-122"/>
              </a:rPr>
              <a:t>4.2.1 </a:t>
            </a:r>
            <a:r>
              <a:rPr kumimoji="0" lang="zh-CN" altLang="en-US" sz="2400" b="1" dirty="0">
                <a:solidFill>
                  <a:schemeClr val="accent1">
                    <a:lumMod val="75000"/>
                  </a:schemeClr>
                </a:solidFill>
                <a:ea typeface="楷体_GB2312" pitchFamily="49" charset="-122"/>
              </a:rPr>
              <a:t>白炽灯光源</a:t>
            </a:r>
            <a:endParaRPr kumimoji="0" lang="zh-CN" altLang="en-US" sz="2400" b="1" i="1" dirty="0">
              <a:solidFill>
                <a:schemeClr val="accent1">
                  <a:lumMod val="75000"/>
                </a:schemeClr>
              </a:solidFill>
              <a:ea typeface="楷体_GB2312" pitchFamily="49" charset="-122"/>
            </a:endParaRPr>
          </a:p>
        </p:txBody>
      </p:sp>
      <p:sp>
        <p:nvSpPr>
          <p:cNvPr id="43012" name="Text Box 4">
            <a:extLst>
              <a:ext uri="{FF2B5EF4-FFF2-40B4-BE49-F238E27FC236}">
                <a16:creationId xmlns:a16="http://schemas.microsoft.com/office/drawing/2014/main" id="{0CC53792-01C4-4DBB-8E19-B63DFF9C5CFF}"/>
              </a:ext>
            </a:extLst>
          </p:cNvPr>
          <p:cNvSpPr txBox="1">
            <a:spLocks noChangeArrowheads="1"/>
          </p:cNvSpPr>
          <p:nvPr/>
        </p:nvSpPr>
        <p:spPr bwMode="auto">
          <a:xfrm>
            <a:off x="582613" y="1428750"/>
            <a:ext cx="8281987" cy="177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dirty="0">
                <a:ea typeface="楷体_GB2312" pitchFamily="49" charset="-122"/>
              </a:rPr>
              <a:t>        </a:t>
            </a:r>
            <a:r>
              <a:rPr kumimoji="0" lang="zh-CN" altLang="en-US" sz="2000" b="1" dirty="0">
                <a:ea typeface="楷体_GB2312" pitchFamily="49" charset="-122"/>
              </a:rPr>
              <a:t>这类光源通常为钨丝灯泡，其辐射近似地为黑体辐射。其优点是：廉价、容易获得、使用方便。可用作某些传感器的光源，但因</a:t>
            </a:r>
            <a:r>
              <a:rPr kumimoji="0" lang="zh-CN" altLang="en-US" sz="2000" b="1" dirty="0">
                <a:highlight>
                  <a:srgbClr val="FFFF00"/>
                </a:highlight>
                <a:ea typeface="楷体_GB2312" pitchFamily="49" charset="-122"/>
              </a:rPr>
              <a:t>其辐射密度小</a:t>
            </a:r>
            <a:r>
              <a:rPr kumimoji="0" lang="zh-CN" altLang="en-US" sz="2000" b="1" dirty="0">
                <a:ea typeface="楷体_GB2312" pitchFamily="49" charset="-122"/>
              </a:rPr>
              <a:t>，故只能与光纤束和粗芯阶跃光纤配合使用。其缺点是：稳定性差、寿命短（通常只有几百小时）。</a:t>
            </a:r>
          </a:p>
        </p:txBody>
      </p:sp>
      <p:sp>
        <p:nvSpPr>
          <p:cNvPr id="41989" name="Text Box 5">
            <a:extLst>
              <a:ext uri="{FF2B5EF4-FFF2-40B4-BE49-F238E27FC236}">
                <a16:creationId xmlns:a16="http://schemas.microsoft.com/office/drawing/2014/main" id="{BCC1DCBE-D899-4F7D-801E-89EAC576D62E}"/>
              </a:ext>
            </a:extLst>
          </p:cNvPr>
          <p:cNvSpPr txBox="1">
            <a:spLocks noChangeArrowheads="1"/>
          </p:cNvSpPr>
          <p:nvPr/>
        </p:nvSpPr>
        <p:spPr bwMode="auto">
          <a:xfrm>
            <a:off x="398463" y="3351388"/>
            <a:ext cx="496728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defRPr/>
            </a:pPr>
            <a:r>
              <a:rPr kumimoji="0" lang="en-US" altLang="zh-CN" sz="2400" b="1" dirty="0">
                <a:solidFill>
                  <a:schemeClr val="accent1">
                    <a:lumMod val="75000"/>
                  </a:schemeClr>
                </a:solidFill>
                <a:ea typeface="楷体_GB2312" pitchFamily="49" charset="-122"/>
              </a:rPr>
              <a:t>4.2.2 </a:t>
            </a:r>
            <a:r>
              <a:rPr kumimoji="0" lang="zh-CN" altLang="en-US" sz="2400" b="1" dirty="0">
                <a:solidFill>
                  <a:schemeClr val="accent1">
                    <a:lumMod val="75000"/>
                  </a:schemeClr>
                </a:solidFill>
                <a:ea typeface="楷体_GB2312" pitchFamily="49" charset="-122"/>
              </a:rPr>
              <a:t>气体激光器</a:t>
            </a:r>
            <a:endParaRPr kumimoji="0" lang="zh-CN" altLang="en-US" sz="2400" b="1" i="1" dirty="0">
              <a:solidFill>
                <a:schemeClr val="accent1">
                  <a:lumMod val="75000"/>
                </a:schemeClr>
              </a:solidFill>
              <a:ea typeface="楷体_GB2312" pitchFamily="49" charset="-122"/>
            </a:endParaRPr>
          </a:p>
        </p:txBody>
      </p:sp>
      <p:sp>
        <p:nvSpPr>
          <p:cNvPr id="43014" name="Text Box 6">
            <a:extLst>
              <a:ext uri="{FF2B5EF4-FFF2-40B4-BE49-F238E27FC236}">
                <a16:creationId xmlns:a16="http://schemas.microsoft.com/office/drawing/2014/main" id="{27986021-2E66-4552-9504-FA76794C4BF2}"/>
              </a:ext>
            </a:extLst>
          </p:cNvPr>
          <p:cNvSpPr txBox="1">
            <a:spLocks noChangeArrowheads="1"/>
          </p:cNvSpPr>
          <p:nvPr/>
        </p:nvSpPr>
        <p:spPr bwMode="auto">
          <a:xfrm>
            <a:off x="594629" y="3994501"/>
            <a:ext cx="8281987" cy="85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000" b="1" dirty="0">
                <a:ea typeface="楷体_GB2312" pitchFamily="49" charset="-122"/>
              </a:rPr>
              <a:t>        </a:t>
            </a:r>
            <a:r>
              <a:rPr kumimoji="0" lang="zh-CN" altLang="en-US" sz="2000" b="1" dirty="0">
                <a:ea typeface="楷体_GB2312" pitchFamily="49" charset="-122"/>
              </a:rPr>
              <a:t>常见的气体激光器有：氦氖激光器、二氧化碳激光器和氩离子激光器等。常用的是氦氖激光器，除具有相干性高外，还具有以下几个优点：</a:t>
            </a:r>
          </a:p>
        </p:txBody>
      </p:sp>
      <p:sp>
        <p:nvSpPr>
          <p:cNvPr id="7" name="Rectangle 2">
            <a:extLst>
              <a:ext uri="{FF2B5EF4-FFF2-40B4-BE49-F238E27FC236}">
                <a16:creationId xmlns:a16="http://schemas.microsoft.com/office/drawing/2014/main" id="{5C9207DA-1949-4AF5-95E1-3674E10DE52B}"/>
              </a:ext>
            </a:extLst>
          </p:cNvPr>
          <p:cNvSpPr>
            <a:spLocks noChangeArrowheads="1"/>
          </p:cNvSpPr>
          <p:nvPr/>
        </p:nvSpPr>
        <p:spPr bwMode="auto">
          <a:xfrm>
            <a:off x="827584" y="4997276"/>
            <a:ext cx="6853238"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1" eaLnBrk="1" hangingPunct="1">
              <a:lnSpc>
                <a:spcPct val="150000"/>
              </a:lnSpc>
              <a:spcBef>
                <a:spcPct val="0"/>
              </a:spcBef>
              <a:buFont typeface="Wingdings" panose="05000000000000000000" pitchFamily="2" charset="2"/>
              <a:buChar char="Ø"/>
            </a:pPr>
            <a:r>
              <a:rPr kumimoji="0" lang="zh-CN" altLang="en-US" sz="2000" b="1" dirty="0">
                <a:ea typeface="楷体_GB2312" pitchFamily="49" charset="-122"/>
              </a:rPr>
              <a:t>容易实现单模工作，而且线宽非常窄，可低至</a:t>
            </a:r>
            <a:r>
              <a:rPr kumimoji="0" lang="en-US" altLang="zh-CN" sz="2000" b="1" dirty="0">
                <a:ea typeface="楷体_GB2312" pitchFamily="49" charset="-122"/>
              </a:rPr>
              <a:t>1kHz</a:t>
            </a:r>
            <a:r>
              <a:rPr kumimoji="0" lang="zh-CN" altLang="en-US" sz="2000" b="1" dirty="0">
                <a:ea typeface="楷体_GB2312" pitchFamily="49" charset="-122"/>
              </a:rPr>
              <a:t>；</a:t>
            </a:r>
          </a:p>
          <a:p>
            <a:pPr lvl="1" eaLnBrk="1" hangingPunct="1">
              <a:lnSpc>
                <a:spcPct val="150000"/>
              </a:lnSpc>
              <a:spcBef>
                <a:spcPct val="0"/>
              </a:spcBef>
              <a:buFont typeface="Wingdings" panose="05000000000000000000" pitchFamily="2" charset="2"/>
              <a:buChar char="Ø"/>
            </a:pPr>
            <a:r>
              <a:rPr kumimoji="0" lang="zh-CN" altLang="en-US" sz="2000" b="1" dirty="0">
                <a:ea typeface="楷体_GB2312" pitchFamily="49" charset="-122"/>
              </a:rPr>
              <a:t>辐射密度很高，与单模光纤耦合效率高；</a:t>
            </a:r>
          </a:p>
          <a:p>
            <a:pPr lvl="1" eaLnBrk="1" hangingPunct="1">
              <a:lnSpc>
                <a:spcPct val="150000"/>
              </a:lnSpc>
              <a:spcBef>
                <a:spcPct val="0"/>
              </a:spcBef>
              <a:buFont typeface="Wingdings" panose="05000000000000000000" pitchFamily="2" charset="2"/>
              <a:buChar char="Ø"/>
            </a:pPr>
            <a:r>
              <a:rPr kumimoji="0" lang="zh-CN" altLang="en-US" sz="2000" b="1" dirty="0">
                <a:ea typeface="楷体_GB2312" pitchFamily="49" charset="-122"/>
              </a:rPr>
              <a:t>噪声小。</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ext Box 3">
            <a:extLst>
              <a:ext uri="{FF2B5EF4-FFF2-40B4-BE49-F238E27FC236}">
                <a16:creationId xmlns:a16="http://schemas.microsoft.com/office/drawing/2014/main" id="{082AF7B7-34A4-4095-B933-84836BFEE6D4}"/>
              </a:ext>
            </a:extLst>
          </p:cNvPr>
          <p:cNvSpPr txBox="1">
            <a:spLocks noChangeArrowheads="1"/>
          </p:cNvSpPr>
          <p:nvPr/>
        </p:nvSpPr>
        <p:spPr bwMode="auto">
          <a:xfrm>
            <a:off x="220662" y="1424707"/>
            <a:ext cx="496728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defRPr/>
            </a:pPr>
            <a:r>
              <a:rPr kumimoji="0" lang="en-US" altLang="zh-CN" sz="2400" b="1" dirty="0">
                <a:solidFill>
                  <a:schemeClr val="accent1">
                    <a:lumMod val="75000"/>
                  </a:schemeClr>
                </a:solidFill>
                <a:ea typeface="楷体_GB2312" pitchFamily="49" charset="-122"/>
              </a:rPr>
              <a:t>4.2.3 </a:t>
            </a:r>
            <a:r>
              <a:rPr kumimoji="0" lang="zh-CN" altLang="en-US" sz="2400" b="1" dirty="0">
                <a:solidFill>
                  <a:schemeClr val="accent1">
                    <a:lumMod val="75000"/>
                  </a:schemeClr>
                </a:solidFill>
                <a:ea typeface="楷体_GB2312" pitchFamily="49" charset="-122"/>
              </a:rPr>
              <a:t>固态激光器</a:t>
            </a:r>
            <a:endParaRPr kumimoji="0" lang="zh-CN" altLang="en-US" sz="2400" b="1" i="1" dirty="0">
              <a:solidFill>
                <a:schemeClr val="accent1">
                  <a:lumMod val="75000"/>
                </a:schemeClr>
              </a:solidFill>
              <a:ea typeface="楷体_GB2312" pitchFamily="49" charset="-122"/>
            </a:endParaRPr>
          </a:p>
        </p:txBody>
      </p:sp>
      <p:sp>
        <p:nvSpPr>
          <p:cNvPr id="44036" name="Text Box 4">
            <a:extLst>
              <a:ext uri="{FF2B5EF4-FFF2-40B4-BE49-F238E27FC236}">
                <a16:creationId xmlns:a16="http://schemas.microsoft.com/office/drawing/2014/main" id="{DD777168-D37A-4F21-BFB2-41DAEC949807}"/>
              </a:ext>
            </a:extLst>
          </p:cNvPr>
          <p:cNvSpPr txBox="1">
            <a:spLocks noChangeArrowheads="1"/>
          </p:cNvSpPr>
          <p:nvPr/>
        </p:nvSpPr>
        <p:spPr bwMode="auto">
          <a:xfrm>
            <a:off x="468312" y="1916832"/>
            <a:ext cx="8207375"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000" b="1">
                <a:ea typeface="楷体_GB2312" pitchFamily="49" charset="-122"/>
              </a:rPr>
              <a:t>固态激光器又称晶体激光器。目前所说的固体激光器主要指固态钕离子激光器等。优点是：体积小巧，坚固耐用；高功率，高辐射密度，辐射波长在</a:t>
            </a:r>
            <a:r>
              <a:rPr kumimoji="0" lang="en-US" altLang="zh-CN" sz="2000" b="1">
                <a:ea typeface="楷体_GB2312" pitchFamily="49" charset="-122"/>
              </a:rPr>
              <a:t>1.06</a:t>
            </a:r>
            <a:r>
              <a:rPr kumimoji="0" lang="en-US" altLang="zh-CN" sz="2000" b="1">
                <a:ea typeface="楷体_GB2312" pitchFamily="49" charset="-122"/>
                <a:cs typeface="Times New Roman" panose="02020603050405020304" pitchFamily="18" charset="0"/>
              </a:rPr>
              <a:t>~1.35µm</a:t>
            </a:r>
            <a:r>
              <a:rPr kumimoji="0" lang="zh-CN" altLang="en-US" sz="2000" b="1">
                <a:ea typeface="楷体_GB2312" pitchFamily="49" charset="-122"/>
                <a:cs typeface="Times New Roman" panose="02020603050405020304" pitchFamily="18" charset="0"/>
              </a:rPr>
              <a:t>；发射光谱均匀且窄，容许单模工作等；缺点是：相干性和频率稳定性都不如气体激光器。</a:t>
            </a:r>
          </a:p>
        </p:txBody>
      </p:sp>
      <p:sp>
        <p:nvSpPr>
          <p:cNvPr id="44037" name="Text Box 5">
            <a:extLst>
              <a:ext uri="{FF2B5EF4-FFF2-40B4-BE49-F238E27FC236}">
                <a16:creationId xmlns:a16="http://schemas.microsoft.com/office/drawing/2014/main" id="{386F4E60-EE13-4F3D-A98F-064D6C753293}"/>
              </a:ext>
            </a:extLst>
          </p:cNvPr>
          <p:cNvSpPr txBox="1">
            <a:spLocks noChangeArrowheads="1"/>
          </p:cNvSpPr>
          <p:nvPr/>
        </p:nvSpPr>
        <p:spPr bwMode="auto">
          <a:xfrm>
            <a:off x="220662" y="4039319"/>
            <a:ext cx="496728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defRPr/>
            </a:pPr>
            <a:r>
              <a:rPr kumimoji="0" lang="en-US" altLang="zh-CN" sz="2400" b="1" dirty="0">
                <a:solidFill>
                  <a:schemeClr val="accent1">
                    <a:lumMod val="75000"/>
                  </a:schemeClr>
                </a:solidFill>
                <a:ea typeface="楷体_GB2312" pitchFamily="49" charset="-122"/>
              </a:rPr>
              <a:t>4.2.4 </a:t>
            </a:r>
            <a:r>
              <a:rPr kumimoji="0" lang="zh-CN" altLang="en-US" sz="2400" b="1" dirty="0">
                <a:solidFill>
                  <a:schemeClr val="accent1">
                    <a:lumMod val="75000"/>
                  </a:schemeClr>
                </a:solidFill>
                <a:ea typeface="楷体_GB2312" pitchFamily="49" charset="-122"/>
              </a:rPr>
              <a:t>半导体激光器</a:t>
            </a:r>
          </a:p>
        </p:txBody>
      </p:sp>
      <p:sp>
        <p:nvSpPr>
          <p:cNvPr id="44038" name="Text Box 6">
            <a:extLst>
              <a:ext uri="{FF2B5EF4-FFF2-40B4-BE49-F238E27FC236}">
                <a16:creationId xmlns:a16="http://schemas.microsoft.com/office/drawing/2014/main" id="{D5EB43F0-6A8B-4904-B54F-8F3C7A2EF119}"/>
              </a:ext>
            </a:extLst>
          </p:cNvPr>
          <p:cNvSpPr txBox="1">
            <a:spLocks noChangeArrowheads="1"/>
          </p:cNvSpPr>
          <p:nvPr/>
        </p:nvSpPr>
        <p:spPr bwMode="auto">
          <a:xfrm>
            <a:off x="539749" y="4587007"/>
            <a:ext cx="8064500"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000" b="1" dirty="0">
                <a:ea typeface="楷体_GB2312" pitchFamily="49" charset="-122"/>
              </a:rPr>
              <a:t>         </a:t>
            </a:r>
            <a:r>
              <a:rPr kumimoji="0" lang="zh-CN" altLang="en-US" sz="2000" b="1" dirty="0">
                <a:highlight>
                  <a:srgbClr val="FFFF00"/>
                </a:highlight>
                <a:ea typeface="楷体_GB2312" pitchFamily="49" charset="-122"/>
              </a:rPr>
              <a:t>半导体激光器是光纤传感器最重要的光源，它具有体积小巧、坚固耐用、寿命长、可靠性高、辐射密度适中，电源简单等优点</a:t>
            </a:r>
            <a:r>
              <a:rPr kumimoji="0" lang="zh-CN" altLang="en-US" sz="2000" b="1" dirty="0">
                <a:ea typeface="楷体_GB2312" pitchFamily="49" charset="-122"/>
              </a:rPr>
              <a:t>。</a:t>
            </a:r>
          </a:p>
        </p:txBody>
      </p:sp>
      <p:sp>
        <p:nvSpPr>
          <p:cNvPr id="7" name="Text Box 2">
            <a:extLst>
              <a:ext uri="{FF2B5EF4-FFF2-40B4-BE49-F238E27FC236}">
                <a16:creationId xmlns:a16="http://schemas.microsoft.com/office/drawing/2014/main" id="{FB7B7E48-BCCF-4475-AFA4-45151664CB8C}"/>
              </a:ext>
            </a:extLst>
          </p:cNvPr>
          <p:cNvSpPr txBox="1">
            <a:spLocks noChangeArrowheads="1"/>
          </p:cNvSpPr>
          <p:nvPr/>
        </p:nvSpPr>
        <p:spPr bwMode="auto">
          <a:xfrm>
            <a:off x="468312" y="478557"/>
            <a:ext cx="546100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800" b="1" dirty="0">
                <a:solidFill>
                  <a:srgbClr val="FF0000"/>
                </a:solidFill>
                <a:latin typeface="楷体_GB2312" pitchFamily="49" charset="-122"/>
                <a:ea typeface="楷体_GB2312" pitchFamily="49" charset="-122"/>
              </a:rPr>
              <a:t>4.2 </a:t>
            </a:r>
            <a:r>
              <a:rPr kumimoji="0" lang="zh-CN" altLang="en-US" sz="2800" b="1" dirty="0">
                <a:solidFill>
                  <a:srgbClr val="FF0000"/>
                </a:solidFill>
                <a:latin typeface="楷体_GB2312" pitchFamily="49" charset="-122"/>
                <a:ea typeface="楷体_GB2312" pitchFamily="49" charset="-122"/>
              </a:rPr>
              <a:t>光源</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a:extLst>
              <a:ext uri="{FF2B5EF4-FFF2-40B4-BE49-F238E27FC236}">
                <a16:creationId xmlns:a16="http://schemas.microsoft.com/office/drawing/2014/main" id="{BAF02A28-BC4C-4AD0-818C-FC33DED45FA6}"/>
              </a:ext>
            </a:extLst>
          </p:cNvPr>
          <p:cNvSpPr txBox="1">
            <a:spLocks noChangeArrowheads="1"/>
          </p:cNvSpPr>
          <p:nvPr/>
        </p:nvSpPr>
        <p:spPr bwMode="auto">
          <a:xfrm>
            <a:off x="361950" y="1135211"/>
            <a:ext cx="72739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000" b="1">
                <a:ea typeface="楷体_GB2312" pitchFamily="49" charset="-122"/>
              </a:rPr>
              <a:t>（</a:t>
            </a:r>
            <a:r>
              <a:rPr kumimoji="0" lang="en-US" altLang="zh-CN" sz="2000" b="1">
                <a:ea typeface="楷体_GB2312" pitchFamily="49" charset="-122"/>
              </a:rPr>
              <a:t>1</a:t>
            </a:r>
            <a:r>
              <a:rPr kumimoji="0" lang="zh-CN" altLang="en-US" sz="2000" b="1">
                <a:ea typeface="楷体_GB2312" pitchFamily="49" charset="-122"/>
              </a:rPr>
              <a:t>）发光二级管</a:t>
            </a:r>
          </a:p>
        </p:txBody>
      </p:sp>
      <p:sp>
        <p:nvSpPr>
          <p:cNvPr id="45059" name="Text Box 3">
            <a:extLst>
              <a:ext uri="{FF2B5EF4-FFF2-40B4-BE49-F238E27FC236}">
                <a16:creationId xmlns:a16="http://schemas.microsoft.com/office/drawing/2014/main" id="{CE342D13-FE6A-46E5-A4C6-B74CA44A0B16}"/>
              </a:ext>
            </a:extLst>
          </p:cNvPr>
          <p:cNvSpPr txBox="1">
            <a:spLocks noChangeArrowheads="1"/>
          </p:cNvSpPr>
          <p:nvPr/>
        </p:nvSpPr>
        <p:spPr bwMode="auto">
          <a:xfrm>
            <a:off x="539750" y="1640036"/>
            <a:ext cx="8208963"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000" b="1" dirty="0">
                <a:ea typeface="楷体_GB2312" pitchFamily="49" charset="-122"/>
              </a:rPr>
              <a:t>        </a:t>
            </a:r>
            <a:r>
              <a:rPr kumimoji="0" lang="zh-CN" altLang="en-US" sz="2000" b="1" dirty="0">
                <a:ea typeface="楷体_GB2312" pitchFamily="49" charset="-122"/>
              </a:rPr>
              <a:t>这又分为表面出光、端面出光和超辐射等三种</a:t>
            </a:r>
            <a:r>
              <a:rPr kumimoji="0" lang="en-US" altLang="zh-CN" sz="2000" b="1" dirty="0">
                <a:ea typeface="楷体_GB2312" pitchFamily="49" charset="-122"/>
              </a:rPr>
              <a:t>LED</a:t>
            </a:r>
            <a:r>
              <a:rPr kumimoji="0" lang="zh-CN" altLang="en-US" sz="2000" b="1" dirty="0">
                <a:ea typeface="楷体_GB2312" pitchFamily="49" charset="-122"/>
              </a:rPr>
              <a:t>。其共同的特征是辐射光的相干长度只有几</a:t>
            </a:r>
            <a:r>
              <a:rPr kumimoji="0" lang="en-US" altLang="zh-CN" sz="2000" b="1" dirty="0">
                <a:ea typeface="楷体_GB2312" pitchFamily="49" charset="-122"/>
                <a:cs typeface="Times New Roman" panose="02020603050405020304" pitchFamily="18" charset="0"/>
              </a:rPr>
              <a:t>µm</a:t>
            </a:r>
            <a:r>
              <a:rPr kumimoji="0" lang="zh-CN" altLang="en-US" sz="2000" b="1" dirty="0">
                <a:ea typeface="楷体_GB2312" pitchFamily="49" charset="-122"/>
                <a:cs typeface="Times New Roman" panose="02020603050405020304" pitchFamily="18" charset="0"/>
              </a:rPr>
              <a:t>，输出随正向偏置电流的变化接近于线性；可直接进行幅度调制。</a:t>
            </a:r>
          </a:p>
        </p:txBody>
      </p:sp>
      <p:sp>
        <p:nvSpPr>
          <p:cNvPr id="45060" name="Text Box 4">
            <a:extLst>
              <a:ext uri="{FF2B5EF4-FFF2-40B4-BE49-F238E27FC236}">
                <a16:creationId xmlns:a16="http://schemas.microsoft.com/office/drawing/2014/main" id="{B9BAC2A7-5249-426E-AA28-695014F4C908}"/>
              </a:ext>
            </a:extLst>
          </p:cNvPr>
          <p:cNvSpPr txBox="1">
            <a:spLocks noChangeArrowheads="1"/>
          </p:cNvSpPr>
          <p:nvPr/>
        </p:nvSpPr>
        <p:spPr bwMode="auto">
          <a:xfrm>
            <a:off x="539750" y="2983061"/>
            <a:ext cx="8208963"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dirty="0">
                <a:ea typeface="楷体_GB2312" pitchFamily="49" charset="-122"/>
              </a:rPr>
              <a:t>       </a:t>
            </a:r>
            <a:r>
              <a:rPr kumimoji="0" lang="zh-CN" altLang="en-US" sz="2000" b="1" dirty="0">
                <a:highlight>
                  <a:srgbClr val="FFFF00"/>
                </a:highlight>
                <a:ea typeface="楷体_GB2312" pitchFamily="49" charset="-122"/>
              </a:rPr>
              <a:t>表面出光</a:t>
            </a:r>
            <a:r>
              <a:rPr kumimoji="0" lang="en-US" altLang="zh-CN" sz="2000" b="1" dirty="0">
                <a:highlight>
                  <a:srgbClr val="FFFF00"/>
                </a:highlight>
                <a:ea typeface="楷体_GB2312" pitchFamily="49" charset="-122"/>
              </a:rPr>
              <a:t>LED</a:t>
            </a:r>
            <a:r>
              <a:rPr kumimoji="0" lang="zh-CN" altLang="en-US" sz="2000" b="1" dirty="0">
                <a:ea typeface="楷体_GB2312" pitchFamily="49" charset="-122"/>
              </a:rPr>
              <a:t>是多模光纤系统的良好光源，但由于它的辐射角很大，与光纤的耦合很低，不适用于干涉型光纤传感器或其他单模光纤系统中。</a:t>
            </a:r>
          </a:p>
        </p:txBody>
      </p:sp>
      <p:sp>
        <p:nvSpPr>
          <p:cNvPr id="45061" name="Text Box 5">
            <a:extLst>
              <a:ext uri="{FF2B5EF4-FFF2-40B4-BE49-F238E27FC236}">
                <a16:creationId xmlns:a16="http://schemas.microsoft.com/office/drawing/2014/main" id="{A81B39E2-C5FA-4BD7-8286-1BEDF08116D0}"/>
              </a:ext>
            </a:extLst>
          </p:cNvPr>
          <p:cNvSpPr txBox="1">
            <a:spLocks noChangeArrowheads="1"/>
          </p:cNvSpPr>
          <p:nvPr/>
        </p:nvSpPr>
        <p:spPr bwMode="auto">
          <a:xfrm>
            <a:off x="506413" y="4092724"/>
            <a:ext cx="8208962"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dirty="0">
                <a:ea typeface="楷体_GB2312" pitchFamily="49" charset="-122"/>
              </a:rPr>
              <a:t>       </a:t>
            </a:r>
            <a:r>
              <a:rPr kumimoji="0" lang="zh-CN" altLang="en-US" sz="2000" b="1" dirty="0">
                <a:highlight>
                  <a:srgbClr val="FFFF00"/>
                </a:highlight>
                <a:ea typeface="楷体_GB2312" pitchFamily="49" charset="-122"/>
              </a:rPr>
              <a:t>端面出光</a:t>
            </a:r>
            <a:r>
              <a:rPr kumimoji="0" lang="en-US" altLang="zh-CN" sz="2000" b="1" dirty="0">
                <a:highlight>
                  <a:srgbClr val="FFFF00"/>
                </a:highlight>
                <a:ea typeface="楷体_GB2312" pitchFamily="49" charset="-122"/>
              </a:rPr>
              <a:t>LED</a:t>
            </a:r>
            <a:r>
              <a:rPr kumimoji="0" lang="zh-CN" altLang="en-US" sz="2000" b="1" dirty="0">
                <a:ea typeface="楷体_GB2312" pitchFamily="49" charset="-122"/>
              </a:rPr>
              <a:t>有很高的空间相干性，而无时间相干性，因此，它有更多的有用功率耦合进多模或单模光纤中。</a:t>
            </a:r>
          </a:p>
        </p:txBody>
      </p:sp>
      <p:sp>
        <p:nvSpPr>
          <p:cNvPr id="45062" name="Text Box 6">
            <a:extLst>
              <a:ext uri="{FF2B5EF4-FFF2-40B4-BE49-F238E27FC236}">
                <a16:creationId xmlns:a16="http://schemas.microsoft.com/office/drawing/2014/main" id="{CA7DBC80-2D95-4E54-BACB-84F27045F216}"/>
              </a:ext>
            </a:extLst>
          </p:cNvPr>
          <p:cNvSpPr txBox="1">
            <a:spLocks noChangeArrowheads="1"/>
          </p:cNvSpPr>
          <p:nvPr/>
        </p:nvSpPr>
        <p:spPr bwMode="auto">
          <a:xfrm>
            <a:off x="539750" y="5203974"/>
            <a:ext cx="8208963" cy="124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000" b="1" dirty="0">
                <a:ea typeface="楷体_GB2312" pitchFamily="49" charset="-122"/>
              </a:rPr>
              <a:t>       </a:t>
            </a:r>
            <a:r>
              <a:rPr kumimoji="0" lang="zh-CN" altLang="en-US" sz="2000" b="1" dirty="0">
                <a:highlight>
                  <a:srgbClr val="FFFF00"/>
                </a:highlight>
                <a:ea typeface="楷体_GB2312" pitchFamily="49" charset="-122"/>
              </a:rPr>
              <a:t>超辐射</a:t>
            </a:r>
            <a:r>
              <a:rPr kumimoji="0" lang="en-US" altLang="zh-CN" sz="2000" b="1" dirty="0">
                <a:highlight>
                  <a:srgbClr val="FFFF00"/>
                </a:highlight>
                <a:ea typeface="楷体_GB2312" pitchFamily="49" charset="-122"/>
              </a:rPr>
              <a:t>LED</a:t>
            </a:r>
            <a:r>
              <a:rPr kumimoji="0" lang="zh-CN" altLang="en-US" sz="2000" b="1" dirty="0">
                <a:highlight>
                  <a:srgbClr val="FFFF00"/>
                </a:highlight>
                <a:ea typeface="楷体_GB2312" pitchFamily="49" charset="-122"/>
              </a:rPr>
              <a:t>是一种细长条形结构的端面出光</a:t>
            </a:r>
            <a:r>
              <a:rPr kumimoji="0" lang="en-US" altLang="zh-CN" sz="2000" b="1" dirty="0">
                <a:highlight>
                  <a:srgbClr val="FFFF00"/>
                </a:highlight>
                <a:ea typeface="楷体_GB2312" pitchFamily="49" charset="-122"/>
              </a:rPr>
              <a:t>LED</a:t>
            </a:r>
            <a:r>
              <a:rPr kumimoji="0" lang="zh-CN" altLang="en-US" sz="2000" b="1" dirty="0">
                <a:ea typeface="楷体_GB2312" pitchFamily="49" charset="-122"/>
              </a:rPr>
              <a:t>。它提高了端面出光</a:t>
            </a:r>
            <a:r>
              <a:rPr kumimoji="0" lang="en-US" altLang="zh-CN" sz="2000" b="1" dirty="0">
                <a:ea typeface="楷体_GB2312" pitchFamily="49" charset="-122"/>
              </a:rPr>
              <a:t>LED</a:t>
            </a:r>
            <a:r>
              <a:rPr kumimoji="0" lang="zh-CN" altLang="en-US" sz="2000" b="1" dirty="0">
                <a:ea typeface="楷体_GB2312" pitchFamily="49" charset="-122"/>
              </a:rPr>
              <a:t>的输出功率；有较好的定向输出光，减小了光谱密度，但需要较大的激励电流。</a:t>
            </a:r>
          </a:p>
        </p:txBody>
      </p:sp>
      <p:sp>
        <p:nvSpPr>
          <p:cNvPr id="7" name="Text Box 2">
            <a:extLst>
              <a:ext uri="{FF2B5EF4-FFF2-40B4-BE49-F238E27FC236}">
                <a16:creationId xmlns:a16="http://schemas.microsoft.com/office/drawing/2014/main" id="{3DFE9816-226F-43BD-BEC8-3999948E328F}"/>
              </a:ext>
            </a:extLst>
          </p:cNvPr>
          <p:cNvSpPr txBox="1">
            <a:spLocks noChangeArrowheads="1"/>
          </p:cNvSpPr>
          <p:nvPr/>
        </p:nvSpPr>
        <p:spPr bwMode="auto">
          <a:xfrm>
            <a:off x="468312" y="478557"/>
            <a:ext cx="546100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800" b="1" dirty="0">
                <a:solidFill>
                  <a:srgbClr val="FF0000"/>
                </a:solidFill>
                <a:latin typeface="楷体_GB2312" pitchFamily="49" charset="-122"/>
                <a:ea typeface="楷体_GB2312" pitchFamily="49" charset="-122"/>
              </a:rPr>
              <a:t>4.2 </a:t>
            </a:r>
            <a:r>
              <a:rPr kumimoji="0" lang="zh-CN" altLang="en-US" sz="2800" b="1" dirty="0">
                <a:solidFill>
                  <a:srgbClr val="FF0000"/>
                </a:solidFill>
                <a:latin typeface="楷体_GB2312" pitchFamily="49" charset="-122"/>
                <a:ea typeface="楷体_GB2312" pitchFamily="49" charset="-122"/>
              </a:rPr>
              <a:t>光源</a:t>
            </a:r>
          </a:p>
        </p:txBody>
      </p:sp>
      <p:sp>
        <p:nvSpPr>
          <p:cNvPr id="8" name="Text Box 5">
            <a:extLst>
              <a:ext uri="{FF2B5EF4-FFF2-40B4-BE49-F238E27FC236}">
                <a16:creationId xmlns:a16="http://schemas.microsoft.com/office/drawing/2014/main" id="{4854A321-D9F9-4391-A2FD-01B8D6357522}"/>
              </a:ext>
            </a:extLst>
          </p:cNvPr>
          <p:cNvSpPr txBox="1">
            <a:spLocks noChangeArrowheads="1"/>
          </p:cNvSpPr>
          <p:nvPr/>
        </p:nvSpPr>
        <p:spPr bwMode="auto">
          <a:xfrm>
            <a:off x="2655005" y="525257"/>
            <a:ext cx="496728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defRPr/>
            </a:pPr>
            <a:r>
              <a:rPr kumimoji="0" lang="en-US" altLang="zh-CN" sz="2400" b="1" dirty="0">
                <a:solidFill>
                  <a:schemeClr val="accent1">
                    <a:lumMod val="75000"/>
                  </a:schemeClr>
                </a:solidFill>
                <a:ea typeface="楷体_GB2312" pitchFamily="49" charset="-122"/>
              </a:rPr>
              <a:t>4.2.4 </a:t>
            </a:r>
            <a:r>
              <a:rPr kumimoji="0" lang="zh-CN" altLang="en-US" sz="2400" b="1" dirty="0">
                <a:solidFill>
                  <a:schemeClr val="accent1">
                    <a:lumMod val="75000"/>
                  </a:schemeClr>
                </a:solidFill>
                <a:ea typeface="楷体_GB2312" pitchFamily="49" charset="-122"/>
              </a:rPr>
              <a:t>半导体激光器</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a:extLst>
              <a:ext uri="{FF2B5EF4-FFF2-40B4-BE49-F238E27FC236}">
                <a16:creationId xmlns:a16="http://schemas.microsoft.com/office/drawing/2014/main" id="{1AA5E4B9-FED2-4853-8F5F-D8CF059940BA}"/>
              </a:ext>
            </a:extLst>
          </p:cNvPr>
          <p:cNvSpPr txBox="1">
            <a:spLocks noChangeArrowheads="1"/>
          </p:cNvSpPr>
          <p:nvPr/>
        </p:nvSpPr>
        <p:spPr bwMode="auto">
          <a:xfrm>
            <a:off x="473075" y="1621705"/>
            <a:ext cx="72739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000" b="1" dirty="0">
                <a:ea typeface="楷体_GB2312" pitchFamily="49" charset="-122"/>
              </a:rPr>
              <a:t>（</a:t>
            </a:r>
            <a:r>
              <a:rPr kumimoji="0" lang="en-US" altLang="zh-CN" sz="2000" b="1" dirty="0">
                <a:ea typeface="楷体_GB2312" pitchFamily="49" charset="-122"/>
              </a:rPr>
              <a:t>2</a:t>
            </a:r>
            <a:r>
              <a:rPr kumimoji="0" lang="zh-CN" altLang="en-US" sz="2000" b="1" dirty="0">
                <a:ea typeface="楷体_GB2312" pitchFamily="49" charset="-122"/>
              </a:rPr>
              <a:t>）半导体激光二极管（</a:t>
            </a:r>
            <a:r>
              <a:rPr kumimoji="0" lang="en-US" altLang="zh-CN" sz="2000" b="1" dirty="0">
                <a:ea typeface="楷体_GB2312" pitchFamily="49" charset="-122"/>
              </a:rPr>
              <a:t>LD</a:t>
            </a:r>
            <a:r>
              <a:rPr kumimoji="0" lang="zh-CN" altLang="en-US" sz="2000" b="1" dirty="0">
                <a:ea typeface="楷体_GB2312" pitchFamily="49" charset="-122"/>
              </a:rPr>
              <a:t>）</a:t>
            </a:r>
          </a:p>
        </p:txBody>
      </p:sp>
      <p:sp>
        <p:nvSpPr>
          <p:cNvPr id="46083" name="Text Box 3">
            <a:extLst>
              <a:ext uri="{FF2B5EF4-FFF2-40B4-BE49-F238E27FC236}">
                <a16:creationId xmlns:a16="http://schemas.microsoft.com/office/drawing/2014/main" id="{2F5D44D0-C9F3-4872-9B3E-7A908EA071B3}"/>
              </a:ext>
            </a:extLst>
          </p:cNvPr>
          <p:cNvSpPr txBox="1">
            <a:spLocks noChangeArrowheads="1"/>
          </p:cNvSpPr>
          <p:nvPr/>
        </p:nvSpPr>
        <p:spPr bwMode="auto">
          <a:xfrm>
            <a:off x="522288" y="2283693"/>
            <a:ext cx="8208962"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000" b="1" dirty="0">
                <a:ea typeface="楷体_GB2312" pitchFamily="49" charset="-122"/>
              </a:rPr>
              <a:t>         </a:t>
            </a:r>
            <a:r>
              <a:rPr kumimoji="0" lang="en-US" altLang="zh-CN" sz="2000" b="1" dirty="0">
                <a:highlight>
                  <a:srgbClr val="FFFF00"/>
                </a:highlight>
                <a:ea typeface="楷体_GB2312" pitchFamily="49" charset="-122"/>
              </a:rPr>
              <a:t>LD</a:t>
            </a:r>
            <a:r>
              <a:rPr kumimoji="0" lang="zh-CN" altLang="en-US" sz="2000" b="1" dirty="0">
                <a:highlight>
                  <a:srgbClr val="FFFF00"/>
                </a:highlight>
                <a:ea typeface="楷体_GB2312" pitchFamily="49" charset="-122"/>
              </a:rPr>
              <a:t>是具有谐振腔、异质结构的</a:t>
            </a:r>
            <a:r>
              <a:rPr kumimoji="0" lang="en-US" altLang="zh-CN" sz="2000" b="1" dirty="0">
                <a:highlight>
                  <a:srgbClr val="FFFF00"/>
                </a:highlight>
                <a:ea typeface="楷体_GB2312" pitchFamily="49" charset="-122"/>
              </a:rPr>
              <a:t>LED</a:t>
            </a:r>
            <a:r>
              <a:rPr kumimoji="0" lang="zh-CN" altLang="en-US" sz="2000" b="1" dirty="0">
                <a:ea typeface="楷体_GB2312" pitchFamily="49" charset="-122"/>
              </a:rPr>
              <a:t>，在大电流密度激励下产生激光。辐射功率大都为</a:t>
            </a:r>
            <a:r>
              <a:rPr kumimoji="0" lang="en-US" altLang="zh-CN" sz="2000" b="1" dirty="0">
                <a:solidFill>
                  <a:srgbClr val="0000FF"/>
                </a:solidFill>
                <a:ea typeface="楷体_GB2312" pitchFamily="49" charset="-122"/>
              </a:rPr>
              <a:t>10mW</a:t>
            </a:r>
            <a:r>
              <a:rPr kumimoji="0" lang="zh-CN" altLang="en-US" sz="2000" b="1" dirty="0">
                <a:ea typeface="楷体_GB2312" pitchFamily="49" charset="-122"/>
              </a:rPr>
              <a:t>左右，但由于其方向性相当强，故</a:t>
            </a:r>
            <a:r>
              <a:rPr kumimoji="0" lang="zh-CN" altLang="en-US" sz="2000" b="1" dirty="0">
                <a:highlight>
                  <a:srgbClr val="FFFF00"/>
                </a:highlight>
                <a:ea typeface="楷体_GB2312" pitchFamily="49" charset="-122"/>
              </a:rPr>
              <a:t>辐射密度高达</a:t>
            </a:r>
            <a:r>
              <a:rPr kumimoji="0" lang="en-US" altLang="zh-CN" sz="2000" b="1" dirty="0">
                <a:highlight>
                  <a:srgbClr val="FFFF00"/>
                </a:highlight>
                <a:ea typeface="楷体_GB2312" pitchFamily="49" charset="-122"/>
              </a:rPr>
              <a:t>108W/</a:t>
            </a:r>
            <a:r>
              <a:rPr kumimoji="0" lang="zh-CN" altLang="en-US" sz="2000" b="1" dirty="0">
                <a:highlight>
                  <a:srgbClr val="FFFF00"/>
                </a:highlight>
                <a:ea typeface="楷体_GB2312" pitchFamily="49" charset="-122"/>
              </a:rPr>
              <a:t>（</a:t>
            </a:r>
            <a:r>
              <a:rPr kumimoji="0" lang="en-US" altLang="zh-CN" sz="2000" b="1" dirty="0">
                <a:highlight>
                  <a:srgbClr val="FFFF00"/>
                </a:highlight>
                <a:ea typeface="楷体_GB2312" pitchFamily="49" charset="-122"/>
              </a:rPr>
              <a:t>sr·cm2</a:t>
            </a:r>
            <a:r>
              <a:rPr kumimoji="0" lang="zh-CN" altLang="en-US" sz="2000" b="1" dirty="0">
                <a:highlight>
                  <a:srgbClr val="FFFF00"/>
                </a:highlight>
                <a:ea typeface="楷体_GB2312" pitchFamily="49" charset="-122"/>
              </a:rPr>
              <a:t>）</a:t>
            </a:r>
            <a:r>
              <a:rPr kumimoji="0" lang="zh-CN" altLang="en-US" sz="2000" b="1" dirty="0">
                <a:ea typeface="楷体_GB2312" pitchFamily="49" charset="-122"/>
              </a:rPr>
              <a:t>，工作波长在</a:t>
            </a:r>
            <a:r>
              <a:rPr kumimoji="0" lang="en-US" altLang="zh-CN" sz="2000" b="1" dirty="0">
                <a:ea typeface="楷体_GB2312" pitchFamily="49" charset="-122"/>
              </a:rPr>
              <a:t>850nm~900nm</a:t>
            </a:r>
            <a:r>
              <a:rPr kumimoji="0" lang="zh-CN" altLang="en-US" sz="2000" b="1" dirty="0">
                <a:ea typeface="楷体_GB2312" pitchFamily="49" charset="-122"/>
              </a:rPr>
              <a:t>，平均寿命可超过</a:t>
            </a:r>
            <a:r>
              <a:rPr kumimoji="0" lang="en-US" altLang="zh-CN" sz="2000" b="1" dirty="0">
                <a:ea typeface="楷体_GB2312" pitchFamily="49" charset="-122"/>
              </a:rPr>
              <a:t>106h</a:t>
            </a:r>
            <a:r>
              <a:rPr kumimoji="0" lang="zh-CN" altLang="en-US" sz="2000" b="1" dirty="0">
                <a:ea typeface="楷体_GB2312" pitchFamily="49" charset="-122"/>
              </a:rPr>
              <a:t>。这是一种通用的高功率密度光源。</a:t>
            </a:r>
          </a:p>
        </p:txBody>
      </p:sp>
      <p:sp>
        <p:nvSpPr>
          <p:cNvPr id="46084" name="Text Box 4">
            <a:extLst>
              <a:ext uri="{FF2B5EF4-FFF2-40B4-BE49-F238E27FC236}">
                <a16:creationId xmlns:a16="http://schemas.microsoft.com/office/drawing/2014/main" id="{6D262833-67BA-4AF0-9133-D0386CD00E65}"/>
              </a:ext>
            </a:extLst>
          </p:cNvPr>
          <p:cNvSpPr txBox="1">
            <a:spLocks noChangeArrowheads="1"/>
          </p:cNvSpPr>
          <p:nvPr/>
        </p:nvSpPr>
        <p:spPr bwMode="auto">
          <a:xfrm>
            <a:off x="219075" y="4277593"/>
            <a:ext cx="496728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000" b="1">
                <a:ea typeface="楷体_GB2312" pitchFamily="49" charset="-122"/>
              </a:rPr>
              <a:t>4.2.5 </a:t>
            </a:r>
            <a:r>
              <a:rPr kumimoji="0" lang="zh-CN" altLang="en-US" sz="2000" b="1">
                <a:ea typeface="楷体_GB2312" pitchFamily="49" charset="-122"/>
              </a:rPr>
              <a:t>传感器用光源的选择规则</a:t>
            </a:r>
          </a:p>
        </p:txBody>
      </p:sp>
      <p:sp>
        <p:nvSpPr>
          <p:cNvPr id="46085" name="Text Box 5">
            <a:extLst>
              <a:ext uri="{FF2B5EF4-FFF2-40B4-BE49-F238E27FC236}">
                <a16:creationId xmlns:a16="http://schemas.microsoft.com/office/drawing/2014/main" id="{EAF84C0A-07D7-4FC1-86E5-532C7EC28ED7}"/>
              </a:ext>
            </a:extLst>
          </p:cNvPr>
          <p:cNvSpPr txBox="1">
            <a:spLocks noChangeArrowheads="1"/>
          </p:cNvSpPr>
          <p:nvPr/>
        </p:nvSpPr>
        <p:spPr bwMode="auto">
          <a:xfrm>
            <a:off x="142875" y="4941168"/>
            <a:ext cx="8858250"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1" eaLnBrk="1" hangingPunct="1">
              <a:lnSpc>
                <a:spcPct val="120000"/>
              </a:lnSpc>
              <a:spcBef>
                <a:spcPct val="50000"/>
              </a:spcBef>
              <a:buFontTx/>
              <a:buNone/>
            </a:pPr>
            <a:r>
              <a:rPr kumimoji="0" lang="en-US" altLang="zh-CN" sz="2000" b="1">
                <a:ea typeface="楷体_GB2312" pitchFamily="49" charset="-122"/>
              </a:rPr>
              <a:t>1.</a:t>
            </a:r>
            <a:r>
              <a:rPr kumimoji="0" lang="zh-CN" altLang="en-US" sz="2000" b="1">
                <a:ea typeface="楷体_GB2312" pitchFamily="49" charset="-122"/>
              </a:rPr>
              <a:t>辐射强度足够大，而且要求在敏感元件的工作波长上有最大的辐射功率；</a:t>
            </a:r>
          </a:p>
          <a:p>
            <a:pPr lvl="1" eaLnBrk="1" hangingPunct="1">
              <a:lnSpc>
                <a:spcPct val="120000"/>
              </a:lnSpc>
              <a:spcBef>
                <a:spcPct val="50000"/>
              </a:spcBef>
              <a:buFontTx/>
              <a:buNone/>
            </a:pPr>
            <a:r>
              <a:rPr kumimoji="0" lang="en-US" altLang="zh-CN" sz="2000" b="1">
                <a:ea typeface="楷体_GB2312" pitchFamily="49" charset="-122"/>
              </a:rPr>
              <a:t>2.</a:t>
            </a:r>
            <a:r>
              <a:rPr kumimoji="0" lang="zh-CN" altLang="en-US" sz="2000" b="1">
                <a:ea typeface="楷体_GB2312" pitchFamily="49" charset="-122"/>
              </a:rPr>
              <a:t>光源必须与光纤相匹配，以获得最佳耦合效率；</a:t>
            </a:r>
          </a:p>
          <a:p>
            <a:pPr lvl="1" eaLnBrk="1" hangingPunct="1">
              <a:lnSpc>
                <a:spcPct val="120000"/>
              </a:lnSpc>
              <a:spcBef>
                <a:spcPct val="50000"/>
              </a:spcBef>
              <a:buFontTx/>
              <a:buNone/>
            </a:pPr>
            <a:r>
              <a:rPr kumimoji="0" lang="en-US" altLang="zh-CN" sz="2000" b="1">
                <a:ea typeface="楷体_GB2312" pitchFamily="49" charset="-122"/>
              </a:rPr>
              <a:t>3.</a:t>
            </a:r>
            <a:r>
              <a:rPr kumimoji="0" lang="zh-CN" altLang="en-US" sz="2000" b="1">
                <a:ea typeface="楷体_GB2312" pitchFamily="49" charset="-122"/>
              </a:rPr>
              <a:t>光源稳定性好，能长期稳定的工作。</a:t>
            </a:r>
          </a:p>
        </p:txBody>
      </p:sp>
      <p:sp>
        <p:nvSpPr>
          <p:cNvPr id="6" name="Text Box 2">
            <a:extLst>
              <a:ext uri="{FF2B5EF4-FFF2-40B4-BE49-F238E27FC236}">
                <a16:creationId xmlns:a16="http://schemas.microsoft.com/office/drawing/2014/main" id="{633E7B4E-BC2A-41EB-9E3F-7C4DB985320D}"/>
              </a:ext>
            </a:extLst>
          </p:cNvPr>
          <p:cNvSpPr txBox="1">
            <a:spLocks noChangeArrowheads="1"/>
          </p:cNvSpPr>
          <p:nvPr/>
        </p:nvSpPr>
        <p:spPr bwMode="auto">
          <a:xfrm>
            <a:off x="522288" y="279040"/>
            <a:ext cx="546100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800" b="1" dirty="0">
                <a:solidFill>
                  <a:srgbClr val="FF0000"/>
                </a:solidFill>
                <a:latin typeface="楷体_GB2312" pitchFamily="49" charset="-122"/>
                <a:ea typeface="楷体_GB2312" pitchFamily="49" charset="-122"/>
              </a:rPr>
              <a:t>4.2 </a:t>
            </a:r>
            <a:r>
              <a:rPr kumimoji="0" lang="zh-CN" altLang="en-US" sz="2800" b="1" dirty="0">
                <a:solidFill>
                  <a:srgbClr val="FF0000"/>
                </a:solidFill>
                <a:latin typeface="楷体_GB2312" pitchFamily="49" charset="-122"/>
                <a:ea typeface="楷体_GB2312" pitchFamily="49" charset="-122"/>
              </a:rPr>
              <a:t>光源</a:t>
            </a:r>
          </a:p>
        </p:txBody>
      </p:sp>
      <p:sp>
        <p:nvSpPr>
          <p:cNvPr id="7" name="Text Box 5">
            <a:extLst>
              <a:ext uri="{FF2B5EF4-FFF2-40B4-BE49-F238E27FC236}">
                <a16:creationId xmlns:a16="http://schemas.microsoft.com/office/drawing/2014/main" id="{85D2B3FB-1C29-4A04-892A-C9033B862BC1}"/>
              </a:ext>
            </a:extLst>
          </p:cNvPr>
          <p:cNvSpPr txBox="1">
            <a:spLocks noChangeArrowheads="1"/>
          </p:cNvSpPr>
          <p:nvPr/>
        </p:nvSpPr>
        <p:spPr bwMode="auto">
          <a:xfrm>
            <a:off x="494692" y="889867"/>
            <a:ext cx="496728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defRPr/>
            </a:pPr>
            <a:r>
              <a:rPr kumimoji="0" lang="en-US" altLang="zh-CN" sz="2400" b="1" dirty="0">
                <a:solidFill>
                  <a:schemeClr val="accent1">
                    <a:lumMod val="75000"/>
                  </a:schemeClr>
                </a:solidFill>
                <a:ea typeface="楷体_GB2312" pitchFamily="49" charset="-122"/>
              </a:rPr>
              <a:t>4.2.4 </a:t>
            </a:r>
            <a:r>
              <a:rPr kumimoji="0" lang="zh-CN" altLang="en-US" sz="2400" b="1" dirty="0">
                <a:solidFill>
                  <a:schemeClr val="accent1">
                    <a:lumMod val="75000"/>
                  </a:schemeClr>
                </a:solidFill>
                <a:ea typeface="楷体_GB2312" pitchFamily="49" charset="-122"/>
              </a:rPr>
              <a:t>半导体激光器</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a:extLst>
              <a:ext uri="{FF2B5EF4-FFF2-40B4-BE49-F238E27FC236}">
                <a16:creationId xmlns:a16="http://schemas.microsoft.com/office/drawing/2014/main" id="{AC25E3EC-567B-4A38-BB35-13697503E2A4}"/>
              </a:ext>
            </a:extLst>
          </p:cNvPr>
          <p:cNvSpPr txBox="1">
            <a:spLocks noChangeArrowheads="1"/>
          </p:cNvSpPr>
          <p:nvPr/>
        </p:nvSpPr>
        <p:spPr bwMode="auto">
          <a:xfrm>
            <a:off x="323850" y="265113"/>
            <a:ext cx="5461000"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800" b="1" dirty="0">
                <a:solidFill>
                  <a:srgbClr val="FF0000"/>
                </a:solidFill>
                <a:latin typeface="楷体_GB2312" pitchFamily="49" charset="-122"/>
                <a:ea typeface="楷体_GB2312" pitchFamily="49" charset="-122"/>
              </a:rPr>
              <a:t>4.3  </a:t>
            </a:r>
            <a:r>
              <a:rPr kumimoji="0" lang="zh-CN" altLang="en-US" sz="2800" b="1" dirty="0">
                <a:solidFill>
                  <a:srgbClr val="FF0000"/>
                </a:solidFill>
                <a:latin typeface="楷体_GB2312" pitchFamily="49" charset="-122"/>
                <a:ea typeface="楷体_GB2312" pitchFamily="49" charset="-122"/>
              </a:rPr>
              <a:t>检测器</a:t>
            </a:r>
          </a:p>
        </p:txBody>
      </p:sp>
      <p:sp>
        <p:nvSpPr>
          <p:cNvPr id="47107" name="Text Box 3">
            <a:extLst>
              <a:ext uri="{FF2B5EF4-FFF2-40B4-BE49-F238E27FC236}">
                <a16:creationId xmlns:a16="http://schemas.microsoft.com/office/drawing/2014/main" id="{4FB6A04C-2011-4744-AD53-90B749345C7F}"/>
              </a:ext>
            </a:extLst>
          </p:cNvPr>
          <p:cNvSpPr txBox="1">
            <a:spLocks noChangeArrowheads="1"/>
          </p:cNvSpPr>
          <p:nvPr/>
        </p:nvSpPr>
        <p:spPr bwMode="auto">
          <a:xfrm>
            <a:off x="342900" y="1079500"/>
            <a:ext cx="84963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000">
                <a:ea typeface="楷体_GB2312" pitchFamily="49" charset="-122"/>
              </a:rPr>
              <a:t>在光纤传感器中，光电检测是必不可少的器件，它起着把光信号变为电信号的关键作用。</a:t>
            </a:r>
          </a:p>
        </p:txBody>
      </p:sp>
      <p:sp>
        <p:nvSpPr>
          <p:cNvPr id="47108" name="Text Box 4">
            <a:extLst>
              <a:ext uri="{FF2B5EF4-FFF2-40B4-BE49-F238E27FC236}">
                <a16:creationId xmlns:a16="http://schemas.microsoft.com/office/drawing/2014/main" id="{C6B1202D-1B43-4B50-A5F9-1503D8A98A71}"/>
              </a:ext>
            </a:extLst>
          </p:cNvPr>
          <p:cNvSpPr txBox="1">
            <a:spLocks noChangeArrowheads="1"/>
          </p:cNvSpPr>
          <p:nvPr/>
        </p:nvSpPr>
        <p:spPr bwMode="auto">
          <a:xfrm>
            <a:off x="384175" y="2257425"/>
            <a:ext cx="496728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400">
                <a:ea typeface="楷体_GB2312" pitchFamily="49" charset="-122"/>
              </a:rPr>
              <a:t>4.3.1</a:t>
            </a:r>
            <a:r>
              <a:rPr kumimoji="0" lang="zh-CN" altLang="en-US" sz="2400">
                <a:ea typeface="楷体_GB2312" pitchFamily="49" charset="-122"/>
              </a:rPr>
              <a:t>半导体光电检测器</a:t>
            </a:r>
            <a:endParaRPr kumimoji="0" lang="zh-CN" altLang="en-US" sz="2400" i="1">
              <a:ea typeface="楷体_GB2312" pitchFamily="49" charset="-122"/>
            </a:endParaRPr>
          </a:p>
        </p:txBody>
      </p:sp>
      <p:sp>
        <p:nvSpPr>
          <p:cNvPr id="47109" name="Text Box 5">
            <a:extLst>
              <a:ext uri="{FF2B5EF4-FFF2-40B4-BE49-F238E27FC236}">
                <a16:creationId xmlns:a16="http://schemas.microsoft.com/office/drawing/2014/main" id="{CB9D5BA5-AE53-4D22-AA34-7CAB6E065AE2}"/>
              </a:ext>
            </a:extLst>
          </p:cNvPr>
          <p:cNvSpPr txBox="1">
            <a:spLocks noChangeArrowheads="1"/>
          </p:cNvSpPr>
          <p:nvPr/>
        </p:nvSpPr>
        <p:spPr bwMode="auto">
          <a:xfrm>
            <a:off x="395288" y="2874963"/>
            <a:ext cx="8353425" cy="212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dirty="0">
                <a:ea typeface="楷体_GB2312" pitchFamily="49" charset="-122"/>
              </a:rPr>
              <a:t>       </a:t>
            </a:r>
            <a:r>
              <a:rPr kumimoji="0" lang="zh-CN" altLang="en-US" sz="2000" dirty="0">
                <a:ea typeface="楷体_GB2312" pitchFamily="49" charset="-122"/>
              </a:rPr>
              <a:t>这是光纤传感器常用的一种光电检测器，主要有</a:t>
            </a:r>
            <a:r>
              <a:rPr kumimoji="0" lang="en-US" altLang="zh-CN" sz="2000" dirty="0">
                <a:highlight>
                  <a:srgbClr val="FFFF00"/>
                </a:highlight>
                <a:ea typeface="楷体_GB2312" pitchFamily="49" charset="-122"/>
              </a:rPr>
              <a:t>PIN</a:t>
            </a:r>
            <a:r>
              <a:rPr kumimoji="0" lang="zh-CN" altLang="en-US" sz="2000" dirty="0">
                <a:highlight>
                  <a:srgbClr val="FFFF00"/>
                </a:highlight>
                <a:ea typeface="楷体_GB2312" pitchFamily="49" charset="-122"/>
              </a:rPr>
              <a:t>光电二极管</a:t>
            </a:r>
            <a:r>
              <a:rPr kumimoji="0" lang="zh-CN" altLang="en-US" sz="2000" dirty="0">
                <a:ea typeface="楷体_GB2312" pitchFamily="49" charset="-122"/>
              </a:rPr>
              <a:t>、</a:t>
            </a:r>
            <a:r>
              <a:rPr kumimoji="0" lang="zh-CN" altLang="en-US" sz="2000" dirty="0">
                <a:highlight>
                  <a:srgbClr val="FFFF00"/>
                </a:highlight>
                <a:ea typeface="楷体_GB2312" pitchFamily="49" charset="-122"/>
              </a:rPr>
              <a:t>雪崩式光电二极管</a:t>
            </a:r>
            <a:r>
              <a:rPr kumimoji="0" lang="zh-CN" altLang="en-US" sz="2000" dirty="0">
                <a:ea typeface="楷体_GB2312" pitchFamily="49" charset="-122"/>
              </a:rPr>
              <a:t>、</a:t>
            </a:r>
            <a:r>
              <a:rPr kumimoji="0" lang="en-US" altLang="zh-CN" sz="2000" dirty="0">
                <a:highlight>
                  <a:srgbClr val="FFFF00"/>
                </a:highlight>
                <a:ea typeface="楷体_GB2312" pitchFamily="49" charset="-122"/>
              </a:rPr>
              <a:t>PIN-FET</a:t>
            </a:r>
            <a:r>
              <a:rPr kumimoji="0" lang="zh-CN" altLang="en-US" sz="2000" dirty="0">
                <a:highlight>
                  <a:srgbClr val="FFFF00"/>
                </a:highlight>
                <a:ea typeface="楷体_GB2312" pitchFamily="49" charset="-122"/>
              </a:rPr>
              <a:t>微型组件</a:t>
            </a:r>
            <a:r>
              <a:rPr kumimoji="0" lang="zh-CN" altLang="en-US" sz="2000" dirty="0">
                <a:ea typeface="楷体_GB2312" pitchFamily="49" charset="-122"/>
              </a:rPr>
              <a:t>等。它们的结构虽有所不同，但检测过程基本相同。即在入射光子作用下，产生电子</a:t>
            </a:r>
            <a:r>
              <a:rPr kumimoji="0" lang="en-US" altLang="zh-CN" sz="2000" dirty="0">
                <a:ea typeface="楷体_GB2312" pitchFamily="49" charset="-122"/>
              </a:rPr>
              <a:t>—</a:t>
            </a:r>
            <a:r>
              <a:rPr kumimoji="0" lang="zh-CN" altLang="en-US" sz="2000" dirty="0">
                <a:ea typeface="楷体_GB2312" pitchFamily="49" charset="-122"/>
              </a:rPr>
              <a:t>空穴对，然后受强电场作用而分离出自由电子，最后收集起来形成光电流。因此，实际上它们就是光子计数器。</a:t>
            </a:r>
          </a:p>
        </p:txBody>
      </p:sp>
      <p:sp>
        <p:nvSpPr>
          <p:cNvPr id="47110" name="Text Box 6">
            <a:extLst>
              <a:ext uri="{FF2B5EF4-FFF2-40B4-BE49-F238E27FC236}">
                <a16:creationId xmlns:a16="http://schemas.microsoft.com/office/drawing/2014/main" id="{CE260DEF-14AA-4CB8-B957-625C90C498C6}"/>
              </a:ext>
            </a:extLst>
          </p:cNvPr>
          <p:cNvSpPr txBox="1">
            <a:spLocks noChangeArrowheads="1"/>
          </p:cNvSpPr>
          <p:nvPr/>
        </p:nvSpPr>
        <p:spPr bwMode="auto">
          <a:xfrm>
            <a:off x="395288" y="5251450"/>
            <a:ext cx="496728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400">
                <a:ea typeface="楷体_GB2312" pitchFamily="49" charset="-122"/>
              </a:rPr>
              <a:t>4.3.2</a:t>
            </a:r>
            <a:r>
              <a:rPr kumimoji="0" lang="zh-CN" altLang="en-US" sz="2400">
                <a:ea typeface="楷体_GB2312" pitchFamily="49" charset="-122"/>
              </a:rPr>
              <a:t>光电倍增管</a:t>
            </a:r>
            <a:endParaRPr kumimoji="0" lang="zh-CN" altLang="en-US" sz="2400" i="1">
              <a:ea typeface="楷体_GB2312" pitchFamily="49" charset="-122"/>
            </a:endParaRPr>
          </a:p>
        </p:txBody>
      </p:sp>
      <p:sp>
        <p:nvSpPr>
          <p:cNvPr id="47111" name="Text Box 7">
            <a:extLst>
              <a:ext uri="{FF2B5EF4-FFF2-40B4-BE49-F238E27FC236}">
                <a16:creationId xmlns:a16="http://schemas.microsoft.com/office/drawing/2014/main" id="{6DC67565-6FA2-477A-9070-14D41E05C179}"/>
              </a:ext>
            </a:extLst>
          </p:cNvPr>
          <p:cNvSpPr txBox="1">
            <a:spLocks noChangeArrowheads="1"/>
          </p:cNvSpPr>
          <p:nvPr/>
        </p:nvSpPr>
        <p:spPr bwMode="auto">
          <a:xfrm>
            <a:off x="395288" y="5826125"/>
            <a:ext cx="856932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400" dirty="0">
                <a:ea typeface="楷体_GB2312" pitchFamily="49" charset="-122"/>
              </a:rPr>
              <a:t>       </a:t>
            </a:r>
            <a:r>
              <a:rPr kumimoji="0" lang="zh-CN" altLang="en-US" sz="2000" dirty="0">
                <a:ea typeface="楷体_GB2312" pitchFamily="49" charset="-122"/>
              </a:rPr>
              <a:t>这是一种</a:t>
            </a:r>
            <a:r>
              <a:rPr kumimoji="0" lang="zh-CN" altLang="en-US" sz="2000" dirty="0">
                <a:highlight>
                  <a:srgbClr val="FFFF00"/>
                </a:highlight>
                <a:ea typeface="楷体_GB2312" pitchFamily="49" charset="-122"/>
              </a:rPr>
              <a:t>最灵敏的光电检测器</a:t>
            </a:r>
            <a:r>
              <a:rPr kumimoji="0" lang="zh-CN" altLang="en-US" sz="2000" dirty="0">
                <a:ea typeface="楷体_GB2312" pitchFamily="49" charset="-122"/>
              </a:rPr>
              <a:t>。倍增过程可很好控制，不存在过剩噪声问题。</a:t>
            </a:r>
          </a:p>
        </p:txBody>
      </p:sp>
      <p:pic>
        <p:nvPicPr>
          <p:cNvPr id="47112" name="Picture 3" descr="ColorLinea.gif (4491 bytes)">
            <a:extLst>
              <a:ext uri="{FF2B5EF4-FFF2-40B4-BE49-F238E27FC236}">
                <a16:creationId xmlns:a16="http://schemas.microsoft.com/office/drawing/2014/main" id="{12D11DD8-0012-4153-989D-7448615B59BA}"/>
              </a:ext>
            </a:extLst>
          </p:cNvPr>
          <p:cNvPicPr preferRelativeResize="0">
            <a:picLocks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175" y="1042988"/>
            <a:ext cx="9174163"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a:extLst>
              <a:ext uri="{FF2B5EF4-FFF2-40B4-BE49-F238E27FC236}">
                <a16:creationId xmlns:a16="http://schemas.microsoft.com/office/drawing/2014/main" id="{7E430E2F-1FC5-4FD8-9E76-991028496CBD}"/>
              </a:ext>
            </a:extLst>
          </p:cNvPr>
          <p:cNvSpPr txBox="1">
            <a:spLocks noChangeArrowheads="1"/>
          </p:cNvSpPr>
          <p:nvPr/>
        </p:nvSpPr>
        <p:spPr bwMode="auto">
          <a:xfrm>
            <a:off x="462299" y="337530"/>
            <a:ext cx="4967287"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400" b="1" dirty="0">
                <a:solidFill>
                  <a:schemeClr val="accent1">
                    <a:lumMod val="75000"/>
                  </a:schemeClr>
                </a:solidFill>
                <a:ea typeface="楷体_GB2312" pitchFamily="49" charset="-122"/>
              </a:rPr>
              <a:t>4.3.3</a:t>
            </a:r>
            <a:r>
              <a:rPr kumimoji="0" lang="zh-CN" altLang="en-US" sz="2400" b="1" dirty="0">
                <a:solidFill>
                  <a:schemeClr val="accent1">
                    <a:lumMod val="75000"/>
                  </a:schemeClr>
                </a:solidFill>
                <a:ea typeface="楷体_GB2312" pitchFamily="49" charset="-122"/>
              </a:rPr>
              <a:t>光电检测器的选择规则</a:t>
            </a:r>
          </a:p>
        </p:txBody>
      </p:sp>
      <p:sp>
        <p:nvSpPr>
          <p:cNvPr id="48131" name="Text Box 3">
            <a:extLst>
              <a:ext uri="{FF2B5EF4-FFF2-40B4-BE49-F238E27FC236}">
                <a16:creationId xmlns:a16="http://schemas.microsoft.com/office/drawing/2014/main" id="{A00E24FE-1CFD-4E51-A881-D8DE4A5ECEE4}"/>
              </a:ext>
            </a:extLst>
          </p:cNvPr>
          <p:cNvSpPr txBox="1">
            <a:spLocks noChangeArrowheads="1"/>
          </p:cNvSpPr>
          <p:nvPr/>
        </p:nvSpPr>
        <p:spPr bwMode="auto">
          <a:xfrm>
            <a:off x="468313" y="908050"/>
            <a:ext cx="8351837"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选择光电检测器的主要依据是：可能获得理想的光信号强度、光背景电平和所需要的信噪比等因素。而信噪比则由所要求的信号分辨率决定。为了获得足够大的信噪比，检测必须满足下列条件。</a:t>
            </a:r>
          </a:p>
        </p:txBody>
      </p:sp>
      <p:sp>
        <p:nvSpPr>
          <p:cNvPr id="48132" name="Text Box 4">
            <a:extLst>
              <a:ext uri="{FF2B5EF4-FFF2-40B4-BE49-F238E27FC236}">
                <a16:creationId xmlns:a16="http://schemas.microsoft.com/office/drawing/2014/main" id="{F65B4B7A-7619-4CBD-A149-0D8223036539}"/>
              </a:ext>
            </a:extLst>
          </p:cNvPr>
          <p:cNvSpPr txBox="1">
            <a:spLocks noChangeArrowheads="1"/>
          </p:cNvSpPr>
          <p:nvPr/>
        </p:nvSpPr>
        <p:spPr bwMode="auto">
          <a:xfrm>
            <a:off x="539750" y="2876550"/>
            <a:ext cx="7920038"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2" eaLnBrk="1" hangingPunct="1">
              <a:lnSpc>
                <a:spcPct val="120000"/>
              </a:lnSpc>
              <a:spcBef>
                <a:spcPct val="50000"/>
              </a:spcBef>
              <a:buFontTx/>
              <a:buNone/>
            </a:pPr>
            <a:r>
              <a:rPr kumimoji="0" lang="en-US" altLang="zh-CN" dirty="0">
                <a:ea typeface="楷体_GB2312" pitchFamily="49" charset="-122"/>
              </a:rPr>
              <a:t>①</a:t>
            </a:r>
            <a:r>
              <a:rPr kumimoji="0" lang="zh-CN" altLang="en-US" dirty="0">
                <a:ea typeface="楷体_GB2312" pitchFamily="49" charset="-122"/>
              </a:rPr>
              <a:t>在工作波段内灵敏度更高。</a:t>
            </a:r>
          </a:p>
          <a:p>
            <a:pPr lvl="2" eaLnBrk="1" hangingPunct="1">
              <a:lnSpc>
                <a:spcPct val="120000"/>
              </a:lnSpc>
              <a:spcBef>
                <a:spcPct val="50000"/>
              </a:spcBef>
              <a:buFontTx/>
              <a:buNone/>
            </a:pPr>
            <a:r>
              <a:rPr kumimoji="0" lang="zh-CN" altLang="en-US" dirty="0">
                <a:ea typeface="楷体_GB2312" pitchFamily="49" charset="-122"/>
              </a:rPr>
              <a:t>②由检测器引入的噪声必须最小。</a:t>
            </a:r>
          </a:p>
          <a:p>
            <a:pPr lvl="2" eaLnBrk="1" hangingPunct="1">
              <a:lnSpc>
                <a:spcPct val="120000"/>
              </a:lnSpc>
              <a:spcBef>
                <a:spcPct val="50000"/>
              </a:spcBef>
              <a:buFontTx/>
              <a:buNone/>
            </a:pPr>
            <a:r>
              <a:rPr kumimoji="0" lang="zh-CN" altLang="en-US" dirty="0">
                <a:ea typeface="楷体_GB2312" pitchFamily="49" charset="-122"/>
              </a:rPr>
              <a:t>③可靠性高，稳定性好。</a:t>
            </a:r>
          </a:p>
        </p:txBody>
      </p:sp>
      <p:sp>
        <p:nvSpPr>
          <p:cNvPr id="48133" name="Text Box 5">
            <a:extLst>
              <a:ext uri="{FF2B5EF4-FFF2-40B4-BE49-F238E27FC236}">
                <a16:creationId xmlns:a16="http://schemas.microsoft.com/office/drawing/2014/main" id="{2AC68253-68D0-40EF-AF54-257D893DE3A3}"/>
              </a:ext>
            </a:extLst>
          </p:cNvPr>
          <p:cNvSpPr txBox="1">
            <a:spLocks noChangeArrowheads="1"/>
          </p:cNvSpPr>
          <p:nvPr/>
        </p:nvSpPr>
        <p:spPr bwMode="auto">
          <a:xfrm>
            <a:off x="468313" y="4724400"/>
            <a:ext cx="8110537"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下表列出了上述光检测器的主要性能。此外检测器还应具有尺寸要小、便于组装、容易与光纤耦合、偏压或偏流不宜过高、价格低廉等条件。</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54" name="Group 2">
            <a:extLst>
              <a:ext uri="{FF2B5EF4-FFF2-40B4-BE49-F238E27FC236}">
                <a16:creationId xmlns:a16="http://schemas.microsoft.com/office/drawing/2014/main" id="{16B8820A-4891-48DB-B493-526AAD178533}"/>
              </a:ext>
            </a:extLst>
          </p:cNvPr>
          <p:cNvGrpSpPr>
            <a:grpSpLocks/>
          </p:cNvGrpSpPr>
          <p:nvPr/>
        </p:nvGrpSpPr>
        <p:grpSpPr bwMode="auto">
          <a:xfrm>
            <a:off x="755650" y="765175"/>
            <a:ext cx="7704138" cy="5256213"/>
            <a:chOff x="482" y="1367"/>
            <a:chExt cx="4558" cy="2444"/>
          </a:xfrm>
        </p:grpSpPr>
        <p:pic>
          <p:nvPicPr>
            <p:cNvPr id="49155" name="Picture 3" descr="DSC03215">
              <a:extLst>
                <a:ext uri="{FF2B5EF4-FFF2-40B4-BE49-F238E27FC236}">
                  <a16:creationId xmlns:a16="http://schemas.microsoft.com/office/drawing/2014/main" id="{517C8309-E186-434C-B108-1FA627A9C9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 y="1906"/>
              <a:ext cx="4456" cy="1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6" name="Picture 4" descr="DSC03217">
              <a:extLst>
                <a:ext uri="{FF2B5EF4-FFF2-40B4-BE49-F238E27FC236}">
                  <a16:creationId xmlns:a16="http://schemas.microsoft.com/office/drawing/2014/main" id="{25AD2F59-62A4-4191-ADB1-CCDCBC1882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 y="1367"/>
              <a:ext cx="4558" cy="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a:extLst>
              <a:ext uri="{FF2B5EF4-FFF2-40B4-BE49-F238E27FC236}">
                <a16:creationId xmlns:a16="http://schemas.microsoft.com/office/drawing/2014/main" id="{AF8F49DB-79FB-42BE-ADA7-F2E17752DC1A}"/>
              </a:ext>
            </a:extLst>
          </p:cNvPr>
          <p:cNvSpPr>
            <a:spLocks noRot="1" noChangeArrowheads="1"/>
          </p:cNvSpPr>
          <p:nvPr/>
        </p:nvSpPr>
        <p:spPr bwMode="auto">
          <a:xfrm>
            <a:off x="179388" y="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10000"/>
              </a:spcBef>
              <a:buFontTx/>
              <a:buNone/>
            </a:pPr>
            <a:r>
              <a:rPr lang="en-US" altLang="zh-CN" b="1">
                <a:solidFill>
                  <a:schemeClr val="tx2"/>
                </a:solidFill>
                <a:latin typeface="楷体_GB2312" pitchFamily="49" charset="-122"/>
                <a:ea typeface="楷体_GB2312" pitchFamily="49" charset="-122"/>
              </a:rPr>
              <a:t>5 </a:t>
            </a:r>
            <a:r>
              <a:rPr lang="zh-CN" altLang="en-US" b="1">
                <a:solidFill>
                  <a:schemeClr val="tx2"/>
                </a:solidFill>
                <a:latin typeface="楷体_GB2312" pitchFamily="49" charset="-122"/>
                <a:ea typeface="楷体_GB2312" pitchFamily="49" charset="-122"/>
              </a:rPr>
              <a:t>光纤传感器的应用</a:t>
            </a:r>
          </a:p>
        </p:txBody>
      </p:sp>
      <p:sp>
        <p:nvSpPr>
          <p:cNvPr id="50179" name="Text Box 3">
            <a:extLst>
              <a:ext uri="{FF2B5EF4-FFF2-40B4-BE49-F238E27FC236}">
                <a16:creationId xmlns:a16="http://schemas.microsoft.com/office/drawing/2014/main" id="{CBAD412B-881D-4E52-BB33-746326FBDDDA}"/>
              </a:ext>
            </a:extLst>
          </p:cNvPr>
          <p:cNvSpPr txBox="1">
            <a:spLocks noChangeArrowheads="1"/>
          </p:cNvSpPr>
          <p:nvPr/>
        </p:nvSpPr>
        <p:spPr bwMode="auto">
          <a:xfrm>
            <a:off x="714375" y="1171575"/>
            <a:ext cx="5461000"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800" dirty="0">
                <a:solidFill>
                  <a:srgbClr val="C00000"/>
                </a:solidFill>
                <a:latin typeface="楷体_GB2312" pitchFamily="49" charset="-122"/>
                <a:ea typeface="楷体_GB2312" pitchFamily="49" charset="-122"/>
              </a:rPr>
              <a:t>5.1 </a:t>
            </a:r>
            <a:r>
              <a:rPr kumimoji="0" lang="zh-CN" altLang="en-US" sz="2800" dirty="0">
                <a:solidFill>
                  <a:srgbClr val="C00000"/>
                </a:solidFill>
                <a:latin typeface="楷体_GB2312" pitchFamily="49" charset="-122"/>
                <a:ea typeface="楷体_GB2312" pitchFamily="49" charset="-122"/>
              </a:rPr>
              <a:t>温度的检测（</a:t>
            </a:r>
            <a:r>
              <a:rPr kumimoji="0" lang="zh-CN" altLang="en-US" sz="2800" dirty="0">
                <a:solidFill>
                  <a:srgbClr val="0000FF"/>
                </a:solidFill>
                <a:latin typeface="楷体_GB2312" pitchFamily="49" charset="-122"/>
                <a:ea typeface="楷体_GB2312" pitchFamily="49" charset="-122"/>
              </a:rPr>
              <a:t>部分了解</a:t>
            </a:r>
            <a:r>
              <a:rPr kumimoji="0" lang="zh-CN" altLang="en-US" sz="2800" dirty="0">
                <a:solidFill>
                  <a:srgbClr val="C00000"/>
                </a:solidFill>
                <a:latin typeface="楷体_GB2312" pitchFamily="49" charset="-122"/>
                <a:ea typeface="楷体_GB2312" pitchFamily="49" charset="-122"/>
              </a:rPr>
              <a:t>）</a:t>
            </a:r>
          </a:p>
        </p:txBody>
      </p:sp>
      <p:sp>
        <p:nvSpPr>
          <p:cNvPr id="50180" name="Text Box 4">
            <a:extLst>
              <a:ext uri="{FF2B5EF4-FFF2-40B4-BE49-F238E27FC236}">
                <a16:creationId xmlns:a16="http://schemas.microsoft.com/office/drawing/2014/main" id="{8ED15DAD-BF53-40A8-BC44-3ED21E424798}"/>
              </a:ext>
            </a:extLst>
          </p:cNvPr>
          <p:cNvSpPr txBox="1">
            <a:spLocks noChangeArrowheads="1"/>
          </p:cNvSpPr>
          <p:nvPr/>
        </p:nvSpPr>
        <p:spPr bwMode="auto">
          <a:xfrm>
            <a:off x="539750" y="1700213"/>
            <a:ext cx="8280400" cy="151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光纤温度传感器的种类很多，有功能型的，也有传光型的。在此介绍几种典型的已实用化的光纤温度传感器的原理、性能及特征。</a:t>
            </a:r>
          </a:p>
        </p:txBody>
      </p:sp>
      <p:sp>
        <p:nvSpPr>
          <p:cNvPr id="50181" name="Text Box 5">
            <a:extLst>
              <a:ext uri="{FF2B5EF4-FFF2-40B4-BE49-F238E27FC236}">
                <a16:creationId xmlns:a16="http://schemas.microsoft.com/office/drawing/2014/main" id="{1DEE30D9-746D-4201-A100-3E0351FD735F}"/>
              </a:ext>
            </a:extLst>
          </p:cNvPr>
          <p:cNvSpPr txBox="1">
            <a:spLocks noChangeArrowheads="1"/>
          </p:cNvSpPr>
          <p:nvPr/>
        </p:nvSpPr>
        <p:spPr bwMode="auto">
          <a:xfrm>
            <a:off x="600075" y="3173413"/>
            <a:ext cx="4967288"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ea typeface="楷体_GB2312" pitchFamily="49" charset="-122"/>
              </a:rPr>
              <a:t>（</a:t>
            </a:r>
            <a:r>
              <a:rPr kumimoji="0" lang="en-US" altLang="zh-CN" sz="2400">
                <a:ea typeface="楷体_GB2312" pitchFamily="49" charset="-122"/>
              </a:rPr>
              <a:t>1</a:t>
            </a:r>
            <a:r>
              <a:rPr kumimoji="0" lang="zh-CN" altLang="en-US" sz="2400">
                <a:ea typeface="楷体_GB2312" pitchFamily="49" charset="-122"/>
              </a:rPr>
              <a:t>） 遮光式光纤温度计</a:t>
            </a:r>
          </a:p>
        </p:txBody>
      </p:sp>
      <p:pic>
        <p:nvPicPr>
          <p:cNvPr id="50182" name="Picture 6" descr="IMG_3916">
            <a:extLst>
              <a:ext uri="{FF2B5EF4-FFF2-40B4-BE49-F238E27FC236}">
                <a16:creationId xmlns:a16="http://schemas.microsoft.com/office/drawing/2014/main" id="{28BF7301-3E2F-468C-AF61-93E1A1AB05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958" t="5766" r="3629" b="3925"/>
          <a:stretch>
            <a:fillRect/>
          </a:stretch>
        </p:blipFill>
        <p:spPr bwMode="auto">
          <a:xfrm>
            <a:off x="900113" y="3789363"/>
            <a:ext cx="2119312"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3" name="Text Box 7">
            <a:extLst>
              <a:ext uri="{FF2B5EF4-FFF2-40B4-BE49-F238E27FC236}">
                <a16:creationId xmlns:a16="http://schemas.microsoft.com/office/drawing/2014/main" id="{DAF5432D-2981-4425-8A95-2380A5B86D05}"/>
              </a:ext>
            </a:extLst>
          </p:cNvPr>
          <p:cNvSpPr txBox="1">
            <a:spLocks noChangeArrowheads="1"/>
          </p:cNvSpPr>
          <p:nvPr/>
        </p:nvSpPr>
        <p:spPr bwMode="auto">
          <a:xfrm>
            <a:off x="3217863" y="3625850"/>
            <a:ext cx="5689600" cy="294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图示是一种简单的利用水银柱升降温度的光纤温度开关。当温度升高时水银柱上升，到某一设定温度时，水银柱将两根光纤间的光路遮断，从而输出光强产生一个跳变。这种光纤开关温度计可用于对设定温度的控制，温度设定值灵活可变。</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a:extLst>
              <a:ext uri="{FF2B5EF4-FFF2-40B4-BE49-F238E27FC236}">
                <a16:creationId xmlns:a16="http://schemas.microsoft.com/office/drawing/2014/main" id="{24412E58-6745-44C8-8D62-E010C79AA944}"/>
              </a:ext>
            </a:extLst>
          </p:cNvPr>
          <p:cNvSpPr txBox="1">
            <a:spLocks noChangeArrowheads="1"/>
          </p:cNvSpPr>
          <p:nvPr/>
        </p:nvSpPr>
        <p:spPr bwMode="auto">
          <a:xfrm>
            <a:off x="468313" y="333375"/>
            <a:ext cx="8280400" cy="294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下图所示的为利用双金属热变形的遮光式光纤温度计。当温度升高时，双金属的变形量增大，带动遮光板在垂直方向产生位移从而使输出光强发生变化。这种形式的光纤温度计能测量</a:t>
            </a:r>
            <a:r>
              <a:rPr kumimoji="0" lang="en-US" altLang="zh-CN" sz="2400">
                <a:ea typeface="楷体_GB2312" pitchFamily="49" charset="-122"/>
              </a:rPr>
              <a:t>10</a:t>
            </a:r>
            <a:r>
              <a:rPr kumimoji="0" lang="en-US" altLang="zh-CN" sz="2400">
                <a:ea typeface="楷体_GB2312" pitchFamily="49" charset="-122"/>
                <a:cs typeface="Times New Roman" panose="02020603050405020304" pitchFamily="18" charset="0"/>
              </a:rPr>
              <a:t>~50</a:t>
            </a:r>
            <a:r>
              <a:rPr kumimoji="0" lang="en-US" altLang="zh-CN" sz="2400">
                <a:ea typeface="楷体_GB2312" pitchFamily="49" charset="-122"/>
              </a:rPr>
              <a:t>℃</a:t>
            </a:r>
            <a:r>
              <a:rPr kumimoji="0" lang="zh-CN" altLang="en-US" sz="2400">
                <a:ea typeface="楷体_GB2312" pitchFamily="49" charset="-122"/>
              </a:rPr>
              <a:t>的温度。检测精度约为</a:t>
            </a:r>
            <a:r>
              <a:rPr kumimoji="0" lang="en-US" altLang="zh-CN" sz="2400">
                <a:ea typeface="楷体_GB2312" pitchFamily="49" charset="-122"/>
              </a:rPr>
              <a:t>0.5℃</a:t>
            </a:r>
            <a:r>
              <a:rPr kumimoji="0" lang="zh-CN" altLang="en-US" sz="2400">
                <a:ea typeface="楷体_GB2312" pitchFamily="49" charset="-122"/>
              </a:rPr>
              <a:t>。它的缺点是输出光强受壳体振动的影响，且响应时间较长，一般需几分钟。</a:t>
            </a:r>
          </a:p>
        </p:txBody>
      </p:sp>
      <p:grpSp>
        <p:nvGrpSpPr>
          <p:cNvPr id="51203" name="Group 3">
            <a:extLst>
              <a:ext uri="{FF2B5EF4-FFF2-40B4-BE49-F238E27FC236}">
                <a16:creationId xmlns:a16="http://schemas.microsoft.com/office/drawing/2014/main" id="{EFB46E23-09DC-4BF2-92E9-68E08425D1CC}"/>
              </a:ext>
            </a:extLst>
          </p:cNvPr>
          <p:cNvGrpSpPr>
            <a:grpSpLocks/>
          </p:cNvGrpSpPr>
          <p:nvPr/>
        </p:nvGrpSpPr>
        <p:grpSpPr bwMode="auto">
          <a:xfrm>
            <a:off x="1547813" y="3429000"/>
            <a:ext cx="6119812" cy="2835275"/>
            <a:chOff x="975" y="2160"/>
            <a:chExt cx="3855" cy="1786"/>
          </a:xfrm>
        </p:grpSpPr>
        <p:grpSp>
          <p:nvGrpSpPr>
            <p:cNvPr id="51204" name="Group 4">
              <a:extLst>
                <a:ext uri="{FF2B5EF4-FFF2-40B4-BE49-F238E27FC236}">
                  <a16:creationId xmlns:a16="http://schemas.microsoft.com/office/drawing/2014/main" id="{DC932BA9-3B57-4EC9-A148-4FE4E3CE9110}"/>
                </a:ext>
              </a:extLst>
            </p:cNvPr>
            <p:cNvGrpSpPr>
              <a:grpSpLocks/>
            </p:cNvGrpSpPr>
            <p:nvPr/>
          </p:nvGrpSpPr>
          <p:grpSpPr bwMode="auto">
            <a:xfrm>
              <a:off x="1338" y="2160"/>
              <a:ext cx="3130" cy="1338"/>
              <a:chOff x="2472" y="2931"/>
              <a:chExt cx="2382" cy="884"/>
            </a:xfrm>
          </p:grpSpPr>
          <p:pic>
            <p:nvPicPr>
              <p:cNvPr id="51206" name="Picture 5" descr="IMG_3917">
                <a:extLst>
                  <a:ext uri="{FF2B5EF4-FFF2-40B4-BE49-F238E27FC236}">
                    <a16:creationId xmlns:a16="http://schemas.microsoft.com/office/drawing/2014/main" id="{2AC51E2F-62C9-4113-A7FD-DBCC785A70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3000"/>
              <a:stretch>
                <a:fillRect/>
              </a:stretch>
            </p:blipFill>
            <p:spPr bwMode="auto">
              <a:xfrm>
                <a:off x="4241" y="2931"/>
                <a:ext cx="613" cy="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7" name="Picture 6" descr="IMG_3917">
                <a:extLst>
                  <a:ext uri="{FF2B5EF4-FFF2-40B4-BE49-F238E27FC236}">
                    <a16:creationId xmlns:a16="http://schemas.microsoft.com/office/drawing/2014/main" id="{D27FA72E-5331-4B4C-9BE2-64BD746B61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3972" r="33333"/>
              <a:stretch>
                <a:fillRect/>
              </a:stretch>
            </p:blipFill>
            <p:spPr bwMode="auto">
              <a:xfrm>
                <a:off x="3107" y="2931"/>
                <a:ext cx="1179" cy="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8" name="Picture 7" descr="IMG_3917">
                <a:extLst>
                  <a:ext uri="{FF2B5EF4-FFF2-40B4-BE49-F238E27FC236}">
                    <a16:creationId xmlns:a16="http://schemas.microsoft.com/office/drawing/2014/main" id="{F3A86A7A-8C33-46F0-8C53-76E98FF023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82390"/>
              <a:stretch>
                <a:fillRect/>
              </a:stretch>
            </p:blipFill>
            <p:spPr bwMode="auto">
              <a:xfrm>
                <a:off x="2472" y="2931"/>
                <a:ext cx="635" cy="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1205" name="Text Box 8">
              <a:extLst>
                <a:ext uri="{FF2B5EF4-FFF2-40B4-BE49-F238E27FC236}">
                  <a16:creationId xmlns:a16="http://schemas.microsoft.com/office/drawing/2014/main" id="{C441C8B3-A1B3-47F1-BD5C-9BFBBA2A8706}"/>
                </a:ext>
              </a:extLst>
            </p:cNvPr>
            <p:cNvSpPr txBox="1">
              <a:spLocks noChangeArrowheads="1"/>
            </p:cNvSpPr>
            <p:nvPr/>
          </p:nvSpPr>
          <p:spPr bwMode="auto">
            <a:xfrm>
              <a:off x="975" y="3612"/>
              <a:ext cx="385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50000"/>
                </a:spcBef>
                <a:buFontTx/>
                <a:buNone/>
              </a:pPr>
              <a:r>
                <a:rPr kumimoji="0" lang="en-US" altLang="zh-CN" sz="2400">
                  <a:ea typeface="楷体_GB2312" pitchFamily="49" charset="-122"/>
                </a:rPr>
                <a:t>1—</a:t>
              </a:r>
              <a:r>
                <a:rPr kumimoji="0" lang="zh-CN" altLang="en-US" sz="2400">
                  <a:ea typeface="楷体_GB2312" pitchFamily="49" charset="-122"/>
                </a:rPr>
                <a:t>遮光板        </a:t>
              </a:r>
              <a:r>
                <a:rPr kumimoji="0" lang="en-US" altLang="zh-CN" sz="2400">
                  <a:ea typeface="楷体_GB2312" pitchFamily="49" charset="-122"/>
                </a:rPr>
                <a:t>2—</a:t>
              </a:r>
              <a:r>
                <a:rPr kumimoji="0" lang="zh-CN" altLang="en-US" sz="2400">
                  <a:ea typeface="楷体_GB2312" pitchFamily="49" charset="-122"/>
                </a:rPr>
                <a:t>双金属片</a:t>
              </a:r>
            </a:p>
          </p:txBody>
        </p:sp>
      </p:gr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a:extLst>
              <a:ext uri="{FF2B5EF4-FFF2-40B4-BE49-F238E27FC236}">
                <a16:creationId xmlns:a16="http://schemas.microsoft.com/office/drawing/2014/main" id="{5AE3D4CC-CA2E-4784-AFC5-C8315FDE9B1E}"/>
              </a:ext>
            </a:extLst>
          </p:cNvPr>
          <p:cNvSpPr txBox="1">
            <a:spLocks noChangeArrowheads="1"/>
          </p:cNvSpPr>
          <p:nvPr/>
        </p:nvSpPr>
        <p:spPr bwMode="auto">
          <a:xfrm>
            <a:off x="-4568" y="155575"/>
            <a:ext cx="8969180"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dirty="0">
                <a:ea typeface="楷体_GB2312" pitchFamily="49" charset="-122"/>
              </a:rPr>
              <a:t>（</a:t>
            </a:r>
            <a:r>
              <a:rPr kumimoji="0" lang="en-US" altLang="zh-CN" sz="2400" dirty="0">
                <a:ea typeface="楷体_GB2312" pitchFamily="49" charset="-122"/>
              </a:rPr>
              <a:t>2</a:t>
            </a:r>
            <a:r>
              <a:rPr kumimoji="0" lang="zh-CN" altLang="en-US" sz="2400" dirty="0">
                <a:ea typeface="楷体_GB2312" pitchFamily="49" charset="-122"/>
              </a:rPr>
              <a:t>） 透射型半导体光纤温度传感器</a:t>
            </a:r>
            <a:r>
              <a:rPr kumimoji="0" lang="zh-CN" altLang="en-US" sz="2400" dirty="0">
                <a:solidFill>
                  <a:srgbClr val="0000FF"/>
                </a:solidFill>
                <a:ea typeface="楷体_GB2312" pitchFamily="49" charset="-122"/>
              </a:rPr>
              <a:t>（与光敏电阻原理做比较）</a:t>
            </a:r>
          </a:p>
        </p:txBody>
      </p:sp>
      <p:sp>
        <p:nvSpPr>
          <p:cNvPr id="52227" name="Text Box 3">
            <a:extLst>
              <a:ext uri="{FF2B5EF4-FFF2-40B4-BE49-F238E27FC236}">
                <a16:creationId xmlns:a16="http://schemas.microsoft.com/office/drawing/2014/main" id="{95AA7492-0103-4815-84DD-F75EC2796768}"/>
              </a:ext>
            </a:extLst>
          </p:cNvPr>
          <p:cNvSpPr txBox="1">
            <a:spLocks noChangeArrowheads="1"/>
          </p:cNvSpPr>
          <p:nvPr/>
        </p:nvSpPr>
        <p:spPr bwMode="auto">
          <a:xfrm>
            <a:off x="179388" y="692150"/>
            <a:ext cx="7092950" cy="3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dirty="0">
                <a:ea typeface="楷体_GB2312" pitchFamily="49" charset="-122"/>
              </a:rPr>
              <a:t>        </a:t>
            </a:r>
            <a:r>
              <a:rPr kumimoji="0" lang="zh-CN" altLang="en-US" sz="2400" dirty="0">
                <a:ea typeface="楷体_GB2312" pitchFamily="49" charset="-122"/>
              </a:rPr>
              <a:t>当一束白光经过半导体晶片时，低于某个特定波长</a:t>
            </a:r>
            <a:r>
              <a:rPr kumimoji="0" lang="el-GR" altLang="zh-CN" sz="2400" i="1" dirty="0">
                <a:latin typeface="楷体_GB2312" pitchFamily="49" charset="-122"/>
                <a:ea typeface="楷体_GB2312" pitchFamily="49" charset="-122"/>
              </a:rPr>
              <a:t>λ</a:t>
            </a:r>
            <a:r>
              <a:rPr kumimoji="0" lang="en-US" altLang="zh-CN" sz="2400" baseline="-25000" dirty="0">
                <a:latin typeface="楷体_GB2312" pitchFamily="49" charset="-122"/>
                <a:ea typeface="楷体_GB2312" pitchFamily="49" charset="-122"/>
              </a:rPr>
              <a:t>g</a:t>
            </a:r>
            <a:r>
              <a:rPr kumimoji="0" lang="zh-CN" altLang="en-US" sz="2400" dirty="0">
                <a:latin typeface="楷体_GB2312" pitchFamily="49" charset="-122"/>
                <a:ea typeface="楷体_GB2312" pitchFamily="49" charset="-122"/>
              </a:rPr>
              <a:t>的光将被半导体吸收而高于该波长的光将透过半导体。</a:t>
            </a:r>
            <a:r>
              <a:rPr kumimoji="0" lang="el-GR" altLang="zh-CN" sz="2400" i="1" dirty="0">
                <a:latin typeface="楷体_GB2312" pitchFamily="49" charset="-122"/>
                <a:ea typeface="楷体_GB2312" pitchFamily="49" charset="-122"/>
              </a:rPr>
              <a:t>λ</a:t>
            </a:r>
            <a:r>
              <a:rPr kumimoji="0" lang="en-US" altLang="zh-CN" sz="2400" baseline="-25000" dirty="0">
                <a:latin typeface="楷体_GB2312" pitchFamily="49" charset="-122"/>
                <a:ea typeface="楷体_GB2312" pitchFamily="49" charset="-122"/>
              </a:rPr>
              <a:t>g</a:t>
            </a:r>
            <a:r>
              <a:rPr kumimoji="0" lang="zh-CN" altLang="en-US" sz="2400" dirty="0">
                <a:latin typeface="楷体_GB2312" pitchFamily="49" charset="-122"/>
                <a:ea typeface="楷体_GB2312" pitchFamily="49" charset="-122"/>
              </a:rPr>
              <a:t>称为半导体的</a:t>
            </a:r>
            <a:r>
              <a:rPr kumimoji="0" lang="zh-CN" altLang="en-US" sz="2400" dirty="0">
                <a:solidFill>
                  <a:srgbClr val="FF0000"/>
                </a:solidFill>
                <a:latin typeface="楷体_GB2312" pitchFamily="49" charset="-122"/>
                <a:ea typeface="楷体_GB2312" pitchFamily="49" charset="-122"/>
              </a:rPr>
              <a:t>本征吸收波长</a:t>
            </a:r>
            <a:r>
              <a:rPr kumimoji="0" lang="zh-CN" altLang="en-US" sz="2400" dirty="0">
                <a:latin typeface="楷体_GB2312" pitchFamily="49" charset="-122"/>
                <a:ea typeface="楷体_GB2312" pitchFamily="49" charset="-122"/>
              </a:rPr>
              <a:t>。电子从价带激发到导带引起的吸收称为本征吸收。</a:t>
            </a:r>
            <a:r>
              <a:rPr kumimoji="0" lang="zh-CN" altLang="en-US" sz="2400" dirty="0">
                <a:highlight>
                  <a:srgbClr val="FFFF00"/>
                </a:highlight>
                <a:latin typeface="楷体_GB2312" pitchFamily="49" charset="-122"/>
                <a:ea typeface="楷体_GB2312" pitchFamily="49" charset="-122"/>
              </a:rPr>
              <a:t>当一定波长的光照射到半导体上时，电子吸收光能从价带跃迁入导带</a:t>
            </a:r>
            <a:r>
              <a:rPr kumimoji="0" lang="zh-CN" altLang="en-US" sz="2400" dirty="0">
                <a:latin typeface="楷体_GB2312" pitchFamily="49" charset="-122"/>
                <a:ea typeface="楷体_GB2312" pitchFamily="49" charset="-122"/>
              </a:rPr>
              <a:t>，显然，要发生本征吸收，光子能量必须大于半导体的禁带宽度</a:t>
            </a:r>
            <a:r>
              <a:rPr kumimoji="0" lang="en-US" altLang="zh-CN" sz="2400" i="1" dirty="0" err="1">
                <a:latin typeface="楷体_GB2312" pitchFamily="49" charset="-122"/>
                <a:ea typeface="楷体_GB2312" pitchFamily="49" charset="-122"/>
              </a:rPr>
              <a:t>E</a:t>
            </a:r>
            <a:r>
              <a:rPr kumimoji="0" lang="en-US" altLang="zh-CN" sz="2400" baseline="-25000" dirty="0" err="1">
                <a:latin typeface="楷体_GB2312" pitchFamily="49" charset="-122"/>
                <a:ea typeface="楷体_GB2312" pitchFamily="49" charset="-122"/>
              </a:rPr>
              <a:t>g</a:t>
            </a:r>
            <a:r>
              <a:rPr kumimoji="0" lang="zh-CN" altLang="en-US" sz="2400" dirty="0">
                <a:latin typeface="楷体_GB2312" pitchFamily="49" charset="-122"/>
                <a:ea typeface="楷体_GB2312" pitchFamily="49" charset="-122"/>
              </a:rPr>
              <a:t>，即</a:t>
            </a:r>
            <a:endParaRPr kumimoji="0" lang="zh-CN" altLang="el-GR" sz="2400" dirty="0">
              <a:latin typeface="楷体_GB2312" pitchFamily="49" charset="-122"/>
              <a:ea typeface="楷体_GB2312" pitchFamily="49" charset="-122"/>
            </a:endParaRPr>
          </a:p>
        </p:txBody>
      </p:sp>
      <p:graphicFrame>
        <p:nvGraphicFramePr>
          <p:cNvPr id="52228" name="Object 4">
            <a:extLst>
              <a:ext uri="{FF2B5EF4-FFF2-40B4-BE49-F238E27FC236}">
                <a16:creationId xmlns:a16="http://schemas.microsoft.com/office/drawing/2014/main" id="{3D55869D-EAE1-4B24-9E72-F44D4DFABB41}"/>
              </a:ext>
            </a:extLst>
          </p:cNvPr>
          <p:cNvGraphicFramePr>
            <a:graphicFrameLocks noChangeAspect="1"/>
          </p:cNvGraphicFramePr>
          <p:nvPr/>
        </p:nvGraphicFramePr>
        <p:xfrm>
          <a:off x="3348038" y="4076700"/>
          <a:ext cx="1044575" cy="509588"/>
        </p:xfrm>
        <a:graphic>
          <a:graphicData uri="http://schemas.openxmlformats.org/presentationml/2006/ole">
            <mc:AlternateContent xmlns:mc="http://schemas.openxmlformats.org/markup-compatibility/2006">
              <mc:Choice xmlns:v="urn:schemas-microsoft-com:vml" Requires="v">
                <p:oleObj spid="_x0000_s52288" name="Equation" r:id="rId3" imgW="495085" imgH="241195" progId="Equation.DSMT4">
                  <p:embed/>
                </p:oleObj>
              </mc:Choice>
              <mc:Fallback>
                <p:oleObj name="Equation" r:id="rId3" imgW="495085" imgH="241195"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4076700"/>
                        <a:ext cx="1044575" cy="50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29" name="Text Box 5">
            <a:extLst>
              <a:ext uri="{FF2B5EF4-FFF2-40B4-BE49-F238E27FC236}">
                <a16:creationId xmlns:a16="http://schemas.microsoft.com/office/drawing/2014/main" id="{9010ACFF-30DF-4C3C-9BD6-99E2A43B6449}"/>
              </a:ext>
            </a:extLst>
          </p:cNvPr>
          <p:cNvSpPr txBox="1">
            <a:spLocks noChangeArrowheads="1"/>
          </p:cNvSpPr>
          <p:nvPr/>
        </p:nvSpPr>
        <p:spPr bwMode="auto">
          <a:xfrm>
            <a:off x="539750" y="4508500"/>
            <a:ext cx="80645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400" dirty="0">
                <a:ea typeface="楷体_GB2312" pitchFamily="49" charset="-122"/>
              </a:rPr>
              <a:t>       </a:t>
            </a:r>
            <a:r>
              <a:rPr kumimoji="0" lang="zh-CN" altLang="en-US" sz="2400" dirty="0">
                <a:ea typeface="楷体_GB2312" pitchFamily="49" charset="-122"/>
              </a:rPr>
              <a:t>将</a:t>
            </a:r>
            <a:r>
              <a:rPr kumimoji="0" lang="el-GR" altLang="zh-CN" sz="2400" i="1" dirty="0">
                <a:latin typeface="楷体_GB2312" pitchFamily="49" charset="-122"/>
                <a:ea typeface="楷体_GB2312" pitchFamily="49" charset="-122"/>
              </a:rPr>
              <a:t>λ</a:t>
            </a:r>
            <a:r>
              <a:rPr kumimoji="0" lang="en-US" altLang="zh-CN" sz="2400" dirty="0">
                <a:latin typeface="楷体_GB2312" pitchFamily="49" charset="-122"/>
                <a:ea typeface="楷体_GB2312" pitchFamily="49" charset="-122"/>
              </a:rPr>
              <a:t>=</a:t>
            </a:r>
            <a:r>
              <a:rPr kumimoji="0" lang="en-US" altLang="zh-CN" sz="2400" i="1" dirty="0">
                <a:latin typeface="楷体_GB2312" pitchFamily="49" charset="-122"/>
                <a:ea typeface="楷体_GB2312" pitchFamily="49" charset="-122"/>
              </a:rPr>
              <a:t>c</a:t>
            </a:r>
            <a:r>
              <a:rPr kumimoji="0" lang="en-US" altLang="zh-CN" sz="2400" dirty="0">
                <a:latin typeface="楷体_GB2312" pitchFamily="49" charset="-122"/>
                <a:ea typeface="楷体_GB2312" pitchFamily="49" charset="-122"/>
              </a:rPr>
              <a:t>/</a:t>
            </a:r>
            <a:r>
              <a:rPr kumimoji="0" lang="en-US" altLang="zh-CN" sz="2400" i="1" dirty="0">
                <a:latin typeface="楷体_GB2312" pitchFamily="49" charset="-122"/>
                <a:ea typeface="楷体_GB2312" pitchFamily="49" charset="-122"/>
              </a:rPr>
              <a:t>v</a:t>
            </a:r>
            <a:r>
              <a:rPr kumimoji="0" lang="zh-CN" altLang="en-US" sz="2400" dirty="0">
                <a:latin typeface="楷体_GB2312" pitchFamily="49" charset="-122"/>
                <a:ea typeface="楷体_GB2312" pitchFamily="49" charset="-122"/>
              </a:rPr>
              <a:t>代入上式，得到产生本征吸收的条件为</a:t>
            </a:r>
            <a:endParaRPr kumimoji="0" lang="zh-CN" altLang="el-GR" sz="2400" i="1" dirty="0">
              <a:latin typeface="楷体_GB2312" pitchFamily="49" charset="-122"/>
              <a:ea typeface="楷体_GB2312" pitchFamily="49" charset="-122"/>
            </a:endParaRPr>
          </a:p>
        </p:txBody>
      </p:sp>
      <p:graphicFrame>
        <p:nvGraphicFramePr>
          <p:cNvPr id="52230" name="Object 6">
            <a:extLst>
              <a:ext uri="{FF2B5EF4-FFF2-40B4-BE49-F238E27FC236}">
                <a16:creationId xmlns:a16="http://schemas.microsoft.com/office/drawing/2014/main" id="{CDEA1113-1925-4976-BC8E-E3D78CC02BD5}"/>
              </a:ext>
            </a:extLst>
          </p:cNvPr>
          <p:cNvGraphicFramePr>
            <a:graphicFrameLocks noChangeAspect="1"/>
          </p:cNvGraphicFramePr>
          <p:nvPr/>
        </p:nvGraphicFramePr>
        <p:xfrm>
          <a:off x="3276600" y="5013325"/>
          <a:ext cx="1447800" cy="817563"/>
        </p:xfrm>
        <a:graphic>
          <a:graphicData uri="http://schemas.openxmlformats.org/presentationml/2006/ole">
            <mc:AlternateContent xmlns:mc="http://schemas.openxmlformats.org/markup-compatibility/2006">
              <mc:Choice xmlns:v="urn:schemas-microsoft-com:vml" Requires="v">
                <p:oleObj spid="_x0000_s52289" name="Equation" r:id="rId5" imgW="787058" imgH="444307" progId="Equation.DSMT4">
                  <p:embed/>
                </p:oleObj>
              </mc:Choice>
              <mc:Fallback>
                <p:oleObj name="Equation" r:id="rId5" imgW="787058" imgH="444307"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5013325"/>
                        <a:ext cx="1447800" cy="817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31" name="Text Box 7">
            <a:extLst>
              <a:ext uri="{FF2B5EF4-FFF2-40B4-BE49-F238E27FC236}">
                <a16:creationId xmlns:a16="http://schemas.microsoft.com/office/drawing/2014/main" id="{25EFAAC1-5618-4A67-9021-E3A9C9C2DCB5}"/>
              </a:ext>
            </a:extLst>
          </p:cNvPr>
          <p:cNvSpPr txBox="1">
            <a:spLocks noChangeArrowheads="1"/>
          </p:cNvSpPr>
          <p:nvPr/>
        </p:nvSpPr>
        <p:spPr bwMode="auto">
          <a:xfrm>
            <a:off x="323850" y="5661025"/>
            <a:ext cx="82804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dirty="0">
                <a:ea typeface="楷体_GB2312" pitchFamily="49" charset="-122"/>
              </a:rPr>
              <a:t>      </a:t>
            </a:r>
            <a:r>
              <a:rPr kumimoji="0" lang="zh-CN" altLang="en-US" sz="2400" dirty="0">
                <a:ea typeface="楷体_GB2312" pitchFamily="49" charset="-122"/>
              </a:rPr>
              <a:t>因此，对于波长大于</a:t>
            </a:r>
            <a:r>
              <a:rPr kumimoji="0" lang="el-GR" altLang="zh-CN" sz="2400" dirty="0">
                <a:latin typeface="楷体_GB2312" pitchFamily="49" charset="-122"/>
                <a:ea typeface="楷体_GB2312" pitchFamily="49" charset="-122"/>
              </a:rPr>
              <a:t>λ</a:t>
            </a:r>
            <a:r>
              <a:rPr kumimoji="0" lang="en-US" altLang="zh-CN" sz="2400" baseline="-25000" dirty="0">
                <a:latin typeface="楷体_GB2312" pitchFamily="49" charset="-122"/>
                <a:ea typeface="楷体_GB2312" pitchFamily="49" charset="-122"/>
              </a:rPr>
              <a:t>g</a:t>
            </a:r>
            <a:r>
              <a:rPr kumimoji="0" lang="zh-CN" altLang="en-US" sz="2400" dirty="0">
                <a:latin typeface="楷体_GB2312" pitchFamily="49" charset="-122"/>
                <a:ea typeface="楷体_GB2312" pitchFamily="49" charset="-122"/>
              </a:rPr>
              <a:t>的光，能透过半导体，而波长小于</a:t>
            </a:r>
            <a:r>
              <a:rPr kumimoji="0" lang="el-GR" altLang="zh-CN" sz="2400" dirty="0">
                <a:latin typeface="楷体_GB2312" pitchFamily="49" charset="-122"/>
                <a:ea typeface="楷体_GB2312" pitchFamily="49" charset="-122"/>
              </a:rPr>
              <a:t>λ</a:t>
            </a:r>
            <a:r>
              <a:rPr kumimoji="0" lang="en-US" altLang="zh-CN" sz="2400" baseline="-25000" dirty="0">
                <a:latin typeface="楷体_GB2312" pitchFamily="49" charset="-122"/>
                <a:ea typeface="楷体_GB2312" pitchFamily="49" charset="-122"/>
              </a:rPr>
              <a:t>g</a:t>
            </a:r>
            <a:r>
              <a:rPr kumimoji="0" lang="zh-CN" altLang="en-US" sz="2400" dirty="0">
                <a:latin typeface="楷体_GB2312" pitchFamily="49" charset="-122"/>
                <a:ea typeface="楷体_GB2312" pitchFamily="49" charset="-122"/>
              </a:rPr>
              <a:t>的光将被半导体强烈地吸收。</a:t>
            </a:r>
            <a:endParaRPr kumimoji="0" lang="zh-CN" altLang="el-GR" sz="2400" baseline="-25000" dirty="0">
              <a:latin typeface="楷体_GB2312" pitchFamily="49" charset="-122"/>
              <a:ea typeface="楷体_GB2312" pitchFamily="49" charset="-122"/>
            </a:endParaRPr>
          </a:p>
        </p:txBody>
      </p:sp>
      <p:graphicFrame>
        <p:nvGraphicFramePr>
          <p:cNvPr id="52232" name="Object 9">
            <a:extLst>
              <a:ext uri="{FF2B5EF4-FFF2-40B4-BE49-F238E27FC236}">
                <a16:creationId xmlns:a16="http://schemas.microsoft.com/office/drawing/2014/main" id="{052C6A3F-7FA1-43B5-A08B-3788407457AA}"/>
              </a:ext>
            </a:extLst>
          </p:cNvPr>
          <p:cNvGraphicFramePr>
            <a:graphicFrameLocks noChangeAspect="1"/>
          </p:cNvGraphicFramePr>
          <p:nvPr/>
        </p:nvGraphicFramePr>
        <p:xfrm>
          <a:off x="7451725" y="549275"/>
          <a:ext cx="1514475" cy="2657475"/>
        </p:xfrm>
        <a:graphic>
          <a:graphicData uri="http://schemas.openxmlformats.org/presentationml/2006/ole">
            <mc:AlternateContent xmlns:mc="http://schemas.openxmlformats.org/markup-compatibility/2006">
              <mc:Choice xmlns:v="urn:schemas-microsoft-com:vml" Requires="v">
                <p:oleObj spid="_x0000_s52290" r:id="rId7" imgW="1044264" imgH="1841840" progId="">
                  <p:embed/>
                </p:oleObj>
              </mc:Choice>
              <mc:Fallback>
                <p:oleObj r:id="rId7" imgW="1044264" imgH="1841840" progId="">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51725" y="549275"/>
                        <a:ext cx="1514475"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33" name="Rectangle 10">
            <a:extLst>
              <a:ext uri="{FF2B5EF4-FFF2-40B4-BE49-F238E27FC236}">
                <a16:creationId xmlns:a16="http://schemas.microsoft.com/office/drawing/2014/main" id="{F47A5A1C-0C3B-4A3D-B636-BC0A6FDDEF16}"/>
              </a:ext>
            </a:extLst>
          </p:cNvPr>
          <p:cNvSpPr>
            <a:spLocks noChangeArrowheads="1"/>
          </p:cNvSpPr>
          <p:nvPr/>
        </p:nvSpPr>
        <p:spPr bwMode="auto">
          <a:xfrm>
            <a:off x="7308850" y="3357563"/>
            <a:ext cx="183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zh-CN" altLang="en-US" sz="2000">
                <a:latin typeface="楷体_GB2312" pitchFamily="49" charset="-122"/>
                <a:ea typeface="楷体_GB2312" pitchFamily="49" charset="-122"/>
              </a:rPr>
              <a:t>半导体的能带 </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28BBA7AD-0F45-4A4A-93B9-CA66FCE3C6F4}"/>
              </a:ext>
            </a:extLst>
          </p:cNvPr>
          <p:cNvSpPr txBox="1">
            <a:spLocks noChangeArrowheads="1"/>
          </p:cNvSpPr>
          <p:nvPr/>
        </p:nvSpPr>
        <p:spPr bwMode="auto">
          <a:xfrm>
            <a:off x="395288" y="260350"/>
            <a:ext cx="8497887"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不同种类的半导体材料具有不同的本征吸收波长，下图示出了在室温（</a:t>
            </a:r>
            <a:r>
              <a:rPr kumimoji="0" lang="en-US" altLang="zh-CN" sz="2400">
                <a:ea typeface="楷体_GB2312" pitchFamily="49" charset="-122"/>
              </a:rPr>
              <a:t>20℃</a:t>
            </a:r>
            <a:r>
              <a:rPr kumimoji="0" lang="zh-CN" altLang="en-US" sz="2400">
                <a:ea typeface="楷体_GB2312" pitchFamily="49" charset="-122"/>
              </a:rPr>
              <a:t>）时，</a:t>
            </a:r>
            <a:r>
              <a:rPr kumimoji="0" lang="en-US" altLang="zh-CN" sz="2400">
                <a:ea typeface="楷体_GB2312" pitchFamily="49" charset="-122"/>
              </a:rPr>
              <a:t>120</a:t>
            </a:r>
            <a:r>
              <a:rPr kumimoji="0" lang="en-US" altLang="zh-CN" sz="2400">
                <a:ea typeface="楷体_GB2312" pitchFamily="49" charset="-122"/>
                <a:cs typeface="Times New Roman" panose="02020603050405020304" pitchFamily="18" charset="0"/>
              </a:rPr>
              <a:t>µm</a:t>
            </a:r>
            <a:r>
              <a:rPr kumimoji="0" lang="zh-CN" altLang="en-US" sz="2400">
                <a:ea typeface="楷体_GB2312" pitchFamily="49" charset="-122"/>
                <a:cs typeface="Times New Roman" panose="02020603050405020304" pitchFamily="18" charset="0"/>
              </a:rPr>
              <a:t>厚的</a:t>
            </a:r>
            <a:r>
              <a:rPr kumimoji="0" lang="en-US" altLang="zh-CN" sz="2400">
                <a:ea typeface="楷体_GB2312" pitchFamily="49" charset="-122"/>
                <a:cs typeface="Times New Roman" panose="02020603050405020304" pitchFamily="18" charset="0"/>
              </a:rPr>
              <a:t>GaAs</a:t>
            </a:r>
            <a:r>
              <a:rPr kumimoji="0" lang="zh-CN" altLang="en-US" sz="2400">
                <a:ea typeface="楷体_GB2312" pitchFamily="49" charset="-122"/>
                <a:cs typeface="Times New Roman" panose="02020603050405020304" pitchFamily="18" charset="0"/>
              </a:rPr>
              <a:t>材料的透射率曲线。从图中可以看出，</a:t>
            </a:r>
            <a:r>
              <a:rPr kumimoji="0" lang="en-US" altLang="zh-CN" sz="2400">
                <a:ea typeface="楷体_GB2312" pitchFamily="49" charset="-122"/>
                <a:cs typeface="Times New Roman" panose="02020603050405020304" pitchFamily="18" charset="0"/>
              </a:rPr>
              <a:t>GaAs</a:t>
            </a:r>
            <a:r>
              <a:rPr kumimoji="0" lang="zh-CN" altLang="en-US" sz="2400">
                <a:ea typeface="楷体_GB2312" pitchFamily="49" charset="-122"/>
                <a:cs typeface="Times New Roman" panose="02020603050405020304" pitchFamily="18" charset="0"/>
              </a:rPr>
              <a:t>在室温时的本征吸收波长约为</a:t>
            </a:r>
            <a:r>
              <a:rPr kumimoji="0" lang="en-US" altLang="zh-CN" sz="2400">
                <a:ea typeface="楷体_GB2312" pitchFamily="49" charset="-122"/>
                <a:cs typeface="Times New Roman" panose="02020603050405020304" pitchFamily="18" charset="0"/>
              </a:rPr>
              <a:t>880µm</a:t>
            </a:r>
            <a:r>
              <a:rPr kumimoji="0" lang="zh-CN" altLang="en-US" sz="2400">
                <a:ea typeface="楷体_GB2312" pitchFamily="49" charset="-122"/>
                <a:cs typeface="Times New Roman" panose="02020603050405020304" pitchFamily="18" charset="0"/>
              </a:rPr>
              <a:t>。</a:t>
            </a:r>
          </a:p>
        </p:txBody>
      </p:sp>
      <p:pic>
        <p:nvPicPr>
          <p:cNvPr id="53251" name="Picture 3" descr="IMG_3918">
            <a:extLst>
              <a:ext uri="{FF2B5EF4-FFF2-40B4-BE49-F238E27FC236}">
                <a16:creationId xmlns:a16="http://schemas.microsoft.com/office/drawing/2014/main" id="{B3201E81-4CC4-480E-B1AB-6855C245E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1916113"/>
            <a:ext cx="3168650" cy="273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ext Box 4">
            <a:extLst>
              <a:ext uri="{FF2B5EF4-FFF2-40B4-BE49-F238E27FC236}">
                <a16:creationId xmlns:a16="http://schemas.microsoft.com/office/drawing/2014/main" id="{39E737F2-5C69-4FAD-B749-6066953F67A9}"/>
              </a:ext>
            </a:extLst>
          </p:cNvPr>
          <p:cNvSpPr txBox="1">
            <a:spLocks noChangeArrowheads="1"/>
          </p:cNvSpPr>
          <p:nvPr/>
        </p:nvSpPr>
        <p:spPr bwMode="auto">
          <a:xfrm>
            <a:off x="539750" y="4724400"/>
            <a:ext cx="80645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从上述的分析可知，半导体的吸收光谱与</a:t>
            </a:r>
            <a:r>
              <a:rPr kumimoji="0" lang="en-US" altLang="zh-CN" sz="2400" i="1">
                <a:ea typeface="楷体_GB2312" pitchFamily="49" charset="-122"/>
              </a:rPr>
              <a:t>E</a:t>
            </a:r>
            <a:r>
              <a:rPr kumimoji="0" lang="en-US" altLang="zh-CN" sz="2400" baseline="-25000">
                <a:ea typeface="楷体_GB2312" pitchFamily="49" charset="-122"/>
              </a:rPr>
              <a:t>g</a:t>
            </a:r>
            <a:r>
              <a:rPr kumimoji="0" lang="zh-CN" altLang="en-US" sz="2400">
                <a:ea typeface="楷体_GB2312" pitchFamily="49" charset="-122"/>
              </a:rPr>
              <a:t>有关，而半导体材料的</a:t>
            </a:r>
            <a:r>
              <a:rPr kumimoji="0" lang="en-US" altLang="zh-CN" sz="2400" i="1">
                <a:ea typeface="楷体_GB2312" pitchFamily="49" charset="-122"/>
              </a:rPr>
              <a:t>E</a:t>
            </a:r>
            <a:r>
              <a:rPr kumimoji="0" lang="en-US" altLang="zh-CN" sz="2400" baseline="-25000">
                <a:ea typeface="楷体_GB2312" pitchFamily="49" charset="-122"/>
              </a:rPr>
              <a:t>g</a:t>
            </a:r>
            <a:r>
              <a:rPr kumimoji="0" lang="zh-CN" altLang="en-US" sz="2400">
                <a:ea typeface="楷体_GB2312" pitchFamily="49" charset="-122"/>
              </a:rPr>
              <a:t>随温度的不同而不同，</a:t>
            </a:r>
            <a:r>
              <a:rPr kumimoji="0" lang="en-US" altLang="zh-CN" sz="2400" i="1">
                <a:ea typeface="楷体_GB2312" pitchFamily="49" charset="-122"/>
              </a:rPr>
              <a:t>E</a:t>
            </a:r>
            <a:r>
              <a:rPr kumimoji="0" lang="en-US" altLang="zh-CN" sz="2400" baseline="-25000">
                <a:ea typeface="楷体_GB2312" pitchFamily="49" charset="-122"/>
              </a:rPr>
              <a:t>g</a:t>
            </a:r>
            <a:r>
              <a:rPr kumimoji="0" lang="zh-CN" altLang="en-US" sz="2400">
                <a:ea typeface="楷体_GB2312" pitchFamily="49" charset="-122"/>
              </a:rPr>
              <a:t>与温度</a:t>
            </a:r>
            <a:r>
              <a:rPr kumimoji="0" lang="en-US" altLang="zh-CN" sz="2400" i="1">
                <a:ea typeface="楷体_GB2312" pitchFamily="49" charset="-122"/>
              </a:rPr>
              <a:t>t</a:t>
            </a:r>
            <a:r>
              <a:rPr kumimoji="0" lang="zh-CN" altLang="en-US" sz="2400">
                <a:ea typeface="楷体_GB2312" pitchFamily="49" charset="-122"/>
              </a:rPr>
              <a:t>的关系为</a:t>
            </a:r>
            <a:endParaRPr kumimoji="0" lang="zh-CN" altLang="en-US" sz="2400" baseline="-25000">
              <a:ea typeface="楷体_GB2312" pitchFamily="49" charset="-122"/>
            </a:endParaRPr>
          </a:p>
        </p:txBody>
      </p:sp>
      <p:graphicFrame>
        <p:nvGraphicFramePr>
          <p:cNvPr id="53253" name="Object 5">
            <a:extLst>
              <a:ext uri="{FF2B5EF4-FFF2-40B4-BE49-F238E27FC236}">
                <a16:creationId xmlns:a16="http://schemas.microsoft.com/office/drawing/2014/main" id="{AC9075E2-CEF7-40F7-ABF0-CEBD26BF5D78}"/>
              </a:ext>
            </a:extLst>
          </p:cNvPr>
          <p:cNvGraphicFramePr>
            <a:graphicFrameLocks noChangeAspect="1"/>
          </p:cNvGraphicFramePr>
          <p:nvPr/>
        </p:nvGraphicFramePr>
        <p:xfrm>
          <a:off x="3203575" y="5656263"/>
          <a:ext cx="2592388" cy="809625"/>
        </p:xfrm>
        <a:graphic>
          <a:graphicData uri="http://schemas.openxmlformats.org/presentationml/2006/ole">
            <mc:AlternateContent xmlns:mc="http://schemas.openxmlformats.org/markup-compatibility/2006">
              <mc:Choice xmlns:v="urn:schemas-microsoft-com:vml" Requires="v">
                <p:oleObj spid="_x0000_s53270" name="Equation" r:id="rId4" imgW="1422400" imgH="444500" progId="Equation.DSMT4">
                  <p:embed/>
                </p:oleObj>
              </mc:Choice>
              <mc:Fallback>
                <p:oleObj name="Equation" r:id="rId4" imgW="1422400" imgH="4445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575" y="5656263"/>
                        <a:ext cx="2592388"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a:extLst>
              <a:ext uri="{FF2B5EF4-FFF2-40B4-BE49-F238E27FC236}">
                <a16:creationId xmlns:a16="http://schemas.microsoft.com/office/drawing/2014/main" id="{BEF79A16-4CE3-4196-A60C-7D2623DA7C1A}"/>
              </a:ext>
            </a:extLst>
          </p:cNvPr>
          <p:cNvSpPr txBox="1">
            <a:spLocks noChangeArrowheads="1"/>
          </p:cNvSpPr>
          <p:nvPr/>
        </p:nvSpPr>
        <p:spPr bwMode="auto">
          <a:xfrm>
            <a:off x="250825" y="260350"/>
            <a:ext cx="691356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000">
                <a:ea typeface="楷体_GB2312" pitchFamily="49" charset="-122"/>
              </a:rPr>
              <a:t>对于</a:t>
            </a:r>
            <a:r>
              <a:rPr kumimoji="0" lang="en-US" altLang="zh-CN" sz="2000">
                <a:ea typeface="楷体_GB2312" pitchFamily="49" charset="-122"/>
              </a:rPr>
              <a:t>GaAs</a:t>
            </a:r>
            <a:r>
              <a:rPr kumimoji="0" lang="zh-CN" altLang="en-US" sz="2000">
                <a:ea typeface="楷体_GB2312" pitchFamily="49" charset="-122"/>
              </a:rPr>
              <a:t>材料，由实验得到</a:t>
            </a:r>
          </a:p>
        </p:txBody>
      </p:sp>
      <p:graphicFrame>
        <p:nvGraphicFramePr>
          <p:cNvPr id="54275" name="Object 3">
            <a:extLst>
              <a:ext uri="{FF2B5EF4-FFF2-40B4-BE49-F238E27FC236}">
                <a16:creationId xmlns:a16="http://schemas.microsoft.com/office/drawing/2014/main" id="{4502CE1F-C9E0-4AEB-A3A5-72450C9A147E}"/>
              </a:ext>
            </a:extLst>
          </p:cNvPr>
          <p:cNvGraphicFramePr>
            <a:graphicFrameLocks noChangeAspect="1"/>
          </p:cNvGraphicFramePr>
          <p:nvPr/>
        </p:nvGraphicFramePr>
        <p:xfrm>
          <a:off x="1212850" y="973138"/>
          <a:ext cx="2087563" cy="477837"/>
        </p:xfrm>
        <a:graphic>
          <a:graphicData uri="http://schemas.openxmlformats.org/presentationml/2006/ole">
            <mc:AlternateContent xmlns:mc="http://schemas.openxmlformats.org/markup-compatibility/2006">
              <mc:Choice xmlns:v="urn:schemas-microsoft-com:vml" Requires="v">
                <p:oleObj spid="_x0000_s54331" name="Equation" r:id="rId3" imgW="1054100" imgH="241300" progId="Equation.DSMT4">
                  <p:embed/>
                </p:oleObj>
              </mc:Choice>
              <mc:Fallback>
                <p:oleObj name="Equation" r:id="rId3" imgW="1054100" imgH="2413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2850" y="973138"/>
                        <a:ext cx="2087563"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76" name="Text Box 4">
            <a:extLst>
              <a:ext uri="{FF2B5EF4-FFF2-40B4-BE49-F238E27FC236}">
                <a16:creationId xmlns:a16="http://schemas.microsoft.com/office/drawing/2014/main" id="{C0E94790-C6F5-4080-97C5-A080664C8066}"/>
              </a:ext>
            </a:extLst>
          </p:cNvPr>
          <p:cNvSpPr txBox="1">
            <a:spLocks noChangeArrowheads="1"/>
          </p:cNvSpPr>
          <p:nvPr/>
        </p:nvSpPr>
        <p:spPr bwMode="auto">
          <a:xfrm>
            <a:off x="427038" y="1555750"/>
            <a:ext cx="8675687"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dirty="0">
                <a:ea typeface="楷体_GB2312" pitchFamily="49" charset="-122"/>
              </a:rPr>
              <a:t>       </a:t>
            </a:r>
            <a:r>
              <a:rPr kumimoji="0" lang="zh-CN" altLang="en-US" sz="2000" dirty="0">
                <a:ea typeface="楷体_GB2312" pitchFamily="49" charset="-122"/>
              </a:rPr>
              <a:t>由此可见，</a:t>
            </a:r>
            <a:r>
              <a:rPr kumimoji="0" lang="zh-CN" altLang="en-US" sz="2000" dirty="0">
                <a:highlight>
                  <a:srgbClr val="FFFF00"/>
                </a:highlight>
                <a:ea typeface="楷体_GB2312" pitchFamily="49" charset="-122"/>
              </a:rPr>
              <a:t>半导体材料的</a:t>
            </a:r>
            <a:r>
              <a:rPr kumimoji="0" lang="en-US" altLang="zh-CN" sz="2000" i="1" dirty="0" err="1">
                <a:highlight>
                  <a:srgbClr val="FFFF00"/>
                </a:highlight>
                <a:ea typeface="楷体_GB2312" pitchFamily="49" charset="-122"/>
              </a:rPr>
              <a:t>E</a:t>
            </a:r>
            <a:r>
              <a:rPr kumimoji="0" lang="en-US" altLang="zh-CN" sz="2000" baseline="-25000" dirty="0" err="1">
                <a:highlight>
                  <a:srgbClr val="FFFF00"/>
                </a:highlight>
                <a:ea typeface="楷体_GB2312" pitchFamily="49" charset="-122"/>
              </a:rPr>
              <a:t>g</a:t>
            </a:r>
            <a:r>
              <a:rPr kumimoji="0" lang="zh-CN" altLang="en-US" sz="2000" dirty="0">
                <a:highlight>
                  <a:srgbClr val="FFFF00"/>
                </a:highlight>
                <a:ea typeface="楷体_GB2312" pitchFamily="49" charset="-122"/>
              </a:rPr>
              <a:t>随温度上升而减小</a:t>
            </a:r>
            <a:r>
              <a:rPr kumimoji="0" lang="zh-CN" altLang="en-US" sz="2000" dirty="0">
                <a:ea typeface="楷体_GB2312" pitchFamily="49" charset="-122"/>
              </a:rPr>
              <a:t>，亦即其本征吸收波长</a:t>
            </a:r>
            <a:r>
              <a:rPr kumimoji="0" lang="el-GR" altLang="zh-CN" sz="2000" i="1" dirty="0">
                <a:ea typeface="楷体_GB2312" pitchFamily="49" charset="-122"/>
              </a:rPr>
              <a:t>λ</a:t>
            </a:r>
            <a:r>
              <a:rPr kumimoji="0" lang="en-US" altLang="zh-CN" sz="2000" baseline="-25000" dirty="0">
                <a:ea typeface="楷体_GB2312" pitchFamily="49" charset="-122"/>
              </a:rPr>
              <a:t>g</a:t>
            </a:r>
            <a:r>
              <a:rPr kumimoji="0" lang="zh-CN" altLang="en-US" sz="2000" dirty="0">
                <a:ea typeface="楷体_GB2312" pitchFamily="49" charset="-122"/>
              </a:rPr>
              <a:t>随温度上升而增大。反映在半导体的透光特性上，即当温度升高时，其透射率曲线将向长波方向移动。若采用发射光谱与半导体的</a:t>
            </a:r>
            <a:r>
              <a:rPr kumimoji="0" lang="el-GR" altLang="zh-CN" sz="2000" i="1" dirty="0">
                <a:ea typeface="楷体_GB2312" pitchFamily="49" charset="-122"/>
              </a:rPr>
              <a:t>λ</a:t>
            </a:r>
            <a:r>
              <a:rPr kumimoji="0" lang="en-US" altLang="zh-CN" sz="2000" baseline="-25000" dirty="0">
                <a:ea typeface="楷体_GB2312" pitchFamily="49" charset="-122"/>
              </a:rPr>
              <a:t>g</a:t>
            </a:r>
            <a:r>
              <a:rPr kumimoji="0" lang="zh-CN" altLang="en-US" sz="2000" dirty="0">
                <a:ea typeface="楷体_GB2312" pitchFamily="49" charset="-122"/>
              </a:rPr>
              <a:t>（</a:t>
            </a:r>
            <a:r>
              <a:rPr kumimoji="0" lang="en-US" altLang="zh-CN" sz="2000" i="1" dirty="0">
                <a:ea typeface="楷体_GB2312" pitchFamily="49" charset="-122"/>
              </a:rPr>
              <a:t>t</a:t>
            </a:r>
            <a:r>
              <a:rPr kumimoji="0" lang="zh-CN" altLang="en-US" sz="2000" dirty="0">
                <a:ea typeface="楷体_GB2312" pitchFamily="49" charset="-122"/>
              </a:rPr>
              <a:t>）相匹配的发光二级管作为光源，如图</a:t>
            </a:r>
            <a:r>
              <a:rPr kumimoji="0" lang="en-US" altLang="zh-CN" sz="2000" dirty="0">
                <a:ea typeface="楷体_GB2312" pitchFamily="49" charset="-122"/>
              </a:rPr>
              <a:t>9-10</a:t>
            </a:r>
            <a:r>
              <a:rPr kumimoji="0" lang="zh-CN" altLang="en-US" sz="2000" dirty="0">
                <a:ea typeface="楷体_GB2312" pitchFamily="49" charset="-122"/>
              </a:rPr>
              <a:t>所示，则透射光强度将随着温度的升高而减小。</a:t>
            </a:r>
            <a:endParaRPr kumimoji="0" lang="zh-CN" altLang="el-GR" sz="2000" dirty="0">
              <a:ea typeface="楷体_GB2312" pitchFamily="49" charset="-122"/>
            </a:endParaRPr>
          </a:p>
        </p:txBody>
      </p:sp>
      <p:pic>
        <p:nvPicPr>
          <p:cNvPr id="54277" name="Picture 5" descr="IMG_3919">
            <a:extLst>
              <a:ext uri="{FF2B5EF4-FFF2-40B4-BE49-F238E27FC236}">
                <a16:creationId xmlns:a16="http://schemas.microsoft.com/office/drawing/2014/main" id="{61DAB102-51F5-4C78-AFBD-C5CB69F5F3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875" y="3973513"/>
            <a:ext cx="4464050" cy="268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4278" name="Object 6">
            <a:extLst>
              <a:ext uri="{FF2B5EF4-FFF2-40B4-BE49-F238E27FC236}">
                <a16:creationId xmlns:a16="http://schemas.microsoft.com/office/drawing/2014/main" id="{6263F5DB-46F5-4F3F-8338-93218A02A96C}"/>
              </a:ext>
            </a:extLst>
          </p:cNvPr>
          <p:cNvGraphicFramePr>
            <a:graphicFrameLocks noChangeAspect="1"/>
          </p:cNvGraphicFramePr>
          <p:nvPr/>
        </p:nvGraphicFramePr>
        <p:xfrm>
          <a:off x="3749675" y="938213"/>
          <a:ext cx="2478088" cy="419100"/>
        </p:xfrm>
        <a:graphic>
          <a:graphicData uri="http://schemas.openxmlformats.org/presentationml/2006/ole">
            <mc:AlternateContent xmlns:mc="http://schemas.openxmlformats.org/markup-compatibility/2006">
              <mc:Choice xmlns:v="urn:schemas-microsoft-com:vml" Requires="v">
                <p:oleObj spid="_x0000_s54332" name="Equation" r:id="rId6" imgW="1193800" imgH="203200" progId="Equation.DSMT4">
                  <p:embed/>
                </p:oleObj>
              </mc:Choice>
              <mc:Fallback>
                <p:oleObj name="Equation" r:id="rId6" imgW="1193800" imgH="2032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9675" y="938213"/>
                        <a:ext cx="2478088"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79" name="Object 7">
            <a:extLst>
              <a:ext uri="{FF2B5EF4-FFF2-40B4-BE49-F238E27FC236}">
                <a16:creationId xmlns:a16="http://schemas.microsoft.com/office/drawing/2014/main" id="{779A5CE8-055D-4BB5-AEF0-BFAF6D69295B}"/>
              </a:ext>
            </a:extLst>
          </p:cNvPr>
          <p:cNvGraphicFramePr>
            <a:graphicFrameLocks noChangeAspect="1"/>
          </p:cNvGraphicFramePr>
          <p:nvPr/>
        </p:nvGraphicFramePr>
        <p:xfrm>
          <a:off x="6659563" y="977900"/>
          <a:ext cx="1296987" cy="406400"/>
        </p:xfrm>
        <a:graphic>
          <a:graphicData uri="http://schemas.openxmlformats.org/presentationml/2006/ole">
            <mc:AlternateContent xmlns:mc="http://schemas.openxmlformats.org/markup-compatibility/2006">
              <mc:Choice xmlns:v="urn:schemas-microsoft-com:vml" Requires="v">
                <p:oleObj spid="_x0000_s54333" name="Equation" r:id="rId8" imgW="647419" imgH="203112" progId="Equation.DSMT4">
                  <p:embed/>
                </p:oleObj>
              </mc:Choice>
              <mc:Fallback>
                <p:oleObj name="Equation" r:id="rId8" imgW="647419" imgH="203112"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59563" y="977900"/>
                        <a:ext cx="1296987"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a:extLst>
              <a:ext uri="{FF2B5EF4-FFF2-40B4-BE49-F238E27FC236}">
                <a16:creationId xmlns:a16="http://schemas.microsoft.com/office/drawing/2014/main" id="{A1775C28-0F77-428F-A965-11523230880A}"/>
              </a:ext>
            </a:extLst>
          </p:cNvPr>
          <p:cNvSpPr txBox="1">
            <a:spLocks noChangeArrowheads="1"/>
          </p:cNvSpPr>
          <p:nvPr/>
        </p:nvSpPr>
        <p:spPr bwMode="auto">
          <a:xfrm>
            <a:off x="323850" y="260350"/>
            <a:ext cx="8424863"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利用半导体吸收的光纤温度传感器的基本结构如图</a:t>
            </a:r>
            <a:r>
              <a:rPr kumimoji="0" lang="en-US" altLang="zh-CN" sz="2400">
                <a:ea typeface="楷体_GB2312" pitchFamily="49" charset="-122"/>
              </a:rPr>
              <a:t>9-11</a:t>
            </a:r>
            <a:r>
              <a:rPr kumimoji="0" lang="zh-CN" altLang="en-US" sz="2400">
                <a:ea typeface="楷体_GB2312" pitchFamily="49" charset="-122"/>
              </a:rPr>
              <a:t>所示，这种探头的结构简单，制作容易。但光纤从传感器的两端导出，使用安装很不方便。</a:t>
            </a:r>
          </a:p>
        </p:txBody>
      </p:sp>
      <p:pic>
        <p:nvPicPr>
          <p:cNvPr id="55299" name="Picture 3" descr="IMG_3920">
            <a:extLst>
              <a:ext uri="{FF2B5EF4-FFF2-40B4-BE49-F238E27FC236}">
                <a16:creationId xmlns:a16="http://schemas.microsoft.com/office/drawing/2014/main" id="{75AD006F-8E78-4B66-AC37-72489E4BB7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3787"/>
          <a:stretch>
            <a:fillRect/>
          </a:stretch>
        </p:blipFill>
        <p:spPr bwMode="auto">
          <a:xfrm>
            <a:off x="1619250" y="1844675"/>
            <a:ext cx="5761038" cy="164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Text Box 4">
            <a:extLst>
              <a:ext uri="{FF2B5EF4-FFF2-40B4-BE49-F238E27FC236}">
                <a16:creationId xmlns:a16="http://schemas.microsoft.com/office/drawing/2014/main" id="{4583DF9C-1A53-46B1-A742-9BD658AA222C}"/>
              </a:ext>
            </a:extLst>
          </p:cNvPr>
          <p:cNvSpPr txBox="1">
            <a:spLocks noChangeArrowheads="1"/>
          </p:cNvSpPr>
          <p:nvPr/>
        </p:nvSpPr>
        <p:spPr bwMode="auto">
          <a:xfrm>
            <a:off x="1331913" y="3500438"/>
            <a:ext cx="6408737"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zh-CN" altLang="en-US" sz="1800">
                <a:ea typeface="楷体_GB2312" pitchFamily="49" charset="-122"/>
              </a:rPr>
              <a:t>图</a:t>
            </a:r>
            <a:r>
              <a:rPr kumimoji="0" lang="en-US" altLang="zh-CN" sz="1800">
                <a:ea typeface="楷体_GB2312" pitchFamily="49" charset="-122"/>
              </a:rPr>
              <a:t>9-11 </a:t>
            </a:r>
            <a:r>
              <a:rPr kumimoji="0" lang="zh-CN" altLang="en-US" sz="1800">
                <a:ea typeface="楷体_GB2312" pitchFamily="49" charset="-122"/>
              </a:rPr>
              <a:t>半导体光纤温度计的基本结构</a:t>
            </a:r>
          </a:p>
          <a:p>
            <a:pPr eaLnBrk="1" hangingPunct="1">
              <a:lnSpc>
                <a:spcPct val="120000"/>
              </a:lnSpc>
              <a:spcBef>
                <a:spcPct val="0"/>
              </a:spcBef>
              <a:buFontTx/>
              <a:buNone/>
            </a:pPr>
            <a:r>
              <a:rPr kumimoji="0" lang="en-US" altLang="zh-CN" sz="1800">
                <a:ea typeface="楷体_GB2312" pitchFamily="49" charset="-122"/>
              </a:rPr>
              <a:t>1—</a:t>
            </a:r>
            <a:r>
              <a:rPr kumimoji="0" lang="zh-CN" altLang="en-US" sz="1800">
                <a:ea typeface="楷体_GB2312" pitchFamily="49" charset="-122"/>
              </a:rPr>
              <a:t>固定外套   </a:t>
            </a:r>
            <a:r>
              <a:rPr kumimoji="0" lang="en-US" altLang="zh-CN" sz="1800">
                <a:ea typeface="楷体_GB2312" pitchFamily="49" charset="-122"/>
              </a:rPr>
              <a:t>2—</a:t>
            </a:r>
            <a:r>
              <a:rPr kumimoji="0" lang="zh-CN" altLang="en-US" sz="1800">
                <a:ea typeface="楷体_GB2312" pitchFamily="49" charset="-122"/>
              </a:rPr>
              <a:t>加强管  </a:t>
            </a:r>
            <a:r>
              <a:rPr kumimoji="0" lang="en-US" altLang="zh-CN" sz="1800">
                <a:ea typeface="楷体_GB2312" pitchFamily="49" charset="-122"/>
              </a:rPr>
              <a:t>3—</a:t>
            </a:r>
            <a:r>
              <a:rPr kumimoji="0" lang="zh-CN" altLang="en-US" sz="1800">
                <a:ea typeface="楷体_GB2312" pitchFamily="49" charset="-122"/>
              </a:rPr>
              <a:t>光纤  </a:t>
            </a:r>
            <a:r>
              <a:rPr kumimoji="0" lang="en-US" altLang="zh-CN" sz="1800">
                <a:ea typeface="楷体_GB2312" pitchFamily="49" charset="-122"/>
              </a:rPr>
              <a:t>4—</a:t>
            </a:r>
            <a:r>
              <a:rPr kumimoji="0" lang="zh-CN" altLang="en-US" sz="1800">
                <a:ea typeface="楷体_GB2312" pitchFamily="49" charset="-122"/>
              </a:rPr>
              <a:t>半导体薄片</a:t>
            </a:r>
          </a:p>
        </p:txBody>
      </p:sp>
      <p:pic>
        <p:nvPicPr>
          <p:cNvPr id="55301" name="Picture 5" descr="IMG_3921">
            <a:extLst>
              <a:ext uri="{FF2B5EF4-FFF2-40B4-BE49-F238E27FC236}">
                <a16:creationId xmlns:a16="http://schemas.microsoft.com/office/drawing/2014/main" id="{D6534C7F-456E-450F-ADF8-877432FE6B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7500" r="29547"/>
          <a:stretch>
            <a:fillRect/>
          </a:stretch>
        </p:blipFill>
        <p:spPr bwMode="auto">
          <a:xfrm>
            <a:off x="3563938" y="4508500"/>
            <a:ext cx="265747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6" descr="IMG_3921">
            <a:extLst>
              <a:ext uri="{FF2B5EF4-FFF2-40B4-BE49-F238E27FC236}">
                <a16:creationId xmlns:a16="http://schemas.microsoft.com/office/drawing/2014/main" id="{0530FA26-2E1B-426B-99B4-6065DF6F92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1477"/>
          <a:stretch>
            <a:fillRect/>
          </a:stretch>
        </p:blipFill>
        <p:spPr bwMode="auto">
          <a:xfrm>
            <a:off x="6659563" y="4508500"/>
            <a:ext cx="2300287"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3" name="Picture 7" descr="IMG_3921">
            <a:extLst>
              <a:ext uri="{FF2B5EF4-FFF2-40B4-BE49-F238E27FC236}">
                <a16:creationId xmlns:a16="http://schemas.microsoft.com/office/drawing/2014/main" id="{5513D080-BDBD-4044-A2D3-77C699317E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65176"/>
          <a:stretch>
            <a:fillRect/>
          </a:stretch>
        </p:blipFill>
        <p:spPr bwMode="auto">
          <a:xfrm>
            <a:off x="539750" y="4508500"/>
            <a:ext cx="2808288"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4" name="Text Box 8">
            <a:extLst>
              <a:ext uri="{FF2B5EF4-FFF2-40B4-BE49-F238E27FC236}">
                <a16:creationId xmlns:a16="http://schemas.microsoft.com/office/drawing/2014/main" id="{008B7684-A030-487C-89A4-AE02CFF8FA7C}"/>
              </a:ext>
            </a:extLst>
          </p:cNvPr>
          <p:cNvSpPr txBox="1">
            <a:spLocks noChangeArrowheads="1"/>
          </p:cNvSpPr>
          <p:nvPr/>
        </p:nvSpPr>
        <p:spPr bwMode="auto">
          <a:xfrm>
            <a:off x="827088" y="5949950"/>
            <a:ext cx="7632700"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50000"/>
              </a:spcBef>
              <a:buFontTx/>
              <a:buNone/>
            </a:pPr>
            <a:r>
              <a:rPr kumimoji="0" lang="zh-CN" altLang="en-US" sz="1800">
                <a:ea typeface="楷体_GB2312" pitchFamily="49" charset="-122"/>
              </a:rPr>
              <a:t>图</a:t>
            </a:r>
            <a:r>
              <a:rPr kumimoji="0" lang="en-US" altLang="zh-CN" sz="1800">
                <a:ea typeface="楷体_GB2312" pitchFamily="49" charset="-122"/>
              </a:rPr>
              <a:t>9-12 </a:t>
            </a:r>
            <a:r>
              <a:rPr kumimoji="0" lang="zh-CN" altLang="en-US" sz="1800">
                <a:ea typeface="楷体_GB2312" pitchFamily="49" charset="-122"/>
              </a:rPr>
              <a:t>三种单端式温度探头的结构</a:t>
            </a:r>
          </a:p>
          <a:p>
            <a:pPr algn="ctr" eaLnBrk="1" hangingPunct="1">
              <a:lnSpc>
                <a:spcPct val="120000"/>
              </a:lnSpc>
              <a:spcBef>
                <a:spcPct val="0"/>
              </a:spcBef>
              <a:buFontTx/>
              <a:buNone/>
            </a:pPr>
            <a:r>
              <a:rPr kumimoji="0" lang="en-US" altLang="zh-CN" sz="1800">
                <a:ea typeface="楷体_GB2312" pitchFamily="49" charset="-122"/>
              </a:rPr>
              <a:t>1-</a:t>
            </a:r>
            <a:r>
              <a:rPr kumimoji="0" lang="zh-CN" altLang="en-US" sz="1800">
                <a:ea typeface="楷体_GB2312" pitchFamily="49" charset="-122"/>
              </a:rPr>
              <a:t>光纤 </a:t>
            </a:r>
            <a:r>
              <a:rPr kumimoji="0" lang="en-US" altLang="zh-CN" sz="1800">
                <a:ea typeface="楷体_GB2312" pitchFamily="49" charset="-122"/>
              </a:rPr>
              <a:t>2-</a:t>
            </a:r>
            <a:r>
              <a:rPr kumimoji="0" lang="zh-CN" altLang="en-US" sz="1800">
                <a:ea typeface="楷体_GB2312" pitchFamily="49" charset="-122"/>
              </a:rPr>
              <a:t>环氧胶 </a:t>
            </a:r>
            <a:r>
              <a:rPr kumimoji="0" lang="en-US" altLang="zh-CN" sz="1800">
                <a:ea typeface="楷体_GB2312" pitchFamily="49" charset="-122"/>
              </a:rPr>
              <a:t>3-</a:t>
            </a:r>
            <a:r>
              <a:rPr kumimoji="0" lang="zh-CN" altLang="en-US" sz="1800">
                <a:ea typeface="楷体_GB2312" pitchFamily="49" charset="-122"/>
              </a:rPr>
              <a:t>外壳 </a:t>
            </a:r>
            <a:r>
              <a:rPr kumimoji="0" lang="en-US" altLang="zh-CN" sz="1800">
                <a:ea typeface="楷体_GB2312" pitchFamily="49" charset="-122"/>
              </a:rPr>
              <a:t>4</a:t>
            </a:r>
            <a:r>
              <a:rPr kumimoji="0" lang="zh-CN" altLang="en-US" sz="1800">
                <a:ea typeface="楷体_GB2312" pitchFamily="49" charset="-122"/>
              </a:rPr>
              <a:t>、</a:t>
            </a:r>
            <a:r>
              <a:rPr kumimoji="0" lang="en-US" altLang="zh-CN" sz="1800">
                <a:ea typeface="楷体_GB2312" pitchFamily="49" charset="-122"/>
              </a:rPr>
              <a:t>6</a:t>
            </a:r>
            <a:r>
              <a:rPr kumimoji="0" lang="zh-CN" altLang="en-US" sz="1800">
                <a:ea typeface="楷体_GB2312" pitchFamily="49" charset="-122"/>
              </a:rPr>
              <a:t>、</a:t>
            </a:r>
            <a:r>
              <a:rPr kumimoji="0" lang="en-US" altLang="zh-CN" sz="1800">
                <a:ea typeface="楷体_GB2312" pitchFamily="49" charset="-122"/>
              </a:rPr>
              <a:t>8-</a:t>
            </a:r>
            <a:r>
              <a:rPr kumimoji="0" lang="zh-CN" altLang="en-US" sz="1800">
                <a:ea typeface="楷体_GB2312" pitchFamily="49" charset="-122"/>
              </a:rPr>
              <a:t>半导体 </a:t>
            </a:r>
            <a:r>
              <a:rPr kumimoji="0" lang="en-US" altLang="zh-CN" sz="1800">
                <a:ea typeface="楷体_GB2312" pitchFamily="49" charset="-122"/>
              </a:rPr>
              <a:t>5</a:t>
            </a:r>
            <a:r>
              <a:rPr kumimoji="0" lang="zh-CN" altLang="en-US" sz="1800">
                <a:ea typeface="楷体_GB2312" pitchFamily="49" charset="-122"/>
              </a:rPr>
              <a:t>、</a:t>
            </a:r>
            <a:r>
              <a:rPr kumimoji="0" lang="en-US" altLang="zh-CN" sz="1800">
                <a:ea typeface="楷体_GB2312" pitchFamily="49" charset="-122"/>
              </a:rPr>
              <a:t>7</a:t>
            </a:r>
            <a:r>
              <a:rPr kumimoji="0" lang="zh-CN" altLang="en-US" sz="1800">
                <a:ea typeface="楷体_GB2312" pitchFamily="49" charset="-122"/>
              </a:rPr>
              <a:t>、</a:t>
            </a:r>
            <a:r>
              <a:rPr kumimoji="0" lang="en-US" altLang="zh-CN" sz="1800">
                <a:ea typeface="楷体_GB2312" pitchFamily="49" charset="-122"/>
              </a:rPr>
              <a:t>9-</a:t>
            </a:r>
            <a:r>
              <a:rPr kumimoji="0" lang="zh-CN" altLang="en-US" sz="1800">
                <a:ea typeface="楷体_GB2312" pitchFamily="49" charset="-122"/>
              </a:rPr>
              <a:t>反射膜</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a:extLst>
              <a:ext uri="{FF2B5EF4-FFF2-40B4-BE49-F238E27FC236}">
                <a16:creationId xmlns:a16="http://schemas.microsoft.com/office/drawing/2014/main" id="{A16B9361-C8C9-468C-BC05-5F037927B96A}"/>
              </a:ext>
            </a:extLst>
          </p:cNvPr>
          <p:cNvSpPr txBox="1">
            <a:spLocks noChangeArrowheads="1"/>
          </p:cNvSpPr>
          <p:nvPr/>
        </p:nvSpPr>
        <p:spPr bwMode="auto">
          <a:xfrm>
            <a:off x="468313" y="188913"/>
            <a:ext cx="8207375"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dirty="0">
                <a:ea typeface="楷体_GB2312" pitchFamily="49" charset="-122"/>
              </a:rPr>
              <a:t>       </a:t>
            </a:r>
            <a:r>
              <a:rPr kumimoji="0" lang="zh-CN" altLang="en-US" sz="2400" dirty="0">
                <a:ea typeface="楷体_GB2312" pitchFamily="49" charset="-122"/>
              </a:rPr>
              <a:t>下图</a:t>
            </a:r>
            <a:r>
              <a:rPr kumimoji="0" lang="en-US" altLang="zh-CN" sz="2400" dirty="0">
                <a:ea typeface="楷体_GB2312" pitchFamily="49" charset="-122"/>
              </a:rPr>
              <a:t>9-13</a:t>
            </a:r>
            <a:r>
              <a:rPr kumimoji="0" lang="zh-CN" altLang="en-US" sz="2400" dirty="0">
                <a:ea typeface="楷体_GB2312" pitchFamily="49" charset="-122"/>
              </a:rPr>
              <a:t>示出了传感器在</a:t>
            </a:r>
            <a:r>
              <a:rPr kumimoji="0" lang="en-US" altLang="zh-CN" sz="2400" dirty="0">
                <a:highlight>
                  <a:srgbClr val="FFFF00"/>
                </a:highlight>
                <a:ea typeface="楷体_GB2312" pitchFamily="49" charset="-122"/>
              </a:rPr>
              <a:t>-50℃</a:t>
            </a:r>
            <a:r>
              <a:rPr kumimoji="0" lang="en-US" altLang="zh-CN" sz="2400" dirty="0">
                <a:highlight>
                  <a:srgbClr val="FFFF00"/>
                </a:highlight>
                <a:ea typeface="楷体_GB2312" pitchFamily="49" charset="-122"/>
                <a:cs typeface="Times New Roman" panose="02020603050405020304" pitchFamily="18" charset="0"/>
              </a:rPr>
              <a:t>~200</a:t>
            </a:r>
            <a:r>
              <a:rPr kumimoji="0" lang="en-US" altLang="zh-CN" sz="2400" dirty="0">
                <a:highlight>
                  <a:srgbClr val="FFFF00"/>
                </a:highlight>
                <a:ea typeface="楷体_GB2312" pitchFamily="49" charset="-122"/>
              </a:rPr>
              <a:t>℃</a:t>
            </a:r>
            <a:r>
              <a:rPr kumimoji="0" lang="zh-CN" altLang="en-US" sz="2400" dirty="0">
                <a:ea typeface="楷体_GB2312" pitchFamily="49" charset="-122"/>
              </a:rPr>
              <a:t>温度范围内的相对输出功率和温度之间的关系曲线。 </a:t>
            </a:r>
          </a:p>
        </p:txBody>
      </p:sp>
      <p:grpSp>
        <p:nvGrpSpPr>
          <p:cNvPr id="56323" name="Group 3">
            <a:extLst>
              <a:ext uri="{FF2B5EF4-FFF2-40B4-BE49-F238E27FC236}">
                <a16:creationId xmlns:a16="http://schemas.microsoft.com/office/drawing/2014/main" id="{15715CC5-9762-48C7-8963-2F38AAB7A99F}"/>
              </a:ext>
            </a:extLst>
          </p:cNvPr>
          <p:cNvGrpSpPr>
            <a:grpSpLocks/>
          </p:cNvGrpSpPr>
          <p:nvPr/>
        </p:nvGrpSpPr>
        <p:grpSpPr bwMode="auto">
          <a:xfrm>
            <a:off x="1763713" y="1557338"/>
            <a:ext cx="5832475" cy="4346575"/>
            <a:chOff x="969" y="1026"/>
            <a:chExt cx="3674" cy="2738"/>
          </a:xfrm>
        </p:grpSpPr>
        <p:pic>
          <p:nvPicPr>
            <p:cNvPr id="56324" name="Picture 4" descr="IMG_3922">
              <a:extLst>
                <a:ext uri="{FF2B5EF4-FFF2-40B4-BE49-F238E27FC236}">
                  <a16:creationId xmlns:a16="http://schemas.microsoft.com/office/drawing/2014/main" id="{2A952658-197F-4399-9949-E287F05F60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 y="1026"/>
              <a:ext cx="2721" cy="2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5" name="Text Box 5">
              <a:extLst>
                <a:ext uri="{FF2B5EF4-FFF2-40B4-BE49-F238E27FC236}">
                  <a16:creationId xmlns:a16="http://schemas.microsoft.com/office/drawing/2014/main" id="{C0D52AF8-3313-4915-BC1E-D61DBC9A4977}"/>
                </a:ext>
              </a:extLst>
            </p:cNvPr>
            <p:cNvSpPr txBox="1">
              <a:spLocks noChangeArrowheads="1"/>
            </p:cNvSpPr>
            <p:nvPr/>
          </p:nvSpPr>
          <p:spPr bwMode="auto">
            <a:xfrm>
              <a:off x="969" y="3430"/>
              <a:ext cx="367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ea typeface="楷体_GB2312" pitchFamily="49" charset="-122"/>
                </a:rPr>
                <a:t>图</a:t>
              </a:r>
              <a:r>
                <a:rPr kumimoji="0" lang="en-US" altLang="zh-CN" sz="2400">
                  <a:ea typeface="楷体_GB2312" pitchFamily="49" charset="-122"/>
                </a:rPr>
                <a:t>9-13 </a:t>
              </a:r>
              <a:r>
                <a:rPr kumimoji="0" lang="zh-CN" altLang="en-US" sz="2400">
                  <a:ea typeface="楷体_GB2312" pitchFamily="49" charset="-122"/>
                </a:rPr>
                <a:t>半导体光纤温度传感器的输出特性</a:t>
              </a:r>
            </a:p>
          </p:txBody>
        </p:sp>
      </p:gr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a:extLst>
              <a:ext uri="{FF2B5EF4-FFF2-40B4-BE49-F238E27FC236}">
                <a16:creationId xmlns:a16="http://schemas.microsoft.com/office/drawing/2014/main" id="{EA628A51-9920-4333-8B1B-59E03DE16BB4}"/>
              </a:ext>
            </a:extLst>
          </p:cNvPr>
          <p:cNvSpPr txBox="1">
            <a:spLocks noChangeArrowheads="1"/>
          </p:cNvSpPr>
          <p:nvPr/>
        </p:nvSpPr>
        <p:spPr bwMode="auto">
          <a:xfrm>
            <a:off x="395288" y="260350"/>
            <a:ext cx="828040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dirty="0">
                <a:ea typeface="楷体_GB2312" pitchFamily="49" charset="-122"/>
              </a:rPr>
              <a:t>       </a:t>
            </a:r>
            <a:r>
              <a:rPr kumimoji="0" lang="zh-CN" altLang="en-US" sz="2400" b="1" dirty="0">
                <a:ea typeface="楷体_GB2312" pitchFamily="49" charset="-122"/>
              </a:rPr>
              <a:t>上述简单结构的半导体光纤温度传感器，由于受到</a:t>
            </a:r>
            <a:r>
              <a:rPr kumimoji="0" lang="zh-CN" altLang="en-US" sz="2400" b="1" dirty="0">
                <a:solidFill>
                  <a:srgbClr val="0000FF"/>
                </a:solidFill>
                <a:ea typeface="楷体_GB2312" pitchFamily="49" charset="-122"/>
              </a:rPr>
              <a:t>光源功率波动、损耗变化等因素的影响</a:t>
            </a:r>
            <a:r>
              <a:rPr kumimoji="0" lang="zh-CN" altLang="en-US" sz="2400" b="1" dirty="0">
                <a:ea typeface="楷体_GB2312" pitchFamily="49" charset="-122"/>
              </a:rPr>
              <a:t>，其检测精度受到了一定的限制，下图示出了一种采用补偿检测法的半导体光纤温度传感器的结构框图。</a:t>
            </a:r>
          </a:p>
        </p:txBody>
      </p:sp>
      <p:pic>
        <p:nvPicPr>
          <p:cNvPr id="57347" name="Picture 3" descr="IMG_3923">
            <a:extLst>
              <a:ext uri="{FF2B5EF4-FFF2-40B4-BE49-F238E27FC236}">
                <a16:creationId xmlns:a16="http://schemas.microsoft.com/office/drawing/2014/main" id="{395E120C-515B-4254-844D-BCA1113445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420938"/>
            <a:ext cx="7920037" cy="394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Text Box 4">
            <a:extLst>
              <a:ext uri="{FF2B5EF4-FFF2-40B4-BE49-F238E27FC236}">
                <a16:creationId xmlns:a16="http://schemas.microsoft.com/office/drawing/2014/main" id="{631F1DBF-3208-42F8-B0FD-9451AA1966CD}"/>
              </a:ext>
            </a:extLst>
          </p:cNvPr>
          <p:cNvSpPr txBox="1">
            <a:spLocks noChangeArrowheads="1"/>
          </p:cNvSpPr>
          <p:nvPr/>
        </p:nvSpPr>
        <p:spPr bwMode="auto">
          <a:xfrm>
            <a:off x="7885113" y="3429000"/>
            <a:ext cx="10795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solidFill>
                  <a:srgbClr val="FF0000"/>
                </a:solidFill>
                <a:ea typeface="楷体_GB2312" pitchFamily="49" charset="-122"/>
              </a:rPr>
              <a:t>探头</a:t>
            </a:r>
          </a:p>
        </p:txBody>
      </p:sp>
      <p:sp>
        <p:nvSpPr>
          <p:cNvPr id="57349" name="Text Box 5">
            <a:extLst>
              <a:ext uri="{FF2B5EF4-FFF2-40B4-BE49-F238E27FC236}">
                <a16:creationId xmlns:a16="http://schemas.microsoft.com/office/drawing/2014/main" id="{27803E1F-F30F-4CA6-85CF-35E8AB02E380}"/>
              </a:ext>
            </a:extLst>
          </p:cNvPr>
          <p:cNvSpPr txBox="1">
            <a:spLocks noChangeArrowheads="1"/>
          </p:cNvSpPr>
          <p:nvPr/>
        </p:nvSpPr>
        <p:spPr bwMode="auto">
          <a:xfrm>
            <a:off x="3971925" y="2328863"/>
            <a:ext cx="1296988"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solidFill>
                  <a:srgbClr val="FF0000"/>
                </a:solidFill>
                <a:ea typeface="楷体_GB2312" pitchFamily="49" charset="-122"/>
              </a:rPr>
              <a:t>耦合器</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a:extLst>
              <a:ext uri="{FF2B5EF4-FFF2-40B4-BE49-F238E27FC236}">
                <a16:creationId xmlns:a16="http://schemas.microsoft.com/office/drawing/2014/main" id="{1083EEFD-A3B0-44C1-AC9F-EA7ADEDFCF0C}"/>
              </a:ext>
            </a:extLst>
          </p:cNvPr>
          <p:cNvSpPr txBox="1">
            <a:spLocks noChangeArrowheads="1"/>
          </p:cNvSpPr>
          <p:nvPr/>
        </p:nvSpPr>
        <p:spPr bwMode="auto">
          <a:xfrm>
            <a:off x="395288" y="333375"/>
            <a:ext cx="8424862"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t" hangingPunct="1">
              <a:lnSpc>
                <a:spcPct val="130000"/>
              </a:lnSpc>
              <a:spcBef>
                <a:spcPct val="10000"/>
              </a:spcBef>
              <a:buClr>
                <a:srgbClr val="FFFF00"/>
              </a:buClr>
              <a:buSzPct val="80000"/>
              <a:buFont typeface="Wingdings" panose="05000000000000000000" pitchFamily="2" charset="2"/>
              <a:buNone/>
            </a:pPr>
            <a:r>
              <a:rPr kumimoji="0" lang="en-US" altLang="zh-CN" sz="2400">
                <a:ea typeface="楷体_GB2312" pitchFamily="49" charset="-122"/>
              </a:rPr>
              <a:t>      </a:t>
            </a:r>
            <a:r>
              <a:rPr kumimoji="0" lang="zh-CN" altLang="en-US" sz="2400">
                <a:ea typeface="楷体_GB2312" pitchFamily="49" charset="-122"/>
              </a:rPr>
              <a:t>图中</a:t>
            </a:r>
            <a:r>
              <a:rPr kumimoji="0" lang="en-US" altLang="zh-CN" sz="2400">
                <a:ea typeface="楷体_GB2312" pitchFamily="49" charset="-122"/>
              </a:rPr>
              <a:t>LED</a:t>
            </a:r>
            <a:r>
              <a:rPr kumimoji="0" lang="en-US" altLang="zh-CN" sz="2400" baseline="-25000">
                <a:ea typeface="楷体_GB2312" pitchFamily="49" charset="-122"/>
              </a:rPr>
              <a:t>1</a:t>
            </a:r>
            <a:r>
              <a:rPr kumimoji="0" lang="zh-CN" altLang="en-US" sz="2400">
                <a:ea typeface="楷体_GB2312" pitchFamily="49" charset="-122"/>
              </a:rPr>
              <a:t>为信号光源，其中心波长与半导体本征吸收波长</a:t>
            </a:r>
            <a:r>
              <a:rPr kumimoji="0" lang="el-GR" altLang="zh-CN" sz="2400" i="1">
                <a:latin typeface="楷体_GB2312" pitchFamily="49" charset="-122"/>
                <a:ea typeface="楷体_GB2312" pitchFamily="49" charset="-122"/>
              </a:rPr>
              <a:t>λ</a:t>
            </a:r>
            <a:r>
              <a:rPr kumimoji="0" lang="en-US" altLang="zh-CN" sz="2400" baseline="-25000">
                <a:latin typeface="楷体_GB2312" pitchFamily="49" charset="-122"/>
                <a:ea typeface="楷体_GB2312" pitchFamily="49" charset="-122"/>
              </a:rPr>
              <a:t>g</a:t>
            </a:r>
            <a:r>
              <a:rPr kumimoji="0" lang="zh-CN" altLang="en-US" sz="2400">
                <a:ea typeface="楷体_GB2312" pitchFamily="49" charset="-122"/>
              </a:rPr>
              <a:t>相匹配。</a:t>
            </a:r>
            <a:r>
              <a:rPr kumimoji="0" lang="en-US" altLang="zh-CN" sz="2400">
                <a:ea typeface="楷体_GB2312" pitchFamily="49" charset="-122"/>
              </a:rPr>
              <a:t>LED</a:t>
            </a:r>
            <a:r>
              <a:rPr kumimoji="0" lang="en-US" altLang="zh-CN" sz="2400" baseline="-25000">
                <a:ea typeface="楷体_GB2312" pitchFamily="49" charset="-122"/>
              </a:rPr>
              <a:t>2</a:t>
            </a:r>
            <a:r>
              <a:rPr kumimoji="0" lang="zh-CN" altLang="en-US" sz="2400">
                <a:ea typeface="楷体_GB2312" pitchFamily="49" charset="-122"/>
              </a:rPr>
              <a:t>为参考光源，其中心波长大于</a:t>
            </a:r>
            <a:r>
              <a:rPr kumimoji="0" lang="el-GR" altLang="zh-CN" sz="2400" i="1">
                <a:latin typeface="楷体_GB2312" pitchFamily="49" charset="-122"/>
                <a:ea typeface="楷体_GB2312" pitchFamily="49" charset="-122"/>
              </a:rPr>
              <a:t>λ</a:t>
            </a:r>
            <a:r>
              <a:rPr kumimoji="0" lang="en-US" altLang="zh-CN" sz="2400" baseline="-25000">
                <a:latin typeface="楷体_GB2312" pitchFamily="49" charset="-122"/>
                <a:ea typeface="楷体_GB2312" pitchFamily="49" charset="-122"/>
              </a:rPr>
              <a:t>g</a:t>
            </a:r>
            <a:r>
              <a:rPr kumimoji="0" lang="en-US" altLang="zh-CN" sz="2400">
                <a:ea typeface="楷体_GB2312" pitchFamily="49" charset="-122"/>
              </a:rPr>
              <a:t> </a:t>
            </a:r>
            <a:r>
              <a:rPr kumimoji="0" lang="zh-CN" altLang="en-US" sz="2400">
                <a:ea typeface="楷体_GB2312" pitchFamily="49" charset="-122"/>
              </a:rPr>
              <a:t>，如下图所示。</a:t>
            </a:r>
          </a:p>
        </p:txBody>
      </p:sp>
      <p:sp>
        <p:nvSpPr>
          <p:cNvPr id="58371" name="Text Box 3">
            <a:extLst>
              <a:ext uri="{FF2B5EF4-FFF2-40B4-BE49-F238E27FC236}">
                <a16:creationId xmlns:a16="http://schemas.microsoft.com/office/drawing/2014/main" id="{4DC8D31D-4080-48F7-AC65-24DE0C5E03E8}"/>
              </a:ext>
            </a:extLst>
          </p:cNvPr>
          <p:cNvSpPr txBox="1">
            <a:spLocks noChangeArrowheads="1"/>
          </p:cNvSpPr>
          <p:nvPr/>
        </p:nvSpPr>
        <p:spPr bwMode="auto">
          <a:xfrm>
            <a:off x="455613" y="4325938"/>
            <a:ext cx="8208962"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t" hangingPunct="1">
              <a:lnSpc>
                <a:spcPct val="130000"/>
              </a:lnSpc>
              <a:spcBef>
                <a:spcPct val="10000"/>
              </a:spcBef>
              <a:buClr>
                <a:srgbClr val="FFFF00"/>
              </a:buClr>
              <a:buSzPct val="80000"/>
              <a:buFont typeface="Wingdings" panose="05000000000000000000" pitchFamily="2" charset="2"/>
              <a:buNone/>
            </a:pPr>
            <a:r>
              <a:rPr kumimoji="0" lang="en-US" altLang="zh-CN" sz="2400">
                <a:ea typeface="楷体_GB2312" pitchFamily="49" charset="-122"/>
              </a:rPr>
              <a:t>       </a:t>
            </a:r>
            <a:r>
              <a:rPr kumimoji="0" lang="zh-CN" altLang="en-US" sz="2400">
                <a:ea typeface="楷体_GB2312" pitchFamily="49" charset="-122"/>
              </a:rPr>
              <a:t>当温度变化时，</a:t>
            </a:r>
            <a:r>
              <a:rPr kumimoji="0" lang="en-US" altLang="zh-CN" sz="2400">
                <a:ea typeface="楷体_GB2312" pitchFamily="49" charset="-122"/>
              </a:rPr>
              <a:t>LED</a:t>
            </a:r>
            <a:r>
              <a:rPr kumimoji="0" lang="en-US" altLang="zh-CN" sz="2400" baseline="-25000">
                <a:ea typeface="楷体_GB2312" pitchFamily="49" charset="-122"/>
              </a:rPr>
              <a:t>1</a:t>
            </a:r>
            <a:r>
              <a:rPr kumimoji="0" lang="zh-CN" altLang="en-US" sz="2400">
                <a:ea typeface="楷体_GB2312" pitchFamily="49" charset="-122"/>
              </a:rPr>
              <a:t>发射光通过半导体的透射光强随温度变化而变化，而</a:t>
            </a:r>
            <a:r>
              <a:rPr kumimoji="0" lang="en-US" altLang="zh-CN" sz="2400">
                <a:ea typeface="楷体_GB2312" pitchFamily="49" charset="-122"/>
              </a:rPr>
              <a:t>LED</a:t>
            </a:r>
            <a:r>
              <a:rPr kumimoji="0" lang="en-US" altLang="zh-CN" sz="2400" baseline="-25000">
                <a:ea typeface="楷体_GB2312" pitchFamily="49" charset="-122"/>
              </a:rPr>
              <a:t>2</a:t>
            </a:r>
            <a:r>
              <a:rPr kumimoji="0" lang="zh-CN" altLang="en-US" sz="2400">
                <a:ea typeface="楷体_GB2312" pitchFamily="49" charset="-122"/>
              </a:rPr>
              <a:t>发射光的透光强保持不变。因此，对于</a:t>
            </a:r>
            <a:r>
              <a:rPr kumimoji="0" lang="en-US" altLang="zh-CN" sz="2400">
                <a:ea typeface="楷体_GB2312" pitchFamily="49" charset="-122"/>
              </a:rPr>
              <a:t>LED</a:t>
            </a:r>
            <a:r>
              <a:rPr kumimoji="0" lang="en-US" altLang="zh-CN" sz="2400" baseline="-25000">
                <a:ea typeface="楷体_GB2312" pitchFamily="49" charset="-122"/>
              </a:rPr>
              <a:t>1</a:t>
            </a:r>
            <a:r>
              <a:rPr kumimoji="0" lang="zh-CN" altLang="en-US" sz="2400">
                <a:ea typeface="楷体_GB2312" pitchFamily="49" charset="-122"/>
              </a:rPr>
              <a:t>发出的光，在两个探测器</a:t>
            </a:r>
            <a:r>
              <a:rPr kumimoji="0" lang="en-US" altLang="zh-CN" sz="2400">
                <a:ea typeface="楷体_GB2312" pitchFamily="49" charset="-122"/>
              </a:rPr>
              <a:t>PD</a:t>
            </a:r>
            <a:r>
              <a:rPr kumimoji="0" lang="en-US" altLang="zh-CN" sz="2400" baseline="-25000">
                <a:ea typeface="楷体_GB2312" pitchFamily="49" charset="-122"/>
              </a:rPr>
              <a:t>1</a:t>
            </a:r>
            <a:r>
              <a:rPr kumimoji="0" lang="zh-CN" altLang="en-US" sz="2400">
                <a:ea typeface="楷体_GB2312" pitchFamily="49" charset="-122"/>
              </a:rPr>
              <a:t>和</a:t>
            </a:r>
            <a:r>
              <a:rPr kumimoji="0" lang="en-US" altLang="zh-CN" sz="2400">
                <a:ea typeface="楷体_GB2312" pitchFamily="49" charset="-122"/>
              </a:rPr>
              <a:t>PD</a:t>
            </a:r>
            <a:r>
              <a:rPr kumimoji="0" lang="en-US" altLang="zh-CN" sz="2400" baseline="-25000">
                <a:ea typeface="楷体_GB2312" pitchFamily="49" charset="-122"/>
              </a:rPr>
              <a:t>2</a:t>
            </a:r>
            <a:r>
              <a:rPr kumimoji="0" lang="zh-CN" altLang="en-US" sz="2400">
                <a:ea typeface="楷体_GB2312" pitchFamily="49" charset="-122"/>
              </a:rPr>
              <a:t>上接收的光强度可分别表示为</a:t>
            </a:r>
            <a:endParaRPr kumimoji="0" lang="zh-CN" altLang="en-US" sz="2400" baseline="-25000">
              <a:ea typeface="楷体_GB2312" pitchFamily="49" charset="-122"/>
            </a:endParaRPr>
          </a:p>
        </p:txBody>
      </p:sp>
      <p:pic>
        <p:nvPicPr>
          <p:cNvPr id="58372" name="Picture 4" descr="IMG_3924">
            <a:extLst>
              <a:ext uri="{FF2B5EF4-FFF2-40B4-BE49-F238E27FC236}">
                <a16:creationId xmlns:a16="http://schemas.microsoft.com/office/drawing/2014/main" id="{E0AFAEDD-D58D-44E6-B5BF-540085B4DA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212" b="4324"/>
          <a:stretch>
            <a:fillRect/>
          </a:stretch>
        </p:blipFill>
        <p:spPr bwMode="auto">
          <a:xfrm>
            <a:off x="1403350" y="1773238"/>
            <a:ext cx="6796088"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394" name="Object 2">
            <a:extLst>
              <a:ext uri="{FF2B5EF4-FFF2-40B4-BE49-F238E27FC236}">
                <a16:creationId xmlns:a16="http://schemas.microsoft.com/office/drawing/2014/main" id="{A8178DFD-2639-483C-B796-9C751EB4AB07}"/>
              </a:ext>
            </a:extLst>
          </p:cNvPr>
          <p:cNvGraphicFramePr>
            <a:graphicFrameLocks noChangeAspect="1"/>
          </p:cNvGraphicFramePr>
          <p:nvPr/>
        </p:nvGraphicFramePr>
        <p:xfrm>
          <a:off x="2771775" y="333375"/>
          <a:ext cx="3240088" cy="901700"/>
        </p:xfrm>
        <a:graphic>
          <a:graphicData uri="http://schemas.openxmlformats.org/presentationml/2006/ole">
            <mc:AlternateContent xmlns:mc="http://schemas.openxmlformats.org/markup-compatibility/2006">
              <mc:Choice xmlns:v="urn:schemas-microsoft-com:vml" Requires="v">
                <p:oleObj spid="_x0000_s59430" name="Equation" r:id="rId3" imgW="1638300" imgH="457200" progId="Equation.DSMT4">
                  <p:embed/>
                </p:oleObj>
              </mc:Choice>
              <mc:Fallback>
                <p:oleObj name="Equation" r:id="rId3" imgW="1638300" imgH="4572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333375"/>
                        <a:ext cx="3240088"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395" name="Text Box 3">
            <a:extLst>
              <a:ext uri="{FF2B5EF4-FFF2-40B4-BE49-F238E27FC236}">
                <a16:creationId xmlns:a16="http://schemas.microsoft.com/office/drawing/2014/main" id="{6FC37936-1CC1-4EFD-B56C-0B6053890CE2}"/>
              </a:ext>
            </a:extLst>
          </p:cNvPr>
          <p:cNvSpPr txBox="1">
            <a:spLocks noChangeArrowheads="1"/>
          </p:cNvSpPr>
          <p:nvPr/>
        </p:nvSpPr>
        <p:spPr bwMode="auto">
          <a:xfrm>
            <a:off x="395288" y="1265238"/>
            <a:ext cx="82804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对于</a:t>
            </a:r>
            <a:r>
              <a:rPr kumimoji="0" lang="en-US" altLang="zh-CN" sz="2400">
                <a:ea typeface="楷体_GB2312" pitchFamily="49" charset="-122"/>
              </a:rPr>
              <a:t>LED</a:t>
            </a:r>
            <a:r>
              <a:rPr kumimoji="0" lang="en-US" altLang="zh-CN" sz="2400" baseline="-25000">
                <a:ea typeface="楷体_GB2312" pitchFamily="49" charset="-122"/>
              </a:rPr>
              <a:t>2</a:t>
            </a:r>
            <a:r>
              <a:rPr kumimoji="0" lang="zh-CN" altLang="en-US" sz="2400">
                <a:ea typeface="楷体_GB2312" pitchFamily="49" charset="-122"/>
              </a:rPr>
              <a:t>发出的光，两个探测器上接收的光强度分别可表示为：</a:t>
            </a:r>
          </a:p>
        </p:txBody>
      </p:sp>
      <p:graphicFrame>
        <p:nvGraphicFramePr>
          <p:cNvPr id="59396" name="Object 4">
            <a:extLst>
              <a:ext uri="{FF2B5EF4-FFF2-40B4-BE49-F238E27FC236}">
                <a16:creationId xmlns:a16="http://schemas.microsoft.com/office/drawing/2014/main" id="{CDA70B20-C7A5-4409-A898-CBFA36C0DFBC}"/>
              </a:ext>
            </a:extLst>
          </p:cNvPr>
          <p:cNvGraphicFramePr>
            <a:graphicFrameLocks noChangeAspect="1"/>
          </p:cNvGraphicFramePr>
          <p:nvPr/>
        </p:nvGraphicFramePr>
        <p:xfrm>
          <a:off x="2700338" y="2420938"/>
          <a:ext cx="3340100" cy="901700"/>
        </p:xfrm>
        <a:graphic>
          <a:graphicData uri="http://schemas.openxmlformats.org/presentationml/2006/ole">
            <mc:AlternateContent xmlns:mc="http://schemas.openxmlformats.org/markup-compatibility/2006">
              <mc:Choice xmlns:v="urn:schemas-microsoft-com:vml" Requires="v">
                <p:oleObj spid="_x0000_s59431" name="Equation" r:id="rId5" imgW="1689100" imgH="457200" progId="Equation.DSMT4">
                  <p:embed/>
                </p:oleObj>
              </mc:Choice>
              <mc:Fallback>
                <p:oleObj name="Equation" r:id="rId5" imgW="1689100" imgH="457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0338" y="2420938"/>
                        <a:ext cx="3340100"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397" name="Text Box 5">
            <a:extLst>
              <a:ext uri="{FF2B5EF4-FFF2-40B4-BE49-F238E27FC236}">
                <a16:creationId xmlns:a16="http://schemas.microsoft.com/office/drawing/2014/main" id="{56FD5F29-41AE-405C-87FE-D49C207D6F38}"/>
              </a:ext>
            </a:extLst>
          </p:cNvPr>
          <p:cNvSpPr txBox="1">
            <a:spLocks noChangeArrowheads="1"/>
          </p:cNvSpPr>
          <p:nvPr/>
        </p:nvSpPr>
        <p:spPr bwMode="auto">
          <a:xfrm>
            <a:off x="539750" y="3500438"/>
            <a:ext cx="8397875" cy="270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FontTx/>
              <a:buNone/>
            </a:pPr>
            <a:r>
              <a:rPr kumimoji="0" lang="zh-CN" altLang="en-US" sz="2200">
                <a:ea typeface="楷体_GB2312" pitchFamily="49" charset="-122"/>
              </a:rPr>
              <a:t>式中      </a:t>
            </a:r>
            <a:r>
              <a:rPr kumimoji="0" lang="el-GR" altLang="zh-CN" sz="2200" i="1">
                <a:latin typeface="楷体_GB2312" pitchFamily="49" charset="-122"/>
                <a:ea typeface="楷体_GB2312" pitchFamily="49" charset="-122"/>
              </a:rPr>
              <a:t>α</a:t>
            </a:r>
            <a:r>
              <a:rPr kumimoji="0" lang="en-US" altLang="zh-CN" sz="2200" baseline="-25000">
                <a:latin typeface="楷体_GB2312" pitchFamily="49" charset="-122"/>
                <a:ea typeface="楷体_GB2312" pitchFamily="49" charset="-122"/>
              </a:rPr>
              <a:t>1 </a:t>
            </a:r>
            <a:r>
              <a:rPr kumimoji="0" lang="en-US" altLang="zh-CN" sz="2200">
                <a:ea typeface="楷体_GB2312" pitchFamily="49" charset="-122"/>
                <a:cs typeface="Times New Roman" panose="02020603050405020304" pitchFamily="18" charset="0"/>
              </a:rPr>
              <a:t>~</a:t>
            </a:r>
            <a:r>
              <a:rPr kumimoji="0" lang="el-GR" altLang="zh-CN" sz="2200" i="1">
                <a:latin typeface="楷体_GB2312" pitchFamily="49" charset="-122"/>
                <a:ea typeface="楷体_GB2312" pitchFamily="49" charset="-122"/>
              </a:rPr>
              <a:t>α</a:t>
            </a:r>
            <a:r>
              <a:rPr kumimoji="0" lang="en-US" altLang="zh-CN" sz="2200" baseline="-25000">
                <a:latin typeface="楷体_GB2312" pitchFamily="49" charset="-122"/>
                <a:ea typeface="楷体_GB2312" pitchFamily="49" charset="-122"/>
              </a:rPr>
              <a:t>4</a:t>
            </a:r>
            <a:r>
              <a:rPr kumimoji="0" lang="en-US" altLang="zh-CN" sz="2200">
                <a:ea typeface="楷体_GB2312" pitchFamily="49" charset="-122"/>
              </a:rPr>
              <a:t>——</a:t>
            </a:r>
            <a:r>
              <a:rPr kumimoji="0" lang="zh-CN" altLang="en-US" sz="2200">
                <a:latin typeface="楷体_GB2312" pitchFamily="49" charset="-122"/>
                <a:ea typeface="楷体_GB2312" pitchFamily="49" charset="-122"/>
              </a:rPr>
              <a:t>与各段光纤有关的综合损耗系数；</a:t>
            </a:r>
          </a:p>
          <a:p>
            <a:pPr eaLnBrk="1" hangingPunct="1">
              <a:lnSpc>
                <a:spcPct val="130000"/>
              </a:lnSpc>
              <a:spcBef>
                <a:spcPct val="0"/>
              </a:spcBef>
              <a:buFontTx/>
              <a:buNone/>
            </a:pPr>
            <a:r>
              <a:rPr kumimoji="0" lang="zh-CN" altLang="en-US" sz="2200">
                <a:latin typeface="楷体_GB2312" pitchFamily="49" charset="-122"/>
                <a:ea typeface="楷体_GB2312" pitchFamily="49" charset="-122"/>
              </a:rPr>
              <a:t>       </a:t>
            </a:r>
            <a:r>
              <a:rPr kumimoji="0" lang="el-GR" altLang="zh-CN" sz="2200" i="1">
                <a:latin typeface="楷体_GB2312" pitchFamily="49" charset="-122"/>
                <a:ea typeface="楷体_GB2312" pitchFamily="49" charset="-122"/>
              </a:rPr>
              <a:t>Υ</a:t>
            </a:r>
            <a:r>
              <a:rPr kumimoji="0" lang="en-US" altLang="zh-CN" sz="2200">
                <a:ea typeface="楷体_GB2312" pitchFamily="49" charset="-122"/>
              </a:rPr>
              <a:t>——</a:t>
            </a:r>
            <a:r>
              <a:rPr kumimoji="0" lang="zh-CN" altLang="en-US" sz="2200">
                <a:latin typeface="楷体_GB2312" pitchFamily="49" charset="-122"/>
                <a:ea typeface="楷体_GB2312" pitchFamily="49" charset="-122"/>
              </a:rPr>
              <a:t>两个</a:t>
            </a:r>
            <a:r>
              <a:rPr kumimoji="0" lang="en-US" altLang="zh-CN" sz="2200">
                <a:latin typeface="楷体_GB2312" pitchFamily="49" charset="-122"/>
                <a:ea typeface="楷体_GB2312" pitchFamily="49" charset="-122"/>
              </a:rPr>
              <a:t>Y</a:t>
            </a:r>
            <a:r>
              <a:rPr kumimoji="0" lang="zh-CN" altLang="en-US" sz="2200">
                <a:latin typeface="楷体_GB2312" pitchFamily="49" charset="-122"/>
                <a:ea typeface="楷体_GB2312" pitchFamily="49" charset="-122"/>
              </a:rPr>
              <a:t>形光纤耦合器的联合分光比；</a:t>
            </a:r>
          </a:p>
          <a:p>
            <a:pPr eaLnBrk="1" hangingPunct="1">
              <a:lnSpc>
                <a:spcPct val="130000"/>
              </a:lnSpc>
              <a:spcBef>
                <a:spcPct val="0"/>
              </a:spcBef>
              <a:buFontTx/>
              <a:buNone/>
            </a:pPr>
            <a:r>
              <a:rPr kumimoji="0" lang="zh-CN" altLang="en-US" sz="2200">
                <a:latin typeface="楷体_GB2312" pitchFamily="49" charset="-122"/>
                <a:ea typeface="楷体_GB2312" pitchFamily="49" charset="-122"/>
              </a:rPr>
              <a:t>       </a:t>
            </a:r>
            <a:r>
              <a:rPr kumimoji="0" lang="en-US" altLang="zh-CN" sz="2200" i="1">
                <a:latin typeface="楷体_GB2312" pitchFamily="49" charset="-122"/>
                <a:ea typeface="楷体_GB2312" pitchFamily="49" charset="-122"/>
              </a:rPr>
              <a:t>M</a:t>
            </a:r>
            <a:r>
              <a:rPr kumimoji="0" lang="zh-CN" altLang="en-US" sz="2200">
                <a:latin typeface="楷体_GB2312" pitchFamily="49" charset="-122"/>
                <a:ea typeface="楷体_GB2312" pitchFamily="49" charset="-122"/>
              </a:rPr>
              <a:t>（</a:t>
            </a:r>
            <a:r>
              <a:rPr kumimoji="0" lang="en-US" altLang="zh-CN" sz="2200">
                <a:latin typeface="楷体_GB2312" pitchFamily="49" charset="-122"/>
                <a:ea typeface="楷体_GB2312" pitchFamily="49" charset="-122"/>
              </a:rPr>
              <a:t>t</a:t>
            </a:r>
            <a:r>
              <a:rPr kumimoji="0" lang="zh-CN" altLang="en-US" sz="2200">
                <a:latin typeface="楷体_GB2312" pitchFamily="49" charset="-122"/>
                <a:ea typeface="楷体_GB2312" pitchFamily="49" charset="-122"/>
              </a:rPr>
              <a:t>）</a:t>
            </a:r>
            <a:r>
              <a:rPr kumimoji="0" lang="en-US" altLang="zh-CN" sz="2200">
                <a:ea typeface="楷体_GB2312" pitchFamily="49" charset="-122"/>
              </a:rPr>
              <a:t>——</a:t>
            </a:r>
            <a:r>
              <a:rPr kumimoji="0" lang="zh-CN" altLang="en-US" sz="2200">
                <a:latin typeface="楷体_GB2312" pitchFamily="49" charset="-122"/>
                <a:ea typeface="楷体_GB2312" pitchFamily="49" charset="-122"/>
              </a:rPr>
              <a:t>信号的调制函数，即</a:t>
            </a:r>
            <a:r>
              <a:rPr kumimoji="0" lang="en-US" altLang="zh-CN" sz="2200">
                <a:latin typeface="楷体_GB2312" pitchFamily="49" charset="-122"/>
                <a:ea typeface="楷体_GB2312" pitchFamily="49" charset="-122"/>
              </a:rPr>
              <a:t>LED</a:t>
            </a:r>
            <a:r>
              <a:rPr kumimoji="0" lang="en-US" altLang="zh-CN" sz="2200" baseline="-25000">
                <a:latin typeface="楷体_GB2312" pitchFamily="49" charset="-122"/>
                <a:ea typeface="楷体_GB2312" pitchFamily="49" charset="-122"/>
              </a:rPr>
              <a:t>1</a:t>
            </a:r>
            <a:r>
              <a:rPr kumimoji="0" lang="zh-CN" altLang="en-US" sz="2200">
                <a:latin typeface="楷体_GB2312" pitchFamily="49" charset="-122"/>
                <a:ea typeface="楷体_GB2312" pitchFamily="49" charset="-122"/>
              </a:rPr>
              <a:t>的光通过半导体的     </a:t>
            </a:r>
          </a:p>
          <a:p>
            <a:pPr eaLnBrk="1" hangingPunct="1">
              <a:lnSpc>
                <a:spcPct val="130000"/>
              </a:lnSpc>
              <a:spcBef>
                <a:spcPct val="0"/>
              </a:spcBef>
              <a:buFontTx/>
              <a:buNone/>
            </a:pPr>
            <a:r>
              <a:rPr kumimoji="0" lang="zh-CN" altLang="en-US" sz="2200">
                <a:latin typeface="楷体_GB2312" pitchFamily="49" charset="-122"/>
                <a:ea typeface="楷体_GB2312" pitchFamily="49" charset="-122"/>
              </a:rPr>
              <a:t>                  透射系数；</a:t>
            </a:r>
          </a:p>
          <a:p>
            <a:pPr eaLnBrk="1" hangingPunct="1">
              <a:lnSpc>
                <a:spcPct val="130000"/>
              </a:lnSpc>
              <a:spcBef>
                <a:spcPct val="0"/>
              </a:spcBef>
              <a:buFontTx/>
              <a:buNone/>
            </a:pPr>
            <a:r>
              <a:rPr kumimoji="0" lang="zh-CN" altLang="en-US" sz="2200">
                <a:latin typeface="楷体_GB2312" pitchFamily="49" charset="-122"/>
                <a:ea typeface="楷体_GB2312" pitchFamily="49" charset="-122"/>
              </a:rPr>
              <a:t>	 </a:t>
            </a:r>
            <a:r>
              <a:rPr kumimoji="0" lang="en-US" altLang="zh-CN" sz="2200" i="1">
                <a:latin typeface="楷体_GB2312" pitchFamily="49" charset="-122"/>
                <a:ea typeface="楷体_GB2312" pitchFamily="49" charset="-122"/>
              </a:rPr>
              <a:t>I</a:t>
            </a:r>
            <a:r>
              <a:rPr kumimoji="0" lang="en-US" altLang="zh-CN" sz="2200" baseline="-25000">
                <a:latin typeface="楷体_GB2312" pitchFamily="49" charset="-122"/>
                <a:ea typeface="楷体_GB2312" pitchFamily="49" charset="-122"/>
              </a:rPr>
              <a:t>1</a:t>
            </a:r>
            <a:r>
              <a:rPr kumimoji="0" lang="en-US" altLang="zh-CN" sz="2200">
                <a:ea typeface="楷体_GB2312" pitchFamily="49" charset="-122"/>
              </a:rPr>
              <a:t>——</a:t>
            </a:r>
            <a:r>
              <a:rPr kumimoji="0" lang="zh-CN" altLang="en-US" sz="2200">
                <a:latin typeface="楷体_GB2312" pitchFamily="49" charset="-122"/>
                <a:ea typeface="楷体_GB2312" pitchFamily="49" charset="-122"/>
              </a:rPr>
              <a:t>光源</a:t>
            </a:r>
            <a:r>
              <a:rPr kumimoji="0" lang="en-US" altLang="zh-CN" sz="2200">
                <a:latin typeface="楷体_GB2312" pitchFamily="49" charset="-122"/>
                <a:ea typeface="楷体_GB2312" pitchFamily="49" charset="-122"/>
              </a:rPr>
              <a:t>LED</a:t>
            </a:r>
            <a:r>
              <a:rPr kumimoji="0" lang="en-US" altLang="zh-CN" sz="2200" baseline="-25000">
                <a:latin typeface="楷体_GB2312" pitchFamily="49" charset="-122"/>
                <a:ea typeface="楷体_GB2312" pitchFamily="49" charset="-122"/>
              </a:rPr>
              <a:t>1</a:t>
            </a:r>
            <a:r>
              <a:rPr kumimoji="0" lang="zh-CN" altLang="en-US" sz="2200">
                <a:latin typeface="楷体_GB2312" pitchFamily="49" charset="-122"/>
                <a:ea typeface="楷体_GB2312" pitchFamily="49" charset="-122"/>
              </a:rPr>
              <a:t>的光强；</a:t>
            </a:r>
          </a:p>
          <a:p>
            <a:pPr eaLnBrk="1" hangingPunct="1">
              <a:lnSpc>
                <a:spcPct val="130000"/>
              </a:lnSpc>
              <a:spcBef>
                <a:spcPct val="0"/>
              </a:spcBef>
              <a:buFontTx/>
              <a:buNone/>
            </a:pPr>
            <a:r>
              <a:rPr kumimoji="0" lang="zh-CN" altLang="en-US" sz="2200">
                <a:latin typeface="楷体_GB2312" pitchFamily="49" charset="-122"/>
                <a:ea typeface="楷体_GB2312" pitchFamily="49" charset="-122"/>
              </a:rPr>
              <a:t>	 </a:t>
            </a:r>
            <a:r>
              <a:rPr kumimoji="0" lang="en-US" altLang="zh-CN" sz="2200" i="1">
                <a:latin typeface="楷体_GB2312" pitchFamily="49" charset="-122"/>
                <a:ea typeface="楷体_GB2312" pitchFamily="49" charset="-122"/>
              </a:rPr>
              <a:t>I</a:t>
            </a:r>
            <a:r>
              <a:rPr kumimoji="0" lang="en-US" altLang="zh-CN" sz="2200" baseline="-25000">
                <a:latin typeface="楷体_GB2312" pitchFamily="49" charset="-122"/>
                <a:ea typeface="楷体_GB2312" pitchFamily="49" charset="-122"/>
              </a:rPr>
              <a:t>2</a:t>
            </a:r>
            <a:r>
              <a:rPr kumimoji="0" lang="en-US" altLang="zh-CN" sz="2200">
                <a:ea typeface="楷体_GB2312" pitchFamily="49" charset="-122"/>
              </a:rPr>
              <a:t>——</a:t>
            </a:r>
            <a:r>
              <a:rPr kumimoji="0" lang="zh-CN" altLang="en-US" sz="2200">
                <a:latin typeface="楷体_GB2312" pitchFamily="49" charset="-122"/>
                <a:ea typeface="楷体_GB2312" pitchFamily="49" charset="-122"/>
              </a:rPr>
              <a:t>光源</a:t>
            </a:r>
            <a:r>
              <a:rPr kumimoji="0" lang="en-US" altLang="zh-CN" sz="2200">
                <a:latin typeface="楷体_GB2312" pitchFamily="49" charset="-122"/>
                <a:ea typeface="楷体_GB2312" pitchFamily="49" charset="-122"/>
              </a:rPr>
              <a:t>LED</a:t>
            </a:r>
            <a:r>
              <a:rPr kumimoji="0" lang="en-US" altLang="zh-CN" sz="2200" baseline="-25000">
                <a:latin typeface="楷体_GB2312" pitchFamily="49" charset="-122"/>
                <a:ea typeface="楷体_GB2312" pitchFamily="49" charset="-122"/>
              </a:rPr>
              <a:t>2</a:t>
            </a:r>
            <a:r>
              <a:rPr kumimoji="0" lang="zh-CN" altLang="en-US" sz="2200">
                <a:latin typeface="楷体_GB2312" pitchFamily="49" charset="-122"/>
                <a:ea typeface="楷体_GB2312" pitchFamily="49" charset="-122"/>
              </a:rPr>
              <a:t>的光强。</a:t>
            </a:r>
            <a:endParaRPr kumimoji="0" lang="zh-CN" altLang="el-GR" sz="2200" i="1" baseline="-25000">
              <a:latin typeface="楷体_GB2312" pitchFamily="49" charset="-122"/>
              <a:ea typeface="楷体_GB2312" pitchFamily="49"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418" name="Object 2">
            <a:extLst>
              <a:ext uri="{FF2B5EF4-FFF2-40B4-BE49-F238E27FC236}">
                <a16:creationId xmlns:a16="http://schemas.microsoft.com/office/drawing/2014/main" id="{ADA65D34-82D4-48F5-9550-CCCA9F65105E}"/>
              </a:ext>
            </a:extLst>
          </p:cNvPr>
          <p:cNvGraphicFramePr>
            <a:graphicFrameLocks noChangeAspect="1"/>
          </p:cNvGraphicFramePr>
          <p:nvPr/>
        </p:nvGraphicFramePr>
        <p:xfrm>
          <a:off x="1277938" y="1476375"/>
          <a:ext cx="6683375" cy="955675"/>
        </p:xfrm>
        <a:graphic>
          <a:graphicData uri="http://schemas.openxmlformats.org/presentationml/2006/ole">
            <mc:AlternateContent xmlns:mc="http://schemas.openxmlformats.org/markup-compatibility/2006">
              <mc:Choice xmlns:v="urn:schemas-microsoft-com:vml" Requires="v">
                <p:oleObj spid="_x0000_s60438" name="Equation" r:id="rId3" imgW="3022600" imgH="431800" progId="Equation.DSMT4">
                  <p:embed/>
                </p:oleObj>
              </mc:Choice>
              <mc:Fallback>
                <p:oleObj name="Equation" r:id="rId3" imgW="3022600" imgH="4318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7938" y="1476375"/>
                        <a:ext cx="6683375"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19" name="Text Box 3">
            <a:extLst>
              <a:ext uri="{FF2B5EF4-FFF2-40B4-BE49-F238E27FC236}">
                <a16:creationId xmlns:a16="http://schemas.microsoft.com/office/drawing/2014/main" id="{8DF64A1D-053E-4A97-A3D4-857BDEFEA7D7}"/>
              </a:ext>
            </a:extLst>
          </p:cNvPr>
          <p:cNvSpPr txBox="1">
            <a:spLocks noChangeArrowheads="1"/>
          </p:cNvSpPr>
          <p:nvPr/>
        </p:nvSpPr>
        <p:spPr bwMode="auto">
          <a:xfrm>
            <a:off x="468313" y="2852738"/>
            <a:ext cx="82804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得到的结果只与温度信号有关，而与其他所有的损耗及光源强度无关。</a:t>
            </a:r>
          </a:p>
        </p:txBody>
      </p:sp>
      <p:sp>
        <p:nvSpPr>
          <p:cNvPr id="60420" name="Text Box 4">
            <a:extLst>
              <a:ext uri="{FF2B5EF4-FFF2-40B4-BE49-F238E27FC236}">
                <a16:creationId xmlns:a16="http://schemas.microsoft.com/office/drawing/2014/main" id="{94974EA6-F36E-442D-AF30-3448280B7FE4}"/>
              </a:ext>
            </a:extLst>
          </p:cNvPr>
          <p:cNvSpPr txBox="1">
            <a:spLocks noChangeArrowheads="1"/>
          </p:cNvSpPr>
          <p:nvPr/>
        </p:nvSpPr>
        <p:spPr bwMode="auto">
          <a:xfrm>
            <a:off x="468313" y="4076700"/>
            <a:ext cx="8135937"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dirty="0">
                <a:ea typeface="楷体_GB2312" pitchFamily="49" charset="-122"/>
              </a:rPr>
              <a:t>         </a:t>
            </a:r>
            <a:r>
              <a:rPr kumimoji="0" lang="zh-CN" altLang="en-US" sz="2400" dirty="0">
                <a:ea typeface="楷体_GB2312" pitchFamily="49" charset="-122"/>
              </a:rPr>
              <a:t>采用了补偿法的光纤温度传感器的精度及稳定性都有很大的提高，</a:t>
            </a:r>
            <a:r>
              <a:rPr kumimoji="0" lang="zh-CN" altLang="en-US" sz="2400" dirty="0">
                <a:solidFill>
                  <a:srgbClr val="0000FF"/>
                </a:solidFill>
                <a:ea typeface="楷体_GB2312" pitchFamily="49" charset="-122"/>
              </a:rPr>
              <a:t>检测精度可达</a:t>
            </a:r>
            <a:r>
              <a:rPr kumimoji="0" lang="en-US" altLang="zh-CN" sz="2400" dirty="0">
                <a:solidFill>
                  <a:srgbClr val="0000FF"/>
                </a:solidFill>
                <a:ea typeface="楷体_GB2312" pitchFamily="49" charset="-122"/>
              </a:rPr>
              <a:t>0.1℃</a:t>
            </a:r>
            <a:r>
              <a:rPr kumimoji="0" lang="zh-CN" altLang="en-US" sz="2400" dirty="0">
                <a:ea typeface="楷体_GB2312" pitchFamily="49" charset="-122"/>
              </a:rPr>
              <a:t>。其中光源的开关控制及信号的检测、运算均可由微处理器系统方便地实现。</a:t>
            </a:r>
          </a:p>
        </p:txBody>
      </p:sp>
      <p:sp>
        <p:nvSpPr>
          <p:cNvPr id="60421" name="Text Box 5">
            <a:extLst>
              <a:ext uri="{FF2B5EF4-FFF2-40B4-BE49-F238E27FC236}">
                <a16:creationId xmlns:a16="http://schemas.microsoft.com/office/drawing/2014/main" id="{E52D9B77-DE93-4FF6-8AAA-5F57011708F3}"/>
              </a:ext>
            </a:extLst>
          </p:cNvPr>
          <p:cNvSpPr txBox="1">
            <a:spLocks noChangeArrowheads="1"/>
          </p:cNvSpPr>
          <p:nvPr/>
        </p:nvSpPr>
        <p:spPr bwMode="auto">
          <a:xfrm>
            <a:off x="395288" y="549275"/>
            <a:ext cx="82804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若将</a:t>
            </a:r>
            <a:r>
              <a:rPr kumimoji="0" lang="en-US" altLang="zh-CN" sz="2400" i="1">
                <a:ea typeface="楷体_GB2312" pitchFamily="49" charset="-122"/>
              </a:rPr>
              <a:t>I</a:t>
            </a:r>
            <a:r>
              <a:rPr kumimoji="0" lang="en-US" altLang="zh-CN" sz="2400" baseline="-25000">
                <a:ea typeface="楷体_GB2312" pitchFamily="49" charset="-122"/>
              </a:rPr>
              <a:t>11</a:t>
            </a:r>
            <a:r>
              <a:rPr kumimoji="0" lang="zh-CN" altLang="en-US" sz="2400">
                <a:ea typeface="楷体_GB2312" pitchFamily="49" charset="-122"/>
              </a:rPr>
              <a:t>、</a:t>
            </a:r>
            <a:r>
              <a:rPr kumimoji="0" lang="en-US" altLang="zh-CN" sz="2400" i="1">
                <a:ea typeface="楷体_GB2312" pitchFamily="49" charset="-122"/>
              </a:rPr>
              <a:t>I</a:t>
            </a:r>
            <a:r>
              <a:rPr kumimoji="0" lang="en-US" altLang="zh-CN" sz="2400" baseline="-25000">
                <a:ea typeface="楷体_GB2312" pitchFamily="49" charset="-122"/>
              </a:rPr>
              <a:t>12</a:t>
            </a:r>
            <a:r>
              <a:rPr kumimoji="0" lang="zh-CN" altLang="en-US" sz="2400">
                <a:ea typeface="楷体_GB2312" pitchFamily="49" charset="-122"/>
              </a:rPr>
              <a:t>、</a:t>
            </a:r>
            <a:r>
              <a:rPr kumimoji="0" lang="en-US" altLang="zh-CN" sz="2400" i="1">
                <a:ea typeface="楷体_GB2312" pitchFamily="49" charset="-122"/>
              </a:rPr>
              <a:t>I</a:t>
            </a:r>
            <a:r>
              <a:rPr kumimoji="0" lang="en-US" altLang="zh-CN" sz="2400" baseline="-25000">
                <a:ea typeface="楷体_GB2312" pitchFamily="49" charset="-122"/>
              </a:rPr>
              <a:t>21</a:t>
            </a:r>
            <a:r>
              <a:rPr kumimoji="0" lang="zh-CN" altLang="en-US" sz="2400">
                <a:ea typeface="楷体_GB2312" pitchFamily="49" charset="-122"/>
              </a:rPr>
              <a:t>、</a:t>
            </a:r>
            <a:r>
              <a:rPr kumimoji="0" lang="en-US" altLang="zh-CN" sz="2400" i="1">
                <a:ea typeface="楷体_GB2312" pitchFamily="49" charset="-122"/>
              </a:rPr>
              <a:t>I</a:t>
            </a:r>
            <a:r>
              <a:rPr kumimoji="0" lang="en-US" altLang="zh-CN" sz="2400" baseline="-25000">
                <a:ea typeface="楷体_GB2312" pitchFamily="49" charset="-122"/>
              </a:rPr>
              <a:t>22</a:t>
            </a:r>
            <a:r>
              <a:rPr kumimoji="0" lang="zh-CN" altLang="en-US" sz="2400">
                <a:ea typeface="楷体_GB2312" pitchFamily="49" charset="-122"/>
              </a:rPr>
              <a:t>分别检测出来后作如下运算</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a:extLst>
              <a:ext uri="{FF2B5EF4-FFF2-40B4-BE49-F238E27FC236}">
                <a16:creationId xmlns:a16="http://schemas.microsoft.com/office/drawing/2014/main" id="{3B68C15A-D762-4C5B-A376-3CA115D4B815}"/>
              </a:ext>
            </a:extLst>
          </p:cNvPr>
          <p:cNvSpPr txBox="1">
            <a:spLocks noChangeArrowheads="1"/>
          </p:cNvSpPr>
          <p:nvPr/>
        </p:nvSpPr>
        <p:spPr bwMode="auto">
          <a:xfrm>
            <a:off x="190500" y="293688"/>
            <a:ext cx="5821660"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dirty="0">
                <a:ea typeface="楷体_GB2312" pitchFamily="49" charset="-122"/>
              </a:rPr>
              <a:t>（</a:t>
            </a:r>
            <a:r>
              <a:rPr kumimoji="0" lang="en-US" altLang="zh-CN" sz="2400" dirty="0">
                <a:ea typeface="楷体_GB2312" pitchFamily="49" charset="-122"/>
              </a:rPr>
              <a:t>3</a:t>
            </a:r>
            <a:r>
              <a:rPr kumimoji="0" lang="zh-CN" altLang="en-US" sz="2400" dirty="0">
                <a:ea typeface="楷体_GB2312" pitchFamily="49" charset="-122"/>
              </a:rPr>
              <a:t>） 荧光发光型光纤温度传感器</a:t>
            </a:r>
            <a:r>
              <a:rPr kumimoji="0" lang="zh-CN" altLang="en-US" sz="2400" dirty="0">
                <a:solidFill>
                  <a:srgbClr val="0000FF"/>
                </a:solidFill>
                <a:ea typeface="楷体_GB2312" pitchFamily="49" charset="-122"/>
              </a:rPr>
              <a:t>（自学）</a:t>
            </a:r>
          </a:p>
        </p:txBody>
      </p:sp>
      <p:sp>
        <p:nvSpPr>
          <p:cNvPr id="61443" name="Text Box 3">
            <a:extLst>
              <a:ext uri="{FF2B5EF4-FFF2-40B4-BE49-F238E27FC236}">
                <a16:creationId xmlns:a16="http://schemas.microsoft.com/office/drawing/2014/main" id="{1E42896A-9DF3-459B-BE93-4F177112B75A}"/>
              </a:ext>
            </a:extLst>
          </p:cNvPr>
          <p:cNvSpPr txBox="1">
            <a:spLocks noChangeArrowheads="1"/>
          </p:cNvSpPr>
          <p:nvPr/>
        </p:nvSpPr>
        <p:spPr bwMode="auto">
          <a:xfrm>
            <a:off x="395288" y="908050"/>
            <a:ext cx="8353425"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某些荧光物质在紫外光激励下能发出可见光，紫外光激励荧光光纤温度传感器，其发射光谱与温度有关。某些波长的荧光强度对温度有强烈的依存关系，因此可以通过检测特性波长的荧光强度即可测出温度的变化。下图示出了利用上述原理制成的光纤荧光温度计的结构。</a:t>
            </a:r>
          </a:p>
        </p:txBody>
      </p:sp>
      <p:pic>
        <p:nvPicPr>
          <p:cNvPr id="61444" name="Picture 4" descr="IMG_3925">
            <a:extLst>
              <a:ext uri="{FF2B5EF4-FFF2-40B4-BE49-F238E27FC236}">
                <a16:creationId xmlns:a16="http://schemas.microsoft.com/office/drawing/2014/main" id="{3ABE9216-C751-42D8-8815-5F6313AF3F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863" y="3516313"/>
            <a:ext cx="8281987" cy="292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descr="IMG_3926">
            <a:extLst>
              <a:ext uri="{FF2B5EF4-FFF2-40B4-BE49-F238E27FC236}">
                <a16:creationId xmlns:a16="http://schemas.microsoft.com/office/drawing/2014/main" id="{64FC61EB-DA6B-42CE-837C-C5163D190B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0"/>
            <a:ext cx="8324850"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1" name="Text Box 3">
            <a:extLst>
              <a:ext uri="{FF2B5EF4-FFF2-40B4-BE49-F238E27FC236}">
                <a16:creationId xmlns:a16="http://schemas.microsoft.com/office/drawing/2014/main" id="{11D8D413-A057-4707-9E1C-16BD56C82FF1}"/>
              </a:ext>
            </a:extLst>
          </p:cNvPr>
          <p:cNvSpPr txBox="1">
            <a:spLocks noChangeArrowheads="1"/>
          </p:cNvSpPr>
          <p:nvPr/>
        </p:nvSpPr>
        <p:spPr bwMode="auto">
          <a:xfrm>
            <a:off x="395288" y="4005263"/>
            <a:ext cx="83534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0"/>
              </a:spcBef>
              <a:buFontTx/>
              <a:buNone/>
            </a:pPr>
            <a:r>
              <a:rPr kumimoji="0" lang="zh-CN" altLang="en-US" sz="2400">
                <a:ea typeface="楷体_GB2312" pitchFamily="49" charset="-122"/>
              </a:rPr>
              <a:t>图</a:t>
            </a:r>
            <a:r>
              <a:rPr kumimoji="0" lang="en-US" altLang="zh-CN" sz="2400">
                <a:ea typeface="楷体_GB2312" pitchFamily="49" charset="-122"/>
              </a:rPr>
              <a:t>9-16 </a:t>
            </a:r>
            <a:r>
              <a:rPr kumimoji="0" lang="zh-CN" altLang="en-US" sz="2400">
                <a:ea typeface="楷体_GB2312" pitchFamily="49" charset="-122"/>
              </a:rPr>
              <a:t>荧光温度计的测量原理</a:t>
            </a:r>
          </a:p>
          <a:p>
            <a:pPr eaLnBrk="1" hangingPunct="1">
              <a:lnSpc>
                <a:spcPct val="120000"/>
              </a:lnSpc>
              <a:spcBef>
                <a:spcPct val="0"/>
              </a:spcBef>
              <a:buFontTx/>
              <a:buNone/>
            </a:pPr>
            <a:r>
              <a:rPr kumimoji="0" lang="zh-CN" altLang="en-US" sz="2100">
                <a:ea typeface="楷体_GB2312" pitchFamily="49" charset="-122"/>
              </a:rPr>
              <a:t>（</a:t>
            </a:r>
            <a:r>
              <a:rPr kumimoji="0" lang="en-US" altLang="zh-CN" sz="2100">
                <a:ea typeface="楷体_GB2312" pitchFamily="49" charset="-122"/>
              </a:rPr>
              <a:t>a</a:t>
            </a:r>
            <a:r>
              <a:rPr kumimoji="0" lang="zh-CN" altLang="en-US" sz="2100">
                <a:ea typeface="楷体_GB2312" pitchFamily="49" charset="-122"/>
              </a:rPr>
              <a:t>）荧光谱线强度与温度的关系  （</a:t>
            </a:r>
            <a:r>
              <a:rPr kumimoji="0" lang="en-US" altLang="zh-CN" sz="2100">
                <a:ea typeface="楷体_GB2312" pitchFamily="49" charset="-122"/>
              </a:rPr>
              <a:t>b</a:t>
            </a:r>
            <a:r>
              <a:rPr kumimoji="0" lang="zh-CN" altLang="en-US" sz="2100">
                <a:ea typeface="楷体_GB2312" pitchFamily="49" charset="-122"/>
              </a:rPr>
              <a:t>）激励光源及受激发射的光谱</a:t>
            </a:r>
          </a:p>
        </p:txBody>
      </p:sp>
      <p:sp>
        <p:nvSpPr>
          <p:cNvPr id="63492" name="Text Box 4">
            <a:extLst>
              <a:ext uri="{FF2B5EF4-FFF2-40B4-BE49-F238E27FC236}">
                <a16:creationId xmlns:a16="http://schemas.microsoft.com/office/drawing/2014/main" id="{AFCFFE6C-6C71-4E6E-8B39-AA2F3EAD4C2C}"/>
              </a:ext>
            </a:extLst>
          </p:cNvPr>
          <p:cNvSpPr txBox="1">
            <a:spLocks noChangeArrowheads="1"/>
          </p:cNvSpPr>
          <p:nvPr/>
        </p:nvSpPr>
        <p:spPr bwMode="auto">
          <a:xfrm>
            <a:off x="539750" y="5157788"/>
            <a:ext cx="8208963"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dirty="0">
                <a:ea typeface="楷体_GB2312" pitchFamily="49" charset="-122"/>
              </a:rPr>
              <a:t>        </a:t>
            </a:r>
            <a:r>
              <a:rPr kumimoji="0" lang="zh-CN" altLang="en-US" sz="2400" dirty="0">
                <a:ea typeface="楷体_GB2312" pitchFamily="49" charset="-122"/>
              </a:rPr>
              <a:t>这种荧光光纤温度计</a:t>
            </a:r>
            <a:r>
              <a:rPr kumimoji="0" lang="zh-CN" altLang="en-US" sz="2400" dirty="0">
                <a:highlight>
                  <a:srgbClr val="FFFF00"/>
                </a:highlight>
                <a:ea typeface="楷体_GB2312" pitchFamily="49" charset="-122"/>
              </a:rPr>
              <a:t>能精确地测量</a:t>
            </a:r>
            <a:r>
              <a:rPr kumimoji="0" lang="en-US" altLang="zh-CN" sz="2400" dirty="0">
                <a:highlight>
                  <a:srgbClr val="FFFF00"/>
                </a:highlight>
                <a:ea typeface="楷体_GB2312" pitchFamily="49" charset="-122"/>
              </a:rPr>
              <a:t>-50</a:t>
            </a:r>
            <a:r>
              <a:rPr kumimoji="0" lang="en-US" altLang="zh-CN" sz="2400" dirty="0">
                <a:highlight>
                  <a:srgbClr val="FFFF00"/>
                </a:highlight>
                <a:ea typeface="楷体_GB2312" pitchFamily="49" charset="-122"/>
                <a:cs typeface="Times New Roman" panose="02020603050405020304" pitchFamily="18" charset="0"/>
              </a:rPr>
              <a:t>~200</a:t>
            </a:r>
            <a:r>
              <a:rPr kumimoji="0" lang="en-US" altLang="zh-CN" sz="2400" dirty="0">
                <a:highlight>
                  <a:srgbClr val="FFFF00"/>
                </a:highlight>
                <a:ea typeface="楷体_GB2312" pitchFamily="49" charset="-122"/>
              </a:rPr>
              <a:t>℃</a:t>
            </a:r>
            <a:r>
              <a:rPr kumimoji="0" lang="zh-CN" altLang="en-US" sz="2400" dirty="0">
                <a:highlight>
                  <a:srgbClr val="FFFF00"/>
                </a:highlight>
                <a:ea typeface="楷体_GB2312" pitchFamily="49" charset="-122"/>
              </a:rPr>
              <a:t>的温度，检测精度达</a:t>
            </a:r>
            <a:r>
              <a:rPr kumimoji="0" lang="en-US" altLang="zh-CN" sz="2400" dirty="0">
                <a:highlight>
                  <a:srgbClr val="FFFF00"/>
                </a:highlight>
                <a:ea typeface="楷体_GB2312" pitchFamily="49" charset="-122"/>
              </a:rPr>
              <a:t>0.1℃</a:t>
            </a:r>
            <a:r>
              <a:rPr kumimoji="0" lang="zh-CN" altLang="en-US" sz="2400" dirty="0">
                <a:ea typeface="楷体_GB2312" pitchFamily="49" charset="-122"/>
              </a:rPr>
              <a:t>。探头体积小，可用于变压器线圈温度及人体内温度检测。</a:t>
            </a:r>
          </a:p>
        </p:txBody>
      </p:sp>
      <p:sp>
        <p:nvSpPr>
          <p:cNvPr id="63493" name="TextBox 4">
            <a:extLst>
              <a:ext uri="{FF2B5EF4-FFF2-40B4-BE49-F238E27FC236}">
                <a16:creationId xmlns:a16="http://schemas.microsoft.com/office/drawing/2014/main" id="{859F8FF1-4E3E-4305-945B-1465FB9154E6}"/>
              </a:ext>
            </a:extLst>
          </p:cNvPr>
          <p:cNvSpPr txBox="1">
            <a:spLocks noChangeArrowheads="1"/>
          </p:cNvSpPr>
          <p:nvPr/>
        </p:nvSpPr>
        <p:spPr bwMode="auto">
          <a:xfrm>
            <a:off x="2843213" y="2133600"/>
            <a:ext cx="7921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kumimoji="0" lang="en-US" altLang="zh-CN" sz="1400">
                <a:latin typeface="楷体_GB2312" pitchFamily="49" charset="-122"/>
                <a:ea typeface="楷体_GB2312" pitchFamily="49" charset="-122"/>
              </a:rPr>
              <a:t>(510nm)</a:t>
            </a:r>
            <a:endParaRPr kumimoji="0" lang="zh-CN" altLang="en-US" sz="1400">
              <a:latin typeface="楷体_GB2312" pitchFamily="49" charset="-122"/>
              <a:ea typeface="楷体_GB2312" pitchFamily="49" charset="-122"/>
            </a:endParaRPr>
          </a:p>
        </p:txBody>
      </p:sp>
      <p:sp>
        <p:nvSpPr>
          <p:cNvPr id="63494" name="TextBox 5">
            <a:extLst>
              <a:ext uri="{FF2B5EF4-FFF2-40B4-BE49-F238E27FC236}">
                <a16:creationId xmlns:a16="http://schemas.microsoft.com/office/drawing/2014/main" id="{33D55781-A58C-4943-841D-A1ADE94249B7}"/>
              </a:ext>
            </a:extLst>
          </p:cNvPr>
          <p:cNvSpPr txBox="1">
            <a:spLocks noChangeArrowheads="1"/>
          </p:cNvSpPr>
          <p:nvPr/>
        </p:nvSpPr>
        <p:spPr bwMode="auto">
          <a:xfrm>
            <a:off x="2268538" y="260350"/>
            <a:ext cx="7905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kumimoji="0" lang="en-US" altLang="zh-CN" sz="1400">
                <a:latin typeface="楷体_GB2312" pitchFamily="49" charset="-122"/>
                <a:ea typeface="楷体_GB2312" pitchFamily="49" charset="-122"/>
              </a:rPr>
              <a:t>(630nm)</a:t>
            </a:r>
            <a:endParaRPr kumimoji="0" lang="zh-CN" altLang="en-US" sz="1400">
              <a:latin typeface="楷体_GB2312" pitchFamily="49" charset="-122"/>
              <a:ea typeface="楷体_GB2312" pitchFamily="49"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a:extLst>
              <a:ext uri="{FF2B5EF4-FFF2-40B4-BE49-F238E27FC236}">
                <a16:creationId xmlns:a16="http://schemas.microsoft.com/office/drawing/2014/main" id="{0311B4FD-BFE8-4435-9F5C-F7852BAB89C1}"/>
              </a:ext>
            </a:extLst>
          </p:cNvPr>
          <p:cNvSpPr txBox="1">
            <a:spLocks noChangeArrowheads="1"/>
          </p:cNvSpPr>
          <p:nvPr/>
        </p:nvSpPr>
        <p:spPr bwMode="auto">
          <a:xfrm>
            <a:off x="381000" y="273050"/>
            <a:ext cx="5461000"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800" dirty="0">
                <a:solidFill>
                  <a:srgbClr val="C00000"/>
                </a:solidFill>
                <a:latin typeface="楷体_GB2312" pitchFamily="49" charset="-122"/>
                <a:ea typeface="楷体_GB2312" pitchFamily="49" charset="-122"/>
              </a:rPr>
              <a:t>5.2 </a:t>
            </a:r>
            <a:r>
              <a:rPr kumimoji="0" lang="zh-CN" altLang="en-US" sz="2800" dirty="0">
                <a:solidFill>
                  <a:srgbClr val="C00000"/>
                </a:solidFill>
                <a:latin typeface="楷体_GB2312" pitchFamily="49" charset="-122"/>
                <a:ea typeface="楷体_GB2312" pitchFamily="49" charset="-122"/>
              </a:rPr>
              <a:t>压力的检测</a:t>
            </a:r>
          </a:p>
        </p:txBody>
      </p:sp>
      <p:sp>
        <p:nvSpPr>
          <p:cNvPr id="64515" name="Text Box 3">
            <a:extLst>
              <a:ext uri="{FF2B5EF4-FFF2-40B4-BE49-F238E27FC236}">
                <a16:creationId xmlns:a16="http://schemas.microsoft.com/office/drawing/2014/main" id="{BFEE20F2-302F-4525-97F5-29852BBFFDAE}"/>
              </a:ext>
            </a:extLst>
          </p:cNvPr>
          <p:cNvSpPr txBox="1">
            <a:spLocks noChangeArrowheads="1"/>
          </p:cNvSpPr>
          <p:nvPr/>
        </p:nvSpPr>
        <p:spPr bwMode="auto">
          <a:xfrm>
            <a:off x="498474" y="954088"/>
            <a:ext cx="6953845"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dirty="0">
                <a:ea typeface="楷体_GB2312" pitchFamily="49" charset="-122"/>
              </a:rPr>
              <a:t>（</a:t>
            </a:r>
            <a:r>
              <a:rPr kumimoji="0" lang="en-US" altLang="zh-CN" sz="2400" dirty="0">
                <a:ea typeface="楷体_GB2312" pitchFamily="49" charset="-122"/>
              </a:rPr>
              <a:t>1</a:t>
            </a:r>
            <a:r>
              <a:rPr kumimoji="0" lang="zh-CN" altLang="en-US" sz="2400" dirty="0">
                <a:ea typeface="楷体_GB2312" pitchFamily="49" charset="-122"/>
              </a:rPr>
              <a:t>） 采用弹性元件的光纤压力传感器</a:t>
            </a:r>
            <a:r>
              <a:rPr kumimoji="0" lang="zh-CN" altLang="en-US" sz="2400" dirty="0">
                <a:solidFill>
                  <a:srgbClr val="C00000"/>
                </a:solidFill>
                <a:latin typeface="楷体_GB2312" pitchFamily="49" charset="-122"/>
                <a:ea typeface="楷体_GB2312" pitchFamily="49" charset="-122"/>
              </a:rPr>
              <a:t>（</a:t>
            </a:r>
            <a:r>
              <a:rPr kumimoji="0" lang="zh-CN" altLang="en-US" sz="2400" dirty="0">
                <a:solidFill>
                  <a:srgbClr val="0000FF"/>
                </a:solidFill>
                <a:latin typeface="楷体_GB2312" pitchFamily="49" charset="-122"/>
                <a:ea typeface="楷体_GB2312" pitchFamily="49" charset="-122"/>
              </a:rPr>
              <a:t>讲</a:t>
            </a:r>
            <a:r>
              <a:rPr kumimoji="0" lang="zh-CN" altLang="en-US" sz="2400" dirty="0">
                <a:solidFill>
                  <a:srgbClr val="C00000"/>
                </a:solidFill>
                <a:latin typeface="楷体_GB2312" pitchFamily="49" charset="-122"/>
                <a:ea typeface="楷体_GB2312" pitchFamily="49" charset="-122"/>
              </a:rPr>
              <a:t>）</a:t>
            </a:r>
            <a:endParaRPr kumimoji="0" lang="zh-CN" altLang="en-US" sz="2400" dirty="0">
              <a:ea typeface="楷体_GB2312" pitchFamily="49" charset="-122"/>
            </a:endParaRPr>
          </a:p>
        </p:txBody>
      </p:sp>
      <p:sp>
        <p:nvSpPr>
          <p:cNvPr id="64516" name="Text Box 4">
            <a:extLst>
              <a:ext uri="{FF2B5EF4-FFF2-40B4-BE49-F238E27FC236}">
                <a16:creationId xmlns:a16="http://schemas.microsoft.com/office/drawing/2014/main" id="{95788F8B-CD90-42BC-8B78-A8967869E539}"/>
              </a:ext>
            </a:extLst>
          </p:cNvPr>
          <p:cNvSpPr txBox="1">
            <a:spLocks noChangeArrowheads="1"/>
          </p:cNvSpPr>
          <p:nvPr/>
        </p:nvSpPr>
        <p:spPr bwMode="auto">
          <a:xfrm>
            <a:off x="539750" y="1484313"/>
            <a:ext cx="8208963" cy="151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这类形式的光纤压力传感器都是利用弹性体的受压变形，将压力信号转换为位移信号，从而对光强进行调制。膜片反射式光纤压力传感器如图</a:t>
            </a:r>
            <a:r>
              <a:rPr kumimoji="0" lang="en-US" altLang="zh-CN" sz="2400">
                <a:ea typeface="楷体_GB2312" pitchFamily="49" charset="-122"/>
              </a:rPr>
              <a:t>9-17</a:t>
            </a:r>
            <a:r>
              <a:rPr kumimoji="0" lang="zh-CN" altLang="en-US" sz="2400">
                <a:ea typeface="楷体_GB2312" pitchFamily="49" charset="-122"/>
              </a:rPr>
              <a:t>所示。</a:t>
            </a:r>
          </a:p>
        </p:txBody>
      </p:sp>
      <p:pic>
        <p:nvPicPr>
          <p:cNvPr id="64517" name="Picture 5" descr="IMG_3927">
            <a:extLst>
              <a:ext uri="{FF2B5EF4-FFF2-40B4-BE49-F238E27FC236}">
                <a16:creationId xmlns:a16="http://schemas.microsoft.com/office/drawing/2014/main" id="{E3F6AE7A-6ED7-4D01-83B9-DC45A6D87F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3141663"/>
            <a:ext cx="7559675" cy="304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a:extLst>
              <a:ext uri="{FF2B5EF4-FFF2-40B4-BE49-F238E27FC236}">
                <a16:creationId xmlns:a16="http://schemas.microsoft.com/office/drawing/2014/main" id="{CBE30D07-1B58-4E6C-805E-39D71FF50FC0}"/>
              </a:ext>
            </a:extLst>
          </p:cNvPr>
          <p:cNvSpPr>
            <a:spLocks noChangeArrowheads="1"/>
          </p:cNvSpPr>
          <p:nvPr/>
        </p:nvSpPr>
        <p:spPr bwMode="auto">
          <a:xfrm>
            <a:off x="395288" y="404813"/>
            <a:ext cx="8497887" cy="5976937"/>
          </a:xfrm>
          <a:prstGeom prst="rect">
            <a:avLst/>
          </a:prstGeom>
          <a:noFill/>
          <a:ln w="9525">
            <a:noFill/>
            <a:miter lim="800000"/>
            <a:headEnd/>
            <a:tailEnd/>
          </a:ln>
          <a:effectLst/>
        </p:spPr>
        <p:txBody>
          <a:bodyPr/>
          <a:lstStyle/>
          <a:p>
            <a:pPr eaLnBrk="1" fontAlgn="t" hangingPunct="1">
              <a:lnSpc>
                <a:spcPct val="130000"/>
              </a:lnSpc>
              <a:spcBef>
                <a:spcPct val="10000"/>
              </a:spcBef>
              <a:buClr>
                <a:srgbClr val="FFFF00"/>
              </a:buClr>
              <a:buSzPct val="80000"/>
              <a:buFont typeface="Wingdings" pitchFamily="2" charset="2"/>
              <a:buNone/>
              <a:defRPr/>
            </a:pPr>
            <a:r>
              <a:rPr lang="en-US" altLang="zh-CN" sz="2400" dirty="0">
                <a:latin typeface="Times New Roman" pitchFamily="18" charset="0"/>
              </a:rPr>
              <a:t>         </a:t>
            </a:r>
            <a:r>
              <a:rPr lang="zh-CN" altLang="en-US" sz="2400" dirty="0">
                <a:latin typeface="Times New Roman" pitchFamily="18" charset="0"/>
              </a:rPr>
              <a:t>上图中，膜片厚度在</a:t>
            </a:r>
            <a:r>
              <a:rPr lang="en-US" altLang="zh-CN" sz="2400" dirty="0">
                <a:latin typeface="Times New Roman" pitchFamily="18" charset="0"/>
              </a:rPr>
              <a:t>0.05</a:t>
            </a:r>
            <a:r>
              <a:rPr lang="en-US" altLang="zh-CN" sz="2400" dirty="0">
                <a:latin typeface="Times New Roman" pitchFamily="18" charset="0"/>
                <a:cs typeface="Times New Roman" pitchFamily="18" charset="0"/>
              </a:rPr>
              <a:t>~</a:t>
            </a:r>
            <a:r>
              <a:rPr lang="en-US" altLang="zh-CN" sz="2400" dirty="0">
                <a:latin typeface="Times New Roman" pitchFamily="18" charset="0"/>
              </a:rPr>
              <a:t>0.2mm</a:t>
            </a:r>
            <a:r>
              <a:rPr lang="zh-CN" altLang="en-US" sz="2400" dirty="0">
                <a:latin typeface="Times New Roman" pitchFamily="18" charset="0"/>
              </a:rPr>
              <a:t>之间为宜，对于周边固定的膜片，在</a:t>
            </a:r>
            <a:r>
              <a:rPr lang="zh-CN" altLang="en-US" sz="2400" dirty="0">
                <a:highlight>
                  <a:srgbClr val="FFFF00"/>
                </a:highlight>
                <a:latin typeface="Times New Roman" pitchFamily="18" charset="0"/>
              </a:rPr>
              <a:t>小挠度 </a:t>
            </a:r>
            <a:r>
              <a:rPr lang="en-US" altLang="zh-CN" sz="2400" dirty="0">
                <a:highlight>
                  <a:srgbClr val="FFFF00"/>
                </a:highlight>
                <a:latin typeface="Times New Roman" pitchFamily="18" charset="0"/>
              </a:rPr>
              <a:t>(                 </a:t>
            </a:r>
            <a:r>
              <a:rPr lang="zh-CN" altLang="en-US" sz="2400" dirty="0">
                <a:highlight>
                  <a:srgbClr val="FFFF00"/>
                </a:highlight>
                <a:latin typeface="Times New Roman" pitchFamily="18" charset="0"/>
              </a:rPr>
              <a:t>为膜片厚度</a:t>
            </a:r>
            <a:r>
              <a:rPr lang="en-US" altLang="zh-CN" sz="2400" dirty="0">
                <a:highlight>
                  <a:srgbClr val="FFFF00"/>
                </a:highlight>
                <a:latin typeface="Times New Roman" pitchFamily="18" charset="0"/>
              </a:rPr>
              <a:t>)</a:t>
            </a:r>
            <a:r>
              <a:rPr lang="zh-CN" altLang="en-US" sz="2400" dirty="0">
                <a:latin typeface="Times New Roman" pitchFamily="18" charset="0"/>
              </a:rPr>
              <a:t>的条件下，其中心挠度</a:t>
            </a:r>
            <a:r>
              <a:rPr lang="en-US" altLang="zh-CN" sz="2400" i="1" dirty="0">
                <a:latin typeface="Times New Roman" pitchFamily="18" charset="0"/>
              </a:rPr>
              <a:t>y</a:t>
            </a:r>
            <a:r>
              <a:rPr lang="zh-CN" altLang="en-US" sz="2400" dirty="0">
                <a:latin typeface="Times New Roman" pitchFamily="18" charset="0"/>
              </a:rPr>
              <a:t>可按下式表示</a:t>
            </a:r>
          </a:p>
          <a:p>
            <a:pPr eaLnBrk="1" fontAlgn="t" hangingPunct="1">
              <a:lnSpc>
                <a:spcPct val="110000"/>
              </a:lnSpc>
              <a:spcBef>
                <a:spcPct val="10000"/>
              </a:spcBef>
              <a:buClr>
                <a:srgbClr val="FFFF00"/>
              </a:buClr>
              <a:buSzPct val="80000"/>
              <a:buFont typeface="Wingdings" pitchFamily="2" charset="2"/>
              <a:buNone/>
              <a:defRPr/>
            </a:pPr>
            <a:endParaRPr lang="zh-CN" altLang="en-US" sz="2400" dirty="0">
              <a:latin typeface="Times New Roman" pitchFamily="18" charset="0"/>
            </a:endParaRPr>
          </a:p>
          <a:p>
            <a:pPr eaLnBrk="1" fontAlgn="t" hangingPunct="1">
              <a:lnSpc>
                <a:spcPct val="110000"/>
              </a:lnSpc>
              <a:spcBef>
                <a:spcPct val="10000"/>
              </a:spcBef>
              <a:buClr>
                <a:srgbClr val="FFFF00"/>
              </a:buClr>
              <a:buSzPct val="80000"/>
              <a:buFont typeface="Wingdings" pitchFamily="2" charset="2"/>
              <a:buNone/>
              <a:defRPr/>
            </a:pPr>
            <a:endParaRPr lang="zh-CN" altLang="en-US" sz="2400" b="1" dirty="0">
              <a:effectLst>
                <a:outerShdw blurRad="38100" dist="38100" dir="2700000" algn="tl">
                  <a:srgbClr val="FFFFFF"/>
                </a:outerShdw>
              </a:effectLst>
              <a:latin typeface="Times New Roman" pitchFamily="18" charset="0"/>
            </a:endParaRPr>
          </a:p>
          <a:p>
            <a:pPr eaLnBrk="1" fontAlgn="t" hangingPunct="1">
              <a:lnSpc>
                <a:spcPct val="130000"/>
              </a:lnSpc>
              <a:spcBef>
                <a:spcPct val="10000"/>
              </a:spcBef>
              <a:buClr>
                <a:srgbClr val="FFFF00"/>
              </a:buClr>
              <a:buSzPct val="80000"/>
              <a:buFont typeface="Wingdings" pitchFamily="2" charset="2"/>
              <a:buNone/>
              <a:defRPr/>
            </a:pPr>
            <a:r>
              <a:rPr lang="zh-CN" altLang="en-US" sz="2400" dirty="0">
                <a:latin typeface="Times New Roman" pitchFamily="18" charset="0"/>
              </a:rPr>
              <a:t>       可见，在一定范围内，</a:t>
            </a:r>
            <a:r>
              <a:rPr lang="zh-CN" altLang="en-US" sz="2400" dirty="0">
                <a:solidFill>
                  <a:srgbClr val="FF0000"/>
                </a:solidFill>
                <a:latin typeface="Times New Roman" pitchFamily="18" charset="0"/>
              </a:rPr>
              <a:t>中心挠度与所加压力呈线性关系</a:t>
            </a:r>
            <a:r>
              <a:rPr lang="zh-CN" altLang="en-US" sz="2400" dirty="0">
                <a:latin typeface="Times New Roman" pitchFamily="18" charset="0"/>
              </a:rPr>
              <a:t>。若利用</a:t>
            </a:r>
            <a:r>
              <a:rPr lang="en-US" altLang="zh-CN" sz="2400" dirty="0">
                <a:latin typeface="Times New Roman" pitchFamily="18" charset="0"/>
              </a:rPr>
              <a:t>Y</a:t>
            </a:r>
            <a:r>
              <a:rPr lang="zh-CN" altLang="en-US" sz="2400" dirty="0">
                <a:latin typeface="Times New Roman" pitchFamily="18" charset="0"/>
              </a:rPr>
              <a:t>型光纤束位移特性的线性区，则传感器的</a:t>
            </a:r>
            <a:r>
              <a:rPr lang="zh-CN" altLang="en-US" sz="2400" dirty="0">
                <a:solidFill>
                  <a:srgbClr val="FF0000"/>
                </a:solidFill>
                <a:latin typeface="Times New Roman" pitchFamily="18" charset="0"/>
              </a:rPr>
              <a:t>输出光功率亦与待测压力呈线性关系</a:t>
            </a:r>
            <a:r>
              <a:rPr lang="zh-CN" altLang="en-US" sz="2400" dirty="0">
                <a:latin typeface="Times New Roman" pitchFamily="18" charset="0"/>
              </a:rPr>
              <a:t>。</a:t>
            </a:r>
          </a:p>
          <a:p>
            <a:pPr eaLnBrk="1" fontAlgn="t" hangingPunct="1">
              <a:lnSpc>
                <a:spcPct val="130000"/>
              </a:lnSpc>
              <a:spcBef>
                <a:spcPct val="10000"/>
              </a:spcBef>
              <a:buClr>
                <a:srgbClr val="FFFF00"/>
              </a:buClr>
              <a:buSzPct val="80000"/>
              <a:buFont typeface="Wingdings" pitchFamily="2" charset="2"/>
              <a:buNone/>
              <a:defRPr/>
            </a:pPr>
            <a:r>
              <a:rPr lang="zh-CN" altLang="en-US" sz="2400" dirty="0">
                <a:latin typeface="Times New Roman" pitchFamily="18" charset="0"/>
              </a:rPr>
              <a:t>         </a:t>
            </a:r>
          </a:p>
        </p:txBody>
      </p:sp>
      <p:graphicFrame>
        <p:nvGraphicFramePr>
          <p:cNvPr id="65539" name="Object 3">
            <a:extLst>
              <a:ext uri="{FF2B5EF4-FFF2-40B4-BE49-F238E27FC236}">
                <a16:creationId xmlns:a16="http://schemas.microsoft.com/office/drawing/2014/main" id="{6C0A6D86-621C-45C3-ACC5-13FA50A40D59}"/>
              </a:ext>
            </a:extLst>
          </p:cNvPr>
          <p:cNvGraphicFramePr>
            <a:graphicFrameLocks noChangeAspect="1"/>
          </p:cNvGraphicFramePr>
          <p:nvPr/>
        </p:nvGraphicFramePr>
        <p:xfrm>
          <a:off x="3424238" y="995363"/>
          <a:ext cx="1277937" cy="417512"/>
        </p:xfrm>
        <a:graphic>
          <a:graphicData uri="http://schemas.openxmlformats.org/presentationml/2006/ole">
            <mc:AlternateContent xmlns:mc="http://schemas.openxmlformats.org/markup-compatibility/2006">
              <mc:Choice xmlns:v="urn:schemas-microsoft-com:vml" Requires="v">
                <p:oleObj spid="_x0000_s65573" name="Equation" r:id="rId3" imgW="622030" imgH="203112" progId="Equation.DSMT4">
                  <p:embed/>
                </p:oleObj>
              </mc:Choice>
              <mc:Fallback>
                <p:oleObj name="Equation" r:id="rId3" imgW="622030" imgH="203112"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4238" y="995363"/>
                        <a:ext cx="1277937"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0" name="Object 4">
            <a:extLst>
              <a:ext uri="{FF2B5EF4-FFF2-40B4-BE49-F238E27FC236}">
                <a16:creationId xmlns:a16="http://schemas.microsoft.com/office/drawing/2014/main" id="{48FFCF3F-BF5A-4FFB-8CB7-DDD5001A7364}"/>
              </a:ext>
            </a:extLst>
          </p:cNvPr>
          <p:cNvGraphicFramePr>
            <a:graphicFrameLocks noChangeAspect="1"/>
          </p:cNvGraphicFramePr>
          <p:nvPr/>
        </p:nvGraphicFramePr>
        <p:xfrm>
          <a:off x="3276600" y="1773238"/>
          <a:ext cx="2384425" cy="893762"/>
        </p:xfrm>
        <a:graphic>
          <a:graphicData uri="http://schemas.openxmlformats.org/presentationml/2006/ole">
            <mc:AlternateContent xmlns:mc="http://schemas.openxmlformats.org/markup-compatibility/2006">
              <mc:Choice xmlns:v="urn:schemas-microsoft-com:vml" Requires="v">
                <p:oleObj spid="_x0000_s65574" name="Equation" r:id="rId5" imgW="1117600" imgH="419100" progId="Equation.DSMT4">
                  <p:embed/>
                </p:oleObj>
              </mc:Choice>
              <mc:Fallback>
                <p:oleObj name="Equation" r:id="rId5" imgW="1117600" imgH="4191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1773238"/>
                        <a:ext cx="2384425" cy="893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a:extLst>
              <a:ext uri="{FF2B5EF4-FFF2-40B4-BE49-F238E27FC236}">
                <a16:creationId xmlns:a16="http://schemas.microsoft.com/office/drawing/2014/main" id="{CA695EE8-28F5-476F-9E81-8A1AE3AE853F}"/>
              </a:ext>
            </a:extLst>
          </p:cNvPr>
          <p:cNvSpPr txBox="1">
            <a:spLocks noChangeArrowheads="1"/>
          </p:cNvSpPr>
          <p:nvPr/>
        </p:nvSpPr>
        <p:spPr bwMode="auto">
          <a:xfrm>
            <a:off x="539750" y="260350"/>
            <a:ext cx="82804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下图</a:t>
            </a:r>
            <a:r>
              <a:rPr kumimoji="0" lang="en-US" altLang="zh-CN" sz="2400">
                <a:ea typeface="楷体_GB2312" pitchFamily="49" charset="-122"/>
              </a:rPr>
              <a:t>(a)</a:t>
            </a:r>
            <a:r>
              <a:rPr kumimoji="0" lang="zh-CN" altLang="en-US" sz="2400">
                <a:ea typeface="楷体_GB2312" pitchFamily="49" charset="-122"/>
              </a:rPr>
              <a:t>示出了改进型的膜片反射式光纤压力传感器的接头，其中采用了特殊结构的光纤束。该光纤束的一端分成三束，其中一束为输入光纤，两束为输出光纤。三束光纤在另一端结合成一束，并且在端面成同心环排列分布，如图（</a:t>
            </a:r>
            <a:r>
              <a:rPr kumimoji="0" lang="en-US" altLang="zh-CN" sz="2400">
                <a:ea typeface="楷体_GB2312" pitchFamily="49" charset="-122"/>
              </a:rPr>
              <a:t>b</a:t>
            </a:r>
            <a:r>
              <a:rPr kumimoji="0" lang="zh-CN" altLang="en-US" sz="2400">
                <a:ea typeface="楷体_GB2312" pitchFamily="49" charset="-122"/>
              </a:rPr>
              <a:t>）所示。</a:t>
            </a:r>
          </a:p>
        </p:txBody>
      </p:sp>
      <p:pic>
        <p:nvPicPr>
          <p:cNvPr id="66563" name="Picture 3" descr="IMG_3928">
            <a:extLst>
              <a:ext uri="{FF2B5EF4-FFF2-40B4-BE49-F238E27FC236}">
                <a16:creationId xmlns:a16="http://schemas.microsoft.com/office/drawing/2014/main" id="{FF6EBF08-779D-4312-9066-4613F139D7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2781300"/>
            <a:ext cx="7777163"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a:extLst>
              <a:ext uri="{FF2B5EF4-FFF2-40B4-BE49-F238E27FC236}">
                <a16:creationId xmlns:a16="http://schemas.microsoft.com/office/drawing/2014/main" id="{209D0F46-4061-468A-9518-DB38DA733AD4}"/>
              </a:ext>
            </a:extLst>
          </p:cNvPr>
          <p:cNvSpPr txBox="1">
            <a:spLocks noChangeArrowheads="1"/>
          </p:cNvSpPr>
          <p:nvPr/>
        </p:nvSpPr>
        <p:spPr bwMode="auto">
          <a:xfrm>
            <a:off x="395288" y="260350"/>
            <a:ext cx="820896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ea typeface="楷体_GB2312" pitchFamily="49" charset="-122"/>
              </a:rPr>
              <a:t>图中两束输出光的光强之比可表示为</a:t>
            </a:r>
          </a:p>
        </p:txBody>
      </p:sp>
      <p:graphicFrame>
        <p:nvGraphicFramePr>
          <p:cNvPr id="67587" name="Object 3">
            <a:extLst>
              <a:ext uri="{FF2B5EF4-FFF2-40B4-BE49-F238E27FC236}">
                <a16:creationId xmlns:a16="http://schemas.microsoft.com/office/drawing/2014/main" id="{295BF3E0-CDAA-47EB-9114-5907589FF768}"/>
              </a:ext>
            </a:extLst>
          </p:cNvPr>
          <p:cNvGraphicFramePr>
            <a:graphicFrameLocks noChangeAspect="1"/>
          </p:cNvGraphicFramePr>
          <p:nvPr/>
        </p:nvGraphicFramePr>
        <p:xfrm>
          <a:off x="3635375" y="836613"/>
          <a:ext cx="1401763" cy="822325"/>
        </p:xfrm>
        <a:graphic>
          <a:graphicData uri="http://schemas.openxmlformats.org/presentationml/2006/ole">
            <mc:AlternateContent xmlns:mc="http://schemas.openxmlformats.org/markup-compatibility/2006">
              <mc:Choice xmlns:v="urn:schemas-microsoft-com:vml" Requires="v">
                <p:oleObj spid="_x0000_s67624" name="Equation" r:id="rId3" imgW="736600" imgH="431800" progId="Equation.DSMT4">
                  <p:embed/>
                </p:oleObj>
              </mc:Choice>
              <mc:Fallback>
                <p:oleObj name="Equation" r:id="rId3" imgW="736600" imgH="431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5375" y="836613"/>
                        <a:ext cx="140176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88" name="Text Box 4">
            <a:extLst>
              <a:ext uri="{FF2B5EF4-FFF2-40B4-BE49-F238E27FC236}">
                <a16:creationId xmlns:a16="http://schemas.microsoft.com/office/drawing/2014/main" id="{367A54E2-9CB7-4C96-ADBC-1BEE8F427FE1}"/>
              </a:ext>
            </a:extLst>
          </p:cNvPr>
          <p:cNvSpPr txBox="1">
            <a:spLocks noChangeArrowheads="1"/>
          </p:cNvSpPr>
          <p:nvPr/>
        </p:nvSpPr>
        <p:spPr bwMode="auto">
          <a:xfrm>
            <a:off x="395288" y="1628775"/>
            <a:ext cx="8497887"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dirty="0">
                <a:ea typeface="楷体_GB2312" pitchFamily="49" charset="-122"/>
              </a:rPr>
              <a:t>        </a:t>
            </a:r>
            <a:r>
              <a:rPr kumimoji="0" lang="zh-CN" altLang="en-US" sz="2400" dirty="0">
                <a:ea typeface="楷体_GB2312" pitchFamily="49" charset="-122"/>
              </a:rPr>
              <a:t>上式表明，</a:t>
            </a:r>
            <a:r>
              <a:rPr kumimoji="0" lang="zh-CN" altLang="en-US" sz="2400" dirty="0">
                <a:highlight>
                  <a:srgbClr val="FFFF00"/>
                </a:highlight>
                <a:ea typeface="楷体_GB2312" pitchFamily="49" charset="-122"/>
              </a:rPr>
              <a:t>输出光强比</a:t>
            </a:r>
            <a:r>
              <a:rPr kumimoji="0" lang="en-US" altLang="zh-CN" sz="2400" i="1" dirty="0">
                <a:highlight>
                  <a:srgbClr val="FFFF00"/>
                </a:highlight>
                <a:ea typeface="楷体_GB2312" pitchFamily="49" charset="-122"/>
              </a:rPr>
              <a:t>I</a:t>
            </a:r>
            <a:r>
              <a:rPr kumimoji="0" lang="en-US" altLang="zh-CN" sz="2400" baseline="-25000" dirty="0">
                <a:highlight>
                  <a:srgbClr val="FFFF00"/>
                </a:highlight>
                <a:ea typeface="楷体_GB2312" pitchFamily="49" charset="-122"/>
              </a:rPr>
              <a:t>2</a:t>
            </a:r>
            <a:r>
              <a:rPr kumimoji="0" lang="en-US" altLang="zh-CN" sz="2400" dirty="0">
                <a:highlight>
                  <a:srgbClr val="FFFF00"/>
                </a:highlight>
                <a:ea typeface="楷体_GB2312" pitchFamily="49" charset="-122"/>
              </a:rPr>
              <a:t>/</a:t>
            </a:r>
            <a:r>
              <a:rPr kumimoji="0" lang="en-US" altLang="zh-CN" sz="2400" i="1" dirty="0">
                <a:highlight>
                  <a:srgbClr val="FFFF00"/>
                </a:highlight>
                <a:ea typeface="楷体_GB2312" pitchFamily="49" charset="-122"/>
              </a:rPr>
              <a:t>I</a:t>
            </a:r>
            <a:r>
              <a:rPr kumimoji="0" lang="en-US" altLang="zh-CN" sz="2400" baseline="-25000" dirty="0">
                <a:highlight>
                  <a:srgbClr val="FFFF00"/>
                </a:highlight>
                <a:ea typeface="楷体_GB2312" pitchFamily="49" charset="-122"/>
              </a:rPr>
              <a:t>1</a:t>
            </a:r>
            <a:r>
              <a:rPr kumimoji="0" lang="zh-CN" altLang="en-US" sz="2400" dirty="0">
                <a:highlight>
                  <a:srgbClr val="FFFF00"/>
                </a:highlight>
                <a:ea typeface="楷体_GB2312" pitchFamily="49" charset="-122"/>
              </a:rPr>
              <a:t>与膜片的反射率、光源强度等因素均无关</a:t>
            </a:r>
            <a:r>
              <a:rPr kumimoji="0" lang="zh-CN" altLang="en-US" sz="2400" dirty="0">
                <a:ea typeface="楷体_GB2312" pitchFamily="49" charset="-122"/>
              </a:rPr>
              <a:t>，因而可有效地消除这些因素的影响。</a:t>
            </a:r>
            <a:endParaRPr kumimoji="0" lang="zh-CN" altLang="en-US" sz="2400" baseline="-25000" dirty="0">
              <a:ea typeface="楷体_GB2312" pitchFamily="49" charset="-122"/>
            </a:endParaRPr>
          </a:p>
        </p:txBody>
      </p:sp>
      <p:sp>
        <p:nvSpPr>
          <p:cNvPr id="67589" name="Text Box 5">
            <a:extLst>
              <a:ext uri="{FF2B5EF4-FFF2-40B4-BE49-F238E27FC236}">
                <a16:creationId xmlns:a16="http://schemas.microsoft.com/office/drawing/2014/main" id="{D0FE4273-5080-4720-8811-2D43F21A739B}"/>
              </a:ext>
            </a:extLst>
          </p:cNvPr>
          <p:cNvSpPr txBox="1">
            <a:spLocks noChangeArrowheads="1"/>
          </p:cNvSpPr>
          <p:nvPr/>
        </p:nvSpPr>
        <p:spPr bwMode="auto">
          <a:xfrm>
            <a:off x="395288" y="2708275"/>
            <a:ext cx="835342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将上式两边取对数，在满足</a:t>
            </a:r>
            <a:r>
              <a:rPr kumimoji="0" lang="en-US" altLang="zh-CN" sz="2400">
                <a:ea typeface="楷体_GB2312" pitchFamily="49" charset="-122"/>
              </a:rPr>
              <a:t>Ap≤1</a:t>
            </a:r>
            <a:r>
              <a:rPr kumimoji="0" lang="zh-CN" altLang="en-US" sz="2400">
                <a:ea typeface="楷体_GB2312" pitchFamily="49" charset="-122"/>
              </a:rPr>
              <a:t>时等式右边展开后取第一项，得到</a:t>
            </a:r>
          </a:p>
        </p:txBody>
      </p:sp>
      <p:graphicFrame>
        <p:nvGraphicFramePr>
          <p:cNvPr id="67590" name="Object 6">
            <a:extLst>
              <a:ext uri="{FF2B5EF4-FFF2-40B4-BE49-F238E27FC236}">
                <a16:creationId xmlns:a16="http://schemas.microsoft.com/office/drawing/2014/main" id="{1538A9C7-D9C7-4B81-A01D-4A51D2475501}"/>
              </a:ext>
            </a:extLst>
          </p:cNvPr>
          <p:cNvGraphicFramePr>
            <a:graphicFrameLocks noChangeAspect="1"/>
          </p:cNvGraphicFramePr>
          <p:nvPr/>
        </p:nvGraphicFramePr>
        <p:xfrm>
          <a:off x="3651250" y="3633788"/>
          <a:ext cx="1698625" cy="979487"/>
        </p:xfrm>
        <a:graphic>
          <a:graphicData uri="http://schemas.openxmlformats.org/presentationml/2006/ole">
            <mc:AlternateContent xmlns:mc="http://schemas.openxmlformats.org/markup-compatibility/2006">
              <mc:Choice xmlns:v="urn:schemas-microsoft-com:vml" Requires="v">
                <p:oleObj spid="_x0000_s67625" name="Equation" r:id="rId5" imgW="748975" imgH="431613" progId="Equation.DSMT4">
                  <p:embed/>
                </p:oleObj>
              </mc:Choice>
              <mc:Fallback>
                <p:oleObj name="Equation" r:id="rId5" imgW="748975" imgH="431613"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1250" y="3633788"/>
                        <a:ext cx="1698625" cy="979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1" name="Text Box 7">
            <a:extLst>
              <a:ext uri="{FF2B5EF4-FFF2-40B4-BE49-F238E27FC236}">
                <a16:creationId xmlns:a16="http://schemas.microsoft.com/office/drawing/2014/main" id="{66672690-5541-4AC3-9F51-6A68F52AC891}"/>
              </a:ext>
            </a:extLst>
          </p:cNvPr>
          <p:cNvSpPr txBox="1">
            <a:spLocks noChangeArrowheads="1"/>
          </p:cNvSpPr>
          <p:nvPr/>
        </p:nvSpPr>
        <p:spPr bwMode="auto">
          <a:xfrm>
            <a:off x="512763" y="4668838"/>
            <a:ext cx="8064500"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dirty="0">
                <a:ea typeface="楷体_GB2312" pitchFamily="49" charset="-122"/>
              </a:rPr>
              <a:t>可以看出，</a:t>
            </a:r>
            <a:r>
              <a:rPr kumimoji="0" lang="zh-CN" altLang="en-US" sz="2400" dirty="0">
                <a:solidFill>
                  <a:srgbClr val="0000FF"/>
                </a:solidFill>
                <a:ea typeface="楷体_GB2312" pitchFamily="49" charset="-122"/>
              </a:rPr>
              <a:t>待测 压力与输出光强比的对数呈线性关系</a:t>
            </a:r>
            <a:r>
              <a:rPr kumimoji="0" lang="zh-CN" altLang="en-US" sz="2400" dirty="0">
                <a:ea typeface="楷体_GB2312" pitchFamily="49" charset="-122"/>
              </a:rPr>
              <a:t>。</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a:extLst>
              <a:ext uri="{FF2B5EF4-FFF2-40B4-BE49-F238E27FC236}">
                <a16:creationId xmlns:a16="http://schemas.microsoft.com/office/drawing/2014/main" id="{B780DA65-20EC-4082-BE94-172E894821B6}"/>
              </a:ext>
            </a:extLst>
          </p:cNvPr>
          <p:cNvSpPr txBox="1">
            <a:spLocks noChangeArrowheads="1"/>
          </p:cNvSpPr>
          <p:nvPr/>
        </p:nvSpPr>
        <p:spPr bwMode="auto">
          <a:xfrm>
            <a:off x="611188" y="765175"/>
            <a:ext cx="8351837"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FontTx/>
              <a:buNone/>
            </a:pPr>
            <a:r>
              <a:rPr kumimoji="0" lang="en-US" altLang="zh-CN" sz="2400" dirty="0">
                <a:ea typeface="楷体_GB2312" pitchFamily="49" charset="-122"/>
              </a:rPr>
              <a:t>        </a:t>
            </a:r>
            <a:r>
              <a:rPr kumimoji="0" lang="zh-CN" altLang="en-US" sz="2400" dirty="0">
                <a:highlight>
                  <a:srgbClr val="FFFF00"/>
                </a:highlight>
                <a:ea typeface="楷体_GB2312" pitchFamily="49" charset="-122"/>
              </a:rPr>
              <a:t>晶体在受压后其折射率发生变化，从而呈现双折射现象</a:t>
            </a:r>
            <a:r>
              <a:rPr kumimoji="0" lang="zh-CN" altLang="en-US" sz="2400" dirty="0">
                <a:ea typeface="楷体_GB2312" pitchFamily="49" charset="-122"/>
              </a:rPr>
              <a:t>，这种效应称为</a:t>
            </a:r>
            <a:r>
              <a:rPr kumimoji="0" lang="zh-CN" altLang="en-US" sz="2400" dirty="0">
                <a:solidFill>
                  <a:srgbClr val="0000FF"/>
                </a:solidFill>
                <a:ea typeface="楷体_GB2312" pitchFamily="49" charset="-122"/>
              </a:rPr>
              <a:t>光弹性效应</a:t>
            </a:r>
            <a:r>
              <a:rPr kumimoji="0" lang="zh-CN" altLang="en-US" sz="2400" dirty="0">
                <a:ea typeface="楷体_GB2312" pitchFamily="49" charset="-122"/>
              </a:rPr>
              <a:t>。利用光弹性效应来测量压力的原理及传感器结构如下图所示。</a:t>
            </a:r>
          </a:p>
        </p:txBody>
      </p:sp>
      <p:pic>
        <p:nvPicPr>
          <p:cNvPr id="68611" name="Picture 3" descr="IMG_3929">
            <a:extLst>
              <a:ext uri="{FF2B5EF4-FFF2-40B4-BE49-F238E27FC236}">
                <a16:creationId xmlns:a16="http://schemas.microsoft.com/office/drawing/2014/main" id="{C09D719D-3E69-4997-A614-6AE1DF466C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2205038"/>
            <a:ext cx="6694488" cy="192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2" name="Picture 4" descr="IMG_3930">
            <a:extLst>
              <a:ext uri="{FF2B5EF4-FFF2-40B4-BE49-F238E27FC236}">
                <a16:creationId xmlns:a16="http://schemas.microsoft.com/office/drawing/2014/main" id="{D3891B8C-28E1-41E9-97B7-F3A26F5133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991" b="1479"/>
          <a:stretch>
            <a:fillRect/>
          </a:stretch>
        </p:blipFill>
        <p:spPr bwMode="auto">
          <a:xfrm>
            <a:off x="2411413" y="4292600"/>
            <a:ext cx="4594225" cy="231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3" name="Text Box 8">
            <a:extLst>
              <a:ext uri="{FF2B5EF4-FFF2-40B4-BE49-F238E27FC236}">
                <a16:creationId xmlns:a16="http://schemas.microsoft.com/office/drawing/2014/main" id="{8B7AD8A9-CA64-480A-844F-694CCCB4939E}"/>
              </a:ext>
            </a:extLst>
          </p:cNvPr>
          <p:cNvSpPr txBox="1">
            <a:spLocks noChangeArrowheads="1"/>
          </p:cNvSpPr>
          <p:nvPr/>
        </p:nvSpPr>
        <p:spPr bwMode="auto">
          <a:xfrm>
            <a:off x="179388" y="188913"/>
            <a:ext cx="5729287"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dirty="0">
                <a:ea typeface="楷体_GB2312" pitchFamily="49" charset="-122"/>
              </a:rPr>
              <a:t>（</a:t>
            </a:r>
            <a:r>
              <a:rPr kumimoji="0" lang="en-US" altLang="zh-CN" sz="2400" dirty="0">
                <a:ea typeface="楷体_GB2312" pitchFamily="49" charset="-122"/>
              </a:rPr>
              <a:t>2</a:t>
            </a:r>
            <a:r>
              <a:rPr kumimoji="0" lang="zh-CN" altLang="en-US" sz="2400" dirty="0">
                <a:ea typeface="楷体_GB2312" pitchFamily="49" charset="-122"/>
              </a:rPr>
              <a:t>） 光弹性式光纤压力传感器</a:t>
            </a:r>
            <a:r>
              <a:rPr kumimoji="0" lang="zh-CN" altLang="en-US" sz="2400" dirty="0">
                <a:solidFill>
                  <a:srgbClr val="0000FF"/>
                </a:solidFill>
                <a:ea typeface="楷体_GB2312" pitchFamily="49" charset="-122"/>
              </a:rPr>
              <a:t>（自学）</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a:extLst>
              <a:ext uri="{FF2B5EF4-FFF2-40B4-BE49-F238E27FC236}">
                <a16:creationId xmlns:a16="http://schemas.microsoft.com/office/drawing/2014/main" id="{B562A953-E778-4012-8F03-61BE98CAFE92}"/>
              </a:ext>
            </a:extLst>
          </p:cNvPr>
          <p:cNvSpPr txBox="1">
            <a:spLocks noChangeArrowheads="1"/>
          </p:cNvSpPr>
          <p:nvPr/>
        </p:nvSpPr>
        <p:spPr bwMode="auto">
          <a:xfrm>
            <a:off x="323850" y="260350"/>
            <a:ext cx="84963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为了提高传感器的精度和稳定性，图</a:t>
            </a:r>
            <a:r>
              <a:rPr kumimoji="0" lang="en-US" altLang="zh-CN" sz="2400">
                <a:ea typeface="楷体_GB2312" pitchFamily="49" charset="-122"/>
              </a:rPr>
              <a:t>9-20</a:t>
            </a:r>
            <a:r>
              <a:rPr kumimoji="0" lang="zh-CN" altLang="en-US" sz="2400">
                <a:ea typeface="楷体_GB2312" pitchFamily="49" charset="-122"/>
              </a:rPr>
              <a:t>示出了另一种检测方法的结构。</a:t>
            </a:r>
          </a:p>
        </p:txBody>
      </p:sp>
      <p:pic>
        <p:nvPicPr>
          <p:cNvPr id="69635" name="Picture 3" descr="IMG_3931">
            <a:extLst>
              <a:ext uri="{FF2B5EF4-FFF2-40B4-BE49-F238E27FC236}">
                <a16:creationId xmlns:a16="http://schemas.microsoft.com/office/drawing/2014/main" id="{DB5F7FD6-A41D-496C-BC4C-E486CCA687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097"/>
          <a:stretch>
            <a:fillRect/>
          </a:stretch>
        </p:blipFill>
        <p:spPr bwMode="auto">
          <a:xfrm>
            <a:off x="2282825" y="1903413"/>
            <a:ext cx="4391025" cy="266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Text Box 4">
            <a:extLst>
              <a:ext uri="{FF2B5EF4-FFF2-40B4-BE49-F238E27FC236}">
                <a16:creationId xmlns:a16="http://schemas.microsoft.com/office/drawing/2014/main" id="{63F9AF34-3D68-4807-AF96-BD9E4BD89594}"/>
              </a:ext>
            </a:extLst>
          </p:cNvPr>
          <p:cNvSpPr txBox="1">
            <a:spLocks noChangeArrowheads="1"/>
          </p:cNvSpPr>
          <p:nvPr/>
        </p:nvSpPr>
        <p:spPr bwMode="auto">
          <a:xfrm>
            <a:off x="482600" y="5056188"/>
            <a:ext cx="7993063"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这种结构的传感器在光弹性元件上加上质量块后，也可用于测量振动、加速度。</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a:extLst>
              <a:ext uri="{FF2B5EF4-FFF2-40B4-BE49-F238E27FC236}">
                <a16:creationId xmlns:a16="http://schemas.microsoft.com/office/drawing/2014/main" id="{5F99A5AB-BB1A-4125-A2A9-9AFCDB75F643}"/>
              </a:ext>
            </a:extLst>
          </p:cNvPr>
          <p:cNvSpPr txBox="1">
            <a:spLocks noChangeArrowheads="1"/>
          </p:cNvSpPr>
          <p:nvPr/>
        </p:nvSpPr>
        <p:spPr bwMode="auto">
          <a:xfrm>
            <a:off x="293688" y="409575"/>
            <a:ext cx="572928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400" dirty="0">
                <a:ea typeface="楷体_GB2312" pitchFamily="49" charset="-122"/>
              </a:rPr>
              <a:t>(3)  </a:t>
            </a:r>
            <a:r>
              <a:rPr kumimoji="0" lang="zh-CN" altLang="en-US" sz="2400" dirty="0">
                <a:ea typeface="楷体_GB2312" pitchFamily="49" charset="-122"/>
              </a:rPr>
              <a:t>微弯式光纤压力传感器</a:t>
            </a:r>
            <a:r>
              <a:rPr kumimoji="0" lang="zh-CN" altLang="en-US" sz="2400" dirty="0">
                <a:solidFill>
                  <a:srgbClr val="0000FF"/>
                </a:solidFill>
                <a:ea typeface="楷体_GB2312" pitchFamily="49" charset="-122"/>
              </a:rPr>
              <a:t>（自学）</a:t>
            </a:r>
            <a:endParaRPr kumimoji="0" lang="zh-CN" altLang="en-US" sz="2400" dirty="0">
              <a:ea typeface="楷体_GB2312" pitchFamily="49" charset="-122"/>
            </a:endParaRPr>
          </a:p>
        </p:txBody>
      </p:sp>
      <p:sp>
        <p:nvSpPr>
          <p:cNvPr id="70659" name="Text Box 3">
            <a:extLst>
              <a:ext uri="{FF2B5EF4-FFF2-40B4-BE49-F238E27FC236}">
                <a16:creationId xmlns:a16="http://schemas.microsoft.com/office/drawing/2014/main" id="{A794F7FE-BB3B-41A2-A7B4-0BDB2C07C878}"/>
              </a:ext>
            </a:extLst>
          </p:cNvPr>
          <p:cNvSpPr txBox="1">
            <a:spLocks noChangeArrowheads="1"/>
          </p:cNvSpPr>
          <p:nvPr/>
        </p:nvSpPr>
        <p:spPr bwMode="auto">
          <a:xfrm>
            <a:off x="468313" y="981075"/>
            <a:ext cx="8496300"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t" hangingPunct="1">
              <a:lnSpc>
                <a:spcPct val="130000"/>
              </a:lnSpc>
              <a:spcBef>
                <a:spcPct val="10000"/>
              </a:spcBef>
              <a:buClr>
                <a:srgbClr val="FFFF00"/>
              </a:buClr>
              <a:buSzPct val="80000"/>
              <a:buFont typeface="Wingdings" panose="05000000000000000000" pitchFamily="2" charset="2"/>
              <a:buNone/>
            </a:pPr>
            <a:r>
              <a:rPr kumimoji="0" lang="en-US" altLang="zh-CN" sz="2400">
                <a:ea typeface="楷体_GB2312" pitchFamily="49" charset="-122"/>
              </a:rPr>
              <a:t>         </a:t>
            </a:r>
            <a:r>
              <a:rPr kumimoji="0" lang="zh-CN" altLang="en-US" sz="2400">
                <a:ea typeface="楷体_GB2312" pitchFamily="49" charset="-122"/>
              </a:rPr>
              <a:t>微弯式压力传感器是基于光纤的微弯效应，通过压力引起变形器产生位移，使光纤弯曲而调制光强度。下图示出了两种可用于声压检测的微弯式光纤水听器的探头结构。</a:t>
            </a:r>
          </a:p>
        </p:txBody>
      </p:sp>
      <p:pic>
        <p:nvPicPr>
          <p:cNvPr id="70660" name="Picture 4" descr="IMG_3932">
            <a:extLst>
              <a:ext uri="{FF2B5EF4-FFF2-40B4-BE49-F238E27FC236}">
                <a16:creationId xmlns:a16="http://schemas.microsoft.com/office/drawing/2014/main" id="{522BE67E-5BEE-4014-B253-E05F663FF2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363" y="2624138"/>
            <a:ext cx="7920037" cy="361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a:extLst>
              <a:ext uri="{FF2B5EF4-FFF2-40B4-BE49-F238E27FC236}">
                <a16:creationId xmlns:a16="http://schemas.microsoft.com/office/drawing/2014/main" id="{8F9231EE-3504-4B25-8C4B-EDC2554B7349}"/>
              </a:ext>
            </a:extLst>
          </p:cNvPr>
          <p:cNvSpPr txBox="1">
            <a:spLocks noChangeArrowheads="1"/>
          </p:cNvSpPr>
          <p:nvPr/>
        </p:nvSpPr>
        <p:spPr bwMode="auto">
          <a:xfrm>
            <a:off x="322262" y="285750"/>
            <a:ext cx="6121945"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800" dirty="0">
                <a:solidFill>
                  <a:srgbClr val="C00000"/>
                </a:solidFill>
                <a:latin typeface="楷体_GB2312" pitchFamily="49" charset="-122"/>
                <a:ea typeface="楷体_GB2312" pitchFamily="49" charset="-122"/>
              </a:rPr>
              <a:t>5.3 </a:t>
            </a:r>
            <a:r>
              <a:rPr kumimoji="0" lang="zh-CN" altLang="en-US" sz="2800" dirty="0">
                <a:solidFill>
                  <a:srgbClr val="C00000"/>
                </a:solidFill>
                <a:latin typeface="楷体_GB2312" pitchFamily="49" charset="-122"/>
                <a:ea typeface="楷体_GB2312" pitchFamily="49" charset="-122"/>
              </a:rPr>
              <a:t>液位、流量、流速的检测（</a:t>
            </a:r>
            <a:r>
              <a:rPr kumimoji="0" lang="zh-CN" altLang="en-US" sz="2800" dirty="0">
                <a:solidFill>
                  <a:srgbClr val="0000FF"/>
                </a:solidFill>
                <a:latin typeface="楷体_GB2312" pitchFamily="49" charset="-122"/>
                <a:ea typeface="楷体_GB2312" pitchFamily="49" charset="-122"/>
              </a:rPr>
              <a:t>自学</a:t>
            </a:r>
            <a:r>
              <a:rPr kumimoji="0" lang="zh-CN" altLang="en-US" sz="2800" dirty="0">
                <a:solidFill>
                  <a:srgbClr val="C00000"/>
                </a:solidFill>
                <a:latin typeface="楷体_GB2312" pitchFamily="49" charset="-122"/>
                <a:ea typeface="楷体_GB2312" pitchFamily="49" charset="-122"/>
              </a:rPr>
              <a:t>）</a:t>
            </a:r>
          </a:p>
        </p:txBody>
      </p:sp>
      <p:sp>
        <p:nvSpPr>
          <p:cNvPr id="71683" name="Text Box 3">
            <a:extLst>
              <a:ext uri="{FF2B5EF4-FFF2-40B4-BE49-F238E27FC236}">
                <a16:creationId xmlns:a16="http://schemas.microsoft.com/office/drawing/2014/main" id="{566C5DC9-5DDB-4884-9E84-E3A94D074618}"/>
              </a:ext>
            </a:extLst>
          </p:cNvPr>
          <p:cNvSpPr txBox="1">
            <a:spLocks noChangeArrowheads="1"/>
          </p:cNvSpPr>
          <p:nvPr/>
        </p:nvSpPr>
        <p:spPr bwMode="auto">
          <a:xfrm>
            <a:off x="498475" y="954088"/>
            <a:ext cx="5729288"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ea typeface="楷体_GB2312" pitchFamily="49" charset="-122"/>
              </a:rPr>
              <a:t>（</a:t>
            </a:r>
            <a:r>
              <a:rPr kumimoji="0" lang="en-US" altLang="zh-CN" sz="2400">
                <a:ea typeface="楷体_GB2312" pitchFamily="49" charset="-122"/>
              </a:rPr>
              <a:t>1</a:t>
            </a:r>
            <a:r>
              <a:rPr kumimoji="0" lang="zh-CN" altLang="en-US" sz="2400">
                <a:ea typeface="楷体_GB2312" pitchFamily="49" charset="-122"/>
              </a:rPr>
              <a:t>） 液位的检测技术</a:t>
            </a:r>
          </a:p>
        </p:txBody>
      </p:sp>
      <p:sp>
        <p:nvSpPr>
          <p:cNvPr id="71684" name="Text Box 4">
            <a:extLst>
              <a:ext uri="{FF2B5EF4-FFF2-40B4-BE49-F238E27FC236}">
                <a16:creationId xmlns:a16="http://schemas.microsoft.com/office/drawing/2014/main" id="{2271651A-9D10-403F-955D-2766ADA9FD3B}"/>
              </a:ext>
            </a:extLst>
          </p:cNvPr>
          <p:cNvSpPr txBox="1">
            <a:spLocks noChangeArrowheads="1"/>
          </p:cNvSpPr>
          <p:nvPr/>
        </p:nvSpPr>
        <p:spPr bwMode="auto">
          <a:xfrm>
            <a:off x="1258888" y="1484313"/>
            <a:ext cx="3325812"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solidFill>
                  <a:schemeClr val="accent2"/>
                </a:solidFill>
                <a:ea typeface="楷体_GB2312" pitchFamily="49" charset="-122"/>
              </a:rPr>
              <a:t>＊球面光纤液位传感器</a:t>
            </a:r>
          </a:p>
        </p:txBody>
      </p:sp>
      <p:sp>
        <p:nvSpPr>
          <p:cNvPr id="71685" name="Text Box 5">
            <a:extLst>
              <a:ext uri="{FF2B5EF4-FFF2-40B4-BE49-F238E27FC236}">
                <a16:creationId xmlns:a16="http://schemas.microsoft.com/office/drawing/2014/main" id="{0C773C17-1B00-4E4E-AA78-FA4C94E7DC4E}"/>
              </a:ext>
            </a:extLst>
          </p:cNvPr>
          <p:cNvSpPr txBox="1">
            <a:spLocks noChangeArrowheads="1"/>
          </p:cNvSpPr>
          <p:nvPr/>
        </p:nvSpPr>
        <p:spPr bwMode="auto">
          <a:xfrm>
            <a:off x="827088" y="2133600"/>
            <a:ext cx="777716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ea typeface="楷体_GB2312" pitchFamily="49" charset="-122"/>
              </a:rPr>
              <a:t>球面光纤液位传感器的结构如下图所示。</a:t>
            </a:r>
          </a:p>
        </p:txBody>
      </p:sp>
      <p:grpSp>
        <p:nvGrpSpPr>
          <p:cNvPr id="71686" name="Group 6">
            <a:extLst>
              <a:ext uri="{FF2B5EF4-FFF2-40B4-BE49-F238E27FC236}">
                <a16:creationId xmlns:a16="http://schemas.microsoft.com/office/drawing/2014/main" id="{159BA369-5CB7-49D9-9511-8E9C36CD854C}"/>
              </a:ext>
            </a:extLst>
          </p:cNvPr>
          <p:cNvGrpSpPr>
            <a:grpSpLocks/>
          </p:cNvGrpSpPr>
          <p:nvPr/>
        </p:nvGrpSpPr>
        <p:grpSpPr bwMode="auto">
          <a:xfrm>
            <a:off x="755650" y="2781300"/>
            <a:ext cx="7632700" cy="3122613"/>
            <a:chOff x="476" y="1752"/>
            <a:chExt cx="4808" cy="1967"/>
          </a:xfrm>
        </p:grpSpPr>
        <p:pic>
          <p:nvPicPr>
            <p:cNvPr id="71687" name="Picture 7" descr="IMG_3933">
              <a:extLst>
                <a:ext uri="{FF2B5EF4-FFF2-40B4-BE49-F238E27FC236}">
                  <a16:creationId xmlns:a16="http://schemas.microsoft.com/office/drawing/2014/main" id="{0E656D45-5D0D-414C-81A3-306E6D883E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965" t="2649" r="3943" b="65677"/>
            <a:stretch>
              <a:fillRect/>
            </a:stretch>
          </p:blipFill>
          <p:spPr bwMode="auto">
            <a:xfrm>
              <a:off x="476" y="2387"/>
              <a:ext cx="2131" cy="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8" name="Picture 8" descr="IMG_3933">
              <a:extLst>
                <a:ext uri="{FF2B5EF4-FFF2-40B4-BE49-F238E27FC236}">
                  <a16:creationId xmlns:a16="http://schemas.microsoft.com/office/drawing/2014/main" id="{FDECF2FE-FAE5-4934-B676-69AE535653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287" t="50189" r="3943"/>
            <a:stretch>
              <a:fillRect/>
            </a:stretch>
          </p:blipFill>
          <p:spPr bwMode="auto">
            <a:xfrm>
              <a:off x="2880" y="1752"/>
              <a:ext cx="2404" cy="1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9" name="Text Box 9">
              <a:extLst>
                <a:ext uri="{FF2B5EF4-FFF2-40B4-BE49-F238E27FC236}">
                  <a16:creationId xmlns:a16="http://schemas.microsoft.com/office/drawing/2014/main" id="{4DF64958-7B60-4F21-ACF6-FA2CAEB09AC3}"/>
                </a:ext>
              </a:extLst>
            </p:cNvPr>
            <p:cNvSpPr txBox="1">
              <a:spLocks noChangeArrowheads="1"/>
            </p:cNvSpPr>
            <p:nvPr/>
          </p:nvSpPr>
          <p:spPr bwMode="auto">
            <a:xfrm>
              <a:off x="612" y="3385"/>
              <a:ext cx="1769"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50000"/>
                </a:spcBef>
                <a:buFontTx/>
                <a:buNone/>
              </a:pPr>
              <a:r>
                <a:rPr kumimoji="0" lang="zh-CN" altLang="en-US" sz="2400">
                  <a:solidFill>
                    <a:srgbClr val="FF0000"/>
                  </a:solidFill>
                  <a:ea typeface="楷体_GB2312" pitchFamily="49" charset="-122"/>
                </a:rPr>
                <a:t>探头结构</a:t>
              </a:r>
            </a:p>
          </p:txBody>
        </p:sp>
        <p:sp>
          <p:nvSpPr>
            <p:cNvPr id="71690" name="Text Box 10">
              <a:extLst>
                <a:ext uri="{FF2B5EF4-FFF2-40B4-BE49-F238E27FC236}">
                  <a16:creationId xmlns:a16="http://schemas.microsoft.com/office/drawing/2014/main" id="{3BDECBE5-CBEE-4AF2-A7BF-271662CC4156}"/>
                </a:ext>
              </a:extLst>
            </p:cNvPr>
            <p:cNvSpPr txBox="1">
              <a:spLocks noChangeArrowheads="1"/>
            </p:cNvSpPr>
            <p:nvPr/>
          </p:nvSpPr>
          <p:spPr bwMode="auto">
            <a:xfrm>
              <a:off x="3061" y="3385"/>
              <a:ext cx="1769"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50000"/>
                </a:spcBef>
                <a:buFontTx/>
                <a:buNone/>
              </a:pPr>
              <a:r>
                <a:rPr kumimoji="0" lang="zh-CN" altLang="en-US" sz="2400">
                  <a:solidFill>
                    <a:srgbClr val="FF0000"/>
                  </a:solidFill>
                  <a:ea typeface="楷体_GB2312" pitchFamily="49" charset="-122"/>
                </a:rPr>
                <a:t>检测原理</a:t>
              </a:r>
            </a:p>
          </p:txBody>
        </p:sp>
      </p:gr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a:extLst>
              <a:ext uri="{FF2B5EF4-FFF2-40B4-BE49-F238E27FC236}">
                <a16:creationId xmlns:a16="http://schemas.microsoft.com/office/drawing/2014/main" id="{491F5069-3227-43D6-9E99-A4E34B245A0D}"/>
              </a:ext>
            </a:extLst>
          </p:cNvPr>
          <p:cNvSpPr txBox="1">
            <a:spLocks noChangeArrowheads="1"/>
          </p:cNvSpPr>
          <p:nvPr/>
        </p:nvSpPr>
        <p:spPr bwMode="auto">
          <a:xfrm>
            <a:off x="539750" y="404813"/>
            <a:ext cx="8135938"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若将多个探头安装在不同的高度，如下图所示，则可以揭示出多个液位高度。</a:t>
            </a:r>
          </a:p>
        </p:txBody>
      </p:sp>
      <p:pic>
        <p:nvPicPr>
          <p:cNvPr id="72707" name="Picture 3" descr="IMG_3934">
            <a:extLst>
              <a:ext uri="{FF2B5EF4-FFF2-40B4-BE49-F238E27FC236}">
                <a16:creationId xmlns:a16="http://schemas.microsoft.com/office/drawing/2014/main" id="{10C210E6-A452-4E14-A59E-FC2AB0FD7B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790" t="6810" r="6589" b="6860"/>
          <a:stretch>
            <a:fillRect/>
          </a:stretch>
        </p:blipFill>
        <p:spPr bwMode="auto">
          <a:xfrm>
            <a:off x="2051050" y="1989138"/>
            <a:ext cx="5184775" cy="358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a:extLst>
              <a:ext uri="{FF2B5EF4-FFF2-40B4-BE49-F238E27FC236}">
                <a16:creationId xmlns:a16="http://schemas.microsoft.com/office/drawing/2014/main" id="{EFA175EF-09C3-4064-A1B6-C6F4C3490535}"/>
              </a:ext>
            </a:extLst>
          </p:cNvPr>
          <p:cNvSpPr txBox="1">
            <a:spLocks noChangeArrowheads="1"/>
          </p:cNvSpPr>
          <p:nvPr/>
        </p:nvSpPr>
        <p:spPr bwMode="auto">
          <a:xfrm>
            <a:off x="495300" y="293688"/>
            <a:ext cx="72739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solidFill>
                  <a:schemeClr val="accent2"/>
                </a:solidFill>
                <a:ea typeface="楷体_GB2312" pitchFamily="49" charset="-122"/>
              </a:rPr>
              <a:t>＊斜端面光纤液位探头</a:t>
            </a:r>
          </a:p>
        </p:txBody>
      </p:sp>
      <p:pic>
        <p:nvPicPr>
          <p:cNvPr id="73731" name="Picture 3" descr="IMG_3935">
            <a:extLst>
              <a:ext uri="{FF2B5EF4-FFF2-40B4-BE49-F238E27FC236}">
                <a16:creationId xmlns:a16="http://schemas.microsoft.com/office/drawing/2014/main" id="{36B19536-72BA-4926-A157-AA2667111F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844675"/>
            <a:ext cx="661035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Text Box 4">
            <a:extLst>
              <a:ext uri="{FF2B5EF4-FFF2-40B4-BE49-F238E27FC236}">
                <a16:creationId xmlns:a16="http://schemas.microsoft.com/office/drawing/2014/main" id="{C6546157-EA8A-4986-86FB-AE2099F19DF1}"/>
              </a:ext>
            </a:extLst>
          </p:cNvPr>
          <p:cNvSpPr txBox="1">
            <a:spLocks noChangeArrowheads="1"/>
          </p:cNvSpPr>
          <p:nvPr/>
        </p:nvSpPr>
        <p:spPr bwMode="auto">
          <a:xfrm>
            <a:off x="969963" y="966788"/>
            <a:ext cx="5976937"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ea typeface="楷体_GB2312" pitchFamily="49" charset="-122"/>
              </a:rPr>
              <a:t>反射式斜端面光纤液位探头的两种结构。</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a:extLst>
              <a:ext uri="{FF2B5EF4-FFF2-40B4-BE49-F238E27FC236}">
                <a16:creationId xmlns:a16="http://schemas.microsoft.com/office/drawing/2014/main" id="{DCFFD921-C3A9-4C78-9B26-199B65A1984A}"/>
              </a:ext>
            </a:extLst>
          </p:cNvPr>
          <p:cNvSpPr txBox="1">
            <a:spLocks noChangeArrowheads="1"/>
          </p:cNvSpPr>
          <p:nvPr/>
        </p:nvSpPr>
        <p:spPr bwMode="auto">
          <a:xfrm>
            <a:off x="495300" y="293688"/>
            <a:ext cx="72739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solidFill>
                  <a:schemeClr val="accent2"/>
                </a:solidFill>
                <a:ea typeface="楷体_GB2312" pitchFamily="49" charset="-122"/>
              </a:rPr>
              <a:t>＊单光纤液位探头</a:t>
            </a:r>
          </a:p>
        </p:txBody>
      </p:sp>
      <p:sp>
        <p:nvSpPr>
          <p:cNvPr id="74755" name="Text Box 3">
            <a:extLst>
              <a:ext uri="{FF2B5EF4-FFF2-40B4-BE49-F238E27FC236}">
                <a16:creationId xmlns:a16="http://schemas.microsoft.com/office/drawing/2014/main" id="{91BA9A44-0C50-46C0-A75A-389D924A204B}"/>
              </a:ext>
            </a:extLst>
          </p:cNvPr>
          <p:cNvSpPr txBox="1">
            <a:spLocks noChangeArrowheads="1"/>
          </p:cNvSpPr>
          <p:nvPr/>
        </p:nvSpPr>
        <p:spPr bwMode="auto">
          <a:xfrm>
            <a:off x="900113" y="836613"/>
            <a:ext cx="374332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ea typeface="楷体_GB2312" pitchFamily="49" charset="-122"/>
              </a:rPr>
              <a:t>结构参见下图</a:t>
            </a:r>
          </a:p>
        </p:txBody>
      </p:sp>
      <p:grpSp>
        <p:nvGrpSpPr>
          <p:cNvPr id="74756" name="Group 4">
            <a:extLst>
              <a:ext uri="{FF2B5EF4-FFF2-40B4-BE49-F238E27FC236}">
                <a16:creationId xmlns:a16="http://schemas.microsoft.com/office/drawing/2014/main" id="{A9A9899E-547F-4747-921C-45129E88DE98}"/>
              </a:ext>
            </a:extLst>
          </p:cNvPr>
          <p:cNvGrpSpPr>
            <a:grpSpLocks/>
          </p:cNvGrpSpPr>
          <p:nvPr/>
        </p:nvGrpSpPr>
        <p:grpSpPr bwMode="auto">
          <a:xfrm>
            <a:off x="611188" y="1989138"/>
            <a:ext cx="8151812" cy="3328987"/>
            <a:chOff x="385" y="1253"/>
            <a:chExt cx="5135" cy="2097"/>
          </a:xfrm>
        </p:grpSpPr>
        <p:pic>
          <p:nvPicPr>
            <p:cNvPr id="74757" name="Picture 5" descr="IMG_3937">
              <a:extLst>
                <a:ext uri="{FF2B5EF4-FFF2-40B4-BE49-F238E27FC236}">
                  <a16:creationId xmlns:a16="http://schemas.microsoft.com/office/drawing/2014/main" id="{F66C8C5D-D468-4CC4-8E53-E1545C4ACD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676" t="8855" r="7220" b="8464"/>
            <a:stretch>
              <a:fillRect/>
            </a:stretch>
          </p:blipFill>
          <p:spPr bwMode="auto">
            <a:xfrm>
              <a:off x="3669" y="1561"/>
              <a:ext cx="1678" cy="1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4758" name="Group 6">
              <a:extLst>
                <a:ext uri="{FF2B5EF4-FFF2-40B4-BE49-F238E27FC236}">
                  <a16:creationId xmlns:a16="http://schemas.microsoft.com/office/drawing/2014/main" id="{C2DDAC21-0064-4FBC-88AB-3A6B2906B528}"/>
                </a:ext>
              </a:extLst>
            </p:cNvPr>
            <p:cNvGrpSpPr>
              <a:grpSpLocks/>
            </p:cNvGrpSpPr>
            <p:nvPr/>
          </p:nvGrpSpPr>
          <p:grpSpPr bwMode="auto">
            <a:xfrm>
              <a:off x="385" y="1253"/>
              <a:ext cx="2721" cy="2057"/>
              <a:chOff x="385" y="1253"/>
              <a:chExt cx="2721" cy="2057"/>
            </a:xfrm>
          </p:grpSpPr>
          <p:pic>
            <p:nvPicPr>
              <p:cNvPr id="74760" name="Picture 7" descr="IMG_3936">
                <a:extLst>
                  <a:ext uri="{FF2B5EF4-FFF2-40B4-BE49-F238E27FC236}">
                    <a16:creationId xmlns:a16="http://schemas.microsoft.com/office/drawing/2014/main" id="{122AE72E-3AE1-4427-BDC6-7C4C99F626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68" t="4655" r="4286" b="7213"/>
              <a:stretch>
                <a:fillRect/>
              </a:stretch>
            </p:blipFill>
            <p:spPr bwMode="auto">
              <a:xfrm>
                <a:off x="385" y="1253"/>
                <a:ext cx="2721" cy="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1" name="Text Box 8">
                <a:extLst>
                  <a:ext uri="{FF2B5EF4-FFF2-40B4-BE49-F238E27FC236}">
                    <a16:creationId xmlns:a16="http://schemas.microsoft.com/office/drawing/2014/main" id="{1FED73B6-586F-466C-A3AC-1C0EF42901E2}"/>
                  </a:ext>
                </a:extLst>
              </p:cNvPr>
              <p:cNvSpPr txBox="1">
                <a:spLocks noChangeArrowheads="1"/>
              </p:cNvSpPr>
              <p:nvPr/>
            </p:nvSpPr>
            <p:spPr bwMode="auto">
              <a:xfrm>
                <a:off x="431" y="2976"/>
                <a:ext cx="2630"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50000"/>
                  </a:spcBef>
                  <a:buFontTx/>
                  <a:buNone/>
                </a:pPr>
                <a:r>
                  <a:rPr kumimoji="0" lang="en-US" altLang="zh-CN" sz="2400">
                    <a:solidFill>
                      <a:srgbClr val="FF0000"/>
                    </a:solidFill>
                    <a:ea typeface="楷体_GB2312" pitchFamily="49" charset="-122"/>
                  </a:rPr>
                  <a:t>1—</a:t>
                </a:r>
                <a:r>
                  <a:rPr kumimoji="0" lang="zh-CN" altLang="en-US" sz="2400">
                    <a:solidFill>
                      <a:srgbClr val="FF0000"/>
                    </a:solidFill>
                    <a:ea typeface="楷体_GB2312" pitchFamily="49" charset="-122"/>
                  </a:rPr>
                  <a:t>光纤      </a:t>
                </a:r>
                <a:r>
                  <a:rPr kumimoji="0" lang="en-US" altLang="zh-CN" sz="2400">
                    <a:solidFill>
                      <a:srgbClr val="FF0000"/>
                    </a:solidFill>
                    <a:ea typeface="楷体_GB2312" pitchFamily="49" charset="-122"/>
                  </a:rPr>
                  <a:t>2—</a:t>
                </a:r>
                <a:r>
                  <a:rPr kumimoji="0" lang="zh-CN" altLang="en-US" sz="2400">
                    <a:solidFill>
                      <a:srgbClr val="FF0000"/>
                    </a:solidFill>
                    <a:ea typeface="楷体_GB2312" pitchFamily="49" charset="-122"/>
                  </a:rPr>
                  <a:t>耦合器</a:t>
                </a:r>
              </a:p>
            </p:txBody>
          </p:sp>
        </p:grpSp>
        <p:sp>
          <p:nvSpPr>
            <p:cNvPr id="74759" name="Text Box 9">
              <a:extLst>
                <a:ext uri="{FF2B5EF4-FFF2-40B4-BE49-F238E27FC236}">
                  <a16:creationId xmlns:a16="http://schemas.microsoft.com/office/drawing/2014/main" id="{A9EF39ED-904E-477E-839B-ADC510D8AB4F}"/>
                </a:ext>
              </a:extLst>
            </p:cNvPr>
            <p:cNvSpPr txBox="1">
              <a:spLocks noChangeArrowheads="1"/>
            </p:cNvSpPr>
            <p:nvPr/>
          </p:nvSpPr>
          <p:spPr bwMode="auto">
            <a:xfrm>
              <a:off x="3433" y="2740"/>
              <a:ext cx="2087" cy="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50000"/>
                </a:spcBef>
                <a:buFontTx/>
                <a:buNone/>
              </a:pPr>
              <a:r>
                <a:rPr kumimoji="0" lang="zh-CN" altLang="en-US" sz="2400">
                  <a:solidFill>
                    <a:srgbClr val="FF0000"/>
                  </a:solidFill>
                  <a:ea typeface="楷体_GB2312" pitchFamily="49" charset="-122"/>
                </a:rPr>
                <a:t>改进的单光纤液位探头结构</a:t>
              </a:r>
            </a:p>
          </p:txBody>
        </p:sp>
      </p:gr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a:extLst>
              <a:ext uri="{FF2B5EF4-FFF2-40B4-BE49-F238E27FC236}">
                <a16:creationId xmlns:a16="http://schemas.microsoft.com/office/drawing/2014/main" id="{FFCB0372-9F10-4C9F-ACEB-F2494F695B2B}"/>
              </a:ext>
            </a:extLst>
          </p:cNvPr>
          <p:cNvSpPr txBox="1">
            <a:spLocks noChangeArrowheads="1"/>
          </p:cNvSpPr>
          <p:nvPr/>
        </p:nvSpPr>
        <p:spPr bwMode="auto">
          <a:xfrm>
            <a:off x="338138" y="257175"/>
            <a:ext cx="572928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ea typeface="楷体_GB2312" pitchFamily="49" charset="-122"/>
              </a:rPr>
              <a:t>（</a:t>
            </a:r>
            <a:r>
              <a:rPr kumimoji="0" lang="en-US" altLang="zh-CN" sz="2400">
                <a:ea typeface="楷体_GB2312" pitchFamily="49" charset="-122"/>
              </a:rPr>
              <a:t>2</a:t>
            </a:r>
            <a:r>
              <a:rPr kumimoji="0" lang="zh-CN" altLang="en-US" sz="2400">
                <a:ea typeface="楷体_GB2312" pitchFamily="49" charset="-122"/>
              </a:rPr>
              <a:t>） 流量、流速的检测</a:t>
            </a:r>
          </a:p>
        </p:txBody>
      </p:sp>
      <p:sp>
        <p:nvSpPr>
          <p:cNvPr id="75779" name="Text Box 3">
            <a:extLst>
              <a:ext uri="{FF2B5EF4-FFF2-40B4-BE49-F238E27FC236}">
                <a16:creationId xmlns:a16="http://schemas.microsoft.com/office/drawing/2014/main" id="{D4015C9A-CFC0-4775-AE95-9D937899BF33}"/>
              </a:ext>
            </a:extLst>
          </p:cNvPr>
          <p:cNvSpPr txBox="1">
            <a:spLocks noChangeArrowheads="1"/>
          </p:cNvSpPr>
          <p:nvPr/>
        </p:nvSpPr>
        <p:spPr bwMode="auto">
          <a:xfrm>
            <a:off x="755650" y="836613"/>
            <a:ext cx="4824413"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solidFill>
                  <a:schemeClr val="accent2"/>
                </a:solidFill>
                <a:ea typeface="楷体_GB2312" pitchFamily="49" charset="-122"/>
              </a:rPr>
              <a:t>＊光纤涡街流量计</a:t>
            </a:r>
          </a:p>
        </p:txBody>
      </p:sp>
      <p:sp>
        <p:nvSpPr>
          <p:cNvPr id="75780" name="Text Box 4">
            <a:extLst>
              <a:ext uri="{FF2B5EF4-FFF2-40B4-BE49-F238E27FC236}">
                <a16:creationId xmlns:a16="http://schemas.microsoft.com/office/drawing/2014/main" id="{04DA9D67-D708-4DD7-A18E-C058E603E7DB}"/>
              </a:ext>
            </a:extLst>
          </p:cNvPr>
          <p:cNvSpPr txBox="1">
            <a:spLocks noChangeArrowheads="1"/>
          </p:cNvSpPr>
          <p:nvPr/>
        </p:nvSpPr>
        <p:spPr bwMode="auto">
          <a:xfrm>
            <a:off x="684213" y="1412875"/>
            <a:ext cx="7920037"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t" hangingPunct="1">
              <a:lnSpc>
                <a:spcPct val="130000"/>
              </a:lnSpc>
              <a:spcBef>
                <a:spcPct val="10000"/>
              </a:spcBef>
              <a:buClr>
                <a:srgbClr val="FFFF00"/>
              </a:buClr>
              <a:buSzPct val="80000"/>
              <a:buFont typeface="Wingdings" panose="05000000000000000000" pitchFamily="2" charset="2"/>
              <a:buNone/>
            </a:pPr>
            <a:r>
              <a:rPr kumimoji="0" lang="en-US" altLang="zh-CN" sz="2400">
                <a:ea typeface="楷体_GB2312" pitchFamily="49" charset="-122"/>
              </a:rPr>
              <a:t>       </a:t>
            </a:r>
            <a:r>
              <a:rPr kumimoji="0" lang="zh-CN" altLang="en-US" sz="2400">
                <a:ea typeface="楷体_GB2312" pitchFamily="49" charset="-122"/>
              </a:rPr>
              <a:t>当一个非流线体置于流体中时，流体流动时，某些条件下会在非流线体的后方产生有规律的漩涡，这种漩涡会在该非流线体的两边交替地离开。每个漩涡产生并离开时会在物体上产生一侧向力。于是物体在该力的作用下发生振动，振动频率近似与流速成正比即</a:t>
            </a:r>
          </a:p>
        </p:txBody>
      </p:sp>
      <p:graphicFrame>
        <p:nvGraphicFramePr>
          <p:cNvPr id="75781" name="Object 5">
            <a:extLst>
              <a:ext uri="{FF2B5EF4-FFF2-40B4-BE49-F238E27FC236}">
                <a16:creationId xmlns:a16="http://schemas.microsoft.com/office/drawing/2014/main" id="{35A948C3-AD21-4025-B761-C53B5BB22CA7}"/>
              </a:ext>
            </a:extLst>
          </p:cNvPr>
          <p:cNvGraphicFramePr>
            <a:graphicFrameLocks noChangeAspect="1"/>
          </p:cNvGraphicFramePr>
          <p:nvPr/>
        </p:nvGraphicFramePr>
        <p:xfrm>
          <a:off x="3779838" y="3933825"/>
          <a:ext cx="1079500" cy="903288"/>
        </p:xfrm>
        <a:graphic>
          <a:graphicData uri="http://schemas.openxmlformats.org/presentationml/2006/ole">
            <mc:AlternateContent xmlns:mc="http://schemas.openxmlformats.org/markup-compatibility/2006">
              <mc:Choice xmlns:v="urn:schemas-microsoft-com:vml" Requires="v">
                <p:oleObj spid="_x0000_s75799" name="Equation" r:id="rId3" imgW="469696" imgH="393529" progId="Equation.DSMT4">
                  <p:embed/>
                </p:oleObj>
              </mc:Choice>
              <mc:Fallback>
                <p:oleObj name="Equation" r:id="rId3" imgW="469696" imgH="39352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838" y="3933825"/>
                        <a:ext cx="1079500" cy="903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82" name="Text Box 6">
            <a:extLst>
              <a:ext uri="{FF2B5EF4-FFF2-40B4-BE49-F238E27FC236}">
                <a16:creationId xmlns:a16="http://schemas.microsoft.com/office/drawing/2014/main" id="{58716E3D-8D1E-4782-9D0F-46E9FFE20814}"/>
              </a:ext>
            </a:extLst>
          </p:cNvPr>
          <p:cNvSpPr txBox="1">
            <a:spLocks noChangeArrowheads="1"/>
          </p:cNvSpPr>
          <p:nvPr/>
        </p:nvSpPr>
        <p:spPr bwMode="auto">
          <a:xfrm>
            <a:off x="684213" y="4652963"/>
            <a:ext cx="7704137"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ea typeface="楷体_GB2312" pitchFamily="49" charset="-122"/>
              </a:rPr>
              <a:t>式中    </a:t>
            </a:r>
            <a:r>
              <a:rPr kumimoji="0" lang="en-US" altLang="zh-CN" sz="2400">
                <a:ea typeface="楷体_GB2312" pitchFamily="49" charset="-122"/>
              </a:rPr>
              <a:t>v——</a:t>
            </a:r>
            <a:r>
              <a:rPr kumimoji="0" lang="zh-CN" altLang="en-US" sz="2400">
                <a:ea typeface="楷体_GB2312" pitchFamily="49" charset="-122"/>
              </a:rPr>
              <a:t>流体的流速；</a:t>
            </a:r>
          </a:p>
          <a:p>
            <a:pPr eaLnBrk="1" hangingPunct="1">
              <a:lnSpc>
                <a:spcPct val="120000"/>
              </a:lnSpc>
              <a:spcBef>
                <a:spcPct val="50000"/>
              </a:spcBef>
              <a:buFontTx/>
              <a:buNone/>
            </a:pPr>
            <a:r>
              <a:rPr kumimoji="0" lang="zh-CN" altLang="en-US" sz="2400">
                <a:ea typeface="楷体_GB2312" pitchFamily="49" charset="-122"/>
              </a:rPr>
              <a:t>	</a:t>
            </a:r>
            <a:r>
              <a:rPr kumimoji="0" lang="en-US" altLang="zh-CN" sz="2400">
                <a:ea typeface="楷体_GB2312" pitchFamily="49" charset="-122"/>
              </a:rPr>
              <a:t>d——</a:t>
            </a:r>
            <a:r>
              <a:rPr kumimoji="0" lang="zh-CN" altLang="en-US" sz="2400">
                <a:ea typeface="楷体_GB2312" pitchFamily="49" charset="-122"/>
              </a:rPr>
              <a:t>物体相对于液流方向的横向尺寸；</a:t>
            </a:r>
          </a:p>
          <a:p>
            <a:pPr eaLnBrk="1" hangingPunct="1">
              <a:lnSpc>
                <a:spcPct val="120000"/>
              </a:lnSpc>
              <a:spcBef>
                <a:spcPct val="50000"/>
              </a:spcBef>
              <a:buFontTx/>
              <a:buNone/>
            </a:pPr>
            <a:r>
              <a:rPr kumimoji="0" lang="zh-CN" altLang="en-US" sz="2400">
                <a:ea typeface="楷体_GB2312" pitchFamily="49" charset="-122"/>
              </a:rPr>
              <a:t>	</a:t>
            </a:r>
            <a:r>
              <a:rPr kumimoji="0" lang="en-US" altLang="zh-CN" sz="2400">
                <a:ea typeface="楷体_GB2312" pitchFamily="49" charset="-122"/>
              </a:rPr>
              <a:t>s——</a:t>
            </a:r>
            <a:r>
              <a:rPr kumimoji="0" lang="zh-CN" altLang="en-US" sz="2400">
                <a:ea typeface="楷体_GB2312" pitchFamily="49" charset="-122"/>
              </a:rPr>
              <a:t>与流体有关的无量纲常数。</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a:extLst>
              <a:ext uri="{FF2B5EF4-FFF2-40B4-BE49-F238E27FC236}">
                <a16:creationId xmlns:a16="http://schemas.microsoft.com/office/drawing/2014/main" id="{7467B6C4-0C45-467D-818A-3367D7CF0BFC}"/>
              </a:ext>
            </a:extLst>
          </p:cNvPr>
          <p:cNvSpPr txBox="1">
            <a:spLocks noChangeArrowheads="1"/>
          </p:cNvSpPr>
          <p:nvPr/>
        </p:nvSpPr>
        <p:spPr bwMode="auto">
          <a:xfrm>
            <a:off x="468313" y="404813"/>
            <a:ext cx="8424862"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t" hangingPunct="1">
              <a:lnSpc>
                <a:spcPct val="130000"/>
              </a:lnSpc>
              <a:spcBef>
                <a:spcPct val="10000"/>
              </a:spcBef>
              <a:buClr>
                <a:srgbClr val="FFFF00"/>
              </a:buClr>
              <a:buSzPct val="80000"/>
              <a:buFont typeface="Wingdings" panose="05000000000000000000" pitchFamily="2" charset="2"/>
              <a:buNone/>
            </a:pPr>
            <a:r>
              <a:rPr kumimoji="0" lang="en-US" altLang="zh-CN" sz="2400">
                <a:ea typeface="楷体_GB2312" pitchFamily="49" charset="-122"/>
              </a:rPr>
              <a:t>       </a:t>
            </a:r>
            <a:r>
              <a:rPr kumimoji="0" lang="zh-CN" altLang="en-US" sz="2400">
                <a:ea typeface="楷体_GB2312" pitchFamily="49" charset="-122"/>
              </a:rPr>
              <a:t>光纤涡街流量计的结构参见下图。</a:t>
            </a:r>
          </a:p>
        </p:txBody>
      </p:sp>
      <p:grpSp>
        <p:nvGrpSpPr>
          <p:cNvPr id="76803" name="Group 3">
            <a:extLst>
              <a:ext uri="{FF2B5EF4-FFF2-40B4-BE49-F238E27FC236}">
                <a16:creationId xmlns:a16="http://schemas.microsoft.com/office/drawing/2014/main" id="{0A7185F9-F058-4F2B-8B1B-858B52986237}"/>
              </a:ext>
            </a:extLst>
          </p:cNvPr>
          <p:cNvGrpSpPr>
            <a:grpSpLocks/>
          </p:cNvGrpSpPr>
          <p:nvPr/>
        </p:nvGrpSpPr>
        <p:grpSpPr bwMode="auto">
          <a:xfrm>
            <a:off x="684213" y="1412875"/>
            <a:ext cx="7921625" cy="4741863"/>
            <a:chOff x="385" y="709"/>
            <a:chExt cx="4990" cy="2987"/>
          </a:xfrm>
        </p:grpSpPr>
        <p:pic>
          <p:nvPicPr>
            <p:cNvPr id="76804" name="Picture 4" descr="IMG_3938">
              <a:extLst>
                <a:ext uri="{FF2B5EF4-FFF2-40B4-BE49-F238E27FC236}">
                  <a16:creationId xmlns:a16="http://schemas.microsoft.com/office/drawing/2014/main" id="{D2A72B46-64EE-483A-A7AD-893FE055CA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7" y="709"/>
              <a:ext cx="1919" cy="2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5" name="Text Box 5">
              <a:extLst>
                <a:ext uri="{FF2B5EF4-FFF2-40B4-BE49-F238E27FC236}">
                  <a16:creationId xmlns:a16="http://schemas.microsoft.com/office/drawing/2014/main" id="{6E3F4E7A-5388-4657-91A1-FF94DBE5EEA7}"/>
                </a:ext>
              </a:extLst>
            </p:cNvPr>
            <p:cNvSpPr txBox="1">
              <a:spLocks noChangeArrowheads="1"/>
            </p:cNvSpPr>
            <p:nvPr/>
          </p:nvSpPr>
          <p:spPr bwMode="auto">
            <a:xfrm>
              <a:off x="385" y="3385"/>
              <a:ext cx="499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50000"/>
                </a:spcBef>
                <a:buFontTx/>
                <a:buNone/>
              </a:pPr>
              <a:r>
                <a:rPr kumimoji="0" lang="en-US" altLang="zh-CN" sz="2200">
                  <a:ea typeface="楷体_GB2312" pitchFamily="49" charset="-122"/>
                </a:rPr>
                <a:t>1—</a:t>
              </a:r>
              <a:r>
                <a:rPr kumimoji="0" lang="zh-CN" altLang="en-US" sz="2200">
                  <a:ea typeface="楷体_GB2312" pitchFamily="49" charset="-122"/>
                </a:rPr>
                <a:t>夹具  </a:t>
              </a:r>
              <a:r>
                <a:rPr kumimoji="0" lang="en-US" altLang="zh-CN" sz="2200">
                  <a:ea typeface="楷体_GB2312" pitchFamily="49" charset="-122"/>
                </a:rPr>
                <a:t>2—</a:t>
              </a:r>
              <a:r>
                <a:rPr kumimoji="0" lang="zh-CN" altLang="en-US" sz="2200">
                  <a:ea typeface="楷体_GB2312" pitchFamily="49" charset="-122"/>
                </a:rPr>
                <a:t>密封胶  </a:t>
              </a:r>
              <a:r>
                <a:rPr kumimoji="0" lang="en-US" altLang="zh-CN" sz="2200">
                  <a:ea typeface="楷体_GB2312" pitchFamily="49" charset="-122"/>
                </a:rPr>
                <a:t>3—</a:t>
              </a:r>
              <a:r>
                <a:rPr kumimoji="0" lang="zh-CN" altLang="en-US" sz="2200">
                  <a:ea typeface="楷体_GB2312" pitchFamily="49" charset="-122"/>
                </a:rPr>
                <a:t>流体管道  </a:t>
              </a:r>
              <a:r>
                <a:rPr kumimoji="0" lang="en-US" altLang="zh-CN" sz="2200">
                  <a:ea typeface="楷体_GB2312" pitchFamily="49" charset="-122"/>
                </a:rPr>
                <a:t>4—</a:t>
              </a:r>
              <a:r>
                <a:rPr kumimoji="0" lang="zh-CN" altLang="en-US" sz="2200">
                  <a:ea typeface="楷体_GB2312" pitchFamily="49" charset="-122"/>
                </a:rPr>
                <a:t>光纤  </a:t>
              </a:r>
              <a:r>
                <a:rPr kumimoji="0" lang="en-US" altLang="zh-CN" sz="2200">
                  <a:ea typeface="楷体_GB2312" pitchFamily="49" charset="-122"/>
                </a:rPr>
                <a:t>5—</a:t>
              </a:r>
              <a:r>
                <a:rPr kumimoji="0" lang="zh-CN" altLang="en-US" sz="2200">
                  <a:ea typeface="楷体_GB2312" pitchFamily="49" charset="-122"/>
                </a:rPr>
                <a:t>张力载荷</a:t>
              </a:r>
            </a:p>
          </p:txBody>
        </p:sp>
      </p:gr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a:extLst>
              <a:ext uri="{FF2B5EF4-FFF2-40B4-BE49-F238E27FC236}">
                <a16:creationId xmlns:a16="http://schemas.microsoft.com/office/drawing/2014/main" id="{D6E6B16F-C2D3-48A2-A22D-308D39682BDB}"/>
              </a:ext>
            </a:extLst>
          </p:cNvPr>
          <p:cNvSpPr txBox="1">
            <a:spLocks noChangeArrowheads="1"/>
          </p:cNvSpPr>
          <p:nvPr/>
        </p:nvSpPr>
        <p:spPr bwMode="auto">
          <a:xfrm>
            <a:off x="393700" y="328613"/>
            <a:ext cx="4824413"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solidFill>
                  <a:schemeClr val="accent2"/>
                </a:solidFill>
                <a:ea typeface="楷体_GB2312" pitchFamily="49" charset="-122"/>
              </a:rPr>
              <a:t>＊光纤多普勒流速计</a:t>
            </a:r>
          </a:p>
        </p:txBody>
      </p:sp>
      <p:sp>
        <p:nvSpPr>
          <p:cNvPr id="77827" name="Text Box 3">
            <a:extLst>
              <a:ext uri="{FF2B5EF4-FFF2-40B4-BE49-F238E27FC236}">
                <a16:creationId xmlns:a16="http://schemas.microsoft.com/office/drawing/2014/main" id="{666F1781-512F-485B-8FA5-ED8A15E395CA}"/>
              </a:ext>
            </a:extLst>
          </p:cNvPr>
          <p:cNvSpPr txBox="1">
            <a:spLocks noChangeArrowheads="1"/>
          </p:cNvSpPr>
          <p:nvPr/>
        </p:nvSpPr>
        <p:spPr bwMode="auto">
          <a:xfrm>
            <a:off x="395288" y="908050"/>
            <a:ext cx="8748712"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FontTx/>
              <a:buNone/>
            </a:pPr>
            <a:r>
              <a:rPr lang="en-US" altLang="zh-CN" sz="2400">
                <a:ea typeface="楷体_GB2312" pitchFamily="49" charset="-122"/>
              </a:rPr>
              <a:t>       </a:t>
            </a:r>
            <a:r>
              <a:rPr lang="zh-CN" altLang="en-US" sz="2400">
                <a:ea typeface="楷体_GB2312" pitchFamily="49" charset="-122"/>
              </a:rPr>
              <a:t>下图为利用光纤多普勒计来测量流体流速的原理。当待测流体为气体时，散射光将非常微弱，此时可采用大功率的</a:t>
            </a:r>
            <a:r>
              <a:rPr lang="en-US" altLang="zh-CN" sz="2400">
                <a:ea typeface="楷体_GB2312" pitchFamily="49" charset="-122"/>
              </a:rPr>
              <a:t>Ar</a:t>
            </a:r>
            <a:r>
              <a:rPr lang="zh-CN" altLang="en-US" sz="2400">
                <a:ea typeface="楷体_GB2312" pitchFamily="49" charset="-122"/>
              </a:rPr>
              <a:t>激光器（出射光功率为</a:t>
            </a:r>
            <a:r>
              <a:rPr lang="en-US" altLang="zh-CN" sz="2400">
                <a:ea typeface="楷体_GB2312" pitchFamily="49" charset="-122"/>
              </a:rPr>
              <a:t>2W</a:t>
            </a:r>
            <a:r>
              <a:rPr lang="zh-CN" altLang="en-US" sz="2400">
                <a:ea typeface="楷体_GB2312" pitchFamily="49" charset="-122"/>
              </a:rPr>
              <a:t>，</a:t>
            </a:r>
            <a:r>
              <a:rPr lang="en-US" altLang="zh-CN" sz="2400">
                <a:ea typeface="楷体_GB2312" pitchFamily="49" charset="-122"/>
              </a:rPr>
              <a:t>λ=514.5nm</a:t>
            </a:r>
            <a:r>
              <a:rPr lang="zh-CN" altLang="en-US" sz="2400">
                <a:ea typeface="楷体_GB2312" pitchFamily="49" charset="-122"/>
              </a:rPr>
              <a:t>）以提高信噪比。</a:t>
            </a:r>
          </a:p>
          <a:p>
            <a:pPr eaLnBrk="1" hangingPunct="1">
              <a:lnSpc>
                <a:spcPct val="130000"/>
              </a:lnSpc>
              <a:spcBef>
                <a:spcPct val="0"/>
              </a:spcBef>
              <a:buFontTx/>
              <a:buNone/>
            </a:pPr>
            <a:r>
              <a:rPr lang="zh-CN" altLang="en-US" sz="2400">
                <a:ea typeface="楷体_GB2312" pitchFamily="49" charset="-122"/>
              </a:rPr>
              <a:t>        特点：非接触测量，不影响待测物体的流动状态。</a:t>
            </a:r>
          </a:p>
        </p:txBody>
      </p:sp>
      <p:grpSp>
        <p:nvGrpSpPr>
          <p:cNvPr id="77828" name="Group 4">
            <a:extLst>
              <a:ext uri="{FF2B5EF4-FFF2-40B4-BE49-F238E27FC236}">
                <a16:creationId xmlns:a16="http://schemas.microsoft.com/office/drawing/2014/main" id="{BACB8121-6AB1-4D55-B760-DF2A45A443B4}"/>
              </a:ext>
            </a:extLst>
          </p:cNvPr>
          <p:cNvGrpSpPr>
            <a:grpSpLocks/>
          </p:cNvGrpSpPr>
          <p:nvPr/>
        </p:nvGrpSpPr>
        <p:grpSpPr bwMode="auto">
          <a:xfrm>
            <a:off x="971550" y="3233738"/>
            <a:ext cx="7907338" cy="3624262"/>
            <a:chOff x="612" y="1525"/>
            <a:chExt cx="4981" cy="2283"/>
          </a:xfrm>
        </p:grpSpPr>
        <p:grpSp>
          <p:nvGrpSpPr>
            <p:cNvPr id="77829" name="Group 5">
              <a:extLst>
                <a:ext uri="{FF2B5EF4-FFF2-40B4-BE49-F238E27FC236}">
                  <a16:creationId xmlns:a16="http://schemas.microsoft.com/office/drawing/2014/main" id="{02E792F3-2597-4601-8579-B7152F5B91F9}"/>
                </a:ext>
              </a:extLst>
            </p:cNvPr>
            <p:cNvGrpSpPr>
              <a:grpSpLocks/>
            </p:cNvGrpSpPr>
            <p:nvPr/>
          </p:nvGrpSpPr>
          <p:grpSpPr bwMode="auto">
            <a:xfrm>
              <a:off x="612" y="1525"/>
              <a:ext cx="2976" cy="2283"/>
              <a:chOff x="748" y="1824"/>
              <a:chExt cx="2976" cy="2283"/>
            </a:xfrm>
          </p:grpSpPr>
          <p:sp>
            <p:nvSpPr>
              <p:cNvPr id="77831" name="Text Box 48">
                <a:extLst>
                  <a:ext uri="{FF2B5EF4-FFF2-40B4-BE49-F238E27FC236}">
                    <a16:creationId xmlns:a16="http://schemas.microsoft.com/office/drawing/2014/main" id="{4387AEA7-C40F-439A-856F-7A8A7191A94C}"/>
                  </a:ext>
                </a:extLst>
              </p:cNvPr>
              <p:cNvSpPr txBox="1">
                <a:spLocks noChangeArrowheads="1"/>
              </p:cNvSpPr>
              <p:nvPr/>
            </p:nvSpPr>
            <p:spPr bwMode="auto">
              <a:xfrm>
                <a:off x="1422" y="3830"/>
                <a:ext cx="1815"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zh-CN" altLang="en-US" sz="2000"/>
                  <a:t>光纤多谱勒流量计结构</a:t>
                </a:r>
              </a:p>
            </p:txBody>
          </p:sp>
          <p:grpSp>
            <p:nvGrpSpPr>
              <p:cNvPr id="77832" name="Group 50">
                <a:extLst>
                  <a:ext uri="{FF2B5EF4-FFF2-40B4-BE49-F238E27FC236}">
                    <a16:creationId xmlns:a16="http://schemas.microsoft.com/office/drawing/2014/main" id="{7A11A1AB-28E1-4AFB-9E8E-9DD31C518FE8}"/>
                  </a:ext>
                </a:extLst>
              </p:cNvPr>
              <p:cNvGrpSpPr>
                <a:grpSpLocks/>
              </p:cNvGrpSpPr>
              <p:nvPr/>
            </p:nvGrpSpPr>
            <p:grpSpPr bwMode="auto">
              <a:xfrm>
                <a:off x="2987" y="1824"/>
                <a:ext cx="506" cy="995"/>
                <a:chOff x="8897" y="1773"/>
                <a:chExt cx="624" cy="1717"/>
              </a:xfrm>
            </p:grpSpPr>
            <p:sp>
              <p:nvSpPr>
                <p:cNvPr id="77896" name="Line 51">
                  <a:extLst>
                    <a:ext uri="{FF2B5EF4-FFF2-40B4-BE49-F238E27FC236}">
                      <a16:creationId xmlns:a16="http://schemas.microsoft.com/office/drawing/2014/main" id="{8A88A9E2-1F87-4DA0-8F06-A028328E0CD7}"/>
                    </a:ext>
                  </a:extLst>
                </p:cNvPr>
                <p:cNvSpPr>
                  <a:spLocks noChangeShapeType="1"/>
                </p:cNvSpPr>
                <p:nvPr/>
              </p:nvSpPr>
              <p:spPr bwMode="auto">
                <a:xfrm>
                  <a:off x="8897" y="1809"/>
                  <a:ext cx="0" cy="163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7" name="Line 52">
                  <a:extLst>
                    <a:ext uri="{FF2B5EF4-FFF2-40B4-BE49-F238E27FC236}">
                      <a16:creationId xmlns:a16="http://schemas.microsoft.com/office/drawing/2014/main" id="{CA001A49-0A30-40CE-A827-3113236AC157}"/>
                    </a:ext>
                  </a:extLst>
                </p:cNvPr>
                <p:cNvSpPr>
                  <a:spLocks noChangeShapeType="1"/>
                </p:cNvSpPr>
                <p:nvPr/>
              </p:nvSpPr>
              <p:spPr bwMode="auto">
                <a:xfrm>
                  <a:off x="8957" y="1809"/>
                  <a:ext cx="0" cy="163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7898" name="Group 53">
                  <a:extLst>
                    <a:ext uri="{FF2B5EF4-FFF2-40B4-BE49-F238E27FC236}">
                      <a16:creationId xmlns:a16="http://schemas.microsoft.com/office/drawing/2014/main" id="{829C04D8-E51D-4F27-9174-DCBB79492239}"/>
                    </a:ext>
                  </a:extLst>
                </p:cNvPr>
                <p:cNvGrpSpPr>
                  <a:grpSpLocks/>
                </p:cNvGrpSpPr>
                <p:nvPr/>
              </p:nvGrpSpPr>
              <p:grpSpPr bwMode="auto">
                <a:xfrm>
                  <a:off x="9430" y="1785"/>
                  <a:ext cx="72" cy="1705"/>
                  <a:chOff x="9430" y="1785"/>
                  <a:chExt cx="72" cy="1705"/>
                </a:xfrm>
              </p:grpSpPr>
              <p:sp>
                <p:nvSpPr>
                  <p:cNvPr id="77932" name="Line 54">
                    <a:extLst>
                      <a:ext uri="{FF2B5EF4-FFF2-40B4-BE49-F238E27FC236}">
                        <a16:creationId xmlns:a16="http://schemas.microsoft.com/office/drawing/2014/main" id="{F51803A9-AA7B-4C41-977F-03646DEE5560}"/>
                      </a:ext>
                    </a:extLst>
                  </p:cNvPr>
                  <p:cNvSpPr>
                    <a:spLocks noChangeShapeType="1"/>
                  </p:cNvSpPr>
                  <p:nvPr/>
                </p:nvSpPr>
                <p:spPr bwMode="auto">
                  <a:xfrm>
                    <a:off x="9430" y="1797"/>
                    <a:ext cx="0" cy="16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33" name="Line 55">
                    <a:extLst>
                      <a:ext uri="{FF2B5EF4-FFF2-40B4-BE49-F238E27FC236}">
                        <a16:creationId xmlns:a16="http://schemas.microsoft.com/office/drawing/2014/main" id="{01F814E2-96CC-43BF-B826-E0B9EFB07DBB}"/>
                      </a:ext>
                    </a:extLst>
                  </p:cNvPr>
                  <p:cNvSpPr>
                    <a:spLocks noChangeShapeType="1"/>
                  </p:cNvSpPr>
                  <p:nvPr/>
                </p:nvSpPr>
                <p:spPr bwMode="auto">
                  <a:xfrm>
                    <a:off x="9502" y="1785"/>
                    <a:ext cx="0" cy="16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899" name="Freeform 56">
                  <a:extLst>
                    <a:ext uri="{FF2B5EF4-FFF2-40B4-BE49-F238E27FC236}">
                      <a16:creationId xmlns:a16="http://schemas.microsoft.com/office/drawing/2014/main" id="{299FBEF3-9ED9-45D2-BFA5-49FB10A4973C}"/>
                    </a:ext>
                  </a:extLst>
                </p:cNvPr>
                <p:cNvSpPr>
                  <a:spLocks/>
                </p:cNvSpPr>
                <p:nvPr/>
              </p:nvSpPr>
              <p:spPr bwMode="auto">
                <a:xfrm>
                  <a:off x="8897" y="1773"/>
                  <a:ext cx="618" cy="95"/>
                </a:xfrm>
                <a:custGeom>
                  <a:avLst/>
                  <a:gdLst>
                    <a:gd name="T0" fmla="*/ 0 w 477"/>
                    <a:gd name="T1" fmla="*/ 23 h 95"/>
                    <a:gd name="T2" fmla="*/ 6591 w 477"/>
                    <a:gd name="T3" fmla="*/ 23 h 95"/>
                    <a:gd name="T4" fmla="*/ 16427 w 477"/>
                    <a:gd name="T5" fmla="*/ 91 h 95"/>
                    <a:gd name="T6" fmla="*/ 30084 w 477"/>
                    <a:gd name="T7" fmla="*/ 0 h 95"/>
                    <a:gd name="T8" fmla="*/ 0 60000 65536"/>
                    <a:gd name="T9" fmla="*/ 0 60000 65536"/>
                    <a:gd name="T10" fmla="*/ 0 60000 65536"/>
                    <a:gd name="T11" fmla="*/ 0 60000 65536"/>
                    <a:gd name="T12" fmla="*/ 0 w 477"/>
                    <a:gd name="T13" fmla="*/ 0 h 95"/>
                    <a:gd name="T14" fmla="*/ 477 w 477"/>
                    <a:gd name="T15" fmla="*/ 95 h 95"/>
                  </a:gdLst>
                  <a:ahLst/>
                  <a:cxnLst>
                    <a:cxn ang="T8">
                      <a:pos x="T0" y="T1"/>
                    </a:cxn>
                    <a:cxn ang="T9">
                      <a:pos x="T2" y="T3"/>
                    </a:cxn>
                    <a:cxn ang="T10">
                      <a:pos x="T4" y="T5"/>
                    </a:cxn>
                    <a:cxn ang="T11">
                      <a:pos x="T6" y="T7"/>
                    </a:cxn>
                  </a:cxnLst>
                  <a:rect l="T12" t="T13" r="T14" b="T15"/>
                  <a:pathLst>
                    <a:path w="477" h="95">
                      <a:moveTo>
                        <a:pt x="0" y="23"/>
                      </a:moveTo>
                      <a:cubicBezTo>
                        <a:pt x="31" y="17"/>
                        <a:pt x="62" y="12"/>
                        <a:pt x="105" y="23"/>
                      </a:cubicBezTo>
                      <a:cubicBezTo>
                        <a:pt x="148" y="34"/>
                        <a:pt x="199" y="95"/>
                        <a:pt x="261" y="91"/>
                      </a:cubicBezTo>
                      <a:cubicBezTo>
                        <a:pt x="323" y="87"/>
                        <a:pt x="400" y="43"/>
                        <a:pt x="477" y="0"/>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900" name="Freeform 57">
                  <a:extLst>
                    <a:ext uri="{FF2B5EF4-FFF2-40B4-BE49-F238E27FC236}">
                      <a16:creationId xmlns:a16="http://schemas.microsoft.com/office/drawing/2014/main" id="{701AB550-C50D-4BD4-981D-FA3BA9B3AA28}"/>
                    </a:ext>
                  </a:extLst>
                </p:cNvPr>
                <p:cNvSpPr>
                  <a:spLocks/>
                </p:cNvSpPr>
                <p:nvPr/>
              </p:nvSpPr>
              <p:spPr bwMode="auto">
                <a:xfrm>
                  <a:off x="8897" y="3420"/>
                  <a:ext cx="624" cy="70"/>
                </a:xfrm>
                <a:custGeom>
                  <a:avLst/>
                  <a:gdLst>
                    <a:gd name="T0" fmla="*/ 0 w 509"/>
                    <a:gd name="T1" fmla="*/ 0 h 70"/>
                    <a:gd name="T2" fmla="*/ 2995 w 509"/>
                    <a:gd name="T3" fmla="*/ 47 h 70"/>
                    <a:gd name="T4" fmla="*/ 8056 w 509"/>
                    <a:gd name="T5" fmla="*/ 23 h 70"/>
                    <a:gd name="T6" fmla="*/ 13258 w 509"/>
                    <a:gd name="T7" fmla="*/ 70 h 70"/>
                    <a:gd name="T8" fmla="*/ 0 60000 65536"/>
                    <a:gd name="T9" fmla="*/ 0 60000 65536"/>
                    <a:gd name="T10" fmla="*/ 0 60000 65536"/>
                    <a:gd name="T11" fmla="*/ 0 60000 65536"/>
                    <a:gd name="T12" fmla="*/ 0 w 509"/>
                    <a:gd name="T13" fmla="*/ 0 h 70"/>
                    <a:gd name="T14" fmla="*/ 509 w 509"/>
                    <a:gd name="T15" fmla="*/ 70 h 70"/>
                  </a:gdLst>
                  <a:ahLst/>
                  <a:cxnLst>
                    <a:cxn ang="T8">
                      <a:pos x="T0" y="T1"/>
                    </a:cxn>
                    <a:cxn ang="T9">
                      <a:pos x="T2" y="T3"/>
                    </a:cxn>
                    <a:cxn ang="T10">
                      <a:pos x="T4" y="T5"/>
                    </a:cxn>
                    <a:cxn ang="T11">
                      <a:pos x="T6" y="T7"/>
                    </a:cxn>
                  </a:cxnLst>
                  <a:rect l="T12" t="T13" r="T14" b="T15"/>
                  <a:pathLst>
                    <a:path w="509" h="70">
                      <a:moveTo>
                        <a:pt x="0" y="0"/>
                      </a:moveTo>
                      <a:cubicBezTo>
                        <a:pt x="31" y="21"/>
                        <a:pt x="63" y="43"/>
                        <a:pt x="115" y="47"/>
                      </a:cubicBezTo>
                      <a:cubicBezTo>
                        <a:pt x="167" y="51"/>
                        <a:pt x="243" y="19"/>
                        <a:pt x="309" y="23"/>
                      </a:cubicBezTo>
                      <a:cubicBezTo>
                        <a:pt x="375" y="27"/>
                        <a:pt x="473" y="66"/>
                        <a:pt x="509" y="70"/>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901" name="Line 58">
                  <a:extLst>
                    <a:ext uri="{FF2B5EF4-FFF2-40B4-BE49-F238E27FC236}">
                      <a16:creationId xmlns:a16="http://schemas.microsoft.com/office/drawing/2014/main" id="{642071C8-6B41-42EB-80B8-7836156B9FE8}"/>
                    </a:ext>
                  </a:extLst>
                </p:cNvPr>
                <p:cNvSpPr>
                  <a:spLocks noChangeShapeType="1"/>
                </p:cNvSpPr>
                <p:nvPr/>
              </p:nvSpPr>
              <p:spPr bwMode="auto">
                <a:xfrm flipV="1">
                  <a:off x="9430" y="1821"/>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2" name="Line 59">
                  <a:extLst>
                    <a:ext uri="{FF2B5EF4-FFF2-40B4-BE49-F238E27FC236}">
                      <a16:creationId xmlns:a16="http://schemas.microsoft.com/office/drawing/2014/main" id="{36FCE6D1-7C07-4411-968A-068C10CEBB94}"/>
                    </a:ext>
                  </a:extLst>
                </p:cNvPr>
                <p:cNvSpPr>
                  <a:spLocks noChangeShapeType="1"/>
                </p:cNvSpPr>
                <p:nvPr/>
              </p:nvSpPr>
              <p:spPr bwMode="auto">
                <a:xfrm flipV="1">
                  <a:off x="9451" y="1911"/>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3" name="Line 60">
                  <a:extLst>
                    <a:ext uri="{FF2B5EF4-FFF2-40B4-BE49-F238E27FC236}">
                      <a16:creationId xmlns:a16="http://schemas.microsoft.com/office/drawing/2014/main" id="{F4B33606-8C67-4673-ACC8-7D1706BBEA94}"/>
                    </a:ext>
                  </a:extLst>
                </p:cNvPr>
                <p:cNvSpPr>
                  <a:spLocks noChangeShapeType="1"/>
                </p:cNvSpPr>
                <p:nvPr/>
              </p:nvSpPr>
              <p:spPr bwMode="auto">
                <a:xfrm flipV="1">
                  <a:off x="9451" y="2006"/>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4" name="Line 61">
                  <a:extLst>
                    <a:ext uri="{FF2B5EF4-FFF2-40B4-BE49-F238E27FC236}">
                      <a16:creationId xmlns:a16="http://schemas.microsoft.com/office/drawing/2014/main" id="{B5D972F1-6565-4A3A-A41E-4425B097208E}"/>
                    </a:ext>
                  </a:extLst>
                </p:cNvPr>
                <p:cNvSpPr>
                  <a:spLocks noChangeShapeType="1"/>
                </p:cNvSpPr>
                <p:nvPr/>
              </p:nvSpPr>
              <p:spPr bwMode="auto">
                <a:xfrm flipV="1">
                  <a:off x="9445" y="2077"/>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5" name="Line 62">
                  <a:extLst>
                    <a:ext uri="{FF2B5EF4-FFF2-40B4-BE49-F238E27FC236}">
                      <a16:creationId xmlns:a16="http://schemas.microsoft.com/office/drawing/2014/main" id="{0FF81F68-B296-405F-9F96-94864590ADC6}"/>
                    </a:ext>
                  </a:extLst>
                </p:cNvPr>
                <p:cNvSpPr>
                  <a:spLocks noChangeShapeType="1"/>
                </p:cNvSpPr>
                <p:nvPr/>
              </p:nvSpPr>
              <p:spPr bwMode="auto">
                <a:xfrm flipV="1">
                  <a:off x="9430" y="2172"/>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6" name="Line 63">
                  <a:extLst>
                    <a:ext uri="{FF2B5EF4-FFF2-40B4-BE49-F238E27FC236}">
                      <a16:creationId xmlns:a16="http://schemas.microsoft.com/office/drawing/2014/main" id="{6219C5F4-6D83-4A65-9610-D39A981CB7A8}"/>
                    </a:ext>
                  </a:extLst>
                </p:cNvPr>
                <p:cNvSpPr>
                  <a:spLocks noChangeShapeType="1"/>
                </p:cNvSpPr>
                <p:nvPr/>
              </p:nvSpPr>
              <p:spPr bwMode="auto">
                <a:xfrm flipV="1">
                  <a:off x="9430" y="2243"/>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7" name="Line 64">
                  <a:extLst>
                    <a:ext uri="{FF2B5EF4-FFF2-40B4-BE49-F238E27FC236}">
                      <a16:creationId xmlns:a16="http://schemas.microsoft.com/office/drawing/2014/main" id="{1DFF8EEB-0D00-4F72-9AFF-96D0ED5B6D99}"/>
                    </a:ext>
                  </a:extLst>
                </p:cNvPr>
                <p:cNvSpPr>
                  <a:spLocks noChangeShapeType="1"/>
                </p:cNvSpPr>
                <p:nvPr/>
              </p:nvSpPr>
              <p:spPr bwMode="auto">
                <a:xfrm flipV="1">
                  <a:off x="9451" y="2314"/>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8" name="Line 65">
                  <a:extLst>
                    <a:ext uri="{FF2B5EF4-FFF2-40B4-BE49-F238E27FC236}">
                      <a16:creationId xmlns:a16="http://schemas.microsoft.com/office/drawing/2014/main" id="{166B1167-1CAB-4929-8CF4-422B32923A38}"/>
                    </a:ext>
                  </a:extLst>
                </p:cNvPr>
                <p:cNvSpPr>
                  <a:spLocks noChangeShapeType="1"/>
                </p:cNvSpPr>
                <p:nvPr/>
              </p:nvSpPr>
              <p:spPr bwMode="auto">
                <a:xfrm flipV="1">
                  <a:off x="9445" y="2385"/>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9" name="Line 66">
                  <a:extLst>
                    <a:ext uri="{FF2B5EF4-FFF2-40B4-BE49-F238E27FC236}">
                      <a16:creationId xmlns:a16="http://schemas.microsoft.com/office/drawing/2014/main" id="{3F2E878F-D74F-4C3D-8C61-85318A7FE7CC}"/>
                    </a:ext>
                  </a:extLst>
                </p:cNvPr>
                <p:cNvSpPr>
                  <a:spLocks noChangeShapeType="1"/>
                </p:cNvSpPr>
                <p:nvPr/>
              </p:nvSpPr>
              <p:spPr bwMode="auto">
                <a:xfrm flipV="1">
                  <a:off x="9436" y="2480"/>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0" name="Line 67">
                  <a:extLst>
                    <a:ext uri="{FF2B5EF4-FFF2-40B4-BE49-F238E27FC236}">
                      <a16:creationId xmlns:a16="http://schemas.microsoft.com/office/drawing/2014/main" id="{08A1DB4C-DF57-4489-9996-61B452EDDC33}"/>
                    </a:ext>
                  </a:extLst>
                </p:cNvPr>
                <p:cNvSpPr>
                  <a:spLocks noChangeShapeType="1"/>
                </p:cNvSpPr>
                <p:nvPr/>
              </p:nvSpPr>
              <p:spPr bwMode="auto">
                <a:xfrm flipV="1">
                  <a:off x="9445" y="2570"/>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1" name="Line 68">
                  <a:extLst>
                    <a:ext uri="{FF2B5EF4-FFF2-40B4-BE49-F238E27FC236}">
                      <a16:creationId xmlns:a16="http://schemas.microsoft.com/office/drawing/2014/main" id="{1AAE571C-7212-42AC-B96D-70FEA639A657}"/>
                    </a:ext>
                  </a:extLst>
                </p:cNvPr>
                <p:cNvSpPr>
                  <a:spLocks noChangeShapeType="1"/>
                </p:cNvSpPr>
                <p:nvPr/>
              </p:nvSpPr>
              <p:spPr bwMode="auto">
                <a:xfrm flipV="1">
                  <a:off x="9445" y="2665"/>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2" name="Line 69">
                  <a:extLst>
                    <a:ext uri="{FF2B5EF4-FFF2-40B4-BE49-F238E27FC236}">
                      <a16:creationId xmlns:a16="http://schemas.microsoft.com/office/drawing/2014/main" id="{056A0672-9D02-4CA2-87F1-AA104ACA9C04}"/>
                    </a:ext>
                  </a:extLst>
                </p:cNvPr>
                <p:cNvSpPr>
                  <a:spLocks noChangeShapeType="1"/>
                </p:cNvSpPr>
                <p:nvPr/>
              </p:nvSpPr>
              <p:spPr bwMode="auto">
                <a:xfrm flipV="1">
                  <a:off x="9451" y="2736"/>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3" name="Line 70">
                  <a:extLst>
                    <a:ext uri="{FF2B5EF4-FFF2-40B4-BE49-F238E27FC236}">
                      <a16:creationId xmlns:a16="http://schemas.microsoft.com/office/drawing/2014/main" id="{772892A7-91AE-420D-A1EB-427CB7F80E14}"/>
                    </a:ext>
                  </a:extLst>
                </p:cNvPr>
                <p:cNvSpPr>
                  <a:spLocks noChangeShapeType="1"/>
                </p:cNvSpPr>
                <p:nvPr/>
              </p:nvSpPr>
              <p:spPr bwMode="auto">
                <a:xfrm flipV="1">
                  <a:off x="9436" y="2831"/>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4" name="Line 71">
                  <a:extLst>
                    <a:ext uri="{FF2B5EF4-FFF2-40B4-BE49-F238E27FC236}">
                      <a16:creationId xmlns:a16="http://schemas.microsoft.com/office/drawing/2014/main" id="{5E928639-0FC1-40ED-A6F6-A8CB200D4F9E}"/>
                    </a:ext>
                  </a:extLst>
                </p:cNvPr>
                <p:cNvSpPr>
                  <a:spLocks noChangeShapeType="1"/>
                </p:cNvSpPr>
                <p:nvPr/>
              </p:nvSpPr>
              <p:spPr bwMode="auto">
                <a:xfrm flipV="1">
                  <a:off x="9436" y="2902"/>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5" name="Line 72">
                  <a:extLst>
                    <a:ext uri="{FF2B5EF4-FFF2-40B4-BE49-F238E27FC236}">
                      <a16:creationId xmlns:a16="http://schemas.microsoft.com/office/drawing/2014/main" id="{E44EC041-B10A-4439-8DA8-25773DC99A01}"/>
                    </a:ext>
                  </a:extLst>
                </p:cNvPr>
                <p:cNvSpPr>
                  <a:spLocks noChangeShapeType="1"/>
                </p:cNvSpPr>
                <p:nvPr/>
              </p:nvSpPr>
              <p:spPr bwMode="auto">
                <a:xfrm flipV="1">
                  <a:off x="9445" y="2973"/>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6" name="Line 73">
                  <a:extLst>
                    <a:ext uri="{FF2B5EF4-FFF2-40B4-BE49-F238E27FC236}">
                      <a16:creationId xmlns:a16="http://schemas.microsoft.com/office/drawing/2014/main" id="{65637E58-5257-4682-BC51-545951E6B735}"/>
                    </a:ext>
                  </a:extLst>
                </p:cNvPr>
                <p:cNvSpPr>
                  <a:spLocks noChangeShapeType="1"/>
                </p:cNvSpPr>
                <p:nvPr/>
              </p:nvSpPr>
              <p:spPr bwMode="auto">
                <a:xfrm flipV="1">
                  <a:off x="9451" y="3044"/>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7" name="Line 74">
                  <a:extLst>
                    <a:ext uri="{FF2B5EF4-FFF2-40B4-BE49-F238E27FC236}">
                      <a16:creationId xmlns:a16="http://schemas.microsoft.com/office/drawing/2014/main" id="{694D0E33-216E-4E1D-9CD6-D03ACB478A3E}"/>
                    </a:ext>
                  </a:extLst>
                </p:cNvPr>
                <p:cNvSpPr>
                  <a:spLocks noChangeShapeType="1"/>
                </p:cNvSpPr>
                <p:nvPr/>
              </p:nvSpPr>
              <p:spPr bwMode="auto">
                <a:xfrm flipV="1">
                  <a:off x="9445" y="3115"/>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8" name="Line 75">
                  <a:extLst>
                    <a:ext uri="{FF2B5EF4-FFF2-40B4-BE49-F238E27FC236}">
                      <a16:creationId xmlns:a16="http://schemas.microsoft.com/office/drawing/2014/main" id="{904E191E-0A63-4264-B022-997874D357BB}"/>
                    </a:ext>
                  </a:extLst>
                </p:cNvPr>
                <p:cNvSpPr>
                  <a:spLocks noChangeShapeType="1"/>
                </p:cNvSpPr>
                <p:nvPr/>
              </p:nvSpPr>
              <p:spPr bwMode="auto">
                <a:xfrm flipV="1">
                  <a:off x="9451" y="3186"/>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9" name="Line 76">
                  <a:extLst>
                    <a:ext uri="{FF2B5EF4-FFF2-40B4-BE49-F238E27FC236}">
                      <a16:creationId xmlns:a16="http://schemas.microsoft.com/office/drawing/2014/main" id="{63C6D4BD-80DF-4CBF-9B4F-59B2E1319C49}"/>
                    </a:ext>
                  </a:extLst>
                </p:cNvPr>
                <p:cNvSpPr>
                  <a:spLocks noChangeShapeType="1"/>
                </p:cNvSpPr>
                <p:nvPr/>
              </p:nvSpPr>
              <p:spPr bwMode="auto">
                <a:xfrm flipV="1">
                  <a:off x="9451" y="3257"/>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0" name="Line 77">
                  <a:extLst>
                    <a:ext uri="{FF2B5EF4-FFF2-40B4-BE49-F238E27FC236}">
                      <a16:creationId xmlns:a16="http://schemas.microsoft.com/office/drawing/2014/main" id="{3FB70A6A-F2A0-4639-9477-6221A31B5430}"/>
                    </a:ext>
                  </a:extLst>
                </p:cNvPr>
                <p:cNvSpPr>
                  <a:spLocks noChangeShapeType="1"/>
                </p:cNvSpPr>
                <p:nvPr/>
              </p:nvSpPr>
              <p:spPr bwMode="auto">
                <a:xfrm flipV="1">
                  <a:off x="9430" y="3340"/>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1" name="Line 78">
                  <a:extLst>
                    <a:ext uri="{FF2B5EF4-FFF2-40B4-BE49-F238E27FC236}">
                      <a16:creationId xmlns:a16="http://schemas.microsoft.com/office/drawing/2014/main" id="{14A9503D-5DFC-4965-BBA9-79A738522551}"/>
                    </a:ext>
                  </a:extLst>
                </p:cNvPr>
                <p:cNvSpPr>
                  <a:spLocks noChangeShapeType="1"/>
                </p:cNvSpPr>
                <p:nvPr/>
              </p:nvSpPr>
              <p:spPr bwMode="auto">
                <a:xfrm flipV="1">
                  <a:off x="8897" y="1821"/>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2" name="Line 79">
                  <a:extLst>
                    <a:ext uri="{FF2B5EF4-FFF2-40B4-BE49-F238E27FC236}">
                      <a16:creationId xmlns:a16="http://schemas.microsoft.com/office/drawing/2014/main" id="{1CDE3B70-8318-4ED3-BDDD-A5C4F022B2B2}"/>
                    </a:ext>
                  </a:extLst>
                </p:cNvPr>
                <p:cNvSpPr>
                  <a:spLocks noChangeShapeType="1"/>
                </p:cNvSpPr>
                <p:nvPr/>
              </p:nvSpPr>
              <p:spPr bwMode="auto">
                <a:xfrm flipV="1">
                  <a:off x="8906" y="1911"/>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3" name="Line 80">
                  <a:extLst>
                    <a:ext uri="{FF2B5EF4-FFF2-40B4-BE49-F238E27FC236}">
                      <a16:creationId xmlns:a16="http://schemas.microsoft.com/office/drawing/2014/main" id="{DD579DD5-D090-4EF7-BEAB-DAE6BBFE6DE8}"/>
                    </a:ext>
                  </a:extLst>
                </p:cNvPr>
                <p:cNvSpPr>
                  <a:spLocks noChangeShapeType="1"/>
                </p:cNvSpPr>
                <p:nvPr/>
              </p:nvSpPr>
              <p:spPr bwMode="auto">
                <a:xfrm flipV="1">
                  <a:off x="8906" y="2006"/>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4" name="Line 81">
                  <a:extLst>
                    <a:ext uri="{FF2B5EF4-FFF2-40B4-BE49-F238E27FC236}">
                      <a16:creationId xmlns:a16="http://schemas.microsoft.com/office/drawing/2014/main" id="{3F167961-A1DB-4500-85E1-3AF654EC9AF1}"/>
                    </a:ext>
                  </a:extLst>
                </p:cNvPr>
                <p:cNvSpPr>
                  <a:spLocks noChangeShapeType="1"/>
                </p:cNvSpPr>
                <p:nvPr/>
              </p:nvSpPr>
              <p:spPr bwMode="auto">
                <a:xfrm flipV="1">
                  <a:off x="8900" y="2077"/>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5" name="Line 82">
                  <a:extLst>
                    <a:ext uri="{FF2B5EF4-FFF2-40B4-BE49-F238E27FC236}">
                      <a16:creationId xmlns:a16="http://schemas.microsoft.com/office/drawing/2014/main" id="{04D1DD3E-1F1B-4E53-88AB-D3A976E3541C}"/>
                    </a:ext>
                  </a:extLst>
                </p:cNvPr>
                <p:cNvSpPr>
                  <a:spLocks noChangeShapeType="1"/>
                </p:cNvSpPr>
                <p:nvPr/>
              </p:nvSpPr>
              <p:spPr bwMode="auto">
                <a:xfrm flipV="1">
                  <a:off x="8897" y="2172"/>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6" name="Line 83">
                  <a:extLst>
                    <a:ext uri="{FF2B5EF4-FFF2-40B4-BE49-F238E27FC236}">
                      <a16:creationId xmlns:a16="http://schemas.microsoft.com/office/drawing/2014/main" id="{8DA9F2DE-4C53-4B9C-BDF2-4C769014382E}"/>
                    </a:ext>
                  </a:extLst>
                </p:cNvPr>
                <p:cNvSpPr>
                  <a:spLocks noChangeShapeType="1"/>
                </p:cNvSpPr>
                <p:nvPr/>
              </p:nvSpPr>
              <p:spPr bwMode="auto">
                <a:xfrm flipV="1">
                  <a:off x="8897" y="2243"/>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7" name="Line 84">
                  <a:extLst>
                    <a:ext uri="{FF2B5EF4-FFF2-40B4-BE49-F238E27FC236}">
                      <a16:creationId xmlns:a16="http://schemas.microsoft.com/office/drawing/2014/main" id="{1894741E-AF94-48E9-B8CC-6399C9DE9F47}"/>
                    </a:ext>
                  </a:extLst>
                </p:cNvPr>
                <p:cNvSpPr>
                  <a:spLocks noChangeShapeType="1"/>
                </p:cNvSpPr>
                <p:nvPr/>
              </p:nvSpPr>
              <p:spPr bwMode="auto">
                <a:xfrm flipV="1">
                  <a:off x="8903" y="2992"/>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8" name="Line 85">
                  <a:extLst>
                    <a:ext uri="{FF2B5EF4-FFF2-40B4-BE49-F238E27FC236}">
                      <a16:creationId xmlns:a16="http://schemas.microsoft.com/office/drawing/2014/main" id="{F55B1EBC-5D65-4204-85EA-D122E35714DA}"/>
                    </a:ext>
                  </a:extLst>
                </p:cNvPr>
                <p:cNvSpPr>
                  <a:spLocks noChangeShapeType="1"/>
                </p:cNvSpPr>
                <p:nvPr/>
              </p:nvSpPr>
              <p:spPr bwMode="auto">
                <a:xfrm flipV="1">
                  <a:off x="8909" y="3063"/>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9" name="Line 86">
                  <a:extLst>
                    <a:ext uri="{FF2B5EF4-FFF2-40B4-BE49-F238E27FC236}">
                      <a16:creationId xmlns:a16="http://schemas.microsoft.com/office/drawing/2014/main" id="{AEF4A15C-CEF8-4C33-A14B-97352A52D753}"/>
                    </a:ext>
                  </a:extLst>
                </p:cNvPr>
                <p:cNvSpPr>
                  <a:spLocks noChangeShapeType="1"/>
                </p:cNvSpPr>
                <p:nvPr/>
              </p:nvSpPr>
              <p:spPr bwMode="auto">
                <a:xfrm flipV="1">
                  <a:off x="8906" y="3158"/>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30" name="Line 87">
                  <a:extLst>
                    <a:ext uri="{FF2B5EF4-FFF2-40B4-BE49-F238E27FC236}">
                      <a16:creationId xmlns:a16="http://schemas.microsoft.com/office/drawing/2014/main" id="{1D707D42-55C7-4284-BECB-314656E6D841}"/>
                    </a:ext>
                  </a:extLst>
                </p:cNvPr>
                <p:cNvSpPr>
                  <a:spLocks noChangeShapeType="1"/>
                </p:cNvSpPr>
                <p:nvPr/>
              </p:nvSpPr>
              <p:spPr bwMode="auto">
                <a:xfrm flipV="1">
                  <a:off x="8906" y="3229"/>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31" name="Line 88">
                  <a:extLst>
                    <a:ext uri="{FF2B5EF4-FFF2-40B4-BE49-F238E27FC236}">
                      <a16:creationId xmlns:a16="http://schemas.microsoft.com/office/drawing/2014/main" id="{55F08C04-2548-447D-80EA-38446AC3AA78}"/>
                    </a:ext>
                  </a:extLst>
                </p:cNvPr>
                <p:cNvSpPr>
                  <a:spLocks noChangeShapeType="1"/>
                </p:cNvSpPr>
                <p:nvPr/>
              </p:nvSpPr>
              <p:spPr bwMode="auto">
                <a:xfrm flipV="1">
                  <a:off x="8903" y="3300"/>
                  <a:ext cx="58" cy="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833" name="Group 89">
                <a:extLst>
                  <a:ext uri="{FF2B5EF4-FFF2-40B4-BE49-F238E27FC236}">
                    <a16:creationId xmlns:a16="http://schemas.microsoft.com/office/drawing/2014/main" id="{98085143-55DC-4FA1-A7F9-9E9021297548}"/>
                  </a:ext>
                </a:extLst>
              </p:cNvPr>
              <p:cNvGrpSpPr>
                <a:grpSpLocks/>
              </p:cNvGrpSpPr>
              <p:nvPr/>
            </p:nvGrpSpPr>
            <p:grpSpPr bwMode="auto">
              <a:xfrm>
                <a:off x="3165" y="1948"/>
                <a:ext cx="129" cy="188"/>
                <a:chOff x="7337" y="1723"/>
                <a:chExt cx="159" cy="325"/>
              </a:xfrm>
            </p:grpSpPr>
            <p:grpSp>
              <p:nvGrpSpPr>
                <p:cNvPr id="77891" name="Group 90">
                  <a:extLst>
                    <a:ext uri="{FF2B5EF4-FFF2-40B4-BE49-F238E27FC236}">
                      <a16:creationId xmlns:a16="http://schemas.microsoft.com/office/drawing/2014/main" id="{B513879B-9AA5-4684-A49F-1AECB19ECFBD}"/>
                    </a:ext>
                  </a:extLst>
                </p:cNvPr>
                <p:cNvGrpSpPr>
                  <a:grpSpLocks noChangeAspect="1"/>
                </p:cNvGrpSpPr>
                <p:nvPr/>
              </p:nvGrpSpPr>
              <p:grpSpPr bwMode="auto">
                <a:xfrm>
                  <a:off x="7337" y="1935"/>
                  <a:ext cx="159" cy="113"/>
                  <a:chOff x="7337" y="1935"/>
                  <a:chExt cx="232" cy="165"/>
                </a:xfrm>
              </p:grpSpPr>
              <p:sp>
                <p:nvSpPr>
                  <p:cNvPr id="77894" name="Line 91">
                    <a:extLst>
                      <a:ext uri="{FF2B5EF4-FFF2-40B4-BE49-F238E27FC236}">
                        <a16:creationId xmlns:a16="http://schemas.microsoft.com/office/drawing/2014/main" id="{859A0B10-7966-4BEA-915A-3B017078CE55}"/>
                      </a:ext>
                    </a:extLst>
                  </p:cNvPr>
                  <p:cNvSpPr>
                    <a:spLocks noChangeAspect="1" noChangeShapeType="1"/>
                  </p:cNvSpPr>
                  <p:nvPr/>
                </p:nvSpPr>
                <p:spPr bwMode="auto">
                  <a:xfrm flipH="1">
                    <a:off x="7452" y="1935"/>
                    <a:ext cx="117" cy="14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5" name="Line 92">
                    <a:extLst>
                      <a:ext uri="{FF2B5EF4-FFF2-40B4-BE49-F238E27FC236}">
                        <a16:creationId xmlns:a16="http://schemas.microsoft.com/office/drawing/2014/main" id="{8246E47E-1F61-453F-B11B-147BFEE1C59C}"/>
                      </a:ext>
                    </a:extLst>
                  </p:cNvPr>
                  <p:cNvSpPr>
                    <a:spLocks noChangeAspect="1" noChangeShapeType="1"/>
                  </p:cNvSpPr>
                  <p:nvPr/>
                </p:nvSpPr>
                <p:spPr bwMode="auto">
                  <a:xfrm flipH="1" flipV="1">
                    <a:off x="7337" y="1958"/>
                    <a:ext cx="117" cy="14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892" name="Line 93">
                  <a:extLst>
                    <a:ext uri="{FF2B5EF4-FFF2-40B4-BE49-F238E27FC236}">
                      <a16:creationId xmlns:a16="http://schemas.microsoft.com/office/drawing/2014/main" id="{ADEE5E7B-B272-4FEF-9698-4CF3F963BA5F}"/>
                    </a:ext>
                  </a:extLst>
                </p:cNvPr>
                <p:cNvSpPr>
                  <a:spLocks noChangeShapeType="1"/>
                </p:cNvSpPr>
                <p:nvPr/>
              </p:nvSpPr>
              <p:spPr bwMode="auto">
                <a:xfrm>
                  <a:off x="7379" y="1737"/>
                  <a:ext cx="0" cy="25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3" name="Line 94">
                  <a:extLst>
                    <a:ext uri="{FF2B5EF4-FFF2-40B4-BE49-F238E27FC236}">
                      <a16:creationId xmlns:a16="http://schemas.microsoft.com/office/drawing/2014/main" id="{F8670AA2-A5C9-4749-9638-962E6C959DD3}"/>
                    </a:ext>
                  </a:extLst>
                </p:cNvPr>
                <p:cNvSpPr>
                  <a:spLocks noChangeShapeType="1"/>
                </p:cNvSpPr>
                <p:nvPr/>
              </p:nvSpPr>
              <p:spPr bwMode="auto">
                <a:xfrm>
                  <a:off x="7452" y="1723"/>
                  <a:ext cx="0" cy="25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834" name="Freeform 95">
                <a:extLst>
                  <a:ext uri="{FF2B5EF4-FFF2-40B4-BE49-F238E27FC236}">
                    <a16:creationId xmlns:a16="http://schemas.microsoft.com/office/drawing/2014/main" id="{C6989720-CE39-437F-A913-5B30123E68ED}"/>
                  </a:ext>
                </a:extLst>
              </p:cNvPr>
              <p:cNvSpPr>
                <a:spLocks/>
              </p:cNvSpPr>
              <p:nvPr/>
            </p:nvSpPr>
            <p:spPr bwMode="auto">
              <a:xfrm>
                <a:off x="2348" y="2127"/>
                <a:ext cx="194" cy="449"/>
              </a:xfrm>
              <a:custGeom>
                <a:avLst/>
                <a:gdLst>
                  <a:gd name="T0" fmla="*/ 4 w 239"/>
                  <a:gd name="T1" fmla="*/ 0 h 774"/>
                  <a:gd name="T2" fmla="*/ 2 w 239"/>
                  <a:gd name="T3" fmla="*/ 1 h 774"/>
                  <a:gd name="T4" fmla="*/ 2 w 239"/>
                  <a:gd name="T5" fmla="*/ 1 h 774"/>
                  <a:gd name="T6" fmla="*/ 4 w 239"/>
                  <a:gd name="T7" fmla="*/ 1 h 774"/>
                  <a:gd name="T8" fmla="*/ 8 w 239"/>
                  <a:gd name="T9" fmla="*/ 1 h 774"/>
                  <a:gd name="T10" fmla="*/ 8 w 239"/>
                  <a:gd name="T11" fmla="*/ 1 h 774"/>
                  <a:gd name="T12" fmla="*/ 8 w 239"/>
                  <a:gd name="T13" fmla="*/ 1 h 774"/>
                  <a:gd name="T14" fmla="*/ 4 w 239"/>
                  <a:gd name="T15" fmla="*/ 0 h 774"/>
                  <a:gd name="T16" fmla="*/ 0 60000 65536"/>
                  <a:gd name="T17" fmla="*/ 0 60000 65536"/>
                  <a:gd name="T18" fmla="*/ 0 60000 65536"/>
                  <a:gd name="T19" fmla="*/ 0 60000 65536"/>
                  <a:gd name="T20" fmla="*/ 0 60000 65536"/>
                  <a:gd name="T21" fmla="*/ 0 60000 65536"/>
                  <a:gd name="T22" fmla="*/ 0 60000 65536"/>
                  <a:gd name="T23" fmla="*/ 0 60000 65536"/>
                  <a:gd name="T24" fmla="*/ 0 w 239"/>
                  <a:gd name="T25" fmla="*/ 0 h 774"/>
                  <a:gd name="T26" fmla="*/ 239 w 239"/>
                  <a:gd name="T27" fmla="*/ 774 h 77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9" h="774">
                    <a:moveTo>
                      <a:pt x="131" y="0"/>
                    </a:moveTo>
                    <a:cubicBezTo>
                      <a:pt x="98" y="0"/>
                      <a:pt x="38" y="121"/>
                      <a:pt x="19" y="219"/>
                    </a:cubicBezTo>
                    <a:cubicBezTo>
                      <a:pt x="0" y="317"/>
                      <a:pt x="0" y="496"/>
                      <a:pt x="19" y="588"/>
                    </a:cubicBezTo>
                    <a:cubicBezTo>
                      <a:pt x="38" y="680"/>
                      <a:pt x="98" y="774"/>
                      <a:pt x="131" y="774"/>
                    </a:cubicBezTo>
                    <a:cubicBezTo>
                      <a:pt x="164" y="774"/>
                      <a:pt x="197" y="654"/>
                      <a:pt x="215" y="588"/>
                    </a:cubicBezTo>
                    <a:cubicBezTo>
                      <a:pt x="233" y="522"/>
                      <a:pt x="239" y="440"/>
                      <a:pt x="239" y="379"/>
                    </a:cubicBezTo>
                    <a:cubicBezTo>
                      <a:pt x="239" y="318"/>
                      <a:pt x="233" y="282"/>
                      <a:pt x="215" y="219"/>
                    </a:cubicBezTo>
                    <a:cubicBezTo>
                      <a:pt x="197" y="156"/>
                      <a:pt x="164" y="0"/>
                      <a:pt x="131" y="0"/>
                    </a:cubicBez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7835" name="Group 96">
                <a:extLst>
                  <a:ext uri="{FF2B5EF4-FFF2-40B4-BE49-F238E27FC236}">
                    <a16:creationId xmlns:a16="http://schemas.microsoft.com/office/drawing/2014/main" id="{1B684104-E10C-492F-9031-B95050E970AE}"/>
                  </a:ext>
                </a:extLst>
              </p:cNvPr>
              <p:cNvGrpSpPr>
                <a:grpSpLocks/>
              </p:cNvGrpSpPr>
              <p:nvPr/>
            </p:nvGrpSpPr>
            <p:grpSpPr bwMode="auto">
              <a:xfrm>
                <a:off x="871" y="2720"/>
                <a:ext cx="311" cy="69"/>
                <a:chOff x="6312" y="3223"/>
                <a:chExt cx="441" cy="119"/>
              </a:xfrm>
            </p:grpSpPr>
            <p:sp>
              <p:nvSpPr>
                <p:cNvPr id="77889" name="Freeform 97">
                  <a:extLst>
                    <a:ext uri="{FF2B5EF4-FFF2-40B4-BE49-F238E27FC236}">
                      <a16:creationId xmlns:a16="http://schemas.microsoft.com/office/drawing/2014/main" id="{76D14E4E-3EB0-4EC4-BFCD-AC8739CF868A}"/>
                    </a:ext>
                  </a:extLst>
                </p:cNvPr>
                <p:cNvSpPr>
                  <a:spLocks/>
                </p:cNvSpPr>
                <p:nvPr/>
              </p:nvSpPr>
              <p:spPr bwMode="auto">
                <a:xfrm>
                  <a:off x="6312" y="3223"/>
                  <a:ext cx="429" cy="58"/>
                </a:xfrm>
                <a:custGeom>
                  <a:avLst/>
                  <a:gdLst>
                    <a:gd name="T0" fmla="*/ 0 w 429"/>
                    <a:gd name="T1" fmla="*/ 58 h 58"/>
                    <a:gd name="T2" fmla="*/ 210 w 429"/>
                    <a:gd name="T3" fmla="*/ 0 h 58"/>
                    <a:gd name="T4" fmla="*/ 429 w 429"/>
                    <a:gd name="T5" fmla="*/ 58 h 58"/>
                    <a:gd name="T6" fmla="*/ 0 60000 65536"/>
                    <a:gd name="T7" fmla="*/ 0 60000 65536"/>
                    <a:gd name="T8" fmla="*/ 0 60000 65536"/>
                    <a:gd name="T9" fmla="*/ 0 w 429"/>
                    <a:gd name="T10" fmla="*/ 0 h 58"/>
                    <a:gd name="T11" fmla="*/ 429 w 429"/>
                    <a:gd name="T12" fmla="*/ 58 h 58"/>
                  </a:gdLst>
                  <a:ahLst/>
                  <a:cxnLst>
                    <a:cxn ang="T6">
                      <a:pos x="T0" y="T1"/>
                    </a:cxn>
                    <a:cxn ang="T7">
                      <a:pos x="T2" y="T3"/>
                    </a:cxn>
                    <a:cxn ang="T8">
                      <a:pos x="T4" y="T5"/>
                    </a:cxn>
                  </a:cxnLst>
                  <a:rect l="T9" t="T10" r="T11" b="T12"/>
                  <a:pathLst>
                    <a:path w="429" h="58">
                      <a:moveTo>
                        <a:pt x="0" y="58"/>
                      </a:moveTo>
                      <a:cubicBezTo>
                        <a:pt x="69" y="29"/>
                        <a:pt x="139" y="0"/>
                        <a:pt x="210" y="0"/>
                      </a:cubicBezTo>
                      <a:cubicBezTo>
                        <a:pt x="281" y="0"/>
                        <a:pt x="355" y="29"/>
                        <a:pt x="429" y="58"/>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90" name="Freeform 98">
                  <a:extLst>
                    <a:ext uri="{FF2B5EF4-FFF2-40B4-BE49-F238E27FC236}">
                      <a16:creationId xmlns:a16="http://schemas.microsoft.com/office/drawing/2014/main" id="{DA039EA0-7C5E-422E-991E-BD8E31CC94DE}"/>
                    </a:ext>
                  </a:extLst>
                </p:cNvPr>
                <p:cNvSpPr>
                  <a:spLocks/>
                </p:cNvSpPr>
                <p:nvPr/>
              </p:nvSpPr>
              <p:spPr bwMode="auto">
                <a:xfrm flipH="1" flipV="1">
                  <a:off x="6324" y="3284"/>
                  <a:ext cx="429" cy="58"/>
                </a:xfrm>
                <a:custGeom>
                  <a:avLst/>
                  <a:gdLst>
                    <a:gd name="T0" fmla="*/ 0 w 429"/>
                    <a:gd name="T1" fmla="*/ 58 h 58"/>
                    <a:gd name="T2" fmla="*/ 210 w 429"/>
                    <a:gd name="T3" fmla="*/ 0 h 58"/>
                    <a:gd name="T4" fmla="*/ 429 w 429"/>
                    <a:gd name="T5" fmla="*/ 58 h 58"/>
                    <a:gd name="T6" fmla="*/ 0 60000 65536"/>
                    <a:gd name="T7" fmla="*/ 0 60000 65536"/>
                    <a:gd name="T8" fmla="*/ 0 60000 65536"/>
                    <a:gd name="T9" fmla="*/ 0 w 429"/>
                    <a:gd name="T10" fmla="*/ 0 h 58"/>
                    <a:gd name="T11" fmla="*/ 429 w 429"/>
                    <a:gd name="T12" fmla="*/ 58 h 58"/>
                  </a:gdLst>
                  <a:ahLst/>
                  <a:cxnLst>
                    <a:cxn ang="T6">
                      <a:pos x="T0" y="T1"/>
                    </a:cxn>
                    <a:cxn ang="T7">
                      <a:pos x="T2" y="T3"/>
                    </a:cxn>
                    <a:cxn ang="T8">
                      <a:pos x="T4" y="T5"/>
                    </a:cxn>
                  </a:cxnLst>
                  <a:rect l="T9" t="T10" r="T11" b="T12"/>
                  <a:pathLst>
                    <a:path w="429" h="58">
                      <a:moveTo>
                        <a:pt x="0" y="58"/>
                      </a:moveTo>
                      <a:cubicBezTo>
                        <a:pt x="69" y="29"/>
                        <a:pt x="139" y="0"/>
                        <a:pt x="210" y="0"/>
                      </a:cubicBezTo>
                      <a:cubicBezTo>
                        <a:pt x="281" y="0"/>
                        <a:pt x="355" y="29"/>
                        <a:pt x="429" y="58"/>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a:lstStyle/>
                <a:p>
                  <a:endParaRPr lang="zh-CN" altLang="en-US"/>
                </a:p>
              </p:txBody>
            </p:sp>
          </p:grpSp>
          <p:grpSp>
            <p:nvGrpSpPr>
              <p:cNvPr id="77836" name="Group 160">
                <a:extLst>
                  <a:ext uri="{FF2B5EF4-FFF2-40B4-BE49-F238E27FC236}">
                    <a16:creationId xmlns:a16="http://schemas.microsoft.com/office/drawing/2014/main" id="{2A4436F6-4AF5-457E-90CF-4E3DD719F890}"/>
                  </a:ext>
                </a:extLst>
              </p:cNvPr>
              <p:cNvGrpSpPr>
                <a:grpSpLocks/>
              </p:cNvGrpSpPr>
              <p:nvPr/>
            </p:nvGrpSpPr>
            <p:grpSpPr bwMode="auto">
              <a:xfrm>
                <a:off x="1572" y="2707"/>
                <a:ext cx="311" cy="69"/>
                <a:chOff x="2168" y="2707"/>
                <a:chExt cx="357" cy="69"/>
              </a:xfrm>
            </p:grpSpPr>
            <p:sp>
              <p:nvSpPr>
                <p:cNvPr id="77887" name="Freeform 99">
                  <a:extLst>
                    <a:ext uri="{FF2B5EF4-FFF2-40B4-BE49-F238E27FC236}">
                      <a16:creationId xmlns:a16="http://schemas.microsoft.com/office/drawing/2014/main" id="{9312A608-3069-494C-A235-8A6E30190F37}"/>
                    </a:ext>
                  </a:extLst>
                </p:cNvPr>
                <p:cNvSpPr>
                  <a:spLocks/>
                </p:cNvSpPr>
                <p:nvPr/>
              </p:nvSpPr>
              <p:spPr bwMode="auto">
                <a:xfrm>
                  <a:off x="2168" y="2707"/>
                  <a:ext cx="347" cy="34"/>
                </a:xfrm>
                <a:custGeom>
                  <a:avLst/>
                  <a:gdLst>
                    <a:gd name="T0" fmla="*/ 0 w 429"/>
                    <a:gd name="T1" fmla="*/ 1 h 58"/>
                    <a:gd name="T2" fmla="*/ 7 w 429"/>
                    <a:gd name="T3" fmla="*/ 0 h 58"/>
                    <a:gd name="T4" fmla="*/ 15 w 429"/>
                    <a:gd name="T5" fmla="*/ 1 h 58"/>
                    <a:gd name="T6" fmla="*/ 0 60000 65536"/>
                    <a:gd name="T7" fmla="*/ 0 60000 65536"/>
                    <a:gd name="T8" fmla="*/ 0 60000 65536"/>
                    <a:gd name="T9" fmla="*/ 0 w 429"/>
                    <a:gd name="T10" fmla="*/ 0 h 58"/>
                    <a:gd name="T11" fmla="*/ 429 w 429"/>
                    <a:gd name="T12" fmla="*/ 58 h 58"/>
                  </a:gdLst>
                  <a:ahLst/>
                  <a:cxnLst>
                    <a:cxn ang="T6">
                      <a:pos x="T0" y="T1"/>
                    </a:cxn>
                    <a:cxn ang="T7">
                      <a:pos x="T2" y="T3"/>
                    </a:cxn>
                    <a:cxn ang="T8">
                      <a:pos x="T4" y="T5"/>
                    </a:cxn>
                  </a:cxnLst>
                  <a:rect l="T9" t="T10" r="T11" b="T12"/>
                  <a:pathLst>
                    <a:path w="429" h="58">
                      <a:moveTo>
                        <a:pt x="0" y="58"/>
                      </a:moveTo>
                      <a:cubicBezTo>
                        <a:pt x="69" y="29"/>
                        <a:pt x="139" y="0"/>
                        <a:pt x="210" y="0"/>
                      </a:cubicBezTo>
                      <a:cubicBezTo>
                        <a:pt x="281" y="0"/>
                        <a:pt x="355" y="29"/>
                        <a:pt x="429" y="58"/>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88" name="Freeform 100">
                  <a:extLst>
                    <a:ext uri="{FF2B5EF4-FFF2-40B4-BE49-F238E27FC236}">
                      <a16:creationId xmlns:a16="http://schemas.microsoft.com/office/drawing/2014/main" id="{80F85315-E0F4-4F61-B92B-126F01F8DF87}"/>
                    </a:ext>
                  </a:extLst>
                </p:cNvPr>
                <p:cNvSpPr>
                  <a:spLocks/>
                </p:cNvSpPr>
                <p:nvPr/>
              </p:nvSpPr>
              <p:spPr bwMode="auto">
                <a:xfrm flipH="1" flipV="1">
                  <a:off x="2177" y="2742"/>
                  <a:ext cx="348" cy="34"/>
                </a:xfrm>
                <a:custGeom>
                  <a:avLst/>
                  <a:gdLst>
                    <a:gd name="T0" fmla="*/ 0 w 429"/>
                    <a:gd name="T1" fmla="*/ 1 h 58"/>
                    <a:gd name="T2" fmla="*/ 7 w 429"/>
                    <a:gd name="T3" fmla="*/ 0 h 58"/>
                    <a:gd name="T4" fmla="*/ 15 w 429"/>
                    <a:gd name="T5" fmla="*/ 1 h 58"/>
                    <a:gd name="T6" fmla="*/ 0 60000 65536"/>
                    <a:gd name="T7" fmla="*/ 0 60000 65536"/>
                    <a:gd name="T8" fmla="*/ 0 60000 65536"/>
                    <a:gd name="T9" fmla="*/ 0 w 429"/>
                    <a:gd name="T10" fmla="*/ 0 h 58"/>
                    <a:gd name="T11" fmla="*/ 429 w 429"/>
                    <a:gd name="T12" fmla="*/ 58 h 58"/>
                  </a:gdLst>
                  <a:ahLst/>
                  <a:cxnLst>
                    <a:cxn ang="T6">
                      <a:pos x="T0" y="T1"/>
                    </a:cxn>
                    <a:cxn ang="T7">
                      <a:pos x="T2" y="T3"/>
                    </a:cxn>
                    <a:cxn ang="T8">
                      <a:pos x="T4" y="T5"/>
                    </a:cxn>
                  </a:cxnLst>
                  <a:rect l="T9" t="T10" r="T11" b="T12"/>
                  <a:pathLst>
                    <a:path w="429" h="58">
                      <a:moveTo>
                        <a:pt x="0" y="58"/>
                      </a:moveTo>
                      <a:cubicBezTo>
                        <a:pt x="69" y="29"/>
                        <a:pt x="139" y="0"/>
                        <a:pt x="210" y="0"/>
                      </a:cubicBezTo>
                      <a:cubicBezTo>
                        <a:pt x="281" y="0"/>
                        <a:pt x="355" y="29"/>
                        <a:pt x="429" y="58"/>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a:lstStyle/>
                <a:p>
                  <a:endParaRPr lang="zh-CN" altLang="en-US"/>
                </a:p>
              </p:txBody>
            </p:sp>
          </p:grpSp>
          <p:sp>
            <p:nvSpPr>
              <p:cNvPr id="77837" name="Line 101">
                <a:extLst>
                  <a:ext uri="{FF2B5EF4-FFF2-40B4-BE49-F238E27FC236}">
                    <a16:creationId xmlns:a16="http://schemas.microsoft.com/office/drawing/2014/main" id="{CEBEBB24-D105-4C0F-B0CC-7200D6319C57}"/>
                  </a:ext>
                </a:extLst>
              </p:cNvPr>
              <p:cNvSpPr>
                <a:spLocks noChangeShapeType="1"/>
              </p:cNvSpPr>
              <p:nvPr/>
            </p:nvSpPr>
            <p:spPr bwMode="auto">
              <a:xfrm flipH="1">
                <a:off x="1424" y="2169"/>
                <a:ext cx="562" cy="42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8" name="Freeform 102">
                <a:extLst>
                  <a:ext uri="{FF2B5EF4-FFF2-40B4-BE49-F238E27FC236}">
                    <a16:creationId xmlns:a16="http://schemas.microsoft.com/office/drawing/2014/main" id="{0127D89E-483E-4DAF-81A5-A801586706E7}"/>
                  </a:ext>
                </a:extLst>
              </p:cNvPr>
              <p:cNvSpPr>
                <a:spLocks/>
              </p:cNvSpPr>
              <p:nvPr/>
            </p:nvSpPr>
            <p:spPr bwMode="auto">
              <a:xfrm>
                <a:off x="1805" y="2311"/>
                <a:ext cx="616" cy="394"/>
              </a:xfrm>
              <a:custGeom>
                <a:avLst/>
                <a:gdLst>
                  <a:gd name="T0" fmla="*/ 1 w 994"/>
                  <a:gd name="T1" fmla="*/ 0 h 616"/>
                  <a:gd name="T2" fmla="*/ 0 w 994"/>
                  <a:gd name="T3" fmla="*/ 0 h 616"/>
                  <a:gd name="T4" fmla="*/ 0 w 994"/>
                  <a:gd name="T5" fmla="*/ 1 h 616"/>
                  <a:gd name="T6" fmla="*/ 0 60000 65536"/>
                  <a:gd name="T7" fmla="*/ 0 60000 65536"/>
                  <a:gd name="T8" fmla="*/ 0 60000 65536"/>
                  <a:gd name="T9" fmla="*/ 0 w 994"/>
                  <a:gd name="T10" fmla="*/ 0 h 616"/>
                  <a:gd name="T11" fmla="*/ 994 w 994"/>
                  <a:gd name="T12" fmla="*/ 616 h 616"/>
                </a:gdLst>
                <a:ahLst/>
                <a:cxnLst>
                  <a:cxn ang="T6">
                    <a:pos x="T0" y="T1"/>
                  </a:cxn>
                  <a:cxn ang="T7">
                    <a:pos x="T2" y="T3"/>
                  </a:cxn>
                  <a:cxn ang="T8">
                    <a:pos x="T4" y="T5"/>
                  </a:cxn>
                </a:cxnLst>
                <a:rect l="T9" t="T10" r="T11" b="T12"/>
                <a:pathLst>
                  <a:path w="994" h="616">
                    <a:moveTo>
                      <a:pt x="994" y="0"/>
                    </a:moveTo>
                    <a:lnTo>
                      <a:pt x="0" y="0"/>
                    </a:lnTo>
                    <a:lnTo>
                      <a:pt x="0" y="616"/>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39" name="Freeform 103">
                <a:extLst>
                  <a:ext uri="{FF2B5EF4-FFF2-40B4-BE49-F238E27FC236}">
                    <a16:creationId xmlns:a16="http://schemas.microsoft.com/office/drawing/2014/main" id="{DD60E3A7-CED3-48EE-94A2-CF900484C0DB}"/>
                  </a:ext>
                </a:extLst>
              </p:cNvPr>
              <p:cNvSpPr>
                <a:spLocks/>
              </p:cNvSpPr>
              <p:nvPr/>
            </p:nvSpPr>
            <p:spPr bwMode="auto">
              <a:xfrm>
                <a:off x="1667" y="2405"/>
                <a:ext cx="765" cy="316"/>
              </a:xfrm>
              <a:custGeom>
                <a:avLst/>
                <a:gdLst>
                  <a:gd name="T0" fmla="*/ 33 w 943"/>
                  <a:gd name="T1" fmla="*/ 0 h 545"/>
                  <a:gd name="T2" fmla="*/ 0 w 943"/>
                  <a:gd name="T3" fmla="*/ 0 h 545"/>
                  <a:gd name="T4" fmla="*/ 0 w 943"/>
                  <a:gd name="T5" fmla="*/ 1 h 545"/>
                  <a:gd name="T6" fmla="*/ 0 60000 65536"/>
                  <a:gd name="T7" fmla="*/ 0 60000 65536"/>
                  <a:gd name="T8" fmla="*/ 0 60000 65536"/>
                  <a:gd name="T9" fmla="*/ 0 w 943"/>
                  <a:gd name="T10" fmla="*/ 0 h 545"/>
                  <a:gd name="T11" fmla="*/ 943 w 943"/>
                  <a:gd name="T12" fmla="*/ 545 h 545"/>
                </a:gdLst>
                <a:ahLst/>
                <a:cxnLst>
                  <a:cxn ang="T6">
                    <a:pos x="T0" y="T1"/>
                  </a:cxn>
                  <a:cxn ang="T7">
                    <a:pos x="T2" y="T3"/>
                  </a:cxn>
                  <a:cxn ang="T8">
                    <a:pos x="T4" y="T5"/>
                  </a:cxn>
                </a:cxnLst>
                <a:rect l="T9" t="T10" r="T11" b="T12"/>
                <a:pathLst>
                  <a:path w="943" h="545">
                    <a:moveTo>
                      <a:pt x="943" y="0"/>
                    </a:moveTo>
                    <a:lnTo>
                      <a:pt x="0" y="0"/>
                    </a:lnTo>
                    <a:lnTo>
                      <a:pt x="0" y="545"/>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40" name="Line 104">
                <a:extLst>
                  <a:ext uri="{FF2B5EF4-FFF2-40B4-BE49-F238E27FC236}">
                    <a16:creationId xmlns:a16="http://schemas.microsoft.com/office/drawing/2014/main" id="{432C1CB6-F00A-4B5C-9355-2DD429F52E92}"/>
                  </a:ext>
                </a:extLst>
              </p:cNvPr>
              <p:cNvSpPr>
                <a:spLocks noChangeShapeType="1"/>
              </p:cNvSpPr>
              <p:nvPr/>
            </p:nvSpPr>
            <p:spPr bwMode="auto">
              <a:xfrm flipH="1">
                <a:off x="907" y="2151"/>
                <a:ext cx="220" cy="1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1" name="Freeform 105">
                <a:extLst>
                  <a:ext uri="{FF2B5EF4-FFF2-40B4-BE49-F238E27FC236}">
                    <a16:creationId xmlns:a16="http://schemas.microsoft.com/office/drawing/2014/main" id="{AD134518-A522-4056-9721-D50F4719E6E4}"/>
                  </a:ext>
                </a:extLst>
              </p:cNvPr>
              <p:cNvSpPr>
                <a:spLocks/>
              </p:cNvSpPr>
              <p:nvPr/>
            </p:nvSpPr>
            <p:spPr bwMode="auto">
              <a:xfrm>
                <a:off x="2439" y="2313"/>
                <a:ext cx="726" cy="35"/>
              </a:xfrm>
              <a:custGeom>
                <a:avLst/>
                <a:gdLst>
                  <a:gd name="T0" fmla="*/ 0 w 726"/>
                  <a:gd name="T1" fmla="*/ 0 h 35"/>
                  <a:gd name="T2" fmla="*/ 726 w 726"/>
                  <a:gd name="T3" fmla="*/ 35 h 35"/>
                  <a:gd name="T4" fmla="*/ 0 60000 65536"/>
                  <a:gd name="T5" fmla="*/ 0 60000 65536"/>
                  <a:gd name="T6" fmla="*/ 0 w 726"/>
                  <a:gd name="T7" fmla="*/ 0 h 35"/>
                  <a:gd name="T8" fmla="*/ 726 w 726"/>
                  <a:gd name="T9" fmla="*/ 35 h 35"/>
                </a:gdLst>
                <a:ahLst/>
                <a:cxnLst>
                  <a:cxn ang="T4">
                    <a:pos x="T0" y="T1"/>
                  </a:cxn>
                  <a:cxn ang="T5">
                    <a:pos x="T2" y="T3"/>
                  </a:cxn>
                </a:cxnLst>
                <a:rect l="T6" t="T7" r="T8" b="T9"/>
                <a:pathLst>
                  <a:path w="726" h="35">
                    <a:moveTo>
                      <a:pt x="0" y="0"/>
                    </a:moveTo>
                    <a:lnTo>
                      <a:pt x="726" y="35"/>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42" name="Freeform 106">
                <a:extLst>
                  <a:ext uri="{FF2B5EF4-FFF2-40B4-BE49-F238E27FC236}">
                    <a16:creationId xmlns:a16="http://schemas.microsoft.com/office/drawing/2014/main" id="{518B1912-4B8F-45BE-A44D-9CBF9EED3F48}"/>
                  </a:ext>
                </a:extLst>
              </p:cNvPr>
              <p:cNvSpPr>
                <a:spLocks/>
              </p:cNvSpPr>
              <p:nvPr/>
            </p:nvSpPr>
            <p:spPr bwMode="auto">
              <a:xfrm>
                <a:off x="1026" y="2234"/>
                <a:ext cx="2393" cy="148"/>
              </a:xfrm>
              <a:custGeom>
                <a:avLst/>
                <a:gdLst>
                  <a:gd name="T0" fmla="*/ 0 w 2952"/>
                  <a:gd name="T1" fmla="*/ 0 h 256"/>
                  <a:gd name="T2" fmla="*/ 61 w 2952"/>
                  <a:gd name="T3" fmla="*/ 0 h 256"/>
                  <a:gd name="T4" fmla="*/ 102 w 2952"/>
                  <a:gd name="T5" fmla="*/ 1 h 256"/>
                  <a:gd name="T6" fmla="*/ 0 60000 65536"/>
                  <a:gd name="T7" fmla="*/ 0 60000 65536"/>
                  <a:gd name="T8" fmla="*/ 0 60000 65536"/>
                  <a:gd name="T9" fmla="*/ 0 w 2952"/>
                  <a:gd name="T10" fmla="*/ 0 h 256"/>
                  <a:gd name="T11" fmla="*/ 2952 w 2952"/>
                  <a:gd name="T12" fmla="*/ 256 h 256"/>
                </a:gdLst>
                <a:ahLst/>
                <a:cxnLst>
                  <a:cxn ang="T6">
                    <a:pos x="T0" y="T1"/>
                  </a:cxn>
                  <a:cxn ang="T7">
                    <a:pos x="T2" y="T3"/>
                  </a:cxn>
                  <a:cxn ang="T8">
                    <a:pos x="T4" y="T5"/>
                  </a:cxn>
                </a:cxnLst>
                <a:rect l="T9" t="T10" r="T11" b="T12"/>
                <a:pathLst>
                  <a:path w="2952" h="256">
                    <a:moveTo>
                      <a:pt x="0" y="0"/>
                    </a:moveTo>
                    <a:lnTo>
                      <a:pt x="1734" y="0"/>
                    </a:lnTo>
                    <a:lnTo>
                      <a:pt x="2952" y="256"/>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43" name="Freeform 107">
                <a:extLst>
                  <a:ext uri="{FF2B5EF4-FFF2-40B4-BE49-F238E27FC236}">
                    <a16:creationId xmlns:a16="http://schemas.microsoft.com/office/drawing/2014/main" id="{EF151374-EEDA-4204-A1D8-DCCBFC05BD2C}"/>
                  </a:ext>
                </a:extLst>
              </p:cNvPr>
              <p:cNvSpPr>
                <a:spLocks/>
              </p:cNvSpPr>
              <p:nvPr/>
            </p:nvSpPr>
            <p:spPr bwMode="auto">
              <a:xfrm>
                <a:off x="1026" y="2318"/>
                <a:ext cx="2364" cy="167"/>
              </a:xfrm>
              <a:custGeom>
                <a:avLst/>
                <a:gdLst>
                  <a:gd name="T0" fmla="*/ 0 w 2916"/>
                  <a:gd name="T1" fmla="*/ 1 h 288"/>
                  <a:gd name="T2" fmla="*/ 61 w 2916"/>
                  <a:gd name="T3" fmla="*/ 1 h 288"/>
                  <a:gd name="T4" fmla="*/ 102 w 2916"/>
                  <a:gd name="T5" fmla="*/ 0 h 288"/>
                  <a:gd name="T6" fmla="*/ 0 60000 65536"/>
                  <a:gd name="T7" fmla="*/ 0 60000 65536"/>
                  <a:gd name="T8" fmla="*/ 0 60000 65536"/>
                  <a:gd name="T9" fmla="*/ 0 w 2916"/>
                  <a:gd name="T10" fmla="*/ 0 h 288"/>
                  <a:gd name="T11" fmla="*/ 2916 w 2916"/>
                  <a:gd name="T12" fmla="*/ 288 h 288"/>
                </a:gdLst>
                <a:ahLst/>
                <a:cxnLst>
                  <a:cxn ang="T6">
                    <a:pos x="T0" y="T1"/>
                  </a:cxn>
                  <a:cxn ang="T7">
                    <a:pos x="T2" y="T3"/>
                  </a:cxn>
                  <a:cxn ang="T8">
                    <a:pos x="T4" y="T5"/>
                  </a:cxn>
                </a:cxnLst>
                <a:rect l="T9" t="T10" r="T11" b="T12"/>
                <a:pathLst>
                  <a:path w="2916" h="288">
                    <a:moveTo>
                      <a:pt x="0" y="288"/>
                    </a:moveTo>
                    <a:lnTo>
                      <a:pt x="1763" y="288"/>
                    </a:lnTo>
                    <a:lnTo>
                      <a:pt x="291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44" name="Line 109">
                <a:extLst>
                  <a:ext uri="{FF2B5EF4-FFF2-40B4-BE49-F238E27FC236}">
                    <a16:creationId xmlns:a16="http://schemas.microsoft.com/office/drawing/2014/main" id="{CBC8D34F-B13B-4FAE-8C9E-4066E36954E7}"/>
                  </a:ext>
                </a:extLst>
              </p:cNvPr>
              <p:cNvSpPr>
                <a:spLocks noChangeShapeType="1"/>
              </p:cNvSpPr>
              <p:nvPr/>
            </p:nvSpPr>
            <p:spPr bwMode="auto">
              <a:xfrm flipV="1">
                <a:off x="2432" y="2348"/>
                <a:ext cx="733" cy="5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5" name="Rectangle 110">
                <a:extLst>
                  <a:ext uri="{FF2B5EF4-FFF2-40B4-BE49-F238E27FC236}">
                    <a16:creationId xmlns:a16="http://schemas.microsoft.com/office/drawing/2014/main" id="{E00CB076-C8B3-4AFE-B60A-FC45CEA324F4}"/>
                  </a:ext>
                </a:extLst>
              </p:cNvPr>
              <p:cNvSpPr>
                <a:spLocks noChangeArrowheads="1"/>
              </p:cNvSpPr>
              <p:nvPr/>
            </p:nvSpPr>
            <p:spPr bwMode="auto">
              <a:xfrm>
                <a:off x="2168" y="3030"/>
                <a:ext cx="573" cy="21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p>
            </p:txBody>
          </p:sp>
          <p:sp>
            <p:nvSpPr>
              <p:cNvPr id="77846" name="Rectangle 111">
                <a:extLst>
                  <a:ext uri="{FF2B5EF4-FFF2-40B4-BE49-F238E27FC236}">
                    <a16:creationId xmlns:a16="http://schemas.microsoft.com/office/drawing/2014/main" id="{8B3A1006-A766-4FCA-A281-45EE300F4092}"/>
                  </a:ext>
                </a:extLst>
              </p:cNvPr>
              <p:cNvSpPr>
                <a:spLocks noChangeArrowheads="1"/>
              </p:cNvSpPr>
              <p:nvPr/>
            </p:nvSpPr>
            <p:spPr bwMode="auto">
              <a:xfrm>
                <a:off x="3044" y="2975"/>
                <a:ext cx="524" cy="3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p>
            </p:txBody>
          </p:sp>
          <p:grpSp>
            <p:nvGrpSpPr>
              <p:cNvPr id="77847" name="Group 112">
                <a:extLst>
                  <a:ext uri="{FF2B5EF4-FFF2-40B4-BE49-F238E27FC236}">
                    <a16:creationId xmlns:a16="http://schemas.microsoft.com/office/drawing/2014/main" id="{F3EF0639-8C13-4304-8263-C789E703CFBD}"/>
                  </a:ext>
                </a:extLst>
              </p:cNvPr>
              <p:cNvGrpSpPr>
                <a:grpSpLocks/>
              </p:cNvGrpSpPr>
              <p:nvPr/>
            </p:nvGrpSpPr>
            <p:grpSpPr bwMode="auto">
              <a:xfrm>
                <a:off x="1882" y="3449"/>
                <a:ext cx="75" cy="256"/>
                <a:chOff x="6541" y="4462"/>
                <a:chExt cx="119" cy="441"/>
              </a:xfrm>
            </p:grpSpPr>
            <p:sp>
              <p:nvSpPr>
                <p:cNvPr id="77885" name="Freeform 113">
                  <a:extLst>
                    <a:ext uri="{FF2B5EF4-FFF2-40B4-BE49-F238E27FC236}">
                      <a16:creationId xmlns:a16="http://schemas.microsoft.com/office/drawing/2014/main" id="{A93A0B2D-2BD0-4776-B063-7955AABED34F}"/>
                    </a:ext>
                  </a:extLst>
                </p:cNvPr>
                <p:cNvSpPr>
                  <a:spLocks/>
                </p:cNvSpPr>
                <p:nvPr/>
              </p:nvSpPr>
              <p:spPr bwMode="auto">
                <a:xfrm rot="-5400000">
                  <a:off x="6355" y="4660"/>
                  <a:ext cx="429" cy="58"/>
                </a:xfrm>
                <a:custGeom>
                  <a:avLst/>
                  <a:gdLst>
                    <a:gd name="T0" fmla="*/ 0 w 429"/>
                    <a:gd name="T1" fmla="*/ 58 h 58"/>
                    <a:gd name="T2" fmla="*/ 210 w 429"/>
                    <a:gd name="T3" fmla="*/ 0 h 58"/>
                    <a:gd name="T4" fmla="*/ 429 w 429"/>
                    <a:gd name="T5" fmla="*/ 58 h 58"/>
                    <a:gd name="T6" fmla="*/ 0 60000 65536"/>
                    <a:gd name="T7" fmla="*/ 0 60000 65536"/>
                    <a:gd name="T8" fmla="*/ 0 60000 65536"/>
                    <a:gd name="T9" fmla="*/ 0 w 429"/>
                    <a:gd name="T10" fmla="*/ 0 h 58"/>
                    <a:gd name="T11" fmla="*/ 429 w 429"/>
                    <a:gd name="T12" fmla="*/ 58 h 58"/>
                  </a:gdLst>
                  <a:ahLst/>
                  <a:cxnLst>
                    <a:cxn ang="T6">
                      <a:pos x="T0" y="T1"/>
                    </a:cxn>
                    <a:cxn ang="T7">
                      <a:pos x="T2" y="T3"/>
                    </a:cxn>
                    <a:cxn ang="T8">
                      <a:pos x="T4" y="T5"/>
                    </a:cxn>
                  </a:cxnLst>
                  <a:rect l="T9" t="T10" r="T11" b="T12"/>
                  <a:pathLst>
                    <a:path w="429" h="58">
                      <a:moveTo>
                        <a:pt x="0" y="58"/>
                      </a:moveTo>
                      <a:cubicBezTo>
                        <a:pt x="69" y="29"/>
                        <a:pt x="139" y="0"/>
                        <a:pt x="210" y="0"/>
                      </a:cubicBezTo>
                      <a:cubicBezTo>
                        <a:pt x="281" y="0"/>
                        <a:pt x="355" y="29"/>
                        <a:pt x="429" y="58"/>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a:lstStyle/>
                <a:p>
                  <a:endParaRPr lang="zh-CN" altLang="en-US"/>
                </a:p>
              </p:txBody>
            </p:sp>
            <p:sp>
              <p:nvSpPr>
                <p:cNvPr id="77886" name="Freeform 114">
                  <a:extLst>
                    <a:ext uri="{FF2B5EF4-FFF2-40B4-BE49-F238E27FC236}">
                      <a16:creationId xmlns:a16="http://schemas.microsoft.com/office/drawing/2014/main" id="{7FF59969-DE4F-4345-BA92-8B0FFA940216}"/>
                    </a:ext>
                  </a:extLst>
                </p:cNvPr>
                <p:cNvSpPr>
                  <a:spLocks/>
                </p:cNvSpPr>
                <p:nvPr/>
              </p:nvSpPr>
              <p:spPr bwMode="auto">
                <a:xfrm rot="-5400000" flipH="1" flipV="1">
                  <a:off x="6416" y="4648"/>
                  <a:ext cx="429" cy="58"/>
                </a:xfrm>
                <a:custGeom>
                  <a:avLst/>
                  <a:gdLst>
                    <a:gd name="T0" fmla="*/ 0 w 429"/>
                    <a:gd name="T1" fmla="*/ 58 h 58"/>
                    <a:gd name="T2" fmla="*/ 210 w 429"/>
                    <a:gd name="T3" fmla="*/ 0 h 58"/>
                    <a:gd name="T4" fmla="*/ 429 w 429"/>
                    <a:gd name="T5" fmla="*/ 58 h 58"/>
                    <a:gd name="T6" fmla="*/ 0 60000 65536"/>
                    <a:gd name="T7" fmla="*/ 0 60000 65536"/>
                    <a:gd name="T8" fmla="*/ 0 60000 65536"/>
                    <a:gd name="T9" fmla="*/ 0 w 429"/>
                    <a:gd name="T10" fmla="*/ 0 h 58"/>
                    <a:gd name="T11" fmla="*/ 429 w 429"/>
                    <a:gd name="T12" fmla="*/ 58 h 58"/>
                  </a:gdLst>
                  <a:ahLst/>
                  <a:cxnLst>
                    <a:cxn ang="T6">
                      <a:pos x="T0" y="T1"/>
                    </a:cxn>
                    <a:cxn ang="T7">
                      <a:pos x="T2" y="T3"/>
                    </a:cxn>
                    <a:cxn ang="T8">
                      <a:pos x="T4" y="T5"/>
                    </a:cxn>
                  </a:cxnLst>
                  <a:rect l="T9" t="T10" r="T11" b="T12"/>
                  <a:pathLst>
                    <a:path w="429" h="58">
                      <a:moveTo>
                        <a:pt x="0" y="58"/>
                      </a:moveTo>
                      <a:cubicBezTo>
                        <a:pt x="69" y="29"/>
                        <a:pt x="139" y="0"/>
                        <a:pt x="210" y="0"/>
                      </a:cubicBezTo>
                      <a:cubicBezTo>
                        <a:pt x="281" y="0"/>
                        <a:pt x="355" y="29"/>
                        <a:pt x="429" y="58"/>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vert="eaVert"/>
                <a:lstStyle/>
                <a:p>
                  <a:endParaRPr lang="zh-CN" altLang="en-US"/>
                </a:p>
              </p:txBody>
            </p:sp>
          </p:grpSp>
          <p:sp>
            <p:nvSpPr>
              <p:cNvPr id="77848" name="Rectangle 115">
                <a:extLst>
                  <a:ext uri="{FF2B5EF4-FFF2-40B4-BE49-F238E27FC236}">
                    <a16:creationId xmlns:a16="http://schemas.microsoft.com/office/drawing/2014/main" id="{B0054C09-BB7D-4388-A861-20AF32AFDFF1}"/>
                  </a:ext>
                </a:extLst>
              </p:cNvPr>
              <p:cNvSpPr>
                <a:spLocks noChangeArrowheads="1"/>
              </p:cNvSpPr>
              <p:nvPr/>
            </p:nvSpPr>
            <p:spPr bwMode="auto">
              <a:xfrm>
                <a:off x="2168" y="3484"/>
                <a:ext cx="980" cy="19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p>
            </p:txBody>
          </p:sp>
          <p:sp>
            <p:nvSpPr>
              <p:cNvPr id="77849" name="Text Box 116">
                <a:extLst>
                  <a:ext uri="{FF2B5EF4-FFF2-40B4-BE49-F238E27FC236}">
                    <a16:creationId xmlns:a16="http://schemas.microsoft.com/office/drawing/2014/main" id="{B518BD0A-26A0-472C-8986-5548FC4830E2}"/>
                  </a:ext>
                </a:extLst>
              </p:cNvPr>
              <p:cNvSpPr txBox="1">
                <a:spLocks noChangeArrowheads="1"/>
              </p:cNvSpPr>
              <p:nvPr/>
            </p:nvSpPr>
            <p:spPr bwMode="auto">
              <a:xfrm>
                <a:off x="2227" y="3026"/>
                <a:ext cx="624"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zh-CN" altLang="en-US" sz="2000"/>
                  <a:t>探测器</a:t>
                </a:r>
              </a:p>
            </p:txBody>
          </p:sp>
          <p:sp>
            <p:nvSpPr>
              <p:cNvPr id="77850" name="Text Box 117">
                <a:extLst>
                  <a:ext uri="{FF2B5EF4-FFF2-40B4-BE49-F238E27FC236}">
                    <a16:creationId xmlns:a16="http://schemas.microsoft.com/office/drawing/2014/main" id="{9D784BC3-2094-4A7D-AE39-FF8AE9D64123}"/>
                  </a:ext>
                </a:extLst>
              </p:cNvPr>
              <p:cNvSpPr txBox="1">
                <a:spLocks noChangeArrowheads="1"/>
              </p:cNvSpPr>
              <p:nvPr/>
            </p:nvSpPr>
            <p:spPr bwMode="auto">
              <a:xfrm>
                <a:off x="3148" y="2965"/>
                <a:ext cx="37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zh-CN" altLang="en-US" sz="2000"/>
                  <a:t>频谱</a:t>
                </a:r>
              </a:p>
            </p:txBody>
          </p:sp>
          <p:sp>
            <p:nvSpPr>
              <p:cNvPr id="77851" name="Text Box 118">
                <a:extLst>
                  <a:ext uri="{FF2B5EF4-FFF2-40B4-BE49-F238E27FC236}">
                    <a16:creationId xmlns:a16="http://schemas.microsoft.com/office/drawing/2014/main" id="{32A723B6-BC9B-4D7D-B6A8-D780AD5A020B}"/>
                  </a:ext>
                </a:extLst>
              </p:cNvPr>
              <p:cNvSpPr txBox="1">
                <a:spLocks noChangeArrowheads="1"/>
              </p:cNvSpPr>
              <p:nvPr/>
            </p:nvSpPr>
            <p:spPr bwMode="auto">
              <a:xfrm>
                <a:off x="3077" y="3126"/>
                <a:ext cx="49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zh-CN" altLang="en-US" sz="2000"/>
                  <a:t>分析仪</a:t>
                </a:r>
              </a:p>
            </p:txBody>
          </p:sp>
          <p:sp>
            <p:nvSpPr>
              <p:cNvPr id="77852" name="Text Box 119">
                <a:extLst>
                  <a:ext uri="{FF2B5EF4-FFF2-40B4-BE49-F238E27FC236}">
                    <a16:creationId xmlns:a16="http://schemas.microsoft.com/office/drawing/2014/main" id="{E53C2D32-DE6C-4F5C-AE16-F5EB01C65E0A}"/>
                  </a:ext>
                </a:extLst>
              </p:cNvPr>
              <p:cNvSpPr txBox="1">
                <a:spLocks noChangeArrowheads="1"/>
              </p:cNvSpPr>
              <p:nvPr/>
            </p:nvSpPr>
            <p:spPr bwMode="auto">
              <a:xfrm>
                <a:off x="2207" y="3484"/>
                <a:ext cx="1007"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He-Ne</a:t>
                </a:r>
                <a:r>
                  <a:rPr kumimoji="0" lang="zh-CN" altLang="en-US" sz="2000"/>
                  <a:t>激光器</a:t>
                </a:r>
              </a:p>
            </p:txBody>
          </p:sp>
          <p:sp>
            <p:nvSpPr>
              <p:cNvPr id="77853" name="Freeform 120">
                <a:extLst>
                  <a:ext uri="{FF2B5EF4-FFF2-40B4-BE49-F238E27FC236}">
                    <a16:creationId xmlns:a16="http://schemas.microsoft.com/office/drawing/2014/main" id="{49C27AE6-FAC6-4FA7-AD55-8D13B8990025}"/>
                  </a:ext>
                </a:extLst>
              </p:cNvPr>
              <p:cNvSpPr>
                <a:spLocks/>
              </p:cNvSpPr>
              <p:nvPr/>
            </p:nvSpPr>
            <p:spPr bwMode="auto">
              <a:xfrm>
                <a:off x="1026" y="2234"/>
                <a:ext cx="1142" cy="1354"/>
              </a:xfrm>
              <a:custGeom>
                <a:avLst/>
                <a:gdLst>
                  <a:gd name="T0" fmla="*/ 49 w 1409"/>
                  <a:gd name="T1" fmla="*/ 1 h 2337"/>
                  <a:gd name="T2" fmla="*/ 0 w 1409"/>
                  <a:gd name="T3" fmla="*/ 1 h 2337"/>
                  <a:gd name="T4" fmla="*/ 0 w 1409"/>
                  <a:gd name="T5" fmla="*/ 0 h 2337"/>
                  <a:gd name="T6" fmla="*/ 0 60000 65536"/>
                  <a:gd name="T7" fmla="*/ 0 60000 65536"/>
                  <a:gd name="T8" fmla="*/ 0 60000 65536"/>
                  <a:gd name="T9" fmla="*/ 0 w 1409"/>
                  <a:gd name="T10" fmla="*/ 0 h 2337"/>
                  <a:gd name="T11" fmla="*/ 1409 w 1409"/>
                  <a:gd name="T12" fmla="*/ 2337 h 2337"/>
                </a:gdLst>
                <a:ahLst/>
                <a:cxnLst>
                  <a:cxn ang="T6">
                    <a:pos x="T0" y="T1"/>
                  </a:cxn>
                  <a:cxn ang="T7">
                    <a:pos x="T2" y="T3"/>
                  </a:cxn>
                  <a:cxn ang="T8">
                    <a:pos x="T4" y="T5"/>
                  </a:cxn>
                </a:cxnLst>
                <a:rect l="T9" t="T10" r="T11" b="T12"/>
                <a:pathLst>
                  <a:path w="1409" h="2337">
                    <a:moveTo>
                      <a:pt x="1409" y="2337"/>
                    </a:moveTo>
                    <a:lnTo>
                      <a:pt x="0" y="2337"/>
                    </a:lnTo>
                    <a:lnTo>
                      <a:pt x="0" y="0"/>
                    </a:lnTo>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54" name="Line 121">
                <a:extLst>
                  <a:ext uri="{FF2B5EF4-FFF2-40B4-BE49-F238E27FC236}">
                    <a16:creationId xmlns:a16="http://schemas.microsoft.com/office/drawing/2014/main" id="{4296A811-0343-4BC4-A6D4-EDE16437493E}"/>
                  </a:ext>
                </a:extLst>
              </p:cNvPr>
              <p:cNvSpPr>
                <a:spLocks noChangeShapeType="1"/>
              </p:cNvSpPr>
              <p:nvPr/>
            </p:nvSpPr>
            <p:spPr bwMode="auto">
              <a:xfrm flipH="1">
                <a:off x="923" y="2416"/>
                <a:ext cx="175" cy="1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5" name="Freeform 122">
                <a:extLst>
                  <a:ext uri="{FF2B5EF4-FFF2-40B4-BE49-F238E27FC236}">
                    <a16:creationId xmlns:a16="http://schemas.microsoft.com/office/drawing/2014/main" id="{08D2AA53-A442-40F4-8A9E-2703F295C9C6}"/>
                  </a:ext>
                </a:extLst>
              </p:cNvPr>
              <p:cNvSpPr>
                <a:spLocks/>
              </p:cNvSpPr>
              <p:nvPr/>
            </p:nvSpPr>
            <p:spPr bwMode="auto">
              <a:xfrm>
                <a:off x="1737" y="2931"/>
                <a:ext cx="431" cy="224"/>
              </a:xfrm>
              <a:custGeom>
                <a:avLst/>
                <a:gdLst>
                  <a:gd name="T0" fmla="*/ 19 w 532"/>
                  <a:gd name="T1" fmla="*/ 0 h 635"/>
                  <a:gd name="T2" fmla="*/ 0 w 532"/>
                  <a:gd name="T3" fmla="*/ 0 h 635"/>
                  <a:gd name="T4" fmla="*/ 0 w 532"/>
                  <a:gd name="T5" fmla="*/ 0 h 635"/>
                  <a:gd name="T6" fmla="*/ 0 60000 65536"/>
                  <a:gd name="T7" fmla="*/ 0 60000 65536"/>
                  <a:gd name="T8" fmla="*/ 0 60000 65536"/>
                  <a:gd name="T9" fmla="*/ 0 w 532"/>
                  <a:gd name="T10" fmla="*/ 0 h 635"/>
                  <a:gd name="T11" fmla="*/ 532 w 532"/>
                  <a:gd name="T12" fmla="*/ 635 h 635"/>
                </a:gdLst>
                <a:ahLst/>
                <a:cxnLst>
                  <a:cxn ang="T6">
                    <a:pos x="T0" y="T1"/>
                  </a:cxn>
                  <a:cxn ang="T7">
                    <a:pos x="T2" y="T3"/>
                  </a:cxn>
                  <a:cxn ang="T8">
                    <a:pos x="T4" y="T5"/>
                  </a:cxn>
                </a:cxnLst>
                <a:rect l="T9" t="T10" r="T11" b="T12"/>
                <a:pathLst>
                  <a:path w="532" h="635">
                    <a:moveTo>
                      <a:pt x="532" y="635"/>
                    </a:moveTo>
                    <a:lnTo>
                      <a:pt x="0" y="635"/>
                    </a:lnTo>
                    <a:lnTo>
                      <a:pt x="0" y="0"/>
                    </a:lnTo>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56" name="Freeform 123">
                <a:extLst>
                  <a:ext uri="{FF2B5EF4-FFF2-40B4-BE49-F238E27FC236}">
                    <a16:creationId xmlns:a16="http://schemas.microsoft.com/office/drawing/2014/main" id="{12FA400F-68C1-4B08-96E9-8619CC7E49D5}"/>
                  </a:ext>
                </a:extLst>
              </p:cNvPr>
              <p:cNvSpPr>
                <a:spLocks/>
              </p:cNvSpPr>
              <p:nvPr/>
            </p:nvSpPr>
            <p:spPr bwMode="auto">
              <a:xfrm>
                <a:off x="1658" y="2771"/>
                <a:ext cx="149" cy="113"/>
              </a:xfrm>
              <a:custGeom>
                <a:avLst/>
                <a:gdLst>
                  <a:gd name="T0" fmla="*/ 7 w 183"/>
                  <a:gd name="T1" fmla="*/ 0 h 195"/>
                  <a:gd name="T2" fmla="*/ 3 w 183"/>
                  <a:gd name="T3" fmla="*/ 1 h 195"/>
                  <a:gd name="T4" fmla="*/ 0 w 183"/>
                  <a:gd name="T5" fmla="*/ 0 h 195"/>
                  <a:gd name="T6" fmla="*/ 0 60000 65536"/>
                  <a:gd name="T7" fmla="*/ 0 60000 65536"/>
                  <a:gd name="T8" fmla="*/ 0 60000 65536"/>
                  <a:gd name="T9" fmla="*/ 0 w 183"/>
                  <a:gd name="T10" fmla="*/ 0 h 195"/>
                  <a:gd name="T11" fmla="*/ 183 w 183"/>
                  <a:gd name="T12" fmla="*/ 195 h 195"/>
                </a:gdLst>
                <a:ahLst/>
                <a:cxnLst>
                  <a:cxn ang="T6">
                    <a:pos x="T0" y="T1"/>
                  </a:cxn>
                  <a:cxn ang="T7">
                    <a:pos x="T2" y="T3"/>
                  </a:cxn>
                  <a:cxn ang="T8">
                    <a:pos x="T4" y="T5"/>
                  </a:cxn>
                </a:cxnLst>
                <a:rect l="T9" t="T10" r="T11" b="T12"/>
                <a:pathLst>
                  <a:path w="183" h="195">
                    <a:moveTo>
                      <a:pt x="183" y="0"/>
                    </a:moveTo>
                    <a:lnTo>
                      <a:pt x="86" y="195"/>
                    </a:lnTo>
                    <a:lnTo>
                      <a:pt x="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57" name="Line 124">
                <a:extLst>
                  <a:ext uri="{FF2B5EF4-FFF2-40B4-BE49-F238E27FC236}">
                    <a16:creationId xmlns:a16="http://schemas.microsoft.com/office/drawing/2014/main" id="{B25B5C33-A0D7-4A2E-8DDF-2F145423EDCB}"/>
                  </a:ext>
                </a:extLst>
              </p:cNvPr>
              <p:cNvSpPr>
                <a:spLocks noChangeShapeType="1"/>
              </p:cNvSpPr>
              <p:nvPr/>
            </p:nvSpPr>
            <p:spPr bwMode="auto">
              <a:xfrm>
                <a:off x="2741" y="3155"/>
                <a:ext cx="3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8" name="Oval 134">
                <a:extLst>
                  <a:ext uri="{FF2B5EF4-FFF2-40B4-BE49-F238E27FC236}">
                    <a16:creationId xmlns:a16="http://schemas.microsoft.com/office/drawing/2014/main" id="{A7C81DB8-B85A-4B63-9316-3E5F4057D6E1}"/>
                  </a:ext>
                </a:extLst>
              </p:cNvPr>
              <p:cNvSpPr>
                <a:spLocks noChangeArrowheads="1"/>
              </p:cNvSpPr>
              <p:nvPr/>
            </p:nvSpPr>
            <p:spPr bwMode="auto">
              <a:xfrm>
                <a:off x="1521" y="2987"/>
                <a:ext cx="216" cy="154"/>
              </a:xfrm>
              <a:prstGeom prst="ellipse">
                <a:avLst/>
              </a:prstGeom>
              <a:noFill/>
              <a:ln w="127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p>
            </p:txBody>
          </p:sp>
          <p:sp>
            <p:nvSpPr>
              <p:cNvPr id="77859" name="Oval 135">
                <a:extLst>
                  <a:ext uri="{FF2B5EF4-FFF2-40B4-BE49-F238E27FC236}">
                    <a16:creationId xmlns:a16="http://schemas.microsoft.com/office/drawing/2014/main" id="{031D0110-112A-48BF-8680-8ACC3F525F62}"/>
                  </a:ext>
                </a:extLst>
              </p:cNvPr>
              <p:cNvSpPr>
                <a:spLocks noChangeAspect="1" noChangeArrowheads="1"/>
              </p:cNvSpPr>
              <p:nvPr/>
            </p:nvSpPr>
            <p:spPr bwMode="auto">
              <a:xfrm>
                <a:off x="783" y="3214"/>
                <a:ext cx="243" cy="178"/>
              </a:xfrm>
              <a:prstGeom prst="ellipse">
                <a:avLst/>
              </a:prstGeom>
              <a:noFill/>
              <a:ln w="127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p>
            </p:txBody>
          </p:sp>
          <p:sp>
            <p:nvSpPr>
              <p:cNvPr id="77860" name="Text Box 136">
                <a:extLst>
                  <a:ext uri="{FF2B5EF4-FFF2-40B4-BE49-F238E27FC236}">
                    <a16:creationId xmlns:a16="http://schemas.microsoft.com/office/drawing/2014/main" id="{333BCB15-575B-4E89-8C16-3D1EF1354BE3}"/>
                  </a:ext>
                </a:extLst>
              </p:cNvPr>
              <p:cNvSpPr txBox="1">
                <a:spLocks noChangeArrowheads="1"/>
              </p:cNvSpPr>
              <p:nvPr/>
            </p:nvSpPr>
            <p:spPr bwMode="auto">
              <a:xfrm>
                <a:off x="748" y="2464"/>
                <a:ext cx="11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1</a:t>
                </a:r>
              </a:p>
            </p:txBody>
          </p:sp>
          <p:sp>
            <p:nvSpPr>
              <p:cNvPr id="77861" name="Text Box 137">
                <a:extLst>
                  <a:ext uri="{FF2B5EF4-FFF2-40B4-BE49-F238E27FC236}">
                    <a16:creationId xmlns:a16="http://schemas.microsoft.com/office/drawing/2014/main" id="{30FFE6C9-4304-449A-83FF-5C645AE8935B}"/>
                  </a:ext>
                </a:extLst>
              </p:cNvPr>
              <p:cNvSpPr txBox="1">
                <a:spLocks noChangeArrowheads="1"/>
              </p:cNvSpPr>
              <p:nvPr/>
            </p:nvSpPr>
            <p:spPr bwMode="auto">
              <a:xfrm>
                <a:off x="1079" y="1968"/>
                <a:ext cx="11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2</a:t>
                </a:r>
              </a:p>
            </p:txBody>
          </p:sp>
          <p:sp>
            <p:nvSpPr>
              <p:cNvPr id="77862" name="Text Box 138">
                <a:extLst>
                  <a:ext uri="{FF2B5EF4-FFF2-40B4-BE49-F238E27FC236}">
                    <a16:creationId xmlns:a16="http://schemas.microsoft.com/office/drawing/2014/main" id="{3FFF878B-B674-48AA-A0F7-D57346D96A27}"/>
                  </a:ext>
                </a:extLst>
              </p:cNvPr>
              <p:cNvSpPr txBox="1">
                <a:spLocks noChangeArrowheads="1"/>
              </p:cNvSpPr>
              <p:nvPr/>
            </p:nvSpPr>
            <p:spPr bwMode="auto">
              <a:xfrm>
                <a:off x="1930" y="1979"/>
                <a:ext cx="11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3</a:t>
                </a:r>
              </a:p>
            </p:txBody>
          </p:sp>
          <p:sp>
            <p:nvSpPr>
              <p:cNvPr id="77863" name="Text Box 139">
                <a:extLst>
                  <a:ext uri="{FF2B5EF4-FFF2-40B4-BE49-F238E27FC236}">
                    <a16:creationId xmlns:a16="http://schemas.microsoft.com/office/drawing/2014/main" id="{9C7C6170-B96B-48B8-B2C7-24ACA2CAFDC7}"/>
                  </a:ext>
                </a:extLst>
              </p:cNvPr>
              <p:cNvSpPr txBox="1">
                <a:spLocks noChangeArrowheads="1"/>
              </p:cNvSpPr>
              <p:nvPr/>
            </p:nvSpPr>
            <p:spPr bwMode="auto">
              <a:xfrm>
                <a:off x="2420" y="1939"/>
                <a:ext cx="11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4</a:t>
                </a:r>
              </a:p>
            </p:txBody>
          </p:sp>
          <p:sp>
            <p:nvSpPr>
              <p:cNvPr id="77864" name="Text Box 140">
                <a:extLst>
                  <a:ext uri="{FF2B5EF4-FFF2-40B4-BE49-F238E27FC236}">
                    <a16:creationId xmlns:a16="http://schemas.microsoft.com/office/drawing/2014/main" id="{C7E79C5B-12BA-44A0-A74D-EC1947B69AA6}"/>
                  </a:ext>
                </a:extLst>
              </p:cNvPr>
              <p:cNvSpPr txBox="1">
                <a:spLocks noChangeArrowheads="1"/>
              </p:cNvSpPr>
              <p:nvPr/>
            </p:nvSpPr>
            <p:spPr bwMode="auto">
              <a:xfrm>
                <a:off x="3612" y="1916"/>
                <a:ext cx="11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5</a:t>
                </a:r>
              </a:p>
            </p:txBody>
          </p:sp>
          <p:sp>
            <p:nvSpPr>
              <p:cNvPr id="77865" name="Text Box 141">
                <a:extLst>
                  <a:ext uri="{FF2B5EF4-FFF2-40B4-BE49-F238E27FC236}">
                    <a16:creationId xmlns:a16="http://schemas.microsoft.com/office/drawing/2014/main" id="{83D542DA-406E-40F5-986B-F155D126836A}"/>
                  </a:ext>
                </a:extLst>
              </p:cNvPr>
              <p:cNvSpPr txBox="1">
                <a:spLocks noChangeArrowheads="1"/>
              </p:cNvSpPr>
              <p:nvPr/>
            </p:nvSpPr>
            <p:spPr bwMode="auto">
              <a:xfrm>
                <a:off x="2766" y="2527"/>
                <a:ext cx="11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6</a:t>
                </a:r>
              </a:p>
            </p:txBody>
          </p:sp>
          <p:sp>
            <p:nvSpPr>
              <p:cNvPr id="77866" name="Text Box 142">
                <a:extLst>
                  <a:ext uri="{FF2B5EF4-FFF2-40B4-BE49-F238E27FC236}">
                    <a16:creationId xmlns:a16="http://schemas.microsoft.com/office/drawing/2014/main" id="{696378D5-8C90-49A5-BA7F-1ED5AAEB9807}"/>
                  </a:ext>
                </a:extLst>
              </p:cNvPr>
              <p:cNvSpPr txBox="1">
                <a:spLocks noChangeArrowheads="1"/>
              </p:cNvSpPr>
              <p:nvPr/>
            </p:nvSpPr>
            <p:spPr bwMode="auto">
              <a:xfrm>
                <a:off x="1849" y="2931"/>
                <a:ext cx="11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7</a:t>
                </a:r>
              </a:p>
            </p:txBody>
          </p:sp>
          <p:sp>
            <p:nvSpPr>
              <p:cNvPr id="77867" name="Text Box 143">
                <a:extLst>
                  <a:ext uri="{FF2B5EF4-FFF2-40B4-BE49-F238E27FC236}">
                    <a16:creationId xmlns:a16="http://schemas.microsoft.com/office/drawing/2014/main" id="{BF7C03E0-688B-4360-9C0B-EB3B2C3F4CCE}"/>
                  </a:ext>
                </a:extLst>
              </p:cNvPr>
              <p:cNvSpPr txBox="1">
                <a:spLocks noChangeArrowheads="1"/>
              </p:cNvSpPr>
              <p:nvPr/>
            </p:nvSpPr>
            <p:spPr bwMode="auto">
              <a:xfrm>
                <a:off x="1304" y="3334"/>
                <a:ext cx="11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8</a:t>
                </a:r>
              </a:p>
            </p:txBody>
          </p:sp>
          <p:sp>
            <p:nvSpPr>
              <p:cNvPr id="77868" name="Text Box 145">
                <a:extLst>
                  <a:ext uri="{FF2B5EF4-FFF2-40B4-BE49-F238E27FC236}">
                    <a16:creationId xmlns:a16="http://schemas.microsoft.com/office/drawing/2014/main" id="{20005CBA-D1D1-495D-9E79-BA35EFC244FF}"/>
                  </a:ext>
                </a:extLst>
              </p:cNvPr>
              <p:cNvSpPr txBox="1">
                <a:spLocks noChangeArrowheads="1"/>
              </p:cNvSpPr>
              <p:nvPr/>
            </p:nvSpPr>
            <p:spPr bwMode="auto">
              <a:xfrm>
                <a:off x="1350" y="3927"/>
                <a:ext cx="12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endParaRPr kumimoji="0" lang="zh-CN" altLang="zh-CN" sz="2000"/>
              </a:p>
            </p:txBody>
          </p:sp>
          <p:sp>
            <p:nvSpPr>
              <p:cNvPr id="77869" name="Line 152">
                <a:extLst>
                  <a:ext uri="{FF2B5EF4-FFF2-40B4-BE49-F238E27FC236}">
                    <a16:creationId xmlns:a16="http://schemas.microsoft.com/office/drawing/2014/main" id="{C20A4007-304E-49F0-9633-E40D108AD234}"/>
                  </a:ext>
                </a:extLst>
              </p:cNvPr>
              <p:cNvSpPr>
                <a:spLocks noChangeShapeType="1"/>
              </p:cNvSpPr>
              <p:nvPr/>
            </p:nvSpPr>
            <p:spPr bwMode="auto">
              <a:xfrm flipH="1">
                <a:off x="1127" y="3457"/>
                <a:ext cx="158" cy="1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0" name="Line 153">
                <a:extLst>
                  <a:ext uri="{FF2B5EF4-FFF2-40B4-BE49-F238E27FC236}">
                    <a16:creationId xmlns:a16="http://schemas.microsoft.com/office/drawing/2014/main" id="{25E0FD15-1497-4FEC-B79B-99D26FC103EF}"/>
                  </a:ext>
                </a:extLst>
              </p:cNvPr>
              <p:cNvSpPr>
                <a:spLocks noChangeShapeType="1"/>
              </p:cNvSpPr>
              <p:nvPr/>
            </p:nvSpPr>
            <p:spPr bwMode="auto">
              <a:xfrm flipH="1">
                <a:off x="1737" y="3044"/>
                <a:ext cx="79" cy="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1" name="Line 154">
                <a:extLst>
                  <a:ext uri="{FF2B5EF4-FFF2-40B4-BE49-F238E27FC236}">
                    <a16:creationId xmlns:a16="http://schemas.microsoft.com/office/drawing/2014/main" id="{F9D56875-EFAA-43BB-B1CD-C1FAF150F3C7}"/>
                  </a:ext>
                </a:extLst>
              </p:cNvPr>
              <p:cNvSpPr>
                <a:spLocks noChangeShapeType="1"/>
              </p:cNvSpPr>
              <p:nvPr/>
            </p:nvSpPr>
            <p:spPr bwMode="auto">
              <a:xfrm flipH="1">
                <a:off x="3464" y="2033"/>
                <a:ext cx="119" cy="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2" name="Line 155">
                <a:extLst>
                  <a:ext uri="{FF2B5EF4-FFF2-40B4-BE49-F238E27FC236}">
                    <a16:creationId xmlns:a16="http://schemas.microsoft.com/office/drawing/2014/main" id="{8D810483-4DE9-41BC-B03B-32596CFD98EB}"/>
                  </a:ext>
                </a:extLst>
              </p:cNvPr>
              <p:cNvSpPr>
                <a:spLocks noChangeShapeType="1"/>
              </p:cNvSpPr>
              <p:nvPr/>
            </p:nvSpPr>
            <p:spPr bwMode="auto">
              <a:xfrm>
                <a:off x="2812" y="3159"/>
                <a:ext cx="1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7873" name="Line 156">
                <a:extLst>
                  <a:ext uri="{FF2B5EF4-FFF2-40B4-BE49-F238E27FC236}">
                    <a16:creationId xmlns:a16="http://schemas.microsoft.com/office/drawing/2014/main" id="{D582D4FA-3E51-4C2D-B160-FA36DF88DF50}"/>
                  </a:ext>
                </a:extLst>
              </p:cNvPr>
              <p:cNvSpPr>
                <a:spLocks noChangeShapeType="1"/>
              </p:cNvSpPr>
              <p:nvPr/>
            </p:nvSpPr>
            <p:spPr bwMode="auto">
              <a:xfrm>
                <a:off x="1324" y="2238"/>
                <a:ext cx="1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7874" name="Line 157">
                <a:extLst>
                  <a:ext uri="{FF2B5EF4-FFF2-40B4-BE49-F238E27FC236}">
                    <a16:creationId xmlns:a16="http://schemas.microsoft.com/office/drawing/2014/main" id="{EF804097-378F-4826-A8CF-861981B2CE94}"/>
                  </a:ext>
                </a:extLst>
              </p:cNvPr>
              <p:cNvSpPr>
                <a:spLocks noChangeShapeType="1"/>
              </p:cNvSpPr>
              <p:nvPr/>
            </p:nvSpPr>
            <p:spPr bwMode="auto">
              <a:xfrm>
                <a:off x="1228" y="2487"/>
                <a:ext cx="1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7875" name="Line 158">
                <a:extLst>
                  <a:ext uri="{FF2B5EF4-FFF2-40B4-BE49-F238E27FC236}">
                    <a16:creationId xmlns:a16="http://schemas.microsoft.com/office/drawing/2014/main" id="{E63F15F9-6D20-4498-946D-0C5590537191}"/>
                  </a:ext>
                </a:extLst>
              </p:cNvPr>
              <p:cNvSpPr>
                <a:spLocks noChangeShapeType="1"/>
              </p:cNvSpPr>
              <p:nvPr/>
            </p:nvSpPr>
            <p:spPr bwMode="auto">
              <a:xfrm flipV="1">
                <a:off x="1027" y="2256"/>
                <a:ext cx="0" cy="144"/>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7876" name="Line 159">
                <a:extLst>
                  <a:ext uri="{FF2B5EF4-FFF2-40B4-BE49-F238E27FC236}">
                    <a16:creationId xmlns:a16="http://schemas.microsoft.com/office/drawing/2014/main" id="{2BA20D1E-F769-4221-A568-C3F72EBFC6D9}"/>
                  </a:ext>
                </a:extLst>
              </p:cNvPr>
              <p:cNvSpPr>
                <a:spLocks noChangeShapeType="1"/>
              </p:cNvSpPr>
              <p:nvPr/>
            </p:nvSpPr>
            <p:spPr bwMode="auto">
              <a:xfrm flipV="1">
                <a:off x="1027" y="2544"/>
                <a:ext cx="0" cy="144"/>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7877" name="Line 161">
                <a:extLst>
                  <a:ext uri="{FF2B5EF4-FFF2-40B4-BE49-F238E27FC236}">
                    <a16:creationId xmlns:a16="http://schemas.microsoft.com/office/drawing/2014/main" id="{14585172-BC6B-419D-9D55-F4C4B63643B5}"/>
                  </a:ext>
                </a:extLst>
              </p:cNvPr>
              <p:cNvSpPr>
                <a:spLocks noChangeShapeType="1"/>
              </p:cNvSpPr>
              <p:nvPr/>
            </p:nvSpPr>
            <p:spPr bwMode="auto">
              <a:xfrm flipH="1">
                <a:off x="2044" y="2313"/>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7878" name="Line 162">
                <a:extLst>
                  <a:ext uri="{FF2B5EF4-FFF2-40B4-BE49-F238E27FC236}">
                    <a16:creationId xmlns:a16="http://schemas.microsoft.com/office/drawing/2014/main" id="{6201E229-7F19-4FB0-9AF9-E0F3271A1737}"/>
                  </a:ext>
                </a:extLst>
              </p:cNvPr>
              <p:cNvSpPr>
                <a:spLocks noChangeShapeType="1"/>
              </p:cNvSpPr>
              <p:nvPr/>
            </p:nvSpPr>
            <p:spPr bwMode="auto">
              <a:xfrm flipH="1">
                <a:off x="2044" y="2409"/>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7879" name="Line 164">
                <a:extLst>
                  <a:ext uri="{FF2B5EF4-FFF2-40B4-BE49-F238E27FC236}">
                    <a16:creationId xmlns:a16="http://schemas.microsoft.com/office/drawing/2014/main" id="{B8A79662-3304-4D18-9EBC-31A05DA3B782}"/>
                  </a:ext>
                </a:extLst>
              </p:cNvPr>
              <p:cNvSpPr>
                <a:spLocks noChangeShapeType="1"/>
              </p:cNvSpPr>
              <p:nvPr/>
            </p:nvSpPr>
            <p:spPr bwMode="auto">
              <a:xfrm>
                <a:off x="2476" y="2238"/>
                <a:ext cx="306" cy="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7880" name="Line 165">
                <a:extLst>
                  <a:ext uri="{FF2B5EF4-FFF2-40B4-BE49-F238E27FC236}">
                    <a16:creationId xmlns:a16="http://schemas.microsoft.com/office/drawing/2014/main" id="{F930C2E6-2E1A-4C4C-9C2E-D62B0F628C05}"/>
                  </a:ext>
                </a:extLst>
              </p:cNvPr>
              <p:cNvSpPr>
                <a:spLocks noChangeShapeType="1"/>
              </p:cNvSpPr>
              <p:nvPr/>
            </p:nvSpPr>
            <p:spPr bwMode="auto">
              <a:xfrm flipV="1">
                <a:off x="2572" y="2418"/>
                <a:ext cx="240" cy="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7881" name="Line 169">
                <a:extLst>
                  <a:ext uri="{FF2B5EF4-FFF2-40B4-BE49-F238E27FC236}">
                    <a16:creationId xmlns:a16="http://schemas.microsoft.com/office/drawing/2014/main" id="{38CF9BBA-B7D6-430B-90A8-FCA5B54E4318}"/>
                  </a:ext>
                </a:extLst>
              </p:cNvPr>
              <p:cNvSpPr>
                <a:spLocks noChangeShapeType="1"/>
              </p:cNvSpPr>
              <p:nvPr/>
            </p:nvSpPr>
            <p:spPr bwMode="auto">
              <a:xfrm>
                <a:off x="1036" y="2112"/>
                <a:ext cx="48" cy="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7882" name="Line 170">
                <a:extLst>
                  <a:ext uri="{FF2B5EF4-FFF2-40B4-BE49-F238E27FC236}">
                    <a16:creationId xmlns:a16="http://schemas.microsoft.com/office/drawing/2014/main" id="{D818839C-98BD-4FAA-B4EB-67927141E992}"/>
                  </a:ext>
                </a:extLst>
              </p:cNvPr>
              <p:cNvSpPr>
                <a:spLocks noChangeShapeType="1"/>
              </p:cNvSpPr>
              <p:nvPr/>
            </p:nvSpPr>
            <p:spPr bwMode="auto">
              <a:xfrm>
                <a:off x="988" y="2160"/>
                <a:ext cx="48" cy="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7883" name="Line 171">
                <a:extLst>
                  <a:ext uri="{FF2B5EF4-FFF2-40B4-BE49-F238E27FC236}">
                    <a16:creationId xmlns:a16="http://schemas.microsoft.com/office/drawing/2014/main" id="{CABA4A27-6103-4DF4-89A5-7A069D4AB532}"/>
                  </a:ext>
                </a:extLst>
              </p:cNvPr>
              <p:cNvSpPr>
                <a:spLocks noChangeShapeType="1"/>
              </p:cNvSpPr>
              <p:nvPr/>
            </p:nvSpPr>
            <p:spPr bwMode="auto">
              <a:xfrm>
                <a:off x="883" y="2247"/>
                <a:ext cx="48" cy="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7884" name="Line 172">
                <a:extLst>
                  <a:ext uri="{FF2B5EF4-FFF2-40B4-BE49-F238E27FC236}">
                    <a16:creationId xmlns:a16="http://schemas.microsoft.com/office/drawing/2014/main" id="{C98C336E-EFDA-48BC-AC93-57F1A7D8FF7B}"/>
                  </a:ext>
                </a:extLst>
              </p:cNvPr>
              <p:cNvSpPr>
                <a:spLocks noChangeShapeType="1"/>
              </p:cNvSpPr>
              <p:nvPr/>
            </p:nvSpPr>
            <p:spPr bwMode="auto">
              <a:xfrm>
                <a:off x="940" y="2208"/>
                <a:ext cx="48" cy="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77830" name="Text Box 109">
              <a:extLst>
                <a:ext uri="{FF2B5EF4-FFF2-40B4-BE49-F238E27FC236}">
                  <a16:creationId xmlns:a16="http://schemas.microsoft.com/office/drawing/2014/main" id="{48F1FCCE-C9CF-4C15-8B5D-F8054244A67B}"/>
                </a:ext>
              </a:extLst>
            </p:cNvPr>
            <p:cNvSpPr txBox="1">
              <a:spLocks noChangeArrowheads="1"/>
            </p:cNvSpPr>
            <p:nvPr/>
          </p:nvSpPr>
          <p:spPr bwMode="auto">
            <a:xfrm>
              <a:off x="3733" y="1899"/>
              <a:ext cx="1860" cy="1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FontTx/>
                <a:buNone/>
              </a:pPr>
              <a:r>
                <a:rPr kumimoji="0" lang="en-US" altLang="zh-CN" sz="2400">
                  <a:ea typeface="楷体_GB2312" pitchFamily="49" charset="-122"/>
                </a:rPr>
                <a:t>1</a:t>
              </a:r>
              <a:r>
                <a:rPr kumimoji="0" lang="zh-CN" altLang="en-US" sz="2400">
                  <a:ea typeface="楷体_GB2312" pitchFamily="49" charset="-122"/>
                </a:rPr>
                <a:t>、</a:t>
              </a:r>
              <a:r>
                <a:rPr kumimoji="0" lang="en-US" altLang="zh-CN" sz="2400">
                  <a:ea typeface="楷体_GB2312" pitchFamily="49" charset="-122"/>
                </a:rPr>
                <a:t>3—— </a:t>
              </a:r>
              <a:r>
                <a:rPr kumimoji="0" lang="zh-CN" altLang="en-US" sz="2400">
                  <a:ea typeface="楷体_GB2312" pitchFamily="49" charset="-122"/>
                </a:rPr>
                <a:t>分束器；</a:t>
              </a:r>
            </a:p>
            <a:p>
              <a:pPr eaLnBrk="1" hangingPunct="1">
                <a:lnSpc>
                  <a:spcPct val="120000"/>
                </a:lnSpc>
                <a:spcBef>
                  <a:spcPct val="0"/>
                </a:spcBef>
                <a:buFontTx/>
                <a:buNone/>
              </a:pPr>
              <a:r>
                <a:rPr kumimoji="0" lang="en-US" altLang="zh-CN" sz="2400">
                  <a:ea typeface="楷体_GB2312" pitchFamily="49" charset="-122"/>
                </a:rPr>
                <a:t>2 ——</a:t>
              </a:r>
              <a:r>
                <a:rPr kumimoji="0" lang="zh-CN" altLang="en-US" sz="2400">
                  <a:ea typeface="楷体_GB2312" pitchFamily="49" charset="-122"/>
                </a:rPr>
                <a:t>反射镜；</a:t>
              </a:r>
            </a:p>
            <a:p>
              <a:pPr eaLnBrk="1" hangingPunct="1">
                <a:lnSpc>
                  <a:spcPct val="120000"/>
                </a:lnSpc>
                <a:spcBef>
                  <a:spcPct val="0"/>
                </a:spcBef>
                <a:buFontTx/>
                <a:buNone/>
              </a:pPr>
              <a:r>
                <a:rPr kumimoji="0" lang="en-US" altLang="zh-CN" sz="2400">
                  <a:ea typeface="楷体_GB2312" pitchFamily="49" charset="-122"/>
                </a:rPr>
                <a:t>4—— </a:t>
              </a:r>
              <a:r>
                <a:rPr kumimoji="0" lang="zh-CN" altLang="en-US" sz="2400">
                  <a:ea typeface="楷体_GB2312" pitchFamily="49" charset="-122"/>
                </a:rPr>
                <a:t>透镜；</a:t>
              </a:r>
            </a:p>
            <a:p>
              <a:pPr eaLnBrk="1" hangingPunct="1">
                <a:lnSpc>
                  <a:spcPct val="120000"/>
                </a:lnSpc>
                <a:spcBef>
                  <a:spcPct val="0"/>
                </a:spcBef>
                <a:buFontTx/>
                <a:buNone/>
              </a:pPr>
              <a:r>
                <a:rPr kumimoji="0" lang="en-US" altLang="zh-CN" sz="2400">
                  <a:ea typeface="楷体_GB2312" pitchFamily="49" charset="-122"/>
                </a:rPr>
                <a:t>5 ——</a:t>
              </a:r>
              <a:r>
                <a:rPr kumimoji="0" lang="zh-CN" altLang="en-US" sz="2400">
                  <a:ea typeface="楷体_GB2312" pitchFamily="49" charset="-122"/>
                </a:rPr>
                <a:t>流体管道；</a:t>
              </a:r>
            </a:p>
            <a:p>
              <a:pPr eaLnBrk="1" hangingPunct="1">
                <a:lnSpc>
                  <a:spcPct val="120000"/>
                </a:lnSpc>
                <a:spcBef>
                  <a:spcPct val="0"/>
                </a:spcBef>
                <a:buFontTx/>
                <a:buNone/>
              </a:pPr>
              <a:r>
                <a:rPr kumimoji="0" lang="en-US" altLang="zh-CN" sz="2400">
                  <a:ea typeface="楷体_GB2312" pitchFamily="49" charset="-122"/>
                </a:rPr>
                <a:t>6 ——</a:t>
              </a:r>
              <a:r>
                <a:rPr kumimoji="0" lang="zh-CN" altLang="en-US" sz="2400">
                  <a:ea typeface="楷体_GB2312" pitchFamily="49" charset="-122"/>
                </a:rPr>
                <a:t>窗口；</a:t>
              </a:r>
            </a:p>
            <a:p>
              <a:pPr eaLnBrk="1" hangingPunct="1">
                <a:lnSpc>
                  <a:spcPct val="120000"/>
                </a:lnSpc>
                <a:spcBef>
                  <a:spcPct val="0"/>
                </a:spcBef>
                <a:buFontTx/>
                <a:buNone/>
              </a:pPr>
              <a:r>
                <a:rPr kumimoji="0" lang="en-US" altLang="zh-CN" sz="2400">
                  <a:ea typeface="楷体_GB2312" pitchFamily="49" charset="-122"/>
                </a:rPr>
                <a:t>7</a:t>
              </a:r>
              <a:r>
                <a:rPr kumimoji="0" lang="zh-CN" altLang="en-US" sz="2400">
                  <a:ea typeface="楷体_GB2312" pitchFamily="49" charset="-122"/>
                </a:rPr>
                <a:t>、</a:t>
              </a:r>
              <a:r>
                <a:rPr kumimoji="0" lang="en-US" altLang="zh-CN" sz="2400">
                  <a:ea typeface="楷体_GB2312" pitchFamily="49" charset="-122"/>
                </a:rPr>
                <a:t>8 ——</a:t>
              </a:r>
              <a:r>
                <a:rPr kumimoji="0" lang="zh-CN" altLang="en-US" sz="2400">
                  <a:ea typeface="楷体_GB2312" pitchFamily="49" charset="-122"/>
                </a:rPr>
                <a:t>光纤</a:t>
              </a:r>
            </a:p>
          </p:txBody>
        </p:sp>
      </p:gr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a:extLst>
              <a:ext uri="{FF2B5EF4-FFF2-40B4-BE49-F238E27FC236}">
                <a16:creationId xmlns:a16="http://schemas.microsoft.com/office/drawing/2014/main" id="{4C60EA5D-E441-42E2-8DE2-3D9649C7DD5E}"/>
              </a:ext>
            </a:extLst>
          </p:cNvPr>
          <p:cNvSpPr txBox="1">
            <a:spLocks noChangeArrowheads="1"/>
          </p:cNvSpPr>
          <p:nvPr/>
        </p:nvSpPr>
        <p:spPr bwMode="auto">
          <a:xfrm>
            <a:off x="393700" y="328613"/>
            <a:ext cx="4824413"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a:solidFill>
                  <a:schemeClr val="accent2"/>
                </a:solidFill>
                <a:ea typeface="楷体_GB2312" pitchFamily="49" charset="-122"/>
              </a:rPr>
              <a:t>＊气液两相流的光纤检测技术</a:t>
            </a:r>
          </a:p>
        </p:txBody>
      </p:sp>
      <p:sp>
        <p:nvSpPr>
          <p:cNvPr id="78851" name="Text Box 3">
            <a:extLst>
              <a:ext uri="{FF2B5EF4-FFF2-40B4-BE49-F238E27FC236}">
                <a16:creationId xmlns:a16="http://schemas.microsoft.com/office/drawing/2014/main" id="{50E05115-D65A-41F3-A3FB-6F12178D0FCA}"/>
              </a:ext>
            </a:extLst>
          </p:cNvPr>
          <p:cNvSpPr txBox="1">
            <a:spLocks noChangeArrowheads="1"/>
          </p:cNvSpPr>
          <p:nvPr/>
        </p:nvSpPr>
        <p:spPr bwMode="auto">
          <a:xfrm>
            <a:off x="395288" y="835025"/>
            <a:ext cx="8353425"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气液两相流是气体和液体的混合流体。这里介绍的为在透明液体中存在气泡时，对气泡的流速、气泡直径和气泡率等参数的测量。</a:t>
            </a:r>
          </a:p>
        </p:txBody>
      </p:sp>
      <p:sp>
        <p:nvSpPr>
          <p:cNvPr id="78852" name="Text Box 4">
            <a:extLst>
              <a:ext uri="{FF2B5EF4-FFF2-40B4-BE49-F238E27FC236}">
                <a16:creationId xmlns:a16="http://schemas.microsoft.com/office/drawing/2014/main" id="{155AD450-57EC-4C3A-9B49-849E11B3C68E}"/>
              </a:ext>
            </a:extLst>
          </p:cNvPr>
          <p:cNvSpPr txBox="1">
            <a:spLocks noChangeArrowheads="1"/>
          </p:cNvSpPr>
          <p:nvPr/>
        </p:nvSpPr>
        <p:spPr bwMode="auto">
          <a:xfrm>
            <a:off x="539750" y="2362200"/>
            <a:ext cx="820896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下图示出了气液两相流的检测原理。</a:t>
            </a:r>
          </a:p>
        </p:txBody>
      </p:sp>
      <p:pic>
        <p:nvPicPr>
          <p:cNvPr id="78853" name="Picture 5" descr="IMG_3940">
            <a:extLst>
              <a:ext uri="{FF2B5EF4-FFF2-40B4-BE49-F238E27FC236}">
                <a16:creationId xmlns:a16="http://schemas.microsoft.com/office/drawing/2014/main" id="{74E3B1C1-099B-4F63-BB3E-31832AF0DE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91" t="6169" r="3932" b="3525"/>
          <a:stretch>
            <a:fillRect/>
          </a:stretch>
        </p:blipFill>
        <p:spPr bwMode="auto">
          <a:xfrm>
            <a:off x="1735138" y="2836863"/>
            <a:ext cx="5818187"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a:extLst>
              <a:ext uri="{FF2B5EF4-FFF2-40B4-BE49-F238E27FC236}">
                <a16:creationId xmlns:a16="http://schemas.microsoft.com/office/drawing/2014/main" id="{CADE5F3E-92E1-4C7B-A8E0-BDE514FD0A42}"/>
              </a:ext>
            </a:extLst>
          </p:cNvPr>
          <p:cNvSpPr txBox="1">
            <a:spLocks noChangeArrowheads="1"/>
          </p:cNvSpPr>
          <p:nvPr/>
        </p:nvSpPr>
        <p:spPr bwMode="auto">
          <a:xfrm>
            <a:off x="323850" y="333375"/>
            <a:ext cx="8569325"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t" hangingPunct="1">
              <a:lnSpc>
                <a:spcPct val="130000"/>
              </a:lnSpc>
              <a:spcBef>
                <a:spcPct val="10000"/>
              </a:spcBef>
              <a:buClr>
                <a:srgbClr val="FFFF00"/>
              </a:buClr>
              <a:buSzPct val="80000"/>
              <a:buFont typeface="Wingdings" panose="05000000000000000000" pitchFamily="2" charset="2"/>
              <a:buNone/>
            </a:pPr>
            <a:r>
              <a:rPr kumimoji="0" lang="en-US" altLang="zh-CN" sz="2400">
                <a:ea typeface="楷体_GB2312" pitchFamily="49" charset="-122"/>
              </a:rPr>
              <a:t>        </a:t>
            </a:r>
            <a:r>
              <a:rPr kumimoji="0" lang="zh-CN" altLang="en-US" sz="2400">
                <a:ea typeface="楷体_GB2312" pitchFamily="49" charset="-122"/>
              </a:rPr>
              <a:t>根据菲涅尔反射定律，在上图中三种情况下，从光纤端面反射回光纤的反射光强分别可表示为</a:t>
            </a:r>
          </a:p>
        </p:txBody>
      </p:sp>
      <p:graphicFrame>
        <p:nvGraphicFramePr>
          <p:cNvPr id="79875" name="Object 3">
            <a:extLst>
              <a:ext uri="{FF2B5EF4-FFF2-40B4-BE49-F238E27FC236}">
                <a16:creationId xmlns:a16="http://schemas.microsoft.com/office/drawing/2014/main" id="{8696966A-8205-4B2B-944F-9113AF5ED7AF}"/>
              </a:ext>
            </a:extLst>
          </p:cNvPr>
          <p:cNvGraphicFramePr>
            <a:graphicFrameLocks noChangeAspect="1"/>
          </p:cNvGraphicFramePr>
          <p:nvPr/>
        </p:nvGraphicFramePr>
        <p:xfrm>
          <a:off x="3059113" y="1412875"/>
          <a:ext cx="2808287" cy="1030288"/>
        </p:xfrm>
        <a:graphic>
          <a:graphicData uri="http://schemas.openxmlformats.org/presentationml/2006/ole">
            <mc:AlternateContent xmlns:mc="http://schemas.openxmlformats.org/markup-compatibility/2006">
              <mc:Choice xmlns:v="urn:schemas-microsoft-com:vml" Requires="v">
                <p:oleObj spid="_x0000_s79927" name="Equation" r:id="rId3" imgW="1384300" imgH="508000" progId="Equation.DSMT4">
                  <p:embed/>
                </p:oleObj>
              </mc:Choice>
              <mc:Fallback>
                <p:oleObj name="Equation" r:id="rId3" imgW="1384300" imgH="5080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1412875"/>
                        <a:ext cx="2808287" cy="1030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76" name="Object 4">
            <a:extLst>
              <a:ext uri="{FF2B5EF4-FFF2-40B4-BE49-F238E27FC236}">
                <a16:creationId xmlns:a16="http://schemas.microsoft.com/office/drawing/2014/main" id="{C332CABF-CFDB-4CB2-91A4-206B7BA1F0A4}"/>
              </a:ext>
            </a:extLst>
          </p:cNvPr>
          <p:cNvGraphicFramePr>
            <a:graphicFrameLocks noChangeAspect="1"/>
          </p:cNvGraphicFramePr>
          <p:nvPr/>
        </p:nvGraphicFramePr>
        <p:xfrm>
          <a:off x="3101975" y="2492375"/>
          <a:ext cx="2663825" cy="1301750"/>
        </p:xfrm>
        <a:graphic>
          <a:graphicData uri="http://schemas.openxmlformats.org/presentationml/2006/ole">
            <mc:AlternateContent xmlns:mc="http://schemas.openxmlformats.org/markup-compatibility/2006">
              <mc:Choice xmlns:v="urn:schemas-microsoft-com:vml" Requires="v">
                <p:oleObj spid="_x0000_s79928" name="Equation" r:id="rId5" imgW="1117115" imgH="545863" progId="Equation.DSMT4">
                  <p:embed/>
                </p:oleObj>
              </mc:Choice>
              <mc:Fallback>
                <p:oleObj name="Equation" r:id="rId5" imgW="1117115" imgH="545863"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1975" y="2492375"/>
                        <a:ext cx="2663825" cy="1301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77" name="Text Box 5">
            <a:extLst>
              <a:ext uri="{FF2B5EF4-FFF2-40B4-BE49-F238E27FC236}">
                <a16:creationId xmlns:a16="http://schemas.microsoft.com/office/drawing/2014/main" id="{5007500D-F7EB-4C1E-B207-22456DD2B2C0}"/>
              </a:ext>
            </a:extLst>
          </p:cNvPr>
          <p:cNvSpPr txBox="1">
            <a:spLocks noChangeArrowheads="1"/>
          </p:cNvSpPr>
          <p:nvPr/>
        </p:nvSpPr>
        <p:spPr bwMode="auto">
          <a:xfrm>
            <a:off x="539750" y="4005263"/>
            <a:ext cx="82804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t" hangingPunct="1">
              <a:lnSpc>
                <a:spcPct val="130000"/>
              </a:lnSpc>
              <a:spcBef>
                <a:spcPct val="10000"/>
              </a:spcBef>
              <a:buClr>
                <a:srgbClr val="FFFF00"/>
              </a:buClr>
              <a:buSzPct val="80000"/>
              <a:buFont typeface="Wingdings" panose="05000000000000000000" pitchFamily="2" charset="2"/>
              <a:buNone/>
            </a:pPr>
            <a:r>
              <a:rPr kumimoji="0" lang="en-US" altLang="zh-CN" sz="2400">
                <a:ea typeface="楷体_GB2312" pitchFamily="49" charset="-122"/>
              </a:rPr>
              <a:t>        </a:t>
            </a:r>
            <a:r>
              <a:rPr kumimoji="0" lang="zh-CN" altLang="en-US" sz="2400">
                <a:ea typeface="楷体_GB2312" pitchFamily="49" charset="-122"/>
              </a:rPr>
              <a:t>另外，在气泡和液体的界面上也要产生反射，由于气泡的运动，反射光与输入光之间存在多普勒频移。其频移为</a:t>
            </a:r>
          </a:p>
        </p:txBody>
      </p:sp>
      <p:graphicFrame>
        <p:nvGraphicFramePr>
          <p:cNvPr id="79878" name="Object 6">
            <a:extLst>
              <a:ext uri="{FF2B5EF4-FFF2-40B4-BE49-F238E27FC236}">
                <a16:creationId xmlns:a16="http://schemas.microsoft.com/office/drawing/2014/main" id="{21045EC4-B59C-4D86-8C1B-691091C79A09}"/>
              </a:ext>
            </a:extLst>
          </p:cNvPr>
          <p:cNvGraphicFramePr>
            <a:graphicFrameLocks noChangeAspect="1"/>
          </p:cNvGraphicFramePr>
          <p:nvPr/>
        </p:nvGraphicFramePr>
        <p:xfrm>
          <a:off x="3492500" y="5157788"/>
          <a:ext cx="2160588" cy="1190625"/>
        </p:xfrm>
        <a:graphic>
          <a:graphicData uri="http://schemas.openxmlformats.org/presentationml/2006/ole">
            <mc:AlternateContent xmlns:mc="http://schemas.openxmlformats.org/markup-compatibility/2006">
              <mc:Choice xmlns:v="urn:schemas-microsoft-com:vml" Requires="v">
                <p:oleObj spid="_x0000_s79929" name="Equation" r:id="rId7" imgW="876300" imgH="482600" progId="Equation.DSMT4">
                  <p:embed/>
                </p:oleObj>
              </mc:Choice>
              <mc:Fallback>
                <p:oleObj name="Equation" r:id="rId7" imgW="876300" imgH="4826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2500" y="5157788"/>
                        <a:ext cx="2160588"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a:extLst>
              <a:ext uri="{FF2B5EF4-FFF2-40B4-BE49-F238E27FC236}">
                <a16:creationId xmlns:a16="http://schemas.microsoft.com/office/drawing/2014/main" id="{9906EE93-16BC-4603-94A2-E4454418DEF6}"/>
              </a:ext>
            </a:extLst>
          </p:cNvPr>
          <p:cNvSpPr txBox="1">
            <a:spLocks noChangeArrowheads="1"/>
          </p:cNvSpPr>
          <p:nvPr/>
        </p:nvSpPr>
        <p:spPr bwMode="auto">
          <a:xfrm>
            <a:off x="395288" y="333375"/>
            <a:ext cx="828040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t" hangingPunct="1">
              <a:lnSpc>
                <a:spcPct val="130000"/>
              </a:lnSpc>
              <a:spcBef>
                <a:spcPct val="10000"/>
              </a:spcBef>
              <a:buClr>
                <a:srgbClr val="FFFF00"/>
              </a:buClr>
              <a:buSzPct val="80000"/>
              <a:buFont typeface="Wingdings" panose="05000000000000000000" pitchFamily="2" charset="2"/>
              <a:buNone/>
            </a:pPr>
            <a:r>
              <a:rPr kumimoji="0" lang="en-US" altLang="zh-CN" sz="2400">
                <a:ea typeface="楷体_GB2312" pitchFamily="49" charset="-122"/>
              </a:rPr>
              <a:t>        </a:t>
            </a:r>
            <a:r>
              <a:rPr kumimoji="0" lang="zh-CN" altLang="en-US" sz="2400">
                <a:ea typeface="楷体_GB2312" pitchFamily="49" charset="-122"/>
              </a:rPr>
              <a:t>在气泡接近光纤端部及气泡将要经过光纤端部时，光纤端面反射光与气泡端面反射光混合后形成拍频信号，光强变化频率为</a:t>
            </a:r>
            <a:r>
              <a:rPr kumimoji="0" lang="el-GR" altLang="zh-CN" sz="2400">
                <a:ea typeface="楷体_GB2312" pitchFamily="49" charset="-122"/>
                <a:cs typeface="Times New Roman" panose="02020603050405020304" pitchFamily="18" charset="0"/>
              </a:rPr>
              <a:t>Δ</a:t>
            </a:r>
            <a:r>
              <a:rPr kumimoji="0" lang="en-US" altLang="zh-CN" sz="2400" i="1">
                <a:ea typeface="楷体_GB2312" pitchFamily="49" charset="-122"/>
                <a:cs typeface="Times New Roman" panose="02020603050405020304" pitchFamily="18" charset="0"/>
              </a:rPr>
              <a:t>f</a:t>
            </a:r>
            <a:r>
              <a:rPr kumimoji="0" lang="en-US" altLang="zh-CN" sz="2400" baseline="-25000">
                <a:ea typeface="楷体_GB2312" pitchFamily="49" charset="-122"/>
                <a:cs typeface="Times New Roman" panose="02020603050405020304" pitchFamily="18" charset="0"/>
              </a:rPr>
              <a:t>i</a:t>
            </a:r>
            <a:r>
              <a:rPr kumimoji="0" lang="zh-CN" altLang="en-US" sz="2400">
                <a:ea typeface="楷体_GB2312" pitchFamily="49" charset="-122"/>
              </a:rPr>
              <a:t>和</a:t>
            </a:r>
            <a:r>
              <a:rPr kumimoji="0" lang="el-GR" altLang="zh-CN" sz="2400">
                <a:ea typeface="楷体_GB2312" pitchFamily="49" charset="-122"/>
              </a:rPr>
              <a:t>Δ</a:t>
            </a:r>
            <a:r>
              <a:rPr kumimoji="0" lang="en-US" altLang="zh-CN" sz="2400" i="1">
                <a:ea typeface="楷体_GB2312" pitchFamily="49" charset="-122"/>
              </a:rPr>
              <a:t>f</a:t>
            </a:r>
            <a:r>
              <a:rPr kumimoji="0" lang="en-US" altLang="zh-CN" sz="2400" baseline="-25000">
                <a:ea typeface="楷体_GB2312" pitchFamily="49" charset="-122"/>
              </a:rPr>
              <a:t>0</a:t>
            </a:r>
            <a:r>
              <a:rPr kumimoji="0" lang="en-US" altLang="zh-CN" sz="2400">
                <a:ea typeface="楷体_GB2312" pitchFamily="49" charset="-122"/>
              </a:rPr>
              <a:t> </a:t>
            </a:r>
            <a:r>
              <a:rPr kumimoji="0" lang="zh-CN" altLang="en-US" sz="2400">
                <a:ea typeface="楷体_GB2312" pitchFamily="49" charset="-122"/>
              </a:rPr>
              <a:t>。下图为气泡通过光纤端部时的反射光强波形。</a:t>
            </a:r>
          </a:p>
        </p:txBody>
      </p:sp>
      <p:pic>
        <p:nvPicPr>
          <p:cNvPr id="80899" name="Picture 3" descr="IMG_3941">
            <a:extLst>
              <a:ext uri="{FF2B5EF4-FFF2-40B4-BE49-F238E27FC236}">
                <a16:creationId xmlns:a16="http://schemas.microsoft.com/office/drawing/2014/main" id="{D107F557-4E81-4A23-89DC-005BD39E4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50" t="7489" r="6242" b="4286"/>
          <a:stretch>
            <a:fillRect/>
          </a:stretch>
        </p:blipFill>
        <p:spPr bwMode="auto">
          <a:xfrm>
            <a:off x="1331913" y="2565400"/>
            <a:ext cx="6842125" cy="362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a:extLst>
              <a:ext uri="{FF2B5EF4-FFF2-40B4-BE49-F238E27FC236}">
                <a16:creationId xmlns:a16="http://schemas.microsoft.com/office/drawing/2014/main" id="{0C86A2BB-76D7-4BB3-8B8B-077FA9BFB38D}"/>
              </a:ext>
            </a:extLst>
          </p:cNvPr>
          <p:cNvSpPr txBox="1">
            <a:spLocks noChangeArrowheads="1"/>
          </p:cNvSpPr>
          <p:nvPr/>
        </p:nvSpPr>
        <p:spPr bwMode="auto">
          <a:xfrm>
            <a:off x="395288" y="404813"/>
            <a:ext cx="8353425" cy="151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上图示出了气泡通过光纤端部时反射光强的波形。将光纤中的反射光检出后经低通滤波及整形后即可得到气泡经过光纤端面的时间</a:t>
            </a:r>
            <a:r>
              <a:rPr kumimoji="0" lang="en-US" altLang="zh-CN" sz="2400" i="1">
                <a:ea typeface="楷体_GB2312" pitchFamily="49" charset="-122"/>
              </a:rPr>
              <a:t>t</a:t>
            </a:r>
            <a:r>
              <a:rPr kumimoji="0" lang="en-US" altLang="zh-CN" sz="2400" baseline="-25000">
                <a:ea typeface="楷体_GB2312" pitchFamily="49" charset="-122"/>
              </a:rPr>
              <a:t>B</a:t>
            </a:r>
            <a:r>
              <a:rPr kumimoji="0" lang="zh-CN" altLang="en-US" sz="2400">
                <a:ea typeface="楷体_GB2312" pitchFamily="49" charset="-122"/>
              </a:rPr>
              <a:t>，由此可测出两相流中的气泡率</a:t>
            </a:r>
            <a:r>
              <a:rPr kumimoji="0" lang="el-GR" altLang="zh-CN" sz="2400" i="1">
                <a:latin typeface="楷体_GB2312" pitchFamily="49" charset="-122"/>
                <a:ea typeface="楷体_GB2312" pitchFamily="49" charset="-122"/>
              </a:rPr>
              <a:t>α</a:t>
            </a:r>
          </a:p>
        </p:txBody>
      </p:sp>
      <p:graphicFrame>
        <p:nvGraphicFramePr>
          <p:cNvPr id="81923" name="Object 3">
            <a:extLst>
              <a:ext uri="{FF2B5EF4-FFF2-40B4-BE49-F238E27FC236}">
                <a16:creationId xmlns:a16="http://schemas.microsoft.com/office/drawing/2014/main" id="{86BFF8AC-1832-454D-92AF-5DFCA6FD5DC2}"/>
              </a:ext>
            </a:extLst>
          </p:cNvPr>
          <p:cNvGraphicFramePr>
            <a:graphicFrameLocks noChangeAspect="1"/>
          </p:cNvGraphicFramePr>
          <p:nvPr/>
        </p:nvGraphicFramePr>
        <p:xfrm>
          <a:off x="3492500" y="1989138"/>
          <a:ext cx="1865313" cy="592137"/>
        </p:xfrm>
        <a:graphic>
          <a:graphicData uri="http://schemas.openxmlformats.org/presentationml/2006/ole">
            <mc:AlternateContent xmlns:mc="http://schemas.openxmlformats.org/markup-compatibility/2006">
              <mc:Choice xmlns:v="urn:schemas-microsoft-com:vml" Requires="v">
                <p:oleObj spid="_x0000_s81958" name="Equation" r:id="rId3" imgW="799753" imgH="253890" progId="Equation.DSMT4">
                  <p:embed/>
                </p:oleObj>
              </mc:Choice>
              <mc:Fallback>
                <p:oleObj name="Equation" r:id="rId3" imgW="799753" imgH="25389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1989138"/>
                        <a:ext cx="1865313" cy="592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4" name="Text Box 4">
            <a:extLst>
              <a:ext uri="{FF2B5EF4-FFF2-40B4-BE49-F238E27FC236}">
                <a16:creationId xmlns:a16="http://schemas.microsoft.com/office/drawing/2014/main" id="{A7154FA7-89B1-4874-9416-CC1C89A61ED6}"/>
              </a:ext>
            </a:extLst>
          </p:cNvPr>
          <p:cNvSpPr txBox="1">
            <a:spLocks noChangeArrowheads="1"/>
          </p:cNvSpPr>
          <p:nvPr/>
        </p:nvSpPr>
        <p:spPr bwMode="auto">
          <a:xfrm>
            <a:off x="395288" y="2636838"/>
            <a:ext cx="8135937"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t" hangingPunct="1">
              <a:lnSpc>
                <a:spcPct val="130000"/>
              </a:lnSpc>
              <a:spcBef>
                <a:spcPct val="10000"/>
              </a:spcBef>
              <a:buClr>
                <a:srgbClr val="FFFF00"/>
              </a:buClr>
              <a:buSzPct val="80000"/>
              <a:buFont typeface="Wingdings" panose="05000000000000000000" pitchFamily="2" charset="2"/>
              <a:buNone/>
            </a:pPr>
            <a:r>
              <a:rPr kumimoji="0" lang="en-US" altLang="zh-CN" sz="2400">
                <a:ea typeface="楷体_GB2312" pitchFamily="49" charset="-122"/>
              </a:rPr>
              <a:t>       </a:t>
            </a:r>
            <a:r>
              <a:rPr kumimoji="0" lang="zh-CN" altLang="en-US" sz="2400">
                <a:ea typeface="楷体_GB2312" pitchFamily="49" charset="-122"/>
              </a:rPr>
              <a:t>将输出信号中的多普勒信号提取出来后，根据拍频可以计算出气泡直径</a:t>
            </a:r>
          </a:p>
        </p:txBody>
      </p:sp>
      <p:graphicFrame>
        <p:nvGraphicFramePr>
          <p:cNvPr id="81925" name="Object 5">
            <a:extLst>
              <a:ext uri="{FF2B5EF4-FFF2-40B4-BE49-F238E27FC236}">
                <a16:creationId xmlns:a16="http://schemas.microsoft.com/office/drawing/2014/main" id="{9505CEB2-FBCC-405B-AC7A-8725D2C41C25}"/>
              </a:ext>
            </a:extLst>
          </p:cNvPr>
          <p:cNvGraphicFramePr>
            <a:graphicFrameLocks noChangeAspect="1"/>
          </p:cNvGraphicFramePr>
          <p:nvPr/>
        </p:nvGraphicFramePr>
        <p:xfrm>
          <a:off x="3132138" y="3644900"/>
          <a:ext cx="2681287" cy="1117600"/>
        </p:xfrm>
        <a:graphic>
          <a:graphicData uri="http://schemas.openxmlformats.org/presentationml/2006/ole">
            <mc:AlternateContent xmlns:mc="http://schemas.openxmlformats.org/markup-compatibility/2006">
              <mc:Choice xmlns:v="urn:schemas-microsoft-com:vml" Requires="v">
                <p:oleObj spid="_x0000_s81959" name="Equation" r:id="rId5" imgW="1066337" imgH="444307" progId="Equation.DSMT4">
                  <p:embed/>
                </p:oleObj>
              </mc:Choice>
              <mc:Fallback>
                <p:oleObj name="Equation" r:id="rId5" imgW="1066337" imgH="444307"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2138" y="3644900"/>
                        <a:ext cx="2681287"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descr="IMG_3942">
            <a:extLst>
              <a:ext uri="{FF2B5EF4-FFF2-40B4-BE49-F238E27FC236}">
                <a16:creationId xmlns:a16="http://schemas.microsoft.com/office/drawing/2014/main" id="{7088D9BB-B2F3-4959-9373-1F3CEE6CA8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39" t="5812" b="3096"/>
          <a:stretch>
            <a:fillRect/>
          </a:stretch>
        </p:blipFill>
        <p:spPr bwMode="auto">
          <a:xfrm>
            <a:off x="1979613" y="2924175"/>
            <a:ext cx="5656262" cy="284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 Box 6">
            <a:extLst>
              <a:ext uri="{FF2B5EF4-FFF2-40B4-BE49-F238E27FC236}">
                <a16:creationId xmlns:a16="http://schemas.microsoft.com/office/drawing/2014/main" id="{A88C16FF-0D61-44EC-8A31-90D96DC4E5F4}"/>
              </a:ext>
            </a:extLst>
          </p:cNvPr>
          <p:cNvSpPr txBox="1">
            <a:spLocks noChangeArrowheads="1"/>
          </p:cNvSpPr>
          <p:nvPr/>
        </p:nvSpPr>
        <p:spPr bwMode="auto">
          <a:xfrm>
            <a:off x="2916238" y="5876925"/>
            <a:ext cx="2951162"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400">
                <a:ea typeface="楷体_GB2312" pitchFamily="49" charset="-122"/>
              </a:rPr>
              <a:t>       </a:t>
            </a:r>
            <a:r>
              <a:rPr kumimoji="0" lang="zh-CN" altLang="en-US" sz="2400">
                <a:ea typeface="楷体_GB2312" pitchFamily="49" charset="-122"/>
              </a:rPr>
              <a:t>检测系统的结构</a:t>
            </a:r>
          </a:p>
        </p:txBody>
      </p:sp>
      <p:sp>
        <p:nvSpPr>
          <p:cNvPr id="82948" name="Text Box 7">
            <a:extLst>
              <a:ext uri="{FF2B5EF4-FFF2-40B4-BE49-F238E27FC236}">
                <a16:creationId xmlns:a16="http://schemas.microsoft.com/office/drawing/2014/main" id="{C8B6EC22-9792-45CC-A1A2-A8FC3471E890}"/>
              </a:ext>
            </a:extLst>
          </p:cNvPr>
          <p:cNvSpPr txBox="1">
            <a:spLocks noChangeArrowheads="1"/>
          </p:cNvSpPr>
          <p:nvPr/>
        </p:nvSpPr>
        <p:spPr bwMode="auto">
          <a:xfrm>
            <a:off x="395288" y="188913"/>
            <a:ext cx="8640762" cy="257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kumimoji="0" lang="en-US" altLang="zh-CN" sz="2400">
                <a:ea typeface="楷体_GB2312" pitchFamily="49" charset="-122"/>
              </a:rPr>
              <a:t>        </a:t>
            </a:r>
            <a:r>
              <a:rPr kumimoji="0" lang="zh-CN" altLang="en-US" sz="2000">
                <a:ea typeface="楷体_GB2312" pitchFamily="49" charset="-122"/>
              </a:rPr>
              <a:t>光源经透镜耦合进光纤，从探头部分返回的反射光由偏振分光镜导向雪崩光电二极管</a:t>
            </a:r>
            <a:r>
              <a:rPr kumimoji="0" lang="en-US" altLang="zh-CN" sz="2000">
                <a:ea typeface="楷体_GB2312" pitchFamily="49" charset="-122"/>
              </a:rPr>
              <a:t>APD</a:t>
            </a:r>
            <a:r>
              <a:rPr kumimoji="0" lang="zh-CN" altLang="en-US" sz="2000">
                <a:ea typeface="楷体_GB2312" pitchFamily="49" charset="-122"/>
              </a:rPr>
              <a:t>。偏振分光镜的作用是消除从光纤入射端面的反射光。由于这部分反射光与入射光的偏振方向相同，因此可以全部透过偏振分光镜，而不会反射到</a:t>
            </a:r>
            <a:r>
              <a:rPr kumimoji="0" lang="en-US" altLang="zh-CN" sz="2000">
                <a:ea typeface="楷体_GB2312" pitchFamily="49" charset="-122"/>
              </a:rPr>
              <a:t>APD</a:t>
            </a:r>
            <a:r>
              <a:rPr kumimoji="0" lang="zh-CN" altLang="en-US" sz="2000">
                <a:ea typeface="楷体_GB2312" pitchFamily="49" charset="-122"/>
              </a:rPr>
              <a:t>上。而从探头部分返回的反射光经光纤传送后成为随机偏振光，故一部分在偏振分光镜上被反射至</a:t>
            </a:r>
            <a:r>
              <a:rPr kumimoji="0" lang="en-US" altLang="zh-CN" sz="2000">
                <a:ea typeface="楷体_GB2312" pitchFamily="49" charset="-122"/>
              </a:rPr>
              <a:t>APD</a:t>
            </a:r>
            <a:r>
              <a:rPr kumimoji="0" lang="zh-CN" altLang="en-US" sz="2000">
                <a:ea typeface="楷体_GB2312" pitchFamily="49" charset="-122"/>
              </a:rPr>
              <a:t>。这样，便保证了</a:t>
            </a:r>
            <a:r>
              <a:rPr kumimoji="0" lang="en-US" altLang="zh-CN" sz="2000">
                <a:ea typeface="楷体_GB2312" pitchFamily="49" charset="-122"/>
              </a:rPr>
              <a:t>APD</a:t>
            </a:r>
            <a:r>
              <a:rPr kumimoji="0" lang="zh-CN" altLang="en-US" sz="2000">
                <a:ea typeface="楷体_GB2312" pitchFamily="49" charset="-122"/>
              </a:rPr>
              <a:t>上接收到的光全部为信号光。</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a:extLst>
              <a:ext uri="{FF2B5EF4-FFF2-40B4-BE49-F238E27FC236}">
                <a16:creationId xmlns:a16="http://schemas.microsoft.com/office/drawing/2014/main" id="{3009CB30-5434-473D-A6EC-3376E1434C40}"/>
              </a:ext>
            </a:extLst>
          </p:cNvPr>
          <p:cNvSpPr txBox="1">
            <a:spLocks noChangeArrowheads="1"/>
          </p:cNvSpPr>
          <p:nvPr/>
        </p:nvSpPr>
        <p:spPr bwMode="auto">
          <a:xfrm>
            <a:off x="322263" y="285750"/>
            <a:ext cx="5461000"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en-US" altLang="zh-CN" sz="2800">
                <a:solidFill>
                  <a:srgbClr val="C00000"/>
                </a:solidFill>
                <a:latin typeface="楷体_GB2312" pitchFamily="49" charset="-122"/>
                <a:ea typeface="楷体_GB2312" pitchFamily="49" charset="-122"/>
              </a:rPr>
              <a:t>5.4 </a:t>
            </a:r>
            <a:r>
              <a:rPr kumimoji="0" lang="zh-CN" altLang="en-US" sz="2800">
                <a:solidFill>
                  <a:srgbClr val="C00000"/>
                </a:solidFill>
                <a:latin typeface="楷体_GB2312" pitchFamily="49" charset="-122"/>
                <a:ea typeface="楷体_GB2312" pitchFamily="49" charset="-122"/>
              </a:rPr>
              <a:t>其它的检测</a:t>
            </a:r>
          </a:p>
        </p:txBody>
      </p:sp>
      <p:sp>
        <p:nvSpPr>
          <p:cNvPr id="83971" name="Text Box 4">
            <a:extLst>
              <a:ext uri="{FF2B5EF4-FFF2-40B4-BE49-F238E27FC236}">
                <a16:creationId xmlns:a16="http://schemas.microsoft.com/office/drawing/2014/main" id="{32A94BF7-E3CC-4340-8CC7-2E3E4428A9C9}"/>
              </a:ext>
            </a:extLst>
          </p:cNvPr>
          <p:cNvSpPr txBox="1">
            <a:spLocks noChangeArrowheads="1"/>
          </p:cNvSpPr>
          <p:nvPr/>
        </p:nvSpPr>
        <p:spPr bwMode="auto">
          <a:xfrm>
            <a:off x="827088" y="1231900"/>
            <a:ext cx="332581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b="1">
                <a:solidFill>
                  <a:schemeClr val="accent2"/>
                </a:solidFill>
                <a:latin typeface="黑体" panose="02010609060101010101" pitchFamily="49" charset="-122"/>
                <a:ea typeface="黑体" panose="02010609060101010101" pitchFamily="49" charset="-122"/>
              </a:rPr>
              <a:t>＊光纤</a:t>
            </a:r>
            <a:r>
              <a:rPr kumimoji="0" lang="en-US" altLang="zh-CN" sz="2400" b="1">
                <a:solidFill>
                  <a:schemeClr val="accent2"/>
                </a:solidFill>
                <a:latin typeface="黑体" panose="02010609060101010101" pitchFamily="49" charset="-122"/>
                <a:ea typeface="黑体" panose="02010609060101010101" pitchFamily="49" charset="-122"/>
              </a:rPr>
              <a:t>pH</a:t>
            </a:r>
            <a:r>
              <a:rPr kumimoji="0" lang="zh-CN" altLang="en-US" sz="2400" b="1">
                <a:solidFill>
                  <a:schemeClr val="accent2"/>
                </a:solidFill>
                <a:latin typeface="黑体" panose="02010609060101010101" pitchFamily="49" charset="-122"/>
                <a:ea typeface="黑体" panose="02010609060101010101" pitchFamily="49" charset="-122"/>
              </a:rPr>
              <a:t>探测技术</a:t>
            </a:r>
          </a:p>
        </p:txBody>
      </p:sp>
      <p:sp>
        <p:nvSpPr>
          <p:cNvPr id="83972" name="Text Box 5">
            <a:extLst>
              <a:ext uri="{FF2B5EF4-FFF2-40B4-BE49-F238E27FC236}">
                <a16:creationId xmlns:a16="http://schemas.microsoft.com/office/drawing/2014/main" id="{C19D582C-1B54-492D-A3DC-2D6F00A22E73}"/>
              </a:ext>
            </a:extLst>
          </p:cNvPr>
          <p:cNvSpPr txBox="1">
            <a:spLocks noChangeArrowheads="1"/>
          </p:cNvSpPr>
          <p:nvPr/>
        </p:nvSpPr>
        <p:spPr bwMode="auto">
          <a:xfrm>
            <a:off x="782638" y="1905000"/>
            <a:ext cx="77771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400" b="1">
                <a:latin typeface="黑体" panose="02010609060101010101" pitchFamily="49" charset="-122"/>
                <a:ea typeface="黑体" panose="02010609060101010101" pitchFamily="49" charset="-122"/>
              </a:rPr>
              <a:t>利用化学指示计对被测溶液的颜色反应来测量溶液的值。</a:t>
            </a:r>
          </a:p>
        </p:txBody>
      </p:sp>
      <p:pic>
        <p:nvPicPr>
          <p:cNvPr id="83973" name="图片 1">
            <a:extLst>
              <a:ext uri="{FF2B5EF4-FFF2-40B4-BE49-F238E27FC236}">
                <a16:creationId xmlns:a16="http://schemas.microsoft.com/office/drawing/2014/main" id="{1C2EADC2-3166-4B81-93DC-B80BB10EF1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2846388"/>
            <a:ext cx="6127750" cy="294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4" name="Text Box 4">
            <a:extLst>
              <a:ext uri="{FF2B5EF4-FFF2-40B4-BE49-F238E27FC236}">
                <a16:creationId xmlns:a16="http://schemas.microsoft.com/office/drawing/2014/main" id="{FDE66589-8240-4F79-A0A8-F55F613F5263}"/>
              </a:ext>
            </a:extLst>
          </p:cNvPr>
          <p:cNvSpPr txBox="1">
            <a:spLocks noChangeArrowheads="1"/>
          </p:cNvSpPr>
          <p:nvPr/>
        </p:nvSpPr>
        <p:spPr bwMode="auto">
          <a:xfrm>
            <a:off x="3924300" y="5964238"/>
            <a:ext cx="2735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000" b="1">
                <a:latin typeface="黑体" panose="02010609060101010101" pitchFamily="49" charset="-122"/>
                <a:ea typeface="黑体" panose="02010609060101010101" pitchFamily="49" charset="-122"/>
              </a:rPr>
              <a:t>图</a:t>
            </a:r>
            <a:r>
              <a:rPr kumimoji="0" lang="en-US" altLang="zh-CN" sz="2000" b="1">
                <a:latin typeface="黑体" panose="02010609060101010101" pitchFamily="49" charset="-122"/>
                <a:ea typeface="黑体" panose="02010609060101010101" pitchFamily="49" charset="-122"/>
              </a:rPr>
              <a:t>5.1</a:t>
            </a:r>
            <a:r>
              <a:rPr kumimoji="0" lang="zh-CN" altLang="en-US" sz="2000" b="1">
                <a:latin typeface="黑体" panose="02010609060101010101" pitchFamily="49" charset="-122"/>
                <a:ea typeface="黑体" panose="02010609060101010101" pitchFamily="49" charset="-122"/>
              </a:rPr>
              <a:t>   光纤</a:t>
            </a:r>
            <a:r>
              <a:rPr kumimoji="0" lang="en-US" altLang="zh-CN" sz="2000" b="1">
                <a:latin typeface="黑体" panose="02010609060101010101" pitchFamily="49" charset="-122"/>
                <a:ea typeface="黑体" panose="02010609060101010101" pitchFamily="49" charset="-122"/>
              </a:rPr>
              <a:t>pH</a:t>
            </a:r>
            <a:r>
              <a:rPr kumimoji="0" lang="zh-CN" altLang="en-US" sz="2000" b="1">
                <a:latin typeface="黑体" panose="02010609060101010101" pitchFamily="49" charset="-122"/>
                <a:ea typeface="黑体" panose="02010609060101010101" pitchFamily="49" charset="-122"/>
              </a:rPr>
              <a:t>探头</a:t>
            </a:r>
          </a:p>
        </p:txBody>
      </p:sp>
      <p:sp>
        <p:nvSpPr>
          <p:cNvPr id="2" name="矩形 1">
            <a:extLst>
              <a:ext uri="{FF2B5EF4-FFF2-40B4-BE49-F238E27FC236}">
                <a16:creationId xmlns:a16="http://schemas.microsoft.com/office/drawing/2014/main" id="{E39F0C84-86C2-44F7-8145-F0057B54EBBB}"/>
              </a:ext>
            </a:extLst>
          </p:cNvPr>
          <p:cNvSpPr/>
          <p:nvPr/>
        </p:nvSpPr>
        <p:spPr>
          <a:xfrm>
            <a:off x="334320" y="6056028"/>
            <a:ext cx="2749471" cy="400110"/>
          </a:xfrm>
          <a:prstGeom prst="rect">
            <a:avLst/>
          </a:prstGeom>
        </p:spPr>
        <p:txBody>
          <a:bodyPr wrap="none">
            <a:spAutoFit/>
          </a:bodyPr>
          <a:lstStyle/>
          <a:p>
            <a:r>
              <a:rPr lang="zh-CN" altLang="en-US" dirty="0">
                <a:latin typeface="黑体" panose="02010609060101010101" pitchFamily="49" charset="-122"/>
                <a:ea typeface="黑体" panose="02010609060101010101" pitchFamily="49" charset="-122"/>
              </a:rPr>
              <a:t>光纤：</a:t>
            </a:r>
            <a:r>
              <a:rPr lang="en-US" altLang="zh-CN" dirty="0">
                <a:solidFill>
                  <a:srgbClr val="FF0000"/>
                </a:solidFill>
                <a:latin typeface="黑体" panose="02010609060101010101" pitchFamily="49" charset="-122"/>
                <a:ea typeface="黑体" panose="02010609060101010101" pitchFamily="49" charset="-122"/>
              </a:rPr>
              <a:t>9-5  9-8  9-12</a:t>
            </a:r>
            <a:endParaRPr lang="zh-CN" altLang="en-US" dirty="0"/>
          </a:p>
        </p:txBody>
      </p:sp>
      <p:sp>
        <p:nvSpPr>
          <p:cNvPr id="3" name="矩形 2">
            <a:extLst>
              <a:ext uri="{FF2B5EF4-FFF2-40B4-BE49-F238E27FC236}">
                <a16:creationId xmlns:a16="http://schemas.microsoft.com/office/drawing/2014/main" id="{4BD447F2-4022-47AC-B0F3-5C139021D958}"/>
              </a:ext>
            </a:extLst>
          </p:cNvPr>
          <p:cNvSpPr/>
          <p:nvPr/>
        </p:nvSpPr>
        <p:spPr>
          <a:xfrm>
            <a:off x="322263" y="5140875"/>
            <a:ext cx="4572000" cy="781945"/>
          </a:xfrm>
          <a:prstGeom prst="rect">
            <a:avLst/>
          </a:prstGeom>
        </p:spPr>
        <p:txBody>
          <a:bodyPr>
            <a:spAutoFit/>
          </a:bodyPr>
          <a:lstStyle/>
          <a:p>
            <a:pPr eaLnBrk="1" hangingPunct="1">
              <a:lnSpc>
                <a:spcPct val="120000"/>
              </a:lnSpc>
            </a:pPr>
            <a:r>
              <a:rPr lang="zh-CN" altLang="en-US" dirty="0">
                <a:latin typeface="黑体" panose="02010609060101010101" pitchFamily="49" charset="-122"/>
                <a:ea typeface="黑体" panose="02010609060101010101" pitchFamily="49" charset="-122"/>
              </a:rPr>
              <a:t>学习的例题：</a:t>
            </a:r>
          </a:p>
          <a:p>
            <a:pPr eaLnBrk="1" hangingPunct="1">
              <a:lnSpc>
                <a:spcPct val="120000"/>
              </a:lnSpc>
            </a:pPr>
            <a:r>
              <a:rPr lang="zh-CN" altLang="en-US" dirty="0">
                <a:latin typeface="黑体" panose="02010609060101010101" pitchFamily="49" charset="-122"/>
                <a:ea typeface="黑体" panose="02010609060101010101" pitchFamily="49" charset="-122"/>
              </a:rPr>
              <a:t>例</a:t>
            </a:r>
            <a:r>
              <a:rPr lang="en-US" altLang="zh-CN" dirty="0">
                <a:latin typeface="黑体" panose="02010609060101010101" pitchFamily="49" charset="-122"/>
                <a:ea typeface="黑体" panose="02010609060101010101" pitchFamily="49" charset="-122"/>
              </a:rPr>
              <a:t>9-3</a:t>
            </a:r>
            <a:endParaRPr lang="zh-CN" altLang="en-US" dirty="0">
              <a:latin typeface="黑体" panose="02010609060101010101" pitchFamily="49" charset="-122"/>
              <a:ea typeface="黑体" panose="02010609060101010101" pitchFamily="49" charset="-12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a:extLst>
              <a:ext uri="{FF2B5EF4-FFF2-40B4-BE49-F238E27FC236}">
                <a16:creationId xmlns:a16="http://schemas.microsoft.com/office/drawing/2014/main" id="{3009CB30-5434-473D-A6EC-3376E1434C40}"/>
              </a:ext>
            </a:extLst>
          </p:cNvPr>
          <p:cNvSpPr txBox="1">
            <a:spLocks noChangeArrowheads="1"/>
          </p:cNvSpPr>
          <p:nvPr/>
        </p:nvSpPr>
        <p:spPr bwMode="auto">
          <a:xfrm>
            <a:off x="322263" y="285750"/>
            <a:ext cx="5461000"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kumimoji="0" lang="zh-CN" altLang="en-US" sz="2800" dirty="0">
                <a:solidFill>
                  <a:srgbClr val="C00000"/>
                </a:solidFill>
                <a:latin typeface="楷体_GB2312" pitchFamily="49" charset="-122"/>
                <a:ea typeface="楷体_GB2312" pitchFamily="49" charset="-122"/>
              </a:rPr>
              <a:t>本章作业：</a:t>
            </a:r>
          </a:p>
        </p:txBody>
      </p:sp>
      <p:sp>
        <p:nvSpPr>
          <p:cNvPr id="2" name="矩形 1">
            <a:extLst>
              <a:ext uri="{FF2B5EF4-FFF2-40B4-BE49-F238E27FC236}">
                <a16:creationId xmlns:a16="http://schemas.microsoft.com/office/drawing/2014/main" id="{E39F0C84-86C2-44F7-8145-F0057B54EBBB}"/>
              </a:ext>
            </a:extLst>
          </p:cNvPr>
          <p:cNvSpPr/>
          <p:nvPr/>
        </p:nvSpPr>
        <p:spPr>
          <a:xfrm>
            <a:off x="972151" y="3012048"/>
            <a:ext cx="3262432" cy="461665"/>
          </a:xfrm>
          <a:prstGeom prst="rect">
            <a:avLst/>
          </a:prstGeom>
        </p:spPr>
        <p:txBody>
          <a:bodyPr wrap="none">
            <a:spAutoFit/>
          </a:bodyPr>
          <a:lstStyle/>
          <a:p>
            <a:r>
              <a:rPr lang="zh-CN" altLang="en-US" sz="2400" dirty="0">
                <a:latin typeface="黑体" panose="02010609060101010101" pitchFamily="49" charset="-122"/>
                <a:ea typeface="黑体" panose="02010609060101010101" pitchFamily="49" charset="-122"/>
              </a:rPr>
              <a:t>习题：</a:t>
            </a:r>
            <a:r>
              <a:rPr lang="en-US" altLang="zh-CN" sz="2400" dirty="0">
                <a:solidFill>
                  <a:srgbClr val="FF0000"/>
                </a:solidFill>
                <a:latin typeface="黑体" panose="02010609060101010101" pitchFamily="49" charset="-122"/>
                <a:ea typeface="黑体" panose="02010609060101010101" pitchFamily="49" charset="-122"/>
              </a:rPr>
              <a:t>9-5  9-8  9-12</a:t>
            </a:r>
            <a:endParaRPr lang="zh-CN" altLang="en-US" sz="2400" dirty="0"/>
          </a:p>
        </p:txBody>
      </p:sp>
      <p:sp>
        <p:nvSpPr>
          <p:cNvPr id="3" name="矩形 2">
            <a:extLst>
              <a:ext uri="{FF2B5EF4-FFF2-40B4-BE49-F238E27FC236}">
                <a16:creationId xmlns:a16="http://schemas.microsoft.com/office/drawing/2014/main" id="{4BD447F2-4022-47AC-B0F3-5C139021D958}"/>
              </a:ext>
            </a:extLst>
          </p:cNvPr>
          <p:cNvSpPr/>
          <p:nvPr/>
        </p:nvSpPr>
        <p:spPr>
          <a:xfrm>
            <a:off x="971600" y="1484784"/>
            <a:ext cx="4572000" cy="919867"/>
          </a:xfrm>
          <a:prstGeom prst="rect">
            <a:avLst/>
          </a:prstGeom>
        </p:spPr>
        <p:txBody>
          <a:bodyPr>
            <a:spAutoFit/>
          </a:bodyPr>
          <a:lstStyle/>
          <a:p>
            <a:pPr eaLnBrk="1" hangingPunct="1">
              <a:lnSpc>
                <a:spcPct val="120000"/>
              </a:lnSpc>
            </a:pPr>
            <a:r>
              <a:rPr lang="zh-CN" altLang="en-US" sz="2400" dirty="0">
                <a:latin typeface="黑体" panose="02010609060101010101" pitchFamily="49" charset="-122"/>
                <a:ea typeface="黑体" panose="02010609060101010101" pitchFamily="49" charset="-122"/>
              </a:rPr>
              <a:t>学习的例题：</a:t>
            </a:r>
          </a:p>
          <a:p>
            <a:pPr eaLnBrk="1" hangingPunct="1">
              <a:lnSpc>
                <a:spcPct val="120000"/>
              </a:lnSpc>
            </a:pPr>
            <a:r>
              <a:rPr lang="zh-CN" altLang="en-US" sz="2400" dirty="0">
                <a:solidFill>
                  <a:srgbClr val="0000FF"/>
                </a:solidFill>
                <a:latin typeface="黑体" panose="02010609060101010101" pitchFamily="49" charset="-122"/>
                <a:ea typeface="黑体" panose="02010609060101010101" pitchFamily="49" charset="-122"/>
              </a:rPr>
              <a:t>例</a:t>
            </a:r>
            <a:r>
              <a:rPr lang="en-US" altLang="zh-CN" sz="2400" dirty="0">
                <a:solidFill>
                  <a:srgbClr val="0000FF"/>
                </a:solidFill>
                <a:latin typeface="黑体" panose="02010609060101010101" pitchFamily="49" charset="-122"/>
                <a:ea typeface="黑体" panose="02010609060101010101" pitchFamily="49" charset="-122"/>
              </a:rPr>
              <a:t>9-3</a:t>
            </a:r>
            <a:endParaRPr lang="zh-CN" altLang="en-US" sz="2400" dirty="0">
              <a:solidFill>
                <a:srgbClr val="0000FF"/>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005484414"/>
      </p:ext>
    </p:extLst>
  </p:cSld>
  <p:clrMapOvr>
    <a:masterClrMapping/>
  </p:clrMapOvr>
  <p:transition/>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50000"/>
          </a:lnSpc>
          <a:spcBef>
            <a:spcPct val="5000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50000"/>
          </a:lnSpc>
          <a:spcBef>
            <a:spcPct val="5000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5350</TotalTime>
  <Words>5954</Words>
  <Application>Microsoft Office PowerPoint</Application>
  <PresentationFormat>全屏显示(4:3)</PresentationFormat>
  <Paragraphs>405</Paragraphs>
  <Slides>77</Slides>
  <Notes>7</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77</vt:i4>
      </vt:variant>
    </vt:vector>
  </HeadingPairs>
  <TitlesOfParts>
    <vt:vector size="90" baseType="lpstr">
      <vt:lpstr>黑体</vt:lpstr>
      <vt:lpstr>楷体</vt:lpstr>
      <vt:lpstr>楷体_GB2312</vt:lpstr>
      <vt:lpstr>宋体</vt:lpstr>
      <vt:lpstr>Arial</vt:lpstr>
      <vt:lpstr>Cambria Math</vt:lpstr>
      <vt:lpstr>Symbol</vt:lpstr>
      <vt:lpstr>Times New Roman</vt:lpstr>
      <vt:lpstr>Wingdings</vt:lpstr>
      <vt:lpstr>默认设计模板</vt:lpstr>
      <vt:lpstr>Equation</vt:lpstr>
      <vt:lpstr>公式</vt:lpstr>
      <vt:lpstr>Microsoft Visio 2003-2010 Drawing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chaos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phy</dc:creator>
  <cp:lastModifiedBy>Hong Zhang</cp:lastModifiedBy>
  <cp:revision>682</cp:revision>
  <cp:lastPrinted>2017-11-07T13:59:08Z</cp:lastPrinted>
  <dcterms:created xsi:type="dcterms:W3CDTF">2002-09-26T10:39:57Z</dcterms:created>
  <dcterms:modified xsi:type="dcterms:W3CDTF">2023-10-24T05:28:38Z</dcterms:modified>
</cp:coreProperties>
</file>