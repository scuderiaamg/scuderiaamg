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3" r:id="rId24"/>
    <p:sldId id="282" r:id="rId25"/>
    <p:sldId id="281" r:id="rId26"/>
    <p:sldId id="280" r:id="rId27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1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370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96.xml"/><Relationship Id="rId21" Type="http://schemas.openxmlformats.org/officeDocument/2006/relationships/tags" Target="../tags/tag95.xml"/><Relationship Id="rId20" Type="http://schemas.openxmlformats.org/officeDocument/2006/relationships/tags" Target="../tags/tag94.xml"/><Relationship Id="rId2" Type="http://schemas.openxmlformats.org/officeDocument/2006/relationships/tags" Target="../tags/tag76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45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54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14.xml"/><Relationship Id="rId17" Type="http://schemas.openxmlformats.org/officeDocument/2006/relationships/tags" Target="../tags/tag213.xml"/><Relationship Id="rId16" Type="http://schemas.openxmlformats.org/officeDocument/2006/relationships/tags" Target="../tags/tag212.xml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278.xml"/><Relationship Id="rId33" Type="http://schemas.openxmlformats.org/officeDocument/2006/relationships/tags" Target="../tags/tag277.xml"/><Relationship Id="rId32" Type="http://schemas.openxmlformats.org/officeDocument/2006/relationships/tags" Target="../tags/tag276.xml"/><Relationship Id="rId31" Type="http://schemas.openxmlformats.org/officeDocument/2006/relationships/tags" Target="../tags/tag275.xml"/><Relationship Id="rId30" Type="http://schemas.openxmlformats.org/officeDocument/2006/relationships/tags" Target="../tags/tag274.xml"/><Relationship Id="rId3" Type="http://schemas.openxmlformats.org/officeDocument/2006/relationships/tags" Target="../tags/tag247.xml"/><Relationship Id="rId29" Type="http://schemas.openxmlformats.org/officeDocument/2006/relationships/tags" Target="../tags/tag273.xml"/><Relationship Id="rId28" Type="http://schemas.openxmlformats.org/officeDocument/2006/relationships/tags" Target="../tags/tag272.xml"/><Relationship Id="rId27" Type="http://schemas.openxmlformats.org/officeDocument/2006/relationships/tags" Target="../tags/tag271.xml"/><Relationship Id="rId26" Type="http://schemas.openxmlformats.org/officeDocument/2006/relationships/tags" Target="../tags/tag270.xml"/><Relationship Id="rId25" Type="http://schemas.openxmlformats.org/officeDocument/2006/relationships/tags" Target="../tags/tag269.xml"/><Relationship Id="rId24" Type="http://schemas.openxmlformats.org/officeDocument/2006/relationships/tags" Target="../tags/tag268.xml"/><Relationship Id="rId23" Type="http://schemas.openxmlformats.org/officeDocument/2006/relationships/tags" Target="../tags/tag267.xml"/><Relationship Id="rId22" Type="http://schemas.openxmlformats.org/officeDocument/2006/relationships/tags" Target="../tags/tag266.xml"/><Relationship Id="rId21" Type="http://schemas.openxmlformats.org/officeDocument/2006/relationships/tags" Target="../tags/tag265.xml"/><Relationship Id="rId20" Type="http://schemas.openxmlformats.org/officeDocument/2006/relationships/tags" Target="../tags/tag264.xml"/><Relationship Id="rId2" Type="http://schemas.openxmlformats.org/officeDocument/2006/relationships/tags" Target="../tags/tag246.xml"/><Relationship Id="rId19" Type="http://schemas.openxmlformats.org/officeDocument/2006/relationships/tags" Target="../tags/tag263.xml"/><Relationship Id="rId18" Type="http://schemas.openxmlformats.org/officeDocument/2006/relationships/tags" Target="../tags/tag262.xml"/><Relationship Id="rId17" Type="http://schemas.openxmlformats.org/officeDocument/2006/relationships/tags" Target="../tags/tag261.xml"/><Relationship Id="rId16" Type="http://schemas.openxmlformats.org/officeDocument/2006/relationships/tags" Target="../tags/tag260.xml"/><Relationship Id="rId15" Type="http://schemas.openxmlformats.org/officeDocument/2006/relationships/tags" Target="../tags/tag259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302.xml"/><Relationship Id="rId24" Type="http://schemas.openxmlformats.org/officeDocument/2006/relationships/tags" Target="../tags/tag301.xml"/><Relationship Id="rId23" Type="http://schemas.openxmlformats.org/officeDocument/2006/relationships/tags" Target="../tags/tag300.xml"/><Relationship Id="rId22" Type="http://schemas.openxmlformats.org/officeDocument/2006/relationships/tags" Target="../tags/tag299.xml"/><Relationship Id="rId21" Type="http://schemas.openxmlformats.org/officeDocument/2006/relationships/tags" Target="../tags/tag298.xml"/><Relationship Id="rId20" Type="http://schemas.openxmlformats.org/officeDocument/2006/relationships/tags" Target="../tags/tag297.xml"/><Relationship Id="rId2" Type="http://schemas.openxmlformats.org/officeDocument/2006/relationships/tags" Target="../tags/tag279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19.xml"/><Relationship Id="rId17" Type="http://schemas.openxmlformats.org/officeDocument/2006/relationships/tags" Target="../tags/tag318.xml"/><Relationship Id="rId16" Type="http://schemas.openxmlformats.org/officeDocument/2006/relationships/tags" Target="../tags/tag317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22.xml"/><Relationship Id="rId19" Type="http://schemas.openxmlformats.org/officeDocument/2006/relationships/tags" Target="../tags/tag339.xml"/><Relationship Id="rId18" Type="http://schemas.openxmlformats.org/officeDocument/2006/relationships/tags" Target="../tags/tag338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43.xml"/><Relationship Id="rId29" Type="http://schemas.openxmlformats.org/officeDocument/2006/relationships/tags" Target="../tags/tag369.xml"/><Relationship Id="rId28" Type="http://schemas.openxmlformats.org/officeDocument/2006/relationships/tags" Target="../tags/tag368.xml"/><Relationship Id="rId27" Type="http://schemas.openxmlformats.org/officeDocument/2006/relationships/tags" Target="../tags/tag367.xml"/><Relationship Id="rId26" Type="http://schemas.openxmlformats.org/officeDocument/2006/relationships/tags" Target="../tags/tag366.xml"/><Relationship Id="rId25" Type="http://schemas.openxmlformats.org/officeDocument/2006/relationships/tags" Target="../tags/tag365.xml"/><Relationship Id="rId24" Type="http://schemas.openxmlformats.org/officeDocument/2006/relationships/tags" Target="../tags/tag364.xml"/><Relationship Id="rId23" Type="http://schemas.openxmlformats.org/officeDocument/2006/relationships/tags" Target="../tags/tag363.xml"/><Relationship Id="rId22" Type="http://schemas.openxmlformats.org/officeDocument/2006/relationships/tags" Target="../tags/tag362.xml"/><Relationship Id="rId21" Type="http://schemas.openxmlformats.org/officeDocument/2006/relationships/tags" Target="../tags/tag361.xml"/><Relationship Id="rId20" Type="http://schemas.openxmlformats.org/officeDocument/2006/relationships/tags" Target="../tags/tag360.xml"/><Relationship Id="rId2" Type="http://schemas.openxmlformats.org/officeDocument/2006/relationships/tags" Target="../tags/tag342.xml"/><Relationship Id="rId19" Type="http://schemas.openxmlformats.org/officeDocument/2006/relationships/tags" Target="../tags/tag359.xml"/><Relationship Id="rId18" Type="http://schemas.openxmlformats.org/officeDocument/2006/relationships/tags" Target="../tags/tag358.xml"/><Relationship Id="rId17" Type="http://schemas.openxmlformats.org/officeDocument/2006/relationships/tags" Target="../tags/tag357.xml"/><Relationship Id="rId16" Type="http://schemas.openxmlformats.org/officeDocument/2006/relationships/tags" Target="../tags/tag356.xml"/><Relationship Id="rId15" Type="http://schemas.openxmlformats.org/officeDocument/2006/relationships/tags" Target="../tags/tag355.xml"/><Relationship Id="rId14" Type="http://schemas.openxmlformats.org/officeDocument/2006/relationships/tags" Target="../tags/tag354.xml"/><Relationship Id="rId13" Type="http://schemas.openxmlformats.org/officeDocument/2006/relationships/tags" Target="../tags/tag353.xml"/><Relationship Id="rId12" Type="http://schemas.openxmlformats.org/officeDocument/2006/relationships/tags" Target="../tags/tag352.xml"/><Relationship Id="rId11" Type="http://schemas.openxmlformats.org/officeDocument/2006/relationships/tags" Target="../tags/tag351.xml"/><Relationship Id="rId10" Type="http://schemas.openxmlformats.org/officeDocument/2006/relationships/tags" Target="../tags/tag35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导论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4768850" y="1267460"/>
            <a:ext cx="265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马克思主义</a:t>
            </a:r>
            <a:endParaRPr lang="zh-CN" altLang="en-US" sz="3600" b="1">
              <a:solidFill>
                <a:schemeClr val="accent6">
                  <a:lumMod val="75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9" name="Freeform 23"/>
          <p:cNvSpPr/>
          <p:nvPr>
            <p:custDataLst>
              <p:tags r:id="rId3"/>
            </p:custDataLst>
          </p:nvPr>
        </p:nvSpPr>
        <p:spPr>
          <a:xfrm>
            <a:off x="5336540" y="2138680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是什么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40" name="Freeform 23"/>
          <p:cNvSpPr/>
          <p:nvPr>
            <p:custDataLst>
              <p:tags r:id="rId4"/>
            </p:custDataLst>
          </p:nvPr>
        </p:nvSpPr>
        <p:spPr>
          <a:xfrm>
            <a:off x="4487545" y="3626485"/>
            <a:ext cx="330263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创立</a:t>
            </a:r>
            <a:r>
              <a:rPr kumimoji="0" lang="en-US" altLang="zh-CN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 </a:t>
            </a: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和</a:t>
            </a:r>
            <a:r>
              <a:rPr kumimoji="0" lang="en-US" altLang="zh-CN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 </a:t>
            </a: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发展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4633595" y="2701290"/>
            <a:ext cx="3009900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定义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构成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特征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2110105" y="3123565"/>
            <a:ext cx="19227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社会根基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阶级基础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思想渊源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创立标志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44" name="右大括号 43"/>
          <p:cNvSpPr/>
          <p:nvPr>
            <p:custDataLst>
              <p:tags r:id="rId7"/>
            </p:custDataLst>
          </p:nvPr>
        </p:nvSpPr>
        <p:spPr>
          <a:xfrm>
            <a:off x="3442335" y="3093720"/>
            <a:ext cx="1018540" cy="1533525"/>
          </a:xfrm>
          <a:prstGeom prst="rightBrac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8244840" y="3308350"/>
            <a:ext cx="1922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在俄国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在中国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46" name="左大括号 45"/>
          <p:cNvSpPr/>
          <p:nvPr>
            <p:custDataLst>
              <p:tags r:id="rId9"/>
            </p:custDataLst>
          </p:nvPr>
        </p:nvSpPr>
        <p:spPr>
          <a:xfrm>
            <a:off x="7736205" y="3331210"/>
            <a:ext cx="605790" cy="1176655"/>
          </a:xfrm>
          <a:prstGeom prst="leftBrac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 bldLvl="0" animBg="1"/>
      <p:bldP spid="42" grpId="0" bldLvl="0" animBg="1"/>
      <p:bldP spid="44" grpId="0" bldLvl="0" animBg="1"/>
      <p:bldP spid="43" grpId="0"/>
      <p:bldP spid="46" grpId="0" bldLvl="0" animBg="1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508750" y="1748790"/>
            <a:ext cx="5287010" cy="447738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423545" y="1748790"/>
            <a:ext cx="5287010" cy="447738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731385" y="292100"/>
            <a:ext cx="2798445" cy="52197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0"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马克思主义</a:t>
            </a:r>
            <a:r>
              <a:rPr lang="zh-CN" altLang="en-US" sz="28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哲学</a:t>
            </a:r>
            <a:endParaRPr lang="zh-CN" altLang="en-US" sz="28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118235" y="814070"/>
            <a:ext cx="4323080" cy="614045"/>
          </a:xfrm>
          <a:prstGeom prst="rect">
            <a:avLst/>
          </a:prstGeom>
          <a:noFill/>
          <a:ln w="317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基本问题：世界的本原及其关系问题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（第一层面）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6899910" y="814070"/>
            <a:ext cx="3796030" cy="398780"/>
          </a:xfrm>
          <a:prstGeom prst="rect">
            <a:avLst/>
          </a:prstGeom>
          <a:noFill/>
          <a:ln w="317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重要问题：世界有何特征和规律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1847215" y="1347470"/>
            <a:ext cx="2160270" cy="52197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0"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辩证唯物论</a:t>
            </a:r>
            <a:endParaRPr lang="zh-CN" altLang="en-US" sz="28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8107680" y="1347470"/>
            <a:ext cx="2160270" cy="52197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0"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唯物辩证法</a:t>
            </a:r>
            <a:endParaRPr lang="zh-CN" altLang="en-US" sz="28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 flipH="1">
            <a:off x="6124337" y="1213070"/>
            <a:ext cx="5715" cy="4916170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2282825" y="2154555"/>
            <a:ext cx="1289685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物质观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1488440" y="2676525"/>
            <a:ext cx="2878455" cy="398780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物质的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定义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存在方式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862455" y="3315335"/>
            <a:ext cx="2128520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物质与意识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487805" y="3837305"/>
            <a:ext cx="2878455" cy="706755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物质的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决定作用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意识的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能动作用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1349375" y="4739640"/>
            <a:ext cx="3154680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世界的物质统一性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1349375" y="5261610"/>
            <a:ext cx="3155315" cy="398780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自然界、意识、人类社会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8612505" y="2154555"/>
            <a:ext cx="1289685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特征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7818120" y="2676525"/>
            <a:ext cx="2878455" cy="398780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普遍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联系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和永恒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发展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612505" y="3304540"/>
            <a:ext cx="1290955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规律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7817485" y="3837305"/>
            <a:ext cx="2878455" cy="1014730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对立统一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规律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质量互变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规律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否定之否定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规律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8406765" y="4979670"/>
            <a:ext cx="1699895" cy="52197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基本环节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6678930" y="5440680"/>
            <a:ext cx="5017135" cy="645160"/>
          </a:xfrm>
          <a:prstGeom prst="rect">
            <a:avLst/>
          </a:prstGeom>
          <a:noFill/>
          <a:ln w="317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形式、现象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本质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结果、必然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偶然、现实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可能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4" grpId="0" bldLvl="0" animBg="1"/>
      <p:bldP spid="6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3"/>
          <p:cNvSpPr/>
          <p:nvPr>
            <p:custDataLst>
              <p:tags r:id="rId2"/>
            </p:custDataLst>
          </p:nvPr>
        </p:nvSpPr>
        <p:spPr>
          <a:xfrm>
            <a:off x="5006340" y="739140"/>
            <a:ext cx="2178050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辩证唯物论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4" name="Freeform 23"/>
          <p:cNvSpPr/>
          <p:nvPr>
            <p:custDataLst>
              <p:tags r:id="rId3"/>
            </p:custDataLst>
          </p:nvPr>
        </p:nvSpPr>
        <p:spPr>
          <a:xfrm>
            <a:off x="5292725" y="1661160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物质观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287520" y="2223770"/>
            <a:ext cx="3617595" cy="1198880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定义和本质特征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运动与静止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时间与空间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" name="Freeform 23"/>
          <p:cNvSpPr/>
          <p:nvPr>
            <p:custDataLst>
              <p:tags r:id="rId5"/>
            </p:custDataLst>
          </p:nvPr>
        </p:nvSpPr>
        <p:spPr>
          <a:xfrm>
            <a:off x="3721735" y="3731895"/>
            <a:ext cx="475043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物质与意识辩证关系原理</a:t>
            </a:r>
            <a:endParaRPr kumimoji="0" lang="zh-CN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59105" y="3782695"/>
            <a:ext cx="279336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物质决定意识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8941435" y="3783330"/>
            <a:ext cx="279336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意识的能动作用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Freeform 23"/>
          <p:cNvSpPr/>
          <p:nvPr>
            <p:custDataLst>
              <p:tags r:id="rId8"/>
            </p:custDataLst>
          </p:nvPr>
        </p:nvSpPr>
        <p:spPr>
          <a:xfrm>
            <a:off x="4340860" y="5240020"/>
            <a:ext cx="3509010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世界的物质统一性</a:t>
            </a:r>
            <a:endParaRPr kumimoji="0" lang="zh-CN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3769360" y="5802630"/>
            <a:ext cx="4654550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自然界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人类社会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人类思维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3251835" y="4344670"/>
            <a:ext cx="5689600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发挥主观能动性和尊重客观规律性的统一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9" grpId="0" bldLvl="0" animBg="1"/>
      <p:bldP spid="6" grpId="0" bldLvl="0" animBg="1"/>
      <p:bldP spid="7" grpId="0" bldLvl="0" animBg="1"/>
      <p:bldP spid="11" grpId="0" bldLvl="0" animBg="1"/>
      <p:bldP spid="8" grpId="0" bldLvl="0" animBg="1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3"/>
          <p:cNvSpPr/>
          <p:nvPr>
            <p:custDataLst>
              <p:tags r:id="rId2"/>
            </p:custDataLst>
          </p:nvPr>
        </p:nvSpPr>
        <p:spPr>
          <a:xfrm>
            <a:off x="5567045" y="408940"/>
            <a:ext cx="2178050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唯物辩证法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4" name="Freeform 23"/>
          <p:cNvSpPr/>
          <p:nvPr>
            <p:custDataLst>
              <p:tags r:id="rId3"/>
            </p:custDataLst>
          </p:nvPr>
        </p:nvSpPr>
        <p:spPr>
          <a:xfrm>
            <a:off x="5852795" y="1359535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总特征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2" name="Freeform 23"/>
          <p:cNvSpPr/>
          <p:nvPr>
            <p:custDataLst>
              <p:tags r:id="rId4"/>
            </p:custDataLst>
          </p:nvPr>
        </p:nvSpPr>
        <p:spPr>
          <a:xfrm>
            <a:off x="5713095" y="2493010"/>
            <a:ext cx="1885950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基本环节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3" name="Freeform 23"/>
          <p:cNvSpPr/>
          <p:nvPr>
            <p:custDataLst>
              <p:tags r:id="rId5"/>
            </p:custDataLst>
          </p:nvPr>
        </p:nvSpPr>
        <p:spPr>
          <a:xfrm>
            <a:off x="5713095" y="3913505"/>
            <a:ext cx="1885950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基本规律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36165" y="1410335"/>
            <a:ext cx="2060575" cy="798830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普遍联系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（含义与特征）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914765" y="1410335"/>
            <a:ext cx="1968500" cy="798830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永恒发展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（含义与实质）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2120265" y="3055620"/>
            <a:ext cx="907224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内容与形式、本质与现象、原因与结果、必然与偶然、现实与可能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3063875" y="5137785"/>
            <a:ext cx="208851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对立统一规律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611495" y="5137785"/>
            <a:ext cx="208851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量变质变规律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159115" y="5137785"/>
            <a:ext cx="2407285" cy="46037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否定之否定规律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771525" y="4700905"/>
            <a:ext cx="19805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矛盾</a:t>
            </a:r>
            <a:endParaRPr lang="zh-CN" altLang="en-US" sz="2000">
              <a:latin typeface="隶书" panose="02010509060101010101" charset="-122"/>
              <a:ea typeface="隶书" panose="02010509060101010101" charset="-122"/>
            </a:endParaRPr>
          </a:p>
          <a:p>
            <a:pPr algn="r"/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同一性与斗争性</a:t>
            </a:r>
            <a:endParaRPr lang="zh-CN" altLang="en-US" sz="2000">
              <a:latin typeface="隶书" panose="02010509060101010101" charset="-122"/>
              <a:ea typeface="隶书" panose="02010509060101010101" charset="-122"/>
            </a:endParaRPr>
          </a:p>
          <a:p>
            <a:pPr algn="r"/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普遍性与特殊性</a:t>
            </a:r>
            <a:endParaRPr lang="zh-CN" altLang="en-US" sz="2000">
              <a:latin typeface="隶书" panose="02010509060101010101" charset="-122"/>
              <a:ea typeface="隶书" panose="02010509060101010101" charset="-122"/>
            </a:endParaRPr>
          </a:p>
          <a:p>
            <a:pPr algn="r"/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两点论与重点论</a:t>
            </a:r>
            <a:endParaRPr lang="zh-CN" altLang="en-US" sz="20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右大括号 12"/>
          <p:cNvSpPr/>
          <p:nvPr>
            <p:custDataLst>
              <p:tags r:id="rId13"/>
            </p:custDataLst>
          </p:nvPr>
        </p:nvSpPr>
        <p:spPr>
          <a:xfrm>
            <a:off x="2580005" y="4654550"/>
            <a:ext cx="440690" cy="1482090"/>
          </a:xfrm>
          <a:prstGeom prst="rightBrac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endCxn id="7" idx="3"/>
          </p:cNvCxnSpPr>
          <p:nvPr>
            <p:custDataLst>
              <p:tags r:id="rId14"/>
            </p:custDataLst>
          </p:nvPr>
        </p:nvCxnSpPr>
        <p:spPr>
          <a:xfrm flipH="1" flipV="1">
            <a:off x="4396740" y="1809750"/>
            <a:ext cx="1468755" cy="254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5" idx="1"/>
          </p:cNvCxnSpPr>
          <p:nvPr>
            <p:custDataLst>
              <p:tags r:id="rId15"/>
            </p:custDataLst>
          </p:nvPr>
        </p:nvCxnSpPr>
        <p:spPr>
          <a:xfrm>
            <a:off x="7473950" y="1806575"/>
            <a:ext cx="1440815" cy="317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9" idx="0"/>
          </p:cNvCxnSpPr>
          <p:nvPr>
            <p:custDataLst>
              <p:tags r:id="rId16"/>
            </p:custDataLst>
          </p:nvPr>
        </p:nvCxnSpPr>
        <p:spPr>
          <a:xfrm flipH="1">
            <a:off x="4108450" y="4488180"/>
            <a:ext cx="2489835" cy="64960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0" idx="0"/>
          </p:cNvCxnSpPr>
          <p:nvPr>
            <p:custDataLst>
              <p:tags r:id="rId17"/>
            </p:custDataLst>
          </p:nvPr>
        </p:nvCxnSpPr>
        <p:spPr>
          <a:xfrm flipH="1">
            <a:off x="6656070" y="4511040"/>
            <a:ext cx="5080" cy="62674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1" idx="0"/>
          </p:cNvCxnSpPr>
          <p:nvPr>
            <p:custDataLst>
              <p:tags r:id="rId18"/>
            </p:custDataLst>
          </p:nvPr>
        </p:nvCxnSpPr>
        <p:spPr>
          <a:xfrm>
            <a:off x="6735445" y="4482465"/>
            <a:ext cx="2627630" cy="65532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" grpId="0" bldLvl="0" animBg="1"/>
      <p:bldP spid="3" grpId="0" bldLvl="0" animBg="1"/>
      <p:bldP spid="5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/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359910" y="887095"/>
            <a:ext cx="3472180" cy="64516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44450">
            <a:noFill/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人与世界的关系</a:t>
            </a:r>
            <a:endParaRPr lang="zh-CN" altLang="en-US" sz="36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25635" name="Rectangle 3"/>
          <p:cNvSpPr/>
          <p:nvPr>
            <p:custDataLst>
              <p:tags r:id="rId3"/>
            </p:custDataLst>
          </p:nvPr>
        </p:nvSpPr>
        <p:spPr>
          <a:xfrm>
            <a:off x="5105400" y="2889885"/>
            <a:ext cx="1981200" cy="58356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认识关系</a:t>
            </a:r>
            <a:r>
              <a:rPr lang="zh-CN" altLang="en-US" sz="1400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25636" name="Rectangle 4"/>
          <p:cNvSpPr/>
          <p:nvPr>
            <p:custDataLst>
              <p:tags r:id="rId4"/>
            </p:custDataLst>
          </p:nvPr>
        </p:nvSpPr>
        <p:spPr>
          <a:xfrm>
            <a:off x="5105400" y="2070735"/>
            <a:ext cx="1981200" cy="58356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实践关系</a:t>
            </a:r>
            <a:r>
              <a:rPr lang="zh-CN" altLang="en-US" sz="1400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25637" name="Rectangle 5"/>
          <p:cNvSpPr/>
          <p:nvPr>
            <p:custDataLst>
              <p:tags r:id="rId5"/>
            </p:custDataLst>
          </p:nvPr>
        </p:nvSpPr>
        <p:spPr>
          <a:xfrm>
            <a:off x="5105400" y="3829050"/>
            <a:ext cx="1981200" cy="58356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价值关系</a:t>
            </a:r>
            <a:r>
              <a:rPr lang="zh-CN" altLang="en-US" sz="1400" dirty="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25639" name="AutoShape 7"/>
          <p:cNvSpPr/>
          <p:nvPr>
            <p:custDataLst>
              <p:tags r:id="rId6"/>
            </p:custDataLst>
          </p:nvPr>
        </p:nvSpPr>
        <p:spPr>
          <a:xfrm>
            <a:off x="1261110" y="2749550"/>
            <a:ext cx="2620645" cy="744855"/>
          </a:xfrm>
          <a:prstGeom prst="roundRect">
            <a:avLst>
              <a:gd name="adj" fmla="val 16667"/>
            </a:avLst>
          </a:prstGeom>
          <a:solidFill>
            <a:schemeClr val="accent3">
              <a:lumMod val="50000"/>
            </a:schemeClr>
          </a:solidFill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主体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640" name="AutoShape 8"/>
          <p:cNvSpPr/>
          <p:nvPr>
            <p:custDataLst>
              <p:tags r:id="rId7"/>
            </p:custDataLst>
          </p:nvPr>
        </p:nvSpPr>
        <p:spPr>
          <a:xfrm>
            <a:off x="8345805" y="2749550"/>
            <a:ext cx="3091815" cy="744855"/>
          </a:xfrm>
          <a:prstGeom prst="roundRect">
            <a:avLst>
              <a:gd name="adj" fmla="val 16667"/>
            </a:avLst>
          </a:prstGeom>
          <a:solidFill>
            <a:schemeClr val="accent3">
              <a:lumMod val="50000"/>
            </a:schemeClr>
          </a:solidFill>
          <a:ln w="12700" cap="flat" cmpd="sng">
            <a:noFill/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客体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下箭头 3"/>
          <p:cNvSpPr/>
          <p:nvPr>
            <p:custDataLst>
              <p:tags r:id="rId8"/>
            </p:custDataLst>
          </p:nvPr>
        </p:nvSpPr>
        <p:spPr>
          <a:xfrm>
            <a:off x="5977890" y="4597400"/>
            <a:ext cx="238125" cy="348615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2131695" y="5048250"/>
            <a:ext cx="79305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在认识与改造世界中形成</a:t>
            </a:r>
            <a:endParaRPr lang="zh-CN" altLang="en-US" sz="4000" b="1"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  <a:p>
            <a:pPr algn="ctr"/>
            <a:r>
              <a:rPr lang="zh-CN" altLang="en-US" sz="4000" b="1"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实践论、认识论和真理观、价值论</a:t>
            </a:r>
            <a:endParaRPr lang="zh-CN" altLang="en-US" sz="4000" b="1"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双大括号 7"/>
          <p:cNvSpPr/>
          <p:nvPr>
            <p:custDataLst>
              <p:tags r:id="rId10"/>
            </p:custDataLst>
          </p:nvPr>
        </p:nvSpPr>
        <p:spPr>
          <a:xfrm>
            <a:off x="4366895" y="1972945"/>
            <a:ext cx="3296920" cy="2489835"/>
          </a:xfrm>
          <a:prstGeom prst="bracePair">
            <a:avLst/>
          </a:prstGeom>
          <a:ln w="444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10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10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0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25639" grpId="0" bldLvl="0" animBg="1"/>
      <p:bldP spid="325640" grpId="0" bldLvl="0" animBg="1"/>
      <p:bldP spid="325635" grpId="0" bldLvl="0" animBg="1"/>
      <p:bldP spid="325636" grpId="0" bldLvl="0" animBg="1"/>
      <p:bldP spid="325637" grpId="0" bldLvl="0" animBg="1"/>
      <p:bldP spid="8" grpId="0" bldLvl="0" animBg="1"/>
      <p:bldP spid="4" grpId="0" bldLvl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上下箭头 12"/>
          <p:cNvSpPr/>
          <p:nvPr>
            <p:custDataLst>
              <p:tags r:id="rId2"/>
            </p:custDataLst>
          </p:nvPr>
        </p:nvSpPr>
        <p:spPr>
          <a:xfrm>
            <a:off x="1031875" y="2054860"/>
            <a:ext cx="211455" cy="2741930"/>
          </a:xfrm>
          <a:prstGeom prst="upDownArrow">
            <a:avLst/>
          </a:prstGeom>
          <a:noFill/>
          <a:ln w="317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636520" y="620395"/>
            <a:ext cx="9465945" cy="23069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本质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：人类能动地改造世界的社会性的一种物质性活动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结构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：实践主体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—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实践中介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—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实践客体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特征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：直接现实性（客观实在性）、自觉能动性、社会历史性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实践的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形式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：物质生产实践、社会性和政治性实践、科学文化实践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636520" y="3778250"/>
            <a:ext cx="9039225" cy="267652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认识的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本质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：主体在实践基础上对客体的能动反映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认识的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基础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：实践（来源、目的、推动力、检验标准）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认识的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过程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：第一次飞跃：实践基础上从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感性认识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上升到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理性认识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           第二次飞跃：利用已获得认识指导实践并检验认识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           实践与认识的辩证运动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9" name="Freeform 23"/>
          <p:cNvSpPr/>
          <p:nvPr>
            <p:custDataLst>
              <p:tags r:id="rId5"/>
            </p:custDataLst>
          </p:nvPr>
        </p:nvSpPr>
        <p:spPr>
          <a:xfrm>
            <a:off x="292100" y="1492250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实践观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10" name="Freeform 23"/>
          <p:cNvSpPr/>
          <p:nvPr>
            <p:custDataLst>
              <p:tags r:id="rId6"/>
            </p:custDataLst>
          </p:nvPr>
        </p:nvSpPr>
        <p:spPr>
          <a:xfrm>
            <a:off x="292100" y="4796790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认识论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cxnSp>
        <p:nvCxnSpPr>
          <p:cNvPr id="11" name="直接连接符 10"/>
          <p:cNvCxnSpPr>
            <a:endCxn id="2" idx="1"/>
          </p:cNvCxnSpPr>
          <p:nvPr>
            <p:custDataLst>
              <p:tags r:id="rId7"/>
            </p:custDataLst>
          </p:nvPr>
        </p:nvCxnSpPr>
        <p:spPr>
          <a:xfrm flipV="1">
            <a:off x="1890395" y="1774190"/>
            <a:ext cx="746125" cy="190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3" idx="1"/>
          </p:cNvCxnSpPr>
          <p:nvPr>
            <p:custDataLst>
              <p:tags r:id="rId8"/>
            </p:custDataLst>
          </p:nvPr>
        </p:nvCxnSpPr>
        <p:spPr>
          <a:xfrm>
            <a:off x="1901825" y="5111750"/>
            <a:ext cx="734695" cy="508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241935" y="3113405"/>
            <a:ext cx="1814830" cy="521970"/>
          </a:xfrm>
          <a:prstGeom prst="rect">
            <a:avLst/>
          </a:prstGeom>
          <a:noFill/>
          <a:ln w="28575" cmpd="tri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辩证</a:t>
            </a:r>
            <a:r>
              <a:rPr lang="en-US" altLang="zh-CN" sz="2800">
                <a:solidFill>
                  <a:schemeClr val="accent5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 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统一</a:t>
            </a:r>
            <a:endParaRPr lang="zh-CN" altLang="en-US" sz="28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2" grpId="0" bldLvl="0" animBg="1"/>
      <p:bldP spid="3" grpId="0" bldLvl="0" animBg="1"/>
      <p:bldP spid="13" grpId="0" bldLvl="0" animBg="1"/>
      <p:bldP spid="1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上下箭头 12"/>
          <p:cNvSpPr/>
          <p:nvPr>
            <p:custDataLst>
              <p:tags r:id="rId2"/>
            </p:custDataLst>
          </p:nvPr>
        </p:nvSpPr>
        <p:spPr>
          <a:xfrm>
            <a:off x="956945" y="2258695"/>
            <a:ext cx="211455" cy="2741930"/>
          </a:xfrm>
          <a:prstGeom prst="upDownArrow">
            <a:avLst/>
          </a:prstGeom>
          <a:noFill/>
          <a:ln w="317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61590" y="646430"/>
            <a:ext cx="9465945" cy="2749550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真理的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本质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：主体在实践基础上对客观事物及其规律正确的能动反映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真理的</a:t>
            </a:r>
            <a:r>
              <a:rPr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特征</a:t>
            </a:r>
            <a:r>
              <a:rPr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：客观性和主观性的辩证统一</a:t>
            </a:r>
            <a:endParaRPr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        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一元性和多样性的辩证统一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        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绝对性和相对性的辩证统一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          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真理和谬误的辩证统一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真理的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检验标准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：实践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565400" y="4171315"/>
            <a:ext cx="9039225" cy="23069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价值的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本质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：客体对个人、群体、社会的生活和活动的积极意义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价值的</a:t>
            </a: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特征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：主体性、客观性、多维性、社会历史性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价值评价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：含义、特征、标准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75000"/>
                  </a:scheme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价值观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：含义、作用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9" name="Freeform 23"/>
          <p:cNvSpPr/>
          <p:nvPr>
            <p:custDataLst>
              <p:tags r:id="rId5"/>
            </p:custDataLst>
          </p:nvPr>
        </p:nvSpPr>
        <p:spPr>
          <a:xfrm>
            <a:off x="217170" y="1696085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真理观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10" name="Freeform 23"/>
          <p:cNvSpPr/>
          <p:nvPr>
            <p:custDataLst>
              <p:tags r:id="rId6"/>
            </p:custDataLst>
          </p:nvPr>
        </p:nvSpPr>
        <p:spPr>
          <a:xfrm>
            <a:off x="217170" y="5000625"/>
            <a:ext cx="1605915" cy="56261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价值论</a:t>
            </a:r>
            <a:endParaRPr kumimoji="0" lang="zh-CN" altLang="en-US" sz="28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cxnSp>
        <p:nvCxnSpPr>
          <p:cNvPr id="11" name="直接连接符 10"/>
          <p:cNvCxnSpPr>
            <a:endCxn id="2" idx="1"/>
          </p:cNvCxnSpPr>
          <p:nvPr>
            <p:custDataLst>
              <p:tags r:id="rId7"/>
            </p:custDataLst>
          </p:nvPr>
        </p:nvCxnSpPr>
        <p:spPr>
          <a:xfrm flipV="1">
            <a:off x="1815465" y="2021205"/>
            <a:ext cx="746125" cy="190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3" idx="1"/>
          </p:cNvCxnSpPr>
          <p:nvPr>
            <p:custDataLst>
              <p:tags r:id="rId8"/>
            </p:custDataLst>
          </p:nvPr>
        </p:nvCxnSpPr>
        <p:spPr>
          <a:xfrm>
            <a:off x="1830705" y="5320030"/>
            <a:ext cx="734695" cy="508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67005" y="3317240"/>
            <a:ext cx="1814830" cy="521970"/>
          </a:xfrm>
          <a:prstGeom prst="rect">
            <a:avLst/>
          </a:prstGeom>
          <a:noFill/>
          <a:ln w="28575" cmpd="tri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辩证</a:t>
            </a:r>
            <a:r>
              <a:rPr lang="en-US" altLang="zh-CN" sz="28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 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统一</a:t>
            </a:r>
            <a:endParaRPr lang="zh-CN" altLang="en-US" sz="28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2" grpId="0" bldLvl="0" animBg="1"/>
      <p:bldP spid="3" grpId="0" bldLvl="0" animBg="1"/>
      <p:bldP spid="13" grpId="0" bldLvl="0" animBg="1"/>
      <p:bldP spid="1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08990" y="3714750"/>
            <a:ext cx="1173480" cy="64516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社会</a:t>
            </a:r>
            <a:endParaRPr lang="zh-CN" altLang="en-US" sz="36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800985" y="2631440"/>
            <a:ext cx="1082040" cy="583565"/>
          </a:xfrm>
          <a:prstGeom prst="rect">
            <a:avLst/>
          </a:prstGeom>
          <a:noFill/>
          <a:ln w="44450" cmpd="tri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静态</a:t>
            </a:r>
            <a:endParaRPr lang="zh-CN" altLang="en-US" sz="32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812415" y="4819650"/>
            <a:ext cx="1082040" cy="583565"/>
          </a:xfrm>
          <a:prstGeom prst="rect">
            <a:avLst/>
          </a:prstGeom>
          <a:noFill/>
          <a:ln w="44450" cmpd="tri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动态</a:t>
            </a:r>
            <a:endParaRPr lang="zh-CN" altLang="en-US" sz="32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左中括号 8"/>
          <p:cNvSpPr/>
          <p:nvPr>
            <p:custDataLst>
              <p:tags r:id="rId5"/>
            </p:custDataLst>
          </p:nvPr>
        </p:nvSpPr>
        <p:spPr>
          <a:xfrm>
            <a:off x="2515235" y="2923540"/>
            <a:ext cx="285750" cy="2227580"/>
          </a:xfrm>
          <a:prstGeom prst="leftBracket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3" idx="3"/>
            <a:endCxn id="9" idx="1"/>
          </p:cNvCxnSpPr>
          <p:nvPr>
            <p:custDataLst>
              <p:tags r:id="rId6"/>
            </p:custDataLst>
          </p:nvPr>
        </p:nvCxnSpPr>
        <p:spPr>
          <a:xfrm>
            <a:off x="1982470" y="4037330"/>
            <a:ext cx="532765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5496560" y="2631440"/>
            <a:ext cx="189611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社会结构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567045" y="5288280"/>
            <a:ext cx="189611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发展动力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567045" y="3843020"/>
            <a:ext cx="189611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发展过程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4" name="直接连接符 13"/>
          <p:cNvCxnSpPr>
            <a:stCxn id="6" idx="3"/>
          </p:cNvCxnSpPr>
          <p:nvPr>
            <p:custDataLst>
              <p:tags r:id="rId10"/>
            </p:custDataLst>
          </p:nvPr>
        </p:nvCxnSpPr>
        <p:spPr>
          <a:xfrm>
            <a:off x="3883025" y="2923540"/>
            <a:ext cx="1613535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左中括号 14"/>
          <p:cNvSpPr/>
          <p:nvPr>
            <p:custDataLst>
              <p:tags r:id="rId11"/>
            </p:custDataLst>
          </p:nvPr>
        </p:nvSpPr>
        <p:spPr>
          <a:xfrm>
            <a:off x="5151755" y="4126230"/>
            <a:ext cx="414020" cy="1540510"/>
          </a:xfrm>
          <a:prstGeom prst="leftBracket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>
            <a:stCxn id="7" idx="3"/>
          </p:cNvCxnSpPr>
          <p:nvPr>
            <p:custDataLst>
              <p:tags r:id="rId12"/>
            </p:custDataLst>
          </p:nvPr>
        </p:nvCxnSpPr>
        <p:spPr>
          <a:xfrm flipV="1">
            <a:off x="3894455" y="5093970"/>
            <a:ext cx="1213485" cy="1778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7952740" y="3533140"/>
            <a:ext cx="3108325" cy="521970"/>
          </a:xfrm>
          <a:prstGeom prst="rect">
            <a:avLst/>
          </a:prstGeom>
          <a:noFill/>
          <a:ln w="44450" cmpd="thinThick">
            <a:solidFill>
              <a:schemeClr val="accent6">
                <a:lumMod val="50000"/>
                <a:alpha val="99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隶书" panose="02010509060101010101" charset="-122"/>
                <a:ea typeface="隶书" panose="02010509060101010101" charset="-122"/>
              </a:rPr>
              <a:t>社会形态及其更替</a:t>
            </a:r>
            <a:endParaRPr lang="zh-CN" altLang="en-US" sz="28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7964170" y="4766310"/>
            <a:ext cx="2395855" cy="521970"/>
          </a:xfrm>
          <a:prstGeom prst="rect">
            <a:avLst/>
          </a:prstGeom>
          <a:noFill/>
          <a:ln w="44450" cmpd="thinThick">
            <a:solidFill>
              <a:schemeClr val="accent6">
                <a:lumMod val="50000"/>
                <a:alpha val="99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sz="2800">
                <a:latin typeface="隶书" panose="02010509060101010101" charset="-122"/>
                <a:ea typeface="隶书" panose="02010509060101010101" charset="-122"/>
              </a:rPr>
              <a:t>客观因素</a:t>
            </a:r>
            <a:endParaRPr lang="zh-CN" sz="28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7952740" y="5871845"/>
            <a:ext cx="2395855" cy="521970"/>
          </a:xfrm>
          <a:prstGeom prst="rect">
            <a:avLst/>
          </a:prstGeom>
          <a:noFill/>
          <a:ln w="44450" cmpd="thinThick">
            <a:solidFill>
              <a:schemeClr val="accent6">
                <a:lumMod val="50000"/>
                <a:alpha val="99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隶书" panose="02010509060101010101" charset="-122"/>
                <a:ea typeface="隶书" panose="02010509060101010101" charset="-122"/>
              </a:rPr>
              <a:t>主观力量</a:t>
            </a:r>
            <a:endParaRPr lang="zh-CN" altLang="en-US" sz="2800"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20" name="直接箭头连接符 19"/>
          <p:cNvCxnSpPr>
            <a:stCxn id="13" idx="3"/>
          </p:cNvCxnSpPr>
          <p:nvPr>
            <p:custDataLst>
              <p:tags r:id="rId16"/>
            </p:custDataLst>
          </p:nvPr>
        </p:nvCxnSpPr>
        <p:spPr>
          <a:xfrm flipV="1">
            <a:off x="7463155" y="4126230"/>
            <a:ext cx="403860" cy="889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号 20"/>
          <p:cNvSpPr/>
          <p:nvPr>
            <p:custDataLst>
              <p:tags r:id="rId17"/>
            </p:custDataLst>
          </p:nvPr>
        </p:nvSpPr>
        <p:spPr>
          <a:xfrm>
            <a:off x="7603490" y="4831080"/>
            <a:ext cx="360680" cy="1562735"/>
          </a:xfrm>
          <a:prstGeom prst="leftBrac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8"/>
            </p:custDataLst>
          </p:nvPr>
        </p:nvSpPr>
        <p:spPr>
          <a:xfrm>
            <a:off x="4790440" y="779145"/>
            <a:ext cx="2066290" cy="64516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基本问题</a:t>
            </a:r>
            <a:endParaRPr lang="zh-CN" altLang="en-US" sz="36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9"/>
            </p:custDataLst>
          </p:nvPr>
        </p:nvSpPr>
        <p:spPr>
          <a:xfrm>
            <a:off x="900430" y="1424305"/>
            <a:ext cx="1899920" cy="583565"/>
          </a:xfrm>
          <a:prstGeom prst="rect">
            <a:avLst/>
          </a:prstGeom>
          <a:noFill/>
          <a:ln w="44450" cmpd="tri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唯物史观</a:t>
            </a:r>
            <a:endParaRPr lang="zh-CN" altLang="en-US" sz="32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8520430" y="1424305"/>
            <a:ext cx="1899920" cy="583565"/>
          </a:xfrm>
          <a:prstGeom prst="rect">
            <a:avLst/>
          </a:prstGeom>
          <a:noFill/>
          <a:ln w="44450" cmpd="tri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accent6">
                    <a:lumMod val="50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唯心史观</a:t>
            </a:r>
            <a:endParaRPr lang="zh-CN" altLang="en-US" sz="3200">
              <a:solidFill>
                <a:schemeClr val="accent6">
                  <a:lumMod val="50000"/>
                </a:schemeClr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8" name="肘形连接符 7"/>
          <p:cNvCxnSpPr>
            <a:stCxn id="2" idx="2"/>
            <a:endCxn id="4" idx="3"/>
          </p:cNvCxnSpPr>
          <p:nvPr>
            <p:custDataLst>
              <p:tags r:id="rId21"/>
            </p:custDataLst>
          </p:nvPr>
        </p:nvCxnSpPr>
        <p:spPr>
          <a:xfrm rot="5400000">
            <a:off x="4165600" y="58420"/>
            <a:ext cx="292100" cy="3023235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2" idx="2"/>
            <a:endCxn id="5" idx="1"/>
          </p:cNvCxnSpPr>
          <p:nvPr>
            <p:custDataLst>
              <p:tags r:id="rId22"/>
            </p:custDataLst>
          </p:nvPr>
        </p:nvCxnSpPr>
        <p:spPr>
          <a:xfrm rot="5400000" flipV="1">
            <a:off x="7025640" y="221615"/>
            <a:ext cx="292100" cy="2696845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下箭头 22"/>
          <p:cNvSpPr/>
          <p:nvPr>
            <p:custDataLst>
              <p:tags r:id="rId23"/>
            </p:custDataLst>
          </p:nvPr>
        </p:nvSpPr>
        <p:spPr>
          <a:xfrm>
            <a:off x="1298575" y="2148840"/>
            <a:ext cx="194310" cy="1425575"/>
          </a:xfrm>
          <a:prstGeom prst="downArrow">
            <a:avLst/>
          </a:prstGeom>
          <a:noFill/>
          <a:ln w="34925" cmpd="thinThick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7964170" y="4055110"/>
            <a:ext cx="3823335" cy="521970"/>
          </a:xfrm>
          <a:prstGeom prst="rect">
            <a:avLst/>
          </a:prstGeom>
          <a:noFill/>
          <a:ln w="44450" cmpd="thinThick">
            <a:solidFill>
              <a:schemeClr val="accent6">
                <a:lumMod val="50000"/>
                <a:alpha val="99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隶书" panose="02010509060101010101" charset="-122"/>
                <a:ea typeface="隶书" panose="02010509060101010101" charset="-122"/>
              </a:rPr>
              <a:t>世界历史与交往普遍化</a:t>
            </a:r>
            <a:endParaRPr lang="zh-CN" altLang="en-US" sz="2800"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6" grpId="0" bldLvl="0" animBg="1"/>
      <p:bldP spid="7" grpId="0" bldLvl="0" animBg="1"/>
      <p:bldP spid="11" grpId="1" bldLvl="0" animBg="1"/>
      <p:bldP spid="15" grpId="0" bldLvl="0" animBg="1"/>
      <p:bldP spid="13" grpId="0" bldLvl="0" animBg="1"/>
      <p:bldP spid="12" grpId="0" bldLvl="0" animBg="1"/>
      <p:bldP spid="17" grpId="0" bldLvl="0" animBg="1"/>
      <p:bldP spid="21" grpId="0" bldLvl="0" animBg="1"/>
      <p:bldP spid="18" grpId="0" bldLvl="0" animBg="1"/>
      <p:bldP spid="19" grpId="0" bldLvl="0" animBg="1"/>
      <p:bldP spid="2" grpId="0" bldLvl="0" animBg="1"/>
      <p:bldP spid="4" grpId="0" bldLvl="0" animBg="1"/>
      <p:bldP spid="5" grpId="0" bldLvl="0" animBg="1"/>
      <p:bldP spid="23" grpId="0" bldLvl="0" animBg="1"/>
      <p:bldP spid="3" grpId="0" bldLvl="0" animBg="1"/>
      <p:bldP spid="2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3"/>
          <p:cNvSpPr/>
          <p:nvPr>
            <p:custDataLst>
              <p:tags r:id="rId2"/>
            </p:custDataLst>
          </p:nvPr>
        </p:nvSpPr>
        <p:spPr>
          <a:xfrm>
            <a:off x="1022985" y="3514725"/>
            <a:ext cx="2709545" cy="504825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自然地理环境</a:t>
            </a:r>
            <a:endParaRPr kumimoji="0" lang="zh-CN" altLang="en-US" sz="24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36" name="Freeform 25"/>
          <p:cNvSpPr/>
          <p:nvPr>
            <p:custDataLst>
              <p:tags r:id="rId3"/>
            </p:custDataLst>
          </p:nvPr>
        </p:nvSpPr>
        <p:spPr>
          <a:xfrm>
            <a:off x="988695" y="4397375"/>
            <a:ext cx="2733040" cy="504825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498DB">
              <a:tint val="99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rmAutofit lnSpcReduction="10000"/>
          </a:bodyPr>
          <a:p>
            <a:pPr lvl="0" algn="ctr" defTabSz="5334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spc="300" dirty="0">
                <a:solidFill>
                  <a:prstClr val="white"/>
                </a:solidFill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人口因素</a:t>
            </a:r>
            <a:endParaRPr lang="zh-CN" altLang="en-US" sz="2400" b="1" spc="300" dirty="0">
              <a:solidFill>
                <a:prstClr val="white"/>
              </a:solidFill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37" name="Freeform 27"/>
          <p:cNvSpPr/>
          <p:nvPr>
            <p:custDataLst>
              <p:tags r:id="rId4"/>
            </p:custDataLst>
          </p:nvPr>
        </p:nvSpPr>
        <p:spPr>
          <a:xfrm>
            <a:off x="988695" y="5271135"/>
            <a:ext cx="2739390" cy="504825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498DB">
              <a:tint val="99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lvl="0" algn="ctr" defTabSz="5334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spc="300" dirty="0">
                <a:solidFill>
                  <a:prstClr val="white"/>
                </a:solidFill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物质生产方式</a:t>
            </a:r>
            <a:endParaRPr lang="zh-CN" altLang="en-US" sz="2400" b="1" spc="300" dirty="0">
              <a:solidFill>
                <a:prstClr val="white"/>
              </a:solidFill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5" name="Freeform 23"/>
          <p:cNvSpPr/>
          <p:nvPr>
            <p:custDataLst>
              <p:tags r:id="rId5"/>
            </p:custDataLst>
          </p:nvPr>
        </p:nvSpPr>
        <p:spPr>
          <a:xfrm>
            <a:off x="8533130" y="3514725"/>
            <a:ext cx="2690495" cy="52197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3498DB">
              <a:shade val="80000"/>
              <a:hueOff val="0"/>
              <a:satOff val="0"/>
              <a:lumOff val="0"/>
              <a:alphaOff val="0"/>
            </a:srgbClr>
          </a:fillRef>
          <a:effectRef idx="0">
            <a:srgbClr val="3498DB">
              <a:shade val="80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Autofit/>
          </a:bodyPr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社会意识形式</a:t>
            </a:r>
            <a:endParaRPr kumimoji="0" lang="zh-CN" altLang="en-US" sz="2400" b="1" i="0" u="none" strike="noStrike" kern="1200" cap="none" spc="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7" name="Freeform 25"/>
          <p:cNvSpPr/>
          <p:nvPr>
            <p:custDataLst>
              <p:tags r:id="rId6"/>
            </p:custDataLst>
          </p:nvPr>
        </p:nvSpPr>
        <p:spPr>
          <a:xfrm>
            <a:off x="8519795" y="4488815"/>
            <a:ext cx="2733040" cy="504825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498DB">
              <a:tint val="99000"/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90000" tIns="46800" rIns="90000" bIns="46800" numCol="1" spcCol="1270" anchor="ctr" anchorCtr="0">
            <a:normAutofit lnSpcReduction="10000"/>
          </a:bodyPr>
          <a:p>
            <a:pPr lvl="0" algn="ctr" defTabSz="5334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spc="300" dirty="0">
                <a:solidFill>
                  <a:prstClr val="white"/>
                </a:solidFill>
                <a:latin typeface="隶书" panose="02010509060101010101" charset="-122"/>
                <a:ea typeface="隶书" panose="02010509060101010101" charset="-122"/>
                <a:cs typeface="Open Sans" panose="020B0606030504020204" pitchFamily="34" charset="0"/>
              </a:rPr>
              <a:t>社会心理</a:t>
            </a:r>
            <a:endParaRPr lang="zh-CN" altLang="en-US" sz="2400" b="1" spc="300" dirty="0">
              <a:solidFill>
                <a:prstClr val="white"/>
              </a:solidFill>
              <a:latin typeface="隶书" panose="02010509060101010101" charset="-122"/>
              <a:ea typeface="隶书" panose="02010509060101010101" charset="-122"/>
              <a:cs typeface="Open Sans" panose="020B0606030504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730115" y="648335"/>
            <a:ext cx="2066290" cy="64516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基本问题</a:t>
            </a:r>
            <a:endParaRPr lang="zh-CN" altLang="en-US" sz="36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六边形 11"/>
          <p:cNvSpPr/>
          <p:nvPr>
            <p:custDataLst>
              <p:tags r:id="rId8"/>
            </p:custDataLst>
          </p:nvPr>
        </p:nvSpPr>
        <p:spPr>
          <a:xfrm>
            <a:off x="4499610" y="2129790"/>
            <a:ext cx="2527935" cy="1055370"/>
          </a:xfrm>
          <a:prstGeom prst="hexag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9"/>
            </p:custDataLst>
          </p:nvPr>
        </p:nvSpPr>
        <p:spPr>
          <a:xfrm>
            <a:off x="560705" y="1997710"/>
            <a:ext cx="2301240" cy="121348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705485" y="2272030"/>
            <a:ext cx="2117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社会存在</a:t>
            </a:r>
            <a:endParaRPr lang="zh-CN" altLang="en-US" sz="36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9130665" y="1987550"/>
            <a:ext cx="2552700" cy="121348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9434195" y="2271395"/>
            <a:ext cx="2054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社会意识</a:t>
            </a:r>
            <a:endParaRPr lang="zh-CN" altLang="en-US" sz="36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3" name="右箭头 22"/>
          <p:cNvSpPr/>
          <p:nvPr>
            <p:custDataLst>
              <p:tags r:id="rId13"/>
            </p:custDataLst>
          </p:nvPr>
        </p:nvSpPr>
        <p:spPr>
          <a:xfrm>
            <a:off x="3001645" y="2000250"/>
            <a:ext cx="6078855" cy="17589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>
            <p:custDataLst>
              <p:tags r:id="rId14"/>
            </p:custDataLst>
          </p:nvPr>
        </p:nvSpPr>
        <p:spPr>
          <a:xfrm rot="10800000">
            <a:off x="2962910" y="3135630"/>
            <a:ext cx="6026785" cy="17843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245100" y="1471295"/>
            <a:ext cx="1036955" cy="5835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</a:rPr>
              <a:t>决定</a:t>
            </a:r>
            <a:endParaRPr lang="zh-CN" altLang="en-US" sz="3200">
              <a:solidFill>
                <a:schemeClr val="bg2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4289425" y="3260090"/>
            <a:ext cx="3110865" cy="5835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</a:rPr>
              <a:t>能动的反作用</a:t>
            </a:r>
            <a:endParaRPr lang="zh-CN" altLang="en-US" sz="3200">
              <a:solidFill>
                <a:schemeClr val="bg2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4676140" y="2302510"/>
            <a:ext cx="2278380" cy="706755"/>
          </a:xfrm>
          <a:prstGeom prst="rect">
            <a:avLst/>
          </a:prstGeom>
          <a:noFill/>
          <a:ln w="28575" cmpd="sng">
            <a:noFill/>
            <a:prstDash val="sysDash"/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辩证统一</a:t>
            </a:r>
            <a:endParaRPr lang="zh-CN" altLang="en-US" sz="40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7" grpId="0" bldLvl="0" animBg="1"/>
      <p:bldP spid="22" grpId="0"/>
      <p:bldP spid="13" grpId="0" bldLvl="0" animBg="1"/>
      <p:bldP spid="14" grpId="0"/>
      <p:bldP spid="35" grpId="0" bldLvl="0" animBg="1"/>
      <p:bldP spid="36" grpId="0" bldLvl="0" animBg="1"/>
      <p:bldP spid="37" grpId="0" bldLvl="0" animBg="1"/>
      <p:bldP spid="5" grpId="0" bldLvl="0" animBg="1"/>
      <p:bldP spid="7" grpId="0" bldLvl="0" animBg="1"/>
      <p:bldP spid="1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635250" y="836295"/>
          <a:ext cx="6659880" cy="5568950"/>
        </p:xfrm>
        <a:graphic>
          <a:graphicData uri="http://schemas.openxmlformats.org/drawingml/2006/table">
            <a:tbl>
              <a:tblPr/>
              <a:tblGrid>
                <a:gridCol w="6659880"/>
              </a:tblGrid>
              <a:tr h="128651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solidFill>
                            <a:srgbClr val="FF9900"/>
                          </a:solidFill>
                          <a:latin typeface="微软雅黑" panose="020B0503020204020204" charset="-122"/>
                        </a:rPr>
                        <a:t>  </a:t>
                      </a:r>
                      <a:r>
                        <a:rPr lang="zh-CN" altLang="en-US" sz="3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隶书" panose="02010509060101010101" charset="-122"/>
                          <a:ea typeface="隶书" panose="02010509060101010101" charset="-122"/>
                        </a:rPr>
                        <a:t>社会观念结构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  <a:latin typeface="微软雅黑" panose="020B0503020204020204" charset="-122"/>
                        </a:rPr>
                        <a:t> </a:t>
                      </a:r>
                      <a:endParaRPr lang="zh-CN" altLang="en-US" sz="2400" b="1" dirty="0">
                        <a:solidFill>
                          <a:srgbClr val="FF3300"/>
                        </a:solidFill>
                        <a:latin typeface="微软雅黑" panose="020B0503020204020204" charset="-122"/>
                      </a:endParaRPr>
                    </a:p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charset="-122"/>
                        </a:rPr>
                        <a:t>（主体是观念上层建筑）</a:t>
                      </a:r>
                      <a:endParaRPr lang="zh-CN" altLang="en-US" sz="2400" dirty="0">
                        <a:latin typeface="微软雅黑" panose="020B0503020204020204" charset="-122"/>
                      </a:endParaRPr>
                    </a:p>
                  </a:txBody>
                  <a:tcPr marT="45725" marB="4572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84605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32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隶书" panose="02010509060101010101" charset="-122"/>
                          <a:ea typeface="隶书" panose="02010509060101010101" charset="-122"/>
                        </a:rPr>
                        <a:t>社会政治结构</a:t>
                      </a:r>
                      <a:endParaRPr lang="zh-CN" altLang="en-US" sz="2400" b="1" dirty="0">
                        <a:solidFill>
                          <a:srgbClr val="2E75B6"/>
                        </a:solidFill>
                        <a:latin typeface="微软雅黑" panose="020B0503020204020204" charset="-122"/>
                      </a:endParaRPr>
                    </a:p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charset="-122"/>
                        </a:rPr>
                        <a:t>（政治上层建筑）</a:t>
                      </a:r>
                      <a:endParaRPr lang="zh-CN" altLang="en-US" sz="2400" dirty="0">
                        <a:latin typeface="微软雅黑" panose="020B0503020204020204" charset="-122"/>
                      </a:endParaRPr>
                    </a:p>
                  </a:txBody>
                  <a:tcPr marT="45725" marB="4572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2595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3600" b="1" dirty="0">
                          <a:solidFill>
                            <a:srgbClr val="BF9000"/>
                          </a:solidFill>
                          <a:latin typeface="隶书" panose="02010509060101010101" charset="-122"/>
                          <a:ea typeface="隶书" panose="02010509060101010101" charset="-122"/>
                        </a:rPr>
                        <a:t>社会经济结构</a:t>
                      </a:r>
                      <a:endParaRPr lang="zh-CN" altLang="en-US" sz="2400" b="1" dirty="0">
                        <a:solidFill>
                          <a:srgbClr val="BF9000"/>
                        </a:solidFill>
                        <a:latin typeface="微软雅黑" panose="020B0503020204020204" charset="-122"/>
                      </a:endParaRPr>
                    </a:p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微软雅黑" panose="020B0503020204020204" charset="-122"/>
                        </a:rPr>
                        <a:t> </a:t>
                      </a:r>
                      <a:r>
                        <a:rPr lang="zh-CN" altLang="en-US" sz="2400" dirty="0">
                          <a:latin typeface="微软雅黑" panose="020B0503020204020204" charset="-122"/>
                        </a:rPr>
                        <a:t>(</a:t>
                      </a:r>
                      <a:r>
                        <a:rPr lang="zh-CN" altLang="en-US" sz="2400" dirty="0">
                          <a:latin typeface="微软雅黑" panose="020B0503020204020204" charset="-122"/>
                          <a:sym typeface="Arial" panose="020B0704020202020204" pitchFamily="34" charset="0"/>
                        </a:rPr>
                        <a:t>生产关系</a:t>
                      </a:r>
                      <a:r>
                        <a:rPr lang="zh-CN" altLang="en-US" sz="2400" dirty="0">
                          <a:latin typeface="微软雅黑" panose="020B0503020204020204" charset="-122"/>
                        </a:rPr>
                        <a:t>的总和</a:t>
                      </a:r>
                      <a:r>
                        <a:rPr lang="en-US" altLang="zh-CN" sz="2400" dirty="0">
                          <a:latin typeface="微软雅黑" panose="020B0503020204020204" charset="-122"/>
                        </a:rPr>
                        <a:t>——</a:t>
                      </a:r>
                      <a:r>
                        <a:rPr lang="zh-CN" altLang="en-US" sz="2400" dirty="0">
                          <a:latin typeface="微软雅黑" panose="020B0503020204020204" charset="-122"/>
                        </a:rPr>
                        <a:t>包含经济基础)</a:t>
                      </a:r>
                      <a:endParaRPr lang="zh-CN" altLang="en-US" sz="2400" dirty="0">
                        <a:latin typeface="微软雅黑" panose="020B0503020204020204" charset="-122"/>
                      </a:endParaRPr>
                    </a:p>
                  </a:txBody>
                  <a:tcPr marT="45725" marB="4572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852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微软雅黑" panose="020B0503020204020204" charset="-122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4000" b="1" dirty="0">
                          <a:solidFill>
                            <a:srgbClr val="014D23"/>
                          </a:solidFill>
                          <a:latin typeface="隶书" panose="02010509060101010101" charset="-122"/>
                          <a:ea typeface="隶书" panose="02010509060101010101" charset="-122"/>
                        </a:rPr>
                        <a:t>生产力</a:t>
                      </a:r>
                      <a:endParaRPr lang="zh-CN" altLang="en-US" sz="2400" b="1" dirty="0">
                        <a:solidFill>
                          <a:srgbClr val="014D23"/>
                        </a:solidFill>
                        <a:latin typeface="微软雅黑" panose="020B0503020204020204" charset="-122"/>
                      </a:endParaRPr>
                    </a:p>
                    <a:p>
                      <a:pPr lvl="0" algn="ctr" defTabSz="914400" ea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charset="-122"/>
                          <a:sym typeface="Arial" panose="020B0704020202020204" pitchFamily="34" charset="0"/>
                        </a:rPr>
                        <a:t>（社会结构的奠基石）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微软雅黑" panose="020B0503020204020204" charset="-122"/>
                      </a:endParaRPr>
                    </a:p>
                  </a:txBody>
                  <a:tcPr marT="45725" marB="4572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22" name="TextBox 3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295130" y="5563235"/>
            <a:ext cx="2388870" cy="4603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生产力</a:t>
            </a:r>
            <a:endParaRPr kumimoji="0" lang="zh-CN" altLang="en-US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423" name="TextBox 3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295130" y="3834130"/>
            <a:ext cx="2379345" cy="8299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生产关系</a:t>
            </a:r>
            <a:endParaRPr kumimoji="0" lang="en-US" altLang="zh-CN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（经济基础）</a:t>
            </a:r>
            <a:endParaRPr kumimoji="0" lang="zh-CN" altLang="en-US" sz="2400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424" name="TextBox 3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295130" y="1858010"/>
            <a:ext cx="2384425" cy="4603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上层建筑</a:t>
            </a:r>
            <a:endParaRPr kumimoji="0" lang="zh-CN" altLang="en-US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428" name="TextBox 3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72440" y="1895475"/>
            <a:ext cx="2162810" cy="4603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上层建筑</a:t>
            </a:r>
            <a:endParaRPr kumimoji="0" lang="zh-CN" altLang="en-US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TextBox 3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3870" y="3792220"/>
            <a:ext cx="2151380" cy="8299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生产关系</a:t>
            </a:r>
            <a:endParaRPr kumimoji="0" lang="en-US" altLang="zh-CN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（经济基础）</a:t>
            </a:r>
            <a:endParaRPr kumimoji="0" lang="zh-CN" altLang="en-US" sz="2400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01930" y="5563235"/>
            <a:ext cx="2433320" cy="4603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noFill/>
            <a:miter lim="800000"/>
          </a:ln>
          <a:effectLst/>
        </p:spPr>
        <p:txBody>
          <a:bodyPr wrap="square">
            <a:spAutoFit/>
          </a:bodyPr>
          <a:p>
            <a:pPr marR="0" algn="ctr" defTabSz="914400">
              <a:buClrTx/>
              <a:buSzTx/>
              <a:buFontTx/>
              <a:buNone/>
            </a:pPr>
            <a:r>
              <a:rPr kumimoji="0" lang="zh-CN" altLang="en-US" sz="2400" b="1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生产力</a:t>
            </a:r>
            <a:endParaRPr kumimoji="0" lang="zh-CN" altLang="en-US" sz="2400" b="1" kern="1200" cap="none" spc="0" normalizeH="0" baseline="0" noProof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AutoShape 20"/>
          <p:cNvSpPr/>
          <p:nvPr>
            <p:custDataLst>
              <p:tags r:id="rId9"/>
            </p:custDataLst>
          </p:nvPr>
        </p:nvSpPr>
        <p:spPr>
          <a:xfrm>
            <a:off x="1268095" y="4681220"/>
            <a:ext cx="444500" cy="882015"/>
          </a:xfrm>
          <a:prstGeom prst="upArrow">
            <a:avLst>
              <a:gd name="adj1" fmla="val 50000"/>
              <a:gd name="adj2" fmla="val 5580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none" anchor="ctr"/>
          <a:p>
            <a:pPr eaLnBrk="0" hangingPunct="0"/>
            <a:endParaRPr lang="zh-CN" altLang="en-US" sz="2000" dirty="0">
              <a:latin typeface="微软雅黑" panose="020B0503020204020204" charset="-122"/>
            </a:endParaRPr>
          </a:p>
        </p:txBody>
      </p:sp>
      <p:sp>
        <p:nvSpPr>
          <p:cNvPr id="9" name="AutoShape 20"/>
          <p:cNvSpPr/>
          <p:nvPr>
            <p:custDataLst>
              <p:tags r:id="rId10"/>
            </p:custDataLst>
          </p:nvPr>
        </p:nvSpPr>
        <p:spPr>
          <a:xfrm>
            <a:off x="1270635" y="2582545"/>
            <a:ext cx="441960" cy="1209675"/>
          </a:xfrm>
          <a:prstGeom prst="upArrow">
            <a:avLst>
              <a:gd name="adj1" fmla="val 50000"/>
              <a:gd name="adj2" fmla="val 84164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none" anchor="ctr"/>
          <a:p>
            <a:pPr eaLnBrk="0" hangingPunct="0"/>
            <a:endParaRPr lang="zh-CN" altLang="en-US" sz="2000" dirty="0">
              <a:latin typeface="微软雅黑" panose="020B0503020204020204" charset="-12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72440" y="5016500"/>
            <a:ext cx="133032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决定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72440" y="3097530"/>
            <a:ext cx="133032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决定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2" name="AutoShape 29"/>
          <p:cNvSpPr/>
          <p:nvPr>
            <p:custDataLst>
              <p:tags r:id="rId13"/>
            </p:custDataLst>
          </p:nvPr>
        </p:nvSpPr>
        <p:spPr>
          <a:xfrm>
            <a:off x="10127615" y="4664075"/>
            <a:ext cx="441960" cy="899160"/>
          </a:xfrm>
          <a:prstGeom prst="downArrow">
            <a:avLst>
              <a:gd name="adj1" fmla="val 50000"/>
              <a:gd name="adj2" fmla="val 53500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none" anchor="ctr"/>
          <a:p>
            <a:pPr eaLnBrk="0" hangingPunct="0"/>
            <a:endParaRPr lang="zh-CN" altLang="en-US" sz="2000" dirty="0">
              <a:latin typeface="微软雅黑" panose="020B0503020204020204" charset="-122"/>
            </a:endParaRPr>
          </a:p>
        </p:txBody>
      </p:sp>
      <p:sp>
        <p:nvSpPr>
          <p:cNvPr id="13" name="AutoShape 29"/>
          <p:cNvSpPr/>
          <p:nvPr>
            <p:custDataLst>
              <p:tags r:id="rId14"/>
            </p:custDataLst>
          </p:nvPr>
        </p:nvSpPr>
        <p:spPr>
          <a:xfrm>
            <a:off x="10127615" y="2318385"/>
            <a:ext cx="441960" cy="1235075"/>
          </a:xfrm>
          <a:prstGeom prst="downArrow">
            <a:avLst>
              <a:gd name="adj1" fmla="val 50000"/>
              <a:gd name="adj2" fmla="val 89441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none" anchor="ctr"/>
          <a:p>
            <a:pPr eaLnBrk="0" hangingPunct="0"/>
            <a:endParaRPr lang="zh-CN" altLang="en-US" sz="2000" dirty="0">
              <a:latin typeface="微软雅黑" panose="020B0503020204020204" charset="-122"/>
            </a:endParaRPr>
          </a:p>
        </p:txBody>
      </p:sp>
      <p:sp>
        <p:nvSpPr>
          <p:cNvPr id="17437" name="Text Box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460990" y="4841240"/>
            <a:ext cx="122301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反作用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7438" name="Text Box 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0460990" y="2474595"/>
            <a:ext cx="122301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反作用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7"/>
            </p:custDataLst>
          </p:nvPr>
        </p:nvSpPr>
        <p:spPr>
          <a:xfrm>
            <a:off x="5017135" y="252730"/>
            <a:ext cx="189611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社会结构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2" grpId="0" bldLvl="0" animBg="1"/>
      <p:bldP spid="17423" grpId="0" bldLvl="0" animBg="1"/>
      <p:bldP spid="17424" grpId="0" bldLvl="0" animBg="1"/>
      <p:bldP spid="17428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7437" grpId="0" bldLvl="0" animBg="1"/>
      <p:bldP spid="1743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72415" y="1898015"/>
            <a:ext cx="2654300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社会形态更替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926080" y="1611630"/>
            <a:ext cx="8960485" cy="13163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sz="2400">
                <a:latin typeface="隶书" panose="02010509060101010101" charset="-122"/>
                <a:ea typeface="隶书" panose="02010509060101010101" charset="-122"/>
              </a:rPr>
              <a:t>社会形态的含义和构成</a:t>
            </a:r>
            <a:endParaRPr lang="zh-CN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sz="2400">
                <a:latin typeface="隶书" panose="02010509060101010101" charset="-122"/>
                <a:ea typeface="隶书" panose="02010509060101010101" charset="-122"/>
              </a:rPr>
              <a:t>社会形态更替：</a:t>
            </a:r>
            <a:r>
              <a:rPr lang="zh-CN" sz="2000">
                <a:latin typeface="隶书" panose="02010509060101010101" charset="-122"/>
                <a:ea typeface="隶书" panose="02010509060101010101" charset="-122"/>
              </a:rPr>
              <a:t>原始社会</a:t>
            </a:r>
            <a:r>
              <a:rPr lang="en-US" altLang="zh-CN" sz="2000">
                <a:latin typeface="隶书" panose="02010509060101010101" charset="-122"/>
                <a:ea typeface="隶书" panose="02010509060101010101" charset="-122"/>
              </a:rPr>
              <a:t>-</a:t>
            </a:r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奴隶社会</a:t>
            </a:r>
            <a:r>
              <a:rPr lang="en-US" altLang="zh-CN" sz="2000">
                <a:latin typeface="隶书" panose="02010509060101010101" charset="-122"/>
                <a:ea typeface="隶书" panose="02010509060101010101" charset="-122"/>
              </a:rPr>
              <a:t>-</a:t>
            </a:r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封建社会</a:t>
            </a:r>
            <a:r>
              <a:rPr lang="en-US" altLang="zh-CN" sz="2000">
                <a:latin typeface="隶书" panose="02010509060101010101" charset="-122"/>
                <a:ea typeface="隶书" panose="02010509060101010101" charset="-122"/>
              </a:rPr>
              <a:t>-</a:t>
            </a:r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资本主义社会</a:t>
            </a:r>
            <a:r>
              <a:rPr lang="en-US" altLang="zh-CN" sz="2000">
                <a:latin typeface="隶书" panose="02010509060101010101" charset="-122"/>
                <a:ea typeface="隶书" panose="02010509060101010101" charset="-122"/>
              </a:rPr>
              <a:t>-</a:t>
            </a:r>
            <a:r>
              <a:rPr lang="zh-CN" altLang="en-US" sz="2000">
                <a:latin typeface="隶书" panose="02010509060101010101" charset="-122"/>
                <a:ea typeface="隶书" panose="02010509060101010101" charset="-122"/>
              </a:rPr>
              <a:t>共产主义社会</a:t>
            </a:r>
            <a:endParaRPr lang="zh-CN" altLang="en-US" sz="20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更替特征：统一性与多样性、必然性与选择性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207000" y="784860"/>
            <a:ext cx="189230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时间维度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5"/>
            </p:custDataLst>
          </p:nvPr>
        </p:nvCxnSpPr>
        <p:spPr>
          <a:xfrm>
            <a:off x="391795" y="3342005"/>
            <a:ext cx="11442065" cy="25400"/>
          </a:xfrm>
          <a:prstGeom prst="line">
            <a:avLst/>
          </a:prstGeom>
          <a:ln w="4762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871220" y="4894580"/>
            <a:ext cx="2055495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世界历史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926080" y="4608195"/>
            <a:ext cx="6819900" cy="13163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sz="2400">
                <a:latin typeface="隶书" panose="02010509060101010101" charset="-122"/>
                <a:ea typeface="隶书" panose="02010509060101010101" charset="-122"/>
              </a:rPr>
              <a:t>世界历史的含义</a:t>
            </a:r>
            <a:endParaRPr lang="zh-CN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sz="2400">
                <a:latin typeface="隶书" panose="02010509060101010101" charset="-122"/>
                <a:ea typeface="隶书" panose="02010509060101010101" charset="-122"/>
              </a:rPr>
              <a:t>世界历史的形成原因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交往的普遍化：交往的含义与作用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5207000" y="3781425"/>
            <a:ext cx="1892300" cy="58356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 cmpd="sng">
            <a:noFill/>
            <a:prstDash val="sysDash"/>
          </a:ln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空间维度</a:t>
            </a:r>
            <a:endParaRPr lang="zh-CN" altLang="en-US" sz="32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" grpId="0" bldLvl="0" animBg="1"/>
      <p:bldP spid="8" grpId="0" bldLvl="0" animBg="1"/>
      <p:bldP spid="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10305" y="845185"/>
            <a:ext cx="4772025" cy="70675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40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社会发展的动力</a:t>
            </a:r>
            <a:endParaRPr lang="zh-CN" altLang="en-US" sz="40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510665" y="2093595"/>
            <a:ext cx="2055495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客观因素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3565525" y="1807210"/>
            <a:ext cx="7177405" cy="13163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sz="2400">
                <a:latin typeface="隶书" panose="02010509060101010101" charset="-122"/>
                <a:ea typeface="隶书" panose="02010509060101010101" charset="-122"/>
              </a:rPr>
              <a:t>根本动力：社会基本矛盾（区别于社会主要矛盾）</a:t>
            </a:r>
            <a:endParaRPr lang="zh-CN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阶级社会的直接动力：阶级斗争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强大杠杆：科学技术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1510030" y="4577715"/>
            <a:ext cx="2055495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主观力量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3564890" y="4291330"/>
            <a:ext cx="7178040" cy="131635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群众史观与英雄史观的对立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人民群众的含义和历史创造作用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— 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群众观点和路线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人民群众与历史人物</a:t>
            </a:r>
            <a:r>
              <a:rPr lang="en-US" altLang="zh-CN" sz="2400">
                <a:latin typeface="隶书" panose="02010509060101010101" charset="-122"/>
                <a:ea typeface="隶书" panose="02010509060101010101" charset="-122"/>
              </a:rPr>
              <a:t>—</a:t>
            </a:r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群众、阶级、政党、领袖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7"/>
            </p:custDataLst>
          </p:nvPr>
        </p:nvCxnSpPr>
        <p:spPr>
          <a:xfrm>
            <a:off x="391795" y="3694430"/>
            <a:ext cx="11442065" cy="25400"/>
          </a:xfrm>
          <a:prstGeom prst="line">
            <a:avLst/>
          </a:prstGeom>
          <a:ln w="4762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4792345" y="3433445"/>
            <a:ext cx="241998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文化及其作用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  <p:bldP spid="23" grpId="0" bldLvl="0" animBg="1"/>
      <p:bldP spid="24" grpId="0" bldLvl="0" animBg="1"/>
      <p:bldP spid="2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_s1034"/>
          <p:cNvSpPr/>
          <p:nvPr>
            <p:custDataLst>
              <p:tags r:id="rId2"/>
            </p:custDataLst>
          </p:nvPr>
        </p:nvSpPr>
        <p:spPr>
          <a:xfrm>
            <a:off x="4831715" y="3377565"/>
            <a:ext cx="2528570" cy="9728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fontAlgn="base" hangingPunct="1">
              <a:spcBef>
                <a:spcPct val="0"/>
              </a:spcBef>
              <a:buNone/>
            </a:pPr>
            <a:r>
              <a:rPr lang="zh-CN" altLang="en-US" b="1" strike="noStrike" noProof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资本主义</a:t>
            </a:r>
            <a:endParaRPr lang="zh-CN" altLang="en-US" b="1" strike="noStrike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_s1034"/>
          <p:cNvSpPr/>
          <p:nvPr>
            <p:custDataLst>
              <p:tags r:id="rId3"/>
            </p:custDataLst>
          </p:nvPr>
        </p:nvSpPr>
        <p:spPr>
          <a:xfrm>
            <a:off x="3825240" y="1236345"/>
            <a:ext cx="2242820" cy="82423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fontAlgn="base" hangingPunct="1">
              <a:spcBef>
                <a:spcPct val="0"/>
              </a:spcBef>
              <a:buNone/>
            </a:pPr>
            <a:r>
              <a:rPr lang="zh-CN" altLang="en-US" sz="2800" b="1" strike="noStrike" noProof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劳动价值</a:t>
            </a:r>
            <a:endParaRPr lang="zh-CN" altLang="en-US" sz="2800" b="1" strike="noStrike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_s1034"/>
          <p:cNvSpPr/>
          <p:nvPr>
            <p:custDataLst>
              <p:tags r:id="rId4"/>
            </p:custDataLst>
          </p:nvPr>
        </p:nvSpPr>
        <p:spPr>
          <a:xfrm>
            <a:off x="6068060" y="1236345"/>
            <a:ext cx="2242820" cy="82423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fontAlgn="base" hangingPunct="1">
              <a:spcBef>
                <a:spcPct val="0"/>
              </a:spcBef>
              <a:buNone/>
            </a:pPr>
            <a:r>
              <a:rPr lang="zh-CN" altLang="en-US" sz="2800" b="1" strike="noStrike" noProof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剩余价值</a:t>
            </a:r>
            <a:endParaRPr lang="zh-CN" altLang="en-US" sz="2800" b="1" strike="noStrike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_s1034"/>
          <p:cNvSpPr/>
          <p:nvPr>
            <p:custDataLst>
              <p:tags r:id="rId5"/>
            </p:custDataLst>
          </p:nvPr>
        </p:nvSpPr>
        <p:spPr>
          <a:xfrm>
            <a:off x="872490" y="4511040"/>
            <a:ext cx="2242820" cy="82423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fontAlgn="base" hangingPunct="1">
              <a:spcBef>
                <a:spcPct val="0"/>
              </a:spcBef>
              <a:buNone/>
            </a:pPr>
            <a:r>
              <a:rPr lang="zh-CN" altLang="en-US" sz="2800" b="1" strike="noStrike" noProof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经济基础</a:t>
            </a:r>
            <a:endParaRPr lang="zh-CN" altLang="en-US" sz="2800" b="1" strike="noStrike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_s1034"/>
          <p:cNvSpPr/>
          <p:nvPr>
            <p:custDataLst>
              <p:tags r:id="rId6"/>
            </p:custDataLst>
          </p:nvPr>
        </p:nvSpPr>
        <p:spPr>
          <a:xfrm>
            <a:off x="8943975" y="4511040"/>
            <a:ext cx="2242820" cy="82423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fontAlgn="base" hangingPunct="1">
              <a:spcBef>
                <a:spcPct val="0"/>
              </a:spcBef>
              <a:buNone/>
            </a:pPr>
            <a:r>
              <a:rPr lang="zh-CN" altLang="en-US" sz="2800" b="1" strike="noStrike" noProof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上层建筑</a:t>
            </a:r>
            <a:endParaRPr lang="zh-CN" altLang="en-US" sz="2800" b="1" strike="noStrike" noProof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箭头连接符 6"/>
          <p:cNvCxnSpPr>
            <a:stCxn id="4" idx="4"/>
            <a:endCxn id="3" idx="0"/>
          </p:cNvCxnSpPr>
          <p:nvPr>
            <p:custDataLst>
              <p:tags r:id="rId7"/>
            </p:custDataLst>
          </p:nvPr>
        </p:nvCxnSpPr>
        <p:spPr>
          <a:xfrm>
            <a:off x="4946650" y="2060575"/>
            <a:ext cx="1149350" cy="131699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2" idx="4"/>
            <a:endCxn id="3" idx="0"/>
          </p:cNvCxnSpPr>
          <p:nvPr>
            <p:custDataLst>
              <p:tags r:id="rId8"/>
            </p:custDataLst>
          </p:nvPr>
        </p:nvCxnSpPr>
        <p:spPr>
          <a:xfrm flipH="1">
            <a:off x="6096000" y="2060575"/>
            <a:ext cx="1093470" cy="131699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6"/>
            <a:endCxn id="3" idx="4"/>
          </p:cNvCxnSpPr>
          <p:nvPr>
            <p:custDataLst>
              <p:tags r:id="rId9"/>
            </p:custDataLst>
          </p:nvPr>
        </p:nvCxnSpPr>
        <p:spPr>
          <a:xfrm flipV="1">
            <a:off x="3115310" y="4350385"/>
            <a:ext cx="2980690" cy="5727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2"/>
            <a:endCxn id="3" idx="4"/>
          </p:cNvCxnSpPr>
          <p:nvPr>
            <p:custDataLst>
              <p:tags r:id="rId10"/>
            </p:custDataLst>
          </p:nvPr>
        </p:nvCxnSpPr>
        <p:spPr>
          <a:xfrm flipH="1" flipV="1">
            <a:off x="6096000" y="4350385"/>
            <a:ext cx="2847975" cy="5727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5266055" y="2326005"/>
            <a:ext cx="1659890" cy="521970"/>
          </a:xfrm>
          <a:prstGeom prst="rect">
            <a:avLst/>
          </a:prstGeom>
          <a:noFill/>
          <a:ln w="38100" cmpd="thinThick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tx1"/>
                </a:solidFill>
                <a:latin typeface="隶书" panose="02010509060101010101" charset="-122"/>
                <a:ea typeface="隶书" panose="02010509060101010101" charset="-122"/>
              </a:rPr>
              <a:t>理论基础</a:t>
            </a:r>
            <a:endParaRPr lang="zh-CN" altLang="en-US" sz="2800">
              <a:solidFill>
                <a:schemeClr val="tx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3115310" y="4923155"/>
            <a:ext cx="1659890" cy="521970"/>
          </a:xfrm>
          <a:prstGeom prst="rect">
            <a:avLst/>
          </a:prstGeom>
          <a:noFill/>
          <a:ln w="38100" cmpd="thinThick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tx1"/>
                </a:solidFill>
                <a:latin typeface="隶书" panose="02010509060101010101" charset="-122"/>
                <a:ea typeface="隶书" panose="02010509060101010101" charset="-122"/>
              </a:rPr>
              <a:t>剥削方式</a:t>
            </a:r>
            <a:endParaRPr lang="zh-CN" altLang="en-US" sz="2800">
              <a:solidFill>
                <a:schemeClr val="tx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7284085" y="4923155"/>
            <a:ext cx="1659890" cy="521970"/>
          </a:xfrm>
          <a:prstGeom prst="rect">
            <a:avLst/>
          </a:prstGeom>
          <a:noFill/>
          <a:ln w="38100" cmpd="thinThick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tx1"/>
                </a:solidFill>
                <a:latin typeface="隶书" panose="02010509060101010101" charset="-122"/>
                <a:ea typeface="隶书" panose="02010509060101010101" charset="-122"/>
              </a:rPr>
              <a:t>维护剥削</a:t>
            </a:r>
            <a:endParaRPr lang="zh-CN" altLang="en-US" sz="2800">
              <a:solidFill>
                <a:schemeClr val="tx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2" grpId="0" bldLvl="0" animBg="1"/>
      <p:bldP spid="5" grpId="0" bldLvl="0" animBg="1"/>
      <p:bldP spid="6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805045" y="255270"/>
            <a:ext cx="2580640" cy="583565"/>
          </a:xfrm>
          <a:prstGeom prst="rect">
            <a:avLst/>
          </a:prstGeom>
          <a:solidFill>
            <a:schemeClr val="accent6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 b="1" noProof="1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隶书" panose="02010509060101010101" charset="-122"/>
                <a:ea typeface="隶书" panose="02010509060101010101" charset="-122"/>
                <a:cs typeface="+mn-cs"/>
              </a:rPr>
              <a:t>劳动价值论</a:t>
            </a:r>
            <a:endParaRPr lang="zh-CN" altLang="en-US" sz="3200" b="1" noProof="1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隶书" panose="02010509060101010101" charset="-122"/>
              <a:ea typeface="隶书" panose="020105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277485" y="2044065"/>
            <a:ext cx="1637030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商品经济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206115" y="2044065"/>
            <a:ext cx="95059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商品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36625" y="1087120"/>
            <a:ext cx="1637030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使用价值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632585" y="2938145"/>
            <a:ext cx="938530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价值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751965" y="4128770"/>
            <a:ext cx="1287780" cy="521970"/>
          </a:xfrm>
          <a:prstGeom prst="rect">
            <a:avLst/>
          </a:prstGeom>
          <a:solidFill>
            <a:schemeClr val="accent3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价值量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990600" y="4889500"/>
            <a:ext cx="2049145" cy="521970"/>
          </a:xfrm>
          <a:prstGeom prst="rect">
            <a:avLst/>
          </a:prstGeom>
          <a:solidFill>
            <a:schemeClr val="accent3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价值量表示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402080" y="5650230"/>
            <a:ext cx="1637030" cy="521970"/>
          </a:xfrm>
          <a:prstGeom prst="rect">
            <a:avLst/>
          </a:prstGeom>
          <a:solidFill>
            <a:schemeClr val="accent3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价值规律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3255010" y="3974465"/>
            <a:ext cx="14706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社会必要劳动时间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324860" y="4935855"/>
            <a:ext cx="14706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货币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805180" y="3771265"/>
            <a:ext cx="3920490" cy="2496820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3"/>
            </p:custDataLst>
          </p:nvPr>
        </p:nvCxnSpPr>
        <p:spPr>
          <a:xfrm>
            <a:off x="2124710" y="3462020"/>
            <a:ext cx="0" cy="28321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4"/>
            </p:custDataLst>
          </p:nvPr>
        </p:nvCxnSpPr>
        <p:spPr>
          <a:xfrm>
            <a:off x="2574925" y="1609090"/>
            <a:ext cx="629920" cy="44640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5"/>
            </p:custDataLst>
          </p:nvPr>
        </p:nvCxnSpPr>
        <p:spPr>
          <a:xfrm flipV="1">
            <a:off x="2580640" y="2571115"/>
            <a:ext cx="635635" cy="41211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6" idx="3"/>
            <a:endCxn id="5" idx="1"/>
          </p:cNvCxnSpPr>
          <p:nvPr>
            <p:custDataLst>
              <p:tags r:id="rId16"/>
            </p:custDataLst>
          </p:nvPr>
        </p:nvCxnSpPr>
        <p:spPr>
          <a:xfrm>
            <a:off x="4156710" y="2305050"/>
            <a:ext cx="1120775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8035290" y="2044065"/>
            <a:ext cx="95059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劳动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9638665" y="1087120"/>
            <a:ext cx="1637030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具体劳动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9638665" y="2938145"/>
            <a:ext cx="1637030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抽象劳动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22" name="直接连接符 21"/>
          <p:cNvCxnSpPr>
            <a:stCxn id="5" idx="3"/>
            <a:endCxn id="19" idx="1"/>
          </p:cNvCxnSpPr>
          <p:nvPr>
            <p:custDataLst>
              <p:tags r:id="rId20"/>
            </p:custDataLst>
          </p:nvPr>
        </p:nvCxnSpPr>
        <p:spPr>
          <a:xfrm>
            <a:off x="6914515" y="2305050"/>
            <a:ext cx="1120775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21"/>
            </p:custDataLst>
          </p:nvPr>
        </p:nvCxnSpPr>
        <p:spPr>
          <a:xfrm flipV="1">
            <a:off x="8974455" y="1574800"/>
            <a:ext cx="681355" cy="49847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22"/>
            </p:custDataLst>
          </p:nvPr>
        </p:nvCxnSpPr>
        <p:spPr>
          <a:xfrm>
            <a:off x="8968740" y="2553970"/>
            <a:ext cx="681355" cy="39497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5" idx="2"/>
          </p:cNvCxnSpPr>
          <p:nvPr>
            <p:custDataLst>
              <p:tags r:id="rId23"/>
            </p:custDataLst>
          </p:nvPr>
        </p:nvCxnSpPr>
        <p:spPr>
          <a:xfrm flipH="1">
            <a:off x="6095365" y="2566035"/>
            <a:ext cx="635" cy="274637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6095365" y="3870325"/>
            <a:ext cx="1637030" cy="521970"/>
          </a:xfrm>
          <a:prstGeom prst="rect">
            <a:avLst/>
          </a:prstGeom>
          <a:solidFill>
            <a:schemeClr val="accent2"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产生条件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095365" y="5266690"/>
            <a:ext cx="1637030" cy="521970"/>
          </a:xfrm>
          <a:prstGeom prst="rect">
            <a:avLst/>
          </a:prstGeom>
          <a:solidFill>
            <a:schemeClr val="accent2"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基本矛盾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8710930" y="4742815"/>
            <a:ext cx="1637030" cy="521970"/>
          </a:xfrm>
          <a:prstGeom prst="rect">
            <a:avLst/>
          </a:prstGeom>
          <a:solidFill>
            <a:schemeClr val="accent2"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私人劳动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8710930" y="5788660"/>
            <a:ext cx="1637030" cy="521970"/>
          </a:xfrm>
          <a:prstGeom prst="rect">
            <a:avLst/>
          </a:prstGeom>
          <a:solidFill>
            <a:schemeClr val="accent2"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社会劳动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28"/>
            </p:custDataLst>
          </p:nvPr>
        </p:nvCxnSpPr>
        <p:spPr>
          <a:xfrm flipV="1">
            <a:off x="7715250" y="4740275"/>
            <a:ext cx="1018540" cy="55499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29"/>
            </p:custDataLst>
          </p:nvPr>
        </p:nvCxnSpPr>
        <p:spPr>
          <a:xfrm>
            <a:off x="7732395" y="5759450"/>
            <a:ext cx="989965" cy="51498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8" idx="2"/>
            <a:endCxn id="29" idx="0"/>
          </p:cNvCxnSpPr>
          <p:nvPr>
            <p:custDataLst>
              <p:tags r:id="rId30"/>
            </p:custDataLst>
          </p:nvPr>
        </p:nvCxnSpPr>
        <p:spPr>
          <a:xfrm>
            <a:off x="9529445" y="5264785"/>
            <a:ext cx="0" cy="52387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8" idx="0"/>
          </p:cNvCxnSpPr>
          <p:nvPr>
            <p:custDataLst>
              <p:tags r:id="rId31"/>
            </p:custDataLst>
          </p:nvPr>
        </p:nvCxnSpPr>
        <p:spPr>
          <a:xfrm flipV="1">
            <a:off x="2101850" y="1620520"/>
            <a:ext cx="3810" cy="131762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0" idx="2"/>
            <a:endCxn id="21" idx="0"/>
          </p:cNvCxnSpPr>
          <p:nvPr>
            <p:custDataLst>
              <p:tags r:id="rId32"/>
            </p:custDataLst>
          </p:nvPr>
        </p:nvCxnSpPr>
        <p:spPr>
          <a:xfrm>
            <a:off x="10457180" y="1609090"/>
            <a:ext cx="0" cy="132905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4" idx="2"/>
            <a:endCxn id="5" idx="0"/>
          </p:cNvCxnSpPr>
          <p:nvPr>
            <p:custDataLst>
              <p:tags r:id="rId33"/>
            </p:custDataLst>
          </p:nvPr>
        </p:nvCxnSpPr>
        <p:spPr>
          <a:xfrm>
            <a:off x="6095365" y="838835"/>
            <a:ext cx="635" cy="120523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19" grpId="0" bldLvl="0" animBg="1"/>
      <p:bldP spid="7" grpId="0" bldLvl="0" animBg="1"/>
      <p:bldP spid="8" grpId="0" bldLvl="0" animBg="1"/>
      <p:bldP spid="14" grpId="0" bldLvl="0" animBg="1"/>
      <p:bldP spid="9" grpId="0" bldLvl="0" animBg="1"/>
      <p:bldP spid="10" grpId="0" bldLvl="0" animBg="1"/>
      <p:bldP spid="11" grpId="0" bldLvl="0" animBg="1"/>
      <p:bldP spid="12" grpId="0"/>
      <p:bldP spid="13" grpId="0"/>
      <p:bldP spid="19" grpId="1" bldLvl="0" animBg="1"/>
      <p:bldP spid="20" grpId="0" bldLvl="0" animBg="1"/>
      <p:bldP spid="21" grpId="0" bldLvl="0" animBg="1"/>
      <p:bldP spid="26" grpId="0" bldLvl="0" animBg="1"/>
      <p:bldP spid="27" grpId="0" bldLvl="0" animBg="1"/>
      <p:bldP spid="28" grpId="0" bldLvl="0" animBg="1"/>
      <p:bldP spid="2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156710" y="452755"/>
            <a:ext cx="3879215" cy="583565"/>
          </a:xfrm>
          <a:prstGeom prst="rect">
            <a:avLst/>
          </a:prstGeom>
          <a:solidFill>
            <a:schemeClr val="accent6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3200" b="1" noProof="1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隶书" panose="02010509060101010101" charset="-122"/>
                <a:ea typeface="隶书" panose="02010509060101010101" charset="-122"/>
                <a:cs typeface="+mn-cs"/>
              </a:rPr>
              <a:t>马克思的剩余价值论</a:t>
            </a:r>
            <a:endParaRPr lang="zh-CN" altLang="en-US" sz="3200" b="1" noProof="1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隶书" panose="02010509060101010101" charset="-122"/>
              <a:ea typeface="隶书" panose="020105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857115" y="1739265"/>
            <a:ext cx="2477135" cy="521970"/>
          </a:xfrm>
          <a:prstGeom prst="rect">
            <a:avLst/>
          </a:prstGeom>
          <a:solidFill>
            <a:schemeClr val="accent6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资本主义剥削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525395" y="1739265"/>
            <a:ext cx="1631315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剩余价值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8" name="直接连接符 17"/>
          <p:cNvCxnSpPr>
            <a:stCxn id="6" idx="3"/>
            <a:endCxn id="5" idx="1"/>
          </p:cNvCxnSpPr>
          <p:nvPr>
            <p:custDataLst>
              <p:tags r:id="rId5"/>
            </p:custDataLst>
          </p:nvPr>
        </p:nvCxnSpPr>
        <p:spPr>
          <a:xfrm>
            <a:off x="4156710" y="2000250"/>
            <a:ext cx="700405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8035290" y="1739265"/>
            <a:ext cx="950595" cy="521970"/>
          </a:xfrm>
          <a:prstGeom prst="rect">
            <a:avLst/>
          </a:prstGeom>
          <a:solidFill>
            <a:schemeClr val="accent3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资本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22" name="直接连接符 21"/>
          <p:cNvCxnSpPr>
            <a:stCxn id="5" idx="3"/>
            <a:endCxn id="19" idx="1"/>
          </p:cNvCxnSpPr>
          <p:nvPr>
            <p:custDataLst>
              <p:tags r:id="rId7"/>
            </p:custDataLst>
          </p:nvPr>
        </p:nvCxnSpPr>
        <p:spPr>
          <a:xfrm>
            <a:off x="7334250" y="2000250"/>
            <a:ext cx="701040" cy="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4" idx="2"/>
            <a:endCxn id="5" idx="0"/>
          </p:cNvCxnSpPr>
          <p:nvPr>
            <p:custDataLst>
              <p:tags r:id="rId8"/>
            </p:custDataLst>
          </p:nvPr>
        </p:nvCxnSpPr>
        <p:spPr>
          <a:xfrm flipH="1">
            <a:off x="6096000" y="1036320"/>
            <a:ext cx="635" cy="70294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928370" y="257619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产生条件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928370" y="3303270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产生源泉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928370" y="403034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生产过程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928370" y="4757420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生产方法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28370" y="548449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掩盖方法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8933180" y="257619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资本积累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8933180" y="3303270"/>
            <a:ext cx="2317750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流通与再生产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6"/>
            </p:custDataLst>
          </p:nvPr>
        </p:nvCxnSpPr>
        <p:spPr>
          <a:xfrm>
            <a:off x="2525395" y="2261235"/>
            <a:ext cx="26670" cy="3752850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7"/>
            </p:custDataLst>
          </p:nvPr>
        </p:nvCxnSpPr>
        <p:spPr>
          <a:xfrm flipH="1">
            <a:off x="8917305" y="2303145"/>
            <a:ext cx="24130" cy="149542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2559685" y="2626360"/>
            <a:ext cx="2203450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劳动力成为商品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2562225" y="3348990"/>
            <a:ext cx="1328420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可变资本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2527935" y="4071620"/>
            <a:ext cx="1889125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剥削剩余劳动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2562225" y="4802505"/>
            <a:ext cx="2828290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绝对与相对剩余价值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2562225" y="5533390"/>
            <a:ext cx="1589405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工资与利润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737985" y="2621915"/>
            <a:ext cx="2203450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剩余价值资本化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6207125" y="3349625"/>
            <a:ext cx="2734310" cy="42989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 sz="2200">
                <a:latin typeface="隶书" panose="02010509060101010101" charset="-122"/>
                <a:ea typeface="隶书" panose="02010509060101010101" charset="-122"/>
              </a:rPr>
              <a:t>个别资本与绝对资本</a:t>
            </a:r>
            <a:endParaRPr lang="zh-CN" altLang="en-US" sz="2200"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19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7" grpId="0" bldLvl="0" animBg="1"/>
      <p:bldP spid="20" grpId="0" bldLvl="0" animBg="1"/>
      <p:bldP spid="21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12" grpId="0" bldLvl="0" animBg="1"/>
      <p:bldP spid="1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040505" y="2800350"/>
            <a:ext cx="3879215" cy="583565"/>
          </a:xfrm>
          <a:prstGeom prst="rect">
            <a:avLst/>
          </a:prstGeom>
          <a:solidFill>
            <a:schemeClr val="accent6">
              <a:lumMod val="50000"/>
              <a:alpha val="82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 b="1" noProof="1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隶书" panose="02010509060101010101" charset="-122"/>
                <a:ea typeface="隶书" panose="02010509060101010101" charset="-122"/>
                <a:cs typeface="+mn-cs"/>
              </a:rPr>
              <a:t>资本主义社会形态</a:t>
            </a:r>
            <a:endParaRPr lang="zh-CN" altLang="en-US" sz="3200" b="1" noProof="1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隶书" panose="02010509060101010101" charset="-122"/>
              <a:ea typeface="隶书" panose="02010509060101010101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677920" y="4259580"/>
            <a:ext cx="4603750" cy="1753235"/>
          </a:xfrm>
          <a:prstGeom prst="rect">
            <a:avLst/>
          </a:prstGeom>
          <a:noFill/>
          <a:ln w="28575" cmpd="sng">
            <a:solidFill>
              <a:schemeClr val="accent6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资本主义生产关系的产生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资本原始积累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资本主义所有制及其确立</a:t>
            </a:r>
            <a:endParaRPr lang="zh-CN" altLang="en-US" sz="240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11480" y="335343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政治制度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163820" y="140271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基本矛盾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690245" y="1402715"/>
            <a:ext cx="2987675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生产的社会化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8561705" y="1402715"/>
            <a:ext cx="3296920" cy="5835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生产资料私有制</a:t>
            </a:r>
            <a:endParaRPr lang="zh-CN" altLang="en-US" sz="3200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164455" y="51117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经济危机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0" name="直接箭头连接符 9"/>
          <p:cNvCxnSpPr>
            <a:stCxn id="2" idx="0"/>
            <a:endCxn id="9" idx="2"/>
          </p:cNvCxnSpPr>
          <p:nvPr>
            <p:custDataLst>
              <p:tags r:id="rId9"/>
            </p:custDataLst>
          </p:nvPr>
        </p:nvCxnSpPr>
        <p:spPr>
          <a:xfrm flipV="1">
            <a:off x="5979795" y="1033145"/>
            <a:ext cx="635" cy="36957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9916795" y="338391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意识形态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cxnSp>
        <p:nvCxnSpPr>
          <p:cNvPr id="12" name="直接连接符 11"/>
          <p:cNvCxnSpPr>
            <a:stCxn id="4" idx="2"/>
            <a:endCxn id="3" idx="0"/>
          </p:cNvCxnSpPr>
          <p:nvPr>
            <p:custDataLst>
              <p:tags r:id="rId11"/>
            </p:custDataLst>
          </p:nvPr>
        </p:nvCxnSpPr>
        <p:spPr>
          <a:xfrm flipH="1">
            <a:off x="5979795" y="3383915"/>
            <a:ext cx="635" cy="87566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3"/>
            <a:endCxn id="4" idx="1"/>
          </p:cNvCxnSpPr>
          <p:nvPr>
            <p:custDataLst>
              <p:tags r:id="rId12"/>
            </p:custDataLst>
          </p:nvPr>
        </p:nvCxnSpPr>
        <p:spPr>
          <a:xfrm flipV="1">
            <a:off x="2042795" y="3092450"/>
            <a:ext cx="1997710" cy="52197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1" idx="1"/>
            <a:endCxn id="4" idx="3"/>
          </p:cNvCxnSpPr>
          <p:nvPr>
            <p:custDataLst>
              <p:tags r:id="rId13"/>
            </p:custDataLst>
          </p:nvPr>
        </p:nvCxnSpPr>
        <p:spPr>
          <a:xfrm flipH="1" flipV="1">
            <a:off x="7919720" y="3092450"/>
            <a:ext cx="1997075" cy="552450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2" idx="1"/>
            <a:endCxn id="5" idx="3"/>
          </p:cNvCxnSpPr>
          <p:nvPr>
            <p:custDataLst>
              <p:tags r:id="rId14"/>
            </p:custDataLst>
          </p:nvPr>
        </p:nvCxnSpPr>
        <p:spPr>
          <a:xfrm flipH="1">
            <a:off x="3677920" y="1663700"/>
            <a:ext cx="1485900" cy="3111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2" idx="3"/>
            <a:endCxn id="7" idx="1"/>
          </p:cNvCxnSpPr>
          <p:nvPr>
            <p:custDataLst>
              <p:tags r:id="rId15"/>
            </p:custDataLst>
          </p:nvPr>
        </p:nvCxnSpPr>
        <p:spPr>
          <a:xfrm>
            <a:off x="6795135" y="1663700"/>
            <a:ext cx="1766570" cy="31115"/>
          </a:xfrm>
          <a:prstGeom prst="straightConnector1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2" idx="2"/>
            <a:endCxn id="4" idx="0"/>
          </p:cNvCxnSpPr>
          <p:nvPr>
            <p:custDataLst>
              <p:tags r:id="rId16"/>
            </p:custDataLst>
          </p:nvPr>
        </p:nvCxnSpPr>
        <p:spPr>
          <a:xfrm>
            <a:off x="5979795" y="1924685"/>
            <a:ext cx="635" cy="875665"/>
          </a:xfrm>
          <a:prstGeom prst="line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5100320" y="3905885"/>
            <a:ext cx="1631315" cy="521970"/>
          </a:xfrm>
          <a:prstGeom prst="rect">
            <a:avLst/>
          </a:prstGeom>
          <a:solidFill>
            <a:schemeClr val="accent2">
              <a:lumMod val="75000"/>
              <a:alpha val="82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经济基础</a:t>
            </a:r>
            <a:endParaRPr lang="zh-CN" altLang="en-US" sz="28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  <p:bldP spid="5" grpId="0" bldLvl="0" animBg="1"/>
      <p:bldP spid="7" grpId="0" bldLvl="0" animBg="1"/>
      <p:bldP spid="9" grpId="0" bldLvl="0" animBg="1"/>
      <p:bldP spid="6" grpId="0" bldLvl="0" animBg="1"/>
      <p:bldP spid="11" grpId="0" bldLvl="0" animBg="1"/>
      <p:bldP spid="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140585" y="5016500"/>
            <a:ext cx="8433435" cy="1160145"/>
          </a:xfrm>
          <a:prstGeom prst="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左右箭头 3"/>
          <p:cNvSpPr/>
          <p:nvPr>
            <p:custDataLst>
              <p:tags r:id="rId3"/>
            </p:custDataLst>
          </p:nvPr>
        </p:nvSpPr>
        <p:spPr>
          <a:xfrm>
            <a:off x="3980180" y="1157605"/>
            <a:ext cx="3562985" cy="345440"/>
          </a:xfrm>
          <a:prstGeom prst="left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792980" y="1014095"/>
            <a:ext cx="1978660" cy="6038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历史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发展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792980" y="4623435"/>
            <a:ext cx="1978660" cy="6038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实践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规律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242695" y="1316990"/>
            <a:ext cx="2737485" cy="8299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社会</a:t>
            </a:r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主义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从空想到</a:t>
            </a:r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现实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584440" y="1316990"/>
            <a:ext cx="2737485" cy="8299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社会主义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从一国到</a:t>
            </a:r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多国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059305" y="918210"/>
            <a:ext cx="1103630" cy="39878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理论</a:t>
            </a:r>
            <a:endParaRPr lang="zh-CN" altLang="en-US" sz="20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401685" y="918210"/>
            <a:ext cx="1103630" cy="39878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实践</a:t>
            </a:r>
            <a:endParaRPr lang="zh-CN" altLang="en-US" sz="20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左右箭头 11"/>
          <p:cNvSpPr/>
          <p:nvPr>
            <p:custDataLst>
              <p:tags r:id="rId10"/>
            </p:custDataLst>
          </p:nvPr>
        </p:nvSpPr>
        <p:spPr>
          <a:xfrm>
            <a:off x="3980180" y="2962275"/>
            <a:ext cx="3562985" cy="345440"/>
          </a:xfrm>
          <a:prstGeom prst="left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4792980" y="2818765"/>
            <a:ext cx="1978660" cy="6038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基本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原则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242695" y="3121660"/>
            <a:ext cx="2737485" cy="8299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十条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基本</a:t>
            </a:r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原则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7584440" y="3121660"/>
            <a:ext cx="3308350" cy="8299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正确把握基本</a:t>
            </a:r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原则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  <a:p>
            <a:pPr indent="0" algn="ctr"/>
            <a:r>
              <a:rPr lang="zh-CN" sz="24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ea typeface="宋体" pitchFamily="2" charset="-122"/>
              </a:rPr>
              <a:t>结合中国特色社会主义</a:t>
            </a:r>
            <a:endParaRPr lang="zh-CN" sz="24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811655" y="2722880"/>
            <a:ext cx="1600200" cy="4603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主要内容</a:t>
            </a:r>
            <a:endParaRPr lang="zh-CN" altLang="en-US" sz="24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438515" y="2722880"/>
            <a:ext cx="1600200" cy="4603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如何看待</a:t>
            </a:r>
            <a:endParaRPr lang="zh-CN" altLang="en-US" sz="24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2379980" y="5405755"/>
            <a:ext cx="1600200" cy="4603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长期性</a:t>
            </a:r>
            <a:endParaRPr lang="zh-CN" altLang="en-US" sz="24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4982210" y="5405755"/>
            <a:ext cx="1600200" cy="4603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多样性</a:t>
            </a:r>
            <a:endParaRPr lang="zh-CN" altLang="en-US" sz="24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7584440" y="5405755"/>
            <a:ext cx="2736850" cy="4603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在实践中</a:t>
            </a:r>
            <a:r>
              <a:rPr lang="zh-CN" altLang="en-US" sz="2400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开拓进取</a:t>
            </a:r>
            <a:endParaRPr lang="zh-CN" altLang="en-US" sz="2400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4" grpId="0" bldLvl="0" animBg="1"/>
      <p:bldP spid="7" grpId="0" bldLvl="0" animBg="1"/>
      <p:bldP spid="4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2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738880" y="2916555"/>
            <a:ext cx="8050530" cy="922020"/>
          </a:xfrm>
          <a:prstGeom prst="rect">
            <a:avLst/>
          </a:prstGeom>
          <a:gradFill>
            <a:gsLst>
              <a:gs pos="0">
                <a:srgbClr val="F27D22">
                  <a:lumMod val="80000"/>
                  <a:lumOff val="20000"/>
                </a:srgbClr>
              </a:gs>
              <a:gs pos="100000">
                <a:srgbClr val="832B2B"/>
              </a:gs>
            </a:gsLst>
            <a:path path="rect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88900"/>
          </a:effectLst>
        </p:spPr>
        <p:txBody>
          <a:bodyPr wrap="square" rtlCol="0">
            <a:spAutoFit/>
          </a:bodyPr>
          <a:p>
            <a:pPr algn="ctr"/>
            <a:r>
              <a:rPr lang="en-US" altLang="zh-CN" sz="54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zh-CN" sz="5400" b="1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七章</a:t>
            </a:r>
            <a:endParaRPr lang="zh-CN" sz="5400" b="1" noProof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左右箭头 17"/>
          <p:cNvSpPr/>
          <p:nvPr>
            <p:custDataLst>
              <p:tags r:id="rId2"/>
            </p:custDataLst>
          </p:nvPr>
        </p:nvSpPr>
        <p:spPr>
          <a:xfrm>
            <a:off x="3980180" y="5266690"/>
            <a:ext cx="3562985" cy="345440"/>
          </a:xfrm>
          <a:prstGeom prst="left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左右箭头 23"/>
          <p:cNvSpPr/>
          <p:nvPr>
            <p:custDataLst>
              <p:tags r:id="rId3"/>
            </p:custDataLst>
          </p:nvPr>
        </p:nvSpPr>
        <p:spPr>
          <a:xfrm>
            <a:off x="3980180" y="1157605"/>
            <a:ext cx="3562985" cy="345440"/>
          </a:xfrm>
          <a:prstGeom prst="left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4792980" y="1014095"/>
            <a:ext cx="1978660" cy="82994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未来社会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的预测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4792980" y="4979670"/>
            <a:ext cx="1978660" cy="889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远大理想与共同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理想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7" name="左右箭头 26"/>
          <p:cNvSpPr/>
          <p:nvPr>
            <p:custDataLst>
              <p:tags r:id="rId6"/>
            </p:custDataLst>
          </p:nvPr>
        </p:nvSpPr>
        <p:spPr>
          <a:xfrm>
            <a:off x="3980180" y="2962275"/>
            <a:ext cx="3562985" cy="345440"/>
          </a:xfrm>
          <a:prstGeom prst="left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4792980" y="2818765"/>
            <a:ext cx="1978660" cy="84518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未来道路的</a:t>
            </a:r>
            <a:r>
              <a:rPr lang="zh-CN" altLang="en-US" sz="2800" b="1">
                <a:solidFill>
                  <a:schemeClr val="bg2"/>
                </a:solidFill>
                <a:latin typeface="隶书" panose="02010509060101010101" charset="-122"/>
                <a:ea typeface="隶书" panose="02010509060101010101" charset="-122"/>
              </a:rPr>
              <a:t>预估</a:t>
            </a:r>
            <a:endParaRPr lang="zh-CN" altLang="en-US" sz="2800" b="1">
              <a:solidFill>
                <a:schemeClr val="bg2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21" name="组合 20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1203960" y="925830"/>
            <a:ext cx="2630805" cy="808863"/>
            <a:chOff x="3986317" y="3604859"/>
            <a:chExt cx="1728000" cy="1195153"/>
          </a:xfrm>
        </p:grpSpPr>
        <p:grpSp>
          <p:nvGrpSpPr>
            <p:cNvPr id="22" name="组合 21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23" name="椭圆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25" name="椭圆 24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26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方法论</a:t>
              </a: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原则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8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7611745" y="855345"/>
            <a:ext cx="2630805" cy="808863"/>
            <a:chOff x="3986317" y="3604859"/>
            <a:chExt cx="1728000" cy="1195153"/>
          </a:xfrm>
        </p:grpSpPr>
        <p:grpSp>
          <p:nvGrpSpPr>
            <p:cNvPr id="30" name="组合 29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31" name="椭圆 13"/>
              <p:cNvSpPr/>
              <p:nvPr>
                <p:custDataLst>
                  <p:tags r:id="rId11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32" name="椭圆 31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33" name="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基本</a:t>
              </a: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1330960" y="2818765"/>
            <a:ext cx="2630805" cy="808863"/>
            <a:chOff x="3986317" y="3604859"/>
            <a:chExt cx="1728000" cy="1195153"/>
          </a:xfrm>
        </p:grpSpPr>
        <p:grpSp>
          <p:nvGrpSpPr>
            <p:cNvPr id="35" name="组合 34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36" name="椭圆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37" name="椭圆 36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38" name="文本框 12"/>
            <p:cNvSpPr txBox="1"/>
            <p:nvPr>
              <p:custDataLst>
                <p:tags r:id="rId16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必然性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4467225" y="3697605"/>
            <a:ext cx="2630805" cy="808863"/>
            <a:chOff x="3986317" y="3604859"/>
            <a:chExt cx="1728000" cy="1195153"/>
          </a:xfrm>
        </p:grpSpPr>
        <p:grpSp>
          <p:nvGrpSpPr>
            <p:cNvPr id="40" name="组合 39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41" name="椭圆 13"/>
              <p:cNvSpPr/>
              <p:nvPr>
                <p:custDataLst>
                  <p:tags r:id="rId17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42" name="椭圆 41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43" name="文本框 12"/>
            <p:cNvSpPr txBox="1"/>
            <p:nvPr>
              <p:custDataLst>
                <p:tags r:id="rId19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现实</a:t>
              </a: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力量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4" name="组合 43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7608570" y="2701925"/>
            <a:ext cx="2630805" cy="808863"/>
            <a:chOff x="3986317" y="3604859"/>
            <a:chExt cx="1728000" cy="1195153"/>
          </a:xfrm>
        </p:grpSpPr>
        <p:grpSp>
          <p:nvGrpSpPr>
            <p:cNvPr id="45" name="组合 44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46" name="椭圆 13"/>
              <p:cNvSpPr/>
              <p:nvPr>
                <p:custDataLst>
                  <p:tags r:id="rId20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47" name="椭圆 46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48" name="文本框 12"/>
            <p:cNvSpPr txBox="1"/>
            <p:nvPr>
              <p:custDataLst>
                <p:tags r:id="rId22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长期性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9" name="组合 48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1330960" y="4967605"/>
            <a:ext cx="2630805" cy="808863"/>
            <a:chOff x="3986317" y="3604859"/>
            <a:chExt cx="1728000" cy="1195153"/>
          </a:xfrm>
        </p:grpSpPr>
        <p:grpSp>
          <p:nvGrpSpPr>
            <p:cNvPr id="50" name="组合 49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51" name="椭圆 13"/>
              <p:cNvSpPr/>
              <p:nvPr>
                <p:custDataLst>
                  <p:tags r:id="rId23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52" name="椭圆 51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53" name="文本框 12"/>
            <p:cNvSpPr txBox="1"/>
            <p:nvPr>
              <p:custDataLst>
                <p:tags r:id="rId25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辩证统一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4" name="组合 53" descr="e7d195523061f1c0deeec63e560781cfd59afb0ea006f2a87ABB68BF51EA6619813959095094C18C62A12F549504892A4AAA8C1554C6663626E05CA27F281A14E6983772AFC3FB97135759321DEA3D704CB8FFD9D2544D20ADDCB4FC824F904E0D83D989474D2C72C21C19999FBBACD7FA81DBC650697183C998B58960BA5FD542E56B4FBC2C958F"/>
          <p:cNvGrpSpPr/>
          <p:nvPr/>
        </p:nvGrpSpPr>
        <p:grpSpPr>
          <a:xfrm>
            <a:off x="7602855" y="4979670"/>
            <a:ext cx="2630805" cy="808863"/>
            <a:chOff x="3986317" y="3604859"/>
            <a:chExt cx="1728000" cy="1195153"/>
          </a:xfrm>
        </p:grpSpPr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3986317" y="3604859"/>
              <a:ext cx="1728000" cy="1195153"/>
              <a:chOff x="2697705" y="5147625"/>
              <a:chExt cx="1810942" cy="1252519"/>
            </a:xfrm>
          </p:grpSpPr>
          <p:sp>
            <p:nvSpPr>
              <p:cNvPr id="56" name="椭圆 13"/>
              <p:cNvSpPr/>
              <p:nvPr>
                <p:custDataLst>
                  <p:tags r:id="rId26"/>
                </p:custDataLst>
              </p:nvPr>
            </p:nvSpPr>
            <p:spPr>
              <a:xfrm>
                <a:off x="2697705" y="5147625"/>
                <a:ext cx="1810942" cy="125251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2700">
                <a:noFill/>
              </a:ln>
            </p:spPr>
            <p:txBody>
              <a:bodyPr anchor="ctr"/>
              <a:p>
                <a:pPr algn="ctr" defTabSz="914400"/>
                <a:endParaRPr lang="zh-CN" altLang="en-US" sz="2400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  <p:sp>
            <p:nvSpPr>
              <p:cNvPr id="57" name="椭圆 56"/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855389" y="5256878"/>
                <a:ext cx="1496651" cy="1035245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70000">
                    <a:srgbClr val="FAFAFA"/>
                  </a:gs>
                  <a:gs pos="100000">
                    <a:srgbClr val="FAFAFA"/>
                  </a:gs>
                </a:gsLst>
                <a:lin ang="8100000" scaled="1"/>
              </a:gradFill>
              <a:ln w="25400">
                <a:solidFill>
                  <a:srgbClr val="FFFFFF"/>
                </a:solidFill>
                <a:miter lim="800000"/>
              </a:ln>
              <a:effectLst>
                <a:outerShdw blurRad="63500" dist="190500" dir="8100000" algn="tr" rotWithShape="0">
                  <a:srgbClr val="000000">
                    <a:alpha val="14999"/>
                  </a:srgbClr>
                </a:outerShdw>
              </a:effectLst>
            </p:spPr>
            <p:txBody>
              <a:bodyPr anchor="ctr"/>
              <a:p>
                <a:pPr algn="ctr" defTabSz="914400" eaLnBrk="1" fontAlgn="base" hangingPunct="1">
                  <a:buClrTx/>
                </a:pPr>
                <a:endParaRPr lang="zh-CN" altLang="en-US" sz="2100" strike="noStrike" noProof="1" dirty="0">
                  <a:solidFill>
                    <a:srgbClr val="FFFFFF"/>
                  </a:solidFill>
                  <a:latin typeface="隶书" panose="02010509060101010101" charset="-122"/>
                  <a:ea typeface="隶书" panose="02010509060101010101" charset="-122"/>
                </a:endParaRPr>
              </a:p>
            </p:txBody>
          </p:sp>
        </p:grpSp>
        <p:sp>
          <p:nvSpPr>
            <p:cNvPr id="58" name="文本框 12"/>
            <p:cNvSpPr txBox="1"/>
            <p:nvPr>
              <p:custDataLst>
                <p:tags r:id="rId28"/>
              </p:custDataLst>
            </p:nvPr>
          </p:nvSpPr>
          <p:spPr>
            <a:xfrm>
              <a:off x="4136469" y="3947324"/>
              <a:ext cx="1427696" cy="680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>
                <a:buFont typeface="Arial" panose="020B0704020202020204" pitchFamily="34" charset="0"/>
                <a:buNone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坚定</a:t>
              </a: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信念</a:t>
              </a:r>
              <a:endPara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8" grpId="0" bldLvl="0" animBg="1"/>
      <p:bldP spid="20" grpId="0" bldLvl="0" animBg="1"/>
      <p:bldP spid="24" grpId="0" bldLvl="0" animBg="1"/>
      <p:bldP spid="27" grpId="0" bldLvl="0" animBg="1"/>
      <p:bldP spid="18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2_1"/>
  <p:tag name="KSO_WM_TEMPLATE_CATEGORY" val="diagram"/>
  <p:tag name="KSO_WM_TEMPLATE_INDEX" val="20200202"/>
  <p:tag name="KSO_WM_UNIT_LAYERLEVEL" val="1_1_1_1"/>
  <p:tag name="KSO_WM_TAG_VERSION" val="1.0"/>
  <p:tag name="KSO_WM_DIAGRAM_GROUP_CODE" val="n1-1"/>
  <p:tag name="KSO_WM_UNIT_ISCONTENTSTITLE" val="0"/>
  <p:tag name="KSO_WM_UNIT_PRESET_TEXT" val="添加标题"/>
  <p:tag name="KSO_WM_UNIT_NOCLEAR" val="0"/>
  <p:tag name="KSO_WM_UNIT_FILL_FORE_SCHEMECOLOR_INDEX" val="5"/>
  <p:tag name="KSO_WM_UNIT_FILL_TYPE" val="1"/>
  <p:tag name="KSO_WM_BEAUTIFY_FLAG" val="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3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UNIT_ISCONTENTSTITLE" val="0"/>
  <p:tag name="KSO_WM_UNIT_NOCLEAR" val="0"/>
  <p:tag name="KSO_WM_DIAGRAM_GROUP_CODE" val="n1-1"/>
  <p:tag name="KSO_WM_UNIT_PRESET_TEXT" val="添加标题"/>
  <p:tag name="KSO_WM_UNIT_FILL_FORE_SCHEMECOLOR_INDEX" val="5"/>
  <p:tag name="KSO_WM_UNIT_FILL_TYPE" val="1"/>
  <p:tag name="KSO_WM_BEAUTIFY_FLAG" val="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2_1"/>
  <p:tag name="KSO_WM_TEMPLATE_CATEGORY" val="diagram"/>
  <p:tag name="KSO_WM_TEMPLATE_INDEX" val="20200202"/>
  <p:tag name="KSO_WM_UNIT_LAYERLEVEL" val="1_1_1_1"/>
  <p:tag name="KSO_WM_TAG_VERSION" val="1.0"/>
  <p:tag name="KSO_WM_DIAGRAM_GROUP_CODE" val="n1-1"/>
  <p:tag name="KSO_WM_UNIT_ISCONTENTSTITLE" val="0"/>
  <p:tag name="KSO_WM_UNIT_PRESET_TEXT" val="添加标题"/>
  <p:tag name="KSO_WM_UNIT_NOCLEAR" val="0"/>
  <p:tag name="KSO_WM_UNIT_FILL_FORE_SCHEMECOLOR_INDEX" val="5"/>
  <p:tag name="KSO_WM_UNIT_FILL_TYPE" val="1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70.xml><?xml version="1.0" encoding="utf-8"?>
<p:tagLst xmlns:p="http://schemas.openxmlformats.org/presentationml/2006/main">
  <p:tag name="commondata" val="eyJoZGlkIjoiMjNmNWQ3ZTQzZGQ3YzkzZWNjMGRlZDhhYjFlMjI1Ym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文字</Application>
  <PresentationFormat>宽屏</PresentationFormat>
  <Paragraphs>443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Wingdings</vt:lpstr>
      <vt:lpstr>微软雅黑</vt:lpstr>
      <vt:lpstr>汉仪旗黑</vt:lpstr>
      <vt:lpstr>隶书</vt:lpstr>
      <vt:lpstr>宋体-简</vt:lpstr>
      <vt:lpstr>Open Sans</vt:lpstr>
      <vt:lpstr>宋体</vt:lpstr>
      <vt:lpstr>Arial Unicode MS</vt:lpstr>
      <vt:lpstr>Calibri</vt:lpstr>
      <vt:lpstr>Helvetica Neue</vt:lpstr>
      <vt:lpstr>汉仪书宋二KW</vt:lpstr>
      <vt:lpstr>苹方-简</vt:lpstr>
      <vt:lpstr>楷体</vt:lpstr>
      <vt:lpstr>汉仪楷体KW</vt:lpstr>
      <vt:lpstr>Times New Roman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Jimbop</cp:lastModifiedBy>
  <cp:revision>159</cp:revision>
  <dcterms:created xsi:type="dcterms:W3CDTF">2025-01-03T13:33:36Z</dcterms:created>
  <dcterms:modified xsi:type="dcterms:W3CDTF">2025-01-03T13:33:36Z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B8E0BAAA1874FB5030E7776774E7580F_43</vt:lpwstr>
  </property>
</Properties>
</file>