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" ContentType="application/vnd.visi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6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1" r:id="rId22"/>
    <p:sldId id="283" r:id="rId23"/>
    <p:sldId id="284" r:id="rId24"/>
    <p:sldId id="285" r:id="rId25"/>
    <p:sldId id="286" r:id="rId26"/>
    <p:sldId id="287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301" r:id="rId37"/>
    <p:sldId id="300" r:id="rId38"/>
    <p:sldId id="302" r:id="rId39"/>
    <p:sldId id="303" r:id="rId40"/>
    <p:sldId id="304" r:id="rId41"/>
    <p:sldId id="262" r:id="rId42"/>
    <p:sldId id="305" r:id="rId43"/>
    <p:sldId id="306" r:id="rId44"/>
    <p:sldId id="307" r:id="rId45"/>
    <p:sldId id="308" r:id="rId46"/>
    <p:sldId id="279" r:id="rId47"/>
    <p:sldId id="309" r:id="rId48"/>
    <p:sldId id="310" r:id="rId49"/>
    <p:sldId id="311" r:id="rId50"/>
    <p:sldId id="312" r:id="rId51"/>
    <p:sldId id="313" r:id="rId52"/>
    <p:sldId id="314" r:id="rId53"/>
    <p:sldId id="317" r:id="rId54"/>
    <p:sldId id="318" r:id="rId55"/>
    <p:sldId id="319" r:id="rId56"/>
    <p:sldId id="320" r:id="rId57"/>
    <p:sldId id="321" r:id="rId58"/>
    <p:sldId id="315" r:id="rId59"/>
    <p:sldId id="322" r:id="rId60"/>
    <p:sldId id="323" r:id="rId61"/>
    <p:sldId id="325" r:id="rId62"/>
    <p:sldId id="326" r:id="rId63"/>
    <p:sldId id="324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8" r:id="rId75"/>
    <p:sldId id="339" r:id="rId76"/>
    <p:sldId id="340" r:id="rId77"/>
    <p:sldId id="341" r:id="rId78"/>
    <p:sldId id="342" r:id="rId79"/>
    <p:sldId id="343" r:id="rId80"/>
    <p:sldId id="345" r:id="rId81"/>
    <p:sldId id="346" r:id="rId82"/>
    <p:sldId id="344" r:id="rId83"/>
    <p:sldId id="347" r:id="rId8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png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3D710-83B2-4E2C-94F7-9DE500C5A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CCCDEB-4539-4A47-A825-F2BBE896A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BC5EE8-30C9-45DE-9AC7-14081007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97A3F8-9040-4F7C-852C-027F4C39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998F8C-6357-4B19-A1BB-1A4A7C38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58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C5F92-A44B-40FA-9DC3-C900466C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437551-EBB8-4878-BD05-8B8E493FD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21081F-431B-451E-B812-170CA326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611CEC-2A71-4019-BCDC-A24B10AE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0467F6-95AA-4A92-9873-89DE8622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25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AF597-F09E-4653-8173-C65A9D79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2A9132-3082-48F3-9B92-E6A84DB79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D7FC76-8FFA-4BB7-8EFE-E09DF29A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0E0CA8-84AE-4246-AEDD-4152D84F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B122A6-036D-44E2-A37C-F47F96A1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98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0F0EB-FFDF-4A24-9674-5F3E12DB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4C832-A5A4-47A7-B1B8-F11B5CEF7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A95EFE-266C-4B99-A2D9-CA36502A1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988D51-DD3E-451E-9878-F21FC416E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8F1C95-D86E-415D-B105-60E577E4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1B70FC-A385-4CAC-BB3D-09BEB664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638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159384-0839-4FC7-92F1-4649D59E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AE1244-6002-4435-80BD-8CB1E9110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2FE48B-7552-4F70-B31B-47037733C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A55BBA-530F-4592-9AFC-3A85407CC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1BABF6-E4EF-4DF3-8594-802F64020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9A7611-E7A7-424D-9BC0-A9AA66F4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FA5AF2-7EC7-41E3-A95B-5F4958CF7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891ECA-FB05-452E-9403-75423E5CB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61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420C7-D094-4273-9804-9FAD8CD3E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AE472F-9476-410B-BD4F-A7B30C23C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0B36F5-84DC-45B1-B92E-B6ED3907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A8001C-70DA-4887-B831-FE15F696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127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84F8DD-3E5C-4311-A99F-C57DA6885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E2768F-2AAE-4307-894B-B57A81A95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303F93-9DBD-4B61-9BCB-8D65F7A6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0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16AA6-C71F-4DF5-8EDB-1CDFFB4FE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F15D35-61BC-41B5-A0F8-412DA5417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8BC08-EC48-45AE-8E39-D25FB7203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D34BEA-77BC-4E0B-892D-B49E94636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CD9D94-F545-4B02-91CC-1D3FD74D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C0D3FE-659C-4081-9DF2-67FE9299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80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00ED1-1B62-4F4C-95E2-579057F49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424425-652C-4C69-961D-1B2851CDD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E268D1-3F3A-4C47-A7A0-7E082174D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BC73F-4ADB-4C6E-84AF-DD5398AAB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B4080C-B34B-45A6-94BB-1F3E01C5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A0B6E2-C8D6-447A-B599-A0A6684D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46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92231-66B7-40E7-BCAF-B439CF19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9ACD96-B261-46E5-B7DA-34E05C32A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AAC764-724E-494E-BE95-3AA9196B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5859C6-12F3-4D4E-A635-08A7CD38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3D8986-AE21-4091-83FD-5CD3A949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91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001945-EA75-4421-B6F5-860E2D41F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F859AF-66FA-4937-8C99-BB68B7B29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40E7D5-A82C-4496-ACD5-484B256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2E5EBA-71B7-497E-BEBD-D089715D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8CAE7B-E52F-4E5F-9136-2BD3430C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79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A4B50F-5949-4C35-AC5D-E148A03F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0A6762-9179-4B90-81CF-AF90E4E36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6B0E60-B499-44D0-A037-9D7AD7D50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6E9E5-132B-4742-9584-60A6F386469B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DC71DD-0F6C-4B7D-A420-AE207A3FB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BDCB9D-DFC6-47A9-B052-9C7E25886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137D0-BA93-438E-A6E7-ED04E4299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32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.vsd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7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7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1.vsd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8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2.bin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3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6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0.w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3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5.w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7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一、概述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789DF1-720A-46B8-99B5-22DB95ECC432}"/>
              </a:ext>
            </a:extLst>
          </p:cNvPr>
          <p:cNvSpPr txBox="1"/>
          <p:nvPr/>
        </p:nvSpPr>
        <p:spPr>
          <a:xfrm>
            <a:off x="1197204" y="1555423"/>
            <a:ext cx="9797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掌握：单片机的基本概念、特点、单片机与通用微机的主要区别、应用领域</a:t>
            </a:r>
          </a:p>
          <a:p>
            <a:r>
              <a:rPr lang="zh-CN" altLang="en-US" dirty="0"/>
              <a:t>总线的概念，微型计算机的基本工作过程</a:t>
            </a:r>
          </a:p>
          <a:p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749FF2D-453F-43CA-9510-B8C9BD5D531A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29374895"/>
              </p:ext>
            </p:extLst>
          </p:nvPr>
        </p:nvGraphicFramePr>
        <p:xfrm>
          <a:off x="6978045" y="3229104"/>
          <a:ext cx="4383087" cy="230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Visio" r:id="rId3" imgW="7110374" imgH="4040835" progId="Visio.Drawing.11">
                  <p:embed/>
                </p:oleObj>
              </mc:Choice>
              <mc:Fallback>
                <p:oleObj name="Visio" r:id="rId3" imgW="7110374" imgH="4040835" progId="Visio.Drawing.11">
                  <p:embed/>
                  <p:pic>
                    <p:nvPicPr>
                      <p:cNvPr id="3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8045" y="3229104"/>
                        <a:ext cx="4383087" cy="230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3">
            <a:extLst>
              <a:ext uri="{FF2B5EF4-FFF2-40B4-BE49-F238E27FC236}">
                <a16:creationId xmlns:a16="http://schemas.microsoft.com/office/drawing/2014/main" id="{9CAA02A5-B783-465B-A8E6-2CADDB516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177" y="2398842"/>
            <a:ext cx="76739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总线：用来传送信息的一组导线，为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CPU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和其它部件之间提供数据、地址和控制信息的传输通道。</a:t>
            </a: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3B68BDF0-0F3B-4D0D-A7EA-8D5E6EEC4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204" y="3749917"/>
            <a:ext cx="4953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地址总线：专门用来传送地址信息。</a:t>
            </a:r>
          </a:p>
          <a:p>
            <a:pPr eaLnBrk="1" hangingPunct="1"/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数据总线：用于传送数据信息。</a:t>
            </a:r>
          </a:p>
          <a:p>
            <a:pPr eaLnBrk="1" hangingPunct="1"/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控制总线：用来传送控制信号。</a:t>
            </a:r>
          </a:p>
        </p:txBody>
      </p:sp>
    </p:spTree>
    <p:extLst>
      <p:ext uri="{BB962C8B-B14F-4D97-AF65-F5344CB8AC3E}">
        <p14:creationId xmlns:p14="http://schemas.microsoft.com/office/powerpoint/2010/main" val="237607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一、概述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FECEC1-4F4D-4735-B561-18D05E7AA904}"/>
              </a:ext>
            </a:extLst>
          </p:cNvPr>
          <p:cNvSpPr txBox="1"/>
          <p:nvPr/>
        </p:nvSpPr>
        <p:spPr>
          <a:xfrm>
            <a:off x="989814" y="1253765"/>
            <a:ext cx="979759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两种存储格式（压缩和非压缩形式）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其中低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(b6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b0)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是字符的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码值，</a:t>
            </a: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最高位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(b7)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一般作奇偶校验位。奇校验，偶校验。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0-9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30H-39H</a:t>
            </a:r>
          </a:p>
          <a:p>
            <a:r>
              <a:rPr lang="pt-BR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A,B,C,D,E,F </a:t>
            </a:r>
            <a:r>
              <a:rPr lang="zh-CN" altLang="pt-BR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pt-BR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pt-BR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pt-BR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41H-46H</a:t>
            </a: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204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一、概述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F9EF0C3-25E5-4B46-A26F-35CB1EBCBBD3}"/>
                  </a:ext>
                </a:extLst>
              </p:cNvPr>
              <p:cNvSpPr txBox="1"/>
              <p:nvPr/>
            </p:nvSpPr>
            <p:spPr>
              <a:xfrm>
                <a:off x="999241" y="1018096"/>
                <a:ext cx="979759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数制转换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为了区别不同的数制，通常在数字后面加一个后缀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(B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H)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</a:p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   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B(binary)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表示二进制；</a:t>
                </a:r>
              </a:p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   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H(Hexadecimal)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表示十六进制；</a:t>
                </a:r>
                <a:b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D(Decimal)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表示十进制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1011B                </a:t>
                </a:r>
                <a14:m>
                  <m:oMath xmlns:m="http://schemas.openxmlformats.org/officeDocument/2006/math">
                    <m:r>
                      <a:rPr lang="zh-CN" altLang="en-US" sz="28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0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zh-CN" altLang="en-US" sz="2800" i="0" dirty="0">
                        <a:latin typeface="Cambria Math" panose="02040503050406030204" pitchFamily="18" charset="0"/>
                      </a:rPr>
                      <m:t>+0×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800" i="0" dirty="0">
                        <a:latin typeface="Cambria Math" panose="02040503050406030204" pitchFamily="18" charset="0"/>
                      </a:rPr>
                      <m:t>+1×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zh-CN" altLang="en-US" sz="2800" i="0" dirty="0">
                        <a:latin typeface="Cambria Math" panose="02040503050406030204" pitchFamily="18" charset="0"/>
                      </a:rPr>
                      <m:t>+1×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10FAH                </a:t>
                </a:r>
                <a14:m>
                  <m:oMath xmlns:m="http://schemas.openxmlformats.org/officeDocument/2006/math">
                    <m:r>
                      <a:rPr lang="zh-CN" altLang="en-US" sz="2800" dirty="0">
                        <a:latin typeface="Cambria Math" panose="02040503050406030204" pitchFamily="18" charset="0"/>
                      </a:rPr>
                      <m:t>1×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zh-CN" altLang="en-US" sz="2800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zh-CN" altLang="en-US" sz="2800" dirty="0">
                        <a:latin typeface="Cambria Math" panose="02040503050406030204" pitchFamily="18" charset="0"/>
                      </a:rPr>
                      <m:t>+0×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zh-CN" altLang="en-US" sz="28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800" dirty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zh-CN" altLang="en-US" sz="2800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zh-CN" altLang="en-US" sz="2800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zh-CN" altLang="en-US" sz="2800" dirty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800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zh-CN" altLang="en-US" sz="2800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F9EF0C3-25E5-4B46-A26F-35CB1EBCB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41" y="1018096"/>
                <a:ext cx="9797592" cy="3970318"/>
              </a:xfrm>
              <a:prstGeom prst="rect">
                <a:avLst/>
              </a:prstGeom>
              <a:blipFill>
                <a:blip r:embed="rId2"/>
                <a:stretch>
                  <a:fillRect l="-1307" t="-1536" b="-3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91F783C-FEB3-4E56-B63D-7E66F8D40A00}"/>
              </a:ext>
            </a:extLst>
          </p:cNvPr>
          <p:cNvCxnSpPr/>
          <p:nvPr/>
        </p:nvCxnSpPr>
        <p:spPr>
          <a:xfrm>
            <a:off x="3271101" y="4251489"/>
            <a:ext cx="10086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56F8672-DEAC-4C35-9604-07F0C4DC3BD0}"/>
              </a:ext>
            </a:extLst>
          </p:cNvPr>
          <p:cNvCxnSpPr/>
          <p:nvPr/>
        </p:nvCxnSpPr>
        <p:spPr>
          <a:xfrm>
            <a:off x="3271101" y="4677266"/>
            <a:ext cx="10086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479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一、概述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0CBA5C-EBBB-42B7-959D-5BFF64BD2073}"/>
              </a:ext>
            </a:extLst>
          </p:cNvPr>
          <p:cNvSpPr txBox="1"/>
          <p:nvPr/>
        </p:nvSpPr>
        <p:spPr>
          <a:xfrm>
            <a:off x="1055802" y="1216059"/>
            <a:ext cx="97975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数制转换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整数部分：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BIN/HEX             DEC  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按权展开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DEC                    BIN/HEX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除基取余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小数部分：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BIN/HEC             DEC  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按权展开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DEC                     BIN/HEC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乘基取整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D90E8BC-D1C0-473A-A6E7-E8418E8C592F}"/>
              </a:ext>
            </a:extLst>
          </p:cNvPr>
          <p:cNvCxnSpPr/>
          <p:nvPr/>
        </p:nvCxnSpPr>
        <p:spPr>
          <a:xfrm>
            <a:off x="3242820" y="2328422"/>
            <a:ext cx="810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5BC26E9-B135-43EC-8B26-8AD263350A25}"/>
              </a:ext>
            </a:extLst>
          </p:cNvPr>
          <p:cNvCxnSpPr/>
          <p:nvPr/>
        </p:nvCxnSpPr>
        <p:spPr>
          <a:xfrm>
            <a:off x="2829611" y="2754199"/>
            <a:ext cx="810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BF226C2-BB14-4C40-8391-1D1A90BCEC77}"/>
              </a:ext>
            </a:extLst>
          </p:cNvPr>
          <p:cNvCxnSpPr/>
          <p:nvPr/>
        </p:nvCxnSpPr>
        <p:spPr>
          <a:xfrm>
            <a:off x="3242820" y="4018962"/>
            <a:ext cx="810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45DF16C-0473-4F5C-897C-20F1E60F31B2}"/>
              </a:ext>
            </a:extLst>
          </p:cNvPr>
          <p:cNvCxnSpPr/>
          <p:nvPr/>
        </p:nvCxnSpPr>
        <p:spPr>
          <a:xfrm>
            <a:off x="2829610" y="4471448"/>
            <a:ext cx="810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82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一、概述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0CBA5C-EBBB-42B7-959D-5BFF64BD2073}"/>
              </a:ext>
            </a:extLst>
          </p:cNvPr>
          <p:cNvSpPr txBox="1"/>
          <p:nvPr/>
        </p:nvSpPr>
        <p:spPr>
          <a:xfrm>
            <a:off x="1055802" y="1216059"/>
            <a:ext cx="9797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计算机中正负数的表示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333FB2A1-3CDB-4754-8317-536036F3C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449" y="1739279"/>
            <a:ext cx="9249304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1371600" lvl="2" indent="-457200" eaLnBrk="1" hangingPunct="1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机器数和真值</a:t>
            </a:r>
          </a:p>
          <a:p>
            <a:pPr lvl="2" eaLnBrk="1" hangingPunct="1"/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在计算机中，将“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+”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、“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-”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符号数字化，</a:t>
            </a:r>
            <a:r>
              <a:rPr lang="zh-CN" altLang="en-US" sz="24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用“</a:t>
            </a:r>
            <a:r>
              <a:rPr lang="en-US" altLang="zh-CN" sz="24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0”</a:t>
            </a:r>
            <a:r>
              <a:rPr lang="zh-CN" altLang="en-US" sz="24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表示“</a:t>
            </a:r>
            <a:r>
              <a:rPr lang="en-US" altLang="zh-CN" sz="24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+”</a:t>
            </a:r>
            <a:r>
              <a:rPr lang="zh-CN" altLang="en-US" sz="24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号，用“</a:t>
            </a:r>
            <a:r>
              <a:rPr lang="en-US" altLang="zh-CN" sz="24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1”</a:t>
            </a:r>
            <a:r>
              <a:rPr lang="zh-CN" altLang="en-US" sz="24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表示“</a:t>
            </a:r>
            <a:r>
              <a:rPr lang="en-US" altLang="zh-CN" sz="24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-”</a:t>
            </a:r>
            <a:r>
              <a:rPr lang="zh-CN" altLang="en-US" sz="24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号。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这样的数称为机器数，而把机器数所代表的数的实际值称为机器数的真值。</a:t>
            </a:r>
          </a:p>
          <a:p>
            <a:pPr lvl="2" eaLnBrk="1" hangingPunct="1"/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例如： 真   值   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x1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＝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+1001001   x2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＝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-1001001</a:t>
            </a:r>
          </a:p>
          <a:p>
            <a:pPr lvl="2" eaLnBrk="1" hangingPunct="1"/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	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机器数   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x1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＝</a:t>
            </a:r>
            <a:r>
              <a:rPr lang="en-US" altLang="zh-CN" sz="2400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0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1001001   x2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＝</a:t>
            </a:r>
            <a:r>
              <a:rPr lang="en-US" altLang="zh-CN" sz="2400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1001001</a:t>
            </a:r>
            <a:endParaRPr lang="zh-CN" altLang="en-US" sz="2400" b="1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C9CB2C9-9852-44C0-8608-CFCFB80A2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802" y="4237166"/>
            <a:ext cx="8715375" cy="221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 无符号数与有符号数的机器数表示</a:t>
            </a:r>
            <a:endParaRPr lang="en-US" altLang="zh-CN" sz="2800" b="1" dirty="0">
              <a:solidFill>
                <a:srgbClr val="3333FF"/>
              </a:solidFill>
              <a:latin typeface="华文中宋" pitchFamily="2" charset="-122"/>
              <a:ea typeface="华文中宋" pitchFamily="2" charset="-122"/>
            </a:endParaRPr>
          </a:p>
          <a:p>
            <a:pPr lvl="1">
              <a:buFontTx/>
              <a:buNone/>
            </a:pPr>
            <a:r>
              <a:rPr lang="en-US" altLang="zh-CN" sz="2800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无符号数只表示数值大小，常用于表示</a:t>
            </a:r>
            <a:r>
              <a:rPr lang="zh-CN" altLang="en-US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无正负概念的数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代码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存储器的地址</a:t>
            </a:r>
            <a:endParaRPr lang="zh-CN" altLang="en-US" b="1" dirty="0">
              <a:latin typeface="华文中宋" pitchFamily="2" charset="-122"/>
              <a:ea typeface="华文中宋" pitchFamily="2" charset="-122"/>
            </a:endParaRPr>
          </a:p>
          <a:p>
            <a:pPr lvl="1">
              <a:buFontTx/>
              <a:buNone/>
            </a:pP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   有符号数具有正负的概念，用“</a:t>
            </a:r>
            <a:r>
              <a:rPr lang="en-US" altLang="zh-CN" b="1" dirty="0">
                <a:latin typeface="华文中宋" pitchFamily="2" charset="-122"/>
                <a:ea typeface="华文中宋" pitchFamily="2" charset="-122"/>
              </a:rPr>
              <a:t>0”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或者“</a:t>
            </a:r>
            <a:r>
              <a:rPr lang="en-US" altLang="zh-CN" b="1" dirty="0">
                <a:latin typeface="华文中宋" pitchFamily="2" charset="-122"/>
                <a:ea typeface="华文中宋" pitchFamily="2" charset="-122"/>
              </a:rPr>
              <a:t>1”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放到表示数值大小的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数码</a:t>
            </a:r>
            <a:r>
              <a:rPr lang="zh-CN" altLang="en-US" b="1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序列最前面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来表示正负数。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12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一、概述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0CBA5C-EBBB-42B7-959D-5BFF64BD2073}"/>
              </a:ext>
            </a:extLst>
          </p:cNvPr>
          <p:cNvSpPr txBox="1"/>
          <p:nvPr/>
        </p:nvSpPr>
        <p:spPr>
          <a:xfrm>
            <a:off x="1055802" y="1216059"/>
            <a:ext cx="97975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计算机中正负数的表示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8A8B54-37B2-45D6-A5C5-E542CD217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92" y="1908556"/>
            <a:ext cx="8240336" cy="5484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计算机中带符号数有三种表示方法：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 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原码、反码、补码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三种机器数的表示形式中，符号位的规定相同，仅是数  值部分的表示形式不同。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原码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：正数的符号位用“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0”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表示，负数的符号位用“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1”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表示，其余数字位表示数值本身。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反码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：正数的反码：和正数的原码相同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  负数的反码：符号位为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，其余各位逐位取反，即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变为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变为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补码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：正数的补码：与正数的原码相同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  负数的补码：负数的反码加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</a:p>
          <a:p>
            <a:pPr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正数：原码</a:t>
            </a:r>
            <a:r>
              <a:rPr lang="en-US" altLang="zh-CN" sz="2400" b="1" dirty="0">
                <a:solidFill>
                  <a:srgbClr val="0000FF"/>
                </a:solidFill>
              </a:rPr>
              <a:t>=</a:t>
            </a:r>
            <a:r>
              <a:rPr lang="zh-CN" altLang="en-US" sz="2400" b="1" dirty="0">
                <a:solidFill>
                  <a:srgbClr val="0000FF"/>
                </a:solidFill>
              </a:rPr>
              <a:t>反码</a:t>
            </a:r>
            <a:r>
              <a:rPr lang="en-US" altLang="zh-CN" sz="2400" b="1" dirty="0">
                <a:solidFill>
                  <a:srgbClr val="0000FF"/>
                </a:solidFill>
              </a:rPr>
              <a:t>=</a:t>
            </a:r>
            <a:r>
              <a:rPr lang="zh-CN" altLang="en-US" sz="2400" b="1" dirty="0">
                <a:solidFill>
                  <a:srgbClr val="0000FF"/>
                </a:solidFill>
              </a:rPr>
              <a:t>补码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zh-CN" altLang="en-US" sz="2400" b="1" dirty="0">
                <a:solidFill>
                  <a:srgbClr val="00B050"/>
                </a:solidFill>
              </a:rPr>
              <a:t>负数：原码、反码、补码各不相同，但符号位一定为</a:t>
            </a:r>
            <a:r>
              <a:rPr lang="en-US" altLang="zh-CN" sz="2400" b="1" dirty="0">
                <a:solidFill>
                  <a:srgbClr val="00B050"/>
                </a:solidFill>
              </a:rPr>
              <a:t>1</a:t>
            </a:r>
            <a:endParaRPr lang="zh-CN" altLang="en-US" sz="2400" b="1" dirty="0">
              <a:solidFill>
                <a:srgbClr val="00B050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935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533223-94B0-40DB-A1D3-A591393675B0}"/>
              </a:ext>
            </a:extLst>
          </p:cNvPr>
          <p:cNvSpPr txBox="1"/>
          <p:nvPr/>
        </p:nvSpPr>
        <p:spPr>
          <a:xfrm>
            <a:off x="848412" y="1282045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引脚部分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9E73138-0798-4C10-9AF2-C1906A4A7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312" y="1857355"/>
            <a:ext cx="49085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Arial" panose="020B0604020202020204" pitchFamily="34" charset="0"/>
              </a:rPr>
              <a:t>电源及晶振引脚（共</a:t>
            </a:r>
            <a:r>
              <a:rPr kumimoji="1" lang="en-US" altLang="zh-CN" sz="2400" dirty="0">
                <a:latin typeface="Arial" panose="020B0604020202020204" pitchFamily="34" charset="0"/>
              </a:rPr>
              <a:t>4</a:t>
            </a:r>
            <a:r>
              <a:rPr kumimoji="1" lang="zh-CN" altLang="en-US" sz="2400" dirty="0">
                <a:latin typeface="Arial" panose="020B0604020202020204" pitchFamily="34" charset="0"/>
              </a:rPr>
              <a:t>只）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Arial" panose="020B0604020202020204" pitchFamily="34" charset="0"/>
              </a:rPr>
              <a:t>控制引脚（共</a:t>
            </a:r>
            <a:r>
              <a:rPr kumimoji="1" lang="en-US" altLang="zh-CN" sz="2400" dirty="0">
                <a:latin typeface="Arial" panose="020B0604020202020204" pitchFamily="34" charset="0"/>
              </a:rPr>
              <a:t>4</a:t>
            </a:r>
            <a:r>
              <a:rPr kumimoji="1" lang="zh-CN" altLang="en-US" sz="2400" dirty="0">
                <a:latin typeface="Arial" panose="020B0604020202020204" pitchFamily="34" charset="0"/>
              </a:rPr>
              <a:t>只）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端口引脚 </a:t>
            </a:r>
            <a:r>
              <a:rPr kumimoji="1" lang="zh-CN" altLang="en-US" sz="2400" dirty="0">
                <a:latin typeface="Arial" panose="020B0604020202020204" pitchFamily="34" charset="0"/>
              </a:rPr>
              <a:t>（共</a:t>
            </a:r>
            <a:r>
              <a:rPr kumimoji="1" lang="en-US" altLang="zh-CN" sz="2400" dirty="0">
                <a:latin typeface="Arial" panose="020B0604020202020204" pitchFamily="34" charset="0"/>
              </a:rPr>
              <a:t>32</a:t>
            </a:r>
            <a:r>
              <a:rPr kumimoji="1" lang="zh-CN" altLang="en-US" sz="2400" dirty="0">
                <a:latin typeface="Arial" panose="020B0604020202020204" pitchFamily="34" charset="0"/>
              </a:rPr>
              <a:t>只） 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D95BEAF6-325F-4F73-AEC5-F44C435BD534}"/>
              </a:ext>
            </a:extLst>
          </p:cNvPr>
          <p:cNvGrpSpPr>
            <a:grpSpLocks/>
          </p:cNvGrpSpPr>
          <p:nvPr/>
        </p:nvGrpSpPr>
        <p:grpSpPr bwMode="auto">
          <a:xfrm>
            <a:off x="848412" y="2022455"/>
            <a:ext cx="1082675" cy="839788"/>
            <a:chOff x="364" y="1128"/>
            <a:chExt cx="629" cy="529"/>
          </a:xfrm>
        </p:grpSpPr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12E1A7A8-7169-4533-B69E-6ADB87C25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" y="1128"/>
              <a:ext cx="200" cy="529"/>
            </a:xfrm>
            <a:prstGeom prst="leftBrace">
              <a:avLst>
                <a:gd name="adj1" fmla="val 2204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8C676668-10EB-4C9A-AD23-E1A15B11F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" y="1245"/>
              <a:ext cx="45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dirty="0">
                  <a:latin typeface="Arial" panose="020B0604020202020204" pitchFamily="34" charset="0"/>
                </a:rPr>
                <a:t>三类</a:t>
              </a: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04834842-9899-45A9-8DFE-3BADB5F2CD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3057505"/>
            <a:ext cx="421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Arial" panose="020B0604020202020204" pitchFamily="34" charset="0"/>
              </a:rPr>
              <a:t>（</a:t>
            </a:r>
            <a:r>
              <a:rPr kumimoji="1" lang="en-US" altLang="zh-CN" sz="2400">
                <a:latin typeface="Arial" panose="020B0604020202020204" pitchFamily="34" charset="0"/>
              </a:rPr>
              <a:t>1</a:t>
            </a:r>
            <a:r>
              <a:rPr kumimoji="1" lang="zh-CN" altLang="en-US" sz="2400">
                <a:latin typeface="Arial" panose="020B0604020202020204" pitchFamily="34" charset="0"/>
              </a:rPr>
              <a:t>）电源及晶振引脚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AAA51C1-238F-4A0F-AA23-689BFA906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16" y="3502938"/>
            <a:ext cx="47958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9875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V</a:t>
            </a:r>
            <a:r>
              <a:rPr kumimoji="1" lang="en-US" altLang="zh-CN" sz="1600" dirty="0">
                <a:solidFill>
                  <a:srgbClr val="CC0000"/>
                </a:solidFill>
                <a:latin typeface="Arial" panose="020B0604020202020204" pitchFamily="34" charset="0"/>
              </a:rPr>
              <a:t>CC </a:t>
            </a:r>
            <a:r>
              <a:rPr kumimoji="1" lang="en-US" altLang="zh-CN" sz="2400" dirty="0">
                <a:latin typeface="Arial" panose="020B0604020202020204" pitchFamily="34" charset="0"/>
              </a:rPr>
              <a:t>(40</a:t>
            </a:r>
            <a:r>
              <a:rPr kumimoji="1" lang="zh-CN" altLang="en-US" sz="2400" dirty="0">
                <a:latin typeface="Arial" panose="020B0604020202020204" pitchFamily="34" charset="0"/>
              </a:rPr>
              <a:t>脚</a:t>
            </a:r>
            <a:r>
              <a:rPr kumimoji="1" lang="en-US" altLang="zh-CN" sz="2400" dirty="0">
                <a:latin typeface="Arial" panose="020B0604020202020204" pitchFamily="34" charset="0"/>
              </a:rPr>
              <a:t>)</a:t>
            </a:r>
            <a:r>
              <a:rPr kumimoji="1" lang="zh-CN" altLang="en-US" sz="2400" dirty="0">
                <a:latin typeface="Arial" panose="020B0604020202020204" pitchFamily="34" charset="0"/>
              </a:rPr>
              <a:t>：</a:t>
            </a:r>
            <a:r>
              <a:rPr kumimoji="1" lang="en-US" altLang="zh-CN" sz="2400" dirty="0">
                <a:latin typeface="Arial" panose="020B0604020202020204" pitchFamily="34" charset="0"/>
              </a:rPr>
              <a:t>+</a:t>
            </a:r>
            <a:r>
              <a:rPr kumimoji="1" lang="en-US" altLang="zh-CN" sz="2400" dirty="0" err="1">
                <a:latin typeface="Arial" panose="020B0604020202020204" pitchFamily="34" charset="0"/>
              </a:rPr>
              <a:t>Vcc</a:t>
            </a:r>
            <a:r>
              <a:rPr kumimoji="1" lang="zh-CN" altLang="en-US" sz="2400" dirty="0">
                <a:latin typeface="Arial" panose="020B0604020202020204" pitchFamily="34" charset="0"/>
              </a:rPr>
              <a:t>电源引脚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V</a:t>
            </a:r>
            <a:r>
              <a:rPr kumimoji="1" lang="en-US" altLang="zh-CN" sz="1800" dirty="0">
                <a:solidFill>
                  <a:srgbClr val="CC0000"/>
                </a:solidFill>
                <a:latin typeface="Arial" panose="020B0604020202020204" pitchFamily="34" charset="0"/>
              </a:rPr>
              <a:t>SS </a:t>
            </a:r>
            <a:r>
              <a:rPr kumimoji="1" lang="en-US" altLang="zh-CN" sz="2400" dirty="0">
                <a:latin typeface="Arial" panose="020B0604020202020204" pitchFamily="34" charset="0"/>
              </a:rPr>
              <a:t>(20</a:t>
            </a:r>
            <a:r>
              <a:rPr kumimoji="1" lang="zh-CN" altLang="en-US" sz="2400" dirty="0">
                <a:latin typeface="Arial" panose="020B0604020202020204" pitchFamily="34" charset="0"/>
              </a:rPr>
              <a:t>脚</a:t>
            </a:r>
            <a:r>
              <a:rPr kumimoji="1" lang="en-US" altLang="zh-CN" sz="2400" dirty="0">
                <a:latin typeface="Arial" panose="020B0604020202020204" pitchFamily="34" charset="0"/>
              </a:rPr>
              <a:t>)</a:t>
            </a:r>
            <a:r>
              <a:rPr kumimoji="1" lang="zh-CN" altLang="en-US" sz="2400" dirty="0">
                <a:latin typeface="Arial" panose="020B0604020202020204" pitchFamily="34" charset="0"/>
              </a:rPr>
              <a:t>： 接地引脚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C089C8AF-C76F-4F87-B409-B035EBACC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799" y="4334788"/>
            <a:ext cx="4302271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XTAL1 </a:t>
            </a:r>
            <a:r>
              <a:rPr kumimoji="1" lang="en-US" altLang="zh-CN" sz="2400" dirty="0">
                <a:latin typeface="Arial" panose="020B0604020202020204" pitchFamily="34" charset="0"/>
              </a:rPr>
              <a:t>(19</a:t>
            </a:r>
            <a:r>
              <a:rPr kumimoji="1" lang="zh-CN" altLang="en-US" sz="2400" dirty="0">
                <a:latin typeface="Arial" panose="020B0604020202020204" pitchFamily="34" charset="0"/>
              </a:rPr>
              <a:t>脚</a:t>
            </a:r>
            <a:r>
              <a:rPr kumimoji="1" lang="en-US" altLang="zh-CN" sz="2400" dirty="0">
                <a:latin typeface="Arial" panose="020B0604020202020204" pitchFamily="34" charset="0"/>
              </a:rPr>
              <a:t>)</a:t>
            </a:r>
            <a:r>
              <a:rPr kumimoji="1" lang="zh-CN" altLang="en-US" sz="2400" dirty="0">
                <a:latin typeface="Arial" panose="020B0604020202020204" pitchFamily="34" charset="0"/>
              </a:rPr>
              <a:t>；外接晶振引脚（内置放大器输入端）</a:t>
            </a:r>
          </a:p>
          <a:p>
            <a:pPr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XTAL2 </a:t>
            </a:r>
            <a:r>
              <a:rPr kumimoji="1" lang="en-US" altLang="zh-CN" sz="2400" dirty="0">
                <a:latin typeface="Arial" panose="020B0604020202020204" pitchFamily="34" charset="0"/>
              </a:rPr>
              <a:t>(18</a:t>
            </a:r>
            <a:r>
              <a:rPr kumimoji="1" lang="zh-CN" altLang="en-US" sz="2400" dirty="0">
                <a:latin typeface="Arial" panose="020B0604020202020204" pitchFamily="34" charset="0"/>
              </a:rPr>
              <a:t>脚</a:t>
            </a:r>
            <a:r>
              <a:rPr kumimoji="1" lang="en-US" altLang="zh-CN" sz="2400" dirty="0">
                <a:latin typeface="Arial" panose="020B0604020202020204" pitchFamily="34" charset="0"/>
              </a:rPr>
              <a:t>)</a:t>
            </a:r>
            <a:r>
              <a:rPr kumimoji="1" lang="zh-CN" altLang="en-US" sz="2400" dirty="0">
                <a:latin typeface="Arial" panose="020B0604020202020204" pitchFamily="34" charset="0"/>
              </a:rPr>
              <a:t>：外接晶振引脚（内置放大器输出端）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CF105EF-7945-49FB-A722-1A822434FA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90525" y="3001589"/>
            <a:ext cx="421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Arial" panose="020B0604020202020204" pitchFamily="34" charset="0"/>
              </a:rPr>
              <a:t>（</a:t>
            </a:r>
            <a:r>
              <a:rPr kumimoji="1" lang="en-US" altLang="zh-CN" sz="2400" dirty="0">
                <a:latin typeface="Arial" panose="020B0604020202020204" pitchFamily="34" charset="0"/>
              </a:rPr>
              <a:t>2</a:t>
            </a:r>
            <a:r>
              <a:rPr kumimoji="1" lang="zh-CN" altLang="en-US" sz="2400" dirty="0">
                <a:latin typeface="Arial" panose="020B0604020202020204" pitchFamily="34" charset="0"/>
              </a:rPr>
              <a:t>）控制引脚 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F389E41E-B3C1-4B95-A537-C1B3ED4C7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689" y="3762525"/>
            <a:ext cx="734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9875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rgbClr val="CC0000"/>
                </a:solidFill>
                <a:latin typeface="Arial" panose="020B0604020202020204" pitchFamily="34" charset="0"/>
              </a:rPr>
              <a:t>RST</a:t>
            </a:r>
            <a:r>
              <a:rPr kumimoji="1" lang="en-US" altLang="zh-CN" sz="18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kumimoji="1" lang="zh-CN" altLang="en-US" sz="2400" dirty="0">
                <a:latin typeface="Arial" panose="020B0604020202020204" pitchFamily="34" charset="0"/>
              </a:rPr>
              <a:t>：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复位</a:t>
            </a:r>
            <a:endParaRPr kumimoji="1" lang="zh-CN" altLang="en-US" sz="2400" dirty="0">
              <a:latin typeface="Arial" panose="020B0604020202020204" pitchFamily="34" charset="0"/>
            </a:endParaRPr>
          </a:p>
        </p:txBody>
      </p:sp>
      <p:grpSp>
        <p:nvGrpSpPr>
          <p:cNvPr id="19" name="Group 27">
            <a:extLst>
              <a:ext uri="{FF2B5EF4-FFF2-40B4-BE49-F238E27FC236}">
                <a16:creationId xmlns:a16="http://schemas.microsoft.com/office/drawing/2014/main" id="{45E35D2F-6374-4EEF-8BA1-89F2EC07F77E}"/>
              </a:ext>
            </a:extLst>
          </p:cNvPr>
          <p:cNvGrpSpPr>
            <a:grpSpLocks/>
          </p:cNvGrpSpPr>
          <p:nvPr/>
        </p:nvGrpSpPr>
        <p:grpSpPr bwMode="auto">
          <a:xfrm>
            <a:off x="4552689" y="4250670"/>
            <a:ext cx="7799388" cy="2133600"/>
            <a:chOff x="330" y="1248"/>
            <a:chExt cx="4535" cy="871"/>
          </a:xfrm>
        </p:grpSpPr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21EE471C-0B75-4768-AF8F-960242F34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" y="1248"/>
              <a:ext cx="2289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indent="269875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CC0000"/>
                  </a:solidFill>
                  <a:latin typeface="Arial" panose="020B0604020202020204" pitchFamily="34" charset="0"/>
                </a:rPr>
                <a:t>ALE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Arial" panose="020B0604020202020204" pitchFamily="34" charset="0"/>
                </a:rPr>
                <a:t> </a:t>
              </a:r>
              <a:r>
                <a:rPr kumimoji="1" lang="zh-CN" altLang="en-US" sz="2400">
                  <a:latin typeface="Arial" panose="020B0604020202020204" pitchFamily="34" charset="0"/>
                </a:rPr>
                <a:t>：</a:t>
              </a:r>
              <a:r>
                <a:rPr kumimoji="1" lang="zh-CN" altLang="en-US" sz="2400">
                  <a:solidFill>
                    <a:srgbClr val="C00000"/>
                  </a:solidFill>
                  <a:latin typeface="Arial" panose="020B0604020202020204" pitchFamily="34" charset="0"/>
                </a:rPr>
                <a:t>地址锁存使能输出</a:t>
              </a:r>
              <a:endParaRPr kumimoji="1"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A0B0EFE9-C547-44EE-AF1E-AC2EF816A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1563"/>
              <a:ext cx="4512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269875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CC0000"/>
                  </a:solidFill>
                  <a:latin typeface="Arial" panose="020B0604020202020204" pitchFamily="34" charset="0"/>
                </a:rPr>
                <a:t>PSEN</a:t>
              </a:r>
              <a:r>
                <a:rPr kumimoji="1" lang="en-US" altLang="zh-CN" sz="2400" dirty="0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r>
                <a:rPr kumimoji="1" lang="zh-CN" altLang="en-US" sz="2400" dirty="0">
                  <a:latin typeface="Arial" panose="020B0604020202020204" pitchFamily="34" charset="0"/>
                </a:rPr>
                <a:t>：</a:t>
              </a:r>
              <a:r>
                <a:rPr kumimoji="1"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</a:rPr>
                <a:t>程序存储器读选通信号。 </a:t>
              </a:r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1D5280C8-7D00-421F-8CE1-EBF9349B7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" y="1780"/>
              <a:ext cx="4493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269875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en-US" altLang="zh-CN" sz="2400" b="1" dirty="0">
                <a:solidFill>
                  <a:srgbClr val="CC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dirty="0">
                  <a:solidFill>
                    <a:srgbClr val="CC0000"/>
                  </a:solidFill>
                  <a:latin typeface="Arial" panose="020B0604020202020204" pitchFamily="34" charset="0"/>
                </a:rPr>
                <a:t>EA</a:t>
              </a:r>
              <a:r>
                <a:rPr kumimoji="1" lang="zh-CN" altLang="en-US" sz="2400" dirty="0">
                  <a:latin typeface="Arial" panose="020B0604020202020204" pitchFamily="34" charset="0"/>
                </a:rPr>
                <a:t>：</a:t>
              </a:r>
              <a:r>
                <a:rPr kumimoji="1"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</a:rPr>
                <a:t>外部</a:t>
              </a:r>
              <a:r>
                <a:rPr kumimoji="1" lang="en-US" altLang="zh-CN" sz="2400" dirty="0">
                  <a:solidFill>
                    <a:srgbClr val="C00000"/>
                  </a:solidFill>
                  <a:latin typeface="Arial" panose="020B0604020202020204" pitchFamily="34" charset="0"/>
                </a:rPr>
                <a:t>ROM</a:t>
              </a:r>
              <a:r>
                <a:rPr kumimoji="1"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</a:rPr>
                <a:t>访问允许。</a:t>
              </a:r>
              <a:endParaRPr kumimoji="1" lang="zh-CN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F9206F3A-54A4-4E08-B54E-39712E4F19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" y="1951"/>
              <a:ext cx="19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AA99E5F6-E1D4-430E-B30E-D7E89F4D9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4" y="1576"/>
              <a:ext cx="411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186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DFF3CF70-976C-4EA6-9BAE-6F9CB884F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20" y="1648014"/>
            <a:ext cx="2354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600">
                <a:latin typeface="Arial" panose="020B0604020202020204" pitchFamily="34" charset="0"/>
              </a:rPr>
              <a:t>（</a:t>
            </a:r>
            <a:r>
              <a:rPr kumimoji="1" lang="en-US" altLang="zh-CN" sz="2600">
                <a:latin typeface="Arial" panose="020B0604020202020204" pitchFamily="34" charset="0"/>
              </a:rPr>
              <a:t>3</a:t>
            </a:r>
            <a:r>
              <a:rPr kumimoji="1" lang="zh-CN" altLang="en-US" sz="2600">
                <a:latin typeface="Arial" panose="020B0604020202020204" pitchFamily="34" charset="0"/>
              </a:rPr>
              <a:t>）</a:t>
            </a:r>
            <a:r>
              <a:rPr kumimoji="1" lang="zh-CN" altLang="en-US" sz="2400">
                <a:latin typeface="Arial" panose="020B0604020202020204" pitchFamily="34" charset="0"/>
              </a:rPr>
              <a:t>端口引脚 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B25D8327-4E40-4E2E-95ED-C120004728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0449" y="2284206"/>
            <a:ext cx="5419725" cy="264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40000"/>
              </a:spcBef>
              <a:buFontTx/>
              <a:buNone/>
            </a:pP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P0.0</a:t>
            </a:r>
            <a:r>
              <a:rPr kumimoji="1" lang="zh-CN" altLang="en-US" sz="2400" dirty="0">
                <a:solidFill>
                  <a:srgbClr val="CC0000"/>
                </a:solidFill>
                <a:latin typeface="Arial" panose="020B0604020202020204" pitchFamily="34" charset="0"/>
              </a:rPr>
              <a:t>～</a:t>
            </a: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P0.7</a:t>
            </a:r>
            <a:r>
              <a:rPr kumimoji="1" lang="zh-CN" altLang="en-US" sz="2400" dirty="0">
                <a:latin typeface="Arial" panose="020B0604020202020204" pitchFamily="34" charset="0"/>
              </a:rPr>
              <a:t>（</a:t>
            </a:r>
            <a:r>
              <a:rPr kumimoji="1" lang="en-US" altLang="zh-CN" sz="2400" dirty="0">
                <a:latin typeface="Arial" panose="020B0604020202020204" pitchFamily="34" charset="0"/>
              </a:rPr>
              <a:t>39</a:t>
            </a:r>
            <a:r>
              <a:rPr kumimoji="1" lang="zh-CN" altLang="en-US" sz="2400" dirty="0">
                <a:latin typeface="Arial" panose="020B0604020202020204" pitchFamily="34" charset="0"/>
              </a:rPr>
              <a:t>～</a:t>
            </a:r>
            <a:r>
              <a:rPr kumimoji="1" lang="en-US" altLang="zh-CN" sz="2400" dirty="0">
                <a:latin typeface="Arial" panose="020B0604020202020204" pitchFamily="34" charset="0"/>
              </a:rPr>
              <a:t>32</a:t>
            </a:r>
            <a:r>
              <a:rPr kumimoji="1" lang="zh-CN" altLang="en-US" sz="2400" dirty="0">
                <a:latin typeface="Arial" panose="020B0604020202020204" pitchFamily="34" charset="0"/>
              </a:rPr>
              <a:t>脚）</a:t>
            </a:r>
            <a:r>
              <a:rPr kumimoji="1" lang="en-US" altLang="zh-CN" sz="2400" dirty="0">
                <a:latin typeface="Arial" panose="020B0604020202020204" pitchFamily="34" charset="0"/>
              </a:rPr>
              <a:t>——P0</a:t>
            </a:r>
            <a:r>
              <a:rPr kumimoji="1" lang="zh-CN" altLang="en-US" sz="2400" dirty="0">
                <a:latin typeface="Arial" panose="020B0604020202020204" pitchFamily="34" charset="0"/>
              </a:rPr>
              <a:t>口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P1.0</a:t>
            </a:r>
            <a:r>
              <a:rPr kumimoji="1" lang="zh-CN" altLang="en-US" sz="2400" dirty="0">
                <a:solidFill>
                  <a:srgbClr val="CC0000"/>
                </a:solidFill>
                <a:latin typeface="Arial" panose="020B0604020202020204" pitchFamily="34" charset="0"/>
              </a:rPr>
              <a:t>～</a:t>
            </a: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P1.7</a:t>
            </a:r>
            <a:r>
              <a:rPr kumimoji="1" lang="zh-CN" altLang="en-US" sz="2400" dirty="0">
                <a:latin typeface="Arial" panose="020B0604020202020204" pitchFamily="34" charset="0"/>
              </a:rPr>
              <a:t>（</a:t>
            </a:r>
            <a:r>
              <a:rPr kumimoji="1" lang="en-US" altLang="zh-CN" sz="2400" dirty="0">
                <a:latin typeface="Arial" panose="020B0604020202020204" pitchFamily="34" charset="0"/>
              </a:rPr>
              <a:t>1</a:t>
            </a:r>
            <a:r>
              <a:rPr kumimoji="1" lang="zh-CN" altLang="en-US" sz="2400" dirty="0">
                <a:latin typeface="Arial" panose="020B0604020202020204" pitchFamily="34" charset="0"/>
              </a:rPr>
              <a:t>～</a:t>
            </a:r>
            <a:r>
              <a:rPr kumimoji="1" lang="en-US" altLang="zh-CN" sz="2400" dirty="0">
                <a:latin typeface="Arial" panose="020B0604020202020204" pitchFamily="34" charset="0"/>
              </a:rPr>
              <a:t>8</a:t>
            </a:r>
            <a:r>
              <a:rPr kumimoji="1" lang="zh-CN" altLang="en-US" sz="2400" dirty="0">
                <a:latin typeface="Arial" panose="020B0604020202020204" pitchFamily="34" charset="0"/>
              </a:rPr>
              <a:t>脚）</a:t>
            </a:r>
            <a:r>
              <a:rPr kumimoji="1" lang="en-US" altLang="zh-CN" sz="2400" dirty="0">
                <a:latin typeface="Arial" panose="020B0604020202020204" pitchFamily="34" charset="0"/>
              </a:rPr>
              <a:t>——P1</a:t>
            </a:r>
            <a:r>
              <a:rPr kumimoji="1" lang="zh-CN" altLang="en-US" sz="2400" dirty="0">
                <a:latin typeface="Arial" panose="020B0604020202020204" pitchFamily="34" charset="0"/>
              </a:rPr>
              <a:t>口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P2.0</a:t>
            </a:r>
            <a:r>
              <a:rPr kumimoji="1" lang="zh-CN" altLang="en-US" sz="2400" dirty="0">
                <a:solidFill>
                  <a:srgbClr val="CC0000"/>
                </a:solidFill>
                <a:latin typeface="Arial" panose="020B0604020202020204" pitchFamily="34" charset="0"/>
              </a:rPr>
              <a:t>～</a:t>
            </a: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P2.7</a:t>
            </a:r>
            <a:r>
              <a:rPr kumimoji="1" lang="zh-CN" altLang="en-US" sz="2400" dirty="0">
                <a:latin typeface="Arial" panose="020B0604020202020204" pitchFamily="34" charset="0"/>
              </a:rPr>
              <a:t>（</a:t>
            </a:r>
            <a:r>
              <a:rPr kumimoji="1" lang="en-US" altLang="zh-CN" sz="2400" dirty="0">
                <a:latin typeface="Arial" panose="020B0604020202020204" pitchFamily="34" charset="0"/>
              </a:rPr>
              <a:t>21</a:t>
            </a:r>
            <a:r>
              <a:rPr kumimoji="1" lang="zh-CN" altLang="en-US" sz="2400" dirty="0">
                <a:latin typeface="Arial" panose="020B0604020202020204" pitchFamily="34" charset="0"/>
              </a:rPr>
              <a:t>～</a:t>
            </a:r>
            <a:r>
              <a:rPr kumimoji="1" lang="en-US" altLang="zh-CN" sz="2400" dirty="0">
                <a:latin typeface="Arial" panose="020B0604020202020204" pitchFamily="34" charset="0"/>
              </a:rPr>
              <a:t>28</a:t>
            </a:r>
            <a:r>
              <a:rPr kumimoji="1" lang="zh-CN" altLang="en-US" sz="2400" dirty="0">
                <a:latin typeface="Arial" panose="020B0604020202020204" pitchFamily="34" charset="0"/>
              </a:rPr>
              <a:t>脚）</a:t>
            </a:r>
            <a:r>
              <a:rPr kumimoji="1" lang="en-US" altLang="zh-CN" sz="2400" dirty="0">
                <a:latin typeface="Arial" panose="020B0604020202020204" pitchFamily="34" charset="0"/>
              </a:rPr>
              <a:t>——P2</a:t>
            </a:r>
            <a:r>
              <a:rPr kumimoji="1" lang="zh-CN" altLang="en-US" sz="2400" dirty="0">
                <a:latin typeface="Arial" panose="020B0604020202020204" pitchFamily="34" charset="0"/>
              </a:rPr>
              <a:t>口</a:t>
            </a:r>
          </a:p>
          <a:p>
            <a:pPr eaLnBrk="1" hangingPunct="1">
              <a:spcBef>
                <a:spcPct val="55000"/>
              </a:spcBef>
              <a:buFontTx/>
              <a:buNone/>
            </a:pP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P3.0</a:t>
            </a:r>
            <a:r>
              <a:rPr kumimoji="1" lang="zh-CN" altLang="en-US" sz="2400" dirty="0">
                <a:solidFill>
                  <a:srgbClr val="CC0000"/>
                </a:solidFill>
                <a:latin typeface="Arial" panose="020B0604020202020204" pitchFamily="34" charset="0"/>
              </a:rPr>
              <a:t>～</a:t>
            </a: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</a:rPr>
              <a:t>P3.7</a:t>
            </a:r>
            <a:r>
              <a:rPr kumimoji="1" lang="zh-CN" altLang="en-US" sz="2400" dirty="0">
                <a:latin typeface="Arial" panose="020B0604020202020204" pitchFamily="34" charset="0"/>
              </a:rPr>
              <a:t>（</a:t>
            </a:r>
            <a:r>
              <a:rPr kumimoji="1" lang="en-US" altLang="zh-CN" sz="2400" dirty="0">
                <a:latin typeface="Arial" panose="020B0604020202020204" pitchFamily="34" charset="0"/>
              </a:rPr>
              <a:t>10</a:t>
            </a:r>
            <a:r>
              <a:rPr kumimoji="1" lang="zh-CN" altLang="en-US" sz="2400" dirty="0">
                <a:latin typeface="Arial" panose="020B0604020202020204" pitchFamily="34" charset="0"/>
              </a:rPr>
              <a:t>～</a:t>
            </a:r>
            <a:r>
              <a:rPr kumimoji="1" lang="en-US" altLang="zh-CN" sz="2400" dirty="0">
                <a:latin typeface="Arial" panose="020B0604020202020204" pitchFamily="34" charset="0"/>
              </a:rPr>
              <a:t>17</a:t>
            </a:r>
            <a:r>
              <a:rPr kumimoji="1" lang="zh-CN" altLang="en-US" sz="2400" dirty="0">
                <a:latin typeface="Arial" panose="020B0604020202020204" pitchFamily="34" charset="0"/>
              </a:rPr>
              <a:t>脚）</a:t>
            </a:r>
            <a:r>
              <a:rPr kumimoji="1" lang="en-US" altLang="zh-CN" sz="2400" dirty="0">
                <a:latin typeface="Arial" panose="020B0604020202020204" pitchFamily="34" charset="0"/>
              </a:rPr>
              <a:t>——P3</a:t>
            </a:r>
            <a:r>
              <a:rPr kumimoji="1" lang="zh-CN" altLang="en-US" sz="2400" dirty="0">
                <a:latin typeface="Arial" panose="020B0604020202020204" pitchFamily="34" charset="0"/>
              </a:rPr>
              <a:t>口</a:t>
            </a:r>
          </a:p>
          <a:p>
            <a:pPr eaLnBrk="1" hangingPunct="1">
              <a:spcBef>
                <a:spcPct val="55000"/>
              </a:spcBef>
              <a:buFontTx/>
              <a:buNone/>
            </a:pPr>
            <a:r>
              <a:rPr kumimoji="1" lang="en-US" altLang="zh-CN" sz="2400" dirty="0">
                <a:latin typeface="Arial" panose="020B0604020202020204" pitchFamily="34" charset="0"/>
              </a:rPr>
              <a:t>8</a:t>
            </a:r>
            <a:r>
              <a:rPr kumimoji="1" lang="zh-CN" altLang="en-US" sz="2400" dirty="0">
                <a:latin typeface="Arial" panose="020B0604020202020204" pitchFamily="34" charset="0"/>
              </a:rPr>
              <a:t>只</a:t>
            </a:r>
            <a:r>
              <a:rPr kumimoji="1" lang="en-US" altLang="zh-CN" sz="2400" dirty="0">
                <a:latin typeface="Arial" panose="020B0604020202020204" pitchFamily="34" charset="0"/>
              </a:rPr>
              <a:t>/</a:t>
            </a:r>
            <a:r>
              <a:rPr kumimoji="1" lang="zh-CN" altLang="en-US" sz="2400" dirty="0">
                <a:latin typeface="Arial" panose="020B0604020202020204" pitchFamily="34" charset="0"/>
              </a:rPr>
              <a:t>组</a:t>
            </a:r>
            <a:r>
              <a:rPr kumimoji="1" lang="en-US" altLang="zh-CN" sz="2400" dirty="0">
                <a:latin typeface="Arial" panose="020B0604020202020204" pitchFamily="34" charset="0"/>
              </a:rPr>
              <a:t>×4 </a:t>
            </a:r>
            <a:r>
              <a:rPr kumimoji="1" lang="zh-CN" altLang="en-US" sz="2400" dirty="0">
                <a:latin typeface="Arial" panose="020B0604020202020204" pitchFamily="34" charset="0"/>
              </a:rPr>
              <a:t>组</a:t>
            </a:r>
            <a:r>
              <a:rPr kumimoji="1" lang="en-US" altLang="zh-CN" sz="2400" dirty="0">
                <a:latin typeface="Arial" panose="020B0604020202020204" pitchFamily="34" charset="0"/>
              </a:rPr>
              <a:t>= 32 </a:t>
            </a:r>
            <a:r>
              <a:rPr kumimoji="1" lang="zh-CN" altLang="en-US" sz="2400" dirty="0">
                <a:latin typeface="Arial" panose="020B0604020202020204" pitchFamily="34" charset="0"/>
              </a:rPr>
              <a:t>只引脚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743E8647-A4B9-4370-959F-1138E6FAD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49" y="5093460"/>
            <a:ext cx="711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P0</a:t>
            </a:r>
            <a:r>
              <a:rPr lang="zh-CN" altLang="en-US" sz="2400" dirty="0">
                <a:latin typeface="Verdana" panose="020B0604030504040204" pitchFamily="34" charset="0"/>
              </a:rPr>
              <a:t>口</a:t>
            </a:r>
            <a:r>
              <a:rPr lang="en-US" altLang="en-US" sz="1800" dirty="0">
                <a:latin typeface="Verdana" panose="020B0604030504040204" pitchFamily="34" charset="0"/>
              </a:rPr>
              <a:t>～</a:t>
            </a:r>
            <a:r>
              <a:rPr lang="en-US" altLang="zh-CN" sz="2400" dirty="0">
                <a:latin typeface="Verdana" panose="020B0604030504040204" pitchFamily="34" charset="0"/>
              </a:rPr>
              <a:t>P3</a:t>
            </a:r>
            <a:r>
              <a:rPr lang="zh-CN" altLang="en-US" sz="2400" dirty="0">
                <a:latin typeface="Verdana" panose="020B0604030504040204" pitchFamily="34" charset="0"/>
              </a:rPr>
              <a:t>口是单片机对外联络的重要通道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6" y="104228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引脚部分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989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6" y="104228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2.2CPU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DC4DF85-4C75-415E-B6CC-AFCE55171711}"/>
              </a:ext>
            </a:extLst>
          </p:cNvPr>
          <p:cNvSpPr txBox="1"/>
          <p:nvPr/>
        </p:nvSpPr>
        <p:spPr>
          <a:xfrm>
            <a:off x="1640936" y="2022475"/>
            <a:ext cx="4825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+mj-lt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+mj-lt"/>
              </a:rPr>
              <a:t>CPU</a:t>
            </a:r>
            <a:r>
              <a:rPr lang="en-US" altLang="zh-CN" sz="2800" dirty="0">
                <a:latin typeface="+mj-lt"/>
              </a:rPr>
              <a:t> =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运算器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控制器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1323ED0-DBC5-4DC4-AA2F-6E09AD5EB5FA}"/>
              </a:ext>
            </a:extLst>
          </p:cNvPr>
          <p:cNvSpPr txBox="1"/>
          <p:nvPr/>
        </p:nvSpPr>
        <p:spPr>
          <a:xfrm>
            <a:off x="1610773" y="2681288"/>
            <a:ext cx="67476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运算器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ALU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B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PSW</a:t>
            </a:r>
            <a:endParaRPr lang="zh-CN" altLang="en-US" sz="2800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EDB7AA4D-D1AB-47FA-AF80-96355306FC80}"/>
              </a:ext>
            </a:extLst>
          </p:cNvPr>
          <p:cNvSpPr txBox="1"/>
          <p:nvPr/>
        </p:nvSpPr>
        <p:spPr>
          <a:xfrm>
            <a:off x="1795824" y="3429000"/>
            <a:ext cx="4913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控制器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：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PC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DPTR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SP</a:t>
            </a:r>
            <a:endParaRPr lang="zh-CN" altLang="en-US" sz="2800" dirty="0">
              <a:latin typeface="+mj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5673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6" y="104228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2.2CPU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44">
            <a:extLst>
              <a:ext uri="{FF2B5EF4-FFF2-40B4-BE49-F238E27FC236}">
                <a16:creationId xmlns:a16="http://schemas.microsoft.com/office/drawing/2014/main" id="{FED54997-2F64-49CA-844F-A42074D12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49" y="1707054"/>
            <a:ext cx="9547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程序状态字寄存器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kumimoji="1" lang="en-US" altLang="zh-CN" sz="2400" b="1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rogram</a:t>
            </a:r>
            <a:r>
              <a:rPr kumimoji="1" lang="en-US" altLang="zh-CN" sz="2400" b="1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S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tate</a:t>
            </a:r>
            <a:r>
              <a:rPr kumimoji="1" lang="en-US" altLang="zh-CN" sz="2400" b="1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W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ord——</a:t>
            </a:r>
            <a:r>
              <a:rPr kumimoji="1" lang="en-US" altLang="zh-CN" sz="2400" b="1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PSW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kumimoji="1" lang="zh-CN" altLang="en-US" sz="2400" b="1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kumimoji="1" lang="zh-CN" altLang="fr-FR" sz="2400" b="1" dirty="0">
              <a:solidFill>
                <a:srgbClr val="CC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Rectangle 152">
            <a:extLst>
              <a:ext uri="{FF2B5EF4-FFF2-40B4-BE49-F238E27FC236}">
                <a16:creationId xmlns:a16="http://schemas.microsoft.com/office/drawing/2014/main" id="{898D3116-77F0-4C71-BF6F-30548FD34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380" y="2139555"/>
            <a:ext cx="6988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存放程序运行过程中的各种状态信息的寄存器</a:t>
            </a: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B3DA34C7-3BBC-4487-AEC3-9361B6F1A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047060"/>
              </p:ext>
            </p:extLst>
          </p:nvPr>
        </p:nvGraphicFramePr>
        <p:xfrm>
          <a:off x="1766380" y="2664921"/>
          <a:ext cx="7264400" cy="248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Visio" r:id="rId3" imgW="5086731" imgH="1884045" progId="Visio.Drawing.11">
                  <p:embed/>
                </p:oleObj>
              </mc:Choice>
              <mc:Fallback>
                <p:oleObj name="Visio" r:id="rId3" imgW="5086731" imgH="1884045" progId="Visio.Drawing.11">
                  <p:embed/>
                  <p:pic>
                    <p:nvPicPr>
                      <p:cNvPr id="15368" name="Object 9">
                        <a:extLst>
                          <a:ext uri="{FF2B5EF4-FFF2-40B4-BE49-F238E27FC236}">
                            <a16:creationId xmlns:a16="http://schemas.microsoft.com/office/drawing/2014/main" id="{40393415-C410-4494-AA9B-0BF3BF1BAD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380" y="2664921"/>
                        <a:ext cx="7264400" cy="248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431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6" y="104228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2.2CPU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079CA00-4AC6-4F52-AF3F-970687E3C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9" y="1484313"/>
            <a:ext cx="5226164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程序计数器（</a:t>
            </a:r>
            <a:r>
              <a:rPr lang="en-US" altLang="zh-CN" sz="2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rogram </a:t>
            </a:r>
            <a:r>
              <a:rPr lang="en-US" altLang="zh-CN" sz="2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ounter——</a:t>
            </a:r>
            <a:r>
              <a:rPr lang="en-US" altLang="zh-CN" sz="2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PC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grpSp>
        <p:nvGrpSpPr>
          <p:cNvPr id="9" name="Group 66">
            <a:extLst>
              <a:ext uri="{FF2B5EF4-FFF2-40B4-BE49-F238E27FC236}">
                <a16:creationId xmlns:a16="http://schemas.microsoft.com/office/drawing/2014/main" id="{B9274F2F-2F65-4EAA-8887-9998D803E140}"/>
              </a:ext>
            </a:extLst>
          </p:cNvPr>
          <p:cNvGrpSpPr>
            <a:grpSpLocks/>
          </p:cNvGrpSpPr>
          <p:nvPr/>
        </p:nvGrpSpPr>
        <p:grpSpPr bwMode="auto">
          <a:xfrm>
            <a:off x="836831" y="2593094"/>
            <a:ext cx="3832225" cy="2954338"/>
            <a:chOff x="869" y="1669"/>
            <a:chExt cx="2228" cy="1861"/>
          </a:xfrm>
        </p:grpSpPr>
        <p:grpSp>
          <p:nvGrpSpPr>
            <p:cNvPr id="13" name="Group 4">
              <a:extLst>
                <a:ext uri="{FF2B5EF4-FFF2-40B4-BE49-F238E27FC236}">
                  <a16:creationId xmlns:a16="http://schemas.microsoft.com/office/drawing/2014/main" id="{A379CA77-8691-4D7D-8043-60CF30DDD4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9" y="3016"/>
              <a:ext cx="850" cy="514"/>
              <a:chOff x="4269" y="3010"/>
              <a:chExt cx="850" cy="514"/>
            </a:xfrm>
          </p:grpSpPr>
          <p:grpSp>
            <p:nvGrpSpPr>
              <p:cNvPr id="41" name="Group 5">
                <a:extLst>
                  <a:ext uri="{FF2B5EF4-FFF2-40B4-BE49-F238E27FC236}">
                    <a16:creationId xmlns:a16="http://schemas.microsoft.com/office/drawing/2014/main" id="{F81BEEDA-616E-48E7-8375-AB92CF3313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9" y="3010"/>
                <a:ext cx="623" cy="514"/>
                <a:chOff x="4468" y="3124"/>
                <a:chExt cx="623" cy="514"/>
              </a:xfrm>
            </p:grpSpPr>
            <p:sp>
              <p:nvSpPr>
                <p:cNvPr id="43" name="Text Box 6">
                  <a:extLst>
                    <a:ext uri="{FF2B5EF4-FFF2-40B4-BE49-F238E27FC236}">
                      <a16:creationId xmlns:a16="http://schemas.microsoft.com/office/drawing/2014/main" id="{C3A892CA-316C-4C98-B4A0-13C216C449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68" y="3124"/>
                  <a:ext cx="623" cy="23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 2" panose="05020102010507070707" pitchFamily="18" charset="2"/>
                    <a:buChar char="ç"/>
                    <a:defRPr sz="24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 b="1"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0000H</a:t>
                  </a:r>
                </a:p>
              </p:txBody>
            </p:sp>
            <p:sp>
              <p:nvSpPr>
                <p:cNvPr id="44" name="Text Box 7">
                  <a:extLst>
                    <a:ext uri="{FF2B5EF4-FFF2-40B4-BE49-F238E27FC236}">
                      <a16:creationId xmlns:a16="http://schemas.microsoft.com/office/drawing/2014/main" id="{5FFFAA43-5135-41C3-9485-6FEC7DA6D3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68" y="3407"/>
                  <a:ext cx="623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 2" panose="05020102010507070707" pitchFamily="18" charset="2"/>
                    <a:buChar char="ç"/>
                    <a:defRPr sz="24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 b="1">
                      <a:solidFill>
                        <a:srgbClr val="FF3300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PC</a:t>
                  </a:r>
                  <a:r>
                    <a:rPr lang="zh-CN" altLang="en-US" sz="1800" b="1"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指针</a:t>
                  </a:r>
                </a:p>
              </p:txBody>
            </p:sp>
          </p:grpSp>
          <p:sp>
            <p:nvSpPr>
              <p:cNvPr id="42" name="AutoShape 8">
                <a:extLst>
                  <a:ext uri="{FF2B5EF4-FFF2-40B4-BE49-F238E27FC236}">
                    <a16:creationId xmlns:a16="http://schemas.microsoft.com/office/drawing/2014/main" id="{19EF691D-C895-4EAB-957E-189ACEB189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1" y="3039"/>
                <a:ext cx="198" cy="142"/>
              </a:xfrm>
              <a:prstGeom prst="rightArrow">
                <a:avLst>
                  <a:gd name="adj1" fmla="val 50000"/>
                  <a:gd name="adj2" fmla="val 34859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zh-CN" sz="2400" b="1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491ACF71-B40C-4878-8CA7-B8E530FAE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705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81BDA293-82D9-44EF-A894-B984B715D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847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E60331F6-EE08-4953-92F4-CE847517E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989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F8FD3968-9621-4673-BEF7-97A3C0D40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130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9D8D5D8A-B102-4ED7-B2E3-945A0CEFF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272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77B78B57-5B60-46F8-B2CB-0F1490D00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414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F779FA30-2D8F-4F58-B579-0AE672D63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556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B224B132-435F-4EC1-8CF8-11ED14669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697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850A2242-DE4F-4ED4-A3F3-A5EEE62DE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840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9B3E374A-B766-440E-8326-11C9F621B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982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4204CBBC-4AEA-4611-AF88-1F40F34D5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3123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5" name="Text Box 21">
              <a:extLst>
                <a:ext uri="{FF2B5EF4-FFF2-40B4-BE49-F238E27FC236}">
                  <a16:creationId xmlns:a16="http://schemas.microsoft.com/office/drawing/2014/main" id="{CC3DDC34-42C9-4832-ACEF-451B65E30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4" y="2329"/>
              <a:ext cx="5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…</a:t>
              </a:r>
            </a:p>
          </p:txBody>
        </p:sp>
        <p:sp>
          <p:nvSpPr>
            <p:cNvPr id="26" name="Text Box 22">
              <a:extLst>
                <a:ext uri="{FF2B5EF4-FFF2-40B4-BE49-F238E27FC236}">
                  <a16:creationId xmlns:a16="http://schemas.microsoft.com/office/drawing/2014/main" id="{7D8B4F9E-1572-4268-A97B-A24B0CC7D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" y="2329"/>
              <a:ext cx="56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…</a:t>
              </a:r>
            </a:p>
          </p:txBody>
        </p:sp>
        <p:sp>
          <p:nvSpPr>
            <p:cNvPr id="27" name="Text Box 23">
              <a:extLst>
                <a:ext uri="{FF2B5EF4-FFF2-40B4-BE49-F238E27FC236}">
                  <a16:creationId xmlns:a16="http://schemas.microsoft.com/office/drawing/2014/main" id="{239155AB-A3C2-48AE-8DC8-1F3B7BFE8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6" y="3123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xxxx xxxx</a:t>
              </a:r>
            </a:p>
          </p:txBody>
        </p:sp>
        <p:sp>
          <p:nvSpPr>
            <p:cNvPr id="29" name="Text Box 24">
              <a:extLst>
                <a:ext uri="{FF2B5EF4-FFF2-40B4-BE49-F238E27FC236}">
                  <a16:creationId xmlns:a16="http://schemas.microsoft.com/office/drawing/2014/main" id="{7BF31B92-541A-4923-AA97-DCBE32063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6" y="2981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xxxx xxxx</a:t>
              </a:r>
            </a:p>
          </p:txBody>
        </p:sp>
        <p:sp>
          <p:nvSpPr>
            <p:cNvPr id="30" name="Text Box 25">
              <a:extLst>
                <a:ext uri="{FF2B5EF4-FFF2-40B4-BE49-F238E27FC236}">
                  <a16:creationId xmlns:a16="http://schemas.microsoft.com/office/drawing/2014/main" id="{F5DD26B7-5974-4BF9-B362-1FF2FDD60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6" y="2840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xxxx xxxx</a:t>
              </a:r>
            </a:p>
          </p:txBody>
        </p:sp>
        <p:sp>
          <p:nvSpPr>
            <p:cNvPr id="31" name="Text Box 26">
              <a:extLst>
                <a:ext uri="{FF2B5EF4-FFF2-40B4-BE49-F238E27FC236}">
                  <a16:creationId xmlns:a16="http://schemas.microsoft.com/office/drawing/2014/main" id="{D3C02CD4-46E1-4AB3-8046-4D937A89B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6" y="2698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xxxx xxxx</a:t>
              </a:r>
            </a:p>
          </p:txBody>
        </p:sp>
        <p:sp>
          <p:nvSpPr>
            <p:cNvPr id="32" name="Text Box 27">
              <a:extLst>
                <a:ext uri="{FF2B5EF4-FFF2-40B4-BE49-F238E27FC236}">
                  <a16:creationId xmlns:a16="http://schemas.microsoft.com/office/drawing/2014/main" id="{7B030A80-E4C9-4F1E-AC3D-949B00590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6" y="2556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xxxx xxxx</a:t>
              </a:r>
            </a:p>
          </p:txBody>
        </p:sp>
        <p:sp>
          <p:nvSpPr>
            <p:cNvPr id="33" name="Text Box 47">
              <a:extLst>
                <a:ext uri="{FF2B5EF4-FFF2-40B4-BE49-F238E27FC236}">
                  <a16:creationId xmlns:a16="http://schemas.microsoft.com/office/drawing/2014/main" id="{82B9F318-F61A-4399-B3E2-F21CA196E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6" y="3313"/>
              <a:ext cx="4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6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ROM</a:t>
              </a:r>
            </a:p>
          </p:txBody>
        </p:sp>
        <p:grpSp>
          <p:nvGrpSpPr>
            <p:cNvPr id="34" name="Group 49">
              <a:extLst>
                <a:ext uri="{FF2B5EF4-FFF2-40B4-BE49-F238E27FC236}">
                  <a16:creationId xmlns:a16="http://schemas.microsoft.com/office/drawing/2014/main" id="{2A5E043D-59EA-4283-92C6-811D48E64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3" y="1669"/>
              <a:ext cx="560" cy="1609"/>
              <a:chOff x="902" y="2104"/>
              <a:chExt cx="560" cy="1609"/>
            </a:xfrm>
          </p:grpSpPr>
          <p:sp>
            <p:nvSpPr>
              <p:cNvPr id="35" name="Text Box 50">
                <a:extLst>
                  <a:ext uri="{FF2B5EF4-FFF2-40B4-BE49-F238E27FC236}">
                    <a16:creationId xmlns:a16="http://schemas.microsoft.com/office/drawing/2014/main" id="{5192D8F4-15EB-495A-90E2-8C519FA235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" y="3521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0000H</a:t>
                </a:r>
              </a:p>
            </p:txBody>
          </p:sp>
          <p:sp>
            <p:nvSpPr>
              <p:cNvPr id="36" name="Text Box 51">
                <a:extLst>
                  <a:ext uri="{FF2B5EF4-FFF2-40B4-BE49-F238E27FC236}">
                    <a16:creationId xmlns:a16="http://schemas.microsoft.com/office/drawing/2014/main" id="{8BF136B7-8EA1-41A7-ABDD-14A4BF3FED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3380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0001H</a:t>
                </a:r>
              </a:p>
            </p:txBody>
          </p:sp>
          <p:sp>
            <p:nvSpPr>
              <p:cNvPr id="37" name="Text Box 52">
                <a:extLst>
                  <a:ext uri="{FF2B5EF4-FFF2-40B4-BE49-F238E27FC236}">
                    <a16:creationId xmlns:a16="http://schemas.microsoft.com/office/drawing/2014/main" id="{4E473614-5D49-45E9-931D-E607E4D330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" y="3238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0002H</a:t>
                </a:r>
              </a:p>
            </p:txBody>
          </p:sp>
          <p:sp>
            <p:nvSpPr>
              <p:cNvPr id="38" name="Text Box 53">
                <a:extLst>
                  <a:ext uri="{FF2B5EF4-FFF2-40B4-BE49-F238E27FC236}">
                    <a16:creationId xmlns:a16="http://schemas.microsoft.com/office/drawing/2014/main" id="{EBC1C0B1-9718-46D5-91F6-C502F002B2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0" y="3096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0003H</a:t>
                </a:r>
              </a:p>
            </p:txBody>
          </p:sp>
          <p:sp>
            <p:nvSpPr>
              <p:cNvPr id="39" name="Text Box 54">
                <a:extLst>
                  <a:ext uri="{FF2B5EF4-FFF2-40B4-BE49-F238E27FC236}">
                    <a16:creationId xmlns:a16="http://schemas.microsoft.com/office/drawing/2014/main" id="{FAFB0147-D5F0-4701-B78C-3541896169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0" y="2954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0004H</a:t>
                </a:r>
              </a:p>
            </p:txBody>
          </p:sp>
          <p:sp>
            <p:nvSpPr>
              <p:cNvPr id="40" name="Text Box 55">
                <a:extLst>
                  <a:ext uri="{FF2B5EF4-FFF2-40B4-BE49-F238E27FC236}">
                    <a16:creationId xmlns:a16="http://schemas.microsoft.com/office/drawing/2014/main" id="{D144C7F9-790C-4D5D-A04F-ACA487879C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1" y="2104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FFFFH</a:t>
                </a:r>
              </a:p>
            </p:txBody>
          </p:sp>
        </p:grpSp>
      </p:grpSp>
      <p:sp>
        <p:nvSpPr>
          <p:cNvPr id="45" name="Rectangle 2">
            <a:extLst>
              <a:ext uri="{FF2B5EF4-FFF2-40B4-BE49-F238E27FC236}">
                <a16:creationId xmlns:a16="http://schemas.microsoft.com/office/drawing/2014/main" id="{3C182172-0C47-4E85-894E-0176507E8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113" y="1396206"/>
            <a:ext cx="8915400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数据指针寄存器（</a:t>
            </a:r>
            <a:r>
              <a:rPr lang="en-US" altLang="zh-CN" sz="2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ata </a:t>
            </a:r>
            <a:r>
              <a:rPr lang="en-US" altLang="zh-CN" sz="2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oin</a:t>
            </a:r>
            <a:r>
              <a:rPr lang="en-US" altLang="zh-CN" sz="2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e</a:t>
            </a:r>
            <a:r>
              <a:rPr lang="en-US" altLang="zh-CN" sz="2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——</a:t>
            </a:r>
            <a:r>
              <a:rPr lang="en-US" altLang="zh-CN" sz="2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DPTR</a:t>
            </a:r>
            <a:r>
              <a:rPr lang="zh-CN" altLang="en-US" sz="2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grpSp>
        <p:nvGrpSpPr>
          <p:cNvPr id="47" name="Group 66">
            <a:extLst>
              <a:ext uri="{FF2B5EF4-FFF2-40B4-BE49-F238E27FC236}">
                <a16:creationId xmlns:a16="http://schemas.microsoft.com/office/drawing/2014/main" id="{BDB04E55-7D6B-41A0-884A-A0BBA4671E9C}"/>
              </a:ext>
            </a:extLst>
          </p:cNvPr>
          <p:cNvGrpSpPr>
            <a:grpSpLocks/>
          </p:cNvGrpSpPr>
          <p:nvPr/>
        </p:nvGrpSpPr>
        <p:grpSpPr bwMode="auto">
          <a:xfrm>
            <a:off x="5357131" y="2781050"/>
            <a:ext cx="6773862" cy="2940050"/>
            <a:chOff x="902" y="2096"/>
            <a:chExt cx="3939" cy="185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4DBDD36D-4528-4F6F-B9F3-5B43366AA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2132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9" name="Rectangle 5">
              <a:extLst>
                <a:ext uri="{FF2B5EF4-FFF2-40B4-BE49-F238E27FC236}">
                  <a16:creationId xmlns:a16="http://schemas.microsoft.com/office/drawing/2014/main" id="{18DDEFAB-2F17-4643-9883-1492CC56A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2274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0" name="Rectangle 6">
              <a:extLst>
                <a:ext uri="{FF2B5EF4-FFF2-40B4-BE49-F238E27FC236}">
                  <a16:creationId xmlns:a16="http://schemas.microsoft.com/office/drawing/2014/main" id="{25662FB1-B70F-4A31-8D28-C8E6D2299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2416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1" name="Rectangle 7">
              <a:extLst>
                <a:ext uri="{FF2B5EF4-FFF2-40B4-BE49-F238E27FC236}">
                  <a16:creationId xmlns:a16="http://schemas.microsoft.com/office/drawing/2014/main" id="{0AB02EC3-F2F6-43F4-9432-FCA856648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2557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2" name="Rectangle 8">
              <a:extLst>
                <a:ext uri="{FF2B5EF4-FFF2-40B4-BE49-F238E27FC236}">
                  <a16:creationId xmlns:a16="http://schemas.microsoft.com/office/drawing/2014/main" id="{140A91E5-D995-45ED-8B30-F3055DFD1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2699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3" name="Rectangle 9">
              <a:extLst>
                <a:ext uri="{FF2B5EF4-FFF2-40B4-BE49-F238E27FC236}">
                  <a16:creationId xmlns:a16="http://schemas.microsoft.com/office/drawing/2014/main" id="{D75C3FE1-99B6-4445-9700-D2027A4E7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2841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4" name="Rectangle 10">
              <a:extLst>
                <a:ext uri="{FF2B5EF4-FFF2-40B4-BE49-F238E27FC236}">
                  <a16:creationId xmlns:a16="http://schemas.microsoft.com/office/drawing/2014/main" id="{824FAEB0-8A69-48F5-B98D-6FA754EF5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2983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5" name="Rectangle 11">
              <a:extLst>
                <a:ext uri="{FF2B5EF4-FFF2-40B4-BE49-F238E27FC236}">
                  <a16:creationId xmlns:a16="http://schemas.microsoft.com/office/drawing/2014/main" id="{00240755-D24D-4630-BC28-3FE1DA451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124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6" name="Rectangle 12">
              <a:extLst>
                <a:ext uri="{FF2B5EF4-FFF2-40B4-BE49-F238E27FC236}">
                  <a16:creationId xmlns:a16="http://schemas.microsoft.com/office/drawing/2014/main" id="{046C51C9-D80D-4337-AE4F-5F2BBE41A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267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38A150FC-A512-4466-A95E-4C4216B8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409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E3A33DD2-DA07-4331-81C8-F78774788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550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9" name="Text Box 15">
              <a:extLst>
                <a:ext uri="{FF2B5EF4-FFF2-40B4-BE49-F238E27FC236}">
                  <a16:creationId xmlns:a16="http://schemas.microsoft.com/office/drawing/2014/main" id="{D50E0ADA-A52B-468C-9EE0-D8923700D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2756"/>
              <a:ext cx="5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…</a:t>
              </a:r>
            </a:p>
          </p:txBody>
        </p:sp>
        <p:sp>
          <p:nvSpPr>
            <p:cNvPr id="60" name="Text Box 16">
              <a:extLst>
                <a:ext uri="{FF2B5EF4-FFF2-40B4-BE49-F238E27FC236}">
                  <a16:creationId xmlns:a16="http://schemas.microsoft.com/office/drawing/2014/main" id="{2C8880DA-1D07-4711-B780-B0C046ECB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4" y="2756"/>
              <a:ext cx="56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…</a:t>
              </a:r>
            </a:p>
          </p:txBody>
        </p:sp>
        <p:grpSp>
          <p:nvGrpSpPr>
            <p:cNvPr id="61" name="Group 17">
              <a:extLst>
                <a:ext uri="{FF2B5EF4-FFF2-40B4-BE49-F238E27FC236}">
                  <a16:creationId xmlns:a16="http://schemas.microsoft.com/office/drawing/2014/main" id="{2C5D0EC5-7D47-4BF2-A5DC-CEF882821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2" y="2104"/>
              <a:ext cx="560" cy="1609"/>
              <a:chOff x="902" y="2104"/>
              <a:chExt cx="560" cy="1609"/>
            </a:xfrm>
          </p:grpSpPr>
          <p:sp>
            <p:nvSpPr>
              <p:cNvPr id="99" name="Text Box 18">
                <a:extLst>
                  <a:ext uri="{FF2B5EF4-FFF2-40B4-BE49-F238E27FC236}">
                    <a16:creationId xmlns:a16="http://schemas.microsoft.com/office/drawing/2014/main" id="{BDB90457-5F44-482D-BAE4-416265D6A1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" y="3521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0000H</a:t>
                </a:r>
              </a:p>
            </p:txBody>
          </p:sp>
          <p:sp>
            <p:nvSpPr>
              <p:cNvPr id="100" name="Text Box 19">
                <a:extLst>
                  <a:ext uri="{FF2B5EF4-FFF2-40B4-BE49-F238E27FC236}">
                    <a16:creationId xmlns:a16="http://schemas.microsoft.com/office/drawing/2014/main" id="{489F4755-076F-480C-BA72-FEC8FC8A44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3380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0001H</a:t>
                </a:r>
              </a:p>
            </p:txBody>
          </p:sp>
          <p:sp>
            <p:nvSpPr>
              <p:cNvPr id="101" name="Text Box 20">
                <a:extLst>
                  <a:ext uri="{FF2B5EF4-FFF2-40B4-BE49-F238E27FC236}">
                    <a16:creationId xmlns:a16="http://schemas.microsoft.com/office/drawing/2014/main" id="{5E14B1D7-9E7F-4945-83D6-B55A094E7E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" y="3238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0002H</a:t>
                </a:r>
              </a:p>
            </p:txBody>
          </p:sp>
          <p:sp>
            <p:nvSpPr>
              <p:cNvPr id="102" name="Text Box 21">
                <a:extLst>
                  <a:ext uri="{FF2B5EF4-FFF2-40B4-BE49-F238E27FC236}">
                    <a16:creationId xmlns:a16="http://schemas.microsoft.com/office/drawing/2014/main" id="{0D617A2F-A372-4A74-9048-BFBEC65E64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0" y="3096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0003H</a:t>
                </a:r>
              </a:p>
            </p:txBody>
          </p:sp>
          <p:sp>
            <p:nvSpPr>
              <p:cNvPr id="103" name="Text Box 22">
                <a:extLst>
                  <a:ext uri="{FF2B5EF4-FFF2-40B4-BE49-F238E27FC236}">
                    <a16:creationId xmlns:a16="http://schemas.microsoft.com/office/drawing/2014/main" id="{F9118377-BDCF-49B5-BEB1-68AA8EF3BA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0" y="2954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0004H</a:t>
                </a:r>
              </a:p>
            </p:txBody>
          </p:sp>
          <p:sp>
            <p:nvSpPr>
              <p:cNvPr id="104" name="Text Box 23">
                <a:extLst>
                  <a:ext uri="{FF2B5EF4-FFF2-40B4-BE49-F238E27FC236}">
                    <a16:creationId xmlns:a16="http://schemas.microsoft.com/office/drawing/2014/main" id="{E34F7706-B7BF-4018-A3EA-6D91A3D039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1" y="2104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FFFFH</a:t>
                </a:r>
              </a:p>
            </p:txBody>
          </p:sp>
        </p:grpSp>
        <p:sp>
          <p:nvSpPr>
            <p:cNvPr id="62" name="Text Box 24">
              <a:extLst>
                <a:ext uri="{FF2B5EF4-FFF2-40B4-BE49-F238E27FC236}">
                  <a16:creationId xmlns:a16="http://schemas.microsoft.com/office/drawing/2014/main" id="{355560F2-0E4E-4299-A16E-531DB3087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0" y="3550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    35H</a:t>
              </a:r>
            </a:p>
          </p:txBody>
        </p:sp>
        <p:sp>
          <p:nvSpPr>
            <p:cNvPr id="63" name="Text Box 25">
              <a:extLst>
                <a:ext uri="{FF2B5EF4-FFF2-40B4-BE49-F238E27FC236}">
                  <a16:creationId xmlns:a16="http://schemas.microsoft.com/office/drawing/2014/main" id="{B658E59D-A417-4390-AD7A-FF10353D1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0" y="3408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    77H</a:t>
              </a:r>
            </a:p>
          </p:txBody>
        </p:sp>
        <p:sp>
          <p:nvSpPr>
            <p:cNvPr id="64" name="Text Box 26">
              <a:extLst>
                <a:ext uri="{FF2B5EF4-FFF2-40B4-BE49-F238E27FC236}">
                  <a16:creationId xmlns:a16="http://schemas.microsoft.com/office/drawing/2014/main" id="{44F275AE-0D83-46EC-91ED-168A6D090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0" y="3267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    F4H</a:t>
              </a:r>
            </a:p>
          </p:txBody>
        </p:sp>
        <p:sp>
          <p:nvSpPr>
            <p:cNvPr id="65" name="Text Box 27">
              <a:extLst>
                <a:ext uri="{FF2B5EF4-FFF2-40B4-BE49-F238E27FC236}">
                  <a16:creationId xmlns:a16="http://schemas.microsoft.com/office/drawing/2014/main" id="{FF2C1140-7A06-4CAA-9DAE-C83EEF59D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0" y="3125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    94H</a:t>
              </a:r>
            </a:p>
          </p:txBody>
        </p:sp>
        <p:sp>
          <p:nvSpPr>
            <p:cNvPr id="66" name="Text Box 28">
              <a:extLst>
                <a:ext uri="{FF2B5EF4-FFF2-40B4-BE49-F238E27FC236}">
                  <a16:creationId xmlns:a16="http://schemas.microsoft.com/office/drawing/2014/main" id="{9A7E185C-86CF-4D65-81E4-BA08745E2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0" y="2983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    9EH</a:t>
              </a:r>
            </a:p>
          </p:txBody>
        </p:sp>
        <p:sp>
          <p:nvSpPr>
            <p:cNvPr id="67" name="Text Box 29">
              <a:extLst>
                <a:ext uri="{FF2B5EF4-FFF2-40B4-BE49-F238E27FC236}">
                  <a16:creationId xmlns:a16="http://schemas.microsoft.com/office/drawing/2014/main" id="{27C0BD59-35DC-4911-A761-E9ECD1070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1" y="3283"/>
              <a:ext cx="7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solidFill>
                    <a:srgbClr val="FF33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DPTR</a:t>
              </a:r>
              <a:r>
                <a:rPr lang="zh-CN" altLang="en-US" sz="18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指针</a:t>
              </a:r>
            </a:p>
          </p:txBody>
        </p:sp>
        <p:sp>
          <p:nvSpPr>
            <p:cNvPr id="68" name="AutoShape 30">
              <a:extLst>
                <a:ext uri="{FF2B5EF4-FFF2-40B4-BE49-F238E27FC236}">
                  <a16:creationId xmlns:a16="http://schemas.microsoft.com/office/drawing/2014/main" id="{7592AB90-F98E-4A1C-81A0-FB5CBD9ED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" y="2963"/>
              <a:ext cx="198" cy="142"/>
            </a:xfrm>
            <a:prstGeom prst="rightArrow">
              <a:avLst>
                <a:gd name="adj1" fmla="val 50000"/>
                <a:gd name="adj2" fmla="val 3485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9" name="Rectangle 31">
              <a:extLst>
                <a:ext uri="{FF2B5EF4-FFF2-40B4-BE49-F238E27FC236}">
                  <a16:creationId xmlns:a16="http://schemas.microsoft.com/office/drawing/2014/main" id="{763C6B0A-71C9-402A-B6CA-3D26B3B62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113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0" name="Rectangle 32">
              <a:extLst>
                <a:ext uri="{FF2B5EF4-FFF2-40B4-BE49-F238E27FC236}">
                  <a16:creationId xmlns:a16="http://schemas.microsoft.com/office/drawing/2014/main" id="{0DFE52F5-5040-4F3D-A7AB-E4352B2D5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255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1" name="Rectangle 33">
              <a:extLst>
                <a:ext uri="{FF2B5EF4-FFF2-40B4-BE49-F238E27FC236}">
                  <a16:creationId xmlns:a16="http://schemas.microsoft.com/office/drawing/2014/main" id="{BDF19C8D-FBCA-4BEA-ABFE-6BB759E2C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397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2" name="Rectangle 34">
              <a:extLst>
                <a:ext uri="{FF2B5EF4-FFF2-40B4-BE49-F238E27FC236}">
                  <a16:creationId xmlns:a16="http://schemas.microsoft.com/office/drawing/2014/main" id="{857AC037-9D3C-462E-8C13-0C52C33EC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538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3" name="Rectangle 35">
              <a:extLst>
                <a:ext uri="{FF2B5EF4-FFF2-40B4-BE49-F238E27FC236}">
                  <a16:creationId xmlns:a16="http://schemas.microsoft.com/office/drawing/2014/main" id="{AD544ED9-6219-4D22-99E8-116FAED1B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680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4" name="Rectangle 36">
              <a:extLst>
                <a:ext uri="{FF2B5EF4-FFF2-40B4-BE49-F238E27FC236}">
                  <a16:creationId xmlns:a16="http://schemas.microsoft.com/office/drawing/2014/main" id="{CF103128-CF36-4AFA-9582-CE8420070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822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5" name="Rectangle 37">
              <a:extLst>
                <a:ext uri="{FF2B5EF4-FFF2-40B4-BE49-F238E27FC236}">
                  <a16:creationId xmlns:a16="http://schemas.microsoft.com/office/drawing/2014/main" id="{4BAC8749-F578-4249-8967-DCFE3631E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964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6" name="Rectangle 38">
              <a:extLst>
                <a:ext uri="{FF2B5EF4-FFF2-40B4-BE49-F238E27FC236}">
                  <a16:creationId xmlns:a16="http://schemas.microsoft.com/office/drawing/2014/main" id="{16952F08-19D2-4C4A-A9EE-685C35521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105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7" name="Rectangle 39">
              <a:extLst>
                <a:ext uri="{FF2B5EF4-FFF2-40B4-BE49-F238E27FC236}">
                  <a16:creationId xmlns:a16="http://schemas.microsoft.com/office/drawing/2014/main" id="{C1178F5D-8269-469C-871E-13F9C682C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248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8" name="Rectangle 40">
              <a:extLst>
                <a:ext uri="{FF2B5EF4-FFF2-40B4-BE49-F238E27FC236}">
                  <a16:creationId xmlns:a16="http://schemas.microsoft.com/office/drawing/2014/main" id="{510FB157-15C0-47A0-B04A-B493590E6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390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9" name="Rectangle 41">
              <a:extLst>
                <a:ext uri="{FF2B5EF4-FFF2-40B4-BE49-F238E27FC236}">
                  <a16:creationId xmlns:a16="http://schemas.microsoft.com/office/drawing/2014/main" id="{68AC8B58-A2B4-46F6-B848-0E58A1D22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531"/>
              <a:ext cx="567" cy="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0" name="Text Box 42">
              <a:extLst>
                <a:ext uri="{FF2B5EF4-FFF2-40B4-BE49-F238E27FC236}">
                  <a16:creationId xmlns:a16="http://schemas.microsoft.com/office/drawing/2014/main" id="{805D1C61-B0B1-4193-A0FE-ED6BE810A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8" y="2737"/>
              <a:ext cx="5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…</a:t>
              </a:r>
            </a:p>
          </p:txBody>
        </p:sp>
        <p:sp>
          <p:nvSpPr>
            <p:cNvPr id="81" name="Text Box 43">
              <a:extLst>
                <a:ext uri="{FF2B5EF4-FFF2-40B4-BE49-F238E27FC236}">
                  <a16:creationId xmlns:a16="http://schemas.microsoft.com/office/drawing/2014/main" id="{0449EA17-D3D5-49D3-B3EA-597AF4CEC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4" y="2737"/>
              <a:ext cx="56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…</a:t>
              </a:r>
            </a:p>
          </p:txBody>
        </p:sp>
        <p:sp>
          <p:nvSpPr>
            <p:cNvPr id="82" name="Text Box 44">
              <a:extLst>
                <a:ext uri="{FF2B5EF4-FFF2-40B4-BE49-F238E27FC236}">
                  <a16:creationId xmlns:a16="http://schemas.microsoft.com/office/drawing/2014/main" id="{F82456D5-6351-4917-B82F-849127E5F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3531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xxH</a:t>
              </a:r>
            </a:p>
          </p:txBody>
        </p:sp>
        <p:sp>
          <p:nvSpPr>
            <p:cNvPr id="83" name="Text Box 45">
              <a:extLst>
                <a:ext uri="{FF2B5EF4-FFF2-40B4-BE49-F238E27FC236}">
                  <a16:creationId xmlns:a16="http://schemas.microsoft.com/office/drawing/2014/main" id="{19F6AD2B-DF79-4D87-8A89-F4E0B8CDC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3389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xxH</a:t>
              </a:r>
            </a:p>
          </p:txBody>
        </p:sp>
        <p:sp>
          <p:nvSpPr>
            <p:cNvPr id="84" name="Text Box 46">
              <a:extLst>
                <a:ext uri="{FF2B5EF4-FFF2-40B4-BE49-F238E27FC236}">
                  <a16:creationId xmlns:a16="http://schemas.microsoft.com/office/drawing/2014/main" id="{9E759950-FA7A-4454-A3DF-B3B3AA7B5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3248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xxH</a:t>
              </a:r>
            </a:p>
          </p:txBody>
        </p:sp>
        <p:sp>
          <p:nvSpPr>
            <p:cNvPr id="85" name="Text Box 47">
              <a:extLst>
                <a:ext uri="{FF2B5EF4-FFF2-40B4-BE49-F238E27FC236}">
                  <a16:creationId xmlns:a16="http://schemas.microsoft.com/office/drawing/2014/main" id="{76048F6B-5452-4B74-9214-DC2A6024E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3106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xxH</a:t>
              </a:r>
            </a:p>
          </p:txBody>
        </p:sp>
        <p:sp>
          <p:nvSpPr>
            <p:cNvPr id="86" name="Text Box 48">
              <a:extLst>
                <a:ext uri="{FF2B5EF4-FFF2-40B4-BE49-F238E27FC236}">
                  <a16:creationId xmlns:a16="http://schemas.microsoft.com/office/drawing/2014/main" id="{A55EA66B-4CEC-4FEE-A2A1-6A2002762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2964"/>
              <a:ext cx="5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xxH</a:t>
              </a:r>
            </a:p>
          </p:txBody>
        </p:sp>
        <p:sp>
          <p:nvSpPr>
            <p:cNvPr id="87" name="AutoShape 49">
              <a:extLst>
                <a:ext uri="{FF2B5EF4-FFF2-40B4-BE49-F238E27FC236}">
                  <a16:creationId xmlns:a16="http://schemas.microsoft.com/office/drawing/2014/main" id="{B106558C-4535-4988-A497-51BFA43E6D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673531">
              <a:off x="2025" y="2971"/>
              <a:ext cx="198" cy="142"/>
            </a:xfrm>
            <a:prstGeom prst="rightArrow">
              <a:avLst>
                <a:gd name="adj1" fmla="val 50000"/>
                <a:gd name="adj2" fmla="val 3485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8" name="Text Box 50">
              <a:extLst>
                <a:ext uri="{FF2B5EF4-FFF2-40B4-BE49-F238E27FC236}">
                  <a16:creationId xmlns:a16="http://schemas.microsoft.com/office/drawing/2014/main" id="{3E379958-2365-401B-B2AA-7CF408788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7" y="3736"/>
              <a:ext cx="4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6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ROM</a:t>
              </a:r>
            </a:p>
          </p:txBody>
        </p:sp>
        <p:sp>
          <p:nvSpPr>
            <p:cNvPr id="89" name="Text Box 51">
              <a:extLst>
                <a:ext uri="{FF2B5EF4-FFF2-40B4-BE49-F238E27FC236}">
                  <a16:creationId xmlns:a16="http://schemas.microsoft.com/office/drawing/2014/main" id="{45F67847-6F63-4854-B75B-0238F85B9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" y="3712"/>
              <a:ext cx="4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6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RAM</a:t>
              </a:r>
            </a:p>
          </p:txBody>
        </p:sp>
        <p:sp>
          <p:nvSpPr>
            <p:cNvPr id="90" name="Text Box 52">
              <a:extLst>
                <a:ext uri="{FF2B5EF4-FFF2-40B4-BE49-F238E27FC236}">
                  <a16:creationId xmlns:a16="http://schemas.microsoft.com/office/drawing/2014/main" id="{1BD05A40-3ADF-4C30-B15D-8FA6940F4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" y="2925"/>
              <a:ext cx="515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DPL</a:t>
              </a:r>
            </a:p>
          </p:txBody>
        </p:sp>
        <p:sp>
          <p:nvSpPr>
            <p:cNvPr id="91" name="Text Box 53">
              <a:extLst>
                <a:ext uri="{FF2B5EF4-FFF2-40B4-BE49-F238E27FC236}">
                  <a16:creationId xmlns:a16="http://schemas.microsoft.com/office/drawing/2014/main" id="{9F0DD376-3EDA-45C2-A0FA-2BCF1A6C7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2925"/>
              <a:ext cx="515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DPH</a:t>
              </a:r>
            </a:p>
          </p:txBody>
        </p:sp>
        <p:grpSp>
          <p:nvGrpSpPr>
            <p:cNvPr id="92" name="Group 54">
              <a:extLst>
                <a:ext uri="{FF2B5EF4-FFF2-40B4-BE49-F238E27FC236}">
                  <a16:creationId xmlns:a16="http://schemas.microsoft.com/office/drawing/2014/main" id="{5C94CD1E-A892-482E-A514-DF288EBD3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3" y="2096"/>
              <a:ext cx="560" cy="1609"/>
              <a:chOff x="902" y="2104"/>
              <a:chExt cx="560" cy="1609"/>
            </a:xfrm>
          </p:grpSpPr>
          <p:sp>
            <p:nvSpPr>
              <p:cNvPr id="93" name="Text Box 55">
                <a:extLst>
                  <a:ext uri="{FF2B5EF4-FFF2-40B4-BE49-F238E27FC236}">
                    <a16:creationId xmlns:a16="http://schemas.microsoft.com/office/drawing/2014/main" id="{4DD28B1E-1144-47DD-8D84-6FA366DBA5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" y="3521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0000H</a:t>
                </a:r>
              </a:p>
            </p:txBody>
          </p:sp>
          <p:sp>
            <p:nvSpPr>
              <p:cNvPr id="94" name="Text Box 56">
                <a:extLst>
                  <a:ext uri="{FF2B5EF4-FFF2-40B4-BE49-F238E27FC236}">
                    <a16:creationId xmlns:a16="http://schemas.microsoft.com/office/drawing/2014/main" id="{9BF291E5-0026-4E8A-B0D8-34868E2E9E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3380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0001H</a:t>
                </a:r>
              </a:p>
            </p:txBody>
          </p:sp>
          <p:sp>
            <p:nvSpPr>
              <p:cNvPr id="95" name="Text Box 57">
                <a:extLst>
                  <a:ext uri="{FF2B5EF4-FFF2-40B4-BE49-F238E27FC236}">
                    <a16:creationId xmlns:a16="http://schemas.microsoft.com/office/drawing/2014/main" id="{9AD39733-EFE4-497C-B510-E1CB604C69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2" y="3238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0002H</a:t>
                </a:r>
              </a:p>
            </p:txBody>
          </p:sp>
          <p:sp>
            <p:nvSpPr>
              <p:cNvPr id="96" name="Text Box 58">
                <a:extLst>
                  <a:ext uri="{FF2B5EF4-FFF2-40B4-BE49-F238E27FC236}">
                    <a16:creationId xmlns:a16="http://schemas.microsoft.com/office/drawing/2014/main" id="{E0F79DEC-FE05-4AD9-8ED3-252F425057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0" y="3096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0003H</a:t>
                </a:r>
              </a:p>
            </p:txBody>
          </p:sp>
          <p:sp>
            <p:nvSpPr>
              <p:cNvPr id="97" name="Text Box 59">
                <a:extLst>
                  <a:ext uri="{FF2B5EF4-FFF2-40B4-BE49-F238E27FC236}">
                    <a16:creationId xmlns:a16="http://schemas.microsoft.com/office/drawing/2014/main" id="{07D817EE-2BC9-43A6-8ADE-50A25597C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0" y="2954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0004H</a:t>
                </a:r>
              </a:p>
            </p:txBody>
          </p:sp>
          <p:sp>
            <p:nvSpPr>
              <p:cNvPr id="98" name="Text Box 60">
                <a:extLst>
                  <a:ext uri="{FF2B5EF4-FFF2-40B4-BE49-F238E27FC236}">
                    <a16:creationId xmlns:a16="http://schemas.microsoft.com/office/drawing/2014/main" id="{247513C5-99A8-4987-BE24-A131E9E80B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1" y="2104"/>
                <a:ext cx="51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 2" panose="05020102010507070707" pitchFamily="18" charset="2"/>
                  <a:buChar char="ç"/>
                  <a:defRPr sz="24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1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FFFFH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862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6" y="104228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2.2CPU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2">
            <a:extLst>
              <a:ext uri="{FF2B5EF4-FFF2-40B4-BE49-F238E27FC236}">
                <a16:creationId xmlns:a16="http://schemas.microsoft.com/office/drawing/2014/main" id="{85367D24-C188-4AB1-82A1-E293BF44F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574" y="1603797"/>
            <a:ext cx="56149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堆栈指针</a:t>
            </a:r>
            <a:r>
              <a:rPr lang="en-US" altLang="zh-CN" b="1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SP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tack </a:t>
            </a:r>
            <a:r>
              <a:rPr lang="en-US" altLang="zh-CN" b="1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ointer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106" name="Rectangle 3">
            <a:extLst>
              <a:ext uri="{FF2B5EF4-FFF2-40B4-BE49-F238E27FC236}">
                <a16:creationId xmlns:a16="http://schemas.microsoft.com/office/drawing/2014/main" id="{AD3ACD51-A2C7-4D14-ACD1-83C6B97BDD56}"/>
              </a:ext>
            </a:extLst>
          </p:cNvPr>
          <p:cNvSpPr txBox="1">
            <a:spLocks noChangeArrowheads="1"/>
          </p:cNvSpPr>
          <p:nvPr/>
        </p:nvSpPr>
        <p:spPr>
          <a:xfrm>
            <a:off x="895546" y="2302135"/>
            <a:ext cx="8963025" cy="17192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Tx/>
              <a:buNone/>
              <a:defRPr/>
            </a:pPr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    MCS-51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单片机的堆栈，是在</a:t>
            </a:r>
            <a:r>
              <a:rPr lang="zh-CN" altLang="en-US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片内</a:t>
            </a:r>
            <a:r>
              <a:rPr lang="en-US" altLang="zh-CN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RAM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中开辟的一个专用区，用来暂时存放</a:t>
            </a:r>
            <a:r>
              <a:rPr lang="zh-CN" altLang="en-US" sz="2400" b="1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或存放</a:t>
            </a:r>
            <a:r>
              <a:rPr lang="zh-CN" altLang="en-US" sz="2400" b="1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返回地址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，并按照</a:t>
            </a:r>
            <a:r>
              <a:rPr lang="zh-CN" altLang="en-US" sz="2400" b="1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“后进先出”</a:t>
            </a:r>
            <a:r>
              <a:rPr lang="en-US" altLang="zh-CN" sz="2400" b="1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(LIFO)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的原则进行操作。 </a:t>
            </a:r>
          </a:p>
          <a:p>
            <a:pPr lvl="1">
              <a:lnSpc>
                <a:spcPct val="130000"/>
              </a:lnSpc>
              <a:buFont typeface="Wingdings 2" panose="05020102010507070707" pitchFamily="18" charset="2"/>
              <a:buNone/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07" name="对象 2">
            <a:extLst>
              <a:ext uri="{FF2B5EF4-FFF2-40B4-BE49-F238E27FC236}">
                <a16:creationId xmlns:a16="http://schemas.microsoft.com/office/drawing/2014/main" id="{773EFC8D-9C14-4B30-9262-C48A605C6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2889"/>
              </p:ext>
            </p:extLst>
          </p:nvPr>
        </p:nvGraphicFramePr>
        <p:xfrm>
          <a:off x="8913862" y="3155067"/>
          <a:ext cx="2971800" cy="251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Visio" r:id="rId3" imgW="2225421" imgH="2050806" progId="Visio.Drawing.11">
                  <p:embed/>
                </p:oleObj>
              </mc:Choice>
              <mc:Fallback>
                <p:oleObj name="Visio" r:id="rId3" imgW="2225421" imgH="2050806" progId="Visio.Drawing.11">
                  <p:embed/>
                  <p:pic>
                    <p:nvPicPr>
                      <p:cNvPr id="25605" name="对象 2">
                        <a:extLst>
                          <a:ext uri="{FF2B5EF4-FFF2-40B4-BE49-F238E27FC236}">
                            <a16:creationId xmlns:a16="http://schemas.microsoft.com/office/drawing/2014/main" id="{DB7E7F16-4A9F-40B1-9AF8-112CF756C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3862" y="3155067"/>
                        <a:ext cx="2971800" cy="251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矩形 107">
            <a:extLst>
              <a:ext uri="{FF2B5EF4-FFF2-40B4-BE49-F238E27FC236}">
                <a16:creationId xmlns:a16="http://schemas.microsoft.com/office/drawing/2014/main" id="{96FC0562-A38D-4CDD-92C6-7430453CD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16" y="4901342"/>
            <a:ext cx="9104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进栈时，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首先自动加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，将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数据压入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所指示的地址单元中；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0CAD86C-D33C-4025-BB8D-F815E2DB5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16" y="5512530"/>
            <a:ext cx="9104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出栈时，将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所指示的地址单元中的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数据弹出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然后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自动减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E7FE5A9-BE5D-48F5-A26C-8F5C524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966" y="6079267"/>
            <a:ext cx="27860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总是指向栈顶。 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0684C03-7762-4D56-9F6F-30B3CC2A6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16" y="4263244"/>
            <a:ext cx="927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堆栈指针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 (Stack Pointer)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是一个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位寄存器，用它存放栈顶的地址。</a:t>
            </a:r>
          </a:p>
        </p:txBody>
      </p:sp>
    </p:spTree>
    <p:extLst>
      <p:ext uri="{BB962C8B-B14F-4D97-AF65-F5344CB8AC3E}">
        <p14:creationId xmlns:p14="http://schemas.microsoft.com/office/powerpoint/2010/main" val="132501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  <p:bldP spid="110" grpId="0"/>
      <p:bldP spid="1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时钟与复位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267F4F2-1C3F-4AFA-8381-2A5373F31D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99578" y="5353755"/>
            <a:ext cx="78565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25000"/>
              </a:spcBef>
            </a:pPr>
            <a:r>
              <a:rPr kumimoji="1" lang="en-US" altLang="zh-CN" sz="2400">
                <a:latin typeface="Arial" panose="020B0604020202020204" pitchFamily="34" charset="0"/>
              </a:rPr>
              <a:t>1</a:t>
            </a:r>
            <a:r>
              <a:rPr kumimoji="1" lang="zh-CN" altLang="en-US" sz="2400">
                <a:latin typeface="Arial" panose="020B0604020202020204" pitchFamily="34" charset="0"/>
              </a:rPr>
              <a:t>个状态周期</a:t>
            </a:r>
            <a:r>
              <a:rPr kumimoji="1" lang="en-US" altLang="zh-CN" sz="2400">
                <a:latin typeface="Arial" panose="020B0604020202020204" pitchFamily="34" charset="0"/>
              </a:rPr>
              <a:t>= 2</a:t>
            </a:r>
            <a:r>
              <a:rPr kumimoji="1" lang="zh-CN" altLang="en-US" sz="2400">
                <a:latin typeface="Arial" panose="020B0604020202020204" pitchFamily="34" charset="0"/>
              </a:rPr>
              <a:t>个振荡周期</a:t>
            </a:r>
          </a:p>
          <a:p>
            <a:pPr eaLnBrk="1" hangingPunct="1">
              <a:spcBef>
                <a:spcPct val="25000"/>
              </a:spcBef>
            </a:pPr>
            <a:r>
              <a:rPr kumimoji="1" lang="en-US" altLang="zh-CN" sz="2400">
                <a:latin typeface="Arial" panose="020B0604020202020204" pitchFamily="34" charset="0"/>
              </a:rPr>
              <a:t>1</a:t>
            </a:r>
            <a:r>
              <a:rPr kumimoji="1" lang="zh-CN" altLang="en-US" sz="2400">
                <a:latin typeface="Arial" panose="020B0604020202020204" pitchFamily="34" charset="0"/>
              </a:rPr>
              <a:t>个机器周期 </a:t>
            </a:r>
            <a:r>
              <a:rPr kumimoji="1" lang="en-US" altLang="zh-CN" sz="2400">
                <a:latin typeface="Arial" panose="020B0604020202020204" pitchFamily="34" charset="0"/>
              </a:rPr>
              <a:t>= 6</a:t>
            </a:r>
            <a:r>
              <a:rPr kumimoji="1" lang="zh-CN" altLang="en-US" sz="2400">
                <a:latin typeface="Arial" panose="020B0604020202020204" pitchFamily="34" charset="0"/>
              </a:rPr>
              <a:t>个状态周期 </a:t>
            </a:r>
            <a:r>
              <a:rPr kumimoji="1" lang="en-US" altLang="zh-CN" sz="2400">
                <a:latin typeface="Arial" panose="020B0604020202020204" pitchFamily="34" charset="0"/>
              </a:rPr>
              <a:t>=12</a:t>
            </a:r>
            <a:r>
              <a:rPr kumimoji="1" lang="zh-CN" altLang="en-US" sz="2400">
                <a:latin typeface="Arial" panose="020B0604020202020204" pitchFamily="34" charset="0"/>
              </a:rPr>
              <a:t>个振荡周期</a:t>
            </a:r>
          </a:p>
        </p:txBody>
      </p:sp>
      <p:graphicFrame>
        <p:nvGraphicFramePr>
          <p:cNvPr id="11" name="对象 1">
            <a:extLst>
              <a:ext uri="{FF2B5EF4-FFF2-40B4-BE49-F238E27FC236}">
                <a16:creationId xmlns:a16="http://schemas.microsoft.com/office/drawing/2014/main" id="{5C225D95-B431-4BB1-A21F-A71172D41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492749"/>
              </p:ext>
            </p:extLst>
          </p:nvPr>
        </p:nvGraphicFramePr>
        <p:xfrm>
          <a:off x="1456753" y="2586743"/>
          <a:ext cx="7129462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Visio" r:id="rId3" imgW="11033236" imgH="3739753" progId="Visio.Drawing.11">
                  <p:embed/>
                </p:oleObj>
              </mc:Choice>
              <mc:Fallback>
                <p:oleObj name="Visio" r:id="rId3" imgW="11033236" imgH="3739753" progId="Visio.Drawing.11">
                  <p:embed/>
                  <p:pic>
                    <p:nvPicPr>
                      <p:cNvPr id="44037" name="对象 1">
                        <a:extLst>
                          <a:ext uri="{FF2B5EF4-FFF2-40B4-BE49-F238E27FC236}">
                            <a16:creationId xmlns:a16="http://schemas.microsoft.com/office/drawing/2014/main" id="{968374AE-B480-4161-936F-261CEAE1B8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753" y="2586743"/>
                        <a:ext cx="7129462" cy="241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91A33560-B027-43E1-8769-787199CB3E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99578" y="1664505"/>
            <a:ext cx="8685212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1" lang="zh-CN" altLang="en-US" sz="2400" dirty="0">
                <a:latin typeface="Arial" panose="020B0604020202020204" pitchFamily="34" charset="0"/>
              </a:rPr>
              <a:t>时序的定时单位：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1" lang="zh-CN" altLang="en-US" sz="2400" dirty="0">
                <a:latin typeface="Arial" panose="020B0604020202020204" pitchFamily="34" charset="0"/>
              </a:rPr>
              <a:t>振荡周期、状态周期、机器周期、指令周期</a:t>
            </a:r>
          </a:p>
        </p:txBody>
      </p:sp>
    </p:spTree>
    <p:extLst>
      <p:ext uri="{BB962C8B-B14F-4D97-AF65-F5344CB8AC3E}">
        <p14:creationId xmlns:p14="http://schemas.microsoft.com/office/powerpoint/2010/main" val="31407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存储器结构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0F69B57-1618-4BA6-8B7C-7B5892BF2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137" y="1603797"/>
            <a:ext cx="658653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en-US" altLang="zh-CN" sz="2400" b="1" dirty="0">
                <a:latin typeface="Arial" panose="020B0604020202020204" pitchFamily="34" charset="0"/>
              </a:rPr>
              <a:t>MCS-51</a:t>
            </a:r>
            <a:r>
              <a:rPr kumimoji="1" lang="zh-CN" altLang="en-US" sz="2400" b="1" dirty="0">
                <a:latin typeface="Arial" panose="020B0604020202020204" pitchFamily="34" charset="0"/>
              </a:rPr>
              <a:t>单片机</a:t>
            </a:r>
            <a:endParaRPr kumimoji="1" lang="en-US" altLang="zh-CN" sz="2400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Arial" panose="020B0604020202020204" pitchFamily="34" charset="0"/>
              </a:rPr>
              <a:t>按物理位置不同，分为</a:t>
            </a:r>
            <a:r>
              <a:rPr kumimoji="1" lang="en-US" altLang="zh-CN" sz="2400" b="1" dirty="0">
                <a:latin typeface="Arial" panose="020B0604020202020204" pitchFamily="34" charset="0"/>
              </a:rPr>
              <a:t>4</a:t>
            </a:r>
            <a:r>
              <a:rPr kumimoji="1" lang="zh-CN" altLang="en-US" sz="2400" b="1" dirty="0">
                <a:latin typeface="Arial" panose="020B0604020202020204" pitchFamily="34" charset="0"/>
              </a:rPr>
              <a:t>个物理空间；</a:t>
            </a:r>
            <a:endParaRPr kumimoji="1"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Arial" panose="020B0604020202020204" pitchFamily="34" charset="0"/>
              </a:rPr>
              <a:t>按访问时的控制信号不同，分为</a:t>
            </a:r>
            <a:r>
              <a:rPr kumimoji="1" lang="en-US" altLang="zh-CN" sz="2400" b="1" dirty="0">
                <a:latin typeface="Arial" panose="020B0604020202020204" pitchFamily="34" charset="0"/>
              </a:rPr>
              <a:t>3</a:t>
            </a:r>
            <a:r>
              <a:rPr kumimoji="1" lang="zh-CN" altLang="en-US" sz="2400" b="1" dirty="0">
                <a:latin typeface="Arial" panose="020B0604020202020204" pitchFamily="34" charset="0"/>
              </a:rPr>
              <a:t>个逻辑空间。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056E88F-16FF-4711-974F-EFF1FE1801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0449" y="3173457"/>
            <a:ext cx="858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Arial" panose="020B0604020202020204" pitchFamily="34" charset="0"/>
              </a:rPr>
              <a:t>4</a:t>
            </a:r>
            <a:r>
              <a:rPr kumimoji="1" lang="zh-CN" altLang="en-US" sz="2400" b="1">
                <a:solidFill>
                  <a:srgbClr val="FF3300"/>
                </a:solidFill>
                <a:latin typeface="Arial" panose="020B0604020202020204" pitchFamily="34" charset="0"/>
              </a:rPr>
              <a:t>个物理存储空间</a:t>
            </a:r>
            <a:endParaRPr kumimoji="1" lang="zh-CN" altLang="en-US" sz="2400">
              <a:latin typeface="Arial" panose="020B0604020202020204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DA19C19-4CC7-4BAF-AB3E-0700EF247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2361" y="3640182"/>
            <a:ext cx="88058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Arial" panose="020B0604020202020204" pitchFamily="34" charset="0"/>
              </a:rPr>
              <a:t>片内数据存储器、片外数据存储器、</a:t>
            </a:r>
            <a:endParaRPr kumimoji="1"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Arial" panose="020B0604020202020204" pitchFamily="34" charset="0"/>
              </a:rPr>
              <a:t>片内程序存储器、片外程序存储器</a:t>
            </a:r>
            <a:endParaRPr kumimoji="1" lang="en-US" altLang="zh-CN" sz="2400" dirty="0">
              <a:latin typeface="Arial" panose="020B0604020202020204" pitchFamily="34" charset="0"/>
            </a:endParaRPr>
          </a:p>
        </p:txBody>
      </p:sp>
      <p:pic>
        <p:nvPicPr>
          <p:cNvPr id="18" name="Picture 6" descr="单片机插图01-1">
            <a:extLst>
              <a:ext uri="{FF2B5EF4-FFF2-40B4-BE49-F238E27FC236}">
                <a16:creationId xmlns:a16="http://schemas.microsoft.com/office/drawing/2014/main" id="{8740DEB5-07C1-4636-BA33-6C0CF2F21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0"/>
          <a:stretch>
            <a:fillRect/>
          </a:stretch>
        </p:blipFill>
        <p:spPr bwMode="auto">
          <a:xfrm>
            <a:off x="7173912" y="2913031"/>
            <a:ext cx="5018088" cy="288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24">
            <a:extLst>
              <a:ext uri="{FF2B5EF4-FFF2-40B4-BE49-F238E27FC236}">
                <a16:creationId xmlns:a16="http://schemas.microsoft.com/office/drawing/2014/main" id="{825874A4-BBE0-4E9E-8DC5-F60C5AB56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2862" y="5938806"/>
            <a:ext cx="1150938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600" b="1">
                <a:latin typeface="Arial" panose="020B0604020202020204" pitchFamily="34" charset="0"/>
              </a:rPr>
              <a:t>程序存储器</a:t>
            </a:r>
            <a:r>
              <a:rPr kumimoji="1" lang="en-US" altLang="zh-CN" sz="1600" b="1">
                <a:latin typeface="Arial" panose="020B0604020202020204" pitchFamily="34" charset="0"/>
              </a:rPr>
              <a:t>ROM</a:t>
            </a:r>
          </a:p>
        </p:txBody>
      </p:sp>
      <p:sp>
        <p:nvSpPr>
          <p:cNvPr id="20" name="Text Box 25">
            <a:extLst>
              <a:ext uri="{FF2B5EF4-FFF2-40B4-BE49-F238E27FC236}">
                <a16:creationId xmlns:a16="http://schemas.microsoft.com/office/drawing/2014/main" id="{416FA5D9-249F-4443-9BBA-589E8D3F7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7162" y="5930868"/>
            <a:ext cx="1176338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600" b="1">
                <a:latin typeface="Arial" panose="020B0604020202020204" pitchFamily="34" charset="0"/>
              </a:rPr>
              <a:t>数据存储器</a:t>
            </a:r>
            <a:r>
              <a:rPr kumimoji="1" lang="en-US" altLang="zh-CN" sz="1600" b="1">
                <a:latin typeface="Arial" panose="020B0604020202020204" pitchFamily="34" charset="0"/>
              </a:rPr>
              <a:t>RAM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9BFE1CBE-417E-421C-A6C7-16F0DC42B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2787" y="3306731"/>
            <a:ext cx="1079500" cy="51435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B1762EAD-37AE-494F-AB48-581D0F211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5512" y="3297206"/>
            <a:ext cx="935038" cy="53181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55D96EE-0B4B-409F-B0EE-24FCA9D53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6975" y="5888006"/>
            <a:ext cx="1382712" cy="7016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67D836AD-4D28-4B3C-81D9-496F91037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25" y="5880068"/>
            <a:ext cx="1322387" cy="7096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550AC2C4-19BD-4C8A-A941-A4DF524EFD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0449" y="4658725"/>
            <a:ext cx="858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Arial" panose="020B0604020202020204" pitchFamily="34" charset="0"/>
              </a:rPr>
              <a:t>3</a:t>
            </a:r>
            <a:r>
              <a:rPr kumimoji="1" lang="zh-CN" altLang="en-US" sz="2400" b="1">
                <a:solidFill>
                  <a:srgbClr val="FF3300"/>
                </a:solidFill>
                <a:latin typeface="Arial" panose="020B0604020202020204" pitchFamily="34" charset="0"/>
              </a:rPr>
              <a:t>个逻辑存储空间</a:t>
            </a:r>
            <a:endParaRPr kumimoji="1" lang="zh-CN" altLang="en-US" sz="2400">
              <a:latin typeface="Arial" panose="020B0604020202020204" pitchFamily="34" charset="0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0945A70B-F5C4-4F1B-B7AE-577EDCA418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6962" y="5276262"/>
            <a:ext cx="8432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Arial" panose="020B0604020202020204" pitchFamily="34" charset="0"/>
              </a:rPr>
              <a:t>片内数据存储器、片外数据存储器、</a:t>
            </a:r>
            <a:endParaRPr kumimoji="1"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u="sng" dirty="0">
                <a:latin typeface="Arial" panose="020B0604020202020204" pitchFamily="34" charset="0"/>
              </a:rPr>
              <a:t>片内和片外程序存储器</a:t>
            </a:r>
            <a:endParaRPr kumimoji="1" lang="en-US" altLang="zh-CN" sz="2400" u="sng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8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存储器结构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2EBC4154-BD67-408B-ABCA-ACBC3DE40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667" y="1603797"/>
            <a:ext cx="51276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600" b="1" dirty="0">
                <a:latin typeface="Arial" panose="020B0604020202020204" pitchFamily="34" charset="0"/>
              </a:rPr>
              <a:t> </a:t>
            </a:r>
            <a:r>
              <a:rPr kumimoji="1" lang="zh-CN" altLang="en-US" sz="2400" b="1" dirty="0">
                <a:latin typeface="Arial" panose="020B0604020202020204" pitchFamily="34" charset="0"/>
              </a:rPr>
              <a:t>程序存储器</a:t>
            </a:r>
            <a:r>
              <a:rPr kumimoji="1" lang="en-US" altLang="zh-CN" sz="2400" b="1" dirty="0">
                <a:latin typeface="Arial" panose="020B0604020202020204" pitchFamily="34" charset="0"/>
              </a:rPr>
              <a:t>(ROM)</a:t>
            </a:r>
            <a:endParaRPr kumimoji="1" lang="en-US" altLang="zh-CN" sz="2400" dirty="0">
              <a:latin typeface="Arial" panose="020B0604020202020204" pitchFamily="34" charset="0"/>
            </a:endParaRPr>
          </a:p>
        </p:txBody>
      </p:sp>
      <p:pic>
        <p:nvPicPr>
          <p:cNvPr id="29" name="Picture 5">
            <a:extLst>
              <a:ext uri="{FF2B5EF4-FFF2-40B4-BE49-F238E27FC236}">
                <a16:creationId xmlns:a16="http://schemas.microsoft.com/office/drawing/2014/main" id="{DDEDFCD7-20D7-4942-AC07-0521EA89C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761" y="1139057"/>
            <a:ext cx="3841750" cy="532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F6EDB1F-1C85-407F-ABF2-62B974729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121" y="1697527"/>
            <a:ext cx="4504644" cy="371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79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存储器结构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2EBC4154-BD67-408B-ABCA-ACBC3DE40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667" y="1603797"/>
            <a:ext cx="5127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b="1" dirty="0">
                <a:latin typeface="Arial" panose="020B0604020202020204" pitchFamily="34" charset="0"/>
              </a:rPr>
              <a:t>片内数据存储器</a:t>
            </a:r>
            <a:r>
              <a:rPr kumimoji="1" lang="en-US" altLang="zh-CN" b="1" dirty="0">
                <a:latin typeface="Arial" panose="020B0604020202020204" pitchFamily="34" charset="0"/>
              </a:rPr>
              <a:t>(RAM)</a:t>
            </a:r>
            <a:endParaRPr kumimoji="1" lang="en-US" altLang="zh-CN" sz="2400" dirty="0">
              <a:latin typeface="Arial" panose="020B0604020202020204" pitchFamily="34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DBBF5FC-A970-49CA-968F-E9EC4AB76063}"/>
              </a:ext>
            </a:extLst>
          </p:cNvPr>
          <p:cNvGrpSpPr>
            <a:grpSpLocks/>
          </p:cNvGrpSpPr>
          <p:nvPr/>
        </p:nvGrpSpPr>
        <p:grpSpPr bwMode="auto">
          <a:xfrm>
            <a:off x="7081813" y="2372114"/>
            <a:ext cx="4819650" cy="3952875"/>
            <a:chOff x="4781550" y="1049338"/>
            <a:chExt cx="4819650" cy="3952875"/>
          </a:xfrm>
        </p:grpSpPr>
        <p:sp>
          <p:nvSpPr>
            <p:cNvPr id="12" name="矩形 12">
              <a:extLst>
                <a:ext uri="{FF2B5EF4-FFF2-40B4-BE49-F238E27FC236}">
                  <a16:creationId xmlns:a16="http://schemas.microsoft.com/office/drawing/2014/main" id="{DAF99E20-2B30-461A-BEDD-9E562C071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4825" y="1204913"/>
              <a:ext cx="1441450" cy="3771900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矩形 1">
              <a:extLst>
                <a:ext uri="{FF2B5EF4-FFF2-40B4-BE49-F238E27FC236}">
                  <a16:creationId xmlns:a16="http://schemas.microsoft.com/office/drawing/2014/main" id="{F755F144-DF29-486F-B110-57D04175B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1204913"/>
              <a:ext cx="1898650" cy="3709987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latin typeface="Arial" panose="020B0604020202020204" pitchFamily="34" charset="0"/>
              </a:endParaRPr>
            </a:p>
          </p:txBody>
        </p:sp>
        <p:graphicFrame>
          <p:nvGraphicFramePr>
            <p:cNvPr id="14" name="对象 1">
              <a:extLst>
                <a:ext uri="{FF2B5EF4-FFF2-40B4-BE49-F238E27FC236}">
                  <a16:creationId xmlns:a16="http://schemas.microsoft.com/office/drawing/2014/main" id="{40031213-0D60-4D58-9FAF-0BA5AA0745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1550" y="1049338"/>
            <a:ext cx="4819650" cy="3952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name="Visio" r:id="rId3" imgW="4822888" imgH="3952637" progId="Visio.Drawing.11">
                    <p:embed/>
                  </p:oleObj>
                </mc:Choice>
                <mc:Fallback>
                  <p:oleObj name="Visio" r:id="rId3" imgW="4822888" imgH="3952637" progId="Visio.Drawing.11">
                    <p:embed/>
                    <p:pic>
                      <p:nvPicPr>
                        <p:cNvPr id="76810" name="对象 1">
                          <a:extLst>
                            <a:ext uri="{FF2B5EF4-FFF2-40B4-BE49-F238E27FC236}">
                              <a16:creationId xmlns:a16="http://schemas.microsoft.com/office/drawing/2014/main" id="{FC82A276-008E-4658-8630-03CC5AC64B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1550" y="1049338"/>
                          <a:ext cx="4819650" cy="3952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10">
            <a:extLst>
              <a:ext uri="{FF2B5EF4-FFF2-40B4-BE49-F238E27FC236}">
                <a16:creationId xmlns:a16="http://schemas.microsoft.com/office/drawing/2014/main" id="{8C214145-254F-4F99-9624-01D94141AD51}"/>
              </a:ext>
            </a:extLst>
          </p:cNvPr>
          <p:cNvGrpSpPr>
            <a:grpSpLocks/>
          </p:cNvGrpSpPr>
          <p:nvPr/>
        </p:nvGrpSpPr>
        <p:grpSpPr bwMode="auto">
          <a:xfrm>
            <a:off x="499620" y="1977897"/>
            <a:ext cx="7782302" cy="830263"/>
            <a:chOff x="986" y="3306"/>
            <a:chExt cx="4155" cy="523"/>
          </a:xfrm>
        </p:grpSpPr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4F65A08C-6AE1-424B-9035-DC4B85E02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0" y="3306"/>
              <a:ext cx="4021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00H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～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7FH 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：为普通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RAM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区，也称为低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128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字节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RAM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。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80H</a:t>
              </a:r>
              <a:r>
                <a:rPr kumimoji="1" lang="zh-CN" altLang="en-U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～</a:t>
              </a:r>
              <a:r>
                <a:rPr kumimoji="1" lang="en-US" altLang="zh-CN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FFH</a:t>
              </a:r>
              <a:r>
                <a:rPr kumimoji="1" lang="zh-CN" altLang="en-U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：为特殊功能寄存器区，即</a:t>
              </a:r>
              <a:r>
                <a:rPr kumimoji="1" lang="en-US" altLang="zh-CN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SFR</a:t>
              </a:r>
              <a:r>
                <a:rPr kumimoji="1" lang="zh-CN" altLang="en-U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区。</a:t>
              </a:r>
            </a:p>
          </p:txBody>
        </p:sp>
        <p:sp>
          <p:nvSpPr>
            <p:cNvPr id="17" name="AutoShape 12">
              <a:extLst>
                <a:ext uri="{FF2B5EF4-FFF2-40B4-BE49-F238E27FC236}">
                  <a16:creationId xmlns:a16="http://schemas.microsoft.com/office/drawing/2014/main" id="{E7E57AED-EDB5-4E26-8DBA-66D53D73F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" y="3400"/>
              <a:ext cx="134" cy="336"/>
            </a:xfrm>
            <a:prstGeom prst="leftBrace">
              <a:avLst>
                <a:gd name="adj1" fmla="val 2089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C7970904-F7FD-4401-80FC-B32104822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62" y="2905090"/>
            <a:ext cx="5969000" cy="2372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lvl="1" eaLnBrk="1" hangingPunct="1">
              <a:lnSpc>
                <a:spcPct val="135000"/>
              </a:lnSpc>
              <a:buFontTx/>
              <a:buNone/>
            </a:pPr>
            <a:r>
              <a:rPr kumimoji="1" lang="zh-CN" altLang="en-US" dirty="0">
                <a:latin typeface="Arial" panose="020B0604020202020204" pitchFamily="34" charset="0"/>
              </a:rPr>
              <a:t>普通</a:t>
            </a:r>
            <a:r>
              <a:rPr kumimoji="1" lang="en-US" altLang="zh-CN" dirty="0">
                <a:latin typeface="Arial" panose="020B0604020202020204" pitchFamily="34" charset="0"/>
              </a:rPr>
              <a:t>RAM</a:t>
            </a:r>
            <a:r>
              <a:rPr kumimoji="1" lang="zh-CN" altLang="en-US" dirty="0">
                <a:latin typeface="Arial" panose="020B0604020202020204" pitchFamily="34" charset="0"/>
              </a:rPr>
              <a:t>区      </a:t>
            </a:r>
            <a:endParaRPr kumimoji="1" lang="en-US" altLang="zh-CN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35000"/>
              </a:lnSpc>
              <a:buFontTx/>
              <a:buNone/>
            </a:pPr>
            <a:r>
              <a:rPr kumimoji="1" lang="en-US" altLang="zh-CN" dirty="0">
                <a:latin typeface="Arial" panose="020B0604020202020204" pitchFamily="34" charset="0"/>
              </a:rPr>
              <a:t>     </a:t>
            </a:r>
            <a:r>
              <a:rPr kumimoji="1" lang="zh-CN" altLang="en-US" dirty="0">
                <a:latin typeface="Arial" panose="020B0604020202020204" pitchFamily="34" charset="0"/>
              </a:rPr>
              <a:t> </a:t>
            </a:r>
            <a:r>
              <a:rPr kumimoji="1" lang="zh-CN" altLang="en-US" sz="2000" dirty="0">
                <a:latin typeface="Arial" panose="020B0604020202020204" pitchFamily="34" charset="0"/>
              </a:rPr>
              <a:t>①</a:t>
            </a:r>
            <a:r>
              <a:rPr kumimoji="1" lang="zh-CN" altLang="en-US" dirty="0">
                <a:latin typeface="Arial" panose="020B0604020202020204" pitchFamily="34" charset="0"/>
              </a:rPr>
              <a:t>工作寄存器区（</a:t>
            </a:r>
            <a:r>
              <a:rPr kumimoji="1" lang="en-US" altLang="zh-CN" dirty="0">
                <a:latin typeface="Arial" panose="020B0604020202020204" pitchFamily="34" charset="0"/>
              </a:rPr>
              <a:t>00H</a:t>
            </a:r>
            <a:r>
              <a:rPr kumimoji="1" lang="en-US" altLang="en-US" dirty="0">
                <a:latin typeface="Arial" panose="020B0604020202020204" pitchFamily="34" charset="0"/>
              </a:rPr>
              <a:t>～</a:t>
            </a:r>
            <a:r>
              <a:rPr kumimoji="1" lang="en-US" altLang="zh-CN" dirty="0">
                <a:latin typeface="Arial" panose="020B0604020202020204" pitchFamily="34" charset="0"/>
              </a:rPr>
              <a:t>1FH</a:t>
            </a:r>
            <a:r>
              <a:rPr kumimoji="1" lang="zh-CN" altLang="en-US" dirty="0">
                <a:latin typeface="Arial" panose="020B0604020202020204" pitchFamily="34" charset="0"/>
              </a:rPr>
              <a:t>）</a:t>
            </a:r>
          </a:p>
          <a:p>
            <a:pPr lvl="1" eaLnBrk="1" hangingPunct="1">
              <a:lnSpc>
                <a:spcPct val="135000"/>
              </a:lnSpc>
              <a:buFontTx/>
              <a:buNone/>
            </a:pPr>
            <a:r>
              <a:rPr kumimoji="1" lang="zh-CN" altLang="en-US" dirty="0">
                <a:latin typeface="Arial" panose="020B0604020202020204" pitchFamily="34" charset="0"/>
              </a:rPr>
              <a:t>		 </a:t>
            </a:r>
            <a:r>
              <a:rPr kumimoji="1" lang="zh-CN" altLang="en-US" sz="2000" dirty="0">
                <a:latin typeface="Arial" panose="020B0604020202020204" pitchFamily="34" charset="0"/>
              </a:rPr>
              <a:t>②</a:t>
            </a:r>
            <a:r>
              <a:rPr kumimoji="1" lang="zh-CN" altLang="en-US" dirty="0">
                <a:latin typeface="Arial" panose="020B0604020202020204" pitchFamily="34" charset="0"/>
              </a:rPr>
              <a:t>可位寻址区（</a:t>
            </a:r>
            <a:r>
              <a:rPr kumimoji="1" lang="en-US" altLang="zh-CN" dirty="0">
                <a:latin typeface="Arial" panose="020B0604020202020204" pitchFamily="34" charset="0"/>
              </a:rPr>
              <a:t>20H</a:t>
            </a:r>
            <a:r>
              <a:rPr kumimoji="1" lang="en-US" altLang="en-US" dirty="0">
                <a:latin typeface="Arial" panose="020B0604020202020204" pitchFamily="34" charset="0"/>
              </a:rPr>
              <a:t>～</a:t>
            </a:r>
            <a:r>
              <a:rPr kumimoji="1" lang="en-US" altLang="zh-CN" dirty="0">
                <a:latin typeface="Arial" panose="020B0604020202020204" pitchFamily="34" charset="0"/>
              </a:rPr>
              <a:t>2FH</a:t>
            </a:r>
            <a:r>
              <a:rPr kumimoji="1" lang="zh-CN" altLang="en-US" dirty="0">
                <a:latin typeface="Arial" panose="020B0604020202020204" pitchFamily="34" charset="0"/>
              </a:rPr>
              <a:t>）</a:t>
            </a:r>
          </a:p>
          <a:p>
            <a:pPr lvl="1"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kumimoji="1" lang="zh-CN" altLang="en-US" dirty="0">
                <a:latin typeface="Arial" panose="020B0604020202020204" pitchFamily="34" charset="0"/>
              </a:rPr>
              <a:t>      </a:t>
            </a:r>
            <a:r>
              <a:rPr kumimoji="1" lang="zh-CN" altLang="en-US" sz="2000" dirty="0">
                <a:latin typeface="Arial" panose="020B0604020202020204" pitchFamily="34" charset="0"/>
              </a:rPr>
              <a:t>③</a:t>
            </a:r>
            <a:r>
              <a:rPr kumimoji="1" lang="zh-CN" altLang="en-US" dirty="0">
                <a:latin typeface="Arial" panose="020B0604020202020204" pitchFamily="34" charset="0"/>
              </a:rPr>
              <a:t>用户</a:t>
            </a:r>
            <a:r>
              <a:rPr kumimoji="1" lang="en-US" altLang="zh-CN" dirty="0">
                <a:latin typeface="Arial" panose="020B0604020202020204" pitchFamily="34" charset="0"/>
              </a:rPr>
              <a:t>RAM</a:t>
            </a:r>
            <a:r>
              <a:rPr kumimoji="1" lang="zh-CN" altLang="en-US" dirty="0">
                <a:latin typeface="Arial" panose="020B0604020202020204" pitchFamily="34" charset="0"/>
              </a:rPr>
              <a:t>区（</a:t>
            </a:r>
            <a:r>
              <a:rPr kumimoji="1" lang="en-US" altLang="zh-CN" dirty="0">
                <a:latin typeface="Arial" panose="020B0604020202020204" pitchFamily="34" charset="0"/>
              </a:rPr>
              <a:t>30H</a:t>
            </a:r>
            <a:r>
              <a:rPr kumimoji="1" lang="en-US" altLang="en-US" dirty="0">
                <a:latin typeface="Arial" panose="020B0604020202020204" pitchFamily="34" charset="0"/>
              </a:rPr>
              <a:t>～</a:t>
            </a:r>
            <a:r>
              <a:rPr kumimoji="1" lang="en-US" altLang="zh-CN" dirty="0">
                <a:latin typeface="Arial" panose="020B0604020202020204" pitchFamily="34" charset="0"/>
              </a:rPr>
              <a:t>7FH</a:t>
            </a:r>
            <a:r>
              <a:rPr kumimoji="1" lang="zh-CN" altLang="en-US" dirty="0">
                <a:latin typeface="Arial" panose="020B0604020202020204" pitchFamily="34" charset="0"/>
              </a:rPr>
              <a:t>）</a:t>
            </a:r>
          </a:p>
        </p:txBody>
      </p:sp>
      <p:pic>
        <p:nvPicPr>
          <p:cNvPr id="19" name="Picture 10">
            <a:extLst>
              <a:ext uri="{FF2B5EF4-FFF2-40B4-BE49-F238E27FC236}">
                <a16:creationId xmlns:a16="http://schemas.microsoft.com/office/drawing/2014/main" id="{DA23E254-1725-4944-BAD5-DF61B52F5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49" y="5277239"/>
            <a:ext cx="6234023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548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并口结构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25C155C1-82B4-446C-A124-2C3E1A75D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949" y="1637087"/>
            <a:ext cx="3173412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3">
            <a:extLst>
              <a:ext uri="{FF2B5EF4-FFF2-40B4-BE49-F238E27FC236}">
                <a16:creationId xmlns:a16="http://schemas.microsoft.com/office/drawing/2014/main" id="{53499D7A-1C12-448E-BE6B-EC9C0BA51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9599" y="2173662"/>
            <a:ext cx="53721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P1</a:t>
            </a:r>
            <a:r>
              <a:rPr lang="zh-CN" altLang="en-US" sz="2000" dirty="0">
                <a:latin typeface="Arial" panose="020B0604020202020204" pitchFamily="34" charset="0"/>
              </a:rPr>
              <a:t>：通用输入输出口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P0</a:t>
            </a:r>
            <a:r>
              <a:rPr lang="zh-CN" altLang="en-US" sz="2000" dirty="0">
                <a:latin typeface="Arial" panose="020B0604020202020204" pitchFamily="34" charset="0"/>
              </a:rPr>
              <a:t>：通用输入输出口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地址总线低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8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位输出口，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数据总线口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P2</a:t>
            </a:r>
            <a:r>
              <a:rPr lang="zh-CN" altLang="en-US" sz="2000" dirty="0">
                <a:latin typeface="Arial" panose="020B0604020202020204" pitchFamily="34" charset="0"/>
              </a:rPr>
              <a:t>：通用输入输出口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地址总线高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8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位输出口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P3</a:t>
            </a:r>
            <a:r>
              <a:rPr lang="zh-CN" altLang="en-US" sz="2000" dirty="0">
                <a:latin typeface="Arial" panose="020B0604020202020204" pitchFamily="34" charset="0"/>
              </a:rPr>
              <a:t>：通用输入输出口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/RD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/WR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：外部数据存储器读写控制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 /INT0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/INT1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：外部中断信号输入引脚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T0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T1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：计数信号输入引脚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RXD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TXD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：串行通信口接收、发送引脚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F79F7F1E-B78A-429C-B8A1-D96D35339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24" y="1532312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个端口的功能与用途：</a:t>
            </a:r>
          </a:p>
        </p:txBody>
      </p:sp>
    </p:spTree>
    <p:extLst>
      <p:ext uri="{BB962C8B-B14F-4D97-AF65-F5344CB8AC3E}">
        <p14:creationId xmlns:p14="http://schemas.microsoft.com/office/powerpoint/2010/main" val="9764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并口结构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FA2645E-0C23-4C47-9F0A-FD1CC99E9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347" y="1049249"/>
            <a:ext cx="5995987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E5A75700-9C78-4354-8B0D-E3E1FE9A3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49" y="1828219"/>
            <a:ext cx="3284538" cy="531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179388" indent="277813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kumimoji="1" lang="en-US" altLang="zh-CN" sz="26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P1</a:t>
            </a:r>
            <a:r>
              <a:rPr kumimoji="1" lang="zh-CN" altLang="en-US" sz="26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口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D8F0233-4DC9-45D4-9036-4F2C2948A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823" y="4121062"/>
            <a:ext cx="3284538" cy="51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P1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口应用注意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0C6AC2E-AFAC-4D61-8E22-F5123BB5D28F}"/>
              </a:ext>
            </a:extLst>
          </p:cNvPr>
          <p:cNvSpPr txBox="1">
            <a:spLocks noChangeArrowheads="1"/>
          </p:cNvSpPr>
          <p:nvPr/>
        </p:nvSpPr>
        <p:spPr>
          <a:xfrm>
            <a:off x="420099" y="4638587"/>
            <a:ext cx="8805862" cy="2354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P1</a:t>
            </a:r>
            <a:r>
              <a:rPr lang="zh-CN" altLang="en-US" sz="2400" b="1" dirty="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口作为输出口使用时，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无需外接上拉电阻</a:t>
            </a:r>
            <a:r>
              <a:rPr lang="zh-CN" altLang="en-US" sz="2400" b="1" dirty="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P1</a:t>
            </a:r>
            <a:r>
              <a:rPr lang="zh-CN" altLang="en-US" sz="2400" b="1" dirty="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口作为输入口使用时，应区分读引脚和读端口。</a:t>
            </a:r>
            <a:br>
              <a:rPr lang="en-US" altLang="zh-CN" sz="2400" b="1" dirty="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2400" b="1" dirty="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读引脚时，必须先向电路中的锁存器写入“</a:t>
            </a:r>
            <a:r>
              <a:rPr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1”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en-US" sz="2400" b="1" dirty="0">
                <a:solidFill>
                  <a:srgbClr val="08080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使输出级的场效应管截止。</a:t>
            </a:r>
          </a:p>
        </p:txBody>
      </p:sp>
    </p:spTree>
    <p:extLst>
      <p:ext uri="{BB962C8B-B14F-4D97-AF65-F5344CB8AC3E}">
        <p14:creationId xmlns:p14="http://schemas.microsoft.com/office/powerpoint/2010/main" val="145523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二、内部结构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并口结构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DAA600F-38DE-47F8-90F7-11E2F3472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65" y="1734549"/>
            <a:ext cx="5431754" cy="526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179388" indent="277813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P0</a:t>
            </a:r>
            <a:r>
              <a:rPr kumimoji="1"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口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A193C2B4-19D2-4460-95D6-88C8D1EBA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990" y="711599"/>
            <a:ext cx="6153150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3">
            <a:extLst>
              <a:ext uri="{FF2B5EF4-FFF2-40B4-BE49-F238E27FC236}">
                <a16:creationId xmlns:a16="http://schemas.microsoft.com/office/drawing/2014/main" id="{CB56716F-6344-4B8A-98BC-349E0CD44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59" y="2491705"/>
            <a:ext cx="11634780" cy="3972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P0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口可作通用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I / O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口使用，</a:t>
            </a:r>
            <a:endParaRPr kumimoji="1"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又可作地址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数据总线口；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作地址</a:t>
            </a: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数据总线口时，</a:t>
            </a:r>
            <a:r>
              <a:rPr kumimoji="1"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P0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endParaRPr kumimoji="1" lang="en-US" altLang="zh-CN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一真正双向口，用作与外部存储器的连接，输出低</a:t>
            </a:r>
            <a:r>
              <a:rPr kumimoji="1"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8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位地址和输出</a:t>
            </a:r>
            <a:r>
              <a:rPr kumimoji="1"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输入</a:t>
            </a:r>
            <a:r>
              <a:rPr kumimoji="1"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8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位数据。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P0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口作通用</a:t>
            </a: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 / O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口时，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输出是开漏输出，需要在片外接上拉电阻；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端口不存在高阻抗状态，只是一个准双向口。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为保证引脚信号的正确读入，应首先向锁存器写</a:t>
            </a:r>
            <a:r>
              <a:rPr kumimoji="1"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kumimoji="1" lang="en-US" altLang="zh-CN" sz="24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单片机复位后，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锁存器自动被置</a:t>
            </a:r>
            <a:r>
              <a:rPr kumimoji="1"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当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P0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口由输出状态变为输入状态时，应首先置锁存器为</a:t>
            </a:r>
            <a:r>
              <a:rPr kumimoji="1"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kumimoji="1"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，方可执行输入操作。</a:t>
            </a:r>
          </a:p>
        </p:txBody>
      </p:sp>
    </p:spTree>
    <p:extLst>
      <p:ext uri="{BB962C8B-B14F-4D97-AF65-F5344CB8AC3E}">
        <p14:creationId xmlns:p14="http://schemas.microsoft.com/office/powerpoint/2010/main" val="305363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三、指令系统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D9D79D2-6BA2-447F-AD67-AC7C72F64B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3189" y="1819897"/>
            <a:ext cx="8531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400">
                <a:latin typeface="Arial" charset="0"/>
                <a:ea typeface="黑体" pitchFamily="49" charset="-122"/>
              </a:rPr>
              <a:t>一条汇编语言指令中最多包含</a:t>
            </a:r>
            <a:r>
              <a:rPr kumimoji="1" lang="en-US" altLang="zh-CN" sz="2400">
                <a:latin typeface="Arial" charset="0"/>
                <a:ea typeface="黑体" pitchFamily="49" charset="-122"/>
              </a:rPr>
              <a:t>4</a:t>
            </a:r>
            <a:r>
              <a:rPr kumimoji="1" lang="zh-CN" altLang="en-US" sz="2400">
                <a:latin typeface="Arial" charset="0"/>
                <a:ea typeface="黑体" pitchFamily="49" charset="-122"/>
              </a:rPr>
              <a:t>个区段，其一般格式为：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FA53C56-79D7-4DBA-9FD8-35A10A250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671413"/>
              </p:ext>
            </p:extLst>
          </p:nvPr>
        </p:nvGraphicFramePr>
        <p:xfrm>
          <a:off x="1624226" y="2851772"/>
          <a:ext cx="6604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[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标号：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]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操作码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[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操作数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]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[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；注释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]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矩形 2">
            <a:extLst>
              <a:ext uri="{FF2B5EF4-FFF2-40B4-BE49-F238E27FC236}">
                <a16:creationId xmlns:a16="http://schemas.microsoft.com/office/drawing/2014/main" id="{1231D6BA-41FF-4C87-8243-707837023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851" y="3829672"/>
            <a:ext cx="805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rgbClr val="CC0000"/>
                </a:solidFill>
                <a:latin typeface="Arial" charset="0"/>
                <a:ea typeface="黑体" pitchFamily="49" charset="-122"/>
              </a:rPr>
              <a:t>START:</a:t>
            </a:r>
            <a:r>
              <a:rPr kumimoji="1" lang="en-US" altLang="zh-CN" sz="2400" b="1">
                <a:latin typeface="Arial" charset="0"/>
                <a:ea typeface="黑体" pitchFamily="49" charset="-122"/>
              </a:rPr>
              <a:t>       </a:t>
            </a:r>
            <a:r>
              <a:rPr kumimoji="1" lang="en-US" altLang="zh-CN" sz="2400" b="1">
                <a:solidFill>
                  <a:srgbClr val="2D2D8A"/>
                </a:solidFill>
                <a:latin typeface="Arial" charset="0"/>
                <a:ea typeface="黑体" pitchFamily="49" charset="-122"/>
              </a:rPr>
              <a:t>MOV </a:t>
            </a:r>
            <a:r>
              <a:rPr kumimoji="1" lang="en-US" altLang="zh-CN" sz="2400" b="1">
                <a:latin typeface="Arial" charset="0"/>
                <a:ea typeface="黑体" pitchFamily="49" charset="-122"/>
              </a:rPr>
              <a:t>           </a:t>
            </a:r>
            <a:r>
              <a:rPr kumimoji="1" lang="en-US" altLang="zh-CN" sz="2400" b="1">
                <a:solidFill>
                  <a:srgbClr val="00B050"/>
                </a:solidFill>
                <a:latin typeface="Arial" charset="0"/>
                <a:ea typeface="黑体" pitchFamily="49" charset="-122"/>
              </a:rPr>
              <a:t>A,  #12H      </a:t>
            </a:r>
            <a:r>
              <a:rPr kumimoji="1" lang="en-US" altLang="zh-CN" sz="2400" b="1">
                <a:latin typeface="Arial" charset="0"/>
                <a:ea typeface="黑体" pitchFamily="49" charset="-122"/>
              </a:rPr>
              <a:t>;   </a:t>
            </a:r>
            <a:r>
              <a:rPr kumimoji="1" lang="zh-CN" altLang="en-US" sz="2400" b="1">
                <a:solidFill>
                  <a:srgbClr val="6B6BCF"/>
                </a:solidFill>
                <a:latin typeface="Arial" charset="0"/>
                <a:ea typeface="黑体" pitchFamily="49" charset="-122"/>
              </a:rPr>
              <a:t>机器码 </a:t>
            </a:r>
            <a:r>
              <a:rPr kumimoji="1" lang="en-US" altLang="zh-CN" sz="2400" b="1">
                <a:solidFill>
                  <a:srgbClr val="6B6BCF"/>
                </a:solidFill>
                <a:latin typeface="Arial" charset="0"/>
                <a:ea typeface="黑体" pitchFamily="49" charset="-122"/>
              </a:rPr>
              <a:t>74 12 H</a:t>
            </a:r>
            <a:endParaRPr lang="zh-CN" altLang="en-US" sz="2400" b="1">
              <a:solidFill>
                <a:srgbClr val="6B6BCF"/>
              </a:solidFill>
              <a:latin typeface="Arial" charset="0"/>
              <a:ea typeface="黑体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06BCED-02B2-4A9D-8CEE-D78C4A4E6072}"/>
              </a:ext>
            </a:extLst>
          </p:cNvPr>
          <p:cNvSpPr txBox="1"/>
          <p:nvPr/>
        </p:nvSpPr>
        <p:spPr>
          <a:xfrm>
            <a:off x="1032235" y="124998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3.1</a:t>
            </a:r>
            <a:r>
              <a:rPr lang="zh-CN" altLang="en-US" sz="2400" b="1" dirty="0"/>
              <a:t>指令格式</a:t>
            </a:r>
          </a:p>
        </p:txBody>
      </p:sp>
    </p:spTree>
    <p:extLst>
      <p:ext uri="{BB962C8B-B14F-4D97-AF65-F5344CB8AC3E}">
        <p14:creationId xmlns:p14="http://schemas.microsoft.com/office/powerpoint/2010/main" val="1697473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三、指令系统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D9D79D2-6BA2-447F-AD67-AC7C72F64B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3189" y="1819897"/>
            <a:ext cx="85312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400">
                <a:latin typeface="Arial" charset="0"/>
                <a:ea typeface="黑体" pitchFamily="49" charset="-122"/>
              </a:rPr>
              <a:t>一条汇编语言指令中最多包含</a:t>
            </a:r>
            <a:r>
              <a:rPr kumimoji="1" lang="en-US" altLang="zh-CN" sz="2400">
                <a:latin typeface="Arial" charset="0"/>
                <a:ea typeface="黑体" pitchFamily="49" charset="-122"/>
              </a:rPr>
              <a:t>4</a:t>
            </a:r>
            <a:r>
              <a:rPr kumimoji="1" lang="zh-CN" altLang="en-US" sz="2400">
                <a:latin typeface="Arial" charset="0"/>
                <a:ea typeface="黑体" pitchFamily="49" charset="-122"/>
              </a:rPr>
              <a:t>个区段，其一般格式为：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FA53C56-79D7-4DBA-9FD8-35A10A250FD6}"/>
              </a:ext>
            </a:extLst>
          </p:cNvPr>
          <p:cNvGraphicFramePr>
            <a:graphicFrameLocks noGrp="1"/>
          </p:cNvGraphicFramePr>
          <p:nvPr/>
        </p:nvGraphicFramePr>
        <p:xfrm>
          <a:off x="1624226" y="2851772"/>
          <a:ext cx="6604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[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标号：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]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操作码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[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操作数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]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[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；注释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a typeface="黑体" panose="02010609060101010101" pitchFamily="49" charset="-122"/>
                        </a:rPr>
                        <a:t>]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矩形 2">
            <a:extLst>
              <a:ext uri="{FF2B5EF4-FFF2-40B4-BE49-F238E27FC236}">
                <a16:creationId xmlns:a16="http://schemas.microsoft.com/office/drawing/2014/main" id="{1231D6BA-41FF-4C87-8243-707837023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851" y="3829672"/>
            <a:ext cx="805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rgbClr val="CC0000"/>
                </a:solidFill>
                <a:latin typeface="Arial" charset="0"/>
                <a:ea typeface="黑体" pitchFamily="49" charset="-122"/>
              </a:rPr>
              <a:t>START:</a:t>
            </a:r>
            <a:r>
              <a:rPr kumimoji="1" lang="en-US" altLang="zh-CN" sz="2400" b="1">
                <a:latin typeface="Arial" charset="0"/>
                <a:ea typeface="黑体" pitchFamily="49" charset="-122"/>
              </a:rPr>
              <a:t>       </a:t>
            </a:r>
            <a:r>
              <a:rPr kumimoji="1" lang="en-US" altLang="zh-CN" sz="2400" b="1">
                <a:solidFill>
                  <a:srgbClr val="2D2D8A"/>
                </a:solidFill>
                <a:latin typeface="Arial" charset="0"/>
                <a:ea typeface="黑体" pitchFamily="49" charset="-122"/>
              </a:rPr>
              <a:t>MOV </a:t>
            </a:r>
            <a:r>
              <a:rPr kumimoji="1" lang="en-US" altLang="zh-CN" sz="2400" b="1">
                <a:latin typeface="Arial" charset="0"/>
                <a:ea typeface="黑体" pitchFamily="49" charset="-122"/>
              </a:rPr>
              <a:t>           </a:t>
            </a:r>
            <a:r>
              <a:rPr kumimoji="1" lang="en-US" altLang="zh-CN" sz="2400" b="1">
                <a:solidFill>
                  <a:srgbClr val="00B050"/>
                </a:solidFill>
                <a:latin typeface="Arial" charset="0"/>
                <a:ea typeface="黑体" pitchFamily="49" charset="-122"/>
              </a:rPr>
              <a:t>A,  #12H      </a:t>
            </a:r>
            <a:r>
              <a:rPr kumimoji="1" lang="en-US" altLang="zh-CN" sz="2400" b="1">
                <a:latin typeface="Arial" charset="0"/>
                <a:ea typeface="黑体" pitchFamily="49" charset="-122"/>
              </a:rPr>
              <a:t>;   </a:t>
            </a:r>
            <a:r>
              <a:rPr kumimoji="1" lang="zh-CN" altLang="en-US" sz="2400" b="1">
                <a:solidFill>
                  <a:srgbClr val="6B6BCF"/>
                </a:solidFill>
                <a:latin typeface="Arial" charset="0"/>
                <a:ea typeface="黑体" pitchFamily="49" charset="-122"/>
              </a:rPr>
              <a:t>机器码 </a:t>
            </a:r>
            <a:r>
              <a:rPr kumimoji="1" lang="en-US" altLang="zh-CN" sz="2400" b="1">
                <a:solidFill>
                  <a:srgbClr val="6B6BCF"/>
                </a:solidFill>
                <a:latin typeface="Arial" charset="0"/>
                <a:ea typeface="黑体" pitchFamily="49" charset="-122"/>
              </a:rPr>
              <a:t>74 12 H</a:t>
            </a:r>
            <a:endParaRPr lang="zh-CN" altLang="en-US" sz="2400" b="1">
              <a:solidFill>
                <a:srgbClr val="6B6BCF"/>
              </a:solidFill>
              <a:latin typeface="Arial" charset="0"/>
              <a:ea typeface="黑体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06BCED-02B2-4A9D-8CEE-D78C4A4E6072}"/>
              </a:ext>
            </a:extLst>
          </p:cNvPr>
          <p:cNvSpPr txBox="1"/>
          <p:nvPr/>
        </p:nvSpPr>
        <p:spPr>
          <a:xfrm>
            <a:off x="1032235" y="124998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3.1</a:t>
            </a:r>
            <a:r>
              <a:rPr lang="zh-CN" altLang="en-US" sz="2400" b="1" dirty="0"/>
              <a:t>指令格式</a:t>
            </a:r>
          </a:p>
        </p:txBody>
      </p:sp>
    </p:spTree>
    <p:extLst>
      <p:ext uri="{BB962C8B-B14F-4D97-AF65-F5344CB8AC3E}">
        <p14:creationId xmlns:p14="http://schemas.microsoft.com/office/powerpoint/2010/main" val="3685008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三、指令系统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06BCED-02B2-4A9D-8CEE-D78C4A4E6072}"/>
              </a:ext>
            </a:extLst>
          </p:cNvPr>
          <p:cNvSpPr txBox="1"/>
          <p:nvPr/>
        </p:nvSpPr>
        <p:spPr>
          <a:xfrm>
            <a:off x="1032235" y="124998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3.2</a:t>
            </a:r>
            <a:r>
              <a:rPr lang="zh-CN" altLang="en-US" sz="2400" b="1" dirty="0"/>
              <a:t>寻址方式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0FD650E-DA74-4790-B178-275AB2196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62541"/>
              </p:ext>
            </p:extLst>
          </p:nvPr>
        </p:nvGraphicFramePr>
        <p:xfrm>
          <a:off x="3070880" y="1054329"/>
          <a:ext cx="8610600" cy="5511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9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0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0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90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寻址方式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使用变量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寻址空间</a:t>
                      </a: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立即寻址</a:t>
                      </a:r>
                    </a:p>
                  </a:txBody>
                  <a:tcPr marL="68580" marR="6858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 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程序存储器区</a:t>
                      </a:r>
                    </a:p>
                  </a:txBody>
                  <a:tcPr marL="68580" marR="6858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7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直接寻址</a:t>
                      </a: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 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片内低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128BRAM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区（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00H-7FH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）；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SFR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区</a:t>
                      </a:r>
                    </a:p>
                  </a:txBody>
                  <a:tcPr marL="68580" marR="6858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45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寄存器寻址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R0-R7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，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A 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B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（仅限于 乘、除法指令）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C 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（布尔寄存器）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DPTR 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（仅限于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16bits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数据传送）</a:t>
                      </a:r>
                    </a:p>
                  </a:txBody>
                  <a:tcPr marL="68580" marR="68580" marT="0" marB="0"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工作寄存器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A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，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B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，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C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，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  <a:cs typeface="+mn-cs"/>
                        </a:rPr>
                        <a:t>DPTR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0729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寄存器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间接寻址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@R0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@R1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 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片内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RAM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（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00H-7FH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）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52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系列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MCU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高端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RAM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（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80H-FFH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）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9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@SP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堆栈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9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@R0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@R1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@DPTR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片外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RAM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区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90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变址寻址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A+DPTR ;  A+PC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程序存储器区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90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相对寻址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PC + </a:t>
                      </a: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rel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程序存储器区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38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位寻址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 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片内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RAM 20H-2FH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SFR</a:t>
                      </a: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黑体" panose="02010609060101010101" pitchFamily="49" charset="-122"/>
                        </a:rPr>
                        <a:t>区中的某些位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445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三、指令系统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06BCED-02B2-4A9D-8CEE-D78C4A4E6072}"/>
              </a:ext>
            </a:extLst>
          </p:cNvPr>
          <p:cNvSpPr txBox="1"/>
          <p:nvPr/>
        </p:nvSpPr>
        <p:spPr>
          <a:xfrm>
            <a:off x="1032235" y="124998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3.3</a:t>
            </a:r>
            <a:r>
              <a:rPr lang="zh-CN" altLang="en-US" sz="2400" b="1" dirty="0"/>
              <a:t>指令部分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C0126C7-0546-4F7B-91A0-6F7D16E32F69}"/>
              </a:ext>
            </a:extLst>
          </p:cNvPr>
          <p:cNvSpPr txBox="1">
            <a:spLocks noChangeArrowheads="1"/>
          </p:cNvSpPr>
          <p:nvPr/>
        </p:nvSpPr>
        <p:spPr>
          <a:xfrm>
            <a:off x="1490221" y="5122539"/>
            <a:ext cx="8915400" cy="1525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Wingdings 2" pitchFamily="18" charset="2"/>
              <a:buNone/>
            </a:pPr>
            <a:r>
              <a:rPr lang="zh-CN" altLang="en-US"/>
              <a:t>单机器周期指令有</a:t>
            </a:r>
            <a:r>
              <a:rPr lang="en-US" altLang="zh-CN"/>
              <a:t>64</a:t>
            </a:r>
            <a:r>
              <a:rPr lang="zh-CN" altLang="en-US"/>
              <a:t>条；</a:t>
            </a:r>
          </a:p>
          <a:p>
            <a:pPr marL="457200" lvl="1" indent="0">
              <a:buFont typeface="Wingdings 2" pitchFamily="18" charset="2"/>
              <a:buNone/>
            </a:pPr>
            <a:r>
              <a:rPr lang="zh-CN" altLang="en-US"/>
              <a:t>双机器周期指令有</a:t>
            </a:r>
            <a:r>
              <a:rPr lang="en-US" altLang="zh-CN"/>
              <a:t>45</a:t>
            </a:r>
            <a:r>
              <a:rPr lang="zh-CN" altLang="en-US"/>
              <a:t>条；</a:t>
            </a:r>
          </a:p>
          <a:p>
            <a:pPr marL="457200" lvl="1" indent="0">
              <a:buFont typeface="Wingdings 2" pitchFamily="18" charset="2"/>
              <a:buNone/>
            </a:pPr>
            <a:r>
              <a:rPr lang="zh-CN" altLang="en-US"/>
              <a:t>四机器周期指令有</a:t>
            </a:r>
            <a:r>
              <a:rPr lang="en-US" altLang="zh-CN"/>
              <a:t>2</a:t>
            </a:r>
            <a:r>
              <a:rPr lang="zh-CN" altLang="en-US"/>
              <a:t>条。</a:t>
            </a:r>
          </a:p>
          <a:p>
            <a:endParaRPr lang="zh-CN" altLang="en-US"/>
          </a:p>
        </p:txBody>
      </p:sp>
      <p:sp>
        <p:nvSpPr>
          <p:cNvPr id="9" name="矩形 1">
            <a:extLst>
              <a:ext uri="{FF2B5EF4-FFF2-40B4-BE49-F238E27FC236}">
                <a16:creationId xmlns:a16="http://schemas.microsoft.com/office/drawing/2014/main" id="{9EBD9D21-1C8B-45F6-9957-BC995BA3C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521" y="1949126"/>
            <a:ext cx="5672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latin typeface="Arial" charset="0"/>
                <a:ea typeface="黑体" pitchFamily="49" charset="-122"/>
              </a:rPr>
              <a:t>MCS-51</a:t>
            </a:r>
            <a:r>
              <a:rPr lang="zh-CN" altLang="en-US" sz="2800">
                <a:latin typeface="Arial" charset="0"/>
                <a:ea typeface="黑体" pitchFamily="49" charset="-122"/>
              </a:rPr>
              <a:t>的指令系统共有</a:t>
            </a:r>
            <a:r>
              <a:rPr lang="en-US" altLang="zh-CN" sz="2800">
                <a:latin typeface="Arial" charset="0"/>
                <a:ea typeface="黑体" pitchFamily="49" charset="-122"/>
              </a:rPr>
              <a:t>111</a:t>
            </a:r>
            <a:r>
              <a:rPr lang="zh-CN" altLang="en-US" sz="2800">
                <a:latin typeface="Arial" charset="0"/>
                <a:ea typeface="黑体" pitchFamily="49" charset="-122"/>
              </a:rPr>
              <a:t>条指令</a:t>
            </a:r>
            <a:endParaRPr lang="en-US" altLang="zh-CN" sz="2800">
              <a:latin typeface="Arial" charset="0"/>
              <a:ea typeface="黑体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D45A62-DBC4-48D0-9FFC-B6631B720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271" y="3238176"/>
            <a:ext cx="495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/>
            <a:r>
              <a:rPr lang="zh-CN" altLang="en-US" sz="2400" dirty="0">
                <a:latin typeface="Arial" charset="0"/>
                <a:ea typeface="黑体" pitchFamily="49" charset="-122"/>
              </a:rPr>
              <a:t>单字节指令</a:t>
            </a:r>
            <a:r>
              <a:rPr lang="en-US" altLang="zh-CN" sz="2400" dirty="0">
                <a:latin typeface="Arial" charset="0"/>
                <a:ea typeface="黑体" pitchFamily="49" charset="-122"/>
              </a:rPr>
              <a:t>49</a:t>
            </a:r>
            <a:r>
              <a:rPr lang="zh-CN" altLang="en-US" sz="2400" dirty="0">
                <a:latin typeface="Arial" charset="0"/>
                <a:ea typeface="黑体" pitchFamily="49" charset="-122"/>
              </a:rPr>
              <a:t>条；</a:t>
            </a:r>
          </a:p>
          <a:p>
            <a:pPr lvl="1"/>
            <a:r>
              <a:rPr lang="zh-CN" altLang="en-US" sz="2400" dirty="0">
                <a:latin typeface="Arial" charset="0"/>
                <a:ea typeface="黑体" pitchFamily="49" charset="-122"/>
              </a:rPr>
              <a:t>双字节指令</a:t>
            </a:r>
            <a:r>
              <a:rPr lang="en-US" altLang="zh-CN" sz="2400" dirty="0">
                <a:latin typeface="Arial" charset="0"/>
                <a:ea typeface="黑体" pitchFamily="49" charset="-122"/>
              </a:rPr>
              <a:t>46</a:t>
            </a:r>
            <a:r>
              <a:rPr lang="zh-CN" altLang="en-US" sz="2400" dirty="0">
                <a:latin typeface="Arial" charset="0"/>
                <a:ea typeface="黑体" pitchFamily="49" charset="-122"/>
              </a:rPr>
              <a:t>条；</a:t>
            </a:r>
          </a:p>
          <a:p>
            <a:pPr lvl="1"/>
            <a:r>
              <a:rPr lang="zh-CN" altLang="en-US" sz="2400" dirty="0">
                <a:latin typeface="Arial" charset="0"/>
                <a:ea typeface="黑体" pitchFamily="49" charset="-122"/>
              </a:rPr>
              <a:t>三字节指令</a:t>
            </a:r>
            <a:r>
              <a:rPr lang="en-US" altLang="zh-CN" sz="2400" dirty="0">
                <a:latin typeface="Arial" charset="0"/>
                <a:ea typeface="黑体" pitchFamily="49" charset="-122"/>
              </a:rPr>
              <a:t>16</a:t>
            </a:r>
            <a:r>
              <a:rPr lang="zh-CN" altLang="en-US" sz="2400" dirty="0">
                <a:latin typeface="Arial" charset="0"/>
                <a:ea typeface="黑体" pitchFamily="49" charset="-122"/>
              </a:rPr>
              <a:t>条。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DCAA99-63C5-4916-A494-0F1E2D04C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059" y="2680964"/>
            <a:ext cx="3878262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rgbClr val="0000FF"/>
                </a:solidFill>
                <a:latin typeface="Arial" pitchFamily="34" charset="0"/>
              </a:rPr>
              <a:t>按指令字节长度分：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8B22AA-BF38-4CCC-8A0C-0848F7276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521" y="4622476"/>
            <a:ext cx="4237038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rgbClr val="0000FF"/>
                </a:solidFill>
                <a:latin typeface="Arial" pitchFamily="34" charset="0"/>
              </a:rPr>
              <a:t>按指令执行的时间分：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160A66-F580-4A1B-8597-99818710C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371" y="2658739"/>
            <a:ext cx="3878263" cy="5667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spcBef>
                <a:spcPct val="0"/>
              </a:spcBef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rgbClr val="0000FF"/>
                </a:solidFill>
                <a:latin typeface="Arial" pitchFamily="34" charset="0"/>
              </a:rPr>
              <a:t>按功能可分为五类：</a:t>
            </a:r>
          </a:p>
        </p:txBody>
      </p:sp>
    </p:spTree>
    <p:extLst>
      <p:ext uri="{BB962C8B-B14F-4D97-AF65-F5344CB8AC3E}">
        <p14:creationId xmlns:p14="http://schemas.microsoft.com/office/powerpoint/2010/main" val="307381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/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四、汇编语言程序设计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06BCED-02B2-4A9D-8CEE-D78C4A4E6072}"/>
              </a:ext>
            </a:extLst>
          </p:cNvPr>
          <p:cNvSpPr txBox="1"/>
          <p:nvPr/>
        </p:nvSpPr>
        <p:spPr>
          <a:xfrm>
            <a:off x="900259" y="105598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4.1</a:t>
            </a:r>
            <a:r>
              <a:rPr lang="zh-CN" altLang="en-US" sz="2400" b="1" dirty="0"/>
              <a:t>伪指令部分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D88FD2-50DB-4F9C-8595-827A1C554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622" y="1838161"/>
            <a:ext cx="8942388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/>
              <a:t>ORG</a:t>
            </a:r>
            <a:r>
              <a:rPr lang="zh-CN" altLang="zh-CN" sz="2400" b="1" dirty="0"/>
              <a:t>：</a:t>
            </a:r>
            <a:r>
              <a:rPr lang="en-US" altLang="zh-CN" sz="2400" b="1" dirty="0"/>
              <a:t> </a:t>
            </a:r>
            <a:r>
              <a:rPr lang="zh-CN" altLang="zh-CN" sz="2400" b="1" dirty="0"/>
              <a:t>指定语句行装载的起始地址，</a:t>
            </a:r>
            <a:r>
              <a:rPr lang="zh-CN" altLang="zh-CN" sz="2400" b="1" dirty="0">
                <a:solidFill>
                  <a:srgbClr val="FF0000"/>
                </a:solidFill>
              </a:rPr>
              <a:t>可以在同一文件中出现多次。</a:t>
            </a:r>
          </a:p>
          <a:p>
            <a:pPr eaLnBrk="1" hangingPunct="1"/>
            <a:r>
              <a:rPr lang="en-US" altLang="zh-CN" sz="2400" b="1" dirty="0"/>
              <a:t>END</a:t>
            </a:r>
            <a:r>
              <a:rPr lang="zh-CN" altLang="zh-CN" sz="2400" b="1" dirty="0"/>
              <a:t>：</a:t>
            </a:r>
            <a:r>
              <a:rPr lang="en-US" altLang="zh-CN" sz="2400" b="1" dirty="0"/>
              <a:t>  </a:t>
            </a:r>
            <a:r>
              <a:rPr lang="zh-CN" altLang="zh-CN" sz="2400" b="1" dirty="0"/>
              <a:t>指示语句行到此结束，一般出现在程序行结束以前。</a:t>
            </a:r>
          </a:p>
          <a:p>
            <a:pPr eaLnBrk="1" hangingPunct="1"/>
            <a:r>
              <a:rPr lang="en-US" altLang="zh-CN" sz="2400" b="1" dirty="0"/>
              <a:t>EQU</a:t>
            </a:r>
            <a:r>
              <a:rPr lang="zh-CN" altLang="zh-CN" sz="2400" b="1" dirty="0"/>
              <a:t>：</a:t>
            </a:r>
            <a:r>
              <a:rPr lang="en-US" altLang="zh-CN" sz="2400" b="1" dirty="0"/>
              <a:t>  </a:t>
            </a:r>
            <a:r>
              <a:rPr lang="zh-CN" altLang="zh-CN" sz="2400" b="1" dirty="0"/>
              <a:t>赋值指令，用于定义常数，或地址。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/>
              <a:t>               </a:t>
            </a:r>
            <a:r>
              <a:rPr lang="zh-CN" altLang="zh-CN" sz="2400" b="1" dirty="0"/>
              <a:t>等同于</a:t>
            </a:r>
            <a:r>
              <a:rPr lang="en-US" altLang="zh-CN" sz="2400" b="1" dirty="0"/>
              <a:t>C</a:t>
            </a:r>
            <a:r>
              <a:rPr lang="zh-CN" altLang="zh-CN" sz="2400" b="1" dirty="0"/>
              <a:t>中的＃</a:t>
            </a:r>
            <a:r>
              <a:rPr lang="en-US" altLang="zh-CN" sz="2400" b="1" dirty="0"/>
              <a:t>define</a:t>
            </a:r>
            <a:r>
              <a:rPr lang="zh-CN" altLang="zh-CN" sz="2400" b="1" dirty="0"/>
              <a:t>语句。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/>
              <a:t>DATA</a:t>
            </a:r>
            <a:r>
              <a:rPr lang="zh-CN" altLang="en-US" sz="2400" b="1" dirty="0"/>
              <a:t>：定义字节地址。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/>
              <a:t>BIT</a:t>
            </a:r>
            <a:r>
              <a:rPr lang="zh-CN" altLang="zh-CN" sz="2400" b="1" dirty="0"/>
              <a:t>：</a:t>
            </a:r>
            <a:r>
              <a:rPr lang="en-US" altLang="zh-CN" sz="2400" b="1" dirty="0"/>
              <a:t>	   </a:t>
            </a:r>
            <a:r>
              <a:rPr lang="zh-CN" altLang="zh-CN" sz="2400" b="1" dirty="0"/>
              <a:t>定义位符号地址。</a:t>
            </a:r>
          </a:p>
          <a:p>
            <a:pPr eaLnBrk="1" hangingPunct="1"/>
            <a:r>
              <a:rPr lang="en-US" altLang="zh-CN" sz="2400" b="1" dirty="0"/>
              <a:t>DB</a:t>
            </a:r>
            <a:r>
              <a:rPr lang="zh-CN" altLang="zh-CN" sz="2400" b="1" dirty="0"/>
              <a:t>：  </a:t>
            </a:r>
            <a:r>
              <a:rPr lang="en-US" altLang="zh-CN" sz="2400" b="1" dirty="0"/>
              <a:t>   </a:t>
            </a:r>
            <a:r>
              <a:rPr lang="zh-CN" altLang="zh-CN" sz="2400" b="1" dirty="0"/>
              <a:t>定义字节数据。用于给</a:t>
            </a:r>
            <a:r>
              <a:rPr lang="zh-CN" altLang="zh-CN" sz="2400" b="1" dirty="0">
                <a:solidFill>
                  <a:srgbClr val="FF0000"/>
                </a:solidFill>
              </a:rPr>
              <a:t>代码空间</a:t>
            </a:r>
            <a:r>
              <a:rPr lang="zh-CN" altLang="zh-CN" sz="2400" b="1" dirty="0"/>
              <a:t>的存储单元进行初始化、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/>
              <a:t>               </a:t>
            </a:r>
            <a:r>
              <a:rPr lang="zh-CN" altLang="zh-CN" sz="2400" b="1" dirty="0"/>
              <a:t>赋值，或定义表格。</a:t>
            </a:r>
          </a:p>
          <a:p>
            <a:pPr eaLnBrk="1" hangingPunct="1"/>
            <a:r>
              <a:rPr lang="en-US" altLang="zh-CN" sz="2400" b="1" dirty="0"/>
              <a:t>DW</a:t>
            </a:r>
            <a:r>
              <a:rPr lang="zh-CN" altLang="zh-CN" sz="2400" b="1" dirty="0"/>
              <a:t>：</a:t>
            </a:r>
            <a:r>
              <a:rPr lang="en-US" altLang="zh-CN" sz="2400" b="1" dirty="0"/>
              <a:t>    </a:t>
            </a:r>
            <a:r>
              <a:rPr lang="zh-CN" altLang="zh-CN" sz="2400" b="1" dirty="0"/>
              <a:t>定义字数据，即两个字节。用于给</a:t>
            </a:r>
            <a:r>
              <a:rPr lang="zh-CN" altLang="zh-CN" sz="2400" b="1" dirty="0">
                <a:solidFill>
                  <a:srgbClr val="FF0000"/>
                </a:solidFill>
              </a:rPr>
              <a:t>代码空间</a:t>
            </a:r>
            <a:r>
              <a:rPr lang="zh-CN" altLang="zh-CN" sz="2400" b="1" dirty="0"/>
              <a:t>的存储单元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/>
              <a:t>               </a:t>
            </a:r>
            <a:r>
              <a:rPr lang="zh-CN" altLang="zh-CN" sz="2400" b="1" dirty="0"/>
              <a:t>进行初始化、赋值，或定义表格。</a:t>
            </a:r>
            <a:r>
              <a:rPr lang="en-US" altLang="zh-CN" sz="2400" b="1" dirty="0"/>
              <a:t> </a:t>
            </a:r>
            <a:endParaRPr lang="zh-CN" altLang="zh-CN" sz="2400" b="1" dirty="0"/>
          </a:p>
          <a:p>
            <a:pPr eaLnBrk="1" hangingPunct="1"/>
            <a:r>
              <a:rPr lang="en-US" altLang="zh-CN" sz="2400" b="1" dirty="0"/>
              <a:t>DS</a:t>
            </a:r>
            <a:r>
              <a:rPr lang="zh-CN" altLang="zh-CN" sz="2400" b="1" dirty="0"/>
              <a:t>：</a:t>
            </a:r>
            <a:r>
              <a:rPr lang="en-US" altLang="zh-CN" sz="2400" b="1" dirty="0"/>
              <a:t>      </a:t>
            </a:r>
            <a:r>
              <a:rPr lang="zh-CN" altLang="zh-CN" sz="2400" b="1" dirty="0"/>
              <a:t>预留若干个存储单元，等同于</a:t>
            </a:r>
            <a:r>
              <a:rPr lang="en-US" altLang="zh-CN" sz="2400" b="1" dirty="0"/>
              <a:t>C</a:t>
            </a:r>
            <a:r>
              <a:rPr lang="zh-CN" altLang="zh-CN" sz="2400" b="1" dirty="0"/>
              <a:t>中的</a:t>
            </a:r>
            <a:r>
              <a:rPr lang="en-US" altLang="zh-CN" sz="2400" b="1" dirty="0"/>
              <a:t>malloc</a:t>
            </a:r>
            <a:r>
              <a:rPr lang="zh-CN" altLang="zh-CN" sz="2400" b="1" dirty="0"/>
              <a:t>函数。</a:t>
            </a:r>
          </a:p>
        </p:txBody>
      </p:sp>
    </p:spTree>
    <p:extLst>
      <p:ext uri="{BB962C8B-B14F-4D97-AF65-F5344CB8AC3E}">
        <p14:creationId xmlns:p14="http://schemas.microsoft.com/office/powerpoint/2010/main" val="331508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四、汇编语言程序设计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06BCED-02B2-4A9D-8CEE-D78C4A4E6072}"/>
              </a:ext>
            </a:extLst>
          </p:cNvPr>
          <p:cNvSpPr txBox="1"/>
          <p:nvPr/>
        </p:nvSpPr>
        <p:spPr>
          <a:xfrm>
            <a:off x="900259" y="105598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4.2</a:t>
            </a:r>
            <a:r>
              <a:rPr lang="zh-CN" altLang="en-US" sz="2400" b="1" dirty="0"/>
              <a:t>基本程序结构的设计方法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D88FD2-50DB-4F9C-8595-827A1C554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622" y="1838161"/>
            <a:ext cx="894238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/>
              <a:t>1. </a:t>
            </a:r>
            <a:r>
              <a:rPr lang="zh-CN" altLang="en-US" sz="2400" b="1" dirty="0"/>
              <a:t>分支程序：二分支、三分支</a:t>
            </a:r>
          </a:p>
          <a:p>
            <a:r>
              <a:rPr lang="zh-CN" altLang="en-US" sz="2400" b="1" dirty="0"/>
              <a:t>          散转程序（重点掌握转移指令表方式）</a:t>
            </a:r>
          </a:p>
          <a:p>
            <a:r>
              <a:rPr lang="en-US" altLang="zh-CN" sz="2400" b="1" dirty="0"/>
              <a:t>2. </a:t>
            </a:r>
            <a:r>
              <a:rPr lang="zh-CN" altLang="en-US" sz="2400" b="1" dirty="0"/>
              <a:t>循环程序 ：循环变量、循环条件</a:t>
            </a:r>
          </a:p>
          <a:p>
            <a:r>
              <a:rPr lang="en-US" altLang="zh-CN" sz="2400" b="1" dirty="0"/>
              <a:t>3. </a:t>
            </a:r>
            <a:r>
              <a:rPr lang="zh-CN" altLang="en-US" sz="2400" b="1" dirty="0"/>
              <a:t>子程序：掌握基本调用方法和参数传递方法</a:t>
            </a:r>
          </a:p>
          <a:p>
            <a:r>
              <a:rPr lang="en-US" altLang="zh-CN" sz="2400" b="1" dirty="0"/>
              <a:t>4. </a:t>
            </a:r>
            <a:r>
              <a:rPr lang="zh-CN" altLang="en-US" sz="2400" b="1" dirty="0"/>
              <a:t>查表程序：掌握表格的定义方法和两种查表方法</a:t>
            </a:r>
          </a:p>
        </p:txBody>
      </p:sp>
    </p:spTree>
    <p:extLst>
      <p:ext uri="{BB962C8B-B14F-4D97-AF65-F5344CB8AC3E}">
        <p14:creationId xmlns:p14="http://schemas.microsoft.com/office/powerpoint/2010/main" val="192571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四、汇编语言程序设计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06BCED-02B2-4A9D-8CEE-D78C4A4E6072}"/>
              </a:ext>
            </a:extLst>
          </p:cNvPr>
          <p:cNvSpPr txBox="1"/>
          <p:nvPr/>
        </p:nvSpPr>
        <p:spPr>
          <a:xfrm>
            <a:off x="900259" y="105598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4.3</a:t>
            </a:r>
            <a:r>
              <a:rPr lang="zh-CN" altLang="en-US" sz="2400" b="1" dirty="0"/>
              <a:t>应用程序的设计方法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D88FD2-50DB-4F9C-8595-827A1C554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622" y="1875868"/>
            <a:ext cx="8942388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/>
              <a:t>1.</a:t>
            </a:r>
            <a:r>
              <a:rPr lang="zh-CN" altLang="en-US" sz="2400" b="1" dirty="0"/>
              <a:t>运算程序：加法（含多字节十六进制数、</a:t>
            </a:r>
            <a:r>
              <a:rPr lang="en-US" altLang="zh-CN" sz="2400" b="1" dirty="0"/>
              <a:t>BCD</a:t>
            </a:r>
            <a:r>
              <a:rPr lang="zh-CN" altLang="en-US" sz="2400" b="1" dirty="0"/>
              <a:t>码数）</a:t>
            </a:r>
          </a:p>
          <a:p>
            <a:r>
              <a:rPr lang="zh-CN" altLang="en-US" sz="2400" b="1" dirty="0"/>
              <a:t>                       减法（含多字节十六进制数、</a:t>
            </a:r>
            <a:r>
              <a:rPr lang="en-US" altLang="zh-CN" sz="2400" b="1" dirty="0"/>
              <a:t>BCD</a:t>
            </a:r>
            <a:r>
              <a:rPr lang="zh-CN" altLang="en-US" sz="2400" b="1" dirty="0"/>
              <a:t>码数）</a:t>
            </a:r>
          </a:p>
          <a:p>
            <a:r>
              <a:rPr lang="en-US" altLang="zh-CN" sz="2400" b="1" dirty="0"/>
              <a:t>2.</a:t>
            </a:r>
            <a:r>
              <a:rPr lang="zh-CN" altLang="en-US" sz="2400" b="1" dirty="0"/>
              <a:t>针对数据块的操作：</a:t>
            </a:r>
          </a:p>
          <a:p>
            <a:r>
              <a:rPr lang="zh-CN" altLang="en-US" sz="2400" b="1" dirty="0"/>
              <a:t>                       清零、初始化、移动（复制）、求和、求最大值、求最小值、找寻特殊字符</a:t>
            </a:r>
          </a:p>
          <a:p>
            <a:r>
              <a:rPr lang="en-US" altLang="zh-CN" sz="2400" b="1" dirty="0"/>
              <a:t>3.</a:t>
            </a:r>
            <a:r>
              <a:rPr lang="zh-CN" altLang="en-US" sz="2400" b="1" dirty="0"/>
              <a:t>延时程序的设计和分析</a:t>
            </a:r>
          </a:p>
          <a:p>
            <a:r>
              <a:rPr lang="en-US" altLang="zh-CN" sz="2400" b="1" dirty="0"/>
              <a:t>4.</a:t>
            </a:r>
            <a:r>
              <a:rPr lang="zh-CN" altLang="en-US" sz="2400" b="1" dirty="0"/>
              <a:t>码制转换： </a:t>
            </a:r>
            <a:r>
              <a:rPr lang="en-US" altLang="zh-CN" sz="2400" b="1" dirty="0"/>
              <a:t>HEX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ASCII</a:t>
            </a:r>
            <a:r>
              <a:rPr lang="zh-CN" altLang="en-US" sz="2400" b="1" dirty="0"/>
              <a:t>之间的转化，单字节</a:t>
            </a:r>
            <a:r>
              <a:rPr lang="en-US" altLang="zh-CN" sz="2400" b="1" dirty="0"/>
              <a:t>HEX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BCD</a:t>
            </a:r>
            <a:r>
              <a:rPr lang="zh-CN" altLang="en-US" sz="2400" b="1" dirty="0"/>
              <a:t>码之间的转化</a:t>
            </a:r>
          </a:p>
          <a:p>
            <a:pPr eaLnBrk="1" hangingPunct="1"/>
            <a:endParaRPr lang="zh-CN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259022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06BCED-02B2-4A9D-8CEE-D78C4A4E6072}"/>
              </a:ext>
            </a:extLst>
          </p:cNvPr>
          <p:cNvSpPr txBox="1"/>
          <p:nvPr/>
        </p:nvSpPr>
        <p:spPr>
          <a:xfrm>
            <a:off x="900259" y="105598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5.1</a:t>
            </a:r>
            <a:r>
              <a:rPr lang="zh-CN" altLang="en-US" sz="2400" b="1" dirty="0"/>
              <a:t>重要概念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D88FD2-50DB-4F9C-8595-827A1C554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661" y="1717657"/>
            <a:ext cx="9118349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/>
              <a:t>1.</a:t>
            </a:r>
            <a:r>
              <a:rPr lang="zh-CN" altLang="en-US" sz="2400" b="1" dirty="0"/>
              <a:t>中断：</a:t>
            </a:r>
            <a:r>
              <a:rPr lang="zh-CN" altLang="en-US" sz="2400" dirty="0">
                <a:ea typeface="黑体" panose="02010609060101010101" pitchFamily="49" charset="-122"/>
              </a:rPr>
              <a:t>当</a:t>
            </a:r>
            <a:r>
              <a:rPr lang="en-US" altLang="zh-CN" sz="2400" dirty="0">
                <a:solidFill>
                  <a:srgbClr val="3366FF"/>
                </a:solidFill>
                <a:ea typeface="黑体" panose="02010609060101010101" pitchFamily="49" charset="-122"/>
              </a:rPr>
              <a:t>CPU</a:t>
            </a:r>
            <a:r>
              <a:rPr lang="zh-CN" altLang="en-US" sz="2400" dirty="0">
                <a:ea typeface="黑体" panose="02010609060101010101" pitchFamily="49" charset="-122"/>
              </a:rPr>
              <a:t>正在处理某项事务时，如果内部或外部发生了紧急事件，</a:t>
            </a:r>
            <a:r>
              <a:rPr lang="zh-CN" altLang="en-US" sz="2400" dirty="0">
                <a:solidFill>
                  <a:srgbClr val="3366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3366FF"/>
                </a:solidFill>
                <a:ea typeface="黑体" panose="02010609060101010101" pitchFamily="49" charset="-122"/>
              </a:rPr>
              <a:t>CPU</a:t>
            </a:r>
            <a:r>
              <a:rPr lang="zh-CN" altLang="en-US" sz="2400" dirty="0">
                <a:ea typeface="黑体" panose="02010609060101010101" pitchFamily="49" charset="-122"/>
              </a:rPr>
              <a:t>暂停正在处理的工作，而去迅速处理紧急事件，待处理完后再回到原来中断的地方继续执行原来被中止的程序。</a:t>
            </a:r>
            <a:endParaRPr lang="en-US" altLang="zh-CN" sz="2400" b="1" dirty="0"/>
          </a:p>
          <a:p>
            <a:r>
              <a:rPr lang="en-US" altLang="zh-CN" sz="2400" b="1" dirty="0"/>
              <a:t>2.</a:t>
            </a:r>
            <a:r>
              <a:rPr lang="zh-CN" altLang="en-US" sz="2400" b="1" dirty="0"/>
              <a:t>中断申请：由中断源向</a:t>
            </a:r>
            <a:r>
              <a:rPr lang="en-US" altLang="zh-CN" sz="2400" b="1" dirty="0"/>
              <a:t>MCU</a:t>
            </a:r>
            <a:r>
              <a:rPr lang="zh-CN" altLang="en-US" sz="2400" b="1" dirty="0"/>
              <a:t>所发出的申请中断信号</a:t>
            </a:r>
            <a:endParaRPr lang="en-US" altLang="zh-CN" sz="2400" b="1" dirty="0"/>
          </a:p>
          <a:p>
            <a:r>
              <a:rPr lang="en-US" altLang="zh-CN" sz="2400" b="1" dirty="0"/>
              <a:t>3.</a:t>
            </a:r>
            <a:r>
              <a:rPr lang="zh-CN" altLang="en-US" sz="2400" b="1" dirty="0"/>
              <a:t>中断优先：中断具有优先级</a:t>
            </a:r>
            <a:endParaRPr lang="en-US" altLang="zh-CN" sz="2400" b="1" dirty="0"/>
          </a:p>
          <a:p>
            <a:r>
              <a:rPr lang="en-US" altLang="zh-CN" sz="2400" b="1" dirty="0"/>
              <a:t>4.</a:t>
            </a:r>
            <a:r>
              <a:rPr lang="zh-CN" altLang="en-US" sz="2400" b="1" dirty="0"/>
              <a:t>中断响应：</a:t>
            </a:r>
            <a:r>
              <a:rPr lang="en-US" altLang="zh-CN" sz="2400" b="1" dirty="0"/>
              <a:t>MCU</a:t>
            </a:r>
            <a:r>
              <a:rPr lang="zh-CN" altLang="en-US" sz="2400" b="1" dirty="0"/>
              <a:t>接受中断申请并停止现行程序</a:t>
            </a:r>
            <a:endParaRPr lang="en-US" altLang="zh-CN" sz="2400" b="1" dirty="0"/>
          </a:p>
          <a:p>
            <a:r>
              <a:rPr lang="zh-CN" altLang="en-US" sz="2400" b="1" dirty="0"/>
              <a:t>的运行而转向为中断服务</a:t>
            </a:r>
            <a:endParaRPr lang="en-US" altLang="zh-CN" sz="2400" b="1" dirty="0"/>
          </a:p>
          <a:p>
            <a:r>
              <a:rPr lang="en-US" altLang="zh-CN" sz="2400" b="1" dirty="0"/>
              <a:t>5.</a:t>
            </a:r>
            <a:r>
              <a:rPr lang="zh-CN" altLang="en-US" sz="2400" b="1" dirty="0"/>
              <a:t>中断服务：为中断服务的程序</a:t>
            </a:r>
            <a:endParaRPr lang="en-US" altLang="zh-CN" sz="2400" b="1" dirty="0"/>
          </a:p>
          <a:p>
            <a:r>
              <a:rPr lang="en-US" altLang="zh-CN" sz="2400" b="1" dirty="0"/>
              <a:t>6.</a:t>
            </a:r>
            <a:r>
              <a:rPr lang="zh-CN" altLang="en-US" sz="2400" b="1" dirty="0"/>
              <a:t>中断返回：执行完中断处理程序后返回断点处继续</a:t>
            </a:r>
            <a:endParaRPr lang="en-US" altLang="zh-CN" sz="2400" b="1" dirty="0"/>
          </a:p>
          <a:p>
            <a:r>
              <a:rPr lang="zh-CN" altLang="en-US" sz="2400" b="1" dirty="0"/>
              <a:t>执行主程序</a:t>
            </a:r>
            <a:endParaRPr lang="en-US" altLang="zh-CN" sz="2400" b="1" dirty="0"/>
          </a:p>
          <a:p>
            <a:r>
              <a:rPr lang="en-US" altLang="zh-CN" sz="2400" b="1" dirty="0"/>
              <a:t>7.</a:t>
            </a:r>
            <a:r>
              <a:rPr lang="zh-CN" altLang="en-US" sz="2400" b="1" dirty="0"/>
              <a:t>中断源：发出中断请求的设备和电路</a:t>
            </a:r>
            <a:endParaRPr lang="en-US" altLang="zh-CN" sz="2400" b="1" dirty="0"/>
          </a:p>
          <a:p>
            <a:r>
              <a:rPr lang="en-US" altLang="zh-CN" sz="2400" b="1" dirty="0"/>
              <a:t>8.</a:t>
            </a:r>
            <a:r>
              <a:rPr lang="zh-CN" altLang="en-US" sz="2400" b="1" dirty="0"/>
              <a:t>中断申请方式：电平信号或边沿信号</a:t>
            </a:r>
            <a:endParaRPr lang="zh-CN" altLang="zh-CN" sz="2400" b="1" dirty="0"/>
          </a:p>
        </p:txBody>
      </p:sp>
      <p:grpSp>
        <p:nvGrpSpPr>
          <p:cNvPr id="5" name="Group 21">
            <a:extLst>
              <a:ext uri="{FF2B5EF4-FFF2-40B4-BE49-F238E27FC236}">
                <a16:creationId xmlns:a16="http://schemas.microsoft.com/office/drawing/2014/main" id="{7908DD16-87B2-4501-A23F-F8B263B10ADD}"/>
              </a:ext>
            </a:extLst>
          </p:cNvPr>
          <p:cNvGrpSpPr>
            <a:grpSpLocks noChangeAspect="1"/>
          </p:cNvGrpSpPr>
          <p:nvPr/>
        </p:nvGrpSpPr>
        <p:grpSpPr>
          <a:xfrm>
            <a:off x="8446760" y="3332421"/>
            <a:ext cx="3492500" cy="2697163"/>
            <a:chOff x="3679" y="3231"/>
            <a:chExt cx="3369" cy="3668"/>
          </a:xfrm>
        </p:grpSpPr>
        <p:sp>
          <p:nvSpPr>
            <p:cNvPr id="6" name="Line 31">
              <a:extLst>
                <a:ext uri="{FF2B5EF4-FFF2-40B4-BE49-F238E27FC236}">
                  <a16:creationId xmlns:a16="http://schemas.microsoft.com/office/drawing/2014/main" id="{AAE9221A-2B09-47CC-B9F1-4DE74183EB1B}"/>
                </a:ext>
              </a:extLst>
            </p:cNvPr>
            <p:cNvSpPr/>
            <p:nvPr/>
          </p:nvSpPr>
          <p:spPr>
            <a:xfrm>
              <a:off x="4427" y="3231"/>
              <a:ext cx="0" cy="163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" name="Line 30">
              <a:extLst>
                <a:ext uri="{FF2B5EF4-FFF2-40B4-BE49-F238E27FC236}">
                  <a16:creationId xmlns:a16="http://schemas.microsoft.com/office/drawing/2014/main" id="{6AC60DC9-883E-4F94-ADFC-A43193C07008}"/>
                </a:ext>
              </a:extLst>
            </p:cNvPr>
            <p:cNvSpPr/>
            <p:nvPr/>
          </p:nvSpPr>
          <p:spPr>
            <a:xfrm flipV="1">
              <a:off x="4427" y="4182"/>
              <a:ext cx="1536" cy="679"/>
            </a:xfrm>
            <a:prstGeom prst="line">
              <a:avLst/>
            </a:prstGeom>
            <a:ln w="38100" cap="flat" cmpd="sng">
              <a:solidFill>
                <a:srgbClr val="FF99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" name="Line 29">
              <a:extLst>
                <a:ext uri="{FF2B5EF4-FFF2-40B4-BE49-F238E27FC236}">
                  <a16:creationId xmlns:a16="http://schemas.microsoft.com/office/drawing/2014/main" id="{A9AC2C94-0E51-41E0-A9A8-BFE5E8EBAC42}"/>
                </a:ext>
              </a:extLst>
            </p:cNvPr>
            <p:cNvSpPr/>
            <p:nvPr/>
          </p:nvSpPr>
          <p:spPr>
            <a:xfrm>
              <a:off x="5963" y="4182"/>
              <a:ext cx="1" cy="1766"/>
            </a:xfrm>
            <a:prstGeom prst="line">
              <a:avLst/>
            </a:prstGeom>
            <a:ln w="38100" cap="flat" cmpd="sng">
              <a:solidFill>
                <a:srgbClr val="FF99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" name="Line 28">
              <a:extLst>
                <a:ext uri="{FF2B5EF4-FFF2-40B4-BE49-F238E27FC236}">
                  <a16:creationId xmlns:a16="http://schemas.microsoft.com/office/drawing/2014/main" id="{A4B564A9-7723-4BC7-8B0E-6A60AE8528F5}"/>
                </a:ext>
              </a:extLst>
            </p:cNvPr>
            <p:cNvSpPr/>
            <p:nvPr/>
          </p:nvSpPr>
          <p:spPr>
            <a:xfrm flipH="1" flipV="1">
              <a:off x="4427" y="5133"/>
              <a:ext cx="1536" cy="815"/>
            </a:xfrm>
            <a:prstGeom prst="line">
              <a:avLst/>
            </a:prstGeom>
            <a:ln w="38100" cap="flat" cmpd="sng">
              <a:solidFill>
                <a:srgbClr val="FF99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9A65D8C7-8386-410F-AC51-14282A339E38}"/>
                </a:ext>
              </a:extLst>
            </p:cNvPr>
            <p:cNvSpPr/>
            <p:nvPr/>
          </p:nvSpPr>
          <p:spPr>
            <a:xfrm>
              <a:off x="4427" y="5133"/>
              <a:ext cx="0" cy="1766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" name="Rectangle 26">
              <a:extLst>
                <a:ext uri="{FF2B5EF4-FFF2-40B4-BE49-F238E27FC236}">
                  <a16:creationId xmlns:a16="http://schemas.microsoft.com/office/drawing/2014/main" id="{246BF786-59C0-4B59-8A48-2194D36B9EFC}"/>
                </a:ext>
              </a:extLst>
            </p:cNvPr>
            <p:cNvSpPr/>
            <p:nvPr/>
          </p:nvSpPr>
          <p:spPr>
            <a:xfrm>
              <a:off x="3794" y="4997"/>
              <a:ext cx="452" cy="27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r>
                <a:rPr lang="zh-CN" altLang="zh-CN" sz="1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断点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49CEE192-0A6E-4A6C-BAF5-6779DBE0087D}"/>
                </a:ext>
              </a:extLst>
            </p:cNvPr>
            <p:cNvSpPr/>
            <p:nvPr/>
          </p:nvSpPr>
          <p:spPr>
            <a:xfrm>
              <a:off x="4757" y="3909"/>
              <a:ext cx="905" cy="27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r>
                <a:rPr lang="zh-CN" altLang="zh-CN" sz="1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中断响应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728F5A9C-33F1-4D1A-9E2E-56A032DA8C9F}"/>
                </a:ext>
              </a:extLst>
            </p:cNvPr>
            <p:cNvSpPr/>
            <p:nvPr/>
          </p:nvSpPr>
          <p:spPr>
            <a:xfrm>
              <a:off x="6144" y="4589"/>
              <a:ext cx="904" cy="27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r>
                <a:rPr lang="zh-CN" altLang="zh-CN" sz="1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中断服务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84E40F69-4F39-4ABC-A0BA-071A25E7FB38}"/>
                </a:ext>
              </a:extLst>
            </p:cNvPr>
            <p:cNvSpPr/>
            <p:nvPr/>
          </p:nvSpPr>
          <p:spPr>
            <a:xfrm>
              <a:off x="6054" y="5948"/>
              <a:ext cx="903" cy="27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r>
                <a:rPr lang="zh-CN" altLang="zh-CN" sz="1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中断返回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BBAD20F5-641C-4121-AC1B-1DD910620748}"/>
                </a:ext>
              </a:extLst>
            </p:cNvPr>
            <p:cNvSpPr/>
            <p:nvPr/>
          </p:nvSpPr>
          <p:spPr>
            <a:xfrm>
              <a:off x="3679" y="3231"/>
              <a:ext cx="672" cy="27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/>
            <a:lstStyle/>
            <a:p>
              <a:r>
                <a:rPr lang="zh-CN" altLang="zh-CN" sz="1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主程序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553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06BCED-02B2-4A9D-8CEE-D78C4A4E6072}"/>
              </a:ext>
            </a:extLst>
          </p:cNvPr>
          <p:cNvSpPr txBox="1"/>
          <p:nvPr/>
        </p:nvSpPr>
        <p:spPr>
          <a:xfrm>
            <a:off x="900259" y="105598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5.1</a:t>
            </a:r>
            <a:r>
              <a:rPr lang="zh-CN" altLang="en-US" sz="2400" b="1" dirty="0"/>
              <a:t>重要概念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D46210-F15B-42F6-BE8B-6C2DDF693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502" y="1631203"/>
            <a:ext cx="91183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/>
              <a:t>中断响应：</a:t>
            </a:r>
            <a:endParaRPr lang="zh-CN" altLang="zh-CN" sz="2400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CBDE8E-54BC-4699-A1FF-FA3716FEB1B3}"/>
              </a:ext>
            </a:extLst>
          </p:cNvPr>
          <p:cNvSpPr/>
          <p:nvPr/>
        </p:nvSpPr>
        <p:spPr>
          <a:xfrm>
            <a:off x="1426482" y="2206421"/>
            <a:ext cx="7488238" cy="37861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中断响应条件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基本条件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   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）存在中断申请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   2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）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CPU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开放总中断，即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EA=1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   3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）对应中断源中断开放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 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   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阻断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CPU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迅速响应中断的三种情况：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   1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）当前指令未执行完；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   2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）正在执行同级或高级中断；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   3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）当前指令为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RETI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，或访问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IE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IP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cs"/>
              </a:rPr>
              <a:t>的指令。</a:t>
            </a:r>
          </a:p>
        </p:txBody>
      </p:sp>
    </p:spTree>
    <p:extLst>
      <p:ext uri="{BB962C8B-B14F-4D97-AF65-F5344CB8AC3E}">
        <p14:creationId xmlns:p14="http://schemas.microsoft.com/office/powerpoint/2010/main" val="412437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F5C945D1-CDD4-47EC-952D-6544984162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719634"/>
              </p:ext>
            </p:extLst>
          </p:nvPr>
        </p:nvGraphicFramePr>
        <p:xfrm>
          <a:off x="3869262" y="2249665"/>
          <a:ext cx="7072312" cy="369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r:id="rId3" imgW="8962875" imgH="4095841" progId="Visio.Drawing.11">
                  <p:embed/>
                </p:oleObj>
              </mc:Choice>
              <mc:Fallback>
                <p:oleObj r:id="rId3" imgW="8962875" imgH="4095841" progId="Visio.Drawing.11">
                  <p:embed/>
                  <p:pic>
                    <p:nvPicPr>
                      <p:cNvPr id="4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9262" y="2249665"/>
                        <a:ext cx="7072312" cy="369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 4">
            <a:extLst>
              <a:ext uri="{FF2B5EF4-FFF2-40B4-BE49-F238E27FC236}">
                <a16:creationId xmlns:a16="http://schemas.microsoft.com/office/drawing/2014/main" id="{A7367817-B99B-4A0A-83EB-B74C367D4728}"/>
              </a:ext>
            </a:extLst>
          </p:cNvPr>
          <p:cNvSpPr/>
          <p:nvPr/>
        </p:nvSpPr>
        <p:spPr>
          <a:xfrm>
            <a:off x="2297637" y="1240015"/>
            <a:ext cx="2428875" cy="784225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外部中断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：外部中断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和外部中断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</a:p>
        </p:txBody>
      </p:sp>
      <p:sp>
        <p:nvSpPr>
          <p:cNvPr id="8" name="圆角矩形 5">
            <a:extLst>
              <a:ext uri="{FF2B5EF4-FFF2-40B4-BE49-F238E27FC236}">
                <a16:creationId xmlns:a16="http://schemas.microsoft.com/office/drawing/2014/main" id="{F35B9E03-2D4B-463D-850D-DE2B77DC2BD6}"/>
              </a:ext>
            </a:extLst>
          </p:cNvPr>
          <p:cNvSpPr/>
          <p:nvPr/>
        </p:nvSpPr>
        <p:spPr>
          <a:xfrm>
            <a:off x="2297637" y="3035477"/>
            <a:ext cx="1357313" cy="2214563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定时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计数器中断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：定时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计数器中断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和定时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计数器中断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</a:p>
        </p:txBody>
      </p:sp>
      <p:sp>
        <p:nvSpPr>
          <p:cNvPr id="9" name="圆角矩形 6">
            <a:extLst>
              <a:ext uri="{FF2B5EF4-FFF2-40B4-BE49-F238E27FC236}">
                <a16:creationId xmlns:a16="http://schemas.microsoft.com/office/drawing/2014/main" id="{48F69C34-2CB4-47CC-95BA-78467B26CE3C}"/>
              </a:ext>
            </a:extLst>
          </p:cNvPr>
          <p:cNvSpPr/>
          <p:nvPr/>
        </p:nvSpPr>
        <p:spPr>
          <a:xfrm>
            <a:off x="2516712" y="6061252"/>
            <a:ext cx="1990725" cy="5715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串行口中断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AE3CD4E-3ED7-42B3-B018-56B95B62EB8C}"/>
              </a:ext>
            </a:extLst>
          </p:cNvPr>
          <p:cNvCxnSpPr/>
          <p:nvPr/>
        </p:nvCxnSpPr>
        <p:spPr>
          <a:xfrm>
            <a:off x="3664474" y="2063927"/>
            <a:ext cx="303213" cy="8191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96FF31B-E06B-491E-865F-312305A64BF5}"/>
              </a:ext>
            </a:extLst>
          </p:cNvPr>
          <p:cNvCxnSpPr/>
          <p:nvPr/>
        </p:nvCxnSpPr>
        <p:spPr>
          <a:xfrm>
            <a:off x="3369199" y="2063927"/>
            <a:ext cx="750888" cy="20923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2D1278F-0D4D-44EB-97BA-B29A11042ECF}"/>
              </a:ext>
            </a:extLst>
          </p:cNvPr>
          <p:cNvCxnSpPr/>
          <p:nvPr/>
        </p:nvCxnSpPr>
        <p:spPr>
          <a:xfrm>
            <a:off x="3620024" y="3597452"/>
            <a:ext cx="28575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F15A3F9-14D7-4BA3-8E51-D8D5E81567BC}"/>
              </a:ext>
            </a:extLst>
          </p:cNvPr>
          <p:cNvCxnSpPr/>
          <p:nvPr/>
        </p:nvCxnSpPr>
        <p:spPr>
          <a:xfrm>
            <a:off x="3726387" y="4891265"/>
            <a:ext cx="28575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9E07FF7-AF8B-4430-8B46-95A96E4D8EDD}"/>
              </a:ext>
            </a:extLst>
          </p:cNvPr>
          <p:cNvCxnSpPr/>
          <p:nvPr/>
        </p:nvCxnSpPr>
        <p:spPr>
          <a:xfrm flipV="1">
            <a:off x="3415237" y="5535790"/>
            <a:ext cx="668338" cy="406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2">
            <a:extLst>
              <a:ext uri="{FF2B5EF4-FFF2-40B4-BE49-F238E27FC236}">
                <a16:creationId xmlns:a16="http://schemas.microsoft.com/office/drawing/2014/main" id="{4AFE6B53-D3A1-4EC3-B3ED-AE66C5D2B1C8}"/>
              </a:ext>
            </a:extLst>
          </p:cNvPr>
          <p:cNvSpPr/>
          <p:nvPr/>
        </p:nvSpPr>
        <p:spPr>
          <a:xfrm>
            <a:off x="6298137" y="1178102"/>
            <a:ext cx="2143125" cy="785813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通过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SFR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进行中断控制和设置编程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62BB9DD-36AA-4EAE-9EBA-9B524478672C}"/>
              </a:ext>
            </a:extLst>
          </p:cNvPr>
          <p:cNvCxnSpPr/>
          <p:nvPr/>
        </p:nvCxnSpPr>
        <p:spPr>
          <a:xfrm rot="16200000" flipV="1">
            <a:off x="5190855" y="5285758"/>
            <a:ext cx="1500188" cy="2857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1773518C-BC7B-4119-B362-CD9982BD8464}"/>
              </a:ext>
            </a:extLst>
          </p:cNvPr>
          <p:cNvSpPr/>
          <p:nvPr/>
        </p:nvSpPr>
        <p:spPr>
          <a:xfrm>
            <a:off x="8584137" y="1249540"/>
            <a:ext cx="2143125" cy="785813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两级中断优先级，可以形成嵌套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B099C84-974F-4444-BAF7-83ED7940D667}"/>
              </a:ext>
            </a:extLst>
          </p:cNvPr>
          <p:cNvCxnSpPr/>
          <p:nvPr/>
        </p:nvCxnSpPr>
        <p:spPr>
          <a:xfrm rot="5400000">
            <a:off x="8298387" y="2392540"/>
            <a:ext cx="928688" cy="2143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8AA27935-A65E-4A88-9047-FD4CB3CF9102}"/>
              </a:ext>
            </a:extLst>
          </p:cNvPr>
          <p:cNvSpPr/>
          <p:nvPr/>
        </p:nvSpPr>
        <p:spPr>
          <a:xfrm rot="5400000">
            <a:off x="7352237" y="981252"/>
            <a:ext cx="285750" cy="2251075"/>
          </a:xfrm>
          <a:prstGeom prst="leftBrac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2" name="圆角矩形 17">
            <a:extLst>
              <a:ext uri="{FF2B5EF4-FFF2-40B4-BE49-F238E27FC236}">
                <a16:creationId xmlns:a16="http://schemas.microsoft.com/office/drawing/2014/main" id="{5D559484-7337-4AE0-B689-EE1B6A252BA8}"/>
              </a:ext>
            </a:extLst>
          </p:cNvPr>
          <p:cNvSpPr/>
          <p:nvPr/>
        </p:nvSpPr>
        <p:spPr>
          <a:xfrm>
            <a:off x="6083824" y="6035852"/>
            <a:ext cx="1990725" cy="571500"/>
          </a:xfrm>
          <a:prstGeom prst="roundRect">
            <a:avLst/>
          </a:prstGeom>
          <a:solidFill>
            <a:srgbClr val="FF66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中断标志位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3" name="圆角矩形 18">
            <a:extLst>
              <a:ext uri="{FF2B5EF4-FFF2-40B4-BE49-F238E27FC236}">
                <a16:creationId xmlns:a16="http://schemas.microsoft.com/office/drawing/2014/main" id="{094139D3-753F-47C6-AFBE-A6C7CC2228A7}"/>
              </a:ext>
            </a:extLst>
          </p:cNvPr>
          <p:cNvSpPr/>
          <p:nvPr/>
        </p:nvSpPr>
        <p:spPr>
          <a:xfrm>
            <a:off x="5226574" y="2678290"/>
            <a:ext cx="571500" cy="31432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9452099-3922-4A40-953A-5246FBAD8974}"/>
              </a:ext>
            </a:extLst>
          </p:cNvPr>
          <p:cNvCxnSpPr>
            <a:stCxn id="15" idx="1"/>
          </p:cNvCxnSpPr>
          <p:nvPr/>
        </p:nvCxnSpPr>
        <p:spPr>
          <a:xfrm flipH="1">
            <a:off x="4421712" y="1571802"/>
            <a:ext cx="1876425" cy="1179513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D944296-0016-4982-9DD1-5E35AAB41D56}"/>
              </a:ext>
            </a:extLst>
          </p:cNvPr>
          <p:cNvCxnSpPr/>
          <p:nvPr/>
        </p:nvCxnSpPr>
        <p:spPr>
          <a:xfrm flipH="1">
            <a:off x="4440762" y="1827390"/>
            <a:ext cx="1811338" cy="2124075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3F2FEBB-6FE6-4C92-8324-9707283FCE05}"/>
              </a:ext>
            </a:extLst>
          </p:cNvPr>
          <p:cNvSpPr txBox="1"/>
          <p:nvPr/>
        </p:nvSpPr>
        <p:spPr>
          <a:xfrm>
            <a:off x="478607" y="1151562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5.2</a:t>
            </a:r>
            <a:r>
              <a:rPr lang="zh-CN" altLang="en-US" sz="2400" b="1" dirty="0"/>
              <a:t>中断系统</a:t>
            </a:r>
          </a:p>
        </p:txBody>
      </p:sp>
    </p:spTree>
    <p:extLst>
      <p:ext uri="{BB962C8B-B14F-4D97-AF65-F5344CB8AC3E}">
        <p14:creationId xmlns:p14="http://schemas.microsoft.com/office/powerpoint/2010/main" val="333372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5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108B2FC-7E74-4DC6-A5FB-C47FDDE53F4C}"/>
              </a:ext>
            </a:extLst>
          </p:cNvPr>
          <p:cNvSpPr/>
          <p:nvPr/>
        </p:nvSpPr>
        <p:spPr>
          <a:xfrm>
            <a:off x="1067651" y="1522937"/>
            <a:ext cx="8208963" cy="24575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14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/>
              </a:rPr>
              <a:t>中断控制寄存器（</a:t>
            </a:r>
            <a:r>
              <a:rPr kumimoji="0" lang="en-US" altLang="zh-CN" sz="2400" b="0" i="0" u="none" strike="noStrike" kern="14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/>
              </a:rPr>
              <a:t>SFR</a:t>
            </a:r>
            <a:r>
              <a:rPr kumimoji="0" lang="zh-CN" altLang="zh-CN" sz="2400" b="0" i="0" u="none" strike="noStrike" kern="14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/>
              </a:rPr>
              <a:t>）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TCON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：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   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存放中断标志（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IE0, IE1,TF0,TF1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），</a:t>
            </a:r>
          </a:p>
          <a:p>
            <a:pPr marL="0" marR="0" lvl="0" indent="72136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         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选择外部中断信号触发类型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IT0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IT1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）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SCON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：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   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存放中断标志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TI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RI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IE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：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         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中断允许寄存器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，决定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CPU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是否屏蔽中断申请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IP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/>
              </a:rPr>
              <a:t>：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         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/>
              </a:rPr>
              <a:t>中断优先级别寄存器，设定中断的优先级别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400377-2125-4FDB-A69F-E834EA7918ED}"/>
              </a:ext>
            </a:extLst>
          </p:cNvPr>
          <p:cNvSpPr txBox="1"/>
          <p:nvPr/>
        </p:nvSpPr>
        <p:spPr>
          <a:xfrm>
            <a:off x="878223" y="1061272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5.2</a:t>
            </a:r>
            <a:r>
              <a:rPr lang="zh-CN" altLang="en-US" sz="2400" b="1" dirty="0"/>
              <a:t>中断系统</a:t>
            </a:r>
          </a:p>
        </p:txBody>
      </p:sp>
    </p:spTree>
    <p:extLst>
      <p:ext uri="{BB962C8B-B14F-4D97-AF65-F5344CB8AC3E}">
        <p14:creationId xmlns:p14="http://schemas.microsoft.com/office/powerpoint/2010/main" val="68560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FDA912-BEF0-4830-BB59-BBD14EEBE7E2}"/>
              </a:ext>
            </a:extLst>
          </p:cNvPr>
          <p:cNvSpPr txBox="1">
            <a:spLocks noChangeArrowheads="1"/>
          </p:cNvSpPr>
          <p:nvPr/>
        </p:nvSpPr>
        <p:spPr>
          <a:xfrm>
            <a:off x="1012097" y="1431254"/>
            <a:ext cx="7391400" cy="581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+mj-ea"/>
                <a:ea typeface="+mj-ea"/>
              </a:rPr>
              <a:t>定时器控制寄存器</a:t>
            </a:r>
            <a:r>
              <a:rPr lang="en-US" altLang="zh-CN" sz="2400" b="1" kern="0" dirty="0">
                <a:solidFill>
                  <a:srgbClr val="000000"/>
                </a:solidFill>
                <a:latin typeface="+mj-ea"/>
                <a:ea typeface="+mj-ea"/>
              </a:rPr>
              <a:t>--</a:t>
            </a:r>
            <a:r>
              <a:rPr lang="en-US" altLang="zh-CN" sz="2400" b="1" kern="0" dirty="0">
                <a:solidFill>
                  <a:srgbClr val="A1011C"/>
                </a:solidFill>
                <a:latin typeface="+mj-ea"/>
                <a:ea typeface="+mj-ea"/>
              </a:rPr>
              <a:t>TCON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4499188-0131-47F4-99AC-852C20495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503" y="2228179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TF1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8D2D7BE-6F25-44C6-B253-9142833CB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65" y="2228179"/>
            <a:ext cx="935038" cy="720725"/>
          </a:xfrm>
          <a:prstGeom prst="rect">
            <a:avLst/>
          </a:prstGeom>
          <a:solidFill>
            <a:srgbClr val="969696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TR1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A2411B0-2250-40E9-9EAB-A6773F7F2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628" y="2228179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TF0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9E6ECAB-DAFB-4DF2-806B-964E344D3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278" y="2228179"/>
            <a:ext cx="935038" cy="720725"/>
          </a:xfrm>
          <a:prstGeom prst="rect">
            <a:avLst/>
          </a:prstGeom>
          <a:solidFill>
            <a:srgbClr val="969696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TR0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47DEDF8-F9B4-473E-9D4D-553F375B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15" y="2228179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IE1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D552780-6C0E-4FC4-BA3D-175A50891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9278" y="2228179"/>
            <a:ext cx="935038" cy="720725"/>
          </a:xfrm>
          <a:prstGeom prst="rect">
            <a:avLst/>
          </a:prstGeom>
          <a:solidFill>
            <a:srgbClr val="00CCFF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FF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IT1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6F247478-2BDA-4AD4-ACC2-B173AA97B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7340" y="2228179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IE0</a:t>
            </a:r>
            <a:endParaRPr kumimoji="0" lang="en-US" altLang="zh-CN" sz="24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147968BA-BEA8-4AD2-A2C3-16B1B06B5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6990" y="2228179"/>
            <a:ext cx="935038" cy="720725"/>
          </a:xfrm>
          <a:prstGeom prst="rect">
            <a:avLst/>
          </a:prstGeom>
          <a:solidFill>
            <a:srgbClr val="00CCFF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FF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IT0</a:t>
            </a:r>
            <a:endParaRPr kumimoji="0" lang="en-US" altLang="zh-CN" sz="24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pSp>
        <p:nvGrpSpPr>
          <p:cNvPr id="14" name="组合 8">
            <a:extLst>
              <a:ext uri="{FF2B5EF4-FFF2-40B4-BE49-F238E27FC236}">
                <a16:creationId xmlns:a16="http://schemas.microsoft.com/office/drawing/2014/main" id="{F2AB090E-70A6-4BA7-AB5C-327F27BF0024}"/>
              </a:ext>
            </a:extLst>
          </p:cNvPr>
          <p:cNvGrpSpPr/>
          <p:nvPr/>
        </p:nvGrpSpPr>
        <p:grpSpPr>
          <a:xfrm>
            <a:off x="1646303" y="3021929"/>
            <a:ext cx="2089150" cy="935037"/>
            <a:chOff x="1042988" y="2805113"/>
            <a:chExt cx="2089150" cy="935037"/>
          </a:xfrm>
        </p:grpSpPr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9165AAB3-0AE9-455A-82F3-EFE35E4D74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988" y="2805113"/>
              <a:ext cx="0" cy="93503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stealth" w="lg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C1F11D30-80AC-4C95-9729-82B2D7536EA5}"/>
                </a:ext>
              </a:extLst>
            </p:cNvPr>
            <p:cNvSpPr/>
            <p:nvPr/>
          </p:nvSpPr>
          <p:spPr bwMode="auto">
            <a:xfrm>
              <a:off x="1042988" y="2805113"/>
              <a:ext cx="2089150" cy="360362"/>
            </a:xfrm>
            <a:custGeom>
              <a:avLst/>
              <a:gdLst>
                <a:gd name="T0" fmla="*/ 2147483647 w 2677"/>
                <a:gd name="T1" fmla="*/ 0 h 273"/>
                <a:gd name="T2" fmla="*/ 2147483647 w 2677"/>
                <a:gd name="T3" fmla="*/ 2147483647 h 273"/>
                <a:gd name="T4" fmla="*/ 0 w 2677"/>
                <a:gd name="T5" fmla="*/ 2147483647 h 273"/>
                <a:gd name="T6" fmla="*/ 0 60000 65536"/>
                <a:gd name="T7" fmla="*/ 0 60000 65536"/>
                <a:gd name="T8" fmla="*/ 0 60000 65536"/>
                <a:gd name="T9" fmla="*/ 0 w 2677"/>
                <a:gd name="T10" fmla="*/ 0 h 273"/>
                <a:gd name="T11" fmla="*/ 2677 w 2677"/>
                <a:gd name="T12" fmla="*/ 273 h 2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77" h="273">
                  <a:moveTo>
                    <a:pt x="2677" y="0"/>
                  </a:moveTo>
                  <a:lnTo>
                    <a:pt x="2677" y="273"/>
                  </a:lnTo>
                  <a:lnTo>
                    <a:pt x="0" y="273"/>
                  </a:lnTo>
                </a:path>
              </a:pathLst>
            </a:custGeom>
            <a:noFill/>
            <a:ln w="38100">
              <a:solidFill>
                <a:srgbClr val="0000FF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17" name="Text Box 17">
            <a:extLst>
              <a:ext uri="{FF2B5EF4-FFF2-40B4-BE49-F238E27FC236}">
                <a16:creationId xmlns:a16="http://schemas.microsoft.com/office/drawing/2014/main" id="{E248172B-832B-4517-AE10-5E9E27CA4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0278" y="4028404"/>
            <a:ext cx="2230438" cy="101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外部中断请求标志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：有请求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：无请求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63CE8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pSp>
        <p:nvGrpSpPr>
          <p:cNvPr id="18" name="组合 9">
            <a:extLst>
              <a:ext uri="{FF2B5EF4-FFF2-40B4-BE49-F238E27FC236}">
                <a16:creationId xmlns:a16="http://schemas.microsoft.com/office/drawing/2014/main" id="{B693B113-4A9E-40BF-82F2-54C2220B1C24}"/>
              </a:ext>
            </a:extLst>
          </p:cNvPr>
          <p:cNvGrpSpPr/>
          <p:nvPr/>
        </p:nvGrpSpPr>
        <p:grpSpPr>
          <a:xfrm>
            <a:off x="5823015" y="3021929"/>
            <a:ext cx="2089150" cy="1006475"/>
            <a:chOff x="5219700" y="2805113"/>
            <a:chExt cx="2089150" cy="1006476"/>
          </a:xfrm>
        </p:grpSpPr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181A0A81-90C5-4423-9D5D-7782853E9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9700" y="2805113"/>
              <a:ext cx="0" cy="35877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F5F300E-98D3-4508-8095-B60A6B868233}"/>
                </a:ext>
              </a:extLst>
            </p:cNvPr>
            <p:cNvSpPr/>
            <p:nvPr/>
          </p:nvSpPr>
          <p:spPr bwMode="auto">
            <a:xfrm>
              <a:off x="5219700" y="2805113"/>
              <a:ext cx="2089150" cy="360362"/>
            </a:xfrm>
            <a:custGeom>
              <a:avLst/>
              <a:gdLst>
                <a:gd name="T0" fmla="*/ 2147483647 w 2677"/>
                <a:gd name="T1" fmla="*/ 0 h 273"/>
                <a:gd name="T2" fmla="*/ 2147483647 w 2677"/>
                <a:gd name="T3" fmla="*/ 2147483647 h 273"/>
                <a:gd name="T4" fmla="*/ 0 w 2677"/>
                <a:gd name="T5" fmla="*/ 2147483647 h 273"/>
                <a:gd name="T6" fmla="*/ 0 60000 65536"/>
                <a:gd name="T7" fmla="*/ 0 60000 65536"/>
                <a:gd name="T8" fmla="*/ 0 60000 65536"/>
                <a:gd name="T9" fmla="*/ 0 w 2677"/>
                <a:gd name="T10" fmla="*/ 0 h 273"/>
                <a:gd name="T11" fmla="*/ 2677 w 2677"/>
                <a:gd name="T12" fmla="*/ 273 h 2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77" h="273">
                  <a:moveTo>
                    <a:pt x="2677" y="0"/>
                  </a:moveTo>
                  <a:lnTo>
                    <a:pt x="2677" y="273"/>
                  </a:lnTo>
                  <a:lnTo>
                    <a:pt x="0" y="273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135BD842-B05D-4D42-A933-EEF7E4E8B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9700" y="3163888"/>
              <a:ext cx="0" cy="64770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stealth" w="lg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3CA311B4-16C4-43B4-AC62-89E2DEA0A4DB}"/>
              </a:ext>
            </a:extLst>
          </p:cNvPr>
          <p:cNvGrpSpPr/>
          <p:nvPr/>
        </p:nvGrpSpPr>
        <p:grpSpPr>
          <a:xfrm>
            <a:off x="6904103" y="3020341"/>
            <a:ext cx="2016125" cy="935038"/>
            <a:chOff x="6300788" y="2803525"/>
            <a:chExt cx="2016125" cy="935038"/>
          </a:xfrm>
        </p:grpSpPr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A3AACF31-5E8F-4C6C-B271-46D262967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16913" y="2803525"/>
              <a:ext cx="0" cy="9350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stealth" w="lg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8A07DD33-DE21-48A8-842C-36BAC6A65BC0}"/>
                </a:ext>
              </a:extLst>
            </p:cNvPr>
            <p:cNvSpPr/>
            <p:nvPr/>
          </p:nvSpPr>
          <p:spPr bwMode="auto">
            <a:xfrm flipH="1">
              <a:off x="6300788" y="2803525"/>
              <a:ext cx="2016125" cy="577850"/>
            </a:xfrm>
            <a:custGeom>
              <a:avLst/>
              <a:gdLst>
                <a:gd name="T0" fmla="*/ 2147483647 w 2677"/>
                <a:gd name="T1" fmla="*/ 0 h 273"/>
                <a:gd name="T2" fmla="*/ 2147483647 w 2677"/>
                <a:gd name="T3" fmla="*/ 2147483647 h 273"/>
                <a:gd name="T4" fmla="*/ 0 w 2677"/>
                <a:gd name="T5" fmla="*/ 2147483647 h 273"/>
                <a:gd name="T6" fmla="*/ 0 60000 65536"/>
                <a:gd name="T7" fmla="*/ 0 60000 65536"/>
                <a:gd name="T8" fmla="*/ 0 60000 65536"/>
                <a:gd name="T9" fmla="*/ 0 w 2677"/>
                <a:gd name="T10" fmla="*/ 0 h 273"/>
                <a:gd name="T11" fmla="*/ 2677 w 2677"/>
                <a:gd name="T12" fmla="*/ 273 h 2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77" h="273">
                  <a:moveTo>
                    <a:pt x="2677" y="0"/>
                  </a:moveTo>
                  <a:lnTo>
                    <a:pt x="2677" y="273"/>
                  </a:lnTo>
                  <a:lnTo>
                    <a:pt x="0" y="27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25" name="Text Box 24">
            <a:extLst>
              <a:ext uri="{FF2B5EF4-FFF2-40B4-BE49-F238E27FC236}">
                <a16:creationId xmlns:a16="http://schemas.microsoft.com/office/drawing/2014/main" id="{2575FFE0-C845-4CD1-9881-4F85D50A9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030" y="5446041"/>
            <a:ext cx="3069757" cy="1015663"/>
          </a:xfrm>
          <a:prstGeom prst="rect">
            <a:avLst/>
          </a:prstGeom>
          <a:solidFill>
            <a:srgbClr val="C0C0C0"/>
          </a:solidFill>
          <a:ln>
            <a:solidFill>
              <a:schemeClr val="tx1"/>
            </a:solidFill>
            <a:prstDash val="lgDashDot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的运行控制位标志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：启动定时器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：停止定时器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4287817-9B59-4837-9764-F3707F427DE9}"/>
              </a:ext>
            </a:extLst>
          </p:cNvPr>
          <p:cNvSpPr/>
          <p:nvPr/>
        </p:nvSpPr>
        <p:spPr>
          <a:xfrm>
            <a:off x="6615178" y="4028404"/>
            <a:ext cx="3024188" cy="1016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外部中断触发方式控制位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：边沿触发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：电平触发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86DDB9D-5999-4517-8B59-27B14DA07C39}"/>
              </a:ext>
            </a:extLst>
          </p:cNvPr>
          <p:cNvGrpSpPr/>
          <p:nvPr/>
        </p:nvGrpSpPr>
        <p:grpSpPr>
          <a:xfrm>
            <a:off x="2727390" y="3020341"/>
            <a:ext cx="2089150" cy="2425700"/>
            <a:chOff x="2124075" y="2803525"/>
            <a:chExt cx="2089150" cy="2425675"/>
          </a:xfrm>
        </p:grpSpPr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1F913518-73A2-4836-9E70-F3B69E6FA0B4}"/>
                </a:ext>
              </a:extLst>
            </p:cNvPr>
            <p:cNvSpPr/>
            <p:nvPr/>
          </p:nvSpPr>
          <p:spPr bwMode="auto">
            <a:xfrm>
              <a:off x="2124075" y="2803525"/>
              <a:ext cx="2089150" cy="576257"/>
            </a:xfrm>
            <a:custGeom>
              <a:avLst/>
              <a:gdLst>
                <a:gd name="T0" fmla="*/ 2147483647 w 2677"/>
                <a:gd name="T1" fmla="*/ 0 h 273"/>
                <a:gd name="T2" fmla="*/ 2147483647 w 2677"/>
                <a:gd name="T3" fmla="*/ 2147483647 h 273"/>
                <a:gd name="T4" fmla="*/ 0 w 2677"/>
                <a:gd name="T5" fmla="*/ 2147483647 h 273"/>
                <a:gd name="T6" fmla="*/ 0 60000 65536"/>
                <a:gd name="T7" fmla="*/ 0 60000 65536"/>
                <a:gd name="T8" fmla="*/ 0 60000 65536"/>
                <a:gd name="T9" fmla="*/ 0 w 2677"/>
                <a:gd name="T10" fmla="*/ 0 h 273"/>
                <a:gd name="T11" fmla="*/ 2677 w 2677"/>
                <a:gd name="T12" fmla="*/ 273 h 2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77" h="273">
                  <a:moveTo>
                    <a:pt x="2677" y="0"/>
                  </a:moveTo>
                  <a:lnTo>
                    <a:pt x="2677" y="273"/>
                  </a:lnTo>
                  <a:lnTo>
                    <a:pt x="0" y="27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12256122-7F40-406C-9D75-201F98C9D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8038" y="3379782"/>
              <a:ext cx="0" cy="18494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stealth" w="lg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78CA624-5608-46D4-A491-6F2D0FBFEB25}"/>
                </a:ext>
              </a:extLst>
            </p:cNvPr>
            <p:cNvCxnSpPr/>
            <p:nvPr/>
          </p:nvCxnSpPr>
          <p:spPr bwMode="auto">
            <a:xfrm flipV="1">
              <a:off x="2124075" y="2805113"/>
              <a:ext cx="0" cy="57625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圆角矩形 6">
            <a:extLst>
              <a:ext uri="{FF2B5EF4-FFF2-40B4-BE49-F238E27FC236}">
                <a16:creationId xmlns:a16="http://schemas.microsoft.com/office/drawing/2014/main" id="{008E15B9-5A0E-465B-8AF7-281593B3FB77}"/>
              </a:ext>
            </a:extLst>
          </p:cNvPr>
          <p:cNvSpPr/>
          <p:nvPr/>
        </p:nvSpPr>
        <p:spPr>
          <a:xfrm>
            <a:off x="4132328" y="3861716"/>
            <a:ext cx="5614988" cy="1346200"/>
          </a:xfrm>
          <a:prstGeom prst="roundRect">
            <a:avLst/>
          </a:prstGeom>
          <a:noFill/>
          <a:ln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BD56DCC-3F5F-4BC5-B6DF-2D5EDBD2AE28}"/>
              </a:ext>
            </a:extLst>
          </p:cNvPr>
          <p:cNvSpPr txBox="1"/>
          <p:nvPr/>
        </p:nvSpPr>
        <p:spPr>
          <a:xfrm>
            <a:off x="799119" y="999731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5.2</a:t>
            </a:r>
            <a:r>
              <a:rPr lang="zh-CN" altLang="en-US" sz="2400" b="1" dirty="0"/>
              <a:t>中断系统</a:t>
            </a:r>
          </a:p>
        </p:txBody>
      </p:sp>
    </p:spTree>
    <p:extLst>
      <p:ext uri="{BB962C8B-B14F-4D97-AF65-F5344CB8AC3E}">
        <p14:creationId xmlns:p14="http://schemas.microsoft.com/office/powerpoint/2010/main" val="57889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25" grpId="0" animBg="1"/>
      <p:bldP spid="27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AE2FB32F-604E-4EEC-B9DB-0EFFA565C177}"/>
              </a:ext>
            </a:extLst>
          </p:cNvPr>
          <p:cNvSpPr txBox="1">
            <a:spLocks noChangeArrowheads="1"/>
          </p:cNvSpPr>
          <p:nvPr/>
        </p:nvSpPr>
        <p:spPr>
          <a:xfrm>
            <a:off x="1307300" y="1734220"/>
            <a:ext cx="7391400" cy="742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400" b="1" kern="0" dirty="0">
                <a:latin typeface="+mj-ea"/>
                <a:ea typeface="+mj-ea"/>
              </a:rPr>
              <a:t>串行口控制寄存器</a:t>
            </a:r>
            <a:r>
              <a:rPr lang="en-US" altLang="zh-CN" sz="2400" b="1" kern="0" dirty="0">
                <a:latin typeface="+mj-ea"/>
                <a:ea typeface="+mj-ea"/>
              </a:rPr>
              <a:t>--</a:t>
            </a:r>
            <a:r>
              <a:rPr lang="en-US" altLang="zh-CN" sz="2400" b="1" kern="0" dirty="0">
                <a:solidFill>
                  <a:srgbClr val="A1011C"/>
                </a:solidFill>
                <a:latin typeface="+mj-ea"/>
                <a:ea typeface="+mj-ea"/>
              </a:rPr>
              <a:t>SCON</a:t>
            </a: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6FEFF31B-773D-4562-9DDB-4EFDB4170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1894" y="2608558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SM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0</a:t>
            </a: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A6EE1E28-6C3D-4848-ACDF-A09E8CDF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9956" y="2608558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SM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91D49AFF-E308-40FE-AC35-C28C54492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019" y="2608558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SM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</a:t>
            </a: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B9276A6D-0CAC-446C-9CE2-FED70B8E1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7669" y="2608558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REN</a:t>
            </a: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21A77915-5176-4F3F-8924-C72EF8D22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169" y="2608558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TB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8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8A134880-636C-4C23-BEF1-C2F45DFC7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231" y="2608558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RB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8</a:t>
            </a:r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DD848731-F8BE-4A6E-9C42-5555EDE38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294" y="2608558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TI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97880316-D2AA-4770-9F35-C9F013A03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2944" y="2608558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RI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560A3480-9E05-498C-A1A0-EBD1CE21E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7956" y="4754858"/>
            <a:ext cx="304006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串行口发送中断标志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</a:p>
        </p:txBody>
      </p:sp>
      <p:sp>
        <p:nvSpPr>
          <p:cNvPr id="43" name="Freeform 13">
            <a:extLst>
              <a:ext uri="{FF2B5EF4-FFF2-40B4-BE49-F238E27FC236}">
                <a16:creationId xmlns:a16="http://schemas.microsoft.com/office/drawing/2014/main" id="{94702612-FF3E-4343-AA2C-EF96ACF1C6A5}"/>
              </a:ext>
            </a:extLst>
          </p:cNvPr>
          <p:cNvSpPr/>
          <p:nvPr/>
        </p:nvSpPr>
        <p:spPr bwMode="auto">
          <a:xfrm>
            <a:off x="4735006" y="3472158"/>
            <a:ext cx="3311525" cy="1512888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4" name="Freeform 14">
            <a:extLst>
              <a:ext uri="{FF2B5EF4-FFF2-40B4-BE49-F238E27FC236}">
                <a16:creationId xmlns:a16="http://schemas.microsoft.com/office/drawing/2014/main" id="{FAB12982-4A10-49BB-AECE-A4888A342BB5}"/>
              </a:ext>
            </a:extLst>
          </p:cNvPr>
          <p:cNvSpPr/>
          <p:nvPr/>
        </p:nvSpPr>
        <p:spPr bwMode="auto">
          <a:xfrm>
            <a:off x="4735006" y="3472158"/>
            <a:ext cx="4392613" cy="2233613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7084C66-4B8B-40B2-973C-AE31A8EB5988}"/>
              </a:ext>
            </a:extLst>
          </p:cNvPr>
          <p:cNvSpPr/>
          <p:nvPr/>
        </p:nvSpPr>
        <p:spPr>
          <a:xfrm>
            <a:off x="1637794" y="5416845"/>
            <a:ext cx="29702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j-ea"/>
                <a:ea typeface="宋体" panose="02010600030101010101" pitchFamily="2" charset="-122"/>
                <a:cs typeface="+mn-cs"/>
              </a:rPr>
              <a:t>串行口接收中断标志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C9F5656-E599-4868-A3B7-FF95B0B09B92}"/>
              </a:ext>
            </a:extLst>
          </p:cNvPr>
          <p:cNvSpPr txBox="1"/>
          <p:nvPr/>
        </p:nvSpPr>
        <p:spPr>
          <a:xfrm>
            <a:off x="1105566" y="1130905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5.2</a:t>
            </a:r>
            <a:r>
              <a:rPr lang="zh-CN" altLang="en-US" sz="2400" b="1" dirty="0"/>
              <a:t>中断系统</a:t>
            </a:r>
          </a:p>
        </p:txBody>
      </p:sp>
    </p:spTree>
    <p:extLst>
      <p:ext uri="{BB962C8B-B14F-4D97-AF65-F5344CB8AC3E}">
        <p14:creationId xmlns:p14="http://schemas.microsoft.com/office/powerpoint/2010/main" val="135226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8EA327A2-46B8-4AA1-AAF4-B518EBBE4CF8}"/>
              </a:ext>
            </a:extLst>
          </p:cNvPr>
          <p:cNvSpPr/>
          <p:nvPr/>
        </p:nvSpPr>
        <p:spPr>
          <a:xfrm>
            <a:off x="1688250" y="1356502"/>
            <a:ext cx="7354887" cy="676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zh-CN" altLang="en-US" sz="2400" b="1" dirty="0">
                <a:latin typeface="宋体" panose="02010600030101010101" pitchFamily="2" charset="-122"/>
              </a:rPr>
              <a:t>中断允许寄存器</a:t>
            </a:r>
            <a:r>
              <a:rPr lang="en-US" altLang="zh-CN" sz="2400" b="1" dirty="0">
                <a:latin typeface="宋体" panose="02010600030101010101" pitchFamily="2" charset="-122"/>
              </a:rPr>
              <a:t>—</a:t>
            </a:r>
            <a:r>
              <a:rPr lang="en-US" altLang="zh-CN" sz="2400" b="1" dirty="0">
                <a:solidFill>
                  <a:srgbClr val="A1011C"/>
                </a:solidFill>
                <a:latin typeface="宋体" panose="02010600030101010101" pitchFamily="2" charset="-122"/>
              </a:rPr>
              <a:t>IE</a:t>
            </a: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627C145A-B703-47B0-9C1F-CE76B9512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087" y="2149393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EA</a:t>
            </a: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31AE3EF7-9010-48DF-B21B-0FA1D8799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149" y="2149393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NA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55199F6F-587B-450A-A88E-F7AD2A805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8212" y="2149393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NA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9CDB6C26-474F-41A3-B080-8F3B560D5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862" y="2149393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ES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7FE313B2-46EE-4F05-86AA-CEC09B788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362" y="2149393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ET1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DA0C0151-0149-4209-9AC5-CF564992A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424" y="2149393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EX1</a:t>
            </a:r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D7EB23E9-7531-46D1-8AD3-BB171A924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3487" y="2149393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ET0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C603513D-ED4A-48F4-BD7D-649BD4C70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3137" y="2149393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EX0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D8E88828-B797-41B9-AD67-33D2BF509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8349" y="3906755"/>
            <a:ext cx="3024188" cy="19383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串行口中断控制位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定时器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中断控制位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外中断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中断控制位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定时器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中断控制位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2D9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外中断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D2D9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2D9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中断控制位</a:t>
            </a:r>
          </a:p>
        </p:txBody>
      </p:sp>
      <p:sp>
        <p:nvSpPr>
          <p:cNvPr id="43" name="Freeform 13">
            <a:extLst>
              <a:ext uri="{FF2B5EF4-FFF2-40B4-BE49-F238E27FC236}">
                <a16:creationId xmlns:a16="http://schemas.microsoft.com/office/drawing/2014/main" id="{0A73A6EA-30AA-4007-98C9-D241DDF77B4C}"/>
              </a:ext>
            </a:extLst>
          </p:cNvPr>
          <p:cNvSpPr/>
          <p:nvPr/>
        </p:nvSpPr>
        <p:spPr bwMode="auto">
          <a:xfrm>
            <a:off x="5225199" y="3012993"/>
            <a:ext cx="360363" cy="1152525"/>
          </a:xfrm>
          <a:custGeom>
            <a:avLst/>
            <a:gdLst>
              <a:gd name="T0" fmla="*/ 2147483647 w 182"/>
              <a:gd name="T1" fmla="*/ 0 h 408"/>
              <a:gd name="T2" fmla="*/ 2147483647 w 182"/>
              <a:gd name="T3" fmla="*/ 2147483647 h 408"/>
              <a:gd name="T4" fmla="*/ 0 w 182"/>
              <a:gd name="T5" fmla="*/ 2147483647 h 408"/>
              <a:gd name="T6" fmla="*/ 0 60000 65536"/>
              <a:gd name="T7" fmla="*/ 0 60000 65536"/>
              <a:gd name="T8" fmla="*/ 0 60000 65536"/>
              <a:gd name="T9" fmla="*/ 0 w 182"/>
              <a:gd name="T10" fmla="*/ 0 h 408"/>
              <a:gd name="T11" fmla="*/ 182 w 182"/>
              <a:gd name="T12" fmla="*/ 408 h 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" h="408">
                <a:moveTo>
                  <a:pt x="182" y="0"/>
                </a:moveTo>
                <a:lnTo>
                  <a:pt x="182" y="408"/>
                </a:lnTo>
                <a:lnTo>
                  <a:pt x="0" y="408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4" name="Freeform 14">
            <a:extLst>
              <a:ext uri="{FF2B5EF4-FFF2-40B4-BE49-F238E27FC236}">
                <a16:creationId xmlns:a16="http://schemas.microsoft.com/office/drawing/2014/main" id="{9B2163FF-C047-4C50-817F-A6530A73C05B}"/>
              </a:ext>
            </a:extLst>
          </p:cNvPr>
          <p:cNvSpPr/>
          <p:nvPr/>
        </p:nvSpPr>
        <p:spPr bwMode="auto">
          <a:xfrm>
            <a:off x="5225199" y="3012993"/>
            <a:ext cx="1295400" cy="1512888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5" name="Freeform 15">
            <a:extLst>
              <a:ext uri="{FF2B5EF4-FFF2-40B4-BE49-F238E27FC236}">
                <a16:creationId xmlns:a16="http://schemas.microsoft.com/office/drawing/2014/main" id="{3D8B69DD-6AD0-4EF1-9C44-6BAE74234EDF}"/>
              </a:ext>
            </a:extLst>
          </p:cNvPr>
          <p:cNvSpPr/>
          <p:nvPr/>
        </p:nvSpPr>
        <p:spPr bwMode="auto">
          <a:xfrm>
            <a:off x="5225199" y="3012993"/>
            <a:ext cx="2232025" cy="1873250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6" name="Freeform 16">
            <a:extLst>
              <a:ext uri="{FF2B5EF4-FFF2-40B4-BE49-F238E27FC236}">
                <a16:creationId xmlns:a16="http://schemas.microsoft.com/office/drawing/2014/main" id="{B4FD3137-B47A-448D-A152-B6B483F99310}"/>
              </a:ext>
            </a:extLst>
          </p:cNvPr>
          <p:cNvSpPr/>
          <p:nvPr/>
        </p:nvSpPr>
        <p:spPr bwMode="auto">
          <a:xfrm>
            <a:off x="5225199" y="3012993"/>
            <a:ext cx="3311525" cy="2233613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92A53B0C-DFE6-4BFE-8B38-AC97B73E29E4}"/>
              </a:ext>
            </a:extLst>
          </p:cNvPr>
          <p:cNvSpPr/>
          <p:nvPr/>
        </p:nvSpPr>
        <p:spPr bwMode="auto">
          <a:xfrm>
            <a:off x="5225199" y="3012993"/>
            <a:ext cx="4392613" cy="2592388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8" name="Line 18">
            <a:extLst>
              <a:ext uri="{FF2B5EF4-FFF2-40B4-BE49-F238E27FC236}">
                <a16:creationId xmlns:a16="http://schemas.microsoft.com/office/drawing/2014/main" id="{0E7E1E12-AD2C-412B-9671-D40F5B10F3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3887" y="2941555"/>
            <a:ext cx="0" cy="3603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9" name="Rectangle 19">
            <a:extLst>
              <a:ext uri="{FF2B5EF4-FFF2-40B4-BE49-F238E27FC236}">
                <a16:creationId xmlns:a16="http://schemas.microsoft.com/office/drawing/2014/main" id="{E3AE4394-FE8D-4E17-AD64-1168F71D7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287" y="3224130"/>
            <a:ext cx="1439863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全局中断控制位</a:t>
            </a:r>
          </a:p>
        </p:txBody>
      </p:sp>
      <p:sp>
        <p:nvSpPr>
          <p:cNvPr id="50" name="Rectangle 20">
            <a:extLst>
              <a:ext uri="{FF2B5EF4-FFF2-40B4-BE49-F238E27FC236}">
                <a16:creationId xmlns:a16="http://schemas.microsoft.com/office/drawing/2014/main" id="{AA1387F5-09A9-4846-AE56-008B3ADB5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012" y="5965743"/>
            <a:ext cx="5262563" cy="4619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说明：复位后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被清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，禁止一切中断</a:t>
            </a:r>
          </a:p>
        </p:txBody>
      </p:sp>
      <p:sp>
        <p:nvSpPr>
          <p:cNvPr id="51" name="圆角矩形 1">
            <a:extLst>
              <a:ext uri="{FF2B5EF4-FFF2-40B4-BE49-F238E27FC236}">
                <a16:creationId xmlns:a16="http://schemas.microsoft.com/office/drawing/2014/main" id="{436D3047-FBBF-4840-B550-36A2BC2C7F5E}"/>
              </a:ext>
            </a:extLst>
          </p:cNvPr>
          <p:cNvSpPr/>
          <p:nvPr/>
        </p:nvSpPr>
        <p:spPr>
          <a:xfrm>
            <a:off x="1499337" y="1896980"/>
            <a:ext cx="1439863" cy="2089150"/>
          </a:xfrm>
          <a:prstGeom prst="roundRect">
            <a:avLst/>
          </a:prstGeom>
          <a:noFill/>
          <a:ln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7C602BC-71DD-47F1-8BFD-CF2D49FF6AF0}"/>
              </a:ext>
            </a:extLst>
          </p:cNvPr>
          <p:cNvSpPr txBox="1"/>
          <p:nvPr/>
        </p:nvSpPr>
        <p:spPr>
          <a:xfrm>
            <a:off x="1039642" y="943528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5.2</a:t>
            </a:r>
            <a:r>
              <a:rPr lang="zh-CN" altLang="en-US" sz="2400" b="1" dirty="0"/>
              <a:t>中断系统</a:t>
            </a:r>
          </a:p>
        </p:txBody>
      </p:sp>
    </p:spTree>
    <p:extLst>
      <p:ext uri="{BB962C8B-B14F-4D97-AF65-F5344CB8AC3E}">
        <p14:creationId xmlns:p14="http://schemas.microsoft.com/office/powerpoint/2010/main" val="102330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9" grpId="0"/>
      <p:bldP spid="50" grpId="0" animBg="1"/>
      <p:bldP spid="5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4755F14-B350-4A1A-8786-48D0BD2726A2}"/>
              </a:ext>
            </a:extLst>
          </p:cNvPr>
          <p:cNvSpPr txBox="1">
            <a:spLocks noChangeArrowheads="1"/>
          </p:cNvSpPr>
          <p:nvPr/>
        </p:nvSpPr>
        <p:spPr>
          <a:xfrm>
            <a:off x="1241311" y="1524580"/>
            <a:ext cx="7391400" cy="742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400" b="1" kern="0" dirty="0">
                <a:latin typeface="+mn-ea"/>
              </a:rPr>
              <a:t>中断优先级寄存器</a:t>
            </a:r>
            <a:r>
              <a:rPr lang="en-US" altLang="zh-CN" sz="2400" b="1" kern="0" dirty="0">
                <a:latin typeface="+mn-ea"/>
              </a:rPr>
              <a:t>--</a:t>
            </a:r>
            <a:r>
              <a:rPr lang="en-US" altLang="zh-CN" sz="2400" b="1" kern="0" dirty="0">
                <a:solidFill>
                  <a:srgbClr val="A1011C"/>
                </a:solidFill>
                <a:latin typeface="+mn-ea"/>
              </a:rPr>
              <a:t>IP</a:t>
            </a: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771D2F7-41C8-4125-AAA2-EEE13058D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186" y="2417877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NA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7080ED99-8F29-4F65-933E-A4EFE21B2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248" y="2417877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NA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21B010A-72FB-48E0-8303-1F9B1241F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311" y="2417877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NA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C16153FF-32E2-4026-803B-1FC55D30D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961" y="2417877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PS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7" name="Rectangle 8">
            <a:extLst>
              <a:ext uri="{FF2B5EF4-FFF2-40B4-BE49-F238E27FC236}">
                <a16:creationId xmlns:a16="http://schemas.microsoft.com/office/drawing/2014/main" id="{DFA0FDBE-E4E7-4B2F-B7F0-151997DE8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461" y="2417877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PT1</a:t>
            </a: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6B7DA06A-2E26-4563-A55B-3F35600C4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523" y="2417877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PX1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B39843E1-AB9B-4353-9779-EB33F1F21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586" y="2417877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PT0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5F771ECD-CF50-49B6-9BD8-90ECDECE4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236" y="2417877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PX0</a:t>
            </a:r>
            <a:endParaRPr kumimoji="0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F5A2B1D1-B600-45FD-9503-B215C4AF8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311" y="3570402"/>
            <a:ext cx="4572000" cy="19383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串行口中断优先级控制位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定时器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1011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中断优先级控制位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外中断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中断优先级控制位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定时器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中断优先级控制位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2D9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外中断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D2D9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2D9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中断优先级控制位</a:t>
            </a:r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F23618F3-4FF0-438A-8027-7F96D843D140}"/>
              </a:ext>
            </a:extLst>
          </p:cNvPr>
          <p:cNvSpPr/>
          <p:nvPr/>
        </p:nvSpPr>
        <p:spPr bwMode="auto">
          <a:xfrm>
            <a:off x="4768736" y="3210040"/>
            <a:ext cx="288925" cy="647700"/>
          </a:xfrm>
          <a:custGeom>
            <a:avLst/>
            <a:gdLst>
              <a:gd name="T0" fmla="*/ 2147483647 w 182"/>
              <a:gd name="T1" fmla="*/ 0 h 408"/>
              <a:gd name="T2" fmla="*/ 2147483647 w 182"/>
              <a:gd name="T3" fmla="*/ 2147483647 h 408"/>
              <a:gd name="T4" fmla="*/ 0 w 182"/>
              <a:gd name="T5" fmla="*/ 2147483647 h 408"/>
              <a:gd name="T6" fmla="*/ 0 60000 65536"/>
              <a:gd name="T7" fmla="*/ 0 60000 65536"/>
              <a:gd name="T8" fmla="*/ 0 60000 65536"/>
              <a:gd name="T9" fmla="*/ 0 w 182"/>
              <a:gd name="T10" fmla="*/ 0 h 408"/>
              <a:gd name="T11" fmla="*/ 182 w 182"/>
              <a:gd name="T12" fmla="*/ 408 h 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" h="408">
                <a:moveTo>
                  <a:pt x="182" y="0"/>
                </a:moveTo>
                <a:lnTo>
                  <a:pt x="182" y="408"/>
                </a:lnTo>
                <a:lnTo>
                  <a:pt x="0" y="408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52" name="Freeform 14">
            <a:extLst>
              <a:ext uri="{FF2B5EF4-FFF2-40B4-BE49-F238E27FC236}">
                <a16:creationId xmlns:a16="http://schemas.microsoft.com/office/drawing/2014/main" id="{3ED4169E-B342-46F4-918E-F6175042957F}"/>
              </a:ext>
            </a:extLst>
          </p:cNvPr>
          <p:cNvSpPr/>
          <p:nvPr/>
        </p:nvSpPr>
        <p:spPr bwMode="auto">
          <a:xfrm>
            <a:off x="4913198" y="3210040"/>
            <a:ext cx="1079500" cy="1008063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53" name="Freeform 15">
            <a:extLst>
              <a:ext uri="{FF2B5EF4-FFF2-40B4-BE49-F238E27FC236}">
                <a16:creationId xmlns:a16="http://schemas.microsoft.com/office/drawing/2014/main" id="{25CDEE8A-6F90-48AE-9305-3B7A026C0441}"/>
              </a:ext>
            </a:extLst>
          </p:cNvPr>
          <p:cNvSpPr/>
          <p:nvPr/>
        </p:nvSpPr>
        <p:spPr bwMode="auto">
          <a:xfrm>
            <a:off x="4913198" y="3210040"/>
            <a:ext cx="2016125" cy="1368425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54" name="Freeform 16">
            <a:extLst>
              <a:ext uri="{FF2B5EF4-FFF2-40B4-BE49-F238E27FC236}">
                <a16:creationId xmlns:a16="http://schemas.microsoft.com/office/drawing/2014/main" id="{1A954E75-88D2-41E9-B65D-4E48FE4F3064}"/>
              </a:ext>
            </a:extLst>
          </p:cNvPr>
          <p:cNvSpPr/>
          <p:nvPr/>
        </p:nvSpPr>
        <p:spPr bwMode="auto">
          <a:xfrm>
            <a:off x="4913198" y="3210040"/>
            <a:ext cx="3095625" cy="1728788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55" name="Freeform 17">
            <a:extLst>
              <a:ext uri="{FF2B5EF4-FFF2-40B4-BE49-F238E27FC236}">
                <a16:creationId xmlns:a16="http://schemas.microsoft.com/office/drawing/2014/main" id="{16B716D4-7296-4E6C-BFF2-455748F92D26}"/>
              </a:ext>
            </a:extLst>
          </p:cNvPr>
          <p:cNvSpPr/>
          <p:nvPr/>
        </p:nvSpPr>
        <p:spPr bwMode="auto">
          <a:xfrm>
            <a:off x="4913198" y="3210040"/>
            <a:ext cx="4176713" cy="2087563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38100">
            <a:solidFill>
              <a:srgbClr val="000000"/>
            </a:solidFill>
            <a:bevel/>
            <a:tailEnd type="stealth" w="lg" len="lg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56" name="AutoShape 18">
            <a:extLst>
              <a:ext uri="{FF2B5EF4-FFF2-40B4-BE49-F238E27FC236}">
                <a16:creationId xmlns:a16="http://schemas.microsoft.com/office/drawing/2014/main" id="{EDD6895F-8ED2-42C4-8B18-C94A96FF9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8" y="5362690"/>
            <a:ext cx="4824413" cy="1046163"/>
          </a:xfrm>
          <a:prstGeom prst="wedgeRoundRectCallout">
            <a:avLst>
              <a:gd name="adj1" fmla="val -93723"/>
              <a:gd name="adj2" fmla="val -80824"/>
              <a:gd name="adj3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449580" indent="-44958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49580" marR="0" lvl="0" indent="-44958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3CE8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：对应的中断声明为高优先级，</a:t>
            </a:r>
          </a:p>
          <a:p>
            <a:pPr marL="449580" marR="0" lvl="0" indent="-44958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：对应的中断定义为低优先级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9B99500-753A-48E0-8AFC-7ECA7EBA26EB}"/>
              </a:ext>
            </a:extLst>
          </p:cNvPr>
          <p:cNvSpPr txBox="1"/>
          <p:nvPr/>
        </p:nvSpPr>
        <p:spPr>
          <a:xfrm>
            <a:off x="931094" y="1030371"/>
            <a:ext cx="42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5.2</a:t>
            </a:r>
            <a:r>
              <a:rPr lang="zh-CN" altLang="en-US" sz="2400" b="1" dirty="0"/>
              <a:t>中断系统</a:t>
            </a:r>
          </a:p>
        </p:txBody>
      </p:sp>
    </p:spTree>
    <p:extLst>
      <p:ext uri="{BB962C8B-B14F-4D97-AF65-F5344CB8AC3E}">
        <p14:creationId xmlns:p14="http://schemas.microsoft.com/office/powerpoint/2010/main" val="62799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5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graphicFrame>
        <p:nvGraphicFramePr>
          <p:cNvPr id="25" name="Group 5">
            <a:extLst>
              <a:ext uri="{FF2B5EF4-FFF2-40B4-BE49-F238E27FC236}">
                <a16:creationId xmlns:a16="http://schemas.microsoft.com/office/drawing/2014/main" id="{012451ED-38C4-4E7B-8302-9E22912FBA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8367526"/>
              </p:ext>
            </p:extLst>
          </p:nvPr>
        </p:nvGraphicFramePr>
        <p:xfrm>
          <a:off x="2840840" y="3429000"/>
          <a:ext cx="3167064" cy="2743224"/>
        </p:xfrm>
        <a:graphic>
          <a:graphicData uri="http://schemas.openxmlformats.org/drawingml/2006/table">
            <a:tbl>
              <a:tblPr/>
              <a:tblGrid>
                <a:gridCol w="1583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0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中断源</a:t>
                      </a:r>
                    </a:p>
                  </a:txBody>
                  <a:tcPr marL="91403" marR="91403" marT="45722" marB="45722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入口地址</a:t>
                      </a:r>
                    </a:p>
                  </a:txBody>
                  <a:tcPr marL="91403" marR="91403"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外部中断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03" marR="91403" marT="45722" marB="45722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0003H</a:t>
                      </a:r>
                    </a:p>
                  </a:txBody>
                  <a:tcPr marL="91403" marR="91403"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定时器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03" marR="91403" marT="45722" marB="45722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000BH</a:t>
                      </a:r>
                    </a:p>
                  </a:txBody>
                  <a:tcPr marL="91403" marR="91403"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外部中断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03" marR="91403" marT="45722" marB="45722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0013H</a:t>
                      </a:r>
                    </a:p>
                  </a:txBody>
                  <a:tcPr marL="91403" marR="91403"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定时器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03" marR="91403" marT="45722" marB="45722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001BH</a:t>
                      </a:r>
                    </a:p>
                  </a:txBody>
                  <a:tcPr marL="91403" marR="91403"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串行口</a:t>
                      </a:r>
                    </a:p>
                  </a:txBody>
                  <a:tcPr marL="91403" marR="91403" marT="45722" marB="45722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0023H</a:t>
                      </a:r>
                    </a:p>
                  </a:txBody>
                  <a:tcPr marL="91403" marR="91403"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Box 3">
            <a:extLst>
              <a:ext uri="{FF2B5EF4-FFF2-40B4-BE49-F238E27FC236}">
                <a16:creationId xmlns:a16="http://schemas.microsoft.com/office/drawing/2014/main" id="{3AACA6A3-CF6F-43C3-ACF1-C5208759B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153" y="1198905"/>
            <a:ext cx="467995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66FF99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5.3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中断服务</a:t>
            </a:r>
          </a:p>
        </p:txBody>
      </p:sp>
      <p:pic>
        <p:nvPicPr>
          <p:cNvPr id="27" name="Picture 5">
            <a:extLst>
              <a:ext uri="{FF2B5EF4-FFF2-40B4-BE49-F238E27FC236}">
                <a16:creationId xmlns:a16="http://schemas.microsoft.com/office/drawing/2014/main" id="{F4D11F6A-0401-4708-81CE-8F90D7320EB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81302" y="1186490"/>
            <a:ext cx="3059112" cy="518953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34289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3AACA6A3-CF6F-43C3-ACF1-C5208759B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153" y="942432"/>
            <a:ext cx="467995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buClr>
                <a:srgbClr val="66FF99"/>
              </a:buClr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5.4</a:t>
            </a:r>
            <a:r>
              <a:rPr lang="zh-CN" altLang="en-US" sz="2400" b="1" dirty="0">
                <a:latin typeface="+mn-ea"/>
                <a:ea typeface="+mn-ea"/>
              </a:rPr>
              <a:t>中断程序设计步骤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BC41A01-012F-41FA-8DBD-C35F988073D0}"/>
              </a:ext>
            </a:extLst>
          </p:cNvPr>
          <p:cNvSpPr txBox="1">
            <a:spLocks/>
          </p:cNvSpPr>
          <p:nvPr/>
        </p:nvSpPr>
        <p:spPr>
          <a:xfrm>
            <a:off x="886120" y="1482856"/>
            <a:ext cx="10944519" cy="475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2000" b="1" kern="0" dirty="0">
                <a:latin typeface="+mn-ea"/>
              </a:rPr>
              <a:t>    </a:t>
            </a:r>
            <a:r>
              <a:rPr lang="zh-CN" altLang="en-US" sz="2000" b="1" kern="0" dirty="0">
                <a:latin typeface="+mn-ea"/>
              </a:rPr>
              <a:t>中断方式工作时，软件部分由包含</a:t>
            </a:r>
            <a:r>
              <a:rPr lang="zh-CN" altLang="en-US" sz="2000" b="1" kern="0" dirty="0">
                <a:solidFill>
                  <a:srgbClr val="FF0000"/>
                </a:solidFill>
                <a:latin typeface="+mn-ea"/>
              </a:rPr>
              <a:t>初始化中断的主程序</a:t>
            </a:r>
            <a:r>
              <a:rPr lang="zh-CN" altLang="en-US" sz="2000" b="1" kern="0" dirty="0">
                <a:latin typeface="+mn-ea"/>
              </a:rPr>
              <a:t>和</a:t>
            </a:r>
            <a:r>
              <a:rPr lang="zh-CN" altLang="en-US" sz="2000" b="1" kern="0" dirty="0">
                <a:solidFill>
                  <a:srgbClr val="FF0000"/>
                </a:solidFill>
                <a:latin typeface="+mn-ea"/>
              </a:rPr>
              <a:t>中断服务程序</a:t>
            </a:r>
            <a:r>
              <a:rPr lang="zh-CN" altLang="en-US" sz="2000" b="1" kern="0" dirty="0">
                <a:latin typeface="+mn-ea"/>
              </a:rPr>
              <a:t>两部分组成。</a:t>
            </a:r>
            <a:endParaRPr lang="en-US" altLang="zh-CN" sz="2000" b="1" kern="0" dirty="0">
              <a:latin typeface="+mn-ea"/>
            </a:endParaRPr>
          </a:p>
          <a:p>
            <a:pPr marL="0" indent="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000" b="1" kern="0" dirty="0">
                <a:solidFill>
                  <a:srgbClr val="0000FF"/>
                </a:solidFill>
                <a:latin typeface="+mn-ea"/>
              </a:rPr>
              <a:t>中断初始化</a:t>
            </a:r>
            <a:endParaRPr lang="en-US" altLang="zh-CN" sz="2000" b="1" kern="0" dirty="0">
              <a:solidFill>
                <a:srgbClr val="0000FF"/>
              </a:solidFill>
              <a:latin typeface="+mn-ea"/>
            </a:endParaRPr>
          </a:p>
          <a:p>
            <a:pPr marL="857250" lvl="1" indent="-45720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zh-CN" altLang="en-US" sz="1700" b="1" kern="0" dirty="0">
                <a:latin typeface="+mn-ea"/>
              </a:rPr>
              <a:t>需要对内存单元容量、地址空间进行合理分配</a:t>
            </a:r>
            <a:r>
              <a:rPr lang="en-US" altLang="zh-CN" sz="1700" b="1" kern="0" dirty="0">
                <a:latin typeface="+mn-ea"/>
              </a:rPr>
              <a:t>:</a:t>
            </a:r>
          </a:p>
          <a:p>
            <a:pPr marL="857250" lvl="2" indent="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1700" b="1" kern="0" dirty="0">
                <a:latin typeface="+mn-ea"/>
              </a:rPr>
              <a:t>中断处理需要保护断点和现场，重新设定</a:t>
            </a:r>
            <a:r>
              <a:rPr lang="en-US" altLang="zh-CN" sz="1700" b="1" kern="0" dirty="0">
                <a:latin typeface="+mn-ea"/>
              </a:rPr>
              <a:t>SP</a:t>
            </a:r>
            <a:r>
              <a:rPr lang="zh-CN" altLang="en-US" sz="1700" b="1" kern="0" dirty="0">
                <a:latin typeface="+mn-ea"/>
              </a:rPr>
              <a:t>，保证该栈区不要和其他</a:t>
            </a:r>
            <a:r>
              <a:rPr lang="en-US" altLang="zh-CN" sz="1700" b="1" kern="0" dirty="0">
                <a:latin typeface="+mn-ea"/>
              </a:rPr>
              <a:t>RAM</a:t>
            </a:r>
            <a:r>
              <a:rPr lang="zh-CN" altLang="en-US" sz="1700" b="1" kern="0" dirty="0">
                <a:latin typeface="+mn-ea"/>
              </a:rPr>
              <a:t>数据区发生重叠和冲突，以免发生信息混乱和丢失。</a:t>
            </a:r>
          </a:p>
          <a:p>
            <a:pPr marL="857250" lvl="1" indent="-45720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上电位复位从</a:t>
            </a:r>
            <a:r>
              <a:rPr lang="en-US" sz="1700" b="1" kern="0" dirty="0">
                <a:solidFill>
                  <a:srgbClr val="FF0000"/>
                </a:solidFill>
                <a:latin typeface="+mn-ea"/>
              </a:rPr>
              <a:t>0000H</a:t>
            </a: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开始执行</a:t>
            </a:r>
            <a:r>
              <a:rPr lang="zh-CN" altLang="en-US" sz="1700" b="1" kern="0" dirty="0">
                <a:latin typeface="+mn-ea"/>
              </a:rPr>
              <a:t>，安排转移指令指向主程序的实际入口地址；</a:t>
            </a:r>
            <a:endParaRPr lang="en-US" altLang="zh-CN" sz="1700" b="1" kern="0" dirty="0">
              <a:latin typeface="+mn-ea"/>
            </a:endParaRPr>
          </a:p>
          <a:p>
            <a:pPr marL="857250" lvl="1" indent="-45720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解决中断源、中断矢量和对应中断程序实际入口地址</a:t>
            </a:r>
            <a:r>
              <a:rPr lang="zh-CN" altLang="en-US" sz="1700" b="1" kern="0" dirty="0">
                <a:latin typeface="+mn-ea"/>
              </a:rPr>
              <a:t>的确定和软件连接问题。</a:t>
            </a:r>
            <a:endParaRPr lang="en-US" altLang="zh-CN" sz="1700" b="1" kern="0" dirty="0">
              <a:latin typeface="+mn-ea"/>
            </a:endParaRPr>
          </a:p>
          <a:p>
            <a:pPr marL="0" lvl="1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en-US" altLang="zh-CN" sz="1700" b="1" kern="0" dirty="0">
                <a:latin typeface="+mn-ea"/>
              </a:rPr>
              <a:t>       4.     </a:t>
            </a:r>
            <a:r>
              <a:rPr lang="zh-CN" altLang="en-US" sz="1700" b="1" kern="0" dirty="0">
                <a:latin typeface="+mn-ea"/>
              </a:rPr>
              <a:t>中断开放与配置</a:t>
            </a:r>
            <a:endParaRPr lang="en-US" altLang="zh-CN" sz="1700" b="1" kern="0" dirty="0">
              <a:latin typeface="+mn-ea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700" b="1" kern="0" dirty="0">
                <a:latin typeface="+mn-ea"/>
              </a:rPr>
              <a:t>如有</a:t>
            </a:r>
            <a:r>
              <a:rPr lang="zh-CN" altLang="en-US" sz="1700" b="1" kern="0" dirty="0">
                <a:solidFill>
                  <a:srgbClr val="0000FF"/>
                </a:solidFill>
                <a:latin typeface="+mn-ea"/>
              </a:rPr>
              <a:t>多级中断</a:t>
            </a:r>
            <a:r>
              <a:rPr lang="zh-CN" altLang="en-US" sz="1700" b="1" kern="0" dirty="0">
                <a:latin typeface="+mn-ea"/>
              </a:rPr>
              <a:t>，把需要高优先级的中断源对应的</a:t>
            </a:r>
            <a:r>
              <a:rPr lang="en-US" altLang="zh-CN" sz="1700" b="1" kern="0" dirty="0">
                <a:latin typeface="+mn-ea"/>
              </a:rPr>
              <a:t>IP</a:t>
            </a:r>
            <a:r>
              <a:rPr lang="zh-CN" altLang="en-US" sz="1700" b="1" kern="0" dirty="0">
                <a:latin typeface="+mn-ea"/>
              </a:rPr>
              <a:t>数据位设定为</a:t>
            </a:r>
            <a:r>
              <a:rPr lang="en-US" altLang="zh-CN" sz="1700" b="1" kern="0" dirty="0">
                <a:latin typeface="+mn-ea"/>
              </a:rPr>
              <a:t>1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700" b="1" kern="0" dirty="0">
                <a:latin typeface="+mn-ea"/>
              </a:rPr>
              <a:t>若用</a:t>
            </a:r>
            <a:r>
              <a:rPr lang="zh-CN" altLang="en-US" sz="1700" b="1" kern="0" dirty="0">
                <a:solidFill>
                  <a:srgbClr val="0000FF"/>
                </a:solidFill>
                <a:latin typeface="+mn-ea"/>
              </a:rPr>
              <a:t>外中断源</a:t>
            </a:r>
            <a:r>
              <a:rPr lang="en-US" altLang="zh-CN" sz="1700" b="1" kern="0" dirty="0">
                <a:solidFill>
                  <a:srgbClr val="0000FF"/>
                </a:solidFill>
                <a:latin typeface="+mn-ea"/>
              </a:rPr>
              <a:t>/INT0</a:t>
            </a:r>
            <a:r>
              <a:rPr lang="zh-CN" altLang="en-US" sz="1700" b="1" kern="0" dirty="0">
                <a:solidFill>
                  <a:srgbClr val="0000FF"/>
                </a:solidFill>
                <a:latin typeface="+mn-ea"/>
              </a:rPr>
              <a:t>或</a:t>
            </a:r>
            <a:r>
              <a:rPr lang="en-US" altLang="zh-CN" sz="1700" b="1" kern="0" dirty="0">
                <a:solidFill>
                  <a:srgbClr val="0000FF"/>
                </a:solidFill>
                <a:latin typeface="+mn-ea"/>
              </a:rPr>
              <a:t>/INT1</a:t>
            </a:r>
            <a:r>
              <a:rPr lang="zh-CN" altLang="en-US" sz="1700" b="1" kern="0" dirty="0">
                <a:latin typeface="+mn-ea"/>
              </a:rPr>
              <a:t>，应规定是低电平还是下降沿触发外部中断</a:t>
            </a:r>
            <a:endParaRPr lang="en-US" altLang="zh-CN" sz="1700" b="1" kern="0" dirty="0">
              <a:latin typeface="+mn-ea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700" b="1" kern="0" dirty="0">
                <a:latin typeface="+mn-ea"/>
              </a:rPr>
              <a:t>如用</a:t>
            </a:r>
            <a:r>
              <a:rPr lang="zh-CN" altLang="en-US" sz="1700" b="1" kern="0" dirty="0">
                <a:solidFill>
                  <a:srgbClr val="0000FF"/>
                </a:solidFill>
                <a:latin typeface="+mn-ea"/>
              </a:rPr>
              <a:t>定时</a:t>
            </a:r>
            <a:r>
              <a:rPr lang="en-US" altLang="zh-CN" sz="1700" b="1" kern="0" dirty="0">
                <a:solidFill>
                  <a:srgbClr val="0000FF"/>
                </a:solidFill>
                <a:latin typeface="+mn-ea"/>
              </a:rPr>
              <a:t>/</a:t>
            </a:r>
            <a:r>
              <a:rPr lang="zh-CN" altLang="en-US" sz="1700" b="1" kern="0" dirty="0">
                <a:solidFill>
                  <a:srgbClr val="0000FF"/>
                </a:solidFill>
                <a:latin typeface="+mn-ea"/>
              </a:rPr>
              <a:t>计数器</a:t>
            </a:r>
            <a:r>
              <a:rPr lang="zh-CN" altLang="en-US" sz="1700" b="1" kern="0" dirty="0">
                <a:latin typeface="+mn-ea"/>
              </a:rPr>
              <a:t>和串行通讯的中断，还需根据它们的工作机制进行其他的设置</a:t>
            </a:r>
          </a:p>
          <a:p>
            <a:pPr marL="742950" lvl="1" indent="-28575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根据所需中断源情况，把与中断源相应的</a:t>
            </a:r>
            <a:r>
              <a:rPr lang="en-US" altLang="zh-CN" sz="1700" b="1" kern="0" dirty="0">
                <a:solidFill>
                  <a:srgbClr val="FF0000"/>
                </a:solidFill>
                <a:latin typeface="+mn-ea"/>
              </a:rPr>
              <a:t>IE</a:t>
            </a: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数据位置</a:t>
            </a:r>
            <a:r>
              <a:rPr lang="en-US" altLang="zh-CN" sz="1700" b="1" kern="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 </a:t>
            </a:r>
            <a:endParaRPr lang="en-US" altLang="zh-CN" sz="1700" b="1" kern="0" dirty="0">
              <a:solidFill>
                <a:srgbClr val="FF0000"/>
              </a:solidFill>
              <a:latin typeface="+mn-ea"/>
            </a:endParaRPr>
          </a:p>
          <a:p>
            <a:pPr marL="742950" lvl="1" indent="-28575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对</a:t>
            </a:r>
            <a:r>
              <a:rPr lang="en-US" altLang="zh-CN" sz="1700" b="1" kern="0" dirty="0">
                <a:solidFill>
                  <a:srgbClr val="FF0000"/>
                </a:solidFill>
                <a:latin typeface="+mn-ea"/>
              </a:rPr>
              <a:t>EA</a:t>
            </a: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位为</a:t>
            </a:r>
            <a:r>
              <a:rPr lang="en-US" altLang="zh-CN" sz="1700" b="1" kern="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，使</a:t>
            </a:r>
            <a:r>
              <a:rPr lang="en-US" altLang="zh-CN" sz="1700" b="1" kern="0" dirty="0">
                <a:solidFill>
                  <a:srgbClr val="FF0000"/>
                </a:solidFill>
                <a:latin typeface="+mn-ea"/>
              </a:rPr>
              <a:t>CPU</a:t>
            </a:r>
            <a:r>
              <a:rPr lang="zh-CN" altLang="en-US" sz="1700" b="1" kern="0" dirty="0">
                <a:solidFill>
                  <a:srgbClr val="FF0000"/>
                </a:solidFill>
                <a:latin typeface="+mn-ea"/>
              </a:rPr>
              <a:t>全局开中断，接受中断源申请</a:t>
            </a:r>
          </a:p>
          <a:p>
            <a:pPr marL="857250" lvl="1" indent="-45720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zh-CN" altLang="en-US" b="1" kern="0" dirty="0">
              <a:latin typeface="+mn-ea"/>
            </a:endParaRPr>
          </a:p>
          <a:p>
            <a:pPr marL="34290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zh-CN" altLang="en-US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583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五、中断系统</a:t>
            </a:r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3AACA6A3-CF6F-43C3-ACF1-C5208759B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153" y="1198905"/>
            <a:ext cx="467995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66FF99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5.5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中断扩展</a:t>
            </a:r>
          </a:p>
        </p:txBody>
      </p:sp>
      <p:sp>
        <p:nvSpPr>
          <p:cNvPr id="6" name="椭圆 65">
            <a:extLst>
              <a:ext uri="{FF2B5EF4-FFF2-40B4-BE49-F238E27FC236}">
                <a16:creationId xmlns:a16="http://schemas.microsoft.com/office/drawing/2014/main" id="{532ADA51-56E4-42BB-A16E-7389355CFC4D}"/>
              </a:ext>
            </a:extLst>
          </p:cNvPr>
          <p:cNvSpPr/>
          <p:nvPr/>
        </p:nvSpPr>
        <p:spPr>
          <a:xfrm>
            <a:off x="5338140" y="2358240"/>
            <a:ext cx="865188" cy="22860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椭圆 63">
            <a:extLst>
              <a:ext uri="{FF2B5EF4-FFF2-40B4-BE49-F238E27FC236}">
                <a16:creationId xmlns:a16="http://schemas.microsoft.com/office/drawing/2014/main" id="{AA541112-266C-4183-A2DC-65C9D826D1EF}"/>
              </a:ext>
            </a:extLst>
          </p:cNvPr>
          <p:cNvSpPr/>
          <p:nvPr/>
        </p:nvSpPr>
        <p:spPr>
          <a:xfrm>
            <a:off x="4126878" y="1894690"/>
            <a:ext cx="746125" cy="1071563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椭圆 64">
            <a:extLst>
              <a:ext uri="{FF2B5EF4-FFF2-40B4-BE49-F238E27FC236}">
                <a16:creationId xmlns:a16="http://schemas.microsoft.com/office/drawing/2014/main" id="{90C82C4D-B028-47C6-9202-756F3B8D3EFE}"/>
              </a:ext>
            </a:extLst>
          </p:cNvPr>
          <p:cNvSpPr/>
          <p:nvPr/>
        </p:nvSpPr>
        <p:spPr>
          <a:xfrm>
            <a:off x="4136403" y="4623603"/>
            <a:ext cx="746125" cy="1216025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CD03C00-EA20-4DF9-ADC2-F391E4DD5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928" y="2636053"/>
            <a:ext cx="161925" cy="1444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AB7845F-5853-4A5F-AF25-F35B16980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928" y="2132815"/>
            <a:ext cx="161925" cy="1444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5A369B4-AE99-4127-B08A-6F760139D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928" y="5661828"/>
            <a:ext cx="161925" cy="1444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0E05B8DD-6612-4B17-8DCC-A41062B2B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928" y="5372903"/>
            <a:ext cx="161925" cy="1444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A6C158E0-9E82-4C19-BC37-72B2BF88F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928" y="5085565"/>
            <a:ext cx="161925" cy="1444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C973805B-2192-4C5B-BA28-36EF876B4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928" y="4796640"/>
            <a:ext cx="161925" cy="1444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118DC332-35AB-4A8D-986D-269D46FCBDF0}"/>
              </a:ext>
            </a:extLst>
          </p:cNvPr>
          <p:cNvSpPr/>
          <p:nvPr/>
        </p:nvSpPr>
        <p:spPr>
          <a:xfrm>
            <a:off x="3933203" y="1951840"/>
            <a:ext cx="974725" cy="40005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C1A3C0C2-23BD-4570-B6D3-F1A230182789}"/>
              </a:ext>
            </a:extLst>
          </p:cNvPr>
          <p:cNvSpPr txBox="1"/>
          <p:nvPr/>
        </p:nvSpPr>
        <p:spPr>
          <a:xfrm>
            <a:off x="4055440" y="1982003"/>
            <a:ext cx="7969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INT0</a:t>
            </a: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99318F93-5AB6-40F0-8EB1-548AA3A5247D}"/>
              </a:ext>
            </a:extLst>
          </p:cNvPr>
          <p:cNvSpPr txBox="1"/>
          <p:nvPr/>
        </p:nvSpPr>
        <p:spPr>
          <a:xfrm>
            <a:off x="4114178" y="2486828"/>
            <a:ext cx="738187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INT1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120395E5-E129-47D9-A34D-42F43E3A91AE}"/>
              </a:ext>
            </a:extLst>
          </p:cNvPr>
          <p:cNvSpPr txBox="1"/>
          <p:nvPr/>
        </p:nvSpPr>
        <p:spPr>
          <a:xfrm>
            <a:off x="4069728" y="4653765"/>
            <a:ext cx="782637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P1.3</a:t>
            </a:r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F52B7D69-99CA-4471-8D5E-10313BF205DB}"/>
              </a:ext>
            </a:extLst>
          </p:cNvPr>
          <p:cNvSpPr txBox="1"/>
          <p:nvPr/>
        </p:nvSpPr>
        <p:spPr>
          <a:xfrm>
            <a:off x="3996703" y="4956978"/>
            <a:ext cx="855662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P1.2</a:t>
            </a:r>
          </a:p>
        </p:txBody>
      </p:sp>
      <p:sp>
        <p:nvSpPr>
          <p:cNvPr id="20" name="Text Box 14">
            <a:extLst>
              <a:ext uri="{FF2B5EF4-FFF2-40B4-BE49-F238E27FC236}">
                <a16:creationId xmlns:a16="http://schemas.microsoft.com/office/drawing/2014/main" id="{B1C1CD63-AF50-4408-AF73-6CBB6B384013}"/>
              </a:ext>
            </a:extLst>
          </p:cNvPr>
          <p:cNvSpPr txBox="1"/>
          <p:nvPr/>
        </p:nvSpPr>
        <p:spPr>
          <a:xfrm>
            <a:off x="3968128" y="5230028"/>
            <a:ext cx="884237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P1.1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1D85BA-0B11-4400-8552-0EF867E324D4}"/>
              </a:ext>
            </a:extLst>
          </p:cNvPr>
          <p:cNvSpPr txBox="1"/>
          <p:nvPr/>
        </p:nvSpPr>
        <p:spPr>
          <a:xfrm>
            <a:off x="4055440" y="5517365"/>
            <a:ext cx="7969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P1.0</a:t>
            </a:r>
          </a:p>
        </p:txBody>
      </p:sp>
      <p:sp>
        <p:nvSpPr>
          <p:cNvPr id="22" name="Line 16">
            <a:extLst>
              <a:ext uri="{FF2B5EF4-FFF2-40B4-BE49-F238E27FC236}">
                <a16:creationId xmlns:a16="http://schemas.microsoft.com/office/drawing/2014/main" id="{73FA6AE7-09AB-497A-B9D1-B33BD530B77F}"/>
              </a:ext>
            </a:extLst>
          </p:cNvPr>
          <p:cNvSpPr/>
          <p:nvPr/>
        </p:nvSpPr>
        <p:spPr>
          <a:xfrm>
            <a:off x="4309440" y="2564615"/>
            <a:ext cx="4349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049C0DBA-B30E-4F0C-AFAF-AE44CD4288DB}"/>
              </a:ext>
            </a:extLst>
          </p:cNvPr>
          <p:cNvSpPr/>
          <p:nvPr/>
        </p:nvSpPr>
        <p:spPr>
          <a:xfrm flipV="1">
            <a:off x="4309440" y="2061378"/>
            <a:ext cx="434975" cy="127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Rectangle 18">
            <a:extLst>
              <a:ext uri="{FF2B5EF4-FFF2-40B4-BE49-F238E27FC236}">
                <a16:creationId xmlns:a16="http://schemas.microsoft.com/office/drawing/2014/main" id="{881884D6-6CEA-4BFC-985E-90E3033A40F5}"/>
              </a:ext>
            </a:extLst>
          </p:cNvPr>
          <p:cNvSpPr/>
          <p:nvPr/>
        </p:nvSpPr>
        <p:spPr>
          <a:xfrm>
            <a:off x="5609603" y="2493178"/>
            <a:ext cx="269875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A514486F-5496-4863-91D9-A7C4B105812D}"/>
              </a:ext>
            </a:extLst>
          </p:cNvPr>
          <p:cNvSpPr/>
          <p:nvPr/>
        </p:nvSpPr>
        <p:spPr>
          <a:xfrm>
            <a:off x="5609603" y="4004478"/>
            <a:ext cx="269875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0F9C04E2-0CC6-4868-9041-302B3498DEA0}"/>
              </a:ext>
            </a:extLst>
          </p:cNvPr>
          <p:cNvSpPr/>
          <p:nvPr/>
        </p:nvSpPr>
        <p:spPr>
          <a:xfrm>
            <a:off x="5609603" y="3501240"/>
            <a:ext cx="269875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42E753E0-7472-4CEE-9016-451C6AD3FA3C}"/>
              </a:ext>
            </a:extLst>
          </p:cNvPr>
          <p:cNvSpPr/>
          <p:nvPr/>
        </p:nvSpPr>
        <p:spPr>
          <a:xfrm>
            <a:off x="5609603" y="2996415"/>
            <a:ext cx="269875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Oval 22">
            <a:extLst>
              <a:ext uri="{FF2B5EF4-FFF2-40B4-BE49-F238E27FC236}">
                <a16:creationId xmlns:a16="http://schemas.microsoft.com/office/drawing/2014/main" id="{8F4FF10A-CCF3-43E0-BCB0-83C1F6F3A4A6}"/>
              </a:ext>
            </a:extLst>
          </p:cNvPr>
          <p:cNvSpPr/>
          <p:nvPr/>
        </p:nvSpPr>
        <p:spPr>
          <a:xfrm>
            <a:off x="5501653" y="2636053"/>
            <a:ext cx="107950" cy="14287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Oval 23">
            <a:extLst>
              <a:ext uri="{FF2B5EF4-FFF2-40B4-BE49-F238E27FC236}">
                <a16:creationId xmlns:a16="http://schemas.microsoft.com/office/drawing/2014/main" id="{7E7A0852-CEFB-48B5-929C-7B0DD2149E16}"/>
              </a:ext>
            </a:extLst>
          </p:cNvPr>
          <p:cNvSpPr/>
          <p:nvPr/>
        </p:nvSpPr>
        <p:spPr>
          <a:xfrm>
            <a:off x="5501653" y="3142465"/>
            <a:ext cx="107950" cy="14287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Oval 24">
            <a:extLst>
              <a:ext uri="{FF2B5EF4-FFF2-40B4-BE49-F238E27FC236}">
                <a16:creationId xmlns:a16="http://schemas.microsoft.com/office/drawing/2014/main" id="{451091BB-ACF4-40C9-8B24-1AAB8CBA0A79}"/>
              </a:ext>
            </a:extLst>
          </p:cNvPr>
          <p:cNvSpPr/>
          <p:nvPr/>
        </p:nvSpPr>
        <p:spPr>
          <a:xfrm>
            <a:off x="5501653" y="3645703"/>
            <a:ext cx="107950" cy="14287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Oval 25">
            <a:extLst>
              <a:ext uri="{FF2B5EF4-FFF2-40B4-BE49-F238E27FC236}">
                <a16:creationId xmlns:a16="http://schemas.microsoft.com/office/drawing/2014/main" id="{C7C8D41B-C905-4A28-9934-35AF66EBFF70}"/>
              </a:ext>
            </a:extLst>
          </p:cNvPr>
          <p:cNvSpPr/>
          <p:nvPr/>
        </p:nvSpPr>
        <p:spPr>
          <a:xfrm>
            <a:off x="5501653" y="4150528"/>
            <a:ext cx="107950" cy="14287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Line 26">
            <a:extLst>
              <a:ext uri="{FF2B5EF4-FFF2-40B4-BE49-F238E27FC236}">
                <a16:creationId xmlns:a16="http://schemas.microsoft.com/office/drawing/2014/main" id="{17763B8B-410A-473A-B70A-EBB0771A06A3}"/>
              </a:ext>
            </a:extLst>
          </p:cNvPr>
          <p:cNvSpPr/>
          <p:nvPr/>
        </p:nvSpPr>
        <p:spPr>
          <a:xfrm>
            <a:off x="5069853" y="2709078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" name="Line 27">
            <a:extLst>
              <a:ext uri="{FF2B5EF4-FFF2-40B4-BE49-F238E27FC236}">
                <a16:creationId xmlns:a16="http://schemas.microsoft.com/office/drawing/2014/main" id="{9C3B4BE3-B7EF-43E6-A35D-4E9062C521DF}"/>
              </a:ext>
            </a:extLst>
          </p:cNvPr>
          <p:cNvSpPr/>
          <p:nvPr/>
        </p:nvSpPr>
        <p:spPr>
          <a:xfrm>
            <a:off x="5285753" y="3213903"/>
            <a:ext cx="215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" name="Line 28">
            <a:extLst>
              <a:ext uri="{FF2B5EF4-FFF2-40B4-BE49-F238E27FC236}">
                <a16:creationId xmlns:a16="http://schemas.microsoft.com/office/drawing/2014/main" id="{F632CCF0-026B-450A-A220-7FB623A02625}"/>
              </a:ext>
            </a:extLst>
          </p:cNvPr>
          <p:cNvSpPr/>
          <p:nvPr/>
        </p:nvSpPr>
        <p:spPr>
          <a:xfrm>
            <a:off x="5285753" y="3717140"/>
            <a:ext cx="215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" name="Line 29">
            <a:extLst>
              <a:ext uri="{FF2B5EF4-FFF2-40B4-BE49-F238E27FC236}">
                <a16:creationId xmlns:a16="http://schemas.microsoft.com/office/drawing/2014/main" id="{84A0379E-AA13-4062-9F4A-67BB7BAF12B8}"/>
              </a:ext>
            </a:extLst>
          </p:cNvPr>
          <p:cNvSpPr/>
          <p:nvPr/>
        </p:nvSpPr>
        <p:spPr>
          <a:xfrm>
            <a:off x="5285753" y="4221965"/>
            <a:ext cx="215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" name="Line 30">
            <a:extLst>
              <a:ext uri="{FF2B5EF4-FFF2-40B4-BE49-F238E27FC236}">
                <a16:creationId xmlns:a16="http://schemas.microsoft.com/office/drawing/2014/main" id="{44BDC2BB-6EC3-4B6E-B52D-5FE2C5FBEEFC}"/>
              </a:ext>
            </a:extLst>
          </p:cNvPr>
          <p:cNvSpPr/>
          <p:nvPr/>
        </p:nvSpPr>
        <p:spPr>
          <a:xfrm flipV="1">
            <a:off x="5285753" y="2421740"/>
            <a:ext cx="0" cy="1800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" name="Oval 31">
            <a:extLst>
              <a:ext uri="{FF2B5EF4-FFF2-40B4-BE49-F238E27FC236}">
                <a16:creationId xmlns:a16="http://schemas.microsoft.com/office/drawing/2014/main" id="{01B2A863-F1DB-4462-B3DB-C2BAC5D967C3}"/>
              </a:ext>
            </a:extLst>
          </p:cNvPr>
          <p:cNvSpPr/>
          <p:nvPr/>
        </p:nvSpPr>
        <p:spPr>
          <a:xfrm>
            <a:off x="5231778" y="2637640"/>
            <a:ext cx="106362" cy="1428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Oval 32">
            <a:extLst>
              <a:ext uri="{FF2B5EF4-FFF2-40B4-BE49-F238E27FC236}">
                <a16:creationId xmlns:a16="http://schemas.microsoft.com/office/drawing/2014/main" id="{BC54CC19-3545-4427-89D4-69FA6A9C79CA}"/>
              </a:ext>
            </a:extLst>
          </p:cNvPr>
          <p:cNvSpPr/>
          <p:nvPr/>
        </p:nvSpPr>
        <p:spPr>
          <a:xfrm>
            <a:off x="5231778" y="3140878"/>
            <a:ext cx="106362" cy="1428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Oval 33">
            <a:extLst>
              <a:ext uri="{FF2B5EF4-FFF2-40B4-BE49-F238E27FC236}">
                <a16:creationId xmlns:a16="http://schemas.microsoft.com/office/drawing/2014/main" id="{9792A864-89C5-4C6C-ABCC-85287EF3D9CB}"/>
              </a:ext>
            </a:extLst>
          </p:cNvPr>
          <p:cNvSpPr/>
          <p:nvPr/>
        </p:nvSpPr>
        <p:spPr>
          <a:xfrm>
            <a:off x="5231778" y="3645703"/>
            <a:ext cx="106362" cy="1428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Rectangle 34">
            <a:extLst>
              <a:ext uri="{FF2B5EF4-FFF2-40B4-BE49-F238E27FC236}">
                <a16:creationId xmlns:a16="http://schemas.microsoft.com/office/drawing/2014/main" id="{649769CF-8024-456A-B5C7-1D0A29CFB7E4}"/>
              </a:ext>
            </a:extLst>
          </p:cNvPr>
          <p:cNvSpPr/>
          <p:nvPr/>
        </p:nvSpPr>
        <p:spPr>
          <a:xfrm>
            <a:off x="5231778" y="1988353"/>
            <a:ext cx="106362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Line 35">
            <a:extLst>
              <a:ext uri="{FF2B5EF4-FFF2-40B4-BE49-F238E27FC236}">
                <a16:creationId xmlns:a16="http://schemas.microsoft.com/office/drawing/2014/main" id="{C2DF1C43-BDE6-4809-9C4F-DC1B3C7311CF}"/>
              </a:ext>
            </a:extLst>
          </p:cNvPr>
          <p:cNvSpPr/>
          <p:nvPr/>
        </p:nvSpPr>
        <p:spPr>
          <a:xfrm flipV="1">
            <a:off x="5285753" y="1701015"/>
            <a:ext cx="0" cy="2873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" name="Text Box 36">
            <a:extLst>
              <a:ext uri="{FF2B5EF4-FFF2-40B4-BE49-F238E27FC236}">
                <a16:creationId xmlns:a16="http://schemas.microsoft.com/office/drawing/2014/main" id="{63960A93-02F2-441B-8D07-B49009A31426}"/>
              </a:ext>
            </a:extLst>
          </p:cNvPr>
          <p:cNvSpPr txBox="1"/>
          <p:nvPr/>
        </p:nvSpPr>
        <p:spPr>
          <a:xfrm>
            <a:off x="5173040" y="1481940"/>
            <a:ext cx="735013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+5V</a:t>
            </a:r>
          </a:p>
        </p:txBody>
      </p:sp>
      <p:sp>
        <p:nvSpPr>
          <p:cNvPr id="46" name="Line 37">
            <a:extLst>
              <a:ext uri="{FF2B5EF4-FFF2-40B4-BE49-F238E27FC236}">
                <a16:creationId xmlns:a16="http://schemas.microsoft.com/office/drawing/2014/main" id="{744B6031-0DD9-4B33-8BB2-0F262FBD9C92}"/>
              </a:ext>
            </a:extLst>
          </p:cNvPr>
          <p:cNvSpPr/>
          <p:nvPr/>
        </p:nvSpPr>
        <p:spPr>
          <a:xfrm>
            <a:off x="5879478" y="2709078"/>
            <a:ext cx="13493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" name="Oval 38">
            <a:extLst>
              <a:ext uri="{FF2B5EF4-FFF2-40B4-BE49-F238E27FC236}">
                <a16:creationId xmlns:a16="http://schemas.microsoft.com/office/drawing/2014/main" id="{314CE790-4950-4B19-A140-C6C0F3EC8078}"/>
              </a:ext>
            </a:extLst>
          </p:cNvPr>
          <p:cNvSpPr/>
          <p:nvPr/>
        </p:nvSpPr>
        <p:spPr>
          <a:xfrm>
            <a:off x="6906590" y="2637640"/>
            <a:ext cx="107950" cy="1428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Line 39">
            <a:extLst>
              <a:ext uri="{FF2B5EF4-FFF2-40B4-BE49-F238E27FC236}">
                <a16:creationId xmlns:a16="http://schemas.microsoft.com/office/drawing/2014/main" id="{5ED0C7B4-A2CF-4D44-AF73-BAEA86FD8C27}"/>
              </a:ext>
            </a:extLst>
          </p:cNvPr>
          <p:cNvSpPr/>
          <p:nvPr/>
        </p:nvSpPr>
        <p:spPr>
          <a:xfrm>
            <a:off x="5879478" y="3213903"/>
            <a:ext cx="13493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" name="Oval 40">
            <a:extLst>
              <a:ext uri="{FF2B5EF4-FFF2-40B4-BE49-F238E27FC236}">
                <a16:creationId xmlns:a16="http://schemas.microsoft.com/office/drawing/2014/main" id="{A5F4D8AC-DA98-4B01-9E4C-80A6812DC5DC}"/>
              </a:ext>
            </a:extLst>
          </p:cNvPr>
          <p:cNvSpPr/>
          <p:nvPr/>
        </p:nvSpPr>
        <p:spPr>
          <a:xfrm>
            <a:off x="6743078" y="3142465"/>
            <a:ext cx="107950" cy="1428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Line 41">
            <a:extLst>
              <a:ext uri="{FF2B5EF4-FFF2-40B4-BE49-F238E27FC236}">
                <a16:creationId xmlns:a16="http://schemas.microsoft.com/office/drawing/2014/main" id="{CECDD46A-E2E9-4EBD-8E98-E9D27B976B3C}"/>
              </a:ext>
            </a:extLst>
          </p:cNvPr>
          <p:cNvSpPr/>
          <p:nvPr/>
        </p:nvSpPr>
        <p:spPr>
          <a:xfrm>
            <a:off x="5879478" y="3717140"/>
            <a:ext cx="13493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" name="Oval 42">
            <a:extLst>
              <a:ext uri="{FF2B5EF4-FFF2-40B4-BE49-F238E27FC236}">
                <a16:creationId xmlns:a16="http://schemas.microsoft.com/office/drawing/2014/main" id="{6141BDAD-916C-4B7E-9B4B-49303B826563}"/>
              </a:ext>
            </a:extLst>
          </p:cNvPr>
          <p:cNvSpPr/>
          <p:nvPr/>
        </p:nvSpPr>
        <p:spPr>
          <a:xfrm>
            <a:off x="6581153" y="3645703"/>
            <a:ext cx="107950" cy="1428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Line 43">
            <a:extLst>
              <a:ext uri="{FF2B5EF4-FFF2-40B4-BE49-F238E27FC236}">
                <a16:creationId xmlns:a16="http://schemas.microsoft.com/office/drawing/2014/main" id="{7F141686-8D0D-4B41-B901-6522995F2107}"/>
              </a:ext>
            </a:extLst>
          </p:cNvPr>
          <p:cNvSpPr/>
          <p:nvPr/>
        </p:nvSpPr>
        <p:spPr>
          <a:xfrm>
            <a:off x="5879478" y="4221965"/>
            <a:ext cx="13493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" name="Oval 44">
            <a:extLst>
              <a:ext uri="{FF2B5EF4-FFF2-40B4-BE49-F238E27FC236}">
                <a16:creationId xmlns:a16="http://schemas.microsoft.com/office/drawing/2014/main" id="{A5D73B71-0A62-4D0F-8597-EB77B1EF4628}"/>
              </a:ext>
            </a:extLst>
          </p:cNvPr>
          <p:cNvSpPr/>
          <p:nvPr/>
        </p:nvSpPr>
        <p:spPr>
          <a:xfrm>
            <a:off x="6419228" y="4150528"/>
            <a:ext cx="107950" cy="1428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Line 45">
            <a:extLst>
              <a:ext uri="{FF2B5EF4-FFF2-40B4-BE49-F238E27FC236}">
                <a16:creationId xmlns:a16="http://schemas.microsoft.com/office/drawing/2014/main" id="{75E58B74-ED58-4A82-981E-FED6A59DD608}"/>
              </a:ext>
            </a:extLst>
          </p:cNvPr>
          <p:cNvSpPr/>
          <p:nvPr/>
        </p:nvSpPr>
        <p:spPr>
          <a:xfrm>
            <a:off x="5069853" y="4869665"/>
            <a:ext cx="14033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" name="Line 46">
            <a:extLst>
              <a:ext uri="{FF2B5EF4-FFF2-40B4-BE49-F238E27FC236}">
                <a16:creationId xmlns:a16="http://schemas.microsoft.com/office/drawing/2014/main" id="{27F4C7D9-860A-4464-8D8B-E8BA707B6423}"/>
              </a:ext>
            </a:extLst>
          </p:cNvPr>
          <p:cNvSpPr/>
          <p:nvPr/>
        </p:nvSpPr>
        <p:spPr>
          <a:xfrm>
            <a:off x="5069853" y="5157003"/>
            <a:ext cx="15652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" name="Line 47">
            <a:extLst>
              <a:ext uri="{FF2B5EF4-FFF2-40B4-BE49-F238E27FC236}">
                <a16:creationId xmlns:a16="http://schemas.microsoft.com/office/drawing/2014/main" id="{39BCCFB6-7CC8-4572-9A3C-540F213965EF}"/>
              </a:ext>
            </a:extLst>
          </p:cNvPr>
          <p:cNvSpPr/>
          <p:nvPr/>
        </p:nvSpPr>
        <p:spPr>
          <a:xfrm>
            <a:off x="5069853" y="5445928"/>
            <a:ext cx="172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" name="Line 48">
            <a:extLst>
              <a:ext uri="{FF2B5EF4-FFF2-40B4-BE49-F238E27FC236}">
                <a16:creationId xmlns:a16="http://schemas.microsoft.com/office/drawing/2014/main" id="{BEB8D098-1DF7-4FEE-8DD3-26491F8F1A9A}"/>
              </a:ext>
            </a:extLst>
          </p:cNvPr>
          <p:cNvSpPr/>
          <p:nvPr/>
        </p:nvSpPr>
        <p:spPr>
          <a:xfrm>
            <a:off x="5069853" y="5733265"/>
            <a:ext cx="18891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" name="Line 49">
            <a:extLst>
              <a:ext uri="{FF2B5EF4-FFF2-40B4-BE49-F238E27FC236}">
                <a16:creationId xmlns:a16="http://schemas.microsoft.com/office/drawing/2014/main" id="{B8371BD5-4872-4661-9EA2-08F2CDC473CD}"/>
              </a:ext>
            </a:extLst>
          </p:cNvPr>
          <p:cNvSpPr/>
          <p:nvPr/>
        </p:nvSpPr>
        <p:spPr>
          <a:xfrm>
            <a:off x="6958978" y="2709078"/>
            <a:ext cx="0" cy="30241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" name="Line 50">
            <a:extLst>
              <a:ext uri="{FF2B5EF4-FFF2-40B4-BE49-F238E27FC236}">
                <a16:creationId xmlns:a16="http://schemas.microsoft.com/office/drawing/2014/main" id="{D94BD3C4-A6C4-47FF-BDB2-926C0507001C}"/>
              </a:ext>
            </a:extLst>
          </p:cNvPr>
          <p:cNvSpPr/>
          <p:nvPr/>
        </p:nvSpPr>
        <p:spPr>
          <a:xfrm>
            <a:off x="6797053" y="3212315"/>
            <a:ext cx="0" cy="22336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" name="Line 51">
            <a:extLst>
              <a:ext uri="{FF2B5EF4-FFF2-40B4-BE49-F238E27FC236}">
                <a16:creationId xmlns:a16="http://schemas.microsoft.com/office/drawing/2014/main" id="{3F89AFDB-CC37-4BA5-A887-DE7D4622214F}"/>
              </a:ext>
            </a:extLst>
          </p:cNvPr>
          <p:cNvSpPr/>
          <p:nvPr/>
        </p:nvSpPr>
        <p:spPr>
          <a:xfrm>
            <a:off x="6635128" y="3717140"/>
            <a:ext cx="0" cy="14398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" name="Line 52">
            <a:extLst>
              <a:ext uri="{FF2B5EF4-FFF2-40B4-BE49-F238E27FC236}">
                <a16:creationId xmlns:a16="http://schemas.microsoft.com/office/drawing/2014/main" id="{CBB34762-95C9-4307-A966-1FF9B2F858F5}"/>
              </a:ext>
            </a:extLst>
          </p:cNvPr>
          <p:cNvSpPr/>
          <p:nvPr/>
        </p:nvSpPr>
        <p:spPr>
          <a:xfrm>
            <a:off x="6473203" y="4220378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" name="Text Box 53">
            <a:extLst>
              <a:ext uri="{FF2B5EF4-FFF2-40B4-BE49-F238E27FC236}">
                <a16:creationId xmlns:a16="http://schemas.microsoft.com/office/drawing/2014/main" id="{B8C8401C-FE8C-4A09-8BE4-5F9191A0DD93}"/>
              </a:ext>
            </a:extLst>
          </p:cNvPr>
          <p:cNvSpPr txBox="1"/>
          <p:nvPr/>
        </p:nvSpPr>
        <p:spPr>
          <a:xfrm>
            <a:off x="7282828" y="2558265"/>
            <a:ext cx="5937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IR1</a:t>
            </a:r>
          </a:p>
        </p:txBody>
      </p:sp>
      <p:sp>
        <p:nvSpPr>
          <p:cNvPr id="63" name="Text Box 54">
            <a:extLst>
              <a:ext uri="{FF2B5EF4-FFF2-40B4-BE49-F238E27FC236}">
                <a16:creationId xmlns:a16="http://schemas.microsoft.com/office/drawing/2014/main" id="{6E677656-54EB-47EA-A940-DF12970932AD}"/>
              </a:ext>
            </a:extLst>
          </p:cNvPr>
          <p:cNvSpPr txBox="1"/>
          <p:nvPr/>
        </p:nvSpPr>
        <p:spPr>
          <a:xfrm>
            <a:off x="7282828" y="3063090"/>
            <a:ext cx="5937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IR2</a:t>
            </a:r>
          </a:p>
        </p:txBody>
      </p:sp>
      <p:sp>
        <p:nvSpPr>
          <p:cNvPr id="64" name="Text Box 55">
            <a:extLst>
              <a:ext uri="{FF2B5EF4-FFF2-40B4-BE49-F238E27FC236}">
                <a16:creationId xmlns:a16="http://schemas.microsoft.com/office/drawing/2014/main" id="{CAAA4CC8-19EC-46D1-8628-50F68CE6FA1B}"/>
              </a:ext>
            </a:extLst>
          </p:cNvPr>
          <p:cNvSpPr txBox="1"/>
          <p:nvPr/>
        </p:nvSpPr>
        <p:spPr>
          <a:xfrm>
            <a:off x="7282828" y="3566328"/>
            <a:ext cx="5937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IR3</a:t>
            </a:r>
          </a:p>
        </p:txBody>
      </p:sp>
      <p:sp>
        <p:nvSpPr>
          <p:cNvPr id="65" name="Text Box 56">
            <a:extLst>
              <a:ext uri="{FF2B5EF4-FFF2-40B4-BE49-F238E27FC236}">
                <a16:creationId xmlns:a16="http://schemas.microsoft.com/office/drawing/2014/main" id="{4CB72D20-37D7-47A8-BE04-24470217B921}"/>
              </a:ext>
            </a:extLst>
          </p:cNvPr>
          <p:cNvSpPr txBox="1"/>
          <p:nvPr/>
        </p:nvSpPr>
        <p:spPr>
          <a:xfrm>
            <a:off x="7282828" y="4071153"/>
            <a:ext cx="5937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IR4</a:t>
            </a:r>
          </a:p>
        </p:txBody>
      </p:sp>
      <p:sp>
        <p:nvSpPr>
          <p:cNvPr id="66" name="Text Box 57">
            <a:extLst>
              <a:ext uri="{FF2B5EF4-FFF2-40B4-BE49-F238E27FC236}">
                <a16:creationId xmlns:a16="http://schemas.microsoft.com/office/drawing/2014/main" id="{D38D2334-CB9E-42F0-B230-6518231498EF}"/>
              </a:ext>
            </a:extLst>
          </p:cNvPr>
          <p:cNvSpPr txBox="1"/>
          <p:nvPr/>
        </p:nvSpPr>
        <p:spPr>
          <a:xfrm>
            <a:off x="5555628" y="2061378"/>
            <a:ext cx="966787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OC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门</a:t>
            </a:r>
          </a:p>
        </p:txBody>
      </p:sp>
      <p:sp>
        <p:nvSpPr>
          <p:cNvPr id="67" name="圆角矩形 60">
            <a:extLst>
              <a:ext uri="{FF2B5EF4-FFF2-40B4-BE49-F238E27FC236}">
                <a16:creationId xmlns:a16="http://schemas.microsoft.com/office/drawing/2014/main" id="{5E7C0C9D-5F2A-498C-B3EC-4AEBA718D976}"/>
              </a:ext>
            </a:extLst>
          </p:cNvPr>
          <p:cNvSpPr/>
          <p:nvPr/>
        </p:nvSpPr>
        <p:spPr>
          <a:xfrm>
            <a:off x="6062040" y="859640"/>
            <a:ext cx="3389313" cy="121443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采用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中断与查询相结合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的方法来实现外部中断源的扩展。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8" name="圆角矩形 61">
            <a:extLst>
              <a:ext uri="{FF2B5EF4-FFF2-40B4-BE49-F238E27FC236}">
                <a16:creationId xmlns:a16="http://schemas.microsoft.com/office/drawing/2014/main" id="{B5980219-006A-48F4-8673-C126043BD31B}"/>
              </a:ext>
            </a:extLst>
          </p:cNvPr>
          <p:cNvSpPr/>
          <p:nvPr/>
        </p:nvSpPr>
        <p:spPr>
          <a:xfrm>
            <a:off x="993153" y="2682090"/>
            <a:ext cx="2851150" cy="171608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通过程序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查询的次序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来决定扩展中断源的优先级。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9" name="直角上箭头 62">
            <a:extLst>
              <a:ext uri="{FF2B5EF4-FFF2-40B4-BE49-F238E27FC236}">
                <a16:creationId xmlns:a16="http://schemas.microsoft.com/office/drawing/2014/main" id="{26E80F54-69D7-43E8-A5E6-C911BC8D0FDD}"/>
              </a:ext>
            </a:extLst>
          </p:cNvPr>
          <p:cNvSpPr/>
          <p:nvPr/>
        </p:nvSpPr>
        <p:spPr>
          <a:xfrm rot="10800000">
            <a:off x="4501528" y="1118403"/>
            <a:ext cx="1339850" cy="690563"/>
          </a:xfrm>
          <a:prstGeom prst="bent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0" name="圆角右箭头 63">
            <a:extLst>
              <a:ext uri="{FF2B5EF4-FFF2-40B4-BE49-F238E27FC236}">
                <a16:creationId xmlns:a16="http://schemas.microsoft.com/office/drawing/2014/main" id="{84D9B225-9900-44A4-9A48-1865CC422E01}"/>
              </a:ext>
            </a:extLst>
          </p:cNvPr>
          <p:cNvSpPr/>
          <p:nvPr/>
        </p:nvSpPr>
        <p:spPr>
          <a:xfrm rot="10800000">
            <a:off x="6162053" y="2166153"/>
            <a:ext cx="725488" cy="1071563"/>
          </a:xfrm>
          <a:prstGeom prst="ben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1" name="直角上箭头 64">
            <a:extLst>
              <a:ext uri="{FF2B5EF4-FFF2-40B4-BE49-F238E27FC236}">
                <a16:creationId xmlns:a16="http://schemas.microsoft.com/office/drawing/2014/main" id="{6D8FF287-D725-4DDA-819E-2240DB43C815}"/>
              </a:ext>
            </a:extLst>
          </p:cNvPr>
          <p:cNvSpPr/>
          <p:nvPr/>
        </p:nvSpPr>
        <p:spPr>
          <a:xfrm rot="5400000">
            <a:off x="3071984" y="4408496"/>
            <a:ext cx="1000125" cy="1179513"/>
          </a:xfrm>
          <a:prstGeom prst="bentUpArrow">
            <a:avLst>
              <a:gd name="adj1" fmla="val 17381"/>
              <a:gd name="adj2" fmla="val 25000"/>
              <a:gd name="adj3" fmla="val 25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4061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六、定时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94DB9320-8BCC-4F72-8F4A-FCB52BA7058B}"/>
              </a:ext>
            </a:extLst>
          </p:cNvPr>
          <p:cNvSpPr txBox="1">
            <a:spLocks noChangeArrowheads="1"/>
          </p:cNvSpPr>
          <p:nvPr/>
        </p:nvSpPr>
        <p:spPr>
          <a:xfrm>
            <a:off x="829558" y="942432"/>
            <a:ext cx="10124388" cy="161223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indent="-342900" eaLnBrk="1" hangingPunct="1"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kern="0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作定时器使用时</a:t>
            </a:r>
            <a:r>
              <a:rPr lang="zh-CN" altLang="en-US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对</a:t>
            </a:r>
            <a:r>
              <a:rPr lang="zh-CN" altLang="en-US" kern="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机器周期信号</a:t>
            </a:r>
            <a:r>
              <a:rPr lang="zh-CN" altLang="en-US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进行计数。</a:t>
            </a:r>
            <a:endParaRPr lang="en-US" altLang="zh-CN" kern="0" dirty="0">
              <a:latin typeface="+mj-lt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400050" lvl="1" indent="0" eaLnBrk="1" hangingPunct="1">
              <a:buClr>
                <a:srgbClr val="92D050"/>
              </a:buClr>
              <a:buFont typeface="Wingdings 2" pitchFamily="18" charset="2"/>
              <a:buNone/>
              <a:defRPr/>
            </a:pPr>
            <a:r>
              <a:rPr lang="zh-CN" altLang="en-US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    每个机器周期，计数部件的计数值自动加</a:t>
            </a:r>
            <a:r>
              <a:rPr lang="en-US" altLang="zh-CN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。</a:t>
            </a:r>
          </a:p>
          <a:p>
            <a:pPr lvl="1" indent="-342900" eaLnBrk="1" hangingPunct="1"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kern="0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作计数器使用时</a:t>
            </a:r>
            <a:r>
              <a:rPr lang="zh-CN" altLang="en-US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，对出现在 </a:t>
            </a:r>
            <a:r>
              <a:rPr lang="zh-CN" altLang="en-US" kern="0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引脚 </a:t>
            </a:r>
            <a:r>
              <a:rPr lang="en-US" altLang="zh-CN" kern="0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T0/T1</a:t>
            </a:r>
            <a:r>
              <a:rPr lang="zh-CN" altLang="en-US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上的脉冲信号</a:t>
            </a:r>
            <a:r>
              <a:rPr lang="zh-CN" altLang="en-US" kern="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（负跳变）</a:t>
            </a:r>
            <a:r>
              <a:rPr lang="zh-CN" altLang="en-US" kern="0" dirty="0">
                <a:latin typeface="+mj-lt"/>
                <a:ea typeface="黑体" panose="02010609060101010101" pitchFamily="49" charset="-122"/>
                <a:cs typeface="Arial" panose="020B0604020202020204" pitchFamily="34" charset="0"/>
              </a:rPr>
              <a:t>进行计数。</a:t>
            </a:r>
            <a:endParaRPr kumimoji="1" lang="zh-CN" altLang="en-US" kern="0" dirty="0">
              <a:solidFill>
                <a:srgbClr val="000000"/>
              </a:solidFill>
              <a:latin typeface="+mj-lt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indent="0" eaLnBrk="1" hangingPunct="1">
              <a:defRPr/>
            </a:pPr>
            <a:endParaRPr kumimoji="1" lang="en-US" altLang="zh-CN" kern="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73" name="Object 22">
            <a:extLst>
              <a:ext uri="{FF2B5EF4-FFF2-40B4-BE49-F238E27FC236}">
                <a16:creationId xmlns:a16="http://schemas.microsoft.com/office/drawing/2014/main" id="{EB42C36E-A1F1-4ADE-A740-1AB8F31966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558706"/>
              </p:ext>
            </p:extLst>
          </p:nvPr>
        </p:nvGraphicFramePr>
        <p:xfrm>
          <a:off x="1957682" y="2379662"/>
          <a:ext cx="7532687" cy="447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Visio" r:id="rId3" imgW="10474738" imgH="6470809" progId="Visio.Drawing.11">
                  <p:embed/>
                </p:oleObj>
              </mc:Choice>
              <mc:Fallback>
                <p:oleObj name="Visio" r:id="rId3" imgW="10474738" imgH="6470809" progId="Visio.Drawing.11">
                  <p:embed/>
                  <p:pic>
                    <p:nvPicPr>
                      <p:cNvPr id="1026" name="Object 22">
                        <a:extLst>
                          <a:ext uri="{FF2B5EF4-FFF2-40B4-BE49-F238E27FC236}">
                            <a16:creationId xmlns:a16="http://schemas.microsoft.com/office/drawing/2014/main" id="{21149C35-569F-4469-8DEB-613CD3F8D5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682" y="2379662"/>
                        <a:ext cx="7532687" cy="447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83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六、定时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4F08EED-3F7A-4057-9F07-1D79AE6ACF88}"/>
              </a:ext>
            </a:extLst>
          </p:cNvPr>
          <p:cNvSpPr txBox="1">
            <a:spLocks noChangeArrowheads="1"/>
          </p:cNvSpPr>
          <p:nvPr/>
        </p:nvSpPr>
        <p:spPr>
          <a:xfrm>
            <a:off x="650449" y="1156745"/>
            <a:ext cx="7391400" cy="93662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9600" dirty="0">
                <a:solidFill>
                  <a:srgbClr val="C00000"/>
                </a:solidFill>
                <a:latin typeface="+mj-lt"/>
              </a:rPr>
              <a:t>TMOD</a:t>
            </a:r>
            <a:r>
              <a:rPr lang="en-US" altLang="zh-CN" sz="9600" dirty="0">
                <a:solidFill>
                  <a:srgbClr val="C00000"/>
                </a:solidFill>
              </a:rPr>
              <a:t> </a:t>
            </a:r>
            <a:r>
              <a:rPr lang="en-US" altLang="zh-CN" sz="9600" dirty="0">
                <a:solidFill>
                  <a:srgbClr val="A1011C"/>
                </a:solidFill>
              </a:rPr>
              <a:t> </a:t>
            </a:r>
            <a:r>
              <a:rPr lang="zh-CN" altLang="en-US" sz="9600" dirty="0"/>
              <a:t>定时器</a:t>
            </a:r>
            <a:r>
              <a:rPr lang="zh-CN" altLang="en-US" sz="9600" dirty="0">
                <a:solidFill>
                  <a:srgbClr val="C00000"/>
                </a:solidFill>
              </a:rPr>
              <a:t>方式控制</a:t>
            </a:r>
            <a:r>
              <a:rPr lang="zh-CN" altLang="en-US" sz="9600" dirty="0"/>
              <a:t>寄存器（只能字节寻址）</a:t>
            </a:r>
            <a:endParaRPr lang="en-US" altLang="zh-CN" sz="9600" dirty="0"/>
          </a:p>
          <a:p>
            <a:pPr>
              <a:buFontTx/>
              <a:buNone/>
              <a:defRPr/>
            </a:pPr>
            <a:r>
              <a:rPr lang="en-US" altLang="zh-CN" sz="9600" dirty="0"/>
              <a:t>          </a:t>
            </a:r>
            <a:r>
              <a:rPr lang="zh-CN" altLang="zh-CN" sz="9600" dirty="0"/>
              <a:t>用于选择工作方式</a:t>
            </a:r>
            <a:endParaRPr lang="en-US" altLang="zh-CN" sz="9600" dirty="0">
              <a:solidFill>
                <a:srgbClr val="A1011C"/>
              </a:solidFill>
            </a:endParaRPr>
          </a:p>
          <a:p>
            <a:pPr>
              <a:buFontTx/>
              <a:buNone/>
              <a:defRPr/>
            </a:pPr>
            <a:r>
              <a:rPr lang="en-US" altLang="zh-CN" b="1" dirty="0"/>
              <a:t> </a:t>
            </a:r>
            <a:endParaRPr lang="en-US" altLang="zh-CN" b="1" dirty="0">
              <a:solidFill>
                <a:srgbClr val="A1011C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FFEB5D-671A-49A5-A410-B87254501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786" y="2938806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  <a:contourClr>
              <a:srgbClr val="0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GATE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F2FE3EE-6B4C-4982-8119-1B1157751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6849" y="2938806"/>
            <a:ext cx="935037" cy="720725"/>
          </a:xfrm>
          <a:prstGeom prst="rect">
            <a:avLst/>
          </a:prstGeom>
          <a:solidFill>
            <a:srgbClr val="0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  <a:contourClr>
              <a:srgbClr val="0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C/T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C301DD40-D87C-4B50-853D-4E0154AF5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086" y="3154706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1A2D186-024D-4F3D-952F-0B341539F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4911" y="2938806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  <a:contourClr>
              <a:srgbClr val="0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</a:t>
            </a:r>
            <a:r>
              <a:rPr lang="en-US" altLang="zh-CN" baseline="-250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D79C19C7-82FD-4003-840B-569EFF54E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536" y="2938806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  <a:contourClr>
              <a:srgbClr val="0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</a:t>
            </a:r>
            <a:r>
              <a:rPr lang="en-US" altLang="zh-CN" baseline="-250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EE3D2E2-A728-40D3-A4D7-D7FE90CF7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499" y="2938806"/>
            <a:ext cx="935037" cy="720725"/>
          </a:xfrm>
          <a:prstGeom prst="rect">
            <a:avLst/>
          </a:prstGeom>
          <a:solidFill>
            <a:srgbClr val="5C46F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C46FC"/>
            </a:extrusionClr>
            <a:contourClr>
              <a:srgbClr val="5C46FC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GATE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679D76C0-F453-42DD-BDDA-5DD3E321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561" y="2938806"/>
            <a:ext cx="935038" cy="720725"/>
          </a:xfrm>
          <a:prstGeom prst="rect">
            <a:avLst/>
          </a:prstGeom>
          <a:solidFill>
            <a:srgbClr val="5C46F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C46FC"/>
            </a:extrusionClr>
            <a:contourClr>
              <a:srgbClr val="5C46FC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C/T</a:t>
            </a: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FFB01204-2EFE-4393-ACE4-145EBA14CD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6799" y="3154706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A278677D-90C1-4999-9EC9-B5FD35879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624" y="2938806"/>
            <a:ext cx="935037" cy="720725"/>
          </a:xfrm>
          <a:prstGeom prst="rect">
            <a:avLst/>
          </a:prstGeom>
          <a:solidFill>
            <a:srgbClr val="5C46F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C46FC"/>
            </a:extrusionClr>
            <a:contourClr>
              <a:srgbClr val="5C46FC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</a:t>
            </a:r>
            <a:r>
              <a:rPr lang="en-US" altLang="zh-CN" baseline="-250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4DB956E-283A-478C-A8D4-2B0B96B19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8249" y="2938806"/>
            <a:ext cx="935037" cy="720725"/>
          </a:xfrm>
          <a:prstGeom prst="rect">
            <a:avLst/>
          </a:prstGeom>
          <a:solidFill>
            <a:srgbClr val="5C46F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5C46FC"/>
            </a:extrusionClr>
            <a:contourClr>
              <a:srgbClr val="5C46FC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</a:t>
            </a:r>
            <a:r>
              <a:rPr lang="en-US" altLang="zh-CN" baseline="-250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CE5D4DE7-FA19-49E7-9F84-99BE69C39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211" y="2075206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T1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E91363D2-5530-4A9D-9E58-A044F794A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6949" y="2075206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T0</a:t>
            </a: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2F755C42-0BF6-4726-B263-48E4C3AC8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0586" y="3803994"/>
            <a:ext cx="0" cy="935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7">
            <a:extLst>
              <a:ext uri="{FF2B5EF4-FFF2-40B4-BE49-F238E27FC236}">
                <a16:creationId xmlns:a16="http://schemas.microsoft.com/office/drawing/2014/main" id="{5C68EB9E-84A6-4383-8C9E-F505BCB746D3}"/>
              </a:ext>
            </a:extLst>
          </p:cNvPr>
          <p:cNvSpPr>
            <a:spLocks/>
          </p:cNvSpPr>
          <p:nvPr/>
        </p:nvSpPr>
        <p:spPr bwMode="auto">
          <a:xfrm>
            <a:off x="2190586" y="3803994"/>
            <a:ext cx="4249738" cy="360362"/>
          </a:xfrm>
          <a:custGeom>
            <a:avLst/>
            <a:gdLst>
              <a:gd name="T0" fmla="*/ 2147483646 w 2677"/>
              <a:gd name="T1" fmla="*/ 0 h 273"/>
              <a:gd name="T2" fmla="*/ 2147483646 w 2677"/>
              <a:gd name="T3" fmla="*/ 2147483646 h 273"/>
              <a:gd name="T4" fmla="*/ 0 w 2677"/>
              <a:gd name="T5" fmla="*/ 2147483646 h 273"/>
              <a:gd name="T6" fmla="*/ 0 60000 65536"/>
              <a:gd name="T7" fmla="*/ 0 60000 65536"/>
              <a:gd name="T8" fmla="*/ 0 60000 65536"/>
              <a:gd name="T9" fmla="*/ 0 w 2677"/>
              <a:gd name="T10" fmla="*/ 0 h 273"/>
              <a:gd name="T11" fmla="*/ 2677 w 2677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7" h="273">
                <a:moveTo>
                  <a:pt x="2677" y="0"/>
                </a:moveTo>
                <a:lnTo>
                  <a:pt x="2677" y="273"/>
                </a:lnTo>
                <a:lnTo>
                  <a:pt x="0" y="273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42DAB59C-A94A-43EF-82B4-7357FC111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886" y="4883494"/>
            <a:ext cx="13684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门控位</a:t>
            </a:r>
          </a:p>
          <a:p>
            <a:pPr eaLnBrk="1" hangingPunct="1"/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：打开</a:t>
            </a:r>
          </a:p>
          <a:p>
            <a:pPr eaLnBrk="1" hangingPunct="1"/>
            <a:r>
              <a:rPr lang="en-US" altLang="zh-CN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：关闭</a:t>
            </a: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F0DD3A8B-54DB-4029-BAA4-89DC2993E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1674" y="3803994"/>
            <a:ext cx="0" cy="1368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20">
            <a:extLst>
              <a:ext uri="{FF2B5EF4-FFF2-40B4-BE49-F238E27FC236}">
                <a16:creationId xmlns:a16="http://schemas.microsoft.com/office/drawing/2014/main" id="{BF9DAF4D-AD75-480E-B739-62F21F95D0A1}"/>
              </a:ext>
            </a:extLst>
          </p:cNvPr>
          <p:cNvSpPr>
            <a:spLocks/>
          </p:cNvSpPr>
          <p:nvPr/>
        </p:nvSpPr>
        <p:spPr bwMode="auto">
          <a:xfrm>
            <a:off x="3270086" y="3803994"/>
            <a:ext cx="4249738" cy="647700"/>
          </a:xfrm>
          <a:custGeom>
            <a:avLst/>
            <a:gdLst>
              <a:gd name="T0" fmla="*/ 2147483646 w 2677"/>
              <a:gd name="T1" fmla="*/ 0 h 273"/>
              <a:gd name="T2" fmla="*/ 2147483646 w 2677"/>
              <a:gd name="T3" fmla="*/ 2147483646 h 273"/>
              <a:gd name="T4" fmla="*/ 0 w 2677"/>
              <a:gd name="T5" fmla="*/ 2147483646 h 273"/>
              <a:gd name="T6" fmla="*/ 0 60000 65536"/>
              <a:gd name="T7" fmla="*/ 0 60000 65536"/>
              <a:gd name="T8" fmla="*/ 0 60000 65536"/>
              <a:gd name="T9" fmla="*/ 0 w 2677"/>
              <a:gd name="T10" fmla="*/ 0 h 273"/>
              <a:gd name="T11" fmla="*/ 2677 w 2677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7" h="273">
                <a:moveTo>
                  <a:pt x="2677" y="0"/>
                </a:moveTo>
                <a:lnTo>
                  <a:pt x="2677" y="273"/>
                </a:lnTo>
                <a:lnTo>
                  <a:pt x="0" y="273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9962C0D5-653F-4D6D-AE99-8CD333FE2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749" y="5315294"/>
            <a:ext cx="31686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工作状态选择位</a:t>
            </a:r>
          </a:p>
          <a:p>
            <a:pPr eaLnBrk="1" hangingPunct="1"/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：计数状态</a:t>
            </a:r>
          </a:p>
          <a:p>
            <a:pPr eaLnBrk="1" hangingPunct="1"/>
            <a:r>
              <a:rPr lang="en-US" altLang="zh-CN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：定时状态</a:t>
            </a: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DDC0B6D9-A90E-4361-B938-72EB06E85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8249" y="3803994"/>
            <a:ext cx="0" cy="1368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23">
            <a:extLst>
              <a:ext uri="{FF2B5EF4-FFF2-40B4-BE49-F238E27FC236}">
                <a16:creationId xmlns:a16="http://schemas.microsoft.com/office/drawing/2014/main" id="{2B613563-D4C1-4157-8F3E-56CA3B3D48FD}"/>
              </a:ext>
            </a:extLst>
          </p:cNvPr>
          <p:cNvSpPr>
            <a:spLocks/>
          </p:cNvSpPr>
          <p:nvPr/>
        </p:nvSpPr>
        <p:spPr bwMode="auto">
          <a:xfrm flipH="1">
            <a:off x="4711536" y="3803994"/>
            <a:ext cx="4176713" cy="1008062"/>
          </a:xfrm>
          <a:custGeom>
            <a:avLst/>
            <a:gdLst>
              <a:gd name="T0" fmla="*/ 2147483646 w 2677"/>
              <a:gd name="T1" fmla="*/ 0 h 273"/>
              <a:gd name="T2" fmla="*/ 2147483646 w 2677"/>
              <a:gd name="T3" fmla="*/ 2147483646 h 273"/>
              <a:gd name="T4" fmla="*/ 0 w 2677"/>
              <a:gd name="T5" fmla="*/ 2147483646 h 273"/>
              <a:gd name="T6" fmla="*/ 0 60000 65536"/>
              <a:gd name="T7" fmla="*/ 0 60000 65536"/>
              <a:gd name="T8" fmla="*/ 0 60000 65536"/>
              <a:gd name="T9" fmla="*/ 0 w 2677"/>
              <a:gd name="T10" fmla="*/ 0 h 273"/>
              <a:gd name="T11" fmla="*/ 2677 w 2677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7" h="273">
                <a:moveTo>
                  <a:pt x="2677" y="0"/>
                </a:moveTo>
                <a:lnTo>
                  <a:pt x="2677" y="273"/>
                </a:lnTo>
                <a:lnTo>
                  <a:pt x="0" y="273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CD62E0CD-5A13-4E33-9C7B-BD1878D4C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3836" y="3803994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05407F70-D8D0-4EEE-903C-28CE3336E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0549" y="3803994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92C940A7-82C5-4278-9761-862E97F91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2861" y="5151781"/>
            <a:ext cx="39608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工作方式设置位</a:t>
            </a:r>
          </a:p>
          <a:p>
            <a:pPr eaLnBrk="1" hangingPunct="1"/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：方式</a:t>
            </a:r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0     01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：方式</a:t>
            </a:r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eaLnBrk="1" hangingPunct="1"/>
            <a:r>
              <a:rPr lang="en-US" altLang="zh-CN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：方式</a:t>
            </a:r>
            <a:r>
              <a:rPr lang="en-US" altLang="zh-CN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2     11</a:t>
            </a:r>
            <a:r>
              <a:rPr lang="zh-CN" altLang="en-US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：方式</a:t>
            </a:r>
            <a:r>
              <a:rPr lang="en-US" altLang="zh-CN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29" name="AutoShape 27">
            <a:extLst>
              <a:ext uri="{FF2B5EF4-FFF2-40B4-BE49-F238E27FC236}">
                <a16:creationId xmlns:a16="http://schemas.microsoft.com/office/drawing/2014/main" id="{843FEDF4-DDC4-4420-B5B1-9EA7112E3263}"/>
              </a:ext>
            </a:extLst>
          </p:cNvPr>
          <p:cNvSpPr>
            <a:spLocks/>
          </p:cNvSpPr>
          <p:nvPr/>
        </p:nvSpPr>
        <p:spPr bwMode="auto">
          <a:xfrm rot="16200000">
            <a:off x="3666961" y="1105244"/>
            <a:ext cx="217487" cy="3024188"/>
          </a:xfrm>
          <a:prstGeom prst="rightBrace">
            <a:avLst>
              <a:gd name="adj1" fmla="val 1158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0" name="AutoShape 28">
            <a:extLst>
              <a:ext uri="{FF2B5EF4-FFF2-40B4-BE49-F238E27FC236}">
                <a16:creationId xmlns:a16="http://schemas.microsoft.com/office/drawing/2014/main" id="{C17B0E31-ADBF-4F67-A52D-472A38EE086E}"/>
              </a:ext>
            </a:extLst>
          </p:cNvPr>
          <p:cNvSpPr>
            <a:spLocks/>
          </p:cNvSpPr>
          <p:nvPr/>
        </p:nvSpPr>
        <p:spPr bwMode="auto">
          <a:xfrm rot="16200000">
            <a:off x="7915111" y="1102069"/>
            <a:ext cx="217487" cy="3024188"/>
          </a:xfrm>
          <a:prstGeom prst="rightBrace">
            <a:avLst>
              <a:gd name="adj1" fmla="val 1158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174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/>
      <p:bldP spid="17" grpId="0"/>
      <p:bldP spid="20" grpId="0"/>
      <p:bldP spid="23" grpId="0"/>
      <p:bldP spid="28" grpId="0"/>
      <p:bldP spid="29" grpId="0" animBg="1"/>
      <p:bldP spid="3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六、定时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040B3C0-7DAC-4990-A8BB-C44F0ED50CFE}"/>
              </a:ext>
            </a:extLst>
          </p:cNvPr>
          <p:cNvSpPr txBox="1">
            <a:spLocks noChangeArrowheads="1"/>
          </p:cNvSpPr>
          <p:nvPr/>
        </p:nvSpPr>
        <p:spPr>
          <a:xfrm>
            <a:off x="1049894" y="1256841"/>
            <a:ext cx="7715250" cy="1081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>
                <a:solidFill>
                  <a:srgbClr val="A1011C"/>
                </a:solidFill>
                <a:latin typeface="+mj-lt"/>
              </a:rPr>
              <a:t>TCON  </a:t>
            </a:r>
            <a:r>
              <a:rPr lang="zh-CN" altLang="en-US">
                <a:latin typeface="+mj-lt"/>
              </a:rPr>
              <a:t>定时器</a:t>
            </a:r>
            <a:r>
              <a:rPr lang="zh-CN" altLang="en-US">
                <a:solidFill>
                  <a:srgbClr val="C00000"/>
                </a:solidFill>
                <a:latin typeface="+mj-lt"/>
              </a:rPr>
              <a:t>控制寄存器</a:t>
            </a:r>
            <a:r>
              <a:rPr lang="zh-CN" altLang="en-US">
                <a:latin typeface="+mj-lt"/>
              </a:rPr>
              <a:t>（可以字节寻址和位寻址）</a:t>
            </a:r>
            <a:endParaRPr lang="en-US" altLang="zh-CN">
              <a:latin typeface="+mj-lt"/>
            </a:endParaRPr>
          </a:p>
          <a:p>
            <a:pPr>
              <a:buFontTx/>
              <a:buNone/>
              <a:defRPr/>
            </a:pPr>
            <a:r>
              <a:rPr lang="en-US" altLang="zh-CN">
                <a:solidFill>
                  <a:srgbClr val="A1011C"/>
                </a:solidFill>
                <a:latin typeface="+mj-lt"/>
              </a:rPr>
              <a:t>                </a:t>
            </a:r>
            <a:r>
              <a:rPr lang="zh-CN" altLang="zh-CN">
                <a:latin typeface="+mj-lt"/>
              </a:rPr>
              <a:t>用于启动</a:t>
            </a:r>
            <a:r>
              <a:rPr lang="en-US" altLang="zh-CN">
                <a:latin typeface="+mj-lt"/>
              </a:rPr>
              <a:t>/ </a:t>
            </a:r>
            <a:r>
              <a:rPr lang="zh-CN" altLang="zh-CN">
                <a:latin typeface="+mj-lt"/>
              </a:rPr>
              <a:t>停止控制，以及保存中断标志</a:t>
            </a:r>
            <a:endParaRPr lang="en-US" altLang="zh-CN" dirty="0">
              <a:solidFill>
                <a:srgbClr val="A1011C"/>
              </a:solidFill>
              <a:latin typeface="+mj-lt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AFB7FFA-9F06-4C93-9D9F-0FA78A75C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931" y="2936416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  <a:contourClr>
              <a:srgbClr val="0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TF1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BD16A36-C4A8-4B39-AF67-28CDE1AA5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994" y="2936416"/>
            <a:ext cx="935037" cy="720725"/>
          </a:xfrm>
          <a:prstGeom prst="rect">
            <a:avLst/>
          </a:prstGeom>
          <a:solidFill>
            <a:srgbClr val="0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  <a:contourClr>
              <a:srgbClr val="0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TR1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C469ACE-5570-4777-A758-588FB1E67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056" y="2936416"/>
            <a:ext cx="935038" cy="720725"/>
          </a:xfrm>
          <a:prstGeom prst="rect">
            <a:avLst/>
          </a:prstGeom>
          <a:solidFill>
            <a:srgbClr val="000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0080"/>
            </a:extrusionClr>
            <a:contourClr>
              <a:srgbClr val="000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TF0</a:t>
            </a:r>
            <a:endParaRPr lang="en-US" altLang="zh-CN" baseline="-2500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6CC1608-1A30-4B5F-ADA9-4780DEB58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706" y="2936416"/>
            <a:ext cx="935038" cy="720725"/>
          </a:xfrm>
          <a:prstGeom prst="rect">
            <a:avLst/>
          </a:prstGeom>
          <a:solidFill>
            <a:srgbClr val="000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0080"/>
            </a:extrusionClr>
            <a:contourClr>
              <a:srgbClr val="000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TR0</a:t>
            </a:r>
            <a:endParaRPr lang="en-US" altLang="zh-CN" baseline="-2500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028F786-1348-4869-8E70-DE692773A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644" y="2936416"/>
            <a:ext cx="935037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  <a:contourClr>
              <a:srgbClr val="8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IE1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F61EA825-6D0A-4204-B320-DAD026905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706" y="2936416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  <a:contourClr>
              <a:srgbClr val="8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IT1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271B2EE4-0DCE-486A-82B7-3856AB294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69" y="2936416"/>
            <a:ext cx="935037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  <a:contourClr>
              <a:srgbClr val="8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IE0</a:t>
            </a:r>
            <a:endParaRPr lang="en-US" altLang="zh-CN" baseline="-2500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B60BCFEB-D346-4800-B35F-EBAFB5729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8419" y="2936416"/>
            <a:ext cx="935037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  <a:contourClr>
              <a:srgbClr val="808080"/>
            </a:contour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IT0</a:t>
            </a:r>
            <a:endParaRPr lang="en-US" altLang="zh-CN" baseline="-2500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A555133F-3C36-48F6-B3AF-544E3520A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7731" y="3730166"/>
            <a:ext cx="0" cy="935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7605A13D-D9CC-4C99-9FB3-7EC4FA112155}"/>
              </a:ext>
            </a:extLst>
          </p:cNvPr>
          <p:cNvSpPr>
            <a:spLocks/>
          </p:cNvSpPr>
          <p:nvPr/>
        </p:nvSpPr>
        <p:spPr bwMode="auto">
          <a:xfrm>
            <a:off x="1527731" y="3730166"/>
            <a:ext cx="2089150" cy="360363"/>
          </a:xfrm>
          <a:custGeom>
            <a:avLst/>
            <a:gdLst>
              <a:gd name="T0" fmla="*/ 2147483646 w 2677"/>
              <a:gd name="T1" fmla="*/ 0 h 273"/>
              <a:gd name="T2" fmla="*/ 2147483646 w 2677"/>
              <a:gd name="T3" fmla="*/ 2147483646 h 273"/>
              <a:gd name="T4" fmla="*/ 0 w 2677"/>
              <a:gd name="T5" fmla="*/ 2147483646 h 273"/>
              <a:gd name="T6" fmla="*/ 0 60000 65536"/>
              <a:gd name="T7" fmla="*/ 0 60000 65536"/>
              <a:gd name="T8" fmla="*/ 0 60000 65536"/>
              <a:gd name="T9" fmla="*/ 0 w 2677"/>
              <a:gd name="T10" fmla="*/ 0 h 273"/>
              <a:gd name="T11" fmla="*/ 2677 w 2677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7" h="273">
                <a:moveTo>
                  <a:pt x="2677" y="0"/>
                </a:moveTo>
                <a:lnTo>
                  <a:pt x="2677" y="273"/>
                </a:lnTo>
                <a:lnTo>
                  <a:pt x="0" y="273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B0A7957F-9F52-45AE-A22B-9CB8FB3E5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031" y="4736641"/>
            <a:ext cx="27368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中断请求标志</a:t>
            </a:r>
          </a:p>
          <a:p>
            <a:pPr eaLnBrk="1" hangingPunct="1"/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：有请求</a:t>
            </a:r>
          </a:p>
          <a:p>
            <a:pPr eaLnBrk="1" hangingPunct="1"/>
            <a:r>
              <a:rPr lang="en-US" altLang="zh-CN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：无请求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EF8AE4FF-28D6-49E8-9467-5BD2BB028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4944" y="3728579"/>
            <a:ext cx="0" cy="935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E2DD5DB0-69BE-415F-917D-367919AD69B6}"/>
              </a:ext>
            </a:extLst>
          </p:cNvPr>
          <p:cNvSpPr>
            <a:spLocks/>
          </p:cNvSpPr>
          <p:nvPr/>
        </p:nvSpPr>
        <p:spPr bwMode="auto">
          <a:xfrm flipH="1">
            <a:off x="2608819" y="3728579"/>
            <a:ext cx="2016125" cy="577850"/>
          </a:xfrm>
          <a:custGeom>
            <a:avLst/>
            <a:gdLst>
              <a:gd name="T0" fmla="*/ 2147483646 w 2677"/>
              <a:gd name="T1" fmla="*/ 0 h 273"/>
              <a:gd name="T2" fmla="*/ 2147483646 w 2677"/>
              <a:gd name="T3" fmla="*/ 2147483646 h 273"/>
              <a:gd name="T4" fmla="*/ 0 w 2677"/>
              <a:gd name="T5" fmla="*/ 2147483646 h 273"/>
              <a:gd name="T6" fmla="*/ 0 60000 65536"/>
              <a:gd name="T7" fmla="*/ 0 60000 65536"/>
              <a:gd name="T8" fmla="*/ 0 60000 65536"/>
              <a:gd name="T9" fmla="*/ 0 w 2677"/>
              <a:gd name="T10" fmla="*/ 0 h 273"/>
              <a:gd name="T11" fmla="*/ 2677 w 2677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7" h="273">
                <a:moveTo>
                  <a:pt x="2677" y="0"/>
                </a:moveTo>
                <a:lnTo>
                  <a:pt x="2677" y="273"/>
                </a:lnTo>
                <a:lnTo>
                  <a:pt x="0" y="273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498E099E-2DA1-4598-87A3-FFC790410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756" y="4773154"/>
            <a:ext cx="17287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运行控制位</a:t>
            </a:r>
          </a:p>
          <a:p>
            <a:pPr eaLnBrk="1" hangingPunct="1"/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：打开</a:t>
            </a:r>
          </a:p>
          <a:p>
            <a:pPr eaLnBrk="1" hangingPunct="1"/>
            <a:r>
              <a:rPr lang="en-US" altLang="zh-CN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solidFill>
                  <a:srgbClr val="A101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：关断</a:t>
            </a: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7293BF74-9C63-4281-AA2D-61884F249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8544" y="3800016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2DE40610-CF66-4438-AFE4-BD1E0C101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1794" y="3800016"/>
            <a:ext cx="0" cy="935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CA6665F5-216A-4CB2-8D75-9FD39571D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2144" y="4808079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外部中断控制</a:t>
            </a:r>
          </a:p>
        </p:txBody>
      </p:sp>
    </p:spTree>
    <p:extLst>
      <p:ext uri="{BB962C8B-B14F-4D97-AF65-F5344CB8AC3E}">
        <p14:creationId xmlns:p14="http://schemas.microsoft.com/office/powerpoint/2010/main" val="76635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9" grpId="0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230EE5-ADAA-4D25-8639-ED8FFC2F9453}"/>
              </a:ext>
            </a:extLst>
          </p:cNvPr>
          <p:cNvSpPr/>
          <p:nvPr/>
        </p:nvSpPr>
        <p:spPr>
          <a:xfrm>
            <a:off x="850834" y="809871"/>
            <a:ext cx="8359153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endParaRPr lang="zh-CN" altLang="zh-CN" sz="2000" kern="100" dirty="0">
              <a:latin typeface="+mj-lt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zh-CN" altLang="zh-CN" sz="2000" kern="100" dirty="0">
                <a:solidFill>
                  <a:srgbClr val="C00000"/>
                </a:solidFill>
                <a:latin typeface="+mj-lt"/>
                <a:ea typeface="黑体" panose="02010609060101010101" pitchFamily="49" charset="-122"/>
              </a:rPr>
              <a:t>工作模式</a:t>
            </a:r>
            <a:r>
              <a:rPr lang="en-US" altLang="zh-CN" sz="2000" kern="100" dirty="0">
                <a:solidFill>
                  <a:srgbClr val="C00000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zh-CN" sz="2000" kern="100" dirty="0">
                <a:solidFill>
                  <a:srgbClr val="C00000"/>
                </a:solidFill>
                <a:latin typeface="+mj-lt"/>
                <a:ea typeface="黑体" panose="02010609060101010101" pitchFamily="49" charset="-122"/>
              </a:rPr>
              <a:t>：</a:t>
            </a:r>
            <a:endParaRPr lang="en-US" altLang="zh-CN" sz="2000" kern="100" dirty="0">
              <a:solidFill>
                <a:srgbClr val="C00000"/>
              </a:solidFill>
              <a:latin typeface="+mj-lt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000" kern="100" dirty="0">
                <a:latin typeface="+mj-lt"/>
                <a:ea typeface="黑体" panose="02010609060101010101" pitchFamily="49" charset="-122"/>
              </a:rPr>
              <a:t>         16</a:t>
            </a:r>
            <a:r>
              <a:rPr lang="zh-CN" altLang="zh-CN" sz="2000" kern="100" dirty="0">
                <a:latin typeface="+mj-lt"/>
                <a:ea typeface="黑体" panose="02010609060101010101" pitchFamily="49" charset="-122"/>
              </a:rPr>
              <a:t>位定时或计数模式。</a:t>
            </a:r>
            <a:endParaRPr lang="en-US" altLang="zh-CN" sz="2000" kern="100" dirty="0">
              <a:latin typeface="+mj-lt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000" kern="100" dirty="0">
                <a:latin typeface="+mj-lt"/>
                <a:ea typeface="黑体" panose="02010609060101010101" pitchFamily="49" charset="-122"/>
              </a:rPr>
              <a:t>         </a:t>
            </a:r>
            <a:r>
              <a:rPr lang="zh-CN" altLang="zh-CN" sz="2000" kern="100" dirty="0">
                <a:latin typeface="+mj-lt"/>
                <a:ea typeface="黑体" panose="02010609060101010101" pitchFamily="49" charset="-122"/>
              </a:rPr>
              <a:t>常用方式</a:t>
            </a:r>
            <a:r>
              <a:rPr lang="zh-CN" altLang="en-US" sz="2000" kern="100" dirty="0">
                <a:latin typeface="+mj-lt"/>
                <a:ea typeface="黑体" panose="02010609060101010101" pitchFamily="49" charset="-122"/>
              </a:rPr>
              <a:t>，可以实现较长时间的定时，或计数。</a:t>
            </a:r>
            <a:endParaRPr lang="en-US" altLang="zh-CN" sz="2000" kern="100" dirty="0">
              <a:latin typeface="+mj-lt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endParaRPr lang="zh-CN" altLang="zh-CN" sz="2000" kern="100" dirty="0">
              <a:latin typeface="+mj-lt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zh-CN" altLang="zh-CN" sz="2000" kern="100" dirty="0">
                <a:solidFill>
                  <a:srgbClr val="C00000"/>
                </a:solidFill>
                <a:latin typeface="+mj-lt"/>
                <a:ea typeface="黑体" panose="02010609060101010101" pitchFamily="49" charset="-122"/>
              </a:rPr>
              <a:t>工作模式</a:t>
            </a:r>
            <a:r>
              <a:rPr lang="en-US" altLang="zh-CN" sz="2000" kern="100" dirty="0">
                <a:solidFill>
                  <a:srgbClr val="C00000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zh-CN" altLang="zh-CN" sz="2000" kern="100" dirty="0">
                <a:solidFill>
                  <a:srgbClr val="C00000"/>
                </a:solidFill>
                <a:latin typeface="+mj-lt"/>
                <a:ea typeface="黑体" panose="02010609060101010101" pitchFamily="49" charset="-122"/>
              </a:rPr>
              <a:t>：</a:t>
            </a:r>
            <a:endParaRPr lang="en-US" altLang="zh-CN" sz="2000" kern="100" dirty="0">
              <a:solidFill>
                <a:srgbClr val="C00000"/>
              </a:solidFill>
              <a:latin typeface="+mj-lt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000" kern="100" dirty="0">
                <a:latin typeface="+mj-lt"/>
                <a:ea typeface="黑体" panose="02010609060101010101" pitchFamily="49" charset="-122"/>
              </a:rPr>
              <a:t>        8</a:t>
            </a:r>
            <a:r>
              <a:rPr lang="zh-CN" altLang="zh-CN" sz="2000" kern="100" dirty="0">
                <a:latin typeface="+mj-lt"/>
                <a:ea typeface="黑体" panose="02010609060101010101" pitchFamily="49" charset="-122"/>
              </a:rPr>
              <a:t>位定时或计数模式，</a:t>
            </a:r>
            <a:r>
              <a:rPr lang="zh-CN" altLang="zh-CN" sz="2000" kern="100" dirty="0">
                <a:solidFill>
                  <a:srgbClr val="3333FF"/>
                </a:solidFill>
                <a:latin typeface="+mj-lt"/>
                <a:ea typeface="黑体" panose="02010609060101010101" pitchFamily="49" charset="-122"/>
              </a:rPr>
              <a:t>可以自动装载初始值。</a:t>
            </a:r>
            <a:endParaRPr lang="en-US" altLang="zh-CN" sz="2000" kern="100" dirty="0">
              <a:solidFill>
                <a:srgbClr val="3333FF"/>
              </a:solidFill>
              <a:latin typeface="+mj-lt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000" kern="100" dirty="0">
                <a:solidFill>
                  <a:srgbClr val="3333FF"/>
                </a:solidFill>
                <a:latin typeface="+mj-lt"/>
                <a:ea typeface="黑体" panose="02010609060101010101" pitchFamily="49" charset="-122"/>
              </a:rPr>
              <a:t>     </a:t>
            </a:r>
            <a:r>
              <a:rPr lang="en-US" altLang="zh-CN" sz="2000" kern="1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   </a:t>
            </a:r>
            <a:r>
              <a:rPr lang="zh-CN" altLang="zh-CN" sz="2000" kern="1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常用方式</a:t>
            </a:r>
            <a:r>
              <a:rPr lang="zh-CN" altLang="en-US" sz="2000" kern="1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，因可以自动装载初始值，所以编程方面。另外也有利于提高定时准确性。</a:t>
            </a:r>
            <a:endParaRPr lang="en-US" altLang="zh-CN" sz="2000" kern="1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endParaRPr lang="en-US" altLang="zh-CN" sz="2000" kern="1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  <a:p>
            <a:pPr algn="just">
              <a:defRPr/>
            </a:pPr>
            <a:r>
              <a:rPr lang="zh-CN" altLang="zh-CN" sz="1600" kern="100" dirty="0">
                <a:solidFill>
                  <a:srgbClr val="C00000"/>
                </a:solidFill>
                <a:ea typeface="黑体" panose="02010609060101010101" pitchFamily="49" charset="-122"/>
              </a:rPr>
              <a:t>工作模式</a:t>
            </a:r>
            <a:r>
              <a:rPr lang="en-US" altLang="zh-CN" sz="1600" kern="100" dirty="0">
                <a:solidFill>
                  <a:srgbClr val="C00000"/>
                </a:solidFill>
                <a:ea typeface="黑体" panose="02010609060101010101" pitchFamily="49" charset="-122"/>
              </a:rPr>
              <a:t>0</a:t>
            </a:r>
            <a:r>
              <a:rPr lang="zh-CN" altLang="zh-CN" sz="1600" kern="100" dirty="0">
                <a:solidFill>
                  <a:srgbClr val="C00000"/>
                </a:solidFill>
                <a:ea typeface="黑体" panose="02010609060101010101" pitchFamily="49" charset="-122"/>
              </a:rPr>
              <a:t>：</a:t>
            </a:r>
            <a:endParaRPr lang="en-US" altLang="zh-CN" sz="1600" kern="100" dirty="0">
              <a:solidFill>
                <a:srgbClr val="C00000"/>
              </a:solidFill>
              <a:ea typeface="黑体" panose="02010609060101010101" pitchFamily="49" charset="-122"/>
            </a:endParaRPr>
          </a:p>
          <a:p>
            <a:pPr algn="just">
              <a:defRPr/>
            </a:pPr>
            <a:r>
              <a:rPr lang="en-US" altLang="zh-CN" sz="1600" kern="100" dirty="0">
                <a:ea typeface="黑体" panose="02010609060101010101" pitchFamily="49" charset="-122"/>
              </a:rPr>
              <a:t>        13</a:t>
            </a:r>
            <a:r>
              <a:rPr lang="zh-CN" altLang="zh-CN" sz="1600" kern="100" dirty="0">
                <a:ea typeface="黑体" panose="02010609060101010101" pitchFamily="49" charset="-122"/>
              </a:rPr>
              <a:t>位定时或计数模式，</a:t>
            </a:r>
            <a:endParaRPr lang="en-US" altLang="zh-CN" sz="1600" kern="100" dirty="0">
              <a:ea typeface="黑体" panose="02010609060101010101" pitchFamily="49" charset="-122"/>
            </a:endParaRPr>
          </a:p>
          <a:p>
            <a:pPr algn="just">
              <a:defRPr/>
            </a:pPr>
            <a:r>
              <a:rPr lang="en-US" altLang="zh-CN" sz="1600" kern="100" dirty="0">
                <a:ea typeface="黑体" panose="02010609060101010101" pitchFamily="49" charset="-122"/>
              </a:rPr>
              <a:t>        </a:t>
            </a:r>
            <a:r>
              <a:rPr lang="zh-CN" altLang="zh-CN" sz="1600" kern="100" dirty="0">
                <a:ea typeface="黑体" panose="02010609060101010101" pitchFamily="49" charset="-122"/>
              </a:rPr>
              <a:t>用于与早期</a:t>
            </a:r>
            <a:r>
              <a:rPr lang="en-US" altLang="zh-CN" sz="1600" kern="100" dirty="0">
                <a:ea typeface="黑体" panose="02010609060101010101" pitchFamily="49" charset="-122"/>
              </a:rPr>
              <a:t>MCS-48</a:t>
            </a:r>
            <a:r>
              <a:rPr lang="zh-CN" altLang="zh-CN" sz="1600" kern="100" dirty="0">
                <a:ea typeface="黑体" panose="02010609060101010101" pitchFamily="49" charset="-122"/>
              </a:rPr>
              <a:t>系列</a:t>
            </a:r>
            <a:r>
              <a:rPr lang="en-US" altLang="zh-CN" sz="1600" kern="100" dirty="0">
                <a:ea typeface="黑体" panose="02010609060101010101" pitchFamily="49" charset="-122"/>
              </a:rPr>
              <a:t>MCU</a:t>
            </a:r>
            <a:r>
              <a:rPr lang="zh-CN" altLang="zh-CN" sz="1600" kern="100" dirty="0">
                <a:ea typeface="黑体" panose="02010609060101010101" pitchFamily="49" charset="-122"/>
              </a:rPr>
              <a:t>兼容，</a:t>
            </a:r>
            <a:r>
              <a:rPr lang="zh-CN" altLang="zh-CN" sz="1600" kern="100" dirty="0">
                <a:solidFill>
                  <a:srgbClr val="0000FF"/>
                </a:solidFill>
                <a:ea typeface="黑体" panose="02010609060101010101" pitchFamily="49" charset="-122"/>
              </a:rPr>
              <a:t>现很少使用</a:t>
            </a:r>
            <a:r>
              <a:rPr lang="zh-CN" altLang="zh-CN" sz="1600" kern="100" dirty="0">
                <a:ea typeface="黑体" panose="02010609060101010101" pitchFamily="49" charset="-122"/>
              </a:rPr>
              <a:t>。</a:t>
            </a:r>
            <a:endParaRPr lang="en-US" altLang="zh-CN" sz="1600" kern="100" dirty="0">
              <a:ea typeface="黑体" panose="02010609060101010101" pitchFamily="49" charset="-122"/>
            </a:endParaRPr>
          </a:p>
          <a:p>
            <a:pPr algn="just">
              <a:defRPr/>
            </a:pPr>
            <a:r>
              <a:rPr lang="en-US" altLang="zh-CN" sz="1600" kern="100" dirty="0">
                <a:ea typeface="黑体" panose="02010609060101010101" pitchFamily="49" charset="-122"/>
              </a:rPr>
              <a:t>        </a:t>
            </a:r>
            <a:r>
              <a:rPr lang="zh-CN" altLang="en-US" sz="1600" kern="100" dirty="0">
                <a:ea typeface="黑体" panose="02010609060101010101" pitchFamily="49" charset="-122"/>
              </a:rPr>
              <a:t>在该模式中，</a:t>
            </a:r>
            <a:r>
              <a:rPr lang="en-US" altLang="zh-CN" sz="1600" kern="100" dirty="0" err="1">
                <a:ea typeface="黑体" panose="02010609060101010101" pitchFamily="49" charset="-122"/>
              </a:rPr>
              <a:t>TLx</a:t>
            </a:r>
            <a:r>
              <a:rPr lang="en-US" altLang="zh-CN" sz="1600" kern="100" dirty="0">
                <a:ea typeface="黑体" panose="02010609060101010101" pitchFamily="49" charset="-122"/>
              </a:rPr>
              <a:t> </a:t>
            </a:r>
            <a:r>
              <a:rPr lang="zh-CN" altLang="en-US" sz="1600" kern="100" dirty="0">
                <a:ea typeface="黑体" panose="02010609060101010101" pitchFamily="49" charset="-122"/>
              </a:rPr>
              <a:t>实际等同于</a:t>
            </a:r>
            <a:r>
              <a:rPr lang="en-US" altLang="zh-CN" sz="1600" kern="100" dirty="0">
                <a:ea typeface="黑体" panose="02010609060101010101" pitchFamily="49" charset="-122"/>
              </a:rPr>
              <a:t>32</a:t>
            </a:r>
            <a:r>
              <a:rPr lang="zh-CN" altLang="en-US" sz="1600" kern="100" dirty="0">
                <a:ea typeface="黑体" panose="02010609060101010101" pitchFamily="49" charset="-122"/>
              </a:rPr>
              <a:t>分频器的作用。</a:t>
            </a:r>
            <a:endParaRPr lang="en-US" altLang="zh-CN" sz="1600" kern="100" dirty="0">
              <a:ea typeface="黑体" panose="02010609060101010101" pitchFamily="49" charset="-122"/>
            </a:endParaRPr>
          </a:p>
          <a:p>
            <a:pPr algn="just">
              <a:defRPr/>
            </a:pPr>
            <a:endParaRPr lang="zh-CN" altLang="zh-CN" sz="1600" kern="100" dirty="0">
              <a:ea typeface="黑体" panose="02010609060101010101" pitchFamily="49" charset="-122"/>
            </a:endParaRPr>
          </a:p>
          <a:p>
            <a:pPr algn="just">
              <a:defRPr/>
            </a:pPr>
            <a:r>
              <a:rPr lang="zh-CN" altLang="zh-CN" sz="1600" kern="100" dirty="0">
                <a:solidFill>
                  <a:srgbClr val="C00000"/>
                </a:solidFill>
                <a:ea typeface="黑体" panose="02010609060101010101" pitchFamily="49" charset="-122"/>
              </a:rPr>
              <a:t>工作模式</a:t>
            </a:r>
            <a:r>
              <a:rPr lang="en-US" altLang="zh-CN" sz="1600" kern="100" dirty="0">
                <a:solidFill>
                  <a:srgbClr val="C00000"/>
                </a:solidFill>
                <a:ea typeface="黑体" panose="02010609060101010101" pitchFamily="49" charset="-122"/>
              </a:rPr>
              <a:t>3</a:t>
            </a:r>
            <a:r>
              <a:rPr lang="zh-CN" altLang="zh-CN" sz="1600" kern="100" dirty="0">
                <a:solidFill>
                  <a:srgbClr val="C00000"/>
                </a:solidFill>
                <a:ea typeface="黑体" panose="02010609060101010101" pitchFamily="49" charset="-122"/>
              </a:rPr>
              <a:t>：</a:t>
            </a:r>
            <a:endParaRPr lang="en-US" altLang="zh-CN" sz="1600" kern="100" dirty="0">
              <a:solidFill>
                <a:srgbClr val="C00000"/>
              </a:solidFill>
              <a:ea typeface="黑体" panose="02010609060101010101" pitchFamily="49" charset="-122"/>
            </a:endParaRPr>
          </a:p>
          <a:p>
            <a:pPr algn="just">
              <a:defRPr/>
            </a:pPr>
            <a:r>
              <a:rPr lang="en-US" altLang="zh-CN" sz="1600" kern="100" dirty="0">
                <a:ea typeface="黑体" panose="02010609060101010101" pitchFamily="49" charset="-122"/>
              </a:rPr>
              <a:t>        </a:t>
            </a:r>
            <a:r>
              <a:rPr lang="zh-CN" altLang="en-US" sz="1600" kern="100" dirty="0">
                <a:ea typeface="黑体" panose="02010609060101010101" pitchFamily="49" charset="-122"/>
              </a:rPr>
              <a:t>一种比较特殊的工作模式，</a:t>
            </a:r>
            <a:r>
              <a:rPr lang="zh-CN" altLang="en-US" sz="1600" kern="100" dirty="0">
                <a:solidFill>
                  <a:srgbClr val="0000FF"/>
                </a:solidFill>
                <a:ea typeface="黑体" panose="02010609060101010101" pitchFamily="49" charset="-122"/>
              </a:rPr>
              <a:t>现已少用</a:t>
            </a:r>
            <a:r>
              <a:rPr lang="zh-CN" altLang="en-US" sz="1600" kern="100" dirty="0">
                <a:ea typeface="黑体" panose="02010609060101010101" pitchFamily="49" charset="-122"/>
              </a:rPr>
              <a:t>。</a:t>
            </a:r>
            <a:endParaRPr lang="en-US" altLang="zh-CN" sz="1600" kern="100" dirty="0">
              <a:ea typeface="黑体" panose="02010609060101010101" pitchFamily="49" charset="-122"/>
            </a:endParaRPr>
          </a:p>
          <a:p>
            <a:pPr algn="just">
              <a:defRPr/>
            </a:pPr>
            <a:r>
              <a:rPr lang="en-US" altLang="zh-CN" sz="1600" kern="100" dirty="0">
                <a:ea typeface="黑体" panose="02010609060101010101" pitchFamily="49" charset="-122"/>
              </a:rPr>
              <a:t>        T0 </a:t>
            </a:r>
            <a:r>
              <a:rPr lang="zh-CN" altLang="en-US" sz="1600" kern="100" dirty="0">
                <a:ea typeface="黑体" panose="02010609060101010101" pitchFamily="49" charset="-122"/>
              </a:rPr>
              <a:t>配置为模式</a:t>
            </a:r>
            <a:r>
              <a:rPr lang="en-US" altLang="zh-CN" sz="1600" kern="100" dirty="0">
                <a:ea typeface="黑体" panose="02010609060101010101" pitchFamily="49" charset="-122"/>
              </a:rPr>
              <a:t>3</a:t>
            </a:r>
            <a:r>
              <a:rPr lang="zh-CN" altLang="en-US" sz="1600" kern="100" dirty="0">
                <a:ea typeface="黑体" panose="02010609060101010101" pitchFamily="49" charset="-122"/>
              </a:rPr>
              <a:t>时，会将</a:t>
            </a:r>
            <a:r>
              <a:rPr lang="en-US" altLang="zh-CN" sz="1600" kern="100" dirty="0">
                <a:ea typeface="黑体" panose="02010609060101010101" pitchFamily="49" charset="-122"/>
              </a:rPr>
              <a:t>T0</a:t>
            </a:r>
            <a:r>
              <a:rPr lang="zh-CN" altLang="en-US" sz="1600" kern="100" dirty="0">
                <a:ea typeface="黑体" panose="02010609060101010101" pitchFamily="49" charset="-122"/>
              </a:rPr>
              <a:t>拆分为两个</a:t>
            </a:r>
            <a:r>
              <a:rPr lang="en-US" altLang="zh-CN" sz="1600" kern="100" dirty="0">
                <a:ea typeface="黑体" panose="02010609060101010101" pitchFamily="49" charset="-122"/>
              </a:rPr>
              <a:t>8</a:t>
            </a:r>
            <a:r>
              <a:rPr lang="zh-CN" altLang="en-US" sz="1600" kern="100" dirty="0">
                <a:ea typeface="黑体" panose="02010609060101010101" pitchFamily="49" charset="-122"/>
              </a:rPr>
              <a:t>位计数部件，</a:t>
            </a:r>
            <a:endParaRPr lang="en-US" altLang="zh-CN" sz="1600" kern="100" dirty="0">
              <a:ea typeface="黑体" panose="02010609060101010101" pitchFamily="49" charset="-122"/>
            </a:endParaRPr>
          </a:p>
          <a:p>
            <a:pPr algn="just">
              <a:defRPr/>
            </a:pPr>
            <a:r>
              <a:rPr lang="en-US" altLang="zh-CN" sz="1600" kern="100" dirty="0">
                <a:ea typeface="黑体" panose="02010609060101010101" pitchFamily="49" charset="-122"/>
              </a:rPr>
              <a:t>     </a:t>
            </a:r>
            <a:r>
              <a:rPr lang="zh-CN" altLang="en-US" sz="1600" kern="100" dirty="0">
                <a:ea typeface="黑体" panose="02010609060101010101" pitchFamily="49" charset="-122"/>
              </a:rPr>
              <a:t>   </a:t>
            </a:r>
            <a:r>
              <a:rPr lang="en-US" altLang="zh-CN" sz="1600" kern="100" dirty="0">
                <a:ea typeface="黑体" panose="02010609060101010101" pitchFamily="49" charset="-122"/>
              </a:rPr>
              <a:t>TH0 </a:t>
            </a:r>
            <a:r>
              <a:rPr lang="zh-CN" altLang="en-US" sz="1600" kern="100" dirty="0">
                <a:ea typeface="黑体" panose="02010609060101010101" pitchFamily="49" charset="-122"/>
              </a:rPr>
              <a:t>借用</a:t>
            </a:r>
            <a:r>
              <a:rPr lang="en-US" altLang="zh-CN" sz="2000" kern="100" dirty="0">
                <a:latin typeface="Arial" panose="020B0604020202020204" pitchFamily="34" charset="0"/>
                <a:ea typeface="黑体" panose="02010609060101010101" pitchFamily="49" charset="-122"/>
              </a:rPr>
              <a:t>T1</a:t>
            </a:r>
            <a:r>
              <a:rPr lang="zh-CN" altLang="zh-CN" sz="2000" kern="100" dirty="0">
                <a:latin typeface="Arial" panose="020B0604020202020204" pitchFamily="34" charset="0"/>
                <a:ea typeface="黑体" panose="02010609060101010101" pitchFamily="49" charset="-122"/>
              </a:rPr>
              <a:t>的控制位</a:t>
            </a:r>
            <a:r>
              <a:rPr lang="en-US" altLang="zh-CN" sz="2000" kern="100" dirty="0">
                <a:latin typeface="Arial" panose="020B0604020202020204" pitchFamily="34" charset="0"/>
                <a:ea typeface="黑体" panose="02010609060101010101" pitchFamily="49" charset="-122"/>
              </a:rPr>
              <a:t>TR1</a:t>
            </a:r>
            <a:r>
              <a:rPr lang="zh-CN" altLang="zh-CN" sz="2000" kern="100" dirty="0">
                <a:latin typeface="Arial" panose="020B0604020202020204" pitchFamily="34" charset="0"/>
                <a:ea typeface="黑体" panose="02010609060101010101" pitchFamily="49" charset="-122"/>
              </a:rPr>
              <a:t>和中断标志</a:t>
            </a:r>
            <a:r>
              <a:rPr lang="en-US" altLang="zh-CN" sz="2000" kern="100" dirty="0">
                <a:latin typeface="Arial" panose="020B0604020202020204" pitchFamily="34" charset="0"/>
                <a:ea typeface="黑体" panose="02010609060101010101" pitchFamily="49" charset="-122"/>
              </a:rPr>
              <a:t>TF1</a:t>
            </a:r>
            <a:r>
              <a:rPr lang="zh-CN" altLang="en-US" sz="2000" kern="100" dirty="0">
                <a:latin typeface="Arial" panose="020B0604020202020204" pitchFamily="34" charset="0"/>
                <a:ea typeface="黑体" panose="02010609060101010101" pitchFamily="49" charset="-122"/>
              </a:rPr>
              <a:t>。</a:t>
            </a:r>
            <a:endParaRPr lang="en-US" altLang="zh-CN" sz="1600" kern="100" dirty="0">
              <a:ea typeface="黑体" panose="02010609060101010101" pitchFamily="49" charset="-122"/>
            </a:endParaRPr>
          </a:p>
          <a:p>
            <a:pPr algn="just">
              <a:defRPr/>
            </a:pPr>
            <a:r>
              <a:rPr lang="en-US" altLang="zh-CN" sz="1600" kern="100" dirty="0">
                <a:ea typeface="黑体" panose="02010609060101010101" pitchFamily="49" charset="-122"/>
              </a:rPr>
              <a:t>        T1 </a:t>
            </a:r>
            <a:r>
              <a:rPr lang="zh-CN" altLang="en-US" sz="2000" kern="100" dirty="0">
                <a:ea typeface="黑体" panose="02010609060101010101" pitchFamily="49" charset="-122"/>
              </a:rPr>
              <a:t>配置为模式</a:t>
            </a:r>
            <a:r>
              <a:rPr lang="en-US" altLang="zh-CN" sz="2000" kern="100" dirty="0">
                <a:ea typeface="黑体" panose="02010609060101010101" pitchFamily="49" charset="-122"/>
              </a:rPr>
              <a:t>3</a:t>
            </a:r>
            <a:r>
              <a:rPr lang="zh-CN" altLang="en-US" sz="2000" kern="100" dirty="0">
                <a:ea typeface="黑体" panose="02010609060101010101" pitchFamily="49" charset="-122"/>
              </a:rPr>
              <a:t>时，等同关闭</a:t>
            </a:r>
            <a:r>
              <a:rPr lang="en-US" altLang="zh-CN" sz="2000" kern="100" dirty="0">
                <a:ea typeface="黑体" panose="02010609060101010101" pitchFamily="49" charset="-122"/>
              </a:rPr>
              <a:t>T1</a:t>
            </a:r>
            <a:r>
              <a:rPr lang="zh-CN" altLang="en-US" sz="2000" kern="100" dirty="0">
                <a:ea typeface="黑体" panose="02010609060101010101" pitchFamily="49" charset="-122"/>
              </a:rPr>
              <a:t>。</a:t>
            </a:r>
            <a:endParaRPr lang="en-US" altLang="zh-CN" sz="1600" kern="100" dirty="0"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endParaRPr lang="zh-CN" altLang="zh-CN" kern="100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04A9F6-F822-472E-85E0-B47F768495C5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六、定时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</a:p>
        </p:txBody>
      </p:sp>
    </p:spTree>
    <p:extLst>
      <p:ext uri="{BB962C8B-B14F-4D97-AF65-F5344CB8AC3E}">
        <p14:creationId xmlns:p14="http://schemas.microsoft.com/office/powerpoint/2010/main" val="310299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04A9F6-F822-472E-85E0-B47F768495C5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六、定时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891B6F-D4DC-4A48-B407-8D7BC74C9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550020"/>
              </p:ext>
            </p:extLst>
          </p:nvPr>
        </p:nvGraphicFramePr>
        <p:xfrm>
          <a:off x="1178759" y="2592747"/>
          <a:ext cx="4259263" cy="2449513"/>
        </p:xfrm>
        <a:graphic>
          <a:graphicData uri="http://schemas.openxmlformats.org/drawingml/2006/table">
            <a:tbl>
              <a:tblPr/>
              <a:tblGrid>
                <a:gridCol w="86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98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GATE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/</a:t>
                      </a:r>
                      <a:r>
                        <a:rPr lang="en-US" sz="1800" b="1" kern="1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INT</a:t>
                      </a:r>
                      <a:r>
                        <a:rPr lang="en-US" altLang="zh-CN" sz="1800" b="1" kern="1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x</a:t>
                      </a:r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（引脚）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TR</a:t>
                      </a:r>
                      <a:r>
                        <a:rPr lang="en-US" altLang="zh-CN" sz="1800" b="1" kern="1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Control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30">
                <a:tc row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0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启动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0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停止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30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启动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9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0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停止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9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0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停止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81A8B15-CD09-4686-BFD8-A81921F960B2}"/>
              </a:ext>
            </a:extLst>
          </p:cNvPr>
          <p:cNvSpPr/>
          <p:nvPr/>
        </p:nvSpPr>
        <p:spPr bwMode="auto">
          <a:xfrm>
            <a:off x="805108" y="1168041"/>
            <a:ext cx="6840537" cy="647700"/>
          </a:xfrm>
          <a:prstGeom prst="rect">
            <a:avLst/>
          </a:prstGeom>
          <a:solidFill>
            <a:srgbClr val="FFFF99"/>
          </a:solidFill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dirty="0">
                <a:latin typeface="+mj-lt"/>
                <a:ea typeface="黑体" panose="02010609060101010101" pitchFamily="49" charset="-122"/>
              </a:rPr>
              <a:t>如何控制</a:t>
            </a:r>
            <a:r>
              <a:rPr lang="en-US" altLang="zh-CN" dirty="0">
                <a:latin typeface="+mj-lt"/>
                <a:ea typeface="黑体" panose="02010609060101010101" pitchFamily="49" charset="-122"/>
              </a:rPr>
              <a:t>T0/T1</a:t>
            </a:r>
            <a:r>
              <a:rPr lang="zh-CN" altLang="en-US" dirty="0">
                <a:latin typeface="+mj-lt"/>
                <a:ea typeface="黑体" panose="02010609060101010101" pitchFamily="49" charset="-122"/>
              </a:rPr>
              <a:t>启动或停止？</a:t>
            </a:r>
          </a:p>
        </p:txBody>
      </p:sp>
      <p:pic>
        <p:nvPicPr>
          <p:cNvPr id="7" name="Picture 38">
            <a:extLst>
              <a:ext uri="{FF2B5EF4-FFF2-40B4-BE49-F238E27FC236}">
                <a16:creationId xmlns:a16="http://schemas.microsoft.com/office/drawing/2014/main" id="{9A70BDD5-E0C5-43FA-ACF3-08C31EF33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561" y="2506303"/>
            <a:ext cx="3859212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882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04A9F6-F822-472E-85E0-B47F768495C5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六、定时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14F6B4-A626-4E4F-92B6-3A00CAA0EB9C}"/>
              </a:ext>
            </a:extLst>
          </p:cNvPr>
          <p:cNvSpPr/>
          <p:nvPr/>
        </p:nvSpPr>
        <p:spPr>
          <a:xfrm>
            <a:off x="1070712" y="1409815"/>
            <a:ext cx="937418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zh-CN" altLang="en-US" sz="2400" kern="100" dirty="0">
                <a:solidFill>
                  <a:srgbClr val="3333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软件启动方式（</a:t>
            </a:r>
            <a:r>
              <a:rPr lang="zh-CN" altLang="zh-CN" sz="2400" kern="100" dirty="0">
                <a:solidFill>
                  <a:srgbClr val="3333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内部</a:t>
            </a:r>
            <a:r>
              <a:rPr lang="zh-CN" altLang="en-US" sz="2400" kern="100" dirty="0">
                <a:solidFill>
                  <a:srgbClr val="3333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控制）</a:t>
            </a:r>
            <a:r>
              <a:rPr lang="en-US" altLang="zh-CN" sz="2400" kern="100" dirty="0">
                <a:solidFill>
                  <a:srgbClr val="3333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: </a:t>
            </a:r>
            <a:endParaRPr lang="zh-CN" altLang="zh-CN" sz="2400" kern="1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GATE=0</a:t>
            </a:r>
            <a:r>
              <a:rPr lang="zh-CN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时</a:t>
            </a: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:  </a:t>
            </a:r>
            <a:r>
              <a:rPr lang="zh-CN" altLang="en-US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置位</a:t>
            </a: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kern="10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TRx</a:t>
            </a: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便</a:t>
            </a:r>
            <a:r>
              <a:rPr lang="zh-CN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启动定时或计数</a:t>
            </a: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endParaRPr lang="zh-CN" altLang="zh-CN" sz="2400" kern="1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 </a:t>
            </a:r>
            <a:endParaRPr lang="zh-CN" altLang="zh-CN" sz="2400" kern="1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zh-CN" altLang="zh-CN" sz="2400" kern="100" dirty="0">
                <a:solidFill>
                  <a:srgbClr val="3333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门控方式（外部</a:t>
            </a:r>
            <a:r>
              <a:rPr lang="zh-CN" altLang="en-US" sz="2400" kern="100" dirty="0">
                <a:solidFill>
                  <a:srgbClr val="3333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信号触发</a:t>
            </a:r>
            <a:r>
              <a:rPr lang="zh-CN" altLang="zh-CN" sz="2400" kern="100" dirty="0">
                <a:solidFill>
                  <a:srgbClr val="3333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）：</a:t>
            </a:r>
            <a:endParaRPr lang="zh-CN" altLang="zh-CN" sz="2400" kern="1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GATE</a:t>
            </a:r>
            <a:r>
              <a:rPr lang="zh-CN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＝</a:t>
            </a: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时</a:t>
            </a:r>
            <a:r>
              <a:rPr lang="zh-CN" altLang="en-US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en-US" altLang="zh-CN" sz="2400" kern="1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just" eaLnBrk="1" hangingPunct="1">
              <a:spcAft>
                <a:spcPts val="0"/>
              </a:spcAft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要求置位</a:t>
            </a:r>
            <a:r>
              <a:rPr lang="en-US" altLang="zh-CN" sz="2400" kern="10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TRx</a:t>
            </a:r>
            <a:r>
              <a:rPr lang="zh-CN" altLang="en-US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endParaRPr lang="en-US" altLang="zh-CN" sz="2400" kern="1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just" eaLnBrk="1" hangingPunct="1">
              <a:spcAft>
                <a:spcPts val="0"/>
              </a:spcAft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同时要求</a:t>
            </a: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/</a:t>
            </a:r>
            <a:r>
              <a:rPr lang="en-US" altLang="zh-CN" sz="2400" kern="10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INTx</a:t>
            </a:r>
            <a:r>
              <a:rPr lang="zh-CN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引脚（</a:t>
            </a: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P3.2 </a:t>
            </a:r>
            <a:r>
              <a:rPr lang="zh-CN" altLang="en-US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或 </a:t>
            </a: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P3.3</a:t>
            </a:r>
            <a:r>
              <a:rPr lang="zh-CN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）为高电平，</a:t>
            </a:r>
            <a:r>
              <a:rPr lang="en-US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r>
              <a:rPr lang="zh-CN" altLang="zh-CN" sz="2400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才能启动定时或计数</a:t>
            </a:r>
            <a:endParaRPr lang="zh-CN" altLang="zh-CN" sz="2400" kern="1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 </a:t>
            </a:r>
            <a:endParaRPr lang="zh-CN" altLang="zh-CN" sz="2400" kern="1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zh-CN" sz="2400" kern="1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注意：</a:t>
            </a:r>
            <a:endParaRPr lang="en-US" altLang="zh-CN" sz="2400" kern="1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zh-CN" sz="2400" kern="1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通常情况下使用</a:t>
            </a:r>
            <a:r>
              <a:rPr lang="zh-CN" altLang="en-US" sz="2400" kern="1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软件启动</a:t>
            </a:r>
            <a:r>
              <a:rPr lang="zh-CN" altLang="zh-CN" sz="2400" kern="1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方式，</a:t>
            </a:r>
            <a:endParaRPr lang="en-US" altLang="zh-CN" sz="2400" kern="1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zh-CN" sz="2400" kern="1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只有需要外部信号触发定时</a:t>
            </a:r>
            <a:r>
              <a:rPr lang="en-US" altLang="zh-CN" sz="2400" kern="1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lang="zh-CN" altLang="zh-CN" sz="2400" kern="1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计数时才使用门控方式！</a:t>
            </a:r>
            <a:endParaRPr lang="zh-CN" altLang="en-US" sz="24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318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04A9F6-F822-472E-85E0-B47F768495C5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六、定时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2DDC61-8CD9-432D-8D72-25178BD4A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55" y="1114671"/>
            <a:ext cx="8351837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定时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/</a:t>
            </a: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计数器的初始化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zh-CN" sz="2400" b="1" dirty="0">
              <a:latin typeface="Arial" panose="020B0604020202020204" pitchFamily="34" charset="0"/>
            </a:endParaRPr>
          </a:p>
          <a:p>
            <a:pPr marL="342900" indent="-342900" eaLnBrk="1" hangingPunct="1">
              <a:spcBef>
                <a:spcPct val="0"/>
              </a:spcBef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Arial" panose="020B0604020202020204" pitchFamily="34" charset="0"/>
              </a:rPr>
              <a:t>工作方式的选择</a:t>
            </a:r>
          </a:p>
          <a:p>
            <a:pPr marL="342900" indent="-342900" eaLnBrk="1" hangingPunct="1">
              <a:spcBef>
                <a:spcPct val="0"/>
              </a:spcBef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Arial" panose="020B0604020202020204" pitchFamily="34" charset="0"/>
              </a:rPr>
              <a:t>初值</a:t>
            </a:r>
            <a:r>
              <a:rPr lang="en-US" altLang="zh-CN" sz="2400" dirty="0">
                <a:latin typeface="Arial" panose="020B0604020202020204" pitchFamily="34" charset="0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</a:rPr>
              <a:t>THx,TLx</a:t>
            </a:r>
            <a:r>
              <a:rPr lang="en-US" altLang="zh-CN" sz="2400" dirty="0">
                <a:latin typeface="Arial" panose="020B0604020202020204" pitchFamily="34" charset="0"/>
              </a:rPr>
              <a:t>)</a:t>
            </a:r>
            <a:r>
              <a:rPr lang="zh-CN" altLang="zh-CN" sz="2400" dirty="0">
                <a:latin typeface="Arial" panose="020B0604020202020204" pitchFamily="34" charset="0"/>
              </a:rPr>
              <a:t>的计算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latin typeface="Arial" panose="020B0604020202020204" pitchFamily="34" charset="0"/>
              </a:rPr>
              <a:t> </a:t>
            </a:r>
            <a:endParaRPr lang="zh-CN" altLang="zh-CN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zh-CN" sz="2400" dirty="0">
                <a:latin typeface="Arial" panose="020B0604020202020204" pitchFamily="34" charset="0"/>
              </a:rPr>
              <a:t>初始值</a:t>
            </a:r>
            <a:r>
              <a:rPr lang="en-US" altLang="zh-CN" sz="2400" dirty="0">
                <a:latin typeface="Arial" panose="020B0604020202020204" pitchFamily="34" charset="0"/>
              </a:rPr>
              <a:t>X</a:t>
            </a:r>
            <a:r>
              <a:rPr lang="zh-CN" altLang="zh-CN" sz="2400" dirty="0">
                <a:latin typeface="Arial" panose="020B0604020202020204" pitchFamily="34" charset="0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</a:rPr>
              <a:t>Timer/counter</a:t>
            </a:r>
            <a:r>
              <a:rPr lang="zh-CN" altLang="zh-CN" sz="2400" dirty="0">
                <a:latin typeface="Arial" panose="020B0604020202020204" pitchFamily="34" charset="0"/>
              </a:rPr>
              <a:t>开始计数以前的预赋值 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定时方式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:  </a:t>
            </a:r>
            <a:endParaRPr lang="zh-CN" altLang="zh-CN" sz="24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zh-CN" sz="2400" dirty="0">
                <a:latin typeface="Arial" panose="020B0604020202020204" pitchFamily="34" charset="0"/>
              </a:rPr>
              <a:t>方式</a:t>
            </a:r>
            <a:r>
              <a:rPr lang="en-US" altLang="zh-CN" sz="2400" dirty="0">
                <a:latin typeface="Arial" panose="020B0604020202020204" pitchFamily="34" charset="0"/>
              </a:rPr>
              <a:t>1</a:t>
            </a:r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16bits</a:t>
            </a:r>
            <a:r>
              <a:rPr lang="zh-CN" altLang="zh-CN" sz="2400" dirty="0">
                <a:latin typeface="Arial" panose="020B0604020202020204" pitchFamily="34" charset="0"/>
              </a:rPr>
              <a:t>）：（</a:t>
            </a:r>
            <a:r>
              <a:rPr lang="en-US" altLang="zh-CN" sz="2400" dirty="0">
                <a:latin typeface="Arial" panose="020B0604020202020204" pitchFamily="34" charset="0"/>
              </a:rPr>
              <a:t>65536</a:t>
            </a:r>
            <a:r>
              <a:rPr lang="zh-CN" altLang="zh-CN" sz="2400" dirty="0">
                <a:latin typeface="Arial" panose="020B0604020202020204" pitchFamily="34" charset="0"/>
              </a:rPr>
              <a:t>－</a:t>
            </a:r>
            <a:r>
              <a:rPr lang="en-US" altLang="zh-CN" sz="2400" dirty="0">
                <a:latin typeface="Arial" panose="020B0604020202020204" pitchFamily="34" charset="0"/>
              </a:rPr>
              <a:t>X</a:t>
            </a:r>
            <a:r>
              <a:rPr lang="zh-CN" altLang="zh-CN" sz="2400" dirty="0">
                <a:latin typeface="Arial" panose="020B0604020202020204" pitchFamily="34" charset="0"/>
              </a:rPr>
              <a:t>）×</a:t>
            </a:r>
            <a:r>
              <a:rPr lang="en-US" altLang="zh-CN" sz="2400" dirty="0">
                <a:latin typeface="Arial" panose="020B0604020202020204" pitchFamily="34" charset="0"/>
              </a:rPr>
              <a:t>cycle</a:t>
            </a:r>
            <a:r>
              <a:rPr lang="zh-CN" altLang="zh-CN" sz="2400" dirty="0">
                <a:latin typeface="Arial" panose="020B0604020202020204" pitchFamily="34" charset="0"/>
              </a:rPr>
              <a:t>＝定时时间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zh-CN" sz="2400" dirty="0">
                <a:latin typeface="Arial" panose="020B0604020202020204" pitchFamily="34" charset="0"/>
              </a:rPr>
              <a:t>方式</a:t>
            </a:r>
            <a:r>
              <a:rPr lang="en-US" altLang="zh-CN" sz="2400" dirty="0">
                <a:latin typeface="Arial" panose="020B0604020202020204" pitchFamily="34" charset="0"/>
              </a:rPr>
              <a:t>2</a:t>
            </a:r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8bits</a:t>
            </a:r>
            <a:r>
              <a:rPr lang="zh-CN" altLang="zh-CN" sz="2400" dirty="0">
                <a:latin typeface="Arial" panose="020B0604020202020204" pitchFamily="34" charset="0"/>
              </a:rPr>
              <a:t>）：</a:t>
            </a:r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256</a:t>
            </a:r>
            <a:r>
              <a:rPr lang="zh-CN" altLang="zh-CN" sz="2400" dirty="0">
                <a:latin typeface="Arial" panose="020B0604020202020204" pitchFamily="34" charset="0"/>
              </a:rPr>
              <a:t>－</a:t>
            </a:r>
            <a:r>
              <a:rPr lang="en-US" altLang="zh-CN" sz="2400" dirty="0">
                <a:latin typeface="Arial" panose="020B0604020202020204" pitchFamily="34" charset="0"/>
              </a:rPr>
              <a:t>X</a:t>
            </a:r>
            <a:r>
              <a:rPr lang="zh-CN" altLang="zh-CN" sz="2400" dirty="0">
                <a:latin typeface="Arial" panose="020B0604020202020204" pitchFamily="34" charset="0"/>
              </a:rPr>
              <a:t>）×</a:t>
            </a:r>
            <a:r>
              <a:rPr lang="en-US" altLang="zh-CN" sz="2400" dirty="0">
                <a:latin typeface="Arial" panose="020B0604020202020204" pitchFamily="34" charset="0"/>
              </a:rPr>
              <a:t>cycle</a:t>
            </a:r>
            <a:r>
              <a:rPr lang="zh-CN" altLang="zh-CN" sz="2400" dirty="0">
                <a:latin typeface="Arial" panose="020B0604020202020204" pitchFamily="34" charset="0"/>
              </a:rPr>
              <a:t>＝定时时间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zh-CN" sz="2400" dirty="0">
                <a:latin typeface="Arial" panose="020B0604020202020204" pitchFamily="34" charset="0"/>
              </a:rPr>
              <a:t>其中，</a:t>
            </a:r>
            <a:r>
              <a:rPr lang="en-US" altLang="zh-CN" sz="2400" dirty="0">
                <a:latin typeface="Arial" panose="020B0604020202020204" pitchFamily="34" charset="0"/>
              </a:rPr>
              <a:t>cycle</a:t>
            </a:r>
            <a:r>
              <a:rPr lang="zh-CN" altLang="zh-CN" sz="2400" dirty="0">
                <a:latin typeface="Arial" panose="020B0604020202020204" pitchFamily="34" charset="0"/>
              </a:rPr>
              <a:t>指代机器周期（μ</a:t>
            </a:r>
            <a:r>
              <a:rPr lang="en-US" altLang="zh-CN" sz="2400" dirty="0">
                <a:latin typeface="Arial" panose="020B0604020202020204" pitchFamily="34" charset="0"/>
              </a:rPr>
              <a:t>s</a:t>
            </a:r>
            <a:r>
              <a:rPr lang="zh-CN" altLang="zh-CN" sz="2400" dirty="0">
                <a:latin typeface="Arial" panose="020B0604020202020204" pitchFamily="34" charset="0"/>
              </a:rPr>
              <a:t>）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计数方式：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zh-CN" sz="2400" dirty="0">
                <a:latin typeface="Arial" panose="020B0604020202020204" pitchFamily="34" charset="0"/>
              </a:rPr>
              <a:t>方式</a:t>
            </a:r>
            <a:r>
              <a:rPr lang="en-US" altLang="zh-CN" sz="2400" dirty="0">
                <a:latin typeface="Arial" panose="020B0604020202020204" pitchFamily="34" charset="0"/>
              </a:rPr>
              <a:t>1</a:t>
            </a:r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16bits</a:t>
            </a:r>
            <a:r>
              <a:rPr lang="zh-CN" altLang="zh-CN" sz="2400" dirty="0">
                <a:latin typeface="Arial" panose="020B0604020202020204" pitchFamily="34" charset="0"/>
              </a:rPr>
              <a:t>）：</a:t>
            </a:r>
            <a:r>
              <a:rPr lang="en-US" altLang="zh-CN" sz="2400" dirty="0">
                <a:latin typeface="Arial" panose="020B0604020202020204" pitchFamily="34" charset="0"/>
              </a:rPr>
              <a:t>65536</a:t>
            </a:r>
            <a:r>
              <a:rPr lang="zh-CN" altLang="zh-CN" sz="2400" dirty="0">
                <a:latin typeface="Arial" panose="020B0604020202020204" pitchFamily="34" charset="0"/>
              </a:rPr>
              <a:t>－</a:t>
            </a:r>
            <a:r>
              <a:rPr lang="en-US" altLang="zh-CN" sz="2400" dirty="0">
                <a:latin typeface="Arial" panose="020B0604020202020204" pitchFamily="34" charset="0"/>
              </a:rPr>
              <a:t>X</a:t>
            </a:r>
            <a:r>
              <a:rPr lang="zh-CN" altLang="zh-CN" sz="2400" dirty="0">
                <a:latin typeface="Arial" panose="020B0604020202020204" pitchFamily="34" charset="0"/>
              </a:rPr>
              <a:t>＝计数值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zh-CN" sz="2400" dirty="0">
                <a:latin typeface="Arial" panose="020B0604020202020204" pitchFamily="34" charset="0"/>
              </a:rPr>
              <a:t>方式</a:t>
            </a:r>
            <a:r>
              <a:rPr lang="en-US" altLang="zh-CN" sz="2400" dirty="0">
                <a:latin typeface="Arial" panose="020B0604020202020204" pitchFamily="34" charset="0"/>
              </a:rPr>
              <a:t>2</a:t>
            </a:r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8bits</a:t>
            </a:r>
            <a:r>
              <a:rPr lang="zh-CN" altLang="zh-CN" sz="2400" dirty="0">
                <a:latin typeface="Arial" panose="020B0604020202020204" pitchFamily="34" charset="0"/>
              </a:rPr>
              <a:t>）：</a:t>
            </a:r>
            <a:r>
              <a:rPr lang="en-US" altLang="zh-CN" sz="2400" dirty="0">
                <a:latin typeface="Arial" panose="020B0604020202020204" pitchFamily="34" charset="0"/>
              </a:rPr>
              <a:t>  256</a:t>
            </a:r>
            <a:r>
              <a:rPr lang="zh-CN" altLang="zh-CN" sz="2400" dirty="0">
                <a:latin typeface="Arial" panose="020B0604020202020204" pitchFamily="34" charset="0"/>
              </a:rPr>
              <a:t>－</a:t>
            </a:r>
            <a:r>
              <a:rPr lang="en-US" altLang="zh-CN" sz="2400" dirty="0">
                <a:latin typeface="Arial" panose="020B0604020202020204" pitchFamily="34" charset="0"/>
              </a:rPr>
              <a:t>X</a:t>
            </a:r>
            <a:r>
              <a:rPr lang="zh-CN" altLang="zh-CN" sz="2400" dirty="0">
                <a:latin typeface="Arial" panose="020B0604020202020204" pitchFamily="34" charset="0"/>
              </a:rPr>
              <a:t>＝计数值</a:t>
            </a:r>
          </a:p>
        </p:txBody>
      </p:sp>
    </p:spTree>
    <p:extLst>
      <p:ext uri="{BB962C8B-B14F-4D97-AF65-F5344CB8AC3E}">
        <p14:creationId xmlns:p14="http://schemas.microsoft.com/office/powerpoint/2010/main" val="120455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04A9F6-F822-472E-85E0-B47F768495C5}"/>
              </a:ext>
            </a:extLst>
          </p:cNvPr>
          <p:cNvSpPr txBox="1"/>
          <p:nvPr/>
        </p:nvSpPr>
        <p:spPr>
          <a:xfrm>
            <a:off x="650449" y="480767"/>
            <a:ext cx="336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六、定时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404DB4AE-40C3-4292-8442-9342618F2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111" y="1085997"/>
            <a:ext cx="6769100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定时</a:t>
            </a:r>
            <a:r>
              <a:rPr kumimoji="1"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计数器初始化基本步骤：</a:t>
            </a:r>
          </a:p>
          <a:p>
            <a:pPr eaLnBrk="1" hangingPunct="1">
              <a:spcBef>
                <a:spcPct val="40000"/>
              </a:spcBef>
              <a:buFontTx/>
              <a:buNone/>
              <a:defRPr/>
            </a:pPr>
            <a:r>
              <a:rPr kumimoji="1" lang="en-US" altLang="zh-CN" sz="2400" dirty="0">
                <a:latin typeface="+mj-lt"/>
                <a:ea typeface="黑体" panose="02010609060101010101" pitchFamily="49" charset="-122"/>
              </a:rPr>
              <a:t>1</a:t>
            </a:r>
            <a:r>
              <a:rPr kumimoji="1" lang="zh-CN" altLang="en-US" sz="2400" dirty="0">
                <a:latin typeface="+mj-lt"/>
                <a:ea typeface="黑体" panose="02010609060101010101" pitchFamily="49" charset="-122"/>
              </a:rPr>
              <a:t>）确定工作方式，确定控制字</a:t>
            </a:r>
            <a:r>
              <a:rPr kumimoji="1" lang="en-US" altLang="zh-CN" sz="2400" dirty="0">
                <a:latin typeface="+mj-lt"/>
                <a:ea typeface="黑体" panose="02010609060101010101" pitchFamily="49" charset="-122"/>
              </a:rPr>
              <a:t>TMOD</a:t>
            </a:r>
            <a:r>
              <a:rPr kumimoji="1" lang="zh-CN" altLang="en-US" sz="2400" dirty="0">
                <a:latin typeface="+mj-lt"/>
                <a:ea typeface="黑体" panose="02010609060101010101" pitchFamily="49" charset="-122"/>
              </a:rPr>
              <a:t>的值</a:t>
            </a:r>
            <a:endParaRPr kumimoji="1" lang="en-US" altLang="zh-CN" sz="2400" dirty="0">
              <a:latin typeface="+mj-lt"/>
              <a:ea typeface="黑体" panose="02010609060101010101" pitchFamily="49" charset="-122"/>
            </a:endParaRPr>
          </a:p>
          <a:p>
            <a:pPr eaLnBrk="1" hangingPunct="1">
              <a:spcBef>
                <a:spcPct val="40000"/>
              </a:spcBef>
              <a:buFontTx/>
              <a:buNone/>
              <a:defRPr/>
            </a:pPr>
            <a:r>
              <a:rPr kumimoji="1" lang="en-US" altLang="zh-CN" sz="2400" dirty="0">
                <a:latin typeface="+mj-lt"/>
                <a:ea typeface="黑体" panose="02010609060101010101" pitchFamily="49" charset="-122"/>
              </a:rPr>
              <a:t>2</a:t>
            </a:r>
            <a:r>
              <a:rPr kumimoji="1" lang="zh-CN" altLang="en-US" sz="2400" dirty="0">
                <a:latin typeface="+mj-lt"/>
                <a:ea typeface="黑体" panose="02010609060101010101" pitchFamily="49" charset="-122"/>
              </a:rPr>
              <a:t>）根据定时时间或计数要求，确定计数初值</a:t>
            </a:r>
          </a:p>
          <a:p>
            <a:pPr eaLnBrk="1" hangingPunct="1">
              <a:spcBef>
                <a:spcPct val="40000"/>
              </a:spcBef>
              <a:buFontTx/>
              <a:buNone/>
              <a:defRPr/>
            </a:pPr>
            <a:r>
              <a:rPr kumimoji="1" lang="en-US" altLang="zh-CN" sz="2400" dirty="0">
                <a:latin typeface="+mj-lt"/>
                <a:ea typeface="黑体" panose="02010609060101010101" pitchFamily="49" charset="-122"/>
              </a:rPr>
              <a:t>      </a:t>
            </a:r>
            <a:r>
              <a:rPr kumimoji="1" lang="zh-CN" altLang="en-US" sz="2400" dirty="0">
                <a:latin typeface="+mj-lt"/>
                <a:ea typeface="黑体" panose="02010609060101010101" pitchFamily="49" charset="-122"/>
              </a:rPr>
              <a:t>将初始值赋给</a:t>
            </a:r>
            <a:r>
              <a:rPr kumimoji="1" lang="en-US" altLang="zh-CN" sz="2400" dirty="0" err="1">
                <a:latin typeface="+mj-lt"/>
                <a:ea typeface="黑体" panose="02010609060101010101" pitchFamily="49" charset="-122"/>
              </a:rPr>
              <a:t>THx</a:t>
            </a:r>
            <a:r>
              <a:rPr kumimoji="1" lang="zh-CN" altLang="en-US" sz="2400" dirty="0">
                <a:latin typeface="+mj-lt"/>
                <a:ea typeface="黑体" panose="02010609060101010101" pitchFamily="49" charset="-122"/>
              </a:rPr>
              <a:t>，</a:t>
            </a:r>
            <a:r>
              <a:rPr kumimoji="1" lang="en-US" altLang="zh-CN" sz="2400" dirty="0" err="1">
                <a:latin typeface="+mj-lt"/>
                <a:ea typeface="黑体" panose="02010609060101010101" pitchFamily="49" charset="-122"/>
              </a:rPr>
              <a:t>TLx</a:t>
            </a:r>
            <a:endParaRPr kumimoji="1" lang="en-US" altLang="zh-CN" sz="2400" dirty="0">
              <a:latin typeface="+mj-lt"/>
              <a:ea typeface="黑体" panose="02010609060101010101" pitchFamily="49" charset="-122"/>
            </a:endParaRPr>
          </a:p>
          <a:p>
            <a:pPr eaLnBrk="1" hangingPunct="1">
              <a:spcBef>
                <a:spcPct val="40000"/>
              </a:spcBef>
              <a:buFontTx/>
              <a:buNone/>
              <a:defRPr/>
            </a:pPr>
            <a:r>
              <a:rPr kumimoji="1" lang="en-US" altLang="zh-CN" sz="2400" dirty="0">
                <a:latin typeface="+mj-lt"/>
                <a:ea typeface="黑体" panose="02010609060101010101" pitchFamily="49" charset="-122"/>
              </a:rPr>
              <a:t>3</a:t>
            </a:r>
            <a:r>
              <a:rPr kumimoji="1" lang="zh-CN" altLang="en-US" sz="2400" dirty="0">
                <a:latin typeface="+mj-lt"/>
                <a:ea typeface="黑体" panose="02010609060101010101" pitchFamily="49" charset="-122"/>
              </a:rPr>
              <a:t>）根据需求开放定时器</a:t>
            </a:r>
            <a:r>
              <a:rPr kumimoji="1" lang="en-US" altLang="zh-CN" sz="2400" dirty="0">
                <a:latin typeface="+mj-lt"/>
                <a:ea typeface="黑体" panose="02010609060101010101" pitchFamily="49" charset="-122"/>
              </a:rPr>
              <a:t>/</a:t>
            </a:r>
            <a:r>
              <a:rPr kumimoji="1" lang="zh-CN" altLang="en-US" sz="2400" dirty="0">
                <a:latin typeface="+mj-lt"/>
                <a:ea typeface="黑体" panose="02010609060101010101" pitchFamily="49" charset="-122"/>
              </a:rPr>
              <a:t>计数器的中断</a:t>
            </a:r>
          </a:p>
          <a:p>
            <a:pPr eaLnBrk="1" hangingPunct="1">
              <a:spcBef>
                <a:spcPct val="40000"/>
              </a:spcBef>
              <a:buFontTx/>
              <a:buNone/>
              <a:defRPr/>
            </a:pPr>
            <a:r>
              <a:rPr kumimoji="1" lang="en-US" altLang="zh-CN" sz="2400" dirty="0">
                <a:latin typeface="+mj-lt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+mj-lt"/>
                <a:ea typeface="黑体" panose="02010609060101010101" pitchFamily="49" charset="-122"/>
              </a:rPr>
              <a:t>）启动定时器</a:t>
            </a:r>
            <a:r>
              <a:rPr kumimoji="1" lang="en-US" altLang="zh-CN" sz="2400" dirty="0">
                <a:latin typeface="+mj-lt"/>
                <a:ea typeface="黑体" panose="02010609060101010101" pitchFamily="49" charset="-122"/>
              </a:rPr>
              <a:t>/</a:t>
            </a:r>
            <a:r>
              <a:rPr kumimoji="1" lang="zh-CN" altLang="en-US" sz="2400" dirty="0">
                <a:latin typeface="+mj-lt"/>
                <a:ea typeface="黑体" panose="02010609060101010101" pitchFamily="49" charset="-122"/>
              </a:rPr>
              <a:t>计数器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6A6B5093-8749-4A6F-9828-6C0BF537F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111" y="4103688"/>
            <a:ext cx="8280400" cy="275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在定时器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计数器运行中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如何保证正确读计数值？</a:t>
            </a:r>
            <a:endParaRPr kumimoji="1" lang="en-US" altLang="zh-CN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</a:pPr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方法：</a:t>
            </a:r>
            <a:endParaRPr kumimoji="1" lang="en-US" altLang="zh-CN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</a:pPr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先读  </a:t>
            </a:r>
            <a:r>
              <a:rPr kumimoji="1" lang="en-US" altLang="zh-CN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THx</a:t>
            </a:r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kumimoji="1" lang="en-US" altLang="zh-CN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</a:pPr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后读  </a:t>
            </a:r>
            <a:r>
              <a:rPr kumimoji="1" lang="en-US" altLang="zh-CN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TLx</a:t>
            </a:r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kumimoji="1" lang="en-US" altLang="zh-CN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</a:pPr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再读  </a:t>
            </a:r>
            <a:r>
              <a:rPr kumimoji="1" lang="en-US" altLang="zh-CN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THx</a:t>
            </a:r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kumimoji="1" lang="en-US" altLang="zh-CN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</a:pPr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若两次读的 </a:t>
            </a:r>
            <a:r>
              <a:rPr kumimoji="1" lang="en-US" altLang="zh-CN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THx</a:t>
            </a:r>
            <a:r>
              <a:rPr kumimoji="1"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相同，则读的内容正确。</a:t>
            </a:r>
            <a:r>
              <a:rPr kumimoji="1"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kumimoji="1" lang="en-US" altLang="zh-CN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240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存储器分类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68BBC2-6C25-48D8-924A-D599ED4F7A54}"/>
              </a:ext>
            </a:extLst>
          </p:cNvPr>
          <p:cNvSpPr/>
          <p:nvPr/>
        </p:nvSpPr>
        <p:spPr>
          <a:xfrm>
            <a:off x="836252" y="1400715"/>
            <a:ext cx="10519496" cy="40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60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按工作时与</a:t>
            </a:r>
            <a:r>
              <a:rPr lang="en-US" altLang="zh-CN" sz="160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CPU</a:t>
            </a:r>
            <a:r>
              <a:rPr lang="zh-CN" altLang="en-US" sz="160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联系密切程度分类</a:t>
            </a:r>
            <a:endParaRPr lang="en-US" altLang="zh-CN" sz="1600" dirty="0">
              <a:solidFill>
                <a:srgbClr val="3333FF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D00905-C6A9-43D3-9DBA-188A555A6A50}"/>
              </a:ext>
            </a:extLst>
          </p:cNvPr>
          <p:cNvSpPr/>
          <p:nvPr/>
        </p:nvSpPr>
        <p:spPr>
          <a:xfrm>
            <a:off x="650449" y="2520792"/>
            <a:ext cx="10085694" cy="773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辅存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则存放暂时不执行的程序和数据，只在需要时与主存进行批量数据交换，通常容量</a:t>
            </a:r>
            <a:r>
              <a:rPr lang="zh-CN" altLang="en-US" sz="1600" dirty="0">
                <a:solidFill>
                  <a:srgbClr val="FF33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大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，但存取速度</a:t>
            </a:r>
            <a:r>
              <a:rPr lang="zh-CN" altLang="en-US" sz="1600" dirty="0">
                <a:solidFill>
                  <a:srgbClr val="FF33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慢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。</a:t>
            </a:r>
            <a:endParaRPr lang="en-US" altLang="zh-CN" sz="1600" u="sng" dirty="0"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8A87CD-6F36-4817-A017-736B03CBB3ED}"/>
              </a:ext>
            </a:extLst>
          </p:cNvPr>
          <p:cNvSpPr/>
          <p:nvPr/>
        </p:nvSpPr>
        <p:spPr>
          <a:xfrm>
            <a:off x="1271752" y="1873767"/>
            <a:ext cx="35285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方正黑体" panose="03000502000000000000" pitchFamily="66" charset="-122"/>
                <a:ea typeface="方正黑体" panose="03000502000000000000" pitchFamily="66" charset="-122"/>
              </a:rPr>
              <a:t> </a:t>
            </a:r>
            <a:r>
              <a:rPr lang="zh-CN" altLang="en-US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主存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和</a:t>
            </a:r>
            <a:r>
              <a:rPr lang="zh-CN" altLang="en-US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辅存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，或者称作内存和外存。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D782D3-6CE8-46E5-A92A-2BF94BA0F7C6}"/>
              </a:ext>
            </a:extLst>
          </p:cNvPr>
          <p:cNvSpPr/>
          <p:nvPr/>
        </p:nvSpPr>
        <p:spPr>
          <a:xfrm>
            <a:off x="650449" y="2146615"/>
            <a:ext cx="6819331" cy="40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FF33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主存</a:t>
            </a:r>
            <a:r>
              <a:rPr lang="zh-CN" altLang="en-US" sz="1600" dirty="0">
                <a:solidFill>
                  <a:srgbClr val="C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直接和</a:t>
            </a:r>
            <a:r>
              <a:rPr lang="en-US" altLang="zh-CN" sz="1600" dirty="0">
                <a:solidFill>
                  <a:srgbClr val="C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CPU</a:t>
            </a:r>
            <a:r>
              <a:rPr lang="zh-CN" altLang="en-US" sz="1600" dirty="0">
                <a:solidFill>
                  <a:srgbClr val="C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交换信息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，容量</a:t>
            </a:r>
            <a:r>
              <a:rPr lang="zh-CN" altLang="en-US" sz="1600" dirty="0">
                <a:solidFill>
                  <a:srgbClr val="FF33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小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，速度</a:t>
            </a:r>
            <a:r>
              <a:rPr lang="zh-CN" altLang="en-US" sz="1600" dirty="0">
                <a:solidFill>
                  <a:srgbClr val="FF33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快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。</a:t>
            </a:r>
            <a:endParaRPr lang="en-US" altLang="zh-CN" sz="1600" dirty="0"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7B1ED4D8-EB17-49CF-896D-A59A28B0B38C}"/>
              </a:ext>
            </a:extLst>
          </p:cNvPr>
          <p:cNvSpPr txBox="1">
            <a:spLocks/>
          </p:cNvSpPr>
          <p:nvPr/>
        </p:nvSpPr>
        <p:spPr>
          <a:xfrm>
            <a:off x="-1388304" y="4683543"/>
            <a:ext cx="8229600" cy="3012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>
              <a:buClr>
                <a:srgbClr val="92D050"/>
              </a:buClr>
              <a:defRPr/>
            </a:pPr>
            <a:r>
              <a:rPr lang="zh-CN" altLang="en-US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      只读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存储器</a:t>
            </a: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(</a:t>
            </a:r>
            <a:r>
              <a:rPr lang="en-US" altLang="zh-CN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ROM</a:t>
            </a: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, Read Only Memory)</a:t>
            </a:r>
          </a:p>
          <a:p>
            <a:pPr marL="400050" lvl="1">
              <a:buClr>
                <a:srgbClr val="92D050"/>
              </a:buClr>
              <a:defRPr/>
            </a:pPr>
            <a:r>
              <a:rPr lang="zh-CN" altLang="en-US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          随机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存储器</a:t>
            </a:r>
            <a:r>
              <a:rPr lang="en-US" altLang="zh-CN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(RAM</a:t>
            </a: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,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 </a:t>
            </a: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Random Access Memory)</a:t>
            </a:r>
          </a:p>
          <a:p>
            <a:pPr marL="800100" lvl="2">
              <a:defRPr/>
            </a:pP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  SRAM</a:t>
            </a:r>
          </a:p>
          <a:p>
            <a:pPr marL="800100" lvl="2">
              <a:defRPr/>
            </a:pP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  DRAM</a:t>
            </a:r>
          </a:p>
          <a:p>
            <a:pPr marL="800100" lvl="2">
              <a:defRPr/>
            </a:pP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可现场改写的</a:t>
            </a:r>
            <a:r>
              <a:rPr lang="zh-CN" altLang="en-US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非易失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性存储器</a:t>
            </a: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(</a:t>
            </a:r>
            <a:r>
              <a:rPr lang="en-US" altLang="zh-CN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NWM</a:t>
            </a: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)</a:t>
            </a:r>
          </a:p>
          <a:p>
            <a:pPr marL="800100" lvl="2">
              <a:defRPr/>
            </a:pP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  Flash</a:t>
            </a:r>
          </a:p>
          <a:p>
            <a:pPr marL="800100" lvl="2">
              <a:defRPr/>
            </a:pPr>
            <a:r>
              <a:rPr lang="en-US" altLang="zh-CN" sz="1600" dirty="0">
                <a:latin typeface="黑体" panose="02010600030101010101" pitchFamily="49" charset="-122"/>
                <a:ea typeface="黑体" panose="02010600030101010101" pitchFamily="49" charset="-122"/>
              </a:rPr>
              <a:t>  EEPROM</a:t>
            </a:r>
            <a:endParaRPr lang="zh-CN" altLang="en-US" sz="1600" dirty="0"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8468DB-612C-4EE3-8CA9-DC150211EF59}"/>
              </a:ext>
            </a:extLst>
          </p:cNvPr>
          <p:cNvSpPr/>
          <p:nvPr/>
        </p:nvSpPr>
        <p:spPr>
          <a:xfrm>
            <a:off x="895545" y="3284906"/>
            <a:ext cx="10519496" cy="40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60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按存储元件材料分类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1B3CE9-7F22-4644-9F30-47DB7786AC79}"/>
              </a:ext>
            </a:extLst>
          </p:cNvPr>
          <p:cNvSpPr/>
          <p:nvPr/>
        </p:nvSpPr>
        <p:spPr>
          <a:xfrm>
            <a:off x="1436851" y="3654238"/>
            <a:ext cx="3672800" cy="403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indent="-53340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半导体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存储器、</a:t>
            </a:r>
            <a:r>
              <a:rPr lang="zh-CN" altLang="en-US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磁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存储器及</a:t>
            </a:r>
            <a:r>
              <a:rPr lang="zh-CN" altLang="en-US" sz="16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光</a:t>
            </a:r>
            <a:r>
              <a:rPr lang="zh-CN" altLang="en-US" sz="1600" dirty="0">
                <a:latin typeface="黑体" panose="02010600030101010101" pitchFamily="49" charset="-122"/>
                <a:ea typeface="黑体" panose="02010600030101010101" pitchFamily="49" charset="-122"/>
              </a:rPr>
              <a:t>存储器；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B017B8-FF6A-4160-9459-9441EA87E4F3}"/>
              </a:ext>
            </a:extLst>
          </p:cNvPr>
          <p:cNvSpPr/>
          <p:nvPr/>
        </p:nvSpPr>
        <p:spPr>
          <a:xfrm>
            <a:off x="402265" y="4311702"/>
            <a:ext cx="7315697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90000"/>
              </a:lnSpc>
              <a:buClr>
                <a:srgbClr val="00B0F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60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按存储器读写工作方式分类</a:t>
            </a:r>
            <a:endParaRPr lang="en-US" altLang="zh-CN" sz="1600" dirty="0">
              <a:solidFill>
                <a:srgbClr val="3333FF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732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4" grpId="0" build="p"/>
      <p:bldP spid="15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存储器的性能指标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F8D5614-1FF6-458E-A239-47D2332603B7}"/>
              </a:ext>
            </a:extLst>
          </p:cNvPr>
          <p:cNvSpPr txBox="1">
            <a:spLocks noChangeArrowheads="1"/>
          </p:cNvSpPr>
          <p:nvPr/>
        </p:nvSpPr>
        <p:spPr>
          <a:xfrm>
            <a:off x="561012" y="4501285"/>
            <a:ext cx="10463565" cy="11889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50000"/>
              </a:lnSpc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kern="0" dirty="0">
                <a:latin typeface="方正黑体" panose="03000502000000000000" pitchFamily="66" charset="-122"/>
                <a:ea typeface="方正黑体" panose="03000502000000000000" pitchFamily="66" charset="-122"/>
              </a:rPr>
              <a:t> 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存取速度是指从</a:t>
            </a:r>
            <a:r>
              <a:rPr lang="en-US" altLang="zh-CN" kern="0" dirty="0">
                <a:latin typeface="黑体" panose="02010600030101010101" pitchFamily="49" charset="-122"/>
                <a:ea typeface="黑体" panose="02010600030101010101" pitchFamily="49" charset="-122"/>
              </a:rPr>
              <a:t>CPU</a:t>
            </a:r>
            <a:r>
              <a:rPr lang="zh-CN" altLang="en-US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给出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有效存储器</a:t>
            </a:r>
            <a:r>
              <a:rPr lang="zh-CN" altLang="en-US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地址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到存储器</a:t>
            </a:r>
            <a:r>
              <a:rPr lang="zh-CN" altLang="en-US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输入或输出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有效</a:t>
            </a:r>
            <a:r>
              <a:rPr lang="zh-CN" altLang="en-US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数据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所需要的时间。</a:t>
            </a:r>
            <a:endParaRPr lang="en-US" altLang="zh-CN" kern="0" dirty="0"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AF10BF-16C3-45BB-B9CB-C12976B47111}"/>
              </a:ext>
            </a:extLst>
          </p:cNvPr>
          <p:cNvSpPr/>
          <p:nvPr/>
        </p:nvSpPr>
        <p:spPr>
          <a:xfrm>
            <a:off x="1007121" y="1873279"/>
            <a:ext cx="9635319" cy="4985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存储器的主要性能指标：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存储容量、存取速度、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可靠性、性能价格比。</a:t>
            </a:r>
            <a:endParaRPr lang="en-US" altLang="zh-CN" sz="2400" kern="0" dirty="0">
              <a:solidFill>
                <a:srgbClr val="000000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4B87290-7829-46E4-83EE-20D791630D76}"/>
              </a:ext>
            </a:extLst>
          </p:cNvPr>
          <p:cNvSpPr/>
          <p:nvPr/>
        </p:nvSpPr>
        <p:spPr>
          <a:xfrm>
            <a:off x="970585" y="2641306"/>
            <a:ext cx="9781037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rgbClr val="92D05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存储容量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用其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存储的二进制位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信息量描述，用其存储单元数与存储单元字长乘积表示，即 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容量 </a:t>
            </a:r>
            <a:r>
              <a:rPr lang="en-US" altLang="zh-CN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= </a:t>
            </a:r>
            <a:r>
              <a:rPr lang="zh-CN" altLang="en-US" sz="2400" kern="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存储单元</a:t>
            </a:r>
            <a:r>
              <a:rPr lang="zh-CN" altLang="en-US" sz="2400" kern="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数</a:t>
            </a:r>
            <a:r>
              <a:rPr lang="en-US" altLang="zh-CN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×</a:t>
            </a:r>
            <a:r>
              <a:rPr lang="zh-CN" altLang="en-US" sz="2400" kern="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存储单元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字长</a:t>
            </a:r>
            <a:r>
              <a:rPr lang="zh-CN" altLang="en-US" sz="2400" b="1" dirty="0"/>
              <a:t> </a:t>
            </a:r>
            <a:endParaRPr lang="en-US" altLang="zh-CN" sz="2400" b="1" dirty="0"/>
          </a:p>
          <a:p>
            <a:pPr lvl="0">
              <a:lnSpc>
                <a:spcPct val="150000"/>
              </a:lnSpc>
              <a:buClr>
                <a:srgbClr val="92D050"/>
              </a:buClr>
              <a:defRPr/>
            </a:pPr>
            <a:r>
              <a:rPr lang="en-US" altLang="zh-CN" sz="2400" b="1" dirty="0"/>
              <a:t>          </a:t>
            </a:r>
            <a:r>
              <a:rPr lang="zh-CN" altLang="en-US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存储器芯片容量 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存储单元数 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数据线位数</a:t>
            </a:r>
            <a:endParaRPr lang="en-US" altLang="zh-CN" sz="2400" kern="0" dirty="0">
              <a:solidFill>
                <a:srgbClr val="FF0000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458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存储器结构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28F01C7-5E3E-4279-926D-113D2D0B1F5E}"/>
              </a:ext>
            </a:extLst>
          </p:cNvPr>
          <p:cNvSpPr txBox="1">
            <a:spLocks noChangeArrowheads="1"/>
          </p:cNvSpPr>
          <p:nvPr/>
        </p:nvSpPr>
        <p:spPr>
          <a:xfrm>
            <a:off x="1454149" y="1638047"/>
            <a:ext cx="9573241" cy="15145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00B0F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半导体存储器芯片由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存储矩阵、地址译码器、控制逻辑和三态数据缓冲寄存器组成，</a:t>
            </a: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是大量存储元件的有机结合。存储元件则是由能存储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一位二进制代码的物理器件构成</a:t>
            </a: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。</a:t>
            </a:r>
            <a:endParaRPr lang="en-US" altLang="zh-CN" sz="2400" kern="0" dirty="0"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035DDB-9586-49AA-A873-4756597D885D}"/>
              </a:ext>
            </a:extLst>
          </p:cNvPr>
          <p:cNvSpPr/>
          <p:nvPr/>
        </p:nvSpPr>
        <p:spPr>
          <a:xfrm>
            <a:off x="1454148" y="5259051"/>
            <a:ext cx="9900789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srgbClr val="00B0F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没有读或写操作时，</a:t>
            </a:r>
            <a:r>
              <a:rPr lang="zh-CN" altLang="en-US" sz="2400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控制逻辑使三态缓冲器处于高阻态</a:t>
            </a:r>
            <a:r>
              <a:rPr lang="zh-CN" altLang="en-US" sz="2400" kern="0" dirty="0">
                <a:solidFill>
                  <a:srgbClr val="1E9632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，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存储矩阵 </a:t>
            </a:r>
            <a:endParaRPr lang="en-US" altLang="zh-CN" sz="2400" kern="0" dirty="0">
              <a:solidFill>
                <a:srgbClr val="000000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  <a:p>
            <a:pPr lvl="0">
              <a:lnSpc>
                <a:spcPct val="125000"/>
              </a:lnSpc>
              <a:buClr>
                <a:srgbClr val="00B0F0"/>
              </a:buClr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   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与数据线</a:t>
            </a:r>
            <a:r>
              <a:rPr lang="zh-CN" altLang="en-US" sz="2400" kern="0" dirty="0">
                <a:solidFill>
                  <a:srgbClr val="6600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脱开。 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2362ED-5592-44B9-ABFF-612B7751C337}"/>
              </a:ext>
            </a:extLst>
          </p:cNvPr>
          <p:cNvSpPr/>
          <p:nvPr/>
        </p:nvSpPr>
        <p:spPr>
          <a:xfrm>
            <a:off x="1454148" y="4180882"/>
            <a:ext cx="95732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srgbClr val="00B0F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在</a:t>
            </a:r>
            <a:r>
              <a:rPr lang="en-US" altLang="zh-CN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CPU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及其接口电路送来的芯片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选通信号</a:t>
            </a:r>
            <a:r>
              <a:rPr lang="en-US" altLang="zh-CN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/CS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、读</a:t>
            </a:r>
            <a:r>
              <a:rPr lang="en-US" altLang="zh-CN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/RD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、写</a:t>
            </a:r>
            <a:r>
              <a:rPr lang="en-US" altLang="zh-CN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/WR</a:t>
            </a:r>
            <a:r>
              <a:rPr lang="zh-CN" altLang="en-US" sz="2400" kern="0" dirty="0">
                <a:solidFill>
                  <a:srgbClr val="C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控制信</a:t>
            </a:r>
            <a:endParaRPr lang="en-US" altLang="zh-CN" sz="2400" kern="0" dirty="0">
              <a:solidFill>
                <a:srgbClr val="C00000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  <a:p>
            <a:pPr lvl="0">
              <a:lnSpc>
                <a:spcPct val="125000"/>
              </a:lnSpc>
              <a:buClr>
                <a:srgbClr val="00B0F0"/>
              </a:buClr>
              <a:defRPr/>
            </a:pPr>
            <a:r>
              <a:rPr lang="en-US" altLang="zh-CN" sz="2400" kern="0" dirty="0">
                <a:solidFill>
                  <a:srgbClr val="C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   </a:t>
            </a:r>
            <a:r>
              <a:rPr lang="zh-CN" altLang="en-US" sz="2400" kern="0" dirty="0">
                <a:solidFill>
                  <a:srgbClr val="C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号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的配合下，</a:t>
            </a:r>
            <a:r>
              <a:rPr lang="zh-CN" altLang="en-US" sz="2400" kern="0" dirty="0">
                <a:solidFill>
                  <a:srgbClr val="C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打开三态缓冲器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，对该存储单元进行读或写操作。</a:t>
            </a:r>
            <a:endParaRPr lang="en-US" altLang="zh-CN" sz="2400" kern="0" dirty="0">
              <a:solidFill>
                <a:srgbClr val="000000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980507-FD88-4E78-8E25-C441C79AF576}"/>
              </a:ext>
            </a:extLst>
          </p:cNvPr>
          <p:cNvSpPr/>
          <p:nvPr/>
        </p:nvSpPr>
        <p:spPr>
          <a:xfrm>
            <a:off x="1454148" y="3105519"/>
            <a:ext cx="95732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srgbClr val="00B0F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将</a:t>
            </a:r>
            <a:r>
              <a:rPr lang="zh-CN" altLang="en-US" sz="2400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存储矩阵中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的全部存储</a:t>
            </a:r>
            <a:r>
              <a:rPr lang="zh-CN" altLang="en-US" sz="2400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单元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赋予</a:t>
            </a:r>
            <a:r>
              <a:rPr lang="zh-CN" altLang="en-US" sz="2400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单元地址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，由芯片内部的地址译</a:t>
            </a:r>
            <a:endParaRPr lang="en-US" altLang="zh-CN" sz="2400" kern="0" dirty="0">
              <a:solidFill>
                <a:srgbClr val="000000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  <a:p>
            <a:pPr lvl="0">
              <a:lnSpc>
                <a:spcPct val="125000"/>
              </a:lnSpc>
              <a:buClr>
                <a:srgbClr val="00B0F0"/>
              </a:buClr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   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码器实现按</a:t>
            </a:r>
            <a:r>
              <a:rPr lang="zh-CN" altLang="en-US" sz="2400" kern="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地址选择对应的存储单元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。</a:t>
            </a:r>
            <a:endParaRPr lang="en-US" altLang="zh-CN" sz="2400" kern="0" dirty="0">
              <a:solidFill>
                <a:srgbClr val="000000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697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8" grpId="0"/>
      <p:bldP spid="1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3289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三总线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8BB57F7-CABD-459A-9368-27E4C480B124}"/>
              </a:ext>
            </a:extLst>
          </p:cNvPr>
          <p:cNvSpPr txBox="1">
            <a:spLocks noChangeArrowheads="1"/>
          </p:cNvSpPr>
          <p:nvPr/>
        </p:nvSpPr>
        <p:spPr>
          <a:xfrm>
            <a:off x="147955" y="2629535"/>
            <a:ext cx="4850130" cy="35369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50000"/>
              </a:lnSpc>
              <a:buClr>
                <a:srgbClr val="92D05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地址总线</a:t>
            </a:r>
            <a:r>
              <a:rPr lang="en-US" altLang="zh-CN" kern="0" dirty="0">
                <a:solidFill>
                  <a:srgbClr val="FC450C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A0-A15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由</a:t>
            </a:r>
            <a:r>
              <a:rPr lang="en-US" altLang="zh-CN" kern="0" dirty="0">
                <a:latin typeface="黑体" panose="02010600030101010101" pitchFamily="49" charset="-122"/>
                <a:ea typeface="黑体" panose="02010600030101010101" pitchFamily="49" charset="-122"/>
              </a:rPr>
              <a:t>P0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、</a:t>
            </a:r>
            <a:r>
              <a:rPr lang="en-US" altLang="zh-CN" kern="0" dirty="0">
                <a:latin typeface="黑体" panose="02010600030101010101" pitchFamily="49" charset="-122"/>
                <a:ea typeface="黑体" panose="02010600030101010101" pitchFamily="49" charset="-122"/>
              </a:rPr>
              <a:t>P2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共同构成；</a:t>
            </a:r>
          </a:p>
          <a:p>
            <a:pPr lvl="1">
              <a:lnSpc>
                <a:spcPct val="150000"/>
              </a:lnSpc>
              <a:buClr>
                <a:srgbClr val="92D05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数据总线</a:t>
            </a:r>
            <a:r>
              <a:rPr lang="en-US" altLang="zh-CN" kern="0" dirty="0">
                <a:solidFill>
                  <a:srgbClr val="00B05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D0-D7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由</a:t>
            </a:r>
            <a:r>
              <a:rPr lang="en-US" altLang="zh-CN" kern="0" dirty="0">
                <a:latin typeface="黑体" panose="02010600030101010101" pitchFamily="49" charset="-122"/>
                <a:ea typeface="黑体" panose="02010600030101010101" pitchFamily="49" charset="-122"/>
              </a:rPr>
              <a:t>P0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构成；</a:t>
            </a:r>
          </a:p>
          <a:p>
            <a:pPr lvl="1">
              <a:lnSpc>
                <a:spcPct val="150000"/>
              </a:lnSpc>
              <a:buClr>
                <a:srgbClr val="92D05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控制总线由</a:t>
            </a:r>
            <a:r>
              <a:rPr lang="en-US" altLang="zh-CN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ALE</a:t>
            </a:r>
            <a:r>
              <a:rPr lang="zh-CN" altLang="en-US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、</a:t>
            </a:r>
            <a:r>
              <a:rPr lang="en-US" altLang="zh-CN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/PSEN</a:t>
            </a:r>
            <a:r>
              <a:rPr lang="zh-CN" altLang="en-US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、</a:t>
            </a:r>
            <a:r>
              <a:rPr lang="en-US" altLang="zh-CN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/WR</a:t>
            </a:r>
            <a:r>
              <a:rPr lang="zh-CN" altLang="en-US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、</a:t>
            </a:r>
            <a:r>
              <a:rPr lang="en-US" altLang="zh-CN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/RD</a:t>
            </a:r>
            <a:r>
              <a:rPr lang="zh-CN" altLang="en-US" kern="0" dirty="0">
                <a:latin typeface="黑体" panose="02010600030101010101" pitchFamily="49" charset="-122"/>
                <a:ea typeface="黑体" panose="02010600030101010101" pitchFamily="49" charset="-122"/>
              </a:rPr>
              <a:t>构成，访问不同逻辑空间时使用不同信号；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892ACB-FE72-4E70-ACE1-A108E010DBD0}"/>
              </a:ext>
            </a:extLst>
          </p:cNvPr>
          <p:cNvSpPr/>
          <p:nvPr/>
        </p:nvSpPr>
        <p:spPr>
          <a:xfrm>
            <a:off x="662196" y="1560274"/>
            <a:ext cx="4145280" cy="11245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0">
              <a:lnSpc>
                <a:spcPct val="140000"/>
              </a:lnSpc>
              <a:buClr>
                <a:srgbClr val="00B0F0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片外三总线为：</a:t>
            </a:r>
          </a:p>
          <a:p>
            <a:pPr indent="0">
              <a:lnSpc>
                <a:spcPct val="140000"/>
              </a:lnSpc>
              <a:buClr>
                <a:srgbClr val="00B0F0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    </a:t>
            </a:r>
            <a:r>
              <a:rPr lang="zh-CN" altLang="en-US" sz="2400" kern="0" dirty="0">
                <a:solidFill>
                  <a:srgbClr val="FC450C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地址</a:t>
            </a: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、</a:t>
            </a:r>
            <a:r>
              <a:rPr lang="zh-CN" altLang="en-US" sz="2400" kern="0" dirty="0">
                <a:solidFill>
                  <a:srgbClr val="00B05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数据</a:t>
            </a: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、</a:t>
            </a:r>
            <a:r>
              <a:rPr lang="zh-CN" altLang="en-US" sz="2400" kern="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控制</a:t>
            </a: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总线。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9294310-82D8-4731-84DF-069A9F8A430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78095" y="1164590"/>
            <a:ext cx="7050405" cy="51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5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FDBFAC-8AEF-4417-B904-BB3144772931}"/>
              </a:ext>
            </a:extLst>
          </p:cNvPr>
          <p:cNvSpPr txBox="1"/>
          <p:nvPr/>
        </p:nvSpPr>
        <p:spPr>
          <a:xfrm>
            <a:off x="895545" y="1042282"/>
            <a:ext cx="4223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程序存储器基本扩展方法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7FB8092E-9C85-495C-9D26-77F1564C4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321" y="1973129"/>
            <a:ext cx="6046843" cy="3968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69425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9DF9ADF-72D5-495D-A52E-2E5A79E18A9D}"/>
              </a:ext>
            </a:extLst>
          </p:cNvPr>
          <p:cNvGrpSpPr/>
          <p:nvPr/>
        </p:nvGrpSpPr>
        <p:grpSpPr bwMode="auto">
          <a:xfrm>
            <a:off x="2892425" y="1759675"/>
            <a:ext cx="6407150" cy="4911725"/>
            <a:chOff x="342" y="153"/>
            <a:chExt cx="5088" cy="4113"/>
          </a:xfrm>
        </p:grpSpPr>
        <p:pic>
          <p:nvPicPr>
            <p:cNvPr id="9" name="Picture 6" descr="8">
              <a:extLst>
                <a:ext uri="{FF2B5EF4-FFF2-40B4-BE49-F238E27FC236}">
                  <a16:creationId xmlns:a16="http://schemas.microsoft.com/office/drawing/2014/main" id="{D8721E49-CC6F-4423-B07D-3F481188EF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" y="153"/>
              <a:ext cx="5088" cy="4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ED52F993-320A-4C31-97DD-8DD4B7241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883"/>
              <a:ext cx="362" cy="38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Wingdings 2" panose="05020102010507070707" pitchFamily="18" charset="2"/>
                <a:buChar char="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kumimoji="1" lang="zh-CN" altLang="zh-CN" sz="2400">
                <a:latin typeface="Times New Roman" panose="02020603050405020304" pitchFamily="18" charset="0"/>
                <a:ea typeface="黑体" panose="02010600030101010101" pitchFamily="49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895545" y="1042282"/>
            <a:ext cx="4223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程序存储器基本扩展方法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140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895545" y="1042282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片选信号的产生方法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A8ED25-9AAE-475D-ADFF-A7458511DA8F}"/>
              </a:ext>
            </a:extLst>
          </p:cNvPr>
          <p:cNvSpPr/>
          <p:nvPr/>
        </p:nvSpPr>
        <p:spPr>
          <a:xfrm>
            <a:off x="965988" y="1845474"/>
            <a:ext cx="10143290" cy="1015663"/>
          </a:xfrm>
          <a:prstGeom prst="rect">
            <a:avLst/>
          </a:prstGeom>
          <a:solidFill>
            <a:srgbClr val="DFDFF5"/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片选信号（</a:t>
            </a:r>
            <a:r>
              <a:rPr lang="en-US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/CS,  /CE</a:t>
            </a:r>
            <a:r>
              <a:rPr lang="zh-CN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）的作用：</a:t>
            </a:r>
            <a:r>
              <a:rPr lang="zh-CN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决定某个器件是否具有使用总线的权力。在系统中用于选择芯片。</a:t>
            </a:r>
            <a:endParaRPr lang="zh-CN" altLang="zh-CN" sz="2400" kern="100" dirty="0">
              <a:effectLst/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087632-5856-4CFD-B457-B28F53653932}"/>
              </a:ext>
            </a:extLst>
          </p:cNvPr>
          <p:cNvSpPr/>
          <p:nvPr/>
        </p:nvSpPr>
        <p:spPr>
          <a:xfrm>
            <a:off x="938073" y="311265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片选信号的产生方法：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ED4A57-63D5-42A4-8EEF-CD9661ADB4D1}"/>
              </a:ext>
            </a:extLst>
          </p:cNvPr>
          <p:cNvSpPr/>
          <p:nvPr/>
        </p:nvSpPr>
        <p:spPr>
          <a:xfrm>
            <a:off x="1691932" y="3885867"/>
            <a:ext cx="23545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92D050"/>
              </a:buClr>
              <a:buFont typeface="Wingdings" panose="05000000000000000000" charset="0"/>
              <a:buChar char="l"/>
            </a:pPr>
            <a:r>
              <a:rPr lang="zh-CN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直接接地法</a:t>
            </a:r>
            <a:r>
              <a:rPr lang="zh-CN" altLang="en-US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；</a:t>
            </a:r>
            <a:endParaRPr lang="zh-CN" altLang="en-US" sz="2400" dirty="0"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5829A6-E702-4E1A-A424-AB65298CB8AC}"/>
              </a:ext>
            </a:extLst>
          </p:cNvPr>
          <p:cNvSpPr/>
          <p:nvPr/>
        </p:nvSpPr>
        <p:spPr>
          <a:xfrm>
            <a:off x="1691932" y="4621858"/>
            <a:ext cx="17449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l">
              <a:buClr>
                <a:srgbClr val="92D050"/>
              </a:buClr>
              <a:buFont typeface="Wingdings" panose="05000000000000000000" charset="0"/>
              <a:buChar char="l"/>
            </a:pPr>
            <a:r>
              <a:rPr lang="zh-CN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线选法；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EDF86F-134C-4B1C-B438-013C6E33FCD5}"/>
              </a:ext>
            </a:extLst>
          </p:cNvPr>
          <p:cNvSpPr/>
          <p:nvPr/>
        </p:nvSpPr>
        <p:spPr>
          <a:xfrm>
            <a:off x="1692859" y="5357849"/>
            <a:ext cx="17449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l">
              <a:buClr>
                <a:srgbClr val="92D050"/>
              </a:buClr>
              <a:buFont typeface="Wingdings" panose="05000000000000000000" charset="0"/>
              <a:buChar char="l"/>
            </a:pPr>
            <a:r>
              <a:rPr lang="zh-CN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译码法。</a:t>
            </a:r>
          </a:p>
        </p:txBody>
      </p:sp>
    </p:spTree>
    <p:extLst>
      <p:ext uri="{BB962C8B-B14F-4D97-AF65-F5344CB8AC3E}">
        <p14:creationId xmlns:p14="http://schemas.microsoft.com/office/powerpoint/2010/main" val="255292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13" grpId="0"/>
      <p:bldP spid="14" grpId="0"/>
      <p:bldP spid="1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895545" y="964342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片选信号的产生方法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61390D-E975-45E8-94BD-F5CAF2C6F94F}"/>
              </a:ext>
            </a:extLst>
          </p:cNvPr>
          <p:cNvSpPr/>
          <p:nvPr/>
        </p:nvSpPr>
        <p:spPr>
          <a:xfrm>
            <a:off x="895545" y="1735607"/>
            <a:ext cx="869362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地址线</a:t>
            </a:r>
            <a:r>
              <a:rPr lang="en-US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A13</a:t>
            </a:r>
            <a:r>
              <a:rPr lang="zh-CN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－</a:t>
            </a:r>
            <a:r>
              <a:rPr lang="en-US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A0</a:t>
            </a:r>
            <a:r>
              <a:rPr lang="zh-CN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：</a:t>
            </a:r>
            <a:r>
              <a:rPr lang="zh-CN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用于片内译码，达到选择某个特定单元的目的。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8F0703C5-4F55-40AA-BE4C-D5CF852B4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562" y="2229174"/>
            <a:ext cx="8580438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FAB04D9-E086-40E5-A565-91629AF0C54F}"/>
              </a:ext>
            </a:extLst>
          </p:cNvPr>
          <p:cNvSpPr/>
          <p:nvPr/>
        </p:nvSpPr>
        <p:spPr>
          <a:xfrm>
            <a:off x="909191" y="2406031"/>
            <a:ext cx="29343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ROM 27128</a:t>
            </a:r>
            <a:r>
              <a:rPr lang="zh-CN" altLang="en-US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无</a:t>
            </a:r>
            <a:r>
              <a:rPr lang="zh-CN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高位地址线</a:t>
            </a:r>
            <a:r>
              <a:rPr lang="en-US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A15</a:t>
            </a:r>
            <a:r>
              <a:rPr lang="zh-CN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，</a:t>
            </a:r>
            <a:r>
              <a:rPr lang="en-US" altLang="zh-CN" sz="2400" kern="100" dirty="0">
                <a:solidFill>
                  <a:srgbClr val="F6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A14</a:t>
            </a:r>
            <a:r>
              <a:rPr lang="zh-CN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，其值可以为</a:t>
            </a:r>
            <a:r>
              <a:rPr lang="en-US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0</a:t>
            </a:r>
            <a:r>
              <a:rPr lang="zh-CN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，也可以为</a:t>
            </a:r>
            <a:r>
              <a:rPr lang="en-US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1</a:t>
            </a:r>
            <a:r>
              <a:rPr lang="zh-CN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9F55BC-DD34-4B7D-B10E-ED0B385F4F12}"/>
              </a:ext>
            </a:extLst>
          </p:cNvPr>
          <p:cNvSpPr/>
          <p:nvPr/>
        </p:nvSpPr>
        <p:spPr>
          <a:xfrm>
            <a:off x="796777" y="1386923"/>
            <a:ext cx="20497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92D050"/>
              </a:buClr>
              <a:buFont typeface="Wingdings" panose="05000000000000000000" charset="0"/>
              <a:buChar char="l"/>
            </a:pPr>
            <a:r>
              <a:rPr lang="zh-CN" altLang="zh-CN" sz="2400" kern="100" dirty="0">
                <a:latin typeface="黑体" panose="02010600030101010101" pitchFamily="49" charset="-122"/>
                <a:ea typeface="黑体" panose="02010600030101010101" pitchFamily="49" charset="-122"/>
              </a:rPr>
              <a:t>直接接地法</a:t>
            </a:r>
            <a:endParaRPr lang="zh-CN" altLang="en-US" sz="2400" dirty="0"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887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1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895545" y="1042282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片选信号的产生方法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2A345A0-DE1D-4D66-97D4-215DE4662A14}"/>
              </a:ext>
            </a:extLst>
          </p:cNvPr>
          <p:cNvSpPr txBox="1">
            <a:spLocks noChangeArrowheads="1"/>
          </p:cNvSpPr>
          <p:nvPr/>
        </p:nvSpPr>
        <p:spPr>
          <a:xfrm>
            <a:off x="1242015" y="1929182"/>
            <a:ext cx="9785375" cy="532737"/>
          </a:xfrm>
          <a:prstGeom prst="rect">
            <a:avLst/>
          </a:prstGeom>
          <a:solidFill>
            <a:srgbClr val="E7F4F5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>
              <a:defRPr/>
            </a:pPr>
            <a:r>
              <a:rPr lang="zh-CN" altLang="en-US">
                <a:latin typeface="黑体" panose="02010600030101010101" pitchFamily="49" charset="-122"/>
                <a:ea typeface="黑体" panose="02010600030101010101" pitchFamily="49" charset="-122"/>
              </a:rPr>
              <a:t>例：采用线选法扩展两片</a:t>
            </a:r>
            <a:r>
              <a:rPr lang="en-US" altLang="zh-CN">
                <a:latin typeface="黑体" panose="02010600030101010101" pitchFamily="49" charset="-122"/>
                <a:ea typeface="黑体" panose="02010600030101010101" pitchFamily="49" charset="-122"/>
              </a:rPr>
              <a:t>8KBROM</a:t>
            </a:r>
            <a:r>
              <a:rPr lang="zh-CN" altLang="en-US">
                <a:latin typeface="黑体" panose="02010600030101010101" pitchFamily="49" charset="-122"/>
                <a:ea typeface="黑体" panose="02010600030101010101" pitchFamily="49" charset="-122"/>
              </a:rPr>
              <a:t>和两片</a:t>
            </a:r>
            <a:r>
              <a:rPr lang="en-US" altLang="zh-CN">
                <a:latin typeface="黑体" panose="02010600030101010101" pitchFamily="49" charset="-122"/>
                <a:ea typeface="黑体" panose="02010600030101010101" pitchFamily="49" charset="-122"/>
              </a:rPr>
              <a:t>8KBRAM</a:t>
            </a:r>
            <a:r>
              <a:rPr lang="zh-CN" altLang="en-US">
                <a:latin typeface="黑体" panose="02010600030101010101" pitchFamily="49" charset="-122"/>
                <a:ea typeface="黑体" panose="02010600030101010101" pitchFamily="49" charset="-122"/>
              </a:rPr>
              <a:t>。</a:t>
            </a:r>
            <a:endParaRPr lang="en-US" altLang="zh-CN" dirty="0"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A8DE9B77-8185-468B-8EA4-D410C742B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284" y="3337960"/>
            <a:ext cx="5991247" cy="3506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6" name="矩形 2">
            <a:extLst>
              <a:ext uri="{FF2B5EF4-FFF2-40B4-BE49-F238E27FC236}">
                <a16:creationId xmlns:a16="http://schemas.microsoft.com/office/drawing/2014/main" id="{47DEB25E-6773-4453-8ED4-D3A7B6C6B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437890"/>
            <a:ext cx="4446270" cy="33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"/>
            </a:pPr>
            <a:r>
              <a:rPr lang="en-US" altLang="zh-CN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A13(P2.5)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连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2764(1)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和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6264 (1)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的片选端，</a:t>
            </a:r>
            <a:r>
              <a:rPr lang="en-US" altLang="zh-CN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P2.5</a:t>
            </a:r>
            <a:r>
              <a:rPr lang="zh-CN" altLang="en-US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为</a:t>
            </a:r>
            <a:r>
              <a:rPr lang="en-US" altLang="zh-CN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，选通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2764(1)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和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6264 (1)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；</a:t>
            </a:r>
            <a:endParaRPr lang="zh-CN" altLang="en-US" sz="2400" dirty="0">
              <a:solidFill>
                <a:srgbClr val="FF0000"/>
              </a:solidFill>
              <a:latin typeface="黑体" panose="02010600030101010101" pitchFamily="49" charset="-122"/>
              <a:ea typeface="黑体" panose="02010600030101010101" pitchFamily="49" charset="-122"/>
              <a:sym typeface="+mn-ea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"/>
            </a:pPr>
            <a:r>
              <a:rPr lang="en-US" altLang="zh-CN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A14(P2.6)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连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2764(2)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和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6264(2)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的片选端，</a:t>
            </a:r>
            <a:r>
              <a:rPr lang="en-US" altLang="zh-CN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P2.6</a:t>
            </a:r>
            <a:r>
              <a:rPr lang="zh-CN" altLang="en-US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为</a:t>
            </a:r>
            <a:r>
              <a:rPr lang="en-US" altLang="zh-CN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，选通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2764(2)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和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6264 (2)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  <a:sym typeface="+mn-ea"/>
              </a:rPr>
              <a:t>；</a:t>
            </a:r>
            <a:endParaRPr lang="zh-CN" altLang="en-US" sz="2400" dirty="0">
              <a:solidFill>
                <a:srgbClr val="FF0000"/>
              </a:solidFill>
              <a:latin typeface="黑体" panose="02010600030101010101" pitchFamily="49" charset="-122"/>
              <a:ea typeface="黑体" panose="02010600030101010101" pitchFamily="49" charset="-122"/>
              <a:sym typeface="+mn-ea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"/>
            </a:pPr>
            <a:endParaRPr lang="zh-CN" altLang="en-US" sz="2400" dirty="0"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17E980-15CA-4919-B548-8362ACA621ED}"/>
              </a:ext>
            </a:extLst>
          </p:cNvPr>
          <p:cNvSpPr/>
          <p:nvPr/>
        </p:nvSpPr>
        <p:spPr>
          <a:xfrm>
            <a:off x="70900" y="1447589"/>
            <a:ext cx="14401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92D050"/>
              </a:buClr>
              <a:buFont typeface="Wingdings" panose="05000000000000000000" charset="0"/>
              <a:buChar char="l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线选法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ECD7CA-5F0A-450B-9968-E6189141AF4B}"/>
              </a:ext>
            </a:extLst>
          </p:cNvPr>
          <p:cNvSpPr/>
          <p:nvPr/>
        </p:nvSpPr>
        <p:spPr>
          <a:xfrm>
            <a:off x="1511080" y="1444300"/>
            <a:ext cx="9515935" cy="461665"/>
          </a:xfrm>
          <a:prstGeom prst="rect">
            <a:avLst/>
          </a:prstGeom>
          <a:solidFill>
            <a:srgbClr val="DFDFF5"/>
          </a:solidFill>
        </p:spPr>
        <p:txBody>
          <a:bodyPr wrap="square">
            <a:spAutoFit/>
          </a:bodyPr>
          <a:lstStyle/>
          <a:p>
            <a:pPr>
              <a:buFontTx/>
              <a:buNone/>
              <a:defRPr/>
            </a:pPr>
            <a:r>
              <a:rPr lang="zh-CN" altLang="en-US" sz="2400" dirty="0">
                <a:solidFill>
                  <a:srgbClr val="3333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直接利用单根地址线作为片选信号。</a:t>
            </a:r>
            <a:endParaRPr lang="en-US" altLang="zh-CN" sz="2400" dirty="0">
              <a:solidFill>
                <a:srgbClr val="3333FF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B01211-5009-4EA9-83B4-830E016A030F}"/>
              </a:ext>
            </a:extLst>
          </p:cNvPr>
          <p:cNvSpPr/>
          <p:nvPr/>
        </p:nvSpPr>
        <p:spPr>
          <a:xfrm>
            <a:off x="1241640" y="2461581"/>
            <a:ext cx="9785375" cy="829945"/>
          </a:xfrm>
          <a:prstGeom prst="rect">
            <a:avLst/>
          </a:prstGeom>
          <a:solidFill>
            <a:srgbClr val="E7F4F5"/>
          </a:solidFill>
        </p:spPr>
        <p:txBody>
          <a:bodyPr wrap="square">
            <a:spAutoFit/>
          </a:bodyPr>
          <a:lstStyle/>
          <a:p>
            <a:pPr indent="-57150">
              <a:defRPr/>
            </a:pP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6264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和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2764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都是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8KB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的存储器，都有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13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根地址线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A0-A12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，用剩余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3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根地址线</a:t>
            </a:r>
            <a:r>
              <a:rPr lang="en-US" altLang="zh-CN" sz="2400" dirty="0">
                <a:latin typeface="黑体" panose="02010600030101010101" pitchFamily="49" charset="-122"/>
                <a:ea typeface="黑体" panose="02010600030101010101" pitchFamily="49" charset="-122"/>
              </a:rPr>
              <a:t>A13-A15</a:t>
            </a:r>
            <a:r>
              <a:rPr lang="zh-CN" altLang="en-US" sz="2400" dirty="0">
                <a:latin typeface="黑体" panose="02010600030101010101" pitchFamily="49" charset="-122"/>
                <a:ea typeface="黑体" panose="02010600030101010101" pitchFamily="49" charset="-122"/>
              </a:rPr>
              <a:t>分别作片选信号；</a:t>
            </a:r>
          </a:p>
        </p:txBody>
      </p:sp>
    </p:spTree>
    <p:extLst>
      <p:ext uri="{BB962C8B-B14F-4D97-AF65-F5344CB8AC3E}">
        <p14:creationId xmlns:p14="http://schemas.microsoft.com/office/powerpoint/2010/main" val="35046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6" grpId="0"/>
      <p:bldP spid="17" grpId="0"/>
      <p:bldP spid="18" grpId="0" animBg="1"/>
      <p:bldP spid="19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895545" y="964342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片选信号的产生方法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C97DF6B9-756F-4D70-A691-FBEC3B15F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172" y="3114675"/>
            <a:ext cx="6443663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16D9F9C2-38AC-45B2-9BE1-72BFC101F18B}"/>
              </a:ext>
            </a:extLst>
          </p:cNvPr>
          <p:cNvSpPr txBox="1">
            <a:spLocks noChangeArrowheads="1"/>
          </p:cNvSpPr>
          <p:nvPr/>
        </p:nvSpPr>
        <p:spPr>
          <a:xfrm>
            <a:off x="567221" y="1308100"/>
            <a:ext cx="11218957" cy="18065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 2" panose="05020102010507070707" pitchFamily="18" charset="2"/>
              <a:buChar char="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92D050"/>
              </a:buClr>
              <a:buNone/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全译码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zh-CN" sz="2400" kern="0" dirty="0">
                <a:solidFill>
                  <a:srgbClr val="0000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    </a:t>
            </a: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除存储器芯片所用地址线与</a:t>
            </a:r>
            <a:r>
              <a:rPr lang="en-US" altLang="zh-CN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CPU</a:t>
            </a:r>
            <a:r>
              <a:rPr lang="zh-CN" altLang="en-US" sz="2400" kern="0" dirty="0">
                <a:latin typeface="黑体" panose="02010600030101010101" pitchFamily="49" charset="-122"/>
                <a:ea typeface="黑体" panose="02010600030101010101" pitchFamily="49" charset="-122"/>
              </a:rPr>
              <a:t>的地址线对应相连外，未用的地址线全部参加译码，通过地址译码器产生存储器的片选信号。</a:t>
            </a:r>
          </a:p>
        </p:txBody>
      </p:sp>
    </p:spTree>
    <p:extLst>
      <p:ext uri="{BB962C8B-B14F-4D97-AF65-F5344CB8AC3E}">
        <p14:creationId xmlns:p14="http://schemas.microsoft.com/office/powerpoint/2010/main" val="2289114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895545" y="964342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片选信号的产生方法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1F42C73-29FF-42C9-BA31-8B2835E87ED3}"/>
              </a:ext>
            </a:extLst>
          </p:cNvPr>
          <p:cNvSpPr txBox="1">
            <a:spLocks noChangeArrowheads="1"/>
          </p:cNvSpPr>
          <p:nvPr/>
        </p:nvSpPr>
        <p:spPr>
          <a:xfrm>
            <a:off x="601027" y="1353892"/>
            <a:ext cx="10989945" cy="1997710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2D050"/>
              </a:buClr>
              <a:buFont typeface="Wingdings" panose="05000000000000000000" charset="0"/>
              <a:buChar char="ü"/>
              <a:defRPr/>
            </a:pPr>
            <a:r>
              <a:rPr lang="zh-CN" altLang="en-US" kern="0">
                <a:solidFill>
                  <a:srgbClr val="0000FF"/>
                </a:solidFill>
                <a:latin typeface="黑体" panose="02010600030101010101" pitchFamily="49" charset="-122"/>
                <a:ea typeface="黑体" panose="02010600030101010101" pitchFamily="49" charset="-122"/>
              </a:rPr>
              <a:t>部分</a:t>
            </a:r>
            <a:r>
              <a:rPr lang="zh-CN" altLang="en-US" b="1" kern="0">
                <a:solidFill>
                  <a:srgbClr val="0000FF"/>
                </a:solidFill>
                <a:latin typeface="+mn-ea"/>
              </a:rPr>
              <a:t>译码</a:t>
            </a:r>
            <a:r>
              <a:rPr lang="en-US" altLang="zh-CN" b="1" kern="0">
                <a:solidFill>
                  <a:srgbClr val="0000FF"/>
                </a:solidFill>
                <a:latin typeface="+mn-ea"/>
              </a:rPr>
              <a:t>(0708)</a:t>
            </a:r>
            <a:endParaRPr lang="zh-CN" altLang="en-US" b="1" kern="0">
              <a:solidFill>
                <a:srgbClr val="0000FF"/>
              </a:solidFill>
              <a:latin typeface="+mn-ea"/>
            </a:endParaRPr>
          </a:p>
          <a:p>
            <a:pPr lvl="1" algn="l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 2" panose="05020102010507070707" pitchFamily="18" charset="2"/>
              <a:buNone/>
              <a:defRPr/>
            </a:pPr>
            <a:r>
              <a:rPr lang="zh-CN" altLang="en-US" sz="2400" b="1" kern="0">
                <a:latin typeface="+mn-ea"/>
              </a:rPr>
              <a:t>   部分译码是指未用的高位地址线部分参加译码，其译码输出分别连到不同的片选端。</a:t>
            </a:r>
          </a:p>
          <a:p>
            <a:pPr lvl="1" algn="l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2400" b="1" kern="0">
                <a:latin typeface="+mn-ea"/>
              </a:rPr>
              <a:t>  </a:t>
            </a:r>
            <a:r>
              <a:rPr lang="zh-CN" altLang="en-US" sz="2400" b="1" kern="0">
                <a:solidFill>
                  <a:srgbClr val="FF0000"/>
                </a:solidFill>
                <a:latin typeface="+mn-ea"/>
              </a:rPr>
              <a:t> 情况</a:t>
            </a:r>
            <a:r>
              <a:rPr lang="en-US" altLang="zh-CN" sz="2400" b="1" kern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400" b="1" kern="0">
                <a:latin typeface="+mn-ea"/>
              </a:rPr>
              <a:t>：采用</a:t>
            </a:r>
            <a:r>
              <a:rPr lang="en-US" altLang="zh-CN" sz="2400" b="1" kern="0">
                <a:latin typeface="+mn-ea"/>
              </a:rPr>
              <a:t>A15</a:t>
            </a:r>
            <a:r>
              <a:rPr lang="zh-CN" altLang="en-US" sz="2400" b="1" kern="0">
                <a:latin typeface="+mn-ea"/>
              </a:rPr>
              <a:t>、</a:t>
            </a:r>
            <a:r>
              <a:rPr lang="en-US" altLang="zh-CN" sz="2400" b="1" kern="0">
                <a:latin typeface="+mn-ea"/>
              </a:rPr>
              <a:t>A14</a:t>
            </a:r>
            <a:r>
              <a:rPr lang="zh-CN" altLang="en-US" sz="2400" b="1" kern="0">
                <a:latin typeface="+mn-ea"/>
              </a:rPr>
              <a:t>参与译码，</a:t>
            </a:r>
            <a:r>
              <a:rPr lang="en-US" altLang="zh-CN" sz="2400" b="1" kern="0">
                <a:latin typeface="+mn-ea"/>
              </a:rPr>
              <a:t>A13</a:t>
            </a:r>
            <a:r>
              <a:rPr lang="zh-CN" altLang="en-US" sz="2400" b="1" kern="0">
                <a:latin typeface="+mn-ea"/>
              </a:rPr>
              <a:t>未使用：</a:t>
            </a:r>
            <a:endParaRPr lang="zh-CN" altLang="en-US" sz="2400" b="1" kern="0" dirty="0">
              <a:latin typeface="+mn-ea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78A90DA0-C46F-4C22-8933-A2946BF21B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51952" y="3396370"/>
            <a:ext cx="5103813" cy="3351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7856A2FB-9DFC-40AF-A33A-31470232A67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83107" y="3443677"/>
            <a:ext cx="3505200" cy="32607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8898800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七、存储器扩展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895545" y="964342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片选信号的产生方法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45C1F94-35E7-4BFE-87D2-CF31B187DA68}"/>
              </a:ext>
            </a:extLst>
          </p:cNvPr>
          <p:cNvSpPr txBox="1">
            <a:spLocks noChangeArrowheads="1"/>
          </p:cNvSpPr>
          <p:nvPr/>
        </p:nvSpPr>
        <p:spPr>
          <a:xfrm>
            <a:off x="1083159" y="1502390"/>
            <a:ext cx="8229600" cy="863600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b="1" kern="0">
                <a:solidFill>
                  <a:srgbClr val="FF0000"/>
                </a:solidFill>
                <a:latin typeface="+mn-ea"/>
              </a:rPr>
              <a:t>情况</a:t>
            </a:r>
            <a:r>
              <a:rPr lang="en-US" altLang="zh-CN" b="1" kern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b="1" kern="0">
                <a:latin typeface="+mn-ea"/>
              </a:rPr>
              <a:t>：采用</a:t>
            </a:r>
            <a:r>
              <a:rPr lang="en-US" altLang="zh-CN" b="1" kern="0">
                <a:latin typeface="+mn-ea"/>
              </a:rPr>
              <a:t>A15</a:t>
            </a:r>
            <a:r>
              <a:rPr lang="zh-CN" altLang="en-US" b="1" kern="0">
                <a:latin typeface="+mn-ea"/>
              </a:rPr>
              <a:t>、</a:t>
            </a:r>
            <a:r>
              <a:rPr lang="en-US" altLang="zh-CN" b="1" kern="0">
                <a:latin typeface="+mn-ea"/>
              </a:rPr>
              <a:t>A13</a:t>
            </a:r>
            <a:r>
              <a:rPr lang="zh-CN" altLang="en-US" b="1" kern="0">
                <a:latin typeface="+mn-ea"/>
              </a:rPr>
              <a:t>参与译码，</a:t>
            </a:r>
            <a:r>
              <a:rPr lang="en-US" altLang="zh-CN" b="1" kern="0">
                <a:latin typeface="+mn-ea"/>
              </a:rPr>
              <a:t>A14</a:t>
            </a:r>
            <a:r>
              <a:rPr lang="zh-CN" altLang="en-US" b="1" kern="0">
                <a:latin typeface="+mn-ea"/>
              </a:rPr>
              <a:t>未使用：</a:t>
            </a:r>
            <a:endParaRPr lang="zh-CN" altLang="en-US" b="1" kern="0" dirty="0">
              <a:latin typeface="+mn-ea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2E31071E-8551-43BC-9E92-83CD8737857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61949" y="2675870"/>
            <a:ext cx="5181600" cy="3433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BF3A11D0-5B16-4B86-AA57-A52608D8883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09614" y="2763500"/>
            <a:ext cx="3581400" cy="32734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1255310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通信方式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BA9E6F8-8F7D-4713-B05E-5EB3FDC248F6}"/>
              </a:ext>
            </a:extLst>
          </p:cNvPr>
          <p:cNvSpPr txBox="1">
            <a:spLocks noChangeArrowheads="1"/>
          </p:cNvSpPr>
          <p:nvPr/>
        </p:nvSpPr>
        <p:spPr>
          <a:xfrm>
            <a:off x="515152" y="1851271"/>
            <a:ext cx="89154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kumimoji="1" lang="zh-CN" altLang="en-US" b="1" dirty="0">
                <a:solidFill>
                  <a:srgbClr val="000000"/>
                </a:solidFill>
              </a:rPr>
              <a:t>并行通信</a:t>
            </a:r>
          </a:p>
          <a:p>
            <a:pPr lvl="2" algn="l"/>
            <a:r>
              <a:rPr lang="zh-CN" altLang="en-US" sz="2400" b="1" dirty="0"/>
              <a:t>将代表</a:t>
            </a:r>
            <a:r>
              <a:rPr lang="zh-CN" altLang="en-US" sz="2400" b="1" dirty="0">
                <a:solidFill>
                  <a:srgbClr val="FF3300"/>
                </a:solidFill>
              </a:rPr>
              <a:t>信息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3300"/>
                </a:solidFill>
              </a:rPr>
              <a:t>数字信号码元</a:t>
            </a:r>
            <a:r>
              <a:rPr lang="zh-CN" altLang="en-US" sz="2400" b="1" dirty="0"/>
              <a:t>序列以</a:t>
            </a:r>
            <a:r>
              <a:rPr lang="zh-CN" altLang="en-US" sz="2400" b="1" dirty="0">
                <a:solidFill>
                  <a:srgbClr val="FF3300"/>
                </a:solidFill>
              </a:rPr>
              <a:t>成组的方式</a:t>
            </a:r>
            <a:r>
              <a:rPr lang="zh-CN" altLang="en-US" sz="2400" b="1" dirty="0"/>
              <a:t>在</a:t>
            </a:r>
            <a:r>
              <a:rPr lang="zh-CN" altLang="en-US" sz="2400" b="1" dirty="0">
                <a:solidFill>
                  <a:srgbClr val="FF3300"/>
                </a:solidFill>
              </a:rPr>
              <a:t>两条或两条</a:t>
            </a:r>
            <a:r>
              <a:rPr lang="zh-CN" altLang="en-US" sz="2400" b="1" dirty="0"/>
              <a:t>以上的并行信道上同时传输</a:t>
            </a:r>
          </a:p>
          <a:p>
            <a:pPr lvl="3" algn="l"/>
            <a:r>
              <a:rPr lang="zh-CN" altLang="en-US" sz="2400" b="1" dirty="0"/>
              <a:t>优点：节省传输时间，速度快，不需要字符同步措施</a:t>
            </a:r>
          </a:p>
          <a:p>
            <a:pPr lvl="3" algn="l"/>
            <a:r>
              <a:rPr lang="zh-CN" altLang="en-US" sz="2400" b="1" dirty="0"/>
              <a:t>缺点：需要</a:t>
            </a:r>
            <a:r>
              <a:rPr lang="en-US" altLang="zh-CN" sz="2400" b="1" i="1" dirty="0"/>
              <a:t>n </a:t>
            </a:r>
            <a:r>
              <a:rPr lang="zh-CN" altLang="en-US" sz="2400" b="1" dirty="0"/>
              <a:t>条通信信道，成本高</a:t>
            </a:r>
            <a:endParaRPr kumimoji="1" lang="zh-CN" altLang="en-US" sz="2400" b="1" dirty="0">
              <a:solidFill>
                <a:srgbClr val="000000"/>
              </a:solidFill>
            </a:endParaRPr>
          </a:p>
          <a:p>
            <a:pPr lvl="1" algn="l"/>
            <a:r>
              <a:rPr kumimoji="1" lang="zh-CN" altLang="en-US" b="1" dirty="0">
                <a:solidFill>
                  <a:srgbClr val="000000"/>
                </a:solidFill>
              </a:rPr>
              <a:t>串行通信</a:t>
            </a:r>
          </a:p>
          <a:p>
            <a:pPr lvl="2" algn="l"/>
            <a:r>
              <a:rPr lang="zh-CN" altLang="en-US" sz="2400" b="1" dirty="0"/>
              <a:t>将</a:t>
            </a:r>
            <a:r>
              <a:rPr lang="zh-CN" altLang="en-US" sz="2400" b="1" dirty="0">
                <a:solidFill>
                  <a:srgbClr val="FF3300"/>
                </a:solidFill>
              </a:rPr>
              <a:t>数字信号码元</a:t>
            </a:r>
            <a:r>
              <a:rPr lang="zh-CN" altLang="en-US" sz="2400" b="1" dirty="0"/>
              <a:t>序列以</a:t>
            </a:r>
            <a:r>
              <a:rPr lang="zh-CN" altLang="en-US" sz="2400" b="1" dirty="0">
                <a:solidFill>
                  <a:srgbClr val="FF3300"/>
                </a:solidFill>
              </a:rPr>
              <a:t>串行方式</a:t>
            </a:r>
            <a:r>
              <a:rPr lang="zh-CN" altLang="en-US" sz="2400" b="1" dirty="0"/>
              <a:t>一个码元接一个码元地</a:t>
            </a:r>
            <a:r>
              <a:rPr lang="zh-CN" altLang="en-US" sz="2400" b="1" dirty="0">
                <a:solidFill>
                  <a:srgbClr val="FF3300"/>
                </a:solidFill>
              </a:rPr>
              <a:t>在一条信道上传输</a:t>
            </a:r>
          </a:p>
          <a:p>
            <a:pPr lvl="3" algn="l"/>
            <a:r>
              <a:rPr lang="zh-CN" altLang="en-US" sz="2400" b="1" dirty="0"/>
              <a:t>优点：只需一条通信信道，节省线路铺设费用</a:t>
            </a:r>
          </a:p>
          <a:p>
            <a:pPr lvl="3" algn="l"/>
            <a:r>
              <a:rPr lang="zh-CN" altLang="en-US" sz="2400" b="1" dirty="0"/>
              <a:t>缺点：速度慢，需要外加码组或字符同步措施</a:t>
            </a:r>
          </a:p>
        </p:txBody>
      </p:sp>
    </p:spTree>
    <p:extLst>
      <p:ext uri="{BB962C8B-B14F-4D97-AF65-F5344CB8AC3E}">
        <p14:creationId xmlns:p14="http://schemas.microsoft.com/office/powerpoint/2010/main" val="2362737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串行通信方式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D656107-8181-4F7B-9158-F21F30463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1600200"/>
            <a:ext cx="81534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单工方式：只允许数据按一个固定的方向传输。</a:t>
            </a:r>
            <a:endParaRPr kumimoji="1" lang="en-US" altLang="zh-CN" sz="2400" b="1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>
              <a:defRPr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、半双工方式：数据可以从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发送到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，也可以由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发送到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。但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之间只有一根传输线，因此同一时刻只能作一个方向的传送。其传送方向由收发控制开关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K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切换。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平时一般让</a:t>
            </a:r>
            <a:r>
              <a:rPr kumimoji="1" lang="en-US" altLang="zh-CN" sz="2400" b="1" kern="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kern="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方都处于接收状态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，以便能够随时响应对方的呼叫。</a:t>
            </a:r>
            <a:r>
              <a:rPr kumimoji="1" lang="zh-CN" altLang="en-US" sz="2400" b="1" kern="0" dirty="0">
                <a:solidFill>
                  <a:sysClr val="windowText" lastClr="000000"/>
                </a:solidFill>
                <a:latin typeface="+mn-ea"/>
                <a:cs typeface="Times New Roman" panose="02020603050405020304" pitchFamily="18" charset="0"/>
              </a:rPr>
              <a:t> </a:t>
            </a:r>
          </a:p>
          <a:p>
            <a:pPr algn="just">
              <a:defRPr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+mn-ea"/>
              </a:rPr>
              <a:t>全双工方式：数据可同时在两个方向上传送。</a:t>
            </a:r>
            <a:r>
              <a:rPr kumimoji="1" lang="zh-CN" altLang="en-US" sz="2400" b="1" kern="0" dirty="0">
                <a:solidFill>
                  <a:sysClr val="windowText" lastClr="000000"/>
                </a:solidFill>
                <a:latin typeface="+mn-ea"/>
              </a:rPr>
              <a:t> 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2400" b="1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27F04F-2AD4-46A5-9B09-9CFE80E204D5}"/>
              </a:ext>
            </a:extLst>
          </p:cNvPr>
          <p:cNvSpPr txBox="1">
            <a:spLocks noChangeArrowheads="1"/>
          </p:cNvSpPr>
          <p:nvPr/>
        </p:nvSpPr>
        <p:spPr>
          <a:xfrm>
            <a:off x="513467" y="411425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>
              <a:spcBef>
                <a:spcPct val="55000"/>
              </a:spcBef>
            </a:pPr>
            <a:r>
              <a:rPr lang="zh-CN" altLang="en-US" b="1" dirty="0"/>
              <a:t>按照数据传输方式可以分为</a:t>
            </a:r>
          </a:p>
          <a:p>
            <a:pPr lvl="2" algn="l">
              <a:spcBef>
                <a:spcPct val="55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同步通信</a:t>
            </a:r>
          </a:p>
          <a:p>
            <a:pPr lvl="3" algn="l">
              <a:spcBef>
                <a:spcPct val="55000"/>
              </a:spcBef>
            </a:pPr>
            <a:r>
              <a:rPr lang="zh-CN" altLang="en-US" sz="2400" b="1" dirty="0"/>
              <a:t>接收方的时钟完全由发送方控制</a:t>
            </a:r>
          </a:p>
          <a:p>
            <a:pPr lvl="2" algn="l">
              <a:spcBef>
                <a:spcPct val="55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异步通信</a:t>
            </a:r>
          </a:p>
          <a:p>
            <a:pPr lvl="3" algn="l">
              <a:spcBef>
                <a:spcPct val="55000"/>
              </a:spcBef>
            </a:pPr>
            <a:r>
              <a:rPr lang="zh-CN" altLang="en-US" sz="2400" b="1" dirty="0"/>
              <a:t>收发双方独立产生同步时钟，但定期进行校准</a:t>
            </a:r>
          </a:p>
        </p:txBody>
      </p:sp>
    </p:spTree>
    <p:extLst>
      <p:ext uri="{BB962C8B-B14F-4D97-AF65-F5344CB8AC3E}">
        <p14:creationId xmlns:p14="http://schemas.microsoft.com/office/powerpoint/2010/main" val="259792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8" y="1066800"/>
            <a:ext cx="51816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通用异步接收器和发送器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2AEB5E-DD88-42EF-ACC7-201593826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809" y="1543984"/>
            <a:ext cx="8648700" cy="2308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kern="0" dirty="0">
                <a:solidFill>
                  <a:sysClr val="windowText" lastClr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UART</a:t>
            </a:r>
            <a:r>
              <a:rPr kumimoji="1" lang="zh-CN" altLang="en-US" sz="2400" b="1" kern="0" dirty="0">
                <a:solidFill>
                  <a:sysClr val="windowText" lastClr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是一个能异步传输的数据总线。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kern="0" dirty="0">
                <a:solidFill>
                  <a:srgbClr val="660066"/>
                </a:solidFill>
                <a:latin typeface="+mn-ea"/>
                <a:ea typeface="+mn-ea"/>
                <a:cs typeface="Times New Roman" panose="02020603050405020304" pitchFamily="18" charset="0"/>
              </a:rPr>
              <a:t>TXD</a:t>
            </a:r>
            <a:r>
              <a:rPr kumimoji="1" lang="zh-CN" altLang="en-US" sz="2400" b="1" kern="0" dirty="0">
                <a:solidFill>
                  <a:srgbClr val="660066"/>
                </a:solidFill>
                <a:latin typeface="+mn-ea"/>
                <a:ea typeface="+mn-ea"/>
                <a:cs typeface="Times New Roman" panose="02020603050405020304" pitchFamily="18" charset="0"/>
              </a:rPr>
              <a:t>：发送数据线       </a:t>
            </a:r>
            <a:r>
              <a:rPr kumimoji="1" lang="en-US" altLang="zh-CN" sz="2400" b="1" kern="0" dirty="0">
                <a:solidFill>
                  <a:srgbClr val="660066"/>
                </a:solidFill>
                <a:latin typeface="+mn-ea"/>
                <a:ea typeface="+mn-ea"/>
                <a:cs typeface="Times New Roman" panose="02020603050405020304" pitchFamily="18" charset="0"/>
              </a:rPr>
              <a:t>RXD</a:t>
            </a:r>
            <a:r>
              <a:rPr kumimoji="1" lang="zh-CN" altLang="en-US" sz="2400" b="1" kern="0" dirty="0">
                <a:solidFill>
                  <a:srgbClr val="660066"/>
                </a:solidFill>
                <a:latin typeface="+mn-ea"/>
                <a:ea typeface="+mn-ea"/>
                <a:cs typeface="Times New Roman" panose="02020603050405020304" pitchFamily="18" charset="0"/>
              </a:rPr>
              <a:t>：接收数据线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kern="0" dirty="0">
                <a:solidFill>
                  <a:srgbClr val="005000"/>
                </a:solidFill>
                <a:latin typeface="+mn-ea"/>
                <a:ea typeface="+mn-ea"/>
                <a:cs typeface="Times New Roman" panose="02020603050405020304" pitchFamily="18" charset="0"/>
              </a:rPr>
              <a:t>接收和发送可以单独进行，也可以同时进行。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kern="0" dirty="0">
                <a:solidFill>
                  <a:srgbClr val="063CE8"/>
                </a:solidFill>
                <a:latin typeface="+mn-ea"/>
                <a:ea typeface="+mn-ea"/>
                <a:cs typeface="Times New Roman" panose="02020603050405020304" pitchFamily="18" charset="0"/>
              </a:rPr>
              <a:t>格式严格：每个数据以相同的位串形式传输。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kern="0" dirty="0">
                <a:solidFill>
                  <a:srgbClr val="A1011C"/>
                </a:solidFill>
                <a:latin typeface="+mn-ea"/>
                <a:ea typeface="+mn-ea"/>
                <a:cs typeface="Times New Roman" panose="02020603050405020304" pitchFamily="18" charset="0"/>
              </a:rPr>
              <a:t>每个串行数据由起始位、数据位、奇偶校验位、停止位组成。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kern="0" dirty="0">
                <a:solidFill>
                  <a:srgbClr val="063CE8"/>
                </a:solidFill>
                <a:latin typeface="+mn-ea"/>
                <a:ea typeface="+mn-ea"/>
                <a:cs typeface="Times New Roman" panose="02020603050405020304" pitchFamily="18" charset="0"/>
              </a:rPr>
              <a:t>从起始到停止位结束时间称为一帧</a:t>
            </a:r>
            <a:r>
              <a:rPr kumimoji="1" lang="en-US" altLang="zh-CN" sz="2400" b="1" kern="0" dirty="0">
                <a:solidFill>
                  <a:srgbClr val="063CE8"/>
                </a:solidFill>
                <a:latin typeface="+mn-ea"/>
                <a:ea typeface="+mn-ea"/>
                <a:cs typeface="Times New Roman" panose="02020603050405020304" pitchFamily="18" charset="0"/>
              </a:rPr>
              <a:t>(frame)</a:t>
            </a:r>
            <a:r>
              <a:rPr kumimoji="1" lang="zh-CN" altLang="en-US" sz="2400" b="1" kern="0" dirty="0">
                <a:solidFill>
                  <a:srgbClr val="063CE8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717277D-5736-4858-86D9-9289BB843E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560290"/>
              </p:ext>
            </p:extLst>
          </p:nvPr>
        </p:nvGraphicFramePr>
        <p:xfrm>
          <a:off x="1406247" y="4101446"/>
          <a:ext cx="7489825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Visio" r:id="rId3" imgW="2882503" imgH="820341" progId="Visio.Drawing.11">
                  <p:embed/>
                </p:oleObj>
              </mc:Choice>
              <mc:Fallback>
                <p:oleObj name="Visio" r:id="rId3" imgW="2882503" imgH="820341" progId="Visio.Drawing.11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0128D95-9528-48D5-B7E9-B25CEC6F5B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247" y="4101446"/>
                        <a:ext cx="7489825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419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8" y="1066800"/>
            <a:ext cx="51816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通用异步接收器和发送器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4904FF5-56D7-4BEA-9837-63645516F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075" y="1545110"/>
            <a:ext cx="9099550" cy="31700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000" b="1" kern="0" dirty="0">
                <a:solidFill>
                  <a:srgbClr val="0066FF"/>
                </a:solidFill>
                <a:latin typeface="+mn-ea"/>
                <a:ea typeface="+mn-ea"/>
                <a:cs typeface="Times New Roman" panose="02020603050405020304" pitchFamily="18" charset="0"/>
              </a:rPr>
              <a:t>UART</a:t>
            </a:r>
            <a:r>
              <a:rPr kumimoji="1" lang="zh-CN" altLang="en-US" sz="2000" b="1" kern="0" dirty="0">
                <a:solidFill>
                  <a:srgbClr val="0066FF"/>
                </a:solidFill>
                <a:latin typeface="+mn-ea"/>
                <a:ea typeface="+mn-ea"/>
                <a:cs typeface="Times New Roman" panose="02020603050405020304" pitchFamily="18" charset="0"/>
              </a:rPr>
              <a:t>格式</a:t>
            </a:r>
          </a:p>
          <a:p>
            <a:pPr>
              <a:defRPr/>
            </a:pPr>
            <a:r>
              <a:rPr kumimoji="1" lang="zh-CN" altLang="en-US" sz="2000" b="1" dirty="0">
                <a:solidFill>
                  <a:srgbClr val="005000"/>
                </a:solidFill>
                <a:latin typeface="+mn-ea"/>
                <a:ea typeface="+mn-ea"/>
                <a:cs typeface="Times New Roman" panose="02020603050405020304" pitchFamily="18" charset="0"/>
              </a:rPr>
              <a:t>①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A1011C"/>
                </a:solidFill>
                <a:latin typeface="+mn-ea"/>
                <a:ea typeface="+mn-ea"/>
                <a:cs typeface="Times New Roman" panose="02020603050405020304" pitchFamily="18" charset="0"/>
              </a:rPr>
              <a:t>起始位：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在通信线上没有数据被传送时处于逻辑</a:t>
            </a:r>
            <a:r>
              <a:rPr kumimoji="1"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状态，当要发送数据时，首先发出一个逻辑</a:t>
            </a:r>
            <a:r>
              <a:rPr kumimoji="1"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信号，这个逻辑</a:t>
            </a:r>
            <a:r>
              <a:rPr kumimoji="1"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信号就是起始位。</a:t>
            </a:r>
          </a:p>
          <a:p>
            <a:pPr>
              <a:defRPr/>
            </a:pPr>
            <a:r>
              <a:rPr kumimoji="1" lang="zh-CN" altLang="en-US" sz="2000" b="1" dirty="0">
                <a:solidFill>
                  <a:srgbClr val="005000"/>
                </a:solidFill>
                <a:latin typeface="+mn-ea"/>
                <a:ea typeface="+mn-ea"/>
                <a:cs typeface="Times New Roman" panose="02020603050405020304" pitchFamily="18" charset="0"/>
              </a:rPr>
              <a:t>②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A1011C"/>
                </a:solidFill>
                <a:latin typeface="+mn-ea"/>
                <a:ea typeface="+mn-ea"/>
                <a:cs typeface="Times New Roman" panose="02020603050405020304" pitchFamily="18" charset="0"/>
              </a:rPr>
              <a:t>数据位：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起始位后位。数据位的个数可以是</a:t>
            </a:r>
            <a:r>
              <a:rPr kumimoji="1" lang="en-US" altLang="zh-CN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5~8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位，  </a:t>
            </a:r>
            <a:r>
              <a:rPr kumimoji="1" lang="en-US" altLang="zh-CN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MSC-51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中常采用</a:t>
            </a:r>
            <a:r>
              <a:rPr kumimoji="1" lang="en-US" altLang="zh-CN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8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位数据传送，从</a:t>
            </a:r>
            <a:r>
              <a:rPr kumimoji="1"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最</a:t>
            </a:r>
            <a:r>
              <a:rPr kumimoji="1" lang="zh-CN" altLang="en-US" sz="2000" b="1" dirty="0">
                <a:solidFill>
                  <a:srgbClr val="FF0101"/>
                </a:solidFill>
                <a:latin typeface="+mn-ea"/>
                <a:ea typeface="+mn-ea"/>
                <a:cs typeface="Times New Roman" panose="02020603050405020304" pitchFamily="18" charset="0"/>
              </a:rPr>
              <a:t>低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有效位开始发送。</a:t>
            </a:r>
          </a:p>
          <a:p>
            <a:pPr>
              <a:defRPr/>
            </a:pPr>
            <a:r>
              <a:rPr kumimoji="1" lang="zh-CN" altLang="en-US" sz="2000" b="1" dirty="0">
                <a:solidFill>
                  <a:srgbClr val="005000"/>
                </a:solidFill>
                <a:latin typeface="+mn-ea"/>
                <a:ea typeface="+mn-ea"/>
                <a:cs typeface="Times New Roman" panose="02020603050405020304" pitchFamily="18" charset="0"/>
              </a:rPr>
              <a:t>③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A1011C"/>
                </a:solidFill>
                <a:latin typeface="+mn-ea"/>
                <a:ea typeface="+mn-ea"/>
                <a:cs typeface="Times New Roman" panose="02020603050405020304" pitchFamily="18" charset="0"/>
              </a:rPr>
              <a:t>奇偶校验位：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检测有限差错。</a:t>
            </a:r>
          </a:p>
          <a:p>
            <a:pPr>
              <a:defRPr/>
            </a:pP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     偶校验：组成数据位和奇偶位的逻辑</a:t>
            </a:r>
            <a:r>
              <a:rPr kumimoji="1"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个数必须是偶数。</a:t>
            </a:r>
          </a:p>
          <a:p>
            <a:pPr>
              <a:defRPr/>
            </a:pP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     奇校验：逻辑</a:t>
            </a:r>
            <a:r>
              <a:rPr kumimoji="1"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的个数必须是奇数。</a:t>
            </a:r>
          </a:p>
          <a:p>
            <a:pPr>
              <a:defRPr/>
            </a:pPr>
            <a:r>
              <a:rPr kumimoji="1" lang="zh-CN" altLang="en-US" sz="2000" b="1" dirty="0">
                <a:solidFill>
                  <a:srgbClr val="005000"/>
                </a:solidFill>
                <a:latin typeface="+mn-ea"/>
                <a:ea typeface="+mn-ea"/>
                <a:cs typeface="Times New Roman" panose="02020603050405020304" pitchFamily="18" charset="0"/>
              </a:rPr>
              <a:t>④</a:t>
            </a:r>
            <a:r>
              <a:rPr kumimoji="1" lang="zh-CN" altLang="en-US" sz="20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A1011C"/>
                </a:solidFill>
                <a:latin typeface="+mn-ea"/>
                <a:ea typeface="+mn-ea"/>
                <a:cs typeface="Times New Roman" panose="02020603050405020304" pitchFamily="18" charset="0"/>
              </a:rPr>
              <a:t>停止位：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停止位是一个字符数据的结束标志，可以是</a:t>
            </a:r>
            <a:r>
              <a:rPr kumimoji="1" lang="en-US" altLang="zh-CN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位、</a:t>
            </a:r>
            <a:r>
              <a:rPr kumimoji="1" lang="en-US" altLang="zh-CN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1.5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位或</a:t>
            </a:r>
            <a:r>
              <a:rPr kumimoji="1" lang="en-US" altLang="zh-CN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位的逻辑</a:t>
            </a:r>
            <a:r>
              <a:rPr kumimoji="1" lang="en-US" altLang="zh-CN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。停止位后，通信线又恢复逻辑</a:t>
            </a:r>
            <a:r>
              <a:rPr kumimoji="1" lang="en-US" altLang="zh-CN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3015FB"/>
                </a:solidFill>
                <a:latin typeface="+mn-ea"/>
                <a:ea typeface="+mn-ea"/>
                <a:cs typeface="Times New Roman" panose="02020603050405020304" pitchFamily="18" charset="0"/>
              </a:rPr>
              <a:t>状态。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F43B5C3-E943-444D-91CC-3DC98B4801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731925"/>
              </p:ext>
            </p:extLst>
          </p:nvPr>
        </p:nvGraphicFramePr>
        <p:xfrm>
          <a:off x="1488061" y="4748212"/>
          <a:ext cx="7489825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Visio" r:id="rId3" imgW="2882503" imgH="820341" progId="Visio.Drawing.11">
                  <p:embed/>
                </p:oleObj>
              </mc:Choice>
              <mc:Fallback>
                <p:oleObj name="Visio" r:id="rId3" imgW="2882503" imgH="820341" progId="Visio.Drawing.11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7F13E77-3658-4EE2-8D39-AFDB6409E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061" y="4748212"/>
                        <a:ext cx="7489825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261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8" y="1066800"/>
            <a:ext cx="51816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通用异步接收器和发送器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91803DA-1FEC-4A42-A8DB-33EAAC71E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14" y="1592344"/>
            <a:ext cx="8805863" cy="3386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kern="0" dirty="0">
                <a:solidFill>
                  <a:srgbClr val="0066FF"/>
                </a:solidFill>
                <a:latin typeface="+mn-ea"/>
                <a:ea typeface="+mn-ea"/>
                <a:cs typeface="Times New Roman" panose="02020603050405020304" pitchFamily="18" charset="0"/>
              </a:rPr>
              <a:t>UART</a:t>
            </a:r>
            <a:r>
              <a:rPr kumimoji="1" lang="zh-CN" altLang="en-US" sz="2400" b="1" kern="0" dirty="0">
                <a:solidFill>
                  <a:srgbClr val="0066FF"/>
                </a:solidFill>
                <a:latin typeface="+mn-ea"/>
                <a:ea typeface="+mn-ea"/>
                <a:cs typeface="Times New Roman" panose="02020603050405020304" pitchFamily="18" charset="0"/>
              </a:rPr>
              <a:t>格式波特率</a:t>
            </a: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kern="0" dirty="0">
                <a:solidFill>
                  <a:srgbClr val="A1011C"/>
                </a:solidFill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kern="0" dirty="0">
                <a:solidFill>
                  <a:srgbClr val="A1011C"/>
                </a:solidFill>
                <a:latin typeface="+mn-ea"/>
                <a:ea typeface="+mn-ea"/>
                <a:cs typeface="Times New Roman" panose="02020603050405020304" pitchFamily="18" charset="0"/>
              </a:rPr>
              <a:t>异步通信传输的所有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位信号</a:t>
            </a:r>
            <a:r>
              <a:rPr kumimoji="1" lang="zh-CN" altLang="en-US" sz="2400" b="1" kern="0" dirty="0">
                <a:solidFill>
                  <a:srgbClr val="A1011C"/>
                </a:solidFill>
                <a:latin typeface="+mn-ea"/>
                <a:ea typeface="+mn-ea"/>
                <a:cs typeface="Times New Roman" panose="02020603050405020304" pitchFamily="18" charset="0"/>
              </a:rPr>
              <a:t>必须保持一致的信号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持续时间</a:t>
            </a:r>
            <a:r>
              <a:rPr kumimoji="1" lang="zh-CN" altLang="en-US" sz="2400" b="1" kern="0" dirty="0">
                <a:solidFill>
                  <a:srgbClr val="A1011C"/>
                </a:solidFill>
                <a:latin typeface="+mn-ea"/>
                <a:ea typeface="+mn-ea"/>
                <a:cs typeface="Times New Roman" panose="02020603050405020304" pitchFamily="18" charset="0"/>
              </a:rPr>
              <a:t>。每一位的宽度由数据的传输速度决定。</a:t>
            </a:r>
            <a:endParaRPr kumimoji="1" lang="en-US" altLang="zh-CN" sz="2400" b="1" kern="0" dirty="0">
              <a:solidFill>
                <a:srgbClr val="A1011C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2400" b="1" kern="0" dirty="0">
              <a:solidFill>
                <a:srgbClr val="A1011C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+mn-ea"/>
                <a:ea typeface="+mn-ea"/>
                <a:cs typeface="Times New Roman" panose="02020603050405020304" pitchFamily="18" charset="0"/>
              </a:rPr>
              <a:t>  波特率：每秒传输多少个二进制位</a:t>
            </a: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zh-CN" altLang="en-US" sz="2400" b="1" kern="0" dirty="0">
                <a:solidFill>
                  <a:sysClr val="windowText" lastClr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波特率 </a:t>
            </a:r>
            <a:r>
              <a:rPr kumimoji="1" lang="en-US" altLang="zh-CN" sz="2400" b="1" kern="0" dirty="0">
                <a:solidFill>
                  <a:sysClr val="windowText" lastClr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=  1/</a:t>
            </a:r>
            <a:r>
              <a:rPr kumimoji="1" lang="zh-CN" altLang="en-US" sz="2400" b="1" kern="0" dirty="0">
                <a:solidFill>
                  <a:sysClr val="windowText" lastClr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信号持续时间</a:t>
            </a:r>
            <a:endParaRPr kumimoji="1" lang="en-US" altLang="zh-CN" sz="2400" b="1" kern="0" dirty="0">
              <a:solidFill>
                <a:sysClr val="windowText" lastClr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063CE8"/>
                </a:solidFill>
                <a:latin typeface="+mn-ea"/>
                <a:ea typeface="+mn-ea"/>
                <a:cs typeface="Times New Roman" panose="02020603050405020304" pitchFamily="18" charset="0"/>
              </a:rPr>
              <a:t>接收设备和发射设备需要保持</a:t>
            </a:r>
            <a:r>
              <a:rPr kumimoji="1" lang="zh-CN" altLang="en-US" sz="2400" b="1" kern="0" dirty="0">
                <a:solidFill>
                  <a:sysClr val="windowText" lastClr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相同的</a:t>
            </a:r>
            <a:r>
              <a:rPr kumimoji="1" lang="zh-CN" altLang="en-US" sz="2400" b="1" kern="0" dirty="0">
                <a:solidFill>
                  <a:srgbClr val="063CE8"/>
                </a:solidFill>
                <a:latin typeface="+mn-ea"/>
                <a:ea typeface="+mn-ea"/>
                <a:cs typeface="Times New Roman" panose="02020603050405020304" pitchFamily="18" charset="0"/>
              </a:rPr>
              <a:t>传送波特率</a:t>
            </a:r>
            <a:r>
              <a:rPr kumimoji="1" lang="zh-CN" altLang="en-US" sz="3200" kern="0" dirty="0">
                <a:solidFill>
                  <a:srgbClr val="063CE8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A89270-516A-4077-85C4-1C2B97BB71C7}"/>
              </a:ext>
            </a:extLst>
          </p:cNvPr>
          <p:cNvSpPr/>
          <p:nvPr/>
        </p:nvSpPr>
        <p:spPr>
          <a:xfrm>
            <a:off x="1206452" y="5332494"/>
            <a:ext cx="8297862" cy="1200150"/>
          </a:xfrm>
          <a:prstGeom prst="rect">
            <a:avLst/>
          </a:prstGeom>
          <a:solidFill>
            <a:srgbClr val="FFCCFF"/>
          </a:solidFill>
        </p:spPr>
        <p:txBody>
          <a:bodyPr>
            <a:spAutoFit/>
          </a:bodyPr>
          <a:lstStyle/>
          <a:p>
            <a:pPr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如每秒钟传送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240</a:t>
            </a: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个字符，而每个字符格式包含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10</a:t>
            </a: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位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(1</a:t>
            </a: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个起始位、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1</a:t>
            </a: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个停止位、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8</a:t>
            </a: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个数据位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)</a:t>
            </a: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，这时的比特率为：</a:t>
            </a:r>
          </a:p>
          <a:p>
            <a:pPr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        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10</a:t>
            </a: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位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×240</a:t>
            </a: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个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/</a:t>
            </a:r>
            <a:r>
              <a:rPr lang="zh-CN" altLang="en-US" sz="2400" b="1" dirty="0">
                <a:solidFill>
                  <a:srgbClr val="020107"/>
                </a:solidFill>
                <a:latin typeface="+mn-ea"/>
                <a:ea typeface="+mn-ea"/>
              </a:rPr>
              <a:t>秒 </a:t>
            </a:r>
            <a:r>
              <a:rPr lang="en-US" altLang="zh-CN" sz="2400" b="1" dirty="0">
                <a:solidFill>
                  <a:srgbClr val="020107"/>
                </a:solidFill>
                <a:latin typeface="+mn-ea"/>
                <a:ea typeface="+mn-ea"/>
              </a:rPr>
              <a:t>= 2400 bps</a:t>
            </a:r>
          </a:p>
        </p:txBody>
      </p:sp>
    </p:spTree>
    <p:extLst>
      <p:ext uri="{BB962C8B-B14F-4D97-AF65-F5344CB8AC3E}">
        <p14:creationId xmlns:p14="http://schemas.microsoft.com/office/powerpoint/2010/main" val="417781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单片机串行接口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E1E855DF-E810-46D2-B2D1-E1E332025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528478"/>
              </p:ext>
            </p:extLst>
          </p:nvPr>
        </p:nvGraphicFramePr>
        <p:xfrm>
          <a:off x="1908927" y="1851630"/>
          <a:ext cx="7456488" cy="397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Visio" r:id="rId3" imgW="9538934" imgH="5097816" progId="Visio.Drawing.11">
                  <p:embed/>
                </p:oleObj>
              </mc:Choice>
              <mc:Fallback>
                <p:oleObj name="Visio" r:id="rId3" imgW="9538934" imgH="5097816" progId="Visio.Drawing.11">
                  <p:embed/>
                  <p:pic>
                    <p:nvPicPr>
                      <p:cNvPr id="20484" name="Object 2">
                        <a:extLst>
                          <a:ext uri="{FF2B5EF4-FFF2-40B4-BE49-F238E27FC236}">
                            <a16:creationId xmlns:a16="http://schemas.microsoft.com/office/drawing/2014/main" id="{56D9832E-0D93-43B7-8C13-E30A8330CD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927" y="1851630"/>
                        <a:ext cx="7456488" cy="397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210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单片机串行接口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17CFAE-0863-4C37-BC64-1C2F1C03DB8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14399" y="1851630"/>
            <a:ext cx="9163050" cy="40941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P3.0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是串行数据接收端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RXD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P3.1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是串行数据发送端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TXD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。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串行接口的结构由串行接口控制电路、发送电路和接收电路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3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部分组成。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发送电路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由发送缓冲器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(SBUF)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、发送控制电路组成，用于串行接口的发送。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接收电路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由接收缓冲器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(SBUF)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、接收控制电路组成，用于串行接口的接收。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两个数据缓冲器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(SBUF)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物理上相互独立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，在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逻辑上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却占用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同一字节地址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99H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20755962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单片机串行接口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3">
            <a:extLst>
              <a:ext uri="{FF2B5EF4-FFF2-40B4-BE49-F238E27FC236}">
                <a16:creationId xmlns:a16="http://schemas.microsoft.com/office/drawing/2014/main" id="{FF07C8BF-5852-4A76-865C-0168458F7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0791" y="2578949"/>
            <a:ext cx="8748713" cy="216693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84F70A7-3E67-4CD0-B5A9-1E3CE7B10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0791" y="1347049"/>
            <a:ext cx="8812213" cy="55578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chemeClr val="folHlink"/>
              </a:buClr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   MCS-51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可以通过特殊功能缓冲器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SBUF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对串行接收或串行发送寄存器进行访问，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两个缓冲器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共用一个地址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99H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，由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指令操作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决定访问哪一个缓冲器。   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Char char="p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数据缓冲器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(99H)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400" b="1" dirty="0">
                <a:latin typeface="+mn-ea"/>
                <a:cs typeface="Times New Roman" pitchFamily="18" charset="0"/>
              </a:rPr>
              <a:t>    发送缓冲器：只管发送数据，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CPU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写入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SBUF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的时候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(MOV SBUF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A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即为发送；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400" b="1" dirty="0">
                <a:latin typeface="+mn-ea"/>
                <a:cs typeface="Times New Roman" pitchFamily="18" charset="0"/>
              </a:rPr>
              <a:t>    接收缓冲器：只管接收数据，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CPU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读取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SBUF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的过程 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MOV A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SBUF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即为接收。</a:t>
            </a:r>
          </a:p>
          <a:p>
            <a:pPr eaLnBrk="1" hangingPunct="1">
              <a:lnSpc>
                <a:spcPct val="110000"/>
              </a:lnSpc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    接收器具有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双缓冲结构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，即在从接收缓冲器中读出前一个已收到的字节之前，便能接收第二个字节，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如果第二个字节已经接收完毕，第一个字节还没有读出，则将丢失其中一个字节，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编程时应引起注意。  </a:t>
            </a:r>
          </a:p>
          <a:p>
            <a:pPr eaLnBrk="1" hangingPunct="1">
              <a:lnSpc>
                <a:spcPct val="110000"/>
              </a:lnSpc>
              <a:buClr>
                <a:schemeClr val="folHlink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    对于发送器，数据是由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CPU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控制和发送的，所以不需要考虑。</a:t>
            </a:r>
          </a:p>
        </p:txBody>
      </p:sp>
    </p:spTree>
    <p:extLst>
      <p:ext uri="{BB962C8B-B14F-4D97-AF65-F5344CB8AC3E}">
        <p14:creationId xmlns:p14="http://schemas.microsoft.com/office/powerpoint/2010/main" val="153040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单片机串行接口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596C07-A75C-4C3B-BCC9-0FA7440A7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885" y="2632320"/>
            <a:ext cx="935037" cy="720725"/>
          </a:xfrm>
          <a:prstGeom prst="rect">
            <a:avLst/>
          </a:prstGeom>
          <a:solidFill>
            <a:srgbClr val="FC0128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C0128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SM</a:t>
            </a:r>
            <a:r>
              <a:rPr lang="en-US" altLang="zh-CN" sz="1800" kern="0" baseline="-25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BB0DB7F-647B-4DBA-BF06-1BFA27BB3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947" y="2632320"/>
            <a:ext cx="935038" cy="720725"/>
          </a:xfrm>
          <a:prstGeom prst="rect">
            <a:avLst/>
          </a:prstGeom>
          <a:solidFill>
            <a:srgbClr val="FC0128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C0128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SM</a:t>
            </a:r>
            <a:r>
              <a:rPr lang="en-US" altLang="zh-CN" sz="1800" kern="0" baseline="-25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B358331-9977-4E75-9D26-B2C28DACD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010" y="2632320"/>
            <a:ext cx="935037" cy="720725"/>
          </a:xfrm>
          <a:prstGeom prst="rect">
            <a:avLst/>
          </a:prstGeom>
          <a:solidFill>
            <a:srgbClr val="FC0128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C0128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SM</a:t>
            </a:r>
            <a:r>
              <a:rPr lang="en-US" altLang="zh-CN" sz="1800" kern="0" baseline="-25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1787064-8C67-43ED-BCA7-1CE2DBAC0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660" y="2632320"/>
            <a:ext cx="935037" cy="720725"/>
          </a:xfrm>
          <a:prstGeom prst="rect">
            <a:avLst/>
          </a:prstGeom>
          <a:solidFill>
            <a:srgbClr val="00B7A5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B7A5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REN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030D8AC-F445-4CE1-85E8-FF182E6C4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160" y="2632320"/>
            <a:ext cx="935037" cy="720725"/>
          </a:xfrm>
          <a:prstGeom prst="rect">
            <a:avLst/>
          </a:prstGeom>
          <a:solidFill>
            <a:srgbClr val="6600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0066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TB</a:t>
            </a:r>
            <a:r>
              <a:rPr lang="en-US" altLang="zh-CN" sz="1800" kern="0" baseline="-25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090E6F30-571D-48B9-8398-FA9A7481D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222" y="2632320"/>
            <a:ext cx="935038" cy="720725"/>
          </a:xfrm>
          <a:prstGeom prst="rect">
            <a:avLst/>
          </a:prstGeom>
          <a:solidFill>
            <a:srgbClr val="6600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0066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RB</a:t>
            </a:r>
            <a:r>
              <a:rPr lang="en-US" altLang="zh-CN" sz="1800" kern="0" baseline="-25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612A41AB-FD78-4AF1-8C09-A66C3DCD5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8285" y="2632320"/>
            <a:ext cx="935037" cy="720725"/>
          </a:xfrm>
          <a:prstGeom prst="rect">
            <a:avLst/>
          </a:prstGeom>
          <a:solidFill>
            <a:srgbClr val="0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TI</a:t>
            </a:r>
            <a:endParaRPr lang="en-US" altLang="zh-CN" sz="1800" kern="0" baseline="-25000">
              <a:solidFill>
                <a:srgbClr val="FFFFFF"/>
              </a:solidFill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B6B44DBD-51AC-49F2-9090-67F707779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7935" y="2632320"/>
            <a:ext cx="935037" cy="720725"/>
          </a:xfrm>
          <a:prstGeom prst="rect">
            <a:avLst/>
          </a:prstGeom>
          <a:solidFill>
            <a:srgbClr val="0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RI</a:t>
            </a:r>
            <a:endParaRPr lang="en-US" altLang="zh-CN" sz="1800" kern="0" baseline="-25000">
              <a:solidFill>
                <a:srgbClr val="FFFFFF"/>
              </a:solidFill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39317D0A-9AEF-4E6D-B33C-BA2F0B5F6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5985" y="5369170"/>
            <a:ext cx="1511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ea typeface="黑体" panose="02010609060101010101" pitchFamily="49" charset="-122"/>
              </a:rPr>
              <a:t>串行口接收中断标志</a:t>
            </a: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9E1E3988-1429-4D0E-A72E-69973865D813}"/>
              </a:ext>
            </a:extLst>
          </p:cNvPr>
          <p:cNvSpPr>
            <a:spLocks/>
          </p:cNvSpPr>
          <p:nvPr/>
        </p:nvSpPr>
        <p:spPr bwMode="auto">
          <a:xfrm>
            <a:off x="3936035" y="3495920"/>
            <a:ext cx="358775" cy="1800225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FEA1695B-7A66-46BE-BE65-4703724595E1}"/>
              </a:ext>
            </a:extLst>
          </p:cNvPr>
          <p:cNvSpPr>
            <a:spLocks/>
          </p:cNvSpPr>
          <p:nvPr/>
        </p:nvSpPr>
        <p:spPr bwMode="auto">
          <a:xfrm>
            <a:off x="3863010" y="3495920"/>
            <a:ext cx="1512887" cy="2520950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E5F3B0DB-0BD2-4FE4-A1AB-57FF176DD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1347" y="3495920"/>
            <a:ext cx="151288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5C19DADA-6BA2-4589-A519-A18F0106D9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3510" y="3495920"/>
            <a:ext cx="0" cy="6492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stealth" w="lg" len="lg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38863D56-1C1C-4EB5-A2D9-951CA7D0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522" y="4145208"/>
            <a:ext cx="27289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串行口工作方式设置：</a:t>
            </a:r>
          </a:p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00~11</a:t>
            </a:r>
            <a:r>
              <a:rPr lang="zh-CN" altLang="en-US">
                <a:ea typeface="黑体" panose="02010609060101010101" pitchFamily="49" charset="-122"/>
              </a:rPr>
              <a:t>：方式</a:t>
            </a:r>
            <a:r>
              <a:rPr lang="en-US" altLang="zh-CN">
                <a:ea typeface="黑体" panose="02010609060101010101" pitchFamily="49" charset="-122"/>
              </a:rPr>
              <a:t>0~</a:t>
            </a:r>
            <a:r>
              <a:rPr lang="zh-CN" altLang="en-US">
                <a:ea typeface="黑体" panose="02010609060101010101" pitchFamily="49" charset="-122"/>
              </a:rPr>
              <a:t>方式</a:t>
            </a:r>
            <a:r>
              <a:rPr lang="en-US" altLang="zh-CN"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DDEE298A-D2DE-4A11-9392-CF3FCC65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522" y="4864345"/>
            <a:ext cx="27289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方式</a:t>
            </a:r>
            <a:r>
              <a:rPr lang="en-US" altLang="zh-CN">
                <a:ea typeface="黑体" panose="02010609060101010101" pitchFamily="49" charset="-122"/>
              </a:rPr>
              <a:t>2</a:t>
            </a:r>
            <a:r>
              <a:rPr lang="zh-CN" altLang="en-US">
                <a:ea typeface="黑体" panose="02010609060101010101" pitchFamily="49" charset="-122"/>
              </a:rPr>
              <a:t>和方式</a:t>
            </a:r>
            <a:r>
              <a:rPr lang="en-US" altLang="zh-CN">
                <a:ea typeface="黑体" panose="02010609060101010101" pitchFamily="49" charset="-122"/>
              </a:rPr>
              <a:t>3</a:t>
            </a:r>
            <a:r>
              <a:rPr lang="zh-CN" altLang="en-US">
                <a:ea typeface="黑体" panose="02010609060101010101" pitchFamily="49" charset="-122"/>
              </a:rPr>
              <a:t>的多机</a:t>
            </a:r>
          </a:p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通信特征位</a:t>
            </a: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9E2BA636-0B1B-4C12-BD1A-10D0391E1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522" y="5675558"/>
            <a:ext cx="27289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允许串行接收位：</a:t>
            </a:r>
          </a:p>
          <a:p>
            <a:pPr eaLnBrk="1" hangingPunct="1"/>
            <a:r>
              <a:rPr lang="en-US" altLang="zh-CN">
                <a:ea typeface="黑体" panose="02010609060101010101" pitchFamily="49" charset="-122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：允许；</a:t>
            </a:r>
            <a:r>
              <a:rPr lang="en-US" altLang="zh-CN">
                <a:ea typeface="黑体" panose="02010609060101010101" pitchFamily="49" charset="-122"/>
              </a:rPr>
              <a:t>0</a:t>
            </a:r>
            <a:r>
              <a:rPr lang="zh-CN" altLang="en-US">
                <a:ea typeface="黑体" panose="02010609060101010101" pitchFamily="49" charset="-122"/>
              </a:rPr>
              <a:t>：禁止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A3A0CA29-2726-4292-8E7A-9144B6558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3235" y="5153270"/>
            <a:ext cx="24495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ea typeface="黑体" panose="02010609060101010101" pitchFamily="49" charset="-122"/>
              </a:rPr>
              <a:t>接收到的第</a:t>
            </a:r>
            <a:r>
              <a:rPr lang="en-US" altLang="zh-CN">
                <a:ea typeface="黑体" panose="02010609060101010101" pitchFamily="49" charset="-122"/>
              </a:rPr>
              <a:t>9</a:t>
            </a:r>
            <a:r>
              <a:rPr lang="zh-CN" altLang="en-US">
                <a:ea typeface="黑体" panose="02010609060101010101" pitchFamily="49" charset="-122"/>
              </a:rPr>
              <a:t>位数据</a:t>
            </a:r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D8B18817-6AE1-48B4-B133-2B9AFE7D4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3960" y="3495920"/>
            <a:ext cx="0" cy="6492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stealth" w="lg" len="lg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3E89F3F7-4939-40AE-B54B-C6EE32B8F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3235" y="4288083"/>
            <a:ext cx="14398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ea typeface="黑体" panose="02010609060101010101" pitchFamily="49" charset="-122"/>
              </a:rPr>
              <a:t>要发送的</a:t>
            </a:r>
          </a:p>
          <a:p>
            <a:pPr algn="ctr" eaLnBrk="1" hangingPunct="1"/>
            <a:r>
              <a:rPr lang="zh-CN" altLang="en-US">
                <a:ea typeface="黑体" panose="02010609060101010101" pitchFamily="49" charset="-122"/>
              </a:rPr>
              <a:t>第</a:t>
            </a:r>
            <a:r>
              <a:rPr lang="en-US" altLang="zh-CN">
                <a:ea typeface="黑体" panose="02010609060101010101" pitchFamily="49" charset="-122"/>
              </a:rPr>
              <a:t>9</a:t>
            </a:r>
            <a:r>
              <a:rPr lang="zh-CN" altLang="en-US">
                <a:ea typeface="黑体" panose="02010609060101010101" pitchFamily="49" charset="-122"/>
              </a:rPr>
              <a:t>位数据</a:t>
            </a:r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65E629BC-EFB9-40B7-889C-95F86C755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2022" y="3495920"/>
            <a:ext cx="0" cy="1657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stealth" w="lg" len="lg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D1B8201B-7162-4E56-AAED-78221EA01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0210" y="5656508"/>
            <a:ext cx="2665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ea typeface="黑体" panose="02010609060101010101" pitchFamily="49" charset="-122"/>
              </a:rPr>
              <a:t>串行口发送中断标志</a:t>
            </a:r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709C9F6B-9C15-4E52-881C-635B01AF8AB6}"/>
              </a:ext>
            </a:extLst>
          </p:cNvPr>
          <p:cNvSpPr>
            <a:spLocks/>
          </p:cNvSpPr>
          <p:nvPr/>
        </p:nvSpPr>
        <p:spPr bwMode="auto">
          <a:xfrm>
            <a:off x="8112747" y="3495920"/>
            <a:ext cx="358775" cy="2376488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7DE0D0E2-8F34-4573-8E54-D2CC7C233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79585" y="3495920"/>
            <a:ext cx="0" cy="1657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stealth" w="lg" len="lg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84C83CE7-9769-451B-B84E-68567E24C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760" y="1706845"/>
            <a:ext cx="4443412" cy="568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Clr>
                <a:srgbClr val="000000"/>
              </a:buClr>
              <a:buFont typeface="Monotype Sorts" pitchFamily="2" charset="2"/>
              <a:buNone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</a:rPr>
              <a:t>串行口控制寄存器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</a:rPr>
              <a:t>--SCON</a:t>
            </a:r>
          </a:p>
        </p:txBody>
      </p:sp>
    </p:spTree>
    <p:extLst>
      <p:ext uri="{BB962C8B-B14F-4D97-AF65-F5344CB8AC3E}">
        <p14:creationId xmlns:p14="http://schemas.microsoft.com/office/powerpoint/2010/main" val="36807879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单片机串行接口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236209E-EE30-4F6F-873E-79E908728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366" y="1746823"/>
            <a:ext cx="7391400" cy="560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Clr>
                <a:srgbClr val="000000"/>
              </a:buClr>
              <a:buFont typeface="Monotype Sorts" pitchFamily="2" charset="2"/>
              <a:buNone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</a:rPr>
              <a:t>电源控制寄存器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</a:rPr>
              <a:t>--PCON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BB60D2-1117-49F6-8CA3-D0FBD7195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328" y="3558160"/>
            <a:ext cx="935038" cy="720725"/>
          </a:xfrm>
          <a:prstGeom prst="rect">
            <a:avLst/>
          </a:prstGeom>
          <a:solidFill>
            <a:srgbClr val="0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SMOD</a:t>
            </a:r>
            <a:endParaRPr lang="en-US" altLang="zh-CN" sz="1800" kern="0" baseline="-25000">
              <a:solidFill>
                <a:srgbClr val="FFFFFF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371FC2D-BD71-489D-B662-8F0EC6F87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3391" y="3558160"/>
            <a:ext cx="935037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NA</a:t>
            </a:r>
            <a:endParaRPr lang="en-US" altLang="zh-CN" sz="1800" kern="0" baseline="-25000">
              <a:solidFill>
                <a:srgbClr val="FFFFFF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86CF799-6D45-4C31-8FAF-475CC8179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453" y="3558160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NA</a:t>
            </a:r>
            <a:endParaRPr lang="en-US" altLang="zh-CN" sz="1800" kern="0" baseline="-25000">
              <a:solidFill>
                <a:srgbClr val="FFFFFF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B578BCE-C2B7-4E74-B5AE-C6DE1AD40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103" y="3558160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NA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8D0614B2-EC1A-4FFC-80E1-B2A22F731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603" y="3558160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NA</a:t>
            </a:r>
            <a:endParaRPr lang="en-US" altLang="zh-CN" sz="1800" kern="0" baseline="-25000">
              <a:solidFill>
                <a:srgbClr val="FFFFFF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B243CCF-E1AF-4D2A-9C34-715DB1410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666" y="3558160"/>
            <a:ext cx="935037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NA</a:t>
            </a:r>
            <a:endParaRPr lang="en-US" altLang="zh-CN" sz="1800" kern="0" baseline="-25000">
              <a:solidFill>
                <a:srgbClr val="FFFFFF"/>
              </a:solidFill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6B22EC5-F716-4A6A-82A7-6EE5990F5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728" y="3558160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NA</a:t>
            </a:r>
            <a:endParaRPr lang="en-US" altLang="zh-CN" sz="1800" kern="0" baseline="-25000">
              <a:solidFill>
                <a:srgbClr val="FFFFFF"/>
              </a:solidFill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0C162C2F-28B5-4143-B80F-39D55461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6378" y="3558160"/>
            <a:ext cx="935038" cy="720725"/>
          </a:xfrm>
          <a:prstGeom prst="rect">
            <a:avLst/>
          </a:prstGeom>
          <a:solidFill>
            <a:srgbClr val="80808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80"/>
            </a:extrusionClr>
          </a:sp3d>
        </p:spPr>
        <p:txBody>
          <a:bodyPr wrap="none" anchor="ctr">
            <a:flatTx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kern="0">
                <a:solidFill>
                  <a:srgbClr val="FFFFFF"/>
                </a:solidFill>
              </a:rPr>
              <a:t>NA</a:t>
            </a:r>
            <a:endParaRPr lang="en-US" altLang="zh-CN" sz="1800" kern="0" baseline="-25000">
              <a:solidFill>
                <a:srgbClr val="FFFFFF"/>
              </a:solidFill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EEA583A7-4577-42B5-8806-8B5DB2D69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378" y="5142485"/>
            <a:ext cx="36020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ea typeface="黑体" panose="02010609060101010101" pitchFamily="49" charset="-122"/>
              </a:rPr>
              <a:t>波特率加倍控制位</a:t>
            </a:r>
          </a:p>
          <a:p>
            <a:pPr eaLnBrk="1" hangingPunct="1"/>
            <a:r>
              <a:rPr lang="en-US" altLang="zh-CN" sz="2400">
                <a:ea typeface="黑体" panose="02010609060101010101" pitchFamily="49" charset="-122"/>
              </a:rPr>
              <a:t>1</a:t>
            </a:r>
            <a:r>
              <a:rPr lang="zh-CN" altLang="en-US" sz="2400">
                <a:ea typeface="黑体" panose="02010609060101010101" pitchFamily="49" charset="-122"/>
              </a:rPr>
              <a:t>：加倍；</a:t>
            </a:r>
            <a:r>
              <a:rPr lang="en-US" altLang="zh-CN" sz="2400">
                <a:ea typeface="黑体" panose="02010609060101010101" pitchFamily="49" charset="-122"/>
              </a:rPr>
              <a:t>0</a:t>
            </a:r>
            <a:r>
              <a:rPr lang="zh-CN" altLang="en-US" sz="2400">
                <a:ea typeface="黑体" panose="02010609060101010101" pitchFamily="49" charset="-122"/>
              </a:rPr>
              <a:t>：不加倍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7F79A633-25D6-4881-B8A5-6BF0525B876F}"/>
              </a:ext>
            </a:extLst>
          </p:cNvPr>
          <p:cNvSpPr>
            <a:spLocks/>
          </p:cNvSpPr>
          <p:nvPr/>
        </p:nvSpPr>
        <p:spPr bwMode="auto">
          <a:xfrm flipH="1">
            <a:off x="1907128" y="4421760"/>
            <a:ext cx="1584325" cy="1081088"/>
          </a:xfrm>
          <a:custGeom>
            <a:avLst/>
            <a:gdLst>
              <a:gd name="T0" fmla="*/ 2147483647 w 635"/>
              <a:gd name="T1" fmla="*/ 0 h 590"/>
              <a:gd name="T2" fmla="*/ 2147483647 w 635"/>
              <a:gd name="T3" fmla="*/ 2147483647 h 590"/>
              <a:gd name="T4" fmla="*/ 0 w 635"/>
              <a:gd name="T5" fmla="*/ 2147483647 h 590"/>
              <a:gd name="T6" fmla="*/ 0 60000 65536"/>
              <a:gd name="T7" fmla="*/ 0 60000 65536"/>
              <a:gd name="T8" fmla="*/ 0 60000 65536"/>
              <a:gd name="T9" fmla="*/ 0 w 635"/>
              <a:gd name="T10" fmla="*/ 0 h 590"/>
              <a:gd name="T11" fmla="*/ 635 w 635"/>
              <a:gd name="T12" fmla="*/ 590 h 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590">
                <a:moveTo>
                  <a:pt x="635" y="0"/>
                </a:moveTo>
                <a:lnTo>
                  <a:pt x="635" y="590"/>
                </a:lnTo>
                <a:lnTo>
                  <a:pt x="0" y="590"/>
                </a:ln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8" name="矩形 11">
            <a:extLst>
              <a:ext uri="{FF2B5EF4-FFF2-40B4-BE49-F238E27FC236}">
                <a16:creationId xmlns:a16="http://schemas.microsoft.com/office/drawing/2014/main" id="{3AA11D5E-1BCF-446E-81C8-FA9D2CFE6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5091" y="2307210"/>
            <a:ext cx="695960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字节地址为</a:t>
            </a:r>
            <a:r>
              <a:rPr lang="en-US" altLang="zh-CN" sz="2400" b="1" dirty="0">
                <a:solidFill>
                  <a:schemeClr val="tx2"/>
                </a:solidFill>
                <a:latin typeface="+mn-ea"/>
                <a:ea typeface="+mn-ea"/>
              </a:rPr>
              <a:t>87H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没有位寻址功能</a:t>
            </a:r>
            <a:r>
              <a:rPr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，</a:t>
            </a:r>
            <a:r>
              <a:rPr lang="zh-CN" altLang="en-US" sz="2400" b="1" dirty="0">
                <a:latin typeface="+mn-ea"/>
                <a:ea typeface="+mn-ea"/>
              </a:rPr>
              <a:t>需要字节传送。</a:t>
            </a:r>
          </a:p>
        </p:txBody>
      </p:sp>
    </p:spTree>
    <p:extLst>
      <p:ext uri="{BB962C8B-B14F-4D97-AF65-F5344CB8AC3E}">
        <p14:creationId xmlns:p14="http://schemas.microsoft.com/office/powerpoint/2010/main" val="37341165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单片机串行接口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E943702-3AFF-4266-861B-B1D79BA15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961" y="1517347"/>
            <a:ext cx="9386888" cy="2686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265113" indent="-265113">
              <a:buClr>
                <a:srgbClr val="000000"/>
              </a:buClr>
              <a:buFont typeface="Wingdings" pitchFamily="2" charset="2"/>
              <a:buChar char="p"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应用特点：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两个中断标志，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用于接收，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TI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用于发送。</a:t>
            </a:r>
            <a:endParaRPr lang="en-US" altLang="zh-CN" b="1" kern="0" dirty="0">
              <a:solidFill>
                <a:srgbClr val="000000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发送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接收前都必须对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RI/TI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清零，一帧数据发送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接收后，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RI/TI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自动置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，如要再发送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接收，必须用软件清零。</a:t>
            </a:r>
            <a:endParaRPr lang="en-US" altLang="zh-CN" b="1" kern="0" dirty="0">
              <a:solidFill>
                <a:srgbClr val="000000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方式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0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：数据发送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接收完成后，置位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RI/TI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，请求中断。</a:t>
            </a:r>
            <a:b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方式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：数据接收完成后，视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SM</a:t>
            </a:r>
            <a:r>
              <a:rPr lang="en-US" altLang="zh-CN" b="1" kern="0" baseline="-2500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RB</a:t>
            </a:r>
            <a:r>
              <a:rPr lang="en-US" altLang="zh-CN" b="1" kern="0" baseline="-2500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8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状态确定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和请求中断。</a:t>
            </a:r>
          </a:p>
        </p:txBody>
      </p:sp>
      <p:graphicFrame>
        <p:nvGraphicFramePr>
          <p:cNvPr id="7" name="Group 5">
            <a:extLst>
              <a:ext uri="{FF2B5EF4-FFF2-40B4-BE49-F238E27FC236}">
                <a16:creationId xmlns:a16="http://schemas.microsoft.com/office/drawing/2014/main" id="{41C265E5-21FC-4202-8EEA-6341ED35B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092198"/>
              </p:ext>
            </p:extLst>
          </p:nvPr>
        </p:nvGraphicFramePr>
        <p:xfrm>
          <a:off x="1954999" y="4317697"/>
          <a:ext cx="6985000" cy="2059536"/>
        </p:xfrm>
        <a:graphic>
          <a:graphicData uri="http://schemas.openxmlformats.org/drawingml/2006/table">
            <a:tbl>
              <a:tblPr/>
              <a:tblGrid>
                <a:gridCol w="1890712">
                  <a:extLst>
                    <a:ext uri="{9D8B030D-6E8A-4147-A177-3AD203B41FA5}">
                      <a16:colId xmlns:a16="http://schemas.microsoft.com/office/drawing/2014/main" val="3489657498"/>
                    </a:ext>
                  </a:extLst>
                </a:gridCol>
                <a:gridCol w="2281238">
                  <a:extLst>
                    <a:ext uri="{9D8B030D-6E8A-4147-A177-3AD203B41FA5}">
                      <a16:colId xmlns:a16="http://schemas.microsoft.com/office/drawing/2014/main" val="2577246464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363587919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SM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RB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接收中断状态与标志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166445"/>
                  </a:ext>
                </a:extLst>
              </a:tr>
              <a:tr h="39528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，引起中断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187829"/>
                  </a:ext>
                </a:extLst>
              </a:tr>
              <a:tr h="39528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，引起中断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14794"/>
                  </a:ext>
                </a:extLst>
              </a:tr>
              <a:tr h="39528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不激活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，不引起中断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48401"/>
                  </a:ext>
                </a:extLst>
              </a:tr>
              <a:tr h="365125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，引起中断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942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29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单片机串行接口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Group 62">
            <a:extLst>
              <a:ext uri="{FF2B5EF4-FFF2-40B4-BE49-F238E27FC236}">
                <a16:creationId xmlns:a16="http://schemas.microsoft.com/office/drawing/2014/main" id="{AA6B2D88-404C-4F93-AFBD-EB29E107D2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265609"/>
              </p:ext>
            </p:extLst>
          </p:nvPr>
        </p:nvGraphicFramePr>
        <p:xfrm>
          <a:off x="1252194" y="1755988"/>
          <a:ext cx="8542338" cy="4378324"/>
        </p:xfrm>
        <a:graphic>
          <a:graphicData uri="http://schemas.openxmlformats.org/drawingml/2006/table">
            <a:tbl>
              <a:tblPr/>
              <a:tblGrid>
                <a:gridCol w="1384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8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7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89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方式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主要作用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位数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波特率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8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方式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用于外接移位寄存器，扩展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I/O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电路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8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位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1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方式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双机通信或者与外设电路的通信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8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位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UART(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共传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位，通用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) 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2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方式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除了方式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的功能外，还可用于多机通信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9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位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UART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位）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方式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除了方式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的功能外，还可用于多机通信</a:t>
                      </a:r>
                      <a:endParaRPr lang="zh-CN" altLang="en-US" sz="1800" dirty="0"/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9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位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UART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（共传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位）</a:t>
                      </a: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黑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L="91434" marR="91434" marT="45735" marB="457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ct 35">
            <a:extLst>
              <a:ext uri="{FF2B5EF4-FFF2-40B4-BE49-F238E27FC236}">
                <a16:creationId xmlns:a16="http://schemas.microsoft.com/office/drawing/2014/main" id="{5F251451-97AC-4F46-9D46-304180EBE8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930920"/>
              </p:ext>
            </p:extLst>
          </p:nvPr>
        </p:nvGraphicFramePr>
        <p:xfrm>
          <a:off x="7826032" y="2316375"/>
          <a:ext cx="5810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公式" r:id="rId3" imgW="342751" imgH="393529" progId="Equation.3">
                  <p:embed/>
                </p:oleObj>
              </mc:Choice>
              <mc:Fallback>
                <p:oleObj name="公式" r:id="rId3" imgW="342751" imgH="393529" progId="Equation.3">
                  <p:embed/>
                  <p:pic>
                    <p:nvPicPr>
                      <p:cNvPr id="8194" name="Object 35">
                        <a:extLst>
                          <a:ext uri="{FF2B5EF4-FFF2-40B4-BE49-F238E27FC236}">
                            <a16:creationId xmlns:a16="http://schemas.microsoft.com/office/drawing/2014/main" id="{60D20AD1-8B60-4F3E-AF69-514CCCD9ED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032" y="2316375"/>
                        <a:ext cx="5810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6">
            <a:extLst>
              <a:ext uri="{FF2B5EF4-FFF2-40B4-BE49-F238E27FC236}">
                <a16:creationId xmlns:a16="http://schemas.microsoft.com/office/drawing/2014/main" id="{DC0D0091-1612-4E6A-B039-FC5981806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748657"/>
              </p:ext>
            </p:extLst>
          </p:nvPr>
        </p:nvGraphicFramePr>
        <p:xfrm>
          <a:off x="7756182" y="3414925"/>
          <a:ext cx="18637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公式" r:id="rId5" imgW="1193800" imgH="419100" progId="Equation.3">
                  <p:embed/>
                </p:oleObj>
              </mc:Choice>
              <mc:Fallback>
                <p:oleObj name="公式" r:id="rId5" imgW="1193800" imgH="419100" progId="Equation.3">
                  <p:embed/>
                  <p:pic>
                    <p:nvPicPr>
                      <p:cNvPr id="8195" name="Object 36">
                        <a:extLst>
                          <a:ext uri="{FF2B5EF4-FFF2-40B4-BE49-F238E27FC236}">
                            <a16:creationId xmlns:a16="http://schemas.microsoft.com/office/drawing/2014/main" id="{BB7CF80B-2F5C-45E1-B57B-99ED0E5E25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6182" y="3414925"/>
                        <a:ext cx="1863725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7">
            <a:extLst>
              <a:ext uri="{FF2B5EF4-FFF2-40B4-BE49-F238E27FC236}">
                <a16:creationId xmlns:a16="http://schemas.microsoft.com/office/drawing/2014/main" id="{EAB833C1-3E18-42B4-9DDC-055E67333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16303"/>
              </p:ext>
            </p:extLst>
          </p:nvPr>
        </p:nvGraphicFramePr>
        <p:xfrm>
          <a:off x="7713319" y="5323100"/>
          <a:ext cx="179705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公式" r:id="rId7" imgW="1193800" imgH="419100" progId="Equation.3">
                  <p:embed/>
                </p:oleObj>
              </mc:Choice>
              <mc:Fallback>
                <p:oleObj name="公式" r:id="rId7" imgW="1193800" imgH="419100" progId="Equation.3">
                  <p:embed/>
                  <p:pic>
                    <p:nvPicPr>
                      <p:cNvPr id="8196" name="Object 37">
                        <a:extLst>
                          <a:ext uri="{FF2B5EF4-FFF2-40B4-BE49-F238E27FC236}">
                            <a16:creationId xmlns:a16="http://schemas.microsoft.com/office/drawing/2014/main" id="{6669CB6F-3338-4BCA-B969-5EBD06D4CC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3319" y="5323100"/>
                        <a:ext cx="1797050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8">
            <a:extLst>
              <a:ext uri="{FF2B5EF4-FFF2-40B4-BE49-F238E27FC236}">
                <a16:creationId xmlns:a16="http://schemas.microsoft.com/office/drawing/2014/main" id="{4CF162C4-BE2D-40CB-85F6-71982FBEC0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631725"/>
              </p:ext>
            </p:extLst>
          </p:nvPr>
        </p:nvGraphicFramePr>
        <p:xfrm>
          <a:off x="8003832" y="4340438"/>
          <a:ext cx="1296987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公式" r:id="rId9" imgW="838200" imgH="419100" progId="Equation.3">
                  <p:embed/>
                </p:oleObj>
              </mc:Choice>
              <mc:Fallback>
                <p:oleObj name="公式" r:id="rId9" imgW="838200" imgH="419100" progId="Equation.3">
                  <p:embed/>
                  <p:pic>
                    <p:nvPicPr>
                      <p:cNvPr id="8197" name="Object 38">
                        <a:extLst>
                          <a:ext uri="{FF2B5EF4-FFF2-40B4-BE49-F238E27FC236}">
                            <a16:creationId xmlns:a16="http://schemas.microsoft.com/office/drawing/2014/main" id="{DD8D59AC-B4C4-4DC7-8A9F-B62176F011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3832" y="4340438"/>
                        <a:ext cx="1296987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5832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单片机串行接口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E943702-3AFF-4266-861B-B1D79BA15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961" y="1517347"/>
            <a:ext cx="9386888" cy="2686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265113" indent="-265113">
              <a:buClr>
                <a:srgbClr val="000000"/>
              </a:buClr>
              <a:buFont typeface="Wingdings" pitchFamily="2" charset="2"/>
              <a:buChar char="p"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应用特点：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两个中断标志，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用于接收，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TI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用于发送。</a:t>
            </a:r>
            <a:endParaRPr lang="en-US" altLang="zh-CN" b="1" kern="0" dirty="0">
              <a:solidFill>
                <a:srgbClr val="000000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发送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接收前都必须对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RI/TI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清零，一帧数据发送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接收后，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RI/TI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自动置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，如要再发送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接收，必须用软件清零。</a:t>
            </a:r>
            <a:endParaRPr lang="en-US" altLang="zh-CN" b="1" kern="0" dirty="0">
              <a:solidFill>
                <a:srgbClr val="000000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方式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0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：数据发送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接收完成后，置位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RI/TI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，请求中断。</a:t>
            </a:r>
            <a:b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方式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：数据接收完成后，视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SM</a:t>
            </a:r>
            <a:r>
              <a:rPr lang="en-US" altLang="zh-CN" b="1" kern="0" baseline="-2500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RB</a:t>
            </a:r>
            <a:r>
              <a:rPr lang="en-US" altLang="zh-CN" b="1" kern="0" baseline="-2500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8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状态确定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RI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和请求中断。</a:t>
            </a:r>
          </a:p>
        </p:txBody>
      </p:sp>
      <p:graphicFrame>
        <p:nvGraphicFramePr>
          <p:cNvPr id="7" name="Group 5">
            <a:extLst>
              <a:ext uri="{FF2B5EF4-FFF2-40B4-BE49-F238E27FC236}">
                <a16:creationId xmlns:a16="http://schemas.microsoft.com/office/drawing/2014/main" id="{41C265E5-21FC-4202-8EEA-6341ED35B1E7}"/>
              </a:ext>
            </a:extLst>
          </p:cNvPr>
          <p:cNvGraphicFramePr>
            <a:graphicFrameLocks noGrp="1"/>
          </p:cNvGraphicFramePr>
          <p:nvPr/>
        </p:nvGraphicFramePr>
        <p:xfrm>
          <a:off x="1954999" y="4317697"/>
          <a:ext cx="6985000" cy="2059536"/>
        </p:xfrm>
        <a:graphic>
          <a:graphicData uri="http://schemas.openxmlformats.org/drawingml/2006/table">
            <a:tbl>
              <a:tblPr/>
              <a:tblGrid>
                <a:gridCol w="1890712">
                  <a:extLst>
                    <a:ext uri="{9D8B030D-6E8A-4147-A177-3AD203B41FA5}">
                      <a16:colId xmlns:a16="http://schemas.microsoft.com/office/drawing/2014/main" val="3489657498"/>
                    </a:ext>
                  </a:extLst>
                </a:gridCol>
                <a:gridCol w="2281238">
                  <a:extLst>
                    <a:ext uri="{9D8B030D-6E8A-4147-A177-3AD203B41FA5}">
                      <a16:colId xmlns:a16="http://schemas.microsoft.com/office/drawing/2014/main" val="2577246464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363587919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SM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RB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接收中断状态与标志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166445"/>
                  </a:ext>
                </a:extLst>
              </a:tr>
              <a:tr h="39528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，引起中断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187829"/>
                  </a:ext>
                </a:extLst>
              </a:tr>
              <a:tr h="39528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，引起中断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14794"/>
                  </a:ext>
                </a:extLst>
              </a:tr>
              <a:tr h="39528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不激活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，不引起中断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48401"/>
                  </a:ext>
                </a:extLst>
              </a:tr>
              <a:tr h="365125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，引起中断</a:t>
                      </a: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942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92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5B2392-DE47-419F-B4A5-5D8EFDD755AB}"/>
              </a:ext>
            </a:extLst>
          </p:cNvPr>
          <p:cNvSpPr txBox="1"/>
          <p:nvPr/>
        </p:nvSpPr>
        <p:spPr>
          <a:xfrm>
            <a:off x="914399" y="1066800"/>
            <a:ext cx="42232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串行通信实现要点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C77A54-E374-4992-B401-BBCD997F4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033" y="1535906"/>
            <a:ext cx="8958263" cy="50783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4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种工作方式的特点是什么？分别应用于什么场合？</a:t>
            </a:r>
            <a:endParaRPr lang="en-US" altLang="zh-CN" sz="20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方式</a:t>
            </a: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0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：并串转换</a:t>
            </a:r>
            <a:endParaRPr lang="en-US" altLang="zh-CN" sz="20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利用串口扩展并口</a:t>
            </a: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方式</a:t>
            </a: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0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的波特率固定</a:t>
            </a:r>
            <a:endParaRPr lang="en-US" altLang="zh-CN" sz="20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方式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的波特率可通过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T1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T2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（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52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系列）设定多个值</a:t>
            </a: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选取原则：</a:t>
            </a:r>
            <a:endParaRPr lang="en-US" altLang="zh-CN" sz="20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ea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采用奇偶校验时选用方式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9bit UART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不用奇偶校验时选用方式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8bit UART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、如何启动发送和接收过程？</a:t>
            </a:r>
            <a:endParaRPr lang="en-US" altLang="zh-CN" sz="2000" b="1" dirty="0">
              <a:latin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发送：</a:t>
            </a:r>
            <a:r>
              <a:rPr lang="en-US" altLang="zh-CN" sz="2000" b="1" dirty="0">
                <a:latin typeface="+mn-ea"/>
                <a:cs typeface="Times New Roman" pitchFamily="18" charset="0"/>
              </a:rPr>
              <a:t>MOV SBUF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，</a:t>
            </a:r>
            <a:r>
              <a:rPr lang="en-US" altLang="zh-CN" sz="2000" b="1" dirty="0">
                <a:latin typeface="+mn-ea"/>
                <a:cs typeface="Times New Roman" pitchFamily="18" charset="0"/>
              </a:rPr>
              <a:t>#0AAH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接收：侦测到</a:t>
            </a:r>
            <a:r>
              <a:rPr lang="en-US" altLang="zh-CN" sz="2000" b="1" dirty="0">
                <a:latin typeface="+mn-ea"/>
                <a:cs typeface="Times New Roman" pitchFamily="18" charset="0"/>
              </a:rPr>
              <a:t>RXD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端</a:t>
            </a:r>
            <a:r>
              <a:rPr lang="en-US" altLang="zh-CN" sz="2000" b="1" dirty="0">
                <a:latin typeface="+mn-ea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→</a:t>
            </a:r>
            <a:r>
              <a:rPr lang="en-US" altLang="zh-CN" sz="2000" b="1" dirty="0">
                <a:latin typeface="+mn-ea"/>
                <a:cs typeface="Times New Roman" pitchFamily="18" charset="0"/>
              </a:rPr>
              <a:t>0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的跳变</a:t>
            </a:r>
            <a:endParaRPr lang="en-US" altLang="zh-CN" sz="2000" b="1" dirty="0">
              <a:latin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、首先移出或发送的是</a:t>
            </a:r>
            <a:r>
              <a:rPr lang="en-US" altLang="zh-CN" sz="2000" b="1" dirty="0">
                <a:latin typeface="+mn-ea"/>
                <a:cs typeface="Times New Roman" pitchFamily="18" charset="0"/>
              </a:rPr>
              <a:t>D0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，还是</a:t>
            </a:r>
            <a:r>
              <a:rPr lang="en-US" altLang="zh-CN" sz="2000" b="1" dirty="0">
                <a:latin typeface="+mn-ea"/>
                <a:cs typeface="Times New Roman" pitchFamily="18" charset="0"/>
              </a:rPr>
              <a:t>D7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？（</a:t>
            </a:r>
            <a:r>
              <a:rPr lang="en-US" altLang="zh-CN" sz="2000" b="1" dirty="0">
                <a:latin typeface="+mn-ea"/>
                <a:cs typeface="Times New Roman" pitchFamily="18" charset="0"/>
              </a:rPr>
              <a:t>9AH=10011010B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）</a:t>
            </a:r>
            <a:endParaRPr lang="en-US" altLang="zh-CN" sz="2000" b="1" dirty="0">
              <a:latin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首先移出</a:t>
            </a:r>
            <a:r>
              <a:rPr lang="en-US" altLang="zh-CN" sz="2000" b="1" dirty="0">
                <a:latin typeface="+mn-ea"/>
                <a:cs typeface="Times New Roman" pitchFamily="18" charset="0"/>
              </a:rPr>
              <a:t>D0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位</a:t>
            </a:r>
            <a:endParaRPr lang="en-US" altLang="zh-CN" sz="2000" b="1" dirty="0">
              <a:latin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cs typeface="Times New Roman" pitchFamily="18" charset="0"/>
              </a:rPr>
              <a:t>4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、在接收数据过程中采用了什么措施提供可靠性？</a:t>
            </a:r>
            <a:endParaRPr lang="en-US" altLang="zh-CN" sz="2000" b="1" dirty="0">
              <a:latin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+mn-ea"/>
                <a:cs typeface="Times New Roman" pitchFamily="18" charset="0"/>
              </a:rPr>
              <a:t>      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对数据进行三次采样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400" b="1" dirty="0">
              <a:solidFill>
                <a:srgbClr val="0000FF"/>
              </a:solidFill>
              <a:latin typeface="+mn-ea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31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15C2E070-5065-40CB-9A9E-A540CE19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83" y="1595438"/>
            <a:ext cx="9509125" cy="52625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 2" pitchFamily="18" charset="2"/>
              <a:buChar char="ç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5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、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TI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标志和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RI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标志何时会自动置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？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RI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置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的时间和条件：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SM2=0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时：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RI=0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，不论第九位数据为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0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或为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RI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均置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，数据送入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SBUF</a:t>
            </a:r>
          </a:p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SM2=1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时：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RI=0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，且当第九位数据为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时，才置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RI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为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，数据送入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SBUF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TI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置</a:t>
            </a: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的时间和条件：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       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数据发送完毕。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6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、哪些情况下传送的数据会丢失？</a:t>
            </a:r>
            <a:endParaRPr lang="en-US" altLang="zh-CN" sz="24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RI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标志未及时清零</a:t>
            </a:r>
            <a:endParaRPr lang="en-US" altLang="zh-CN" sz="2400" b="1" dirty="0">
              <a:solidFill>
                <a:srgbClr val="0000FF"/>
              </a:solidFill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	2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REN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未置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1</a:t>
            </a:r>
          </a:p>
        </p:txBody>
      </p:sp>
      <p:graphicFrame>
        <p:nvGraphicFramePr>
          <p:cNvPr id="10" name="Group 5">
            <a:extLst>
              <a:ext uri="{FF2B5EF4-FFF2-40B4-BE49-F238E27FC236}">
                <a16:creationId xmlns:a16="http://schemas.microsoft.com/office/drawing/2014/main" id="{A8EE55F3-71F3-4B3B-9085-49FD947F9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900891"/>
              </p:ext>
            </p:extLst>
          </p:nvPr>
        </p:nvGraphicFramePr>
        <p:xfrm>
          <a:off x="6094495" y="4381500"/>
          <a:ext cx="4008438" cy="2103986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39720514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961219281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1825560634"/>
                    </a:ext>
                  </a:extLst>
                </a:gridCol>
              </a:tblGrid>
              <a:tr h="55245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SM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RB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接收中断状态与标志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917985"/>
                  </a:ext>
                </a:extLst>
              </a:tr>
              <a:tr h="39528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，引起中断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340284"/>
                  </a:ext>
                </a:extLst>
              </a:tr>
              <a:tr h="39528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，引起中断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492600"/>
                  </a:ext>
                </a:extLst>
              </a:tr>
              <a:tr h="39528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不激活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，不引起中断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066616"/>
                  </a:ext>
                </a:extLst>
              </a:tr>
              <a:tr h="365125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激活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，引起中断</a:t>
                      </a:r>
                    </a:p>
                  </a:txBody>
                  <a:tcPr marL="91453" marR="91453" marT="45676" marB="456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879242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72997" y="1066800"/>
            <a:ext cx="42232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串行通信实现要点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702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251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八、串行通信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72997" y="1066800"/>
            <a:ext cx="42232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波特率的计算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2A55AC99-C6BC-4A67-8020-4782EEC3E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126320"/>
              </p:ext>
            </p:extLst>
          </p:nvPr>
        </p:nvGraphicFramePr>
        <p:xfrm>
          <a:off x="2090738" y="1962150"/>
          <a:ext cx="44577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3" imgW="1752600" imgH="228600" progId="Equation.DSMT4">
                  <p:embed/>
                </p:oleObj>
              </mc:Choice>
              <mc:Fallback>
                <p:oleObj name="Equation" r:id="rId3" imgW="1752600" imgH="228600" progId="Equation.DSMT4">
                  <p:embed/>
                  <p:pic>
                    <p:nvPicPr>
                      <p:cNvPr id="186372" name="Object 4">
                        <a:extLst>
                          <a:ext uri="{FF2B5EF4-FFF2-40B4-BE49-F238E27FC236}">
                            <a16:creationId xmlns:a16="http://schemas.microsoft.com/office/drawing/2014/main" id="{B86DD321-73BC-4E0C-B6B0-45B9E3CB3A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1962150"/>
                        <a:ext cx="4457700" cy="536575"/>
                      </a:xfrm>
                      <a:prstGeom prst="rect">
                        <a:avLst/>
                      </a:prstGeom>
                      <a:solidFill>
                        <a:srgbClr val="DBEFF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6A9F9F35-4831-42FC-9147-8B75DAE09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0738" y="2981325"/>
          <a:ext cx="510222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5" imgW="2006600" imgH="419100" progId="Equation.DSMT4">
                  <p:embed/>
                </p:oleObj>
              </mc:Choice>
              <mc:Fallback>
                <p:oleObj name="Equation" r:id="rId5" imgW="2006600" imgH="419100" progId="Equation.DSMT4">
                  <p:embed/>
                  <p:pic>
                    <p:nvPicPr>
                      <p:cNvPr id="186373" name="Object 5">
                        <a:extLst>
                          <a:ext uri="{FF2B5EF4-FFF2-40B4-BE49-F238E27FC236}">
                            <a16:creationId xmlns:a16="http://schemas.microsoft.com/office/drawing/2014/main" id="{65FFDF2B-3562-462F-A03B-D236B90FF6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2981325"/>
                        <a:ext cx="5102225" cy="9842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2D56168-A176-49EA-8477-19829A19D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265583"/>
              </p:ext>
            </p:extLst>
          </p:nvPr>
        </p:nvGraphicFramePr>
        <p:xfrm>
          <a:off x="2090738" y="4448175"/>
          <a:ext cx="63865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7" imgW="6385796" imgH="932793" progId="Equation.DSMT4">
                  <p:embed/>
                </p:oleObj>
              </mc:Choice>
              <mc:Fallback>
                <p:oleObj name="Equation" r:id="rId7" imgW="6385796" imgH="93279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90738" y="4448175"/>
                        <a:ext cx="6386513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EF49E16-D957-47C8-BF99-92584643BAD2}"/>
              </a:ext>
            </a:extLst>
          </p:cNvPr>
          <p:cNvSpPr txBox="1"/>
          <p:nvPr/>
        </p:nvSpPr>
        <p:spPr>
          <a:xfrm>
            <a:off x="1159497" y="1544352"/>
            <a:ext cx="2941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模式</a:t>
            </a:r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9D86BF-2BCF-4462-B9CE-FB831D8FEC31}"/>
              </a:ext>
            </a:extLst>
          </p:cNvPr>
          <p:cNvSpPr txBox="1"/>
          <p:nvPr/>
        </p:nvSpPr>
        <p:spPr>
          <a:xfrm>
            <a:off x="1159497" y="2516951"/>
            <a:ext cx="2941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模式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F17402-BF89-48BC-A501-7A80E8CD8639}"/>
              </a:ext>
            </a:extLst>
          </p:cNvPr>
          <p:cNvSpPr txBox="1"/>
          <p:nvPr/>
        </p:nvSpPr>
        <p:spPr>
          <a:xfrm>
            <a:off x="1159497" y="3956075"/>
            <a:ext cx="2941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模式</a:t>
            </a:r>
            <a:r>
              <a:rPr lang="en-US" altLang="zh-CN" sz="2400" dirty="0"/>
              <a:t>1,3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5775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72997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9.1A/D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转换的基本概念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3">
            <a:extLst>
              <a:ext uri="{FF2B5EF4-FFF2-40B4-BE49-F238E27FC236}">
                <a16:creationId xmlns:a16="http://schemas.microsoft.com/office/drawing/2014/main" id="{695204E8-EF81-4711-B0E4-D95921AF0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308" y="1822188"/>
            <a:ext cx="5526088" cy="4603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8000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zh-CN" sz="24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模拟信号、离散信号、数字信号</a:t>
            </a:r>
          </a:p>
        </p:txBody>
      </p:sp>
      <p:graphicFrame>
        <p:nvGraphicFramePr>
          <p:cNvPr id="14" name="对象 3">
            <a:extLst>
              <a:ext uri="{FF2B5EF4-FFF2-40B4-BE49-F238E27FC236}">
                <a16:creationId xmlns:a16="http://schemas.microsoft.com/office/drawing/2014/main" id="{7648A2BA-2754-4B5B-BEB3-9AD025E119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2616060"/>
              </p:ext>
            </p:extLst>
          </p:nvPr>
        </p:nvGraphicFramePr>
        <p:xfrm>
          <a:off x="7374183" y="1434838"/>
          <a:ext cx="2211388" cy="507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r:id="rId3" imgW="2209524" imgH="5068007" progId="Paint.Picture">
                  <p:embed/>
                </p:oleObj>
              </mc:Choice>
              <mc:Fallback>
                <p:oleObj r:id="rId3" imgW="2209524" imgH="5068007" progId="Paint.Picture">
                  <p:embed/>
                  <p:pic>
                    <p:nvPicPr>
                      <p:cNvPr id="11270" name="对象 3">
                        <a:extLst>
                          <a:ext uri="{FF2B5EF4-FFF2-40B4-BE49-F238E27FC236}">
                            <a16:creationId xmlns:a16="http://schemas.microsoft.com/office/drawing/2014/main" id="{F8B18173-C241-4926-8EF5-9234FB96E15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4183" y="1434838"/>
                        <a:ext cx="2211388" cy="507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69668">
            <a:extLst>
              <a:ext uri="{FF2B5EF4-FFF2-40B4-BE49-F238E27FC236}">
                <a16:creationId xmlns:a16="http://schemas.microsoft.com/office/drawing/2014/main" id="{847290AF-594F-4C56-8EC7-5A94E5174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071" y="2519101"/>
            <a:ext cx="5554662" cy="7016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模拟信号：</a:t>
            </a:r>
            <a:endParaRPr lang="en-US" altLang="zh-CN" sz="20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在时间上连续，在幅值上连续的信号。</a:t>
            </a:r>
            <a:endParaRPr lang="en-US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69668">
            <a:extLst>
              <a:ext uri="{FF2B5EF4-FFF2-40B4-BE49-F238E27FC236}">
                <a16:creationId xmlns:a16="http://schemas.microsoft.com/office/drawing/2014/main" id="{01C3F47C-CC2A-4040-BE4E-C31843D5C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371" y="4728901"/>
            <a:ext cx="5580062" cy="13112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时间离散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是由</a:t>
            </a: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采样过程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完成的；</a:t>
            </a:r>
            <a:endParaRPr lang="en-US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幅值离散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是由</a:t>
            </a: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量化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过程完成的。</a:t>
            </a:r>
            <a:endParaRPr lang="en-US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A/D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器件可以完成上述两个过程。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</a:t>
            </a:r>
            <a:endParaRPr lang="zh-CN" altLang="en-US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 69668">
            <a:extLst>
              <a:ext uri="{FF2B5EF4-FFF2-40B4-BE49-F238E27FC236}">
                <a16:creationId xmlns:a16="http://schemas.microsoft.com/office/drawing/2014/main" id="{1B34FAD6-57D7-4F38-95CC-53C8EB3D4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071" y="3255701"/>
            <a:ext cx="5554662" cy="7016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离散信号：</a:t>
            </a:r>
            <a:endParaRPr lang="en-US" altLang="zh-CN" sz="20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在时间上离散，在幅值上连续的信号。</a:t>
            </a:r>
            <a:endParaRPr lang="en-US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 69668">
            <a:extLst>
              <a:ext uri="{FF2B5EF4-FFF2-40B4-BE49-F238E27FC236}">
                <a16:creationId xmlns:a16="http://schemas.microsoft.com/office/drawing/2014/main" id="{71D2CC4F-6096-4A1F-B741-2410D1FC1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371" y="3992301"/>
            <a:ext cx="5567362" cy="7016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数字信号：</a:t>
            </a:r>
            <a:endParaRPr lang="en-US" altLang="zh-CN" sz="20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离散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，在</a:t>
            </a:r>
            <a:r>
              <a:rPr lang="zh-CN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幅值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上也</a:t>
            </a:r>
            <a:r>
              <a:rPr lang="zh-CN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离散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的信号。</a:t>
            </a:r>
            <a:endParaRPr lang="en-US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657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72997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9.1A/D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转换的基本概念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06DE3790-D2D3-42D2-B777-28F8E247C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675" y="1829585"/>
            <a:ext cx="2235200" cy="4603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8000"/>
              </a:buClr>
              <a:buFont typeface="Arial" panose="020B0604020202020204" pitchFamily="34" charset="0"/>
              <a:buChar char="•"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量化误差</a:t>
            </a:r>
            <a:endParaRPr lang="zh-CN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69668">
            <a:extLst>
              <a:ext uri="{FF2B5EF4-FFF2-40B4-BE49-F238E27FC236}">
                <a16:creationId xmlns:a16="http://schemas.microsoft.com/office/drawing/2014/main" id="{2E02D039-425C-44BC-A1B8-899B670F4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675" y="2515385"/>
            <a:ext cx="88455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5000"/>
              </a:lnSpc>
            </a:pP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当对模拟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电压采样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并进行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A/D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转换时，需将模拟电压转化为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数字量，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这时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必须把它化成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某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最小数量单位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en-US" altLang="zh-CN" sz="2400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LSB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的整倍数，这个转化过程就叫做</a:t>
            </a:r>
            <a:r>
              <a:rPr lang="zh-CN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量化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。所规定的最小数量单位叫做</a:t>
            </a:r>
            <a:r>
              <a:rPr lang="zh-CN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量化单位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，用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en-US" altLang="zh-CN" sz="2400" baseline="-25000">
                <a:latin typeface="黑体" panose="02010609060101010101" pitchFamily="49" charset="-122"/>
                <a:ea typeface="黑体" panose="02010609060101010101" pitchFamily="49" charset="-122"/>
              </a:rPr>
              <a:t>LSB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表示。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en-US" altLang="zh-CN" sz="2400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LSB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A/D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转换后的数字信号最低有效位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所代表的模拟输入量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4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5000"/>
              </a:lnSpc>
            </a:pP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模拟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是连续的，那么它就不一定能被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U</a:t>
            </a:r>
            <a:r>
              <a:rPr lang="en-US" altLang="zh-CN" sz="2400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LSB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整除，因而不可避免的会引入误差，我们把这种误差称为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量化误差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6665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72997" y="1066800"/>
            <a:ext cx="422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9.1A/D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转换的基本概念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6">
            <a:extLst>
              <a:ext uri="{FF2B5EF4-FFF2-40B4-BE49-F238E27FC236}">
                <a16:creationId xmlns:a16="http://schemas.microsoft.com/office/drawing/2014/main" id="{72116056-DE18-4A4C-A242-4FACC5E2F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148" y="1778599"/>
            <a:ext cx="2235200" cy="4603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8000"/>
              </a:buClr>
              <a:buFont typeface="Arial" panose="020B0604020202020204" pitchFamily="34" charset="0"/>
              <a:buChar char="•"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分辨率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zh-CN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69668">
            <a:extLst>
              <a:ext uri="{FF2B5EF4-FFF2-40B4-BE49-F238E27FC236}">
                <a16:creationId xmlns:a16="http://schemas.microsoft.com/office/drawing/2014/main" id="{0B3CE652-D889-43B0-9279-AD32CC968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4525" y="2469606"/>
            <a:ext cx="3854450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8</a:t>
            </a:r>
            <a:r>
              <a:rPr lang="zh-CN" altLang="zh-CN" sz="2400" dirty="0">
                <a:solidFill>
                  <a:schemeClr val="tx1"/>
                </a:solidFill>
                <a:latin typeface="黑体" panose="02010609060101010101" pitchFamily="49" charset="-122"/>
              </a:rPr>
              <a:t>位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A/D,  </a:t>
            </a:r>
            <a:r>
              <a:rPr lang="en-US" altLang="zh-CN" sz="2400" dirty="0" err="1">
                <a:solidFill>
                  <a:schemeClr val="tx1"/>
                </a:solidFill>
                <a:ea typeface="黑体" panose="02010609060101010101" pitchFamily="49" charset="-122"/>
              </a:rPr>
              <a:t>Vref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=5.000V   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 10</a:t>
            </a:r>
            <a:r>
              <a:rPr lang="zh-CN" altLang="zh-CN" sz="2400" dirty="0">
                <a:solidFill>
                  <a:schemeClr val="tx1"/>
                </a:solidFill>
                <a:latin typeface="黑体" panose="02010609060101010101" pitchFamily="49" charset="-122"/>
              </a:rPr>
              <a:t>位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A/D, </a:t>
            </a:r>
            <a:r>
              <a:rPr lang="en-US" altLang="zh-CN" sz="2400" dirty="0" err="1">
                <a:solidFill>
                  <a:schemeClr val="tx1"/>
                </a:solidFill>
                <a:ea typeface="黑体" panose="02010609060101010101" pitchFamily="49" charset="-122"/>
              </a:rPr>
              <a:t>Vref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=5.000V</a:t>
            </a:r>
            <a:endParaRPr lang="zh-CN" altLang="zh-CN" sz="2400" b="1" dirty="0">
              <a:solidFill>
                <a:schemeClr val="tx1"/>
              </a:solidFill>
              <a:latin typeface="黑体" panose="02010609060101010101" pitchFamily="49" charset="-122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BEF917D5-E04A-47F7-9DAF-3B3AC4F45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689" y="1399632"/>
            <a:ext cx="38544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A2C4F584-72C9-4D00-B88B-2958DE005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689" y="2120357"/>
            <a:ext cx="36274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69668">
            <a:extLst>
              <a:ext uri="{FF2B5EF4-FFF2-40B4-BE49-F238E27FC236}">
                <a16:creationId xmlns:a16="http://schemas.microsoft.com/office/drawing/2014/main" id="{334D6AB2-5E65-4A99-BFA3-B2BA52D13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9772" y="3854070"/>
            <a:ext cx="3249613" cy="2616200"/>
          </a:xfrm>
          <a:prstGeom prst="rect">
            <a:avLst/>
          </a:prstGeom>
          <a:solidFill>
            <a:srgbClr val="D6D6F2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A/D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器件的位数为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，常常称该器件是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位的。</a:t>
            </a:r>
            <a:endParaRPr lang="en-US" altLang="zh-CN" sz="24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模拟电压与数字量之间的转换关系取决于使用的参考源电压（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Vref)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16851E68-50B9-48B5-A4CB-E3EEA8236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614" y="2995069"/>
            <a:ext cx="4122737" cy="382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884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72997" y="1066800"/>
            <a:ext cx="4223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9.1A/D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转换的基本概念</a:t>
            </a:r>
          </a:p>
        </p:txBody>
      </p:sp>
      <p:graphicFrame>
        <p:nvGraphicFramePr>
          <p:cNvPr id="10" name="对象 1">
            <a:extLst>
              <a:ext uri="{FF2B5EF4-FFF2-40B4-BE49-F238E27FC236}">
                <a16:creationId xmlns:a16="http://schemas.microsoft.com/office/drawing/2014/main" id="{5C558A23-DB73-4634-8B07-EBD153B1C2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763336"/>
              </p:ext>
            </p:extLst>
          </p:nvPr>
        </p:nvGraphicFramePr>
        <p:xfrm>
          <a:off x="4823889" y="3135313"/>
          <a:ext cx="21351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r:id="rId3" imgW="648826" imgH="228998" progId="Equation.3">
                  <p:embed/>
                </p:oleObj>
              </mc:Choice>
              <mc:Fallback>
                <p:oleObj r:id="rId3" imgW="648826" imgH="228998" progId="Equation.3">
                  <p:embed/>
                  <p:pic>
                    <p:nvPicPr>
                      <p:cNvPr id="13314" name="对象 1">
                        <a:extLst>
                          <a:ext uri="{FF2B5EF4-FFF2-40B4-BE49-F238E27FC236}">
                            <a16:creationId xmlns:a16="http://schemas.microsoft.com/office/drawing/2014/main" id="{3BB604CA-5016-47EF-8F6B-313C784683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3889" y="3135313"/>
                        <a:ext cx="2135187" cy="565150"/>
                      </a:xfrm>
                      <a:prstGeom prst="rect">
                        <a:avLst/>
                      </a:prstGeom>
                      <a:solidFill>
                        <a:srgbClr val="FBFCD4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2">
            <a:extLst>
              <a:ext uri="{FF2B5EF4-FFF2-40B4-BE49-F238E27FC236}">
                <a16:creationId xmlns:a16="http://schemas.microsoft.com/office/drawing/2014/main" id="{B3C2095B-15D8-4904-887D-BE267460AF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24137"/>
              </p:ext>
            </p:extLst>
          </p:nvPr>
        </p:nvGraphicFramePr>
        <p:xfrm>
          <a:off x="2369614" y="3963988"/>
          <a:ext cx="58324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r:id="rId5" imgW="2755900" imgH="228600" progId="Equation.3">
                  <p:embed/>
                </p:oleObj>
              </mc:Choice>
              <mc:Fallback>
                <p:oleObj r:id="rId5" imgW="2755900" imgH="228600" progId="Equation.3">
                  <p:embed/>
                  <p:pic>
                    <p:nvPicPr>
                      <p:cNvPr id="13315" name="对象 2">
                        <a:extLst>
                          <a:ext uri="{FF2B5EF4-FFF2-40B4-BE49-F238E27FC236}">
                            <a16:creationId xmlns:a16="http://schemas.microsoft.com/office/drawing/2014/main" id="{73A6A956-AAC8-419F-A94B-22AEE7EBB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614" y="3963988"/>
                        <a:ext cx="5832475" cy="485775"/>
                      </a:xfrm>
                      <a:prstGeom prst="rect">
                        <a:avLst/>
                      </a:prstGeom>
                      <a:solidFill>
                        <a:srgbClr val="FBFCD4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3">
            <a:extLst>
              <a:ext uri="{FF2B5EF4-FFF2-40B4-BE49-F238E27FC236}">
                <a16:creationId xmlns:a16="http://schemas.microsoft.com/office/drawing/2014/main" id="{E55CBA96-D40B-4692-99AF-E2107748E1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038555"/>
              </p:ext>
            </p:extLst>
          </p:nvPr>
        </p:nvGraphicFramePr>
        <p:xfrm>
          <a:off x="4622276" y="4686300"/>
          <a:ext cx="24066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r:id="rId7" imgW="1068191" imgH="228898" progId="Equation.3">
                  <p:embed/>
                </p:oleObj>
              </mc:Choice>
              <mc:Fallback>
                <p:oleObj r:id="rId7" imgW="1068191" imgH="228898" progId="Equation.3">
                  <p:embed/>
                  <p:pic>
                    <p:nvPicPr>
                      <p:cNvPr id="13316" name="对象 3">
                        <a:extLst>
                          <a:ext uri="{FF2B5EF4-FFF2-40B4-BE49-F238E27FC236}">
                            <a16:creationId xmlns:a16="http://schemas.microsoft.com/office/drawing/2014/main" id="{944EF55C-691A-49D5-A2AB-223BEB1A8A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276" y="4686300"/>
                        <a:ext cx="2406650" cy="504825"/>
                      </a:xfrm>
                      <a:prstGeom prst="rect">
                        <a:avLst/>
                      </a:prstGeom>
                      <a:solidFill>
                        <a:srgbClr val="FBFCD4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9">
            <a:extLst>
              <a:ext uri="{FF2B5EF4-FFF2-40B4-BE49-F238E27FC236}">
                <a16:creationId xmlns:a16="http://schemas.microsoft.com/office/drawing/2014/main" id="{B93E526A-A303-4C27-9CFE-851DC153B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401" y="2132013"/>
            <a:ext cx="8761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288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A/D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器件完成一次模拟量到数字量的转换所需要的时间。</a:t>
            </a:r>
          </a:p>
        </p:txBody>
      </p:sp>
      <p:sp>
        <p:nvSpPr>
          <p:cNvPr id="19" name="矩形 10">
            <a:extLst>
              <a:ext uri="{FF2B5EF4-FFF2-40B4-BE49-F238E27FC236}">
                <a16:creationId xmlns:a16="http://schemas.microsoft.com/office/drawing/2014/main" id="{03ED1C30-51FF-447F-845D-B1357B1E2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901" y="5851525"/>
            <a:ext cx="92614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5000"/>
              </a:lnSpc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反映一个实际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A/D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器件在量化值上与一个理想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A/D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转换值之间的差异。</a:t>
            </a:r>
          </a:p>
        </p:txBody>
      </p:sp>
      <p:sp>
        <p:nvSpPr>
          <p:cNvPr id="20" name="矩形 11">
            <a:extLst>
              <a:ext uri="{FF2B5EF4-FFF2-40B4-BE49-F238E27FC236}">
                <a16:creationId xmlns:a16="http://schemas.microsoft.com/office/drawing/2014/main" id="{CF656B13-9399-402A-B0F5-8589A6706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976" y="3265488"/>
            <a:ext cx="2476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288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Nyquist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3" name="矩形 12">
            <a:extLst>
              <a:ext uri="{FF2B5EF4-FFF2-40B4-BE49-F238E27FC236}">
                <a16:creationId xmlns:a16="http://schemas.microsoft.com/office/drawing/2014/main" id="{8D167367-3A21-4066-BE73-6DA274E78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9614" y="4686300"/>
            <a:ext cx="1731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实际情况：</a:t>
            </a:r>
          </a:p>
        </p:txBody>
      </p:sp>
      <p:sp>
        <p:nvSpPr>
          <p:cNvPr id="24" name="矩形 10">
            <a:extLst>
              <a:ext uri="{FF2B5EF4-FFF2-40B4-BE49-F238E27FC236}">
                <a16:creationId xmlns:a16="http://schemas.microsoft.com/office/drawing/2014/main" id="{D7ECC7E9-CA00-4A1F-83CB-F4BCCAD69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601" y="1573213"/>
            <a:ext cx="2233613" cy="4603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8000"/>
              </a:buClr>
              <a:buFont typeface="Arial" panose="020B0604020202020204" pitchFamily="34" charset="0"/>
              <a:buChar char="•"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转换时间</a:t>
            </a:r>
            <a:endParaRPr lang="zh-CN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矩形 11">
            <a:extLst>
              <a:ext uri="{FF2B5EF4-FFF2-40B4-BE49-F238E27FC236}">
                <a16:creationId xmlns:a16="http://schemas.microsoft.com/office/drawing/2014/main" id="{9338A6B8-BEF5-4E64-A9B1-B74AEA16A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601" y="2805113"/>
            <a:ext cx="2233613" cy="4603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8000"/>
              </a:buClr>
              <a:buFont typeface="Arial" panose="020B0604020202020204" pitchFamily="34" charset="0"/>
              <a:buChar char="•"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采样频率</a:t>
            </a:r>
            <a:endParaRPr lang="zh-CN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矩形 12">
            <a:extLst>
              <a:ext uri="{FF2B5EF4-FFF2-40B4-BE49-F238E27FC236}">
                <a16:creationId xmlns:a16="http://schemas.microsoft.com/office/drawing/2014/main" id="{32CD991B-D5EF-4436-8E00-492C666C2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601" y="5275263"/>
            <a:ext cx="2233613" cy="4603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8000"/>
              </a:buClr>
              <a:buFont typeface="Arial" panose="020B0604020202020204" pitchFamily="34" charset="0"/>
              <a:buChar char="•"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转换精度</a:t>
            </a:r>
            <a:endParaRPr lang="zh-CN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955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3" grpId="0"/>
      <p:bldP spid="25" grpId="0" bldLvl="0" animBg="1"/>
      <p:bldP spid="26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72997" y="1066800"/>
            <a:ext cx="4223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9.2A/D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的分类</a:t>
            </a: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734EF5FF-37FB-4152-A1E6-77A625D44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592" y="2011362"/>
            <a:ext cx="8220075" cy="4603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8000"/>
              </a:buClr>
              <a:buFont typeface="Arial" panose="020B0604020202020204" pitchFamily="34" charset="0"/>
              <a:buChar char="•"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A/D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器件的分类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按工作原理</a:t>
            </a:r>
            <a:endParaRPr lang="zh-CN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61607B6-3124-4C33-896D-02E3A8330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575495"/>
              </p:ext>
            </p:extLst>
          </p:nvPr>
        </p:nvGraphicFramePr>
        <p:xfrm>
          <a:off x="1161592" y="2743200"/>
          <a:ext cx="8251825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0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分类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速度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特点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双积分型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rgbClr val="DBF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20 </a:t>
                      </a:r>
                      <a:r>
                        <a:rPr lang="en-US" sz="2000" kern="100" dirty="0" err="1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sps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1Ksps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rgbClr val="DBF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速度较低，</a:t>
                      </a:r>
                      <a:r>
                        <a:rPr lang="zh-CN" sz="2000" kern="100" dirty="0">
                          <a:solidFill>
                            <a:srgbClr val="C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抗干扰能力强</a:t>
                      </a:r>
                      <a:endParaRPr lang="zh-CN" sz="2000" b="1" kern="100" dirty="0">
                        <a:solidFill>
                          <a:srgbClr val="C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rgbClr val="DBF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逐次比较型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rgbClr val="DBF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lang="en-US" sz="2000" kern="100" dirty="0" err="1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Ksps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lang="en-US" sz="2000" kern="100" dirty="0" err="1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Msps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rgbClr val="DBF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速度快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rgbClr val="DBF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并行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</a:t>
                      </a:r>
                      <a:r>
                        <a:rPr lang="en-US" sz="2000" kern="100" dirty="0" err="1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Msps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－数十</a:t>
                      </a:r>
                      <a:r>
                        <a:rPr lang="en-US" sz="2000" kern="100" dirty="0" err="1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Gsps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速度快</a:t>
                      </a:r>
                      <a:r>
                        <a:rPr lang="zh-CN" alt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，功耗高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Σ-Δ 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1Gsps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速度快，延时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个时钟周期后输出转换结果</a:t>
                      </a:r>
                      <a:r>
                        <a:rPr lang="zh-CN" alt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，功耗低</a:t>
                      </a:r>
                      <a:endParaRPr lang="zh-CN" sz="2000" b="1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75" marR="68575" marT="0" marB="0"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15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35290" y="1066800"/>
            <a:ext cx="4223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9.3D/A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转换的基础知识</a:t>
            </a:r>
          </a:p>
        </p:txBody>
      </p:sp>
      <p:grpSp>
        <p:nvGrpSpPr>
          <p:cNvPr id="6" name="Group 38">
            <a:extLst>
              <a:ext uri="{FF2B5EF4-FFF2-40B4-BE49-F238E27FC236}">
                <a16:creationId xmlns:a16="http://schemas.microsoft.com/office/drawing/2014/main" id="{7B82C8AA-0C83-47AA-8544-46CC540B4E8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854348" y="2505714"/>
            <a:ext cx="3333750" cy="2079625"/>
            <a:chOff x="3704" y="3500"/>
            <a:chExt cx="4519" cy="2853"/>
          </a:xfrm>
        </p:grpSpPr>
        <p:sp>
          <p:nvSpPr>
            <p:cNvPr id="7" name="AutoShape 56">
              <a:extLst>
                <a:ext uri="{FF2B5EF4-FFF2-40B4-BE49-F238E27FC236}">
                  <a16:creationId xmlns:a16="http://schemas.microsoft.com/office/drawing/2014/main" id="{A197BE2E-809D-4ECA-993C-2980017C138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04" y="3500"/>
              <a:ext cx="4519" cy="2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8" name="Rectangle 55">
              <a:extLst>
                <a:ext uri="{FF2B5EF4-FFF2-40B4-BE49-F238E27FC236}">
                  <a16:creationId xmlns:a16="http://schemas.microsoft.com/office/drawing/2014/main" id="{A3A7A97C-B3C9-4D9B-81B9-FD17576AA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" y="3500"/>
              <a:ext cx="1356" cy="258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lang="zh-CN" altLang="en-US" sz="2400" b="1">
                <a:latin typeface="+mn-ea"/>
                <a:ea typeface="+mn-ea"/>
              </a:endParaRPr>
            </a:p>
          </p:txBody>
        </p:sp>
        <p:sp>
          <p:nvSpPr>
            <p:cNvPr id="9" name="Line 54">
              <a:extLst>
                <a:ext uri="{FF2B5EF4-FFF2-40B4-BE49-F238E27FC236}">
                  <a16:creationId xmlns:a16="http://schemas.microsoft.com/office/drawing/2014/main" id="{58EF596C-1F31-4D33-A3CA-5206A423B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5" y="4452"/>
              <a:ext cx="4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" name="Line 53">
              <a:extLst>
                <a:ext uri="{FF2B5EF4-FFF2-40B4-BE49-F238E27FC236}">
                  <a16:creationId xmlns:a16="http://schemas.microsoft.com/office/drawing/2014/main" id="{DFBBC0D7-9416-46AC-B073-158E64564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7" y="4452"/>
              <a:ext cx="3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Line 52">
              <a:extLst>
                <a:ext uri="{FF2B5EF4-FFF2-40B4-BE49-F238E27FC236}">
                  <a16:creationId xmlns:a16="http://schemas.microsoft.com/office/drawing/2014/main" id="{32755524-3164-4849-89DF-EAB9C729F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8" y="4452"/>
              <a:ext cx="0" cy="4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5" name="Rectangle 51">
              <a:extLst>
                <a:ext uri="{FF2B5EF4-FFF2-40B4-BE49-F238E27FC236}">
                  <a16:creationId xmlns:a16="http://schemas.microsoft.com/office/drawing/2014/main" id="{B6FF71AD-5234-4D63-809C-CFF56A4F5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8" y="4859"/>
              <a:ext cx="181" cy="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lang="zh-CN" altLang="en-US" sz="2400" b="1">
                <a:latin typeface="+mn-ea"/>
                <a:ea typeface="+mn-ea"/>
              </a:endParaRPr>
            </a:p>
          </p:txBody>
        </p:sp>
        <p:sp>
          <p:nvSpPr>
            <p:cNvPr id="16" name="Line 50">
              <a:extLst>
                <a:ext uri="{FF2B5EF4-FFF2-40B4-BE49-F238E27FC236}">
                  <a16:creationId xmlns:a16="http://schemas.microsoft.com/office/drawing/2014/main" id="{F7E5F606-AA0E-4E97-9BF3-97E4E211B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8" y="5401"/>
              <a:ext cx="0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Line 49">
              <a:extLst>
                <a:ext uri="{FF2B5EF4-FFF2-40B4-BE49-F238E27FC236}">
                  <a16:creationId xmlns:a16="http://schemas.microsoft.com/office/drawing/2014/main" id="{AA834201-AED8-477B-9941-3F8622F34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8" y="5674"/>
              <a:ext cx="1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8" name="Rectangle 48">
              <a:extLst>
                <a:ext uri="{FF2B5EF4-FFF2-40B4-BE49-F238E27FC236}">
                  <a16:creationId xmlns:a16="http://schemas.microsoft.com/office/drawing/2014/main" id="{6066DC4C-9287-4E45-BE05-F9C897823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5" y="3770"/>
              <a:ext cx="904" cy="5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indent="1651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r>
                <a:rPr lang="en-US" altLang="zh-CN" sz="2400" b="1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i</a:t>
              </a:r>
              <a:r>
                <a:rPr lang="en-US" altLang="zh-CN" sz="2400" b="1" baseline="-3000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o</a:t>
              </a:r>
              <a:endParaRPr lang="en-US" altLang="zh-CN" sz="2400" b="1">
                <a:latin typeface="+mn-ea"/>
                <a:ea typeface="+mn-ea"/>
                <a:sym typeface="+mn-ea"/>
              </a:endParaRPr>
            </a:p>
          </p:txBody>
        </p:sp>
        <p:sp>
          <p:nvSpPr>
            <p:cNvPr id="19" name="Rectangle 47">
              <a:extLst>
                <a:ext uri="{FF2B5EF4-FFF2-40B4-BE49-F238E27FC236}">
                  <a16:creationId xmlns:a16="http://schemas.microsoft.com/office/drawing/2014/main" id="{45676180-EEDA-48B6-BAAF-DEB88A5B1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9" y="4724"/>
              <a:ext cx="633" cy="5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indent="1143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r>
                <a:rPr lang="en-US" altLang="zh-CN" sz="2400" b="1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U</a:t>
              </a:r>
              <a:r>
                <a:rPr lang="en-US" altLang="zh-CN" sz="2400" b="1" baseline="-3000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o</a:t>
              </a:r>
              <a:endParaRPr lang="en-US" altLang="zh-CN" sz="2400" b="1">
                <a:latin typeface="+mn-ea"/>
                <a:ea typeface="+mn-ea"/>
                <a:sym typeface="+mn-ea"/>
              </a:endParaRPr>
            </a:p>
          </p:txBody>
        </p:sp>
        <p:sp>
          <p:nvSpPr>
            <p:cNvPr id="20" name="Rectangle 46">
              <a:extLst>
                <a:ext uri="{FF2B5EF4-FFF2-40B4-BE49-F238E27FC236}">
                  <a16:creationId xmlns:a16="http://schemas.microsoft.com/office/drawing/2014/main" id="{05CE9166-C8DC-4AFE-9834-FB48719C4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4042"/>
              <a:ext cx="271" cy="5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chemeClr val="tx1"/>
                  </a:solidFill>
                  <a:latin typeface="宋体" panose="02010600030101010101" pitchFamily="2" charset="-122"/>
                  <a:ea typeface="黑体" panose="02010609060101010101" pitchFamily="49" charset="-122"/>
                </a:rPr>
                <a:t>D </a:t>
              </a:r>
            </a:p>
          </p:txBody>
        </p:sp>
        <p:sp>
          <p:nvSpPr>
            <p:cNvPr id="21" name="AutoShape 45">
              <a:extLst>
                <a:ext uri="{FF2B5EF4-FFF2-40B4-BE49-F238E27FC236}">
                  <a16:creationId xmlns:a16="http://schemas.microsoft.com/office/drawing/2014/main" id="{AFE85253-E3FA-4B5E-9452-26A93E0CF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4" y="4587"/>
              <a:ext cx="1175" cy="407"/>
            </a:xfrm>
            <a:prstGeom prst="rightArrow">
              <a:avLst>
                <a:gd name="adj1" fmla="val 50000"/>
                <a:gd name="adj2" fmla="val 72174"/>
              </a:avLst>
            </a:prstGeom>
            <a:solidFill>
              <a:srgbClr val="FFFFFF"/>
            </a:solidFill>
            <a:ln w="28575">
              <a:solidFill>
                <a:srgbClr val="FF99CC"/>
              </a:solidFill>
              <a:miter lim="800000"/>
            </a:ln>
          </p:spPr>
          <p:txBody>
            <a:bodyPr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lang="zh-CN" altLang="en-US" sz="2400" b="1">
                <a:latin typeface="+mn-ea"/>
                <a:ea typeface="+mn-ea"/>
              </a:endParaRPr>
            </a:p>
          </p:txBody>
        </p:sp>
        <p:sp>
          <p:nvSpPr>
            <p:cNvPr id="22" name="Rectangle 44">
              <a:extLst>
                <a:ext uri="{FF2B5EF4-FFF2-40B4-BE49-F238E27FC236}">
                  <a16:creationId xmlns:a16="http://schemas.microsoft.com/office/drawing/2014/main" id="{FB35239A-F334-4505-B9C9-CAF693C5B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0" y="4452"/>
              <a:ext cx="706" cy="40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chemeClr val="tx1"/>
                  </a:solidFill>
                  <a:latin typeface="宋体" panose="02010600030101010101" pitchFamily="2" charset="-122"/>
                  <a:ea typeface="黑体" panose="02010609060101010101" pitchFamily="49" charset="-122"/>
                </a:rPr>
                <a:t>D/A </a:t>
              </a:r>
            </a:p>
          </p:txBody>
        </p:sp>
        <p:sp>
          <p:nvSpPr>
            <p:cNvPr id="23" name="Rectangle 43">
              <a:extLst>
                <a:ext uri="{FF2B5EF4-FFF2-40B4-BE49-F238E27FC236}">
                  <a16:creationId xmlns:a16="http://schemas.microsoft.com/office/drawing/2014/main" id="{6894C3F4-B38B-4940-9D8F-D1E2CF12A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6" y="4859"/>
              <a:ext cx="269" cy="5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chemeClr val="tx1"/>
                  </a:solidFill>
                  <a:latin typeface="宋体" panose="02010600030101010101" pitchFamily="2" charset="-122"/>
                  <a:ea typeface="黑体" panose="02010609060101010101" pitchFamily="49" charset="-122"/>
                </a:rPr>
                <a:t>R</a:t>
              </a:r>
            </a:p>
          </p:txBody>
        </p:sp>
        <p:sp>
          <p:nvSpPr>
            <p:cNvPr id="24" name="Line 42">
              <a:extLst>
                <a:ext uri="{FF2B5EF4-FFF2-40B4-BE49-F238E27FC236}">
                  <a16:creationId xmlns:a16="http://schemas.microsoft.com/office/drawing/2014/main" id="{19446B34-0275-4024-A4AD-4EE88F4DB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0" y="4452"/>
              <a:ext cx="1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5" name="Line 41">
              <a:extLst>
                <a:ext uri="{FF2B5EF4-FFF2-40B4-BE49-F238E27FC236}">
                  <a16:creationId xmlns:a16="http://schemas.microsoft.com/office/drawing/2014/main" id="{0CC8FE4E-6D8B-409C-BD70-4984972A2F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00" y="4452"/>
              <a:ext cx="0" cy="4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6" name="Line 40">
              <a:extLst>
                <a:ext uri="{FF2B5EF4-FFF2-40B4-BE49-F238E27FC236}">
                  <a16:creationId xmlns:a16="http://schemas.microsoft.com/office/drawing/2014/main" id="{9EEC2838-332E-4CB0-9FD6-60F29085A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0" y="5674"/>
              <a:ext cx="179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7" name="Line 39">
              <a:extLst>
                <a:ext uri="{FF2B5EF4-FFF2-40B4-BE49-F238E27FC236}">
                  <a16:creationId xmlns:a16="http://schemas.microsoft.com/office/drawing/2014/main" id="{9353711E-9922-48F9-A372-AC2772554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00" y="5266"/>
              <a:ext cx="0" cy="4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FontTx/>
                <a:buNone/>
                <a:defRPr/>
              </a:pPr>
              <a:endParaRPr lang="zh-CN" altLang="en-US" sz="2400" b="1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8" name="矩形 25">
            <a:extLst>
              <a:ext uri="{FF2B5EF4-FFF2-40B4-BE49-F238E27FC236}">
                <a16:creationId xmlns:a16="http://schemas.microsoft.com/office/drawing/2014/main" id="{6EBAF5AC-7B9F-4A6F-BC8E-D6A28AEFE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160" y="2927989"/>
            <a:ext cx="5094288" cy="1463675"/>
          </a:xfrm>
          <a:prstGeom prst="rect">
            <a:avLst/>
          </a:prstGeom>
          <a:solidFill>
            <a:srgbClr val="CECE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I</a:t>
            </a:r>
            <a:r>
              <a:rPr lang="en-US" altLang="zh-CN" sz="2400" b="1" baseline="-300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0  </a:t>
            </a:r>
            <a:r>
              <a:rPr lang="zh-CN" altLang="en-US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＝ </a:t>
            </a: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K</a:t>
            </a:r>
            <a:r>
              <a:rPr lang="en-US" altLang="zh-CN" sz="2400" b="1" baseline="-300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i  </a:t>
            </a: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× D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U</a:t>
            </a:r>
            <a:r>
              <a:rPr lang="en-US" altLang="zh-CN" sz="2400" b="1" baseline="-300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0  </a:t>
            </a:r>
            <a:r>
              <a:rPr lang="zh-CN" altLang="en-US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＝ </a:t>
            </a: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i</a:t>
            </a:r>
            <a:r>
              <a:rPr lang="en-US" altLang="zh-CN" sz="2400" b="1" baseline="-300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0 </a:t>
            </a: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× R </a:t>
            </a:r>
            <a:r>
              <a:rPr lang="zh-CN" altLang="en-US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＝ </a:t>
            </a: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K</a:t>
            </a:r>
            <a:r>
              <a:rPr lang="en-US" altLang="zh-CN" sz="2400" b="1" baseline="-300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i </a:t>
            </a: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× R × D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     </a:t>
            </a:r>
            <a:r>
              <a:rPr lang="zh-CN" altLang="en-US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＝ </a:t>
            </a: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K</a:t>
            </a:r>
            <a:r>
              <a:rPr lang="en-US" altLang="zh-CN" sz="2400" b="1" baseline="-300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u </a:t>
            </a:r>
            <a:r>
              <a:rPr lang="en-US" altLang="zh-CN" sz="24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</a:rPr>
              <a:t>× 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D92BAEB-CC63-45AB-AD4B-107EED64C9E8}"/>
              </a:ext>
            </a:extLst>
          </p:cNvPr>
          <p:cNvSpPr/>
          <p:nvPr/>
        </p:nvSpPr>
        <p:spPr>
          <a:xfrm>
            <a:off x="1079648" y="4966339"/>
            <a:ext cx="8953500" cy="15700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buClr>
                <a:srgbClr val="339933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CC0000"/>
                </a:solidFill>
                <a:latin typeface="黑体" panose="02010609060101010101" pitchFamily="49" charset="-122"/>
                <a:cs typeface="+mn-ea"/>
                <a:sym typeface="+mn-ea"/>
              </a:rPr>
              <a:t>实现：</a:t>
            </a:r>
            <a:endParaRPr lang="zh-CN" altLang="en-US" sz="2400" noProof="1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buClr>
                <a:srgbClr val="339933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chemeClr val="tx1"/>
                </a:solidFill>
                <a:latin typeface="黑体" panose="02010609060101010101" pitchFamily="49" charset="-122"/>
                <a:cs typeface="+mn-ea"/>
                <a:sym typeface="+mn-ea"/>
              </a:rPr>
              <a:t>    电阻网络将基准电压转变为相应的电流</a:t>
            </a:r>
            <a:r>
              <a:rPr lang="zh-CN" altLang="en-US" sz="2400" noProof="1">
                <a:solidFill>
                  <a:srgbClr val="CC0000"/>
                </a:solidFill>
                <a:latin typeface="黑体" panose="02010609060101010101" pitchFamily="49" charset="-122"/>
                <a:cs typeface="+mn-ea"/>
                <a:sym typeface="+mn-ea"/>
              </a:rPr>
              <a:t>或电压</a:t>
            </a:r>
            <a:r>
              <a:rPr lang="zh-CN" altLang="en-US" sz="2400" noProof="1">
                <a:solidFill>
                  <a:schemeClr val="tx1"/>
                </a:solidFill>
                <a:latin typeface="黑体" panose="02010609060101010101" pitchFamily="49" charset="-122"/>
                <a:cs typeface="+mn-ea"/>
                <a:sym typeface="+mn-ea"/>
              </a:rPr>
              <a:t>，</a:t>
            </a:r>
            <a:endParaRPr lang="zh-CN" altLang="zh-CN" sz="2400" noProof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buClr>
                <a:srgbClr val="339933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chemeClr val="tx1"/>
                </a:solidFill>
                <a:latin typeface="黑体" panose="02010609060101010101" pitchFamily="49" charset="-122"/>
                <a:cs typeface="+mn-ea"/>
                <a:sym typeface="+mn-ea"/>
              </a:rPr>
              <a:t>    在运算放大器的输入端进行总加</a:t>
            </a:r>
            <a:r>
              <a:rPr lang="zh-CN" altLang="zh-CN" sz="2400" noProof="1">
                <a:solidFill>
                  <a:schemeClr val="tx1"/>
                </a:solidFill>
                <a:latin typeface="黑体" panose="02010609060101010101" pitchFamily="49" charset="-122"/>
                <a:cs typeface="+mn-ea"/>
                <a:sym typeface="+mn-ea"/>
              </a:rPr>
              <a:t>,</a:t>
            </a:r>
            <a:endParaRPr lang="zh-CN" altLang="zh-CN" sz="2400" noProof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buClr>
                <a:srgbClr val="339933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chemeClr val="tx1"/>
                </a:solidFill>
                <a:latin typeface="黑体" panose="02010609060101010101" pitchFamily="49" charset="-122"/>
                <a:cs typeface="+mn-ea"/>
                <a:sym typeface="+mn-ea"/>
              </a:rPr>
              <a:t>    放大器的输出则反映了输入数码的大小。 </a:t>
            </a:r>
            <a:endParaRPr lang="zh-CN" altLang="en-US" sz="2400" noProof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ADB53ADF-9065-45D5-A436-03358B49E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290" y="1674418"/>
            <a:ext cx="3762375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latin typeface="Comic Sans MS" panose="030F0702030302020204" pitchFamily="66" charset="0"/>
                <a:ea typeface="黑体" panose="02010609060101010101" pitchFamily="49" charset="-122"/>
              </a:rPr>
              <a:t>基本概念</a:t>
            </a:r>
          </a:p>
        </p:txBody>
      </p:sp>
    </p:spTree>
    <p:extLst>
      <p:ext uri="{BB962C8B-B14F-4D97-AF65-F5344CB8AC3E}">
        <p14:creationId xmlns:p14="http://schemas.microsoft.com/office/powerpoint/2010/main" val="363882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35290" y="1066800"/>
            <a:ext cx="4223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9.3D/A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转换的基础知识</a:t>
            </a:r>
          </a:p>
        </p:txBody>
      </p:sp>
      <p:graphicFrame>
        <p:nvGraphicFramePr>
          <p:cNvPr id="31" name="对象 4">
            <a:extLst>
              <a:ext uri="{FF2B5EF4-FFF2-40B4-BE49-F238E27FC236}">
                <a16:creationId xmlns:a16="http://schemas.microsoft.com/office/drawing/2014/main" id="{0E04B5FF-7698-46DA-80B1-FACE9151B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654948"/>
              </p:ext>
            </p:extLst>
          </p:nvPr>
        </p:nvGraphicFramePr>
        <p:xfrm>
          <a:off x="2435176" y="3434984"/>
          <a:ext cx="50450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r:id="rId3" imgW="2477575" imgH="419282" progId="Equation.3">
                  <p:embed/>
                </p:oleObj>
              </mc:Choice>
              <mc:Fallback>
                <p:oleObj r:id="rId3" imgW="2477575" imgH="419282" progId="Equation.3">
                  <p:embed/>
                  <p:pic>
                    <p:nvPicPr>
                      <p:cNvPr id="20482" name="对象 4">
                        <a:extLst>
                          <a:ext uri="{FF2B5EF4-FFF2-40B4-BE49-F238E27FC236}">
                            <a16:creationId xmlns:a16="http://schemas.microsoft.com/office/drawing/2014/main" id="{EE02B2F9-60E5-42E5-89D5-1BF0DFD7ED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176" y="3434984"/>
                        <a:ext cx="5045075" cy="854075"/>
                      </a:xfrm>
                      <a:prstGeom prst="rect">
                        <a:avLst/>
                      </a:prstGeom>
                      <a:solidFill>
                        <a:srgbClr val="FBFCD4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6">
            <a:extLst>
              <a:ext uri="{FF2B5EF4-FFF2-40B4-BE49-F238E27FC236}">
                <a16:creationId xmlns:a16="http://schemas.microsoft.com/office/drawing/2014/main" id="{148B5DC8-07CA-4AC3-A221-70CBE20A0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438" y="4820872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D/A,  U</a:t>
            </a:r>
            <a:r>
              <a:rPr lang="en-US" altLang="zh-CN" sz="2400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=5.000v</a:t>
            </a:r>
            <a:endParaRPr lang="zh-CN" altLang="en-US" sz="24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3" name="对象 8">
            <a:extLst>
              <a:ext uri="{FF2B5EF4-FFF2-40B4-BE49-F238E27FC236}">
                <a16:creationId xmlns:a16="http://schemas.microsoft.com/office/drawing/2014/main" id="{FC6BAB7E-7673-4E76-8145-1834CE2F5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877627"/>
              </p:ext>
            </p:extLst>
          </p:nvPr>
        </p:nvGraphicFramePr>
        <p:xfrm>
          <a:off x="2432001" y="5759084"/>
          <a:ext cx="516413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r:id="rId5" imgW="2515692" imgH="393871" progId="Equation.3">
                  <p:embed/>
                </p:oleObj>
              </mc:Choice>
              <mc:Fallback>
                <p:oleObj r:id="rId5" imgW="2515692" imgH="393871" progId="Equation.3">
                  <p:embed/>
                  <p:pic>
                    <p:nvPicPr>
                      <p:cNvPr id="20485" name="对象 8">
                        <a:extLst>
                          <a:ext uri="{FF2B5EF4-FFF2-40B4-BE49-F238E27FC236}">
                            <a16:creationId xmlns:a16="http://schemas.microsoft.com/office/drawing/2014/main" id="{8DA64C81-DA78-493A-9A78-A6D0643D2B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01" y="5759084"/>
                        <a:ext cx="5164137" cy="785813"/>
                      </a:xfrm>
                      <a:prstGeom prst="rect">
                        <a:avLst/>
                      </a:prstGeom>
                      <a:solidFill>
                        <a:srgbClr val="FBFCD4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3">
            <a:extLst>
              <a:ext uri="{FF2B5EF4-FFF2-40B4-BE49-F238E27FC236}">
                <a16:creationId xmlns:a16="http://schemas.microsoft.com/office/drawing/2014/main" id="{E251C30F-2C08-4BEC-B182-12074DD99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13" y="1510934"/>
            <a:ext cx="457676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>
              <a:lnSpc>
                <a:spcPct val="150000"/>
              </a:lnSpc>
              <a:spcBef>
                <a:spcPct val="20000"/>
              </a:spcBef>
              <a:buClr>
                <a:srgbClr val="99CC00"/>
              </a:buClr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技术指标</a:t>
            </a: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F29335CA-D614-44AB-B8D3-86ADD7A03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38" y="2284047"/>
            <a:ext cx="7073900" cy="4603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8000"/>
              </a:buClr>
              <a:buFont typeface="Arial" panose="020B0604020202020204" pitchFamily="34" charset="0"/>
              <a:buChar char="•"/>
            </a:pPr>
            <a:r>
              <a:rPr lang="zh-CN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分辨率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：反映了输出模拟电压的最小变化量。</a:t>
            </a:r>
          </a:p>
        </p:txBody>
      </p:sp>
    </p:spTree>
    <p:extLst>
      <p:ext uri="{BB962C8B-B14F-4D97-AF65-F5344CB8AC3E}">
        <p14:creationId xmlns:p14="http://schemas.microsoft.com/office/powerpoint/2010/main" val="320668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35290" y="1066800"/>
            <a:ext cx="4223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9.3D/A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转换的基础知识</a:t>
            </a:r>
          </a:p>
        </p:txBody>
      </p:sp>
      <p:graphicFrame>
        <p:nvGraphicFramePr>
          <p:cNvPr id="31" name="对象 1">
            <a:extLst>
              <a:ext uri="{FF2B5EF4-FFF2-40B4-BE49-F238E27FC236}">
                <a16:creationId xmlns:a16="http://schemas.microsoft.com/office/drawing/2014/main" id="{091231BE-E5DE-481F-A5DE-89F9AA127F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955773"/>
              </p:ext>
            </p:extLst>
          </p:nvPr>
        </p:nvGraphicFramePr>
        <p:xfrm>
          <a:off x="4126797" y="5655838"/>
          <a:ext cx="29051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r:id="rId3" imgW="1386707" imgH="394385" progId="Equation.3">
                  <p:embed/>
                </p:oleObj>
              </mc:Choice>
              <mc:Fallback>
                <p:oleObj r:id="rId3" imgW="1386707" imgH="394385" progId="Equation.3">
                  <p:embed/>
                  <p:pic>
                    <p:nvPicPr>
                      <p:cNvPr id="21505" name="对象 1">
                        <a:extLst>
                          <a:ext uri="{FF2B5EF4-FFF2-40B4-BE49-F238E27FC236}">
                            <a16:creationId xmlns:a16="http://schemas.microsoft.com/office/drawing/2014/main" id="{A77715C6-BB0D-4004-9388-FDA1E2F93F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6797" y="5655838"/>
                        <a:ext cx="29051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2">
            <a:extLst>
              <a:ext uri="{FF2B5EF4-FFF2-40B4-BE49-F238E27FC236}">
                <a16:creationId xmlns:a16="http://schemas.microsoft.com/office/drawing/2014/main" id="{D8181BB9-D36D-4936-A9E1-3D1DFBABC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472523"/>
              </p:ext>
            </p:extLst>
          </p:nvPr>
        </p:nvGraphicFramePr>
        <p:xfrm>
          <a:off x="2140834" y="4344563"/>
          <a:ext cx="463232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r:id="rId5" imgW="1144490" imgH="406930" progId="Equation.3">
                  <p:embed/>
                </p:oleObj>
              </mc:Choice>
              <mc:Fallback>
                <p:oleObj r:id="rId5" imgW="1144490" imgH="406930" progId="Equation.3">
                  <p:embed/>
                  <p:pic>
                    <p:nvPicPr>
                      <p:cNvPr id="21506" name="对象 2">
                        <a:extLst>
                          <a:ext uri="{FF2B5EF4-FFF2-40B4-BE49-F238E27FC236}">
                            <a16:creationId xmlns:a16="http://schemas.microsoft.com/office/drawing/2014/main" id="{DC34E99A-408B-43D2-B205-F1821326EF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834" y="4344563"/>
                        <a:ext cx="4632325" cy="849312"/>
                      </a:xfrm>
                      <a:prstGeom prst="rect">
                        <a:avLst/>
                      </a:prstGeom>
                      <a:solidFill>
                        <a:srgbClr val="DBEFF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">
            <a:extLst>
              <a:ext uri="{FF2B5EF4-FFF2-40B4-BE49-F238E27FC236}">
                <a16:creationId xmlns:a16="http://schemas.microsoft.com/office/drawing/2014/main" id="{AEC80DED-9394-439E-B56D-9188F5E45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734" y="2626888"/>
            <a:ext cx="73612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400" b="1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sz="2400" b="1" baseline="-30000">
                <a:solidFill>
                  <a:schemeClr val="tx1"/>
                </a:solidFill>
                <a:ea typeface="黑体" panose="02010609060101010101" pitchFamily="49" charset="-122"/>
              </a:rPr>
              <a:t>ref </a:t>
            </a:r>
            <a:r>
              <a:rPr lang="zh-CN" altLang="en-US" sz="2400" b="1">
                <a:solidFill>
                  <a:schemeClr val="tx1"/>
                </a:solidFill>
                <a:ea typeface="黑体" panose="02010609060101010101" pitchFamily="49" charset="-122"/>
              </a:rPr>
              <a:t>＝ </a:t>
            </a:r>
            <a:r>
              <a:rPr lang="en-US" altLang="zh-CN" sz="2400">
                <a:solidFill>
                  <a:schemeClr val="tx1"/>
                </a:solidFill>
                <a:ea typeface="黑体" panose="02010609060101010101" pitchFamily="49" charset="-122"/>
              </a:rPr>
              <a:t>5.000v</a:t>
            </a:r>
            <a:endParaRPr lang="en-US" altLang="zh-CN" sz="2400" b="1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eaLnBrk="0" hangingPunct="0"/>
            <a:endParaRPr lang="en-US" altLang="zh-CN" sz="2400" b="1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eaLnBrk="0" hangingPunct="0"/>
            <a:r>
              <a:rPr lang="zh-CN" altLang="en-US" sz="2400">
                <a:solidFill>
                  <a:schemeClr val="tx1"/>
                </a:solidFill>
                <a:ea typeface="黑体" panose="02010609060101010101" pitchFamily="49" charset="-122"/>
              </a:rPr>
              <a:t>标称满量程 ＝ </a:t>
            </a:r>
            <a:r>
              <a:rPr lang="en-US" altLang="zh-CN" sz="2400">
                <a:solidFill>
                  <a:schemeClr val="tx1"/>
                </a:solidFill>
                <a:ea typeface="黑体" panose="02010609060101010101" pitchFamily="49" charset="-122"/>
              </a:rPr>
              <a:t>5.000v</a:t>
            </a:r>
          </a:p>
        </p:txBody>
      </p:sp>
      <p:sp>
        <p:nvSpPr>
          <p:cNvPr id="34" name="矩形 7">
            <a:extLst>
              <a:ext uri="{FF2B5EF4-FFF2-40B4-BE49-F238E27FC236}">
                <a16:creationId xmlns:a16="http://schemas.microsoft.com/office/drawing/2014/main" id="{BF06CDF8-FF66-42D9-A453-10ADAC80C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134" y="5825700"/>
            <a:ext cx="2513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实际满量程 ＝</a:t>
            </a: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2144CAB2-9885-47E5-A690-DFDAD9BA8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284" y="1769638"/>
            <a:ext cx="7073900" cy="460375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8000"/>
              </a:buClr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标称满量程、实际满量程</a:t>
            </a:r>
            <a:endParaRPr lang="zh-CN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254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72996" y="1066800"/>
            <a:ext cx="478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转换器的接口</a:t>
            </a:r>
          </a:p>
        </p:txBody>
      </p:sp>
      <p:graphicFrame>
        <p:nvGraphicFramePr>
          <p:cNvPr id="7" name="对象 9">
            <a:extLst>
              <a:ext uri="{FF2B5EF4-FFF2-40B4-BE49-F238E27FC236}">
                <a16:creationId xmlns:a16="http://schemas.microsoft.com/office/drawing/2014/main" id="{8738222D-C035-4344-A3FA-D4D5FD2574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1162243"/>
              </p:ext>
            </p:extLst>
          </p:nvPr>
        </p:nvGraphicFramePr>
        <p:xfrm>
          <a:off x="5842148" y="1969482"/>
          <a:ext cx="6272212" cy="409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r:id="rId3" imgW="6268325" imgH="4095238" progId="Paint.Picture">
                  <p:embed/>
                </p:oleObj>
              </mc:Choice>
              <mc:Fallback>
                <p:oleObj r:id="rId3" imgW="6268325" imgH="4095238" progId="Paint.Picture">
                  <p:embed/>
                  <p:pic>
                    <p:nvPicPr>
                      <p:cNvPr id="40962" name="对象 9">
                        <a:extLst>
                          <a:ext uri="{FF2B5EF4-FFF2-40B4-BE49-F238E27FC236}">
                            <a16:creationId xmlns:a16="http://schemas.microsoft.com/office/drawing/2014/main" id="{88A45777-5796-4988-8983-AB356AC1E9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148" y="1969482"/>
                        <a:ext cx="6272212" cy="409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2F0646D1-13F6-429A-9B84-5F8FF8862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15" y="2111077"/>
            <a:ext cx="330090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DI0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DI7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位数字信号输入端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60AEF77-6401-4185-A538-9B1215211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15" y="2639715"/>
            <a:ext cx="196720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folHlink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/CS</a:t>
            </a:r>
            <a:r>
              <a:rPr lang="zh-CN" altLang="en-US" sz="16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片选端。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B9DBD0A-E012-4D3B-AF2F-631BD61F2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27" y="3247727"/>
            <a:ext cx="44294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folHlink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ILE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数据锁存允许控制端，高电平有效。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D66908A7-D00A-4DBA-B9EE-6B0D1444B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40" y="3798590"/>
            <a:ext cx="82772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folHlink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/WR1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输入寄存器写选通控制端。当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/CS=0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ILE=1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</a:p>
          <a:p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/WR1=0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，数据信号被锁存</a:t>
            </a:r>
            <a:r>
              <a:rPr lang="zh-CN" altLang="en-GB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输入寄存器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中。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79204FEB-5A2A-431D-8F54-48A920FEE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52" y="4687590"/>
            <a:ext cx="26853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folHlink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/XFER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数据传送控制。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B5CF8F38-0CF5-4A87-AFC4-6FA3979C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02" y="5436890"/>
            <a:ext cx="8937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folHlink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/WR2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DAC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寄存器写选通控制端。当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/XFER=0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/WR2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=0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时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，</a:t>
            </a:r>
            <a:br>
              <a:rPr lang="en-US" altLang="zh-CN" sz="1600" baseline="3000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600" baseline="3000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输入寄存器状态传入</a:t>
            </a:r>
            <a:r>
              <a:rPr lang="en-US" altLang="zh-CN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DAC</a:t>
            </a:r>
            <a:r>
              <a:rPr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寄存器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中。</a:t>
            </a:r>
          </a:p>
        </p:txBody>
      </p:sp>
    </p:spTree>
    <p:extLst>
      <p:ext uri="{BB962C8B-B14F-4D97-AF65-F5344CB8AC3E}">
        <p14:creationId xmlns:p14="http://schemas.microsoft.com/office/powerpoint/2010/main" val="253862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5" grpId="0"/>
      <p:bldP spid="1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F3B9C4-2FBB-46AC-8339-7DF01D92B49E}"/>
              </a:ext>
            </a:extLst>
          </p:cNvPr>
          <p:cNvSpPr txBox="1"/>
          <p:nvPr/>
        </p:nvSpPr>
        <p:spPr>
          <a:xfrm>
            <a:off x="650449" y="480767"/>
            <a:ext cx="326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九、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D/A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BCF1AC-B15E-4AD9-BB2C-798203F6737F}"/>
              </a:ext>
            </a:extLst>
          </p:cNvPr>
          <p:cNvSpPr txBox="1"/>
          <p:nvPr/>
        </p:nvSpPr>
        <p:spPr>
          <a:xfrm>
            <a:off x="772996" y="1066800"/>
            <a:ext cx="4788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转换器的接口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2BDBE3B-0191-42C1-B38D-8D28F34D8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190" y="1622344"/>
            <a:ext cx="6746875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">
            <a:extLst>
              <a:ext uri="{FF2B5EF4-FFF2-40B4-BE49-F238E27FC236}">
                <a16:creationId xmlns:a16="http://schemas.microsoft.com/office/drawing/2014/main" id="{7DA58CA7-51F5-43EA-83E7-15BDC4922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78" y="1964450"/>
            <a:ext cx="3667125" cy="3925887"/>
          </a:xfrm>
          <a:prstGeom prst="rect">
            <a:avLst/>
          </a:prstGeom>
          <a:solidFill>
            <a:srgbClr val="D6D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ALE</a:t>
            </a:r>
            <a:r>
              <a:rPr lang="zh-CN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用于锁存通道（地址）号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ADDA</a:t>
            </a:r>
            <a:r>
              <a:rPr lang="zh-CN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ADDB</a:t>
            </a:r>
            <a:r>
              <a:rPr lang="zh-CN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ADDC</a:t>
            </a:r>
            <a:r>
              <a:rPr lang="zh-CN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用于选择通道（地址）号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START</a:t>
            </a:r>
            <a:r>
              <a:rPr lang="zh-CN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启动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EOC</a:t>
            </a:r>
            <a:r>
              <a:rPr lang="zh-CN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转换结束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OE</a:t>
            </a:r>
            <a:r>
              <a:rPr lang="zh-CN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：输出允许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141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3327</TotalTime>
  <Words>7076</Words>
  <Application>Microsoft Office PowerPoint</Application>
  <PresentationFormat>宽屏</PresentationFormat>
  <Paragraphs>1012</Paragraphs>
  <Slides>83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83</vt:i4>
      </vt:variant>
    </vt:vector>
  </HeadingPairs>
  <TitlesOfParts>
    <vt:vector size="108" baseType="lpstr">
      <vt:lpstr>Arial Unicode MS</vt:lpstr>
      <vt:lpstr>Monotype Sorts</vt:lpstr>
      <vt:lpstr>等线</vt:lpstr>
      <vt:lpstr>等线 Light</vt:lpstr>
      <vt:lpstr>方正黑体</vt:lpstr>
      <vt:lpstr>黑体</vt:lpstr>
      <vt:lpstr>华文中宋</vt:lpstr>
      <vt:lpstr>宋体</vt:lpstr>
      <vt:lpstr>微软雅黑</vt:lpstr>
      <vt:lpstr>Arial</vt:lpstr>
      <vt:lpstr>Cambria Math</vt:lpstr>
      <vt:lpstr>Comic Sans MS</vt:lpstr>
      <vt:lpstr>Times New Roman</vt:lpstr>
      <vt:lpstr>Verdana</vt:lpstr>
      <vt:lpstr>Wingdings</vt:lpstr>
      <vt:lpstr>Wingdings 2</vt:lpstr>
      <vt:lpstr>Office 主题​​</vt:lpstr>
      <vt:lpstr>Visio</vt:lpstr>
      <vt:lpstr>Microsoft Visio 2003-2010 Drawing</vt:lpstr>
      <vt:lpstr>Microsoft Visio Drawing</vt:lpstr>
      <vt:lpstr>Microsoft 公式 3.0</vt:lpstr>
      <vt:lpstr>MathType 5.0 Equation</vt:lpstr>
      <vt:lpstr>MathType 7.0 Equation</vt:lpstr>
      <vt:lpstr>Bitmap Image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冯 仲帅</dc:creator>
  <cp:lastModifiedBy>冯 仲帅</cp:lastModifiedBy>
  <cp:revision>41</cp:revision>
  <dcterms:created xsi:type="dcterms:W3CDTF">2020-06-02T14:49:03Z</dcterms:created>
  <dcterms:modified xsi:type="dcterms:W3CDTF">2020-06-06T07:52:47Z</dcterms:modified>
</cp:coreProperties>
</file>